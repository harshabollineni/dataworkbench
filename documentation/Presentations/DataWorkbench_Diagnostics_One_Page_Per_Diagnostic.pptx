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00 Directory" id="{52150453-3A84-452D-AFDF-1AB9543679C1}">
          <p14:sldIdLst>
            <p14:sldId id="256"/>
          </p14:sldIdLst>
        </p14:section>
        <p14:section name="01 Implemented diagnostics" id="{09567700-67F1-45FE-8C91-A52D663CCB74}">
          <p14:sldIdLst>
            <p14:sldId id="257"/>
            <p14:sldId id="258"/>
            <p14:sldId id="259"/>
            <p14:sldId id="260"/>
            <p14:sldId id="261"/>
            <p14:sldId id="262"/>
          </p14:sldIdLst>
        </p14:section>
        <p14:section name="02 Supporting analysis" id="{1DC38E15-AE19-4EE7-BA93-6989449C2CEE}">
          <p14:sldIdLst>
            <p14:sldId id="263"/>
          </p14:sldIdLst>
        </p14:section>
        <p14:section name="03 Registered planned diagnostics" id="{60CF70FF-E683-4C64-804F-2617BBB9479F}">
          <p14:sldIdLst>
            <p14:sldId id="264"/>
            <p14:sldId id="265"/>
            <p14:sldId id="266"/>
          </p14:sldIdLst>
        </p14:section>
        <p14:section name="04 Deferred diagnostics" id="{F9EF1325-7120-4222-A553-DB2A6655D24A}">
          <p14:sldIdLst>
            <p14:sldId id="267"/>
            <p14:sldId id="268"/>
            <p14:sldId id="269"/>
            <p14:sldId id="270"/>
            <p14:sldId id="271"/>
            <p14:sldId id="272"/>
            <p14:sldId id="273"/>
            <p14:sldId id="274"/>
            <p14:sldId id="275"/>
            <p14:sldId id="276"/>
            <p14:sldId id="27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6E49A7-60C6-47D9-AE8A-1F964BF5BDBA}" type="datetimeFigureOut">
              <a:rPr lang="en-IN" smtClean="0"/>
              <a:t>07-09-2026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0524B-625A-43DD-9139-EFC19AAB9059}" type="slidenum">
              <a:rPr lang="en-IN" smtClean="0"/>
              <a:t>‹#›</a:t>
            </a:fld>
            <a:endParaRPr lang="en-IN"/>
          </a:p>
        </p:txBody>
      </p:sp>
    </p:spTree>
    <p:extLst>
      <p:ext uri="{BB962C8B-B14F-4D97-AF65-F5344CB8AC3E}">
        <p14:creationId xmlns:p14="http://schemas.microsoft.com/office/powerpoint/2010/main" val="2477632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Workbench — Diagnostic quick reference</a:t>
            </a:r>
          </a:p>
          <a:p>
            <a:endParaRPr/>
          </a:p>
          <a:p>
            <a:r>
              <a:t>Companion to the preserved 87-slide DataWorkbench_Product_Overview_and_Diagnostics.pptx. Twenty numbered diagnostics plus one supporting missingness analysis each occupy one slide. Nine broader reference method families and fourteen retired library names remain in the full deck; they are not counted as additional numbered current diagnostics here. The deck reflects the same repository assessment on 07 September 2026, release baseline 0.5.2. Green identifies implemented capability; D04 is implemented but paused. Amber planned workflows are not executable. Detail and source references are retained in each slide’s speaker notes. Current RCA closes with approved root cause or unresolved result; closure does not certify a data fix. Optional tracked remediation is independent; a fresh assessment requires manual upload and rerun.</a:t>
            </a:r>
          </a:p>
          <a:p>
            <a:endParaRPr/>
          </a:p>
          <a:p>
            <a:r>
              <a:t>SOURCES</a:t>
            </a:r>
          </a:p>
          <a:p>
            <a:r>
              <a:t>[S08] source-codes/backend/knowledge_base/dq_framework_data.json</a:t>
            </a:r>
          </a:p>
          <a:p>
            <a:r>
              <a:t>[S02] documentation/Presentations/MVP_Test Plan_DA.xlsx</a:t>
            </a:r>
          </a:p>
          <a:p>
            <a:r>
              <a:t>[S23] source-codes/docs/architecture/phase1b-missingness.md</a:t>
            </a:r>
          </a:p>
          <a:p>
            <a:r>
              <a:t>[S28] source-codes/docs/0.4.0/00-framework.md</a:t>
            </a:r>
          </a:p>
          <a:p>
            <a:r>
              <a:t>[S16] source-codes/ui/src/features/rca/components/RcaCase.jsx</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1</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Single-feature target separation</a:t>
            </a:r>
          </a:p>
          <a:p>
            <a:endParaRPr/>
          </a:p>
          <a:p>
            <a:r>
              <a:t>One-page summary of the unchanged full product deck, slides 27–31.</a:t>
            </a:r>
          </a:p>
          <a:p>
            <a:r>
              <a:t>All on-slide text, cards, pills and connectors are native editable PowerPoint objects.</a:t>
            </a:r>
          </a:p>
          <a:p>
            <a:r>
              <a:t>DETAIL RETAINED FOR PRESENTERS</a:t>
            </a:r>
          </a:p>
          <a:p>
            <a:endParaRPr/>
          </a:p>
          <a:p>
            <a:r>
              <a:t>FULL DECK SLIDE 27: Spot features whose target separation deserves review</a:t>
            </a:r>
          </a:p>
          <a:p>
            <a:r>
              <a:t>04 / T1-D02 • A / PURPOSE</a:t>
            </a:r>
          </a:p>
          <a:p>
            <a:r>
              <a:t>Spot features whose target separation deserves review</a:t>
            </a:r>
          </a:p>
          <a:p>
            <a:r>
              <a:t>Single-feature target separation</a:t>
            </a:r>
          </a:p>
          <a:p>
            <a:r>
              <a:t>Implemented • enabled</a:t>
            </a:r>
          </a:p>
          <a:p>
            <a:r>
              <a:t>!</a:t>
            </a:r>
          </a:p>
          <a:p>
            <a:r>
              <a:t>Problem</a:t>
            </a:r>
          </a:p>
          <a:p>
            <a:r>
              <a:t>A feature can look implausibly predictive, or separate the target poorly on its own.</a:t>
            </a:r>
          </a:p>
          <a:p>
            <a:r>
              <a:t>Primary users</a:t>
            </a:r>
          </a:p>
          <a:p>
            <a:r>
              <a:t>Analytics and model-development teams, supported by an SME reviewer.</a:t>
            </a:r>
          </a:p>
          <a:p>
            <a:r>
              <a:t>When to use it</a:t>
            </a:r>
          </a:p>
          <a:p>
            <a:r>
              <a:t>A ready model dataset with a confirmed target and eligible independent variables.</a:t>
            </a:r>
          </a:p>
          <a:p>
            <a:r>
              <a:t>Feature-level separation categories and candidate findings with retained statistical and binning evidence.</a:t>
            </a:r>
          </a:p>
          <a:p>
            <a:r>
              <a:t>Original speaker note: Purpose and expected outcome derived from diagnostic sources. Implemented • enabled. Personas are operating responsibilities, not separate RBAC roles.</a:t>
            </a:r>
          </a:p>
          <a:p>
            <a:endParaRPr/>
          </a:p>
          <a:p>
            <a:r>
              <a:t>FULL DECK SLIDE 28: Follow the governed processing path</a:t>
            </a:r>
          </a:p>
          <a:p>
            <a:r>
              <a:t>04 / T1-D02 • B / APPROACH</a:t>
            </a:r>
          </a:p>
          <a:p>
            <a:r>
              <a:t>Follow the governed processing path</a:t>
            </a:r>
          </a:p>
          <a:p>
            <a:r>
              <a:t>Single-feature target separation</a:t>
            </a:r>
          </a:p>
          <a:p>
            <a:r>
              <a:t>Implemented • enabled</a:t>
            </a:r>
          </a:p>
          <a:p>
            <a:r>
              <a:t>INPUTS</a:t>
            </a:r>
          </a:p>
          <a:p>
            <a:r>
              <a:t>One ready table; governed target type/event class; selected features; binning constraints and thresholds.</a:t>
            </a:r>
          </a:p>
          <a:p>
            <a:r>
              <a:t>01</a:t>
            </a:r>
          </a:p>
          <a:p>
            <a:r>
              <a:t>Resolve target</a:t>
            </a:r>
          </a:p>
          <a:p>
            <a:r>
              <a:t>Confirm target route and feature eligibility</a:t>
            </a:r>
          </a:p>
          <a:p>
            <a:r>
              <a:t>02</a:t>
            </a:r>
          </a:p>
          <a:p>
            <a:r>
              <a:t>Calculate ROC</a:t>
            </a:r>
          </a:p>
          <a:p>
            <a:r>
              <a:t>Receiver operating characteristic evidence</a:t>
            </a:r>
          </a:p>
          <a:p>
            <a:r>
              <a:t>03</a:t>
            </a:r>
          </a:p>
          <a:p>
            <a:r>
              <a:t>Build bins</a:t>
            </a:r>
          </a:p>
          <a:p>
            <a:r>
              <a:t>Generate fine / coarse bins and IV</a:t>
            </a:r>
          </a:p>
          <a:p>
            <a:r>
              <a:t>04</a:t>
            </a:r>
          </a:p>
          <a:p>
            <a:r>
              <a:t>Classify</a:t>
            </a:r>
          </a:p>
          <a:p>
            <a:r>
              <a:t>Apply category precedence and candidate rules</a:t>
            </a:r>
          </a:p>
          <a:p>
            <a:r>
              <a:t>05</a:t>
            </a:r>
          </a:p>
          <a:p>
            <a:r>
              <a:t>Retain evidence</a:t>
            </a:r>
          </a:p>
          <a:p>
            <a:r>
              <a:t>Persist feature artifacts and report</a:t>
            </a:r>
          </a:p>
          <a:p>
            <a:r>
              <a:t>Uses shared binning and AAR. Confirmed target is required; no AI adjudication component.</a:t>
            </a:r>
          </a:p>
          <a:p>
            <a:r>
              <a:t>Original speaker note: orchestration.classify_feature uses &gt;= category boundaries: AUC 0.90/0.70/0.55 and IV 0.50/0.30/0.05 by default, tunable and ordered. Candidate flags use a separate threshold contract (leakage AUC/IV and poor-discrimination AUC/IV). AUC/IV support multiple target routes; availability and failures are explicit. A weak univariate result does not show that a feature has no joint value.</a:t>
            </a:r>
          </a:p>
          <a:p>
            <a:endParaRPr/>
          </a:p>
          <a:p>
            <a:r>
              <a:t>FULL DECK SLIDE 29: Read the metrics alongside scope and limitations</a:t>
            </a:r>
          </a:p>
          <a:p>
            <a:r>
              <a:t>04 / T1-D02 • C / EVIDENCE</a:t>
            </a:r>
          </a:p>
          <a:p>
            <a:r>
              <a:t>Read the metrics alongside scope and limitations</a:t>
            </a:r>
          </a:p>
          <a:p>
            <a:r>
              <a:t>Single-feature target separation</a:t>
            </a:r>
          </a:p>
          <a:p>
            <a:r>
              <a:t>Implemented • enabled</a:t>
            </a:r>
          </a:p>
          <a:p>
            <a:r>
              <a:t>ROC / AUC / Gini</a:t>
            </a:r>
          </a:p>
          <a:p>
            <a:r>
              <a:t>Receiver operating characteristic (ROC), area under the curve (AUC) and Gini quantify univariate separation.</a:t>
            </a:r>
          </a:p>
          <a:p>
            <a:r>
              <a:t>WOE / IV and bins</a:t>
            </a:r>
          </a:p>
          <a:p>
            <a:r>
              <a:t>Weight of evidence (WOE), Information Value (IV), fine/coarse definitions, counts and optimizer warnings.</a:t>
            </a:r>
          </a:p>
          <a:p>
            <a:r>
              <a:t>Governed report</a:t>
            </a:r>
          </a:p>
          <a:p>
            <a:r>
              <a:t>Feature metrics, category rationale, candidate reasons, dispositions and linked source artifacts.</a:t>
            </a:r>
          </a:p>
          <a:p>
            <a:r>
              <a:t>Category precedence: Suspicious → Strong → Medium → Weak. Categories do not prove leakage.</a:t>
            </a:r>
          </a:p>
          <a:p>
            <a:r>
              <a:t>Original speaker note: orchestration.classify_feature uses &gt;= category boundaries: AUC 0.90/0.70/0.55 and IV 0.50/0.30/0.05 by default, tunable and ordered. Candidate flags use a separate threshold contract (leakage AUC/IV and poor-discrimination AUC/IV). AUC/IV support multiple target routes; availability and failures are explicit. A weak univariate result does not show that a feature has no joint value.</a:t>
            </a:r>
          </a:p>
          <a:p>
            <a:endParaRPr/>
          </a:p>
          <a:p>
            <a:r>
              <a:t>FULL DECK SLIDE 30: Confirm the scope, launch once and review final evidence</a:t>
            </a:r>
          </a:p>
          <a:p>
            <a:r>
              <a:t>04 / T1-D02 • D / LAUNCH</a:t>
            </a:r>
          </a:p>
          <a:p>
            <a:r>
              <a:t>Confirm the scope, launch once and review final evidence</a:t>
            </a:r>
          </a:p>
          <a:p>
            <a:r>
              <a:t>Single-feature target separation</a:t>
            </a:r>
          </a:p>
          <a:p>
            <a:r>
              <a:t>Implemented • enabled</a:t>
            </a:r>
          </a:p>
          <a:p>
            <a:r>
              <a:t>01</a:t>
            </a:r>
          </a:p>
          <a:p>
            <a:r>
              <a:t>Choose snapshot</a:t>
            </a:r>
          </a:p>
          <a:p>
            <a:r>
              <a:t>Analyst selects the ready active asset</a:t>
            </a:r>
          </a:p>
          <a:p>
            <a:r>
              <a:t>02</a:t>
            </a:r>
          </a:p>
          <a:p>
            <a:r>
              <a:t>Confirm scope</a:t>
            </a:r>
          </a:p>
          <a:p>
            <a:r>
              <a:t>Review target, features and constraints</a:t>
            </a:r>
          </a:p>
          <a:p>
            <a:r>
              <a:t>03</a:t>
            </a:r>
          </a:p>
          <a:p>
            <a:r>
              <a:t>Freeze &amp; run</a:t>
            </a:r>
          </a:p>
          <a:p>
            <a:r>
              <a:t>Persist scope before execution</a:t>
            </a:r>
          </a:p>
          <a:p>
            <a:r>
              <a:t>04</a:t>
            </a:r>
          </a:p>
          <a:p>
            <a:r>
              <a:t>Monitor</a:t>
            </a:r>
          </a:p>
          <a:p>
            <a:r>
              <a:t>Read progressive feature previews</a:t>
            </a:r>
          </a:p>
          <a:p>
            <a:r>
              <a:t>05</a:t>
            </a:r>
          </a:p>
          <a:p>
            <a:r>
              <a:t>Review final</a:t>
            </a:r>
          </a:p>
          <a:p>
            <a:r>
              <a:t>Open findings, artifacts and report</a:t>
            </a:r>
          </a:p>
          <a:p>
            <a:r>
              <a:t>Success / completion</a:t>
            </a:r>
          </a:p>
          <a:p>
            <a:r>
              <a:t>Complete or partial feature evidence remains visible. Final findings become available after run finalization.</a:t>
            </a:r>
          </a:p>
          <a:p>
            <a:r>
              <a:t>Failure / blocked scope</a:t>
            </a:r>
          </a:p>
          <a:p>
            <a:r>
              <a:t>Invalid/action-required inputs and per-feature ROC/binning errors are explicit; previews are not final results.</a:t>
            </a:r>
          </a:p>
          <a:p>
            <a:r>
              <a:t>Original speaker note: Supported launch sequence is summarized from manifest/runner and diagnostic documentation. Drafts are mutable before freeze; frozen scope and completed artifacts remain historical evidence. Launch availability always follows the register. Complete or partial feature evidence remains visible. Final findings become available after run finalization. Invalid/action-required inputs and per-feature ROC/binning errors are explicit; previews are not final results.</a:t>
            </a:r>
          </a:p>
          <a:p>
            <a:endParaRPr/>
          </a:p>
          <a:p>
            <a:r>
              <a:t>FULL DECK SLIDE 31: Carry the finding into a controlled investigation</a:t>
            </a:r>
          </a:p>
          <a:p>
            <a:r>
              <a:t>04 / T1-D02 • E / ISSUE &amp; RCA</a:t>
            </a:r>
          </a:p>
          <a:p>
            <a:r>
              <a:t>Carry the finding into a controlled investigation</a:t>
            </a:r>
          </a:p>
          <a:p>
            <a:r>
              <a:t>Single-feature target separation</a:t>
            </a:r>
          </a:p>
          <a:p>
            <a:r>
              <a:t>Implemented • enabled</a:t>
            </a:r>
          </a:p>
          <a:p>
            <a:r>
              <a:t>Step</a:t>
            </a:r>
          </a:p>
          <a:p>
            <a:r>
              <a:t>Implemented behavior / proposed follow-up</a:t>
            </a:r>
          </a:p>
          <a:p>
            <a:r>
              <a:t>Finding</a:t>
            </a:r>
          </a:p>
          <a:p>
            <a:r>
              <a:t>Potential leakage or poor discrimination becomes a candidate finding.</a:t>
            </a:r>
          </a:p>
          <a:p>
            <a:r>
              <a:t>Issue gate</a:t>
            </a:r>
          </a:p>
          <a:p>
            <a:r>
              <a:t>Human confirms or dismisses with rationale; confirmed finding links to Issue Management.</a:t>
            </a:r>
          </a:p>
          <a:p>
            <a:r>
              <a:t>RCA</a:t>
            </a:r>
          </a:p>
          <a:p>
            <a:r>
              <a:t>Review feature timing, target construction and retained ROC/IV/bin evidence. Source-evidence tools support bin review.</a:t>
            </a:r>
          </a:p>
          <a:p>
            <a:r>
              <a:t>Remediation / retest</a:t>
            </a:r>
          </a:p>
          <a:p>
            <a:r>
              <a:t>Suggested: correct construction or review feature use; manually upload corrected data and reassess.</a:t>
            </a:r>
          </a:p>
          <a:p>
            <a:r>
              <a:t>Closure</a:t>
            </a:r>
          </a:p>
          <a:p>
            <a:r>
              <a:t>Reviewer approves root cause identified or unresolved with evidence; optional follow-up stays separate.</a:t>
            </a:r>
          </a:p>
          <a:p>
            <a:r>
              <a:t>Manual / proposed: source correction and fresh-data retest. RCA approval does not prove a fix.</a:t>
            </a:r>
          </a:p>
          <a:p>
            <a:r>
              <a:t>Original speaker note: Finding condition and creation gate are implemented as described. RCA uses the existing shared service. Investigation suggestions are derived from diagnostic evidence and framework remediation guidance; they are not automated source fixes. Optional tracked remediation and manual fresh-data assessment are separate from current RCA conclusion approval. Suggested: correct construction or review feature use; manually upload corrected data and reassess.</a:t>
            </a:r>
          </a:p>
          <a:p>
            <a:endParaRPr/>
          </a:p>
          <a:p>
            <a:r>
              <a:t>CURRENT SHARED RCA CONTRACT</a:t>
            </a:r>
          </a:p>
          <a:p>
            <a:r>
              <a:t>The user concludes RCA with an approved identified root cause or an unresolved result. This closes the RCA and managed issue; it does not certify that source data was fixed. Optional remediation tracking records owner, priority and target date independently. A fresh assessment requires manual new data upload and rerun. Planned and deferred diagnostic-specific gates and RCA actions in this summary are proposed, not current executors.</a:t>
            </a:r>
          </a:p>
          <a:p>
            <a:endParaRPr/>
          </a:p>
          <a:p>
            <a:r>
              <a:t>SOURCES</a:t>
            </a:r>
          </a:p>
          <a:p>
            <a:r>
              <a:t>[D02R] source-codes/backend/domains/test_lab/diagnostics/t1_d02_feature_target_separation/README.md</a:t>
            </a:r>
          </a:p>
          <a:p>
            <a:r>
              <a:t>[D02E] source-codes/backend/domains/test_lab/diagnostics/t1_d02_feature_target_separation/adapter.py</a:t>
            </a:r>
          </a:p>
          <a:p>
            <a:r>
              <a:t>[D02C] source-codes/backend/domains/test_lab/diagnostics/t1_d02_feature_target_separation/orchestration.py</a:t>
            </a:r>
          </a:p>
          <a:p>
            <a:r>
              <a:t>[D02M] source-codes/backend/domains/test_lab/diagnostics/t1_d02_feature_target_separation/manifest.py</a:t>
            </a:r>
          </a:p>
          <a:p>
            <a:r>
              <a:t>[D02X] source-codes/backend/domains/test_lab/diagnostics/t1_d02_feature_target_separation/runner.py</a:t>
            </a:r>
          </a:p>
          <a:p>
            <a:r>
              <a:t>[S08] source-codes/backend/knowledge_base/dq_framework_data.json</a:t>
            </a:r>
          </a:p>
          <a:p>
            <a:r>
              <a:t>[S15] source-codes/backend/domains/rca/service.py</a:t>
            </a:r>
          </a:p>
          <a:p>
            <a:r>
              <a:t>[S16] source-codes/ui/src/features/rca/components/RcaCase.jsx</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2</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Cross-field business rule</a:t>
            </a:r>
          </a:p>
          <a:p>
            <a:endParaRPr/>
          </a:p>
          <a:p>
            <a:r>
              <a:t>One-page summary of the unchanged full product deck, slides 32–36.</a:t>
            </a:r>
          </a:p>
          <a:p>
            <a:r>
              <a:t>All on-slide text, cards, pills and connectors are native editable PowerPoint objects.</a:t>
            </a:r>
          </a:p>
          <a:p>
            <a:r>
              <a:t>DETAIL RETAINED FOR PRESENTERS</a:t>
            </a:r>
          </a:p>
          <a:p>
            <a:endParaRPr/>
          </a:p>
          <a:p>
            <a:r>
              <a:t>FULL DECK SLIDE 32: Check whether rows satisfy governed business rules</a:t>
            </a:r>
          </a:p>
          <a:p>
            <a:r>
              <a:t>04 / T2-D04 • A / PURPOSE</a:t>
            </a:r>
          </a:p>
          <a:p>
            <a:r>
              <a:t>Check whether rows satisfy governed business rules</a:t>
            </a:r>
          </a:p>
          <a:p>
            <a:r>
              <a:t>Cross-field business rule</a:t>
            </a:r>
          </a:p>
          <a:p>
            <a:r>
              <a:t>Implemented • paused</a:t>
            </a:r>
          </a:p>
          <a:p>
            <a:r>
              <a:t>!</a:t>
            </a:r>
          </a:p>
          <a:p>
            <a:r>
              <a:t>Problem</a:t>
            </a:r>
          </a:p>
          <a:p>
            <a:r>
              <a:t>Rows may violate cross-field relationships, domain bounds or event-ordering rules.</a:t>
            </a:r>
          </a:p>
          <a:p>
            <a:r>
              <a:t>Primary users</a:t>
            </a:r>
          </a:p>
          <a:p>
            <a:r>
              <a:t>Data-quality analysts and domain SMEs; KB editors and reviewers maintain governed rules.</a:t>
            </a:r>
          </a:p>
          <a:p>
            <a:r>
              <a:t>When to use it</a:t>
            </a:r>
          </a:p>
          <a:p>
            <a:r>
              <a:t>Code supports a ready asset with published, bound rules in the selected use case. New launches are paused.</a:t>
            </a:r>
          </a:p>
          <a:p>
            <a:r>
              <a:t>PASS, VIOLATION or NOT-APPLICABLE per rule, with exceptions, rates and bounded evidence.</a:t>
            </a:r>
          </a:p>
          <a:p>
            <a:r>
              <a:t>Original speaker note: Purpose and expected outcome derived from diagnostic sources. Implemented • paused. Personas are operating responsibilities, not separate RBAC roles.</a:t>
            </a:r>
          </a:p>
          <a:p>
            <a:endParaRPr/>
          </a:p>
          <a:p>
            <a:r>
              <a:t>FULL DECK SLIDE 33: Follow the governed processing path</a:t>
            </a:r>
          </a:p>
          <a:p>
            <a:r>
              <a:t>04 / T2-D04 • B / APPROACH</a:t>
            </a:r>
          </a:p>
          <a:p>
            <a:r>
              <a:t>Follow the governed processing path</a:t>
            </a:r>
          </a:p>
          <a:p>
            <a:r>
              <a:t>Cross-field business rule</a:t>
            </a:r>
          </a:p>
          <a:p>
            <a:r>
              <a:t>Implemented • paused</a:t>
            </a:r>
          </a:p>
          <a:p>
            <a:r>
              <a:t>INPUTS</a:t>
            </a:r>
          </a:p>
          <a:p>
            <a:r>
              <a:t>Published and bound KB rules; selected use case; resolved role-to-column bindings; source tables and tolerances.</a:t>
            </a:r>
          </a:p>
          <a:p>
            <a:r>
              <a:t>01</a:t>
            </a:r>
          </a:p>
          <a:p>
            <a:r>
              <a:t>Select rules</a:t>
            </a:r>
          </a:p>
          <a:p>
            <a:r>
              <a:t>Published, bound and in scope</a:t>
            </a:r>
          </a:p>
          <a:p>
            <a:r>
              <a:t>02</a:t>
            </a:r>
          </a:p>
          <a:p>
            <a:r>
              <a:t>Resolve roles</a:t>
            </a:r>
          </a:p>
          <a:p>
            <a:r>
              <a:t>Map required business fields</a:t>
            </a:r>
          </a:p>
          <a:p>
            <a:r>
              <a:t>03</a:t>
            </a:r>
          </a:p>
          <a:p>
            <a:r>
              <a:t>Apply scope</a:t>
            </a:r>
          </a:p>
          <a:p>
            <a:r>
              <a:t>Conditions, exceptions and missingness</a:t>
            </a:r>
          </a:p>
          <a:p>
            <a:r>
              <a:t>04</a:t>
            </a:r>
          </a:p>
          <a:p>
            <a:r>
              <a:t>Evaluate rules</a:t>
            </a:r>
          </a:p>
          <a:p>
            <a:r>
              <a:t>Count violations over evaluated rows</a:t>
            </a:r>
          </a:p>
          <a:p>
            <a:r>
              <a:t>05</a:t>
            </a:r>
          </a:p>
          <a:p>
            <a:r>
              <a:t>Persist &amp; hand off</a:t>
            </a:r>
          </a:p>
          <a:p>
            <a:r>
              <a:t>Store verdicts; synchronize violations</a:t>
            </a:r>
          </a:p>
          <a:p>
            <a:r>
              <a:t>Availability gate: workflow_pending. Engine and report code exist; current configuration blocks new launches.</a:t>
            </a:r>
          </a:p>
          <a:p>
            <a:r>
              <a:t>Original speaker note: engine.evaluate_rule returns NOT-APPLICABLE for unresolved roles, empty scope, unavailable related tables or entirely skipped values. runner.persist writes structured diagnostic results and one finding per rule. No published bound rules produces NOT-APPLICABLE, never silent PASS. This paused package uses the structured diagnostic store and should not be described as having every newer AAR report feature.</a:t>
            </a:r>
          </a:p>
          <a:p>
            <a:endParaRPr/>
          </a:p>
          <a:p>
            <a:r>
              <a:t>FULL DECK SLIDE 34: Read the metrics alongside scope and limitations</a:t>
            </a:r>
          </a:p>
          <a:p>
            <a:r>
              <a:t>04 / T2-D04 • C / EVIDENCE</a:t>
            </a:r>
          </a:p>
          <a:p>
            <a:r>
              <a:t>Read the metrics alongside scope and limitations</a:t>
            </a:r>
          </a:p>
          <a:p>
            <a:r>
              <a:t>Cross-field business rule</a:t>
            </a:r>
          </a:p>
          <a:p>
            <a:r>
              <a:t>Implemented • paused</a:t>
            </a:r>
          </a:p>
          <a:p>
            <a:r>
              <a:t>Rule-level accounting</a:t>
            </a:r>
          </a:p>
          <a:p>
            <a:r>
              <a:t>Evaluated, excepted and skipped row counts; violation count/rate; resolved roles and rule text.</a:t>
            </a:r>
          </a:p>
          <a:p>
            <a:r>
              <a:t>Pattern evidence</a:t>
            </a:r>
          </a:p>
          <a:p>
            <a:r>
              <a:t>Bounded examples and segment concentration support localizing a rule violation.</a:t>
            </a:r>
          </a:p>
          <a:p>
            <a:r>
              <a:t>Structured report</a:t>
            </a:r>
          </a:p>
          <a:p>
            <a:r>
              <a:t>Dataset rollup, severity, parameter sources and NOT-APPLICABLE reasons; PDF/text rendering code.</a:t>
            </a:r>
          </a:p>
          <a:p>
            <a:r>
              <a:t>Decision rule: violation rate ≤ tolerance → PASS; otherwise VIOLATION.</a:t>
            </a:r>
          </a:p>
          <a:p>
            <a:r>
              <a:t>Original speaker note: engine.evaluate_rule returns NOT-APPLICABLE for unresolved roles, empty scope, unavailable related tables or entirely skipped values. runner.persist writes structured diagnostic results and one finding per rule. No published bound rules produces NOT-APPLICABLE, never silent PASS. This paused package uses the structured diagnostic store and should not be described as having every newer AAR report feature.</a:t>
            </a:r>
          </a:p>
          <a:p>
            <a:endParaRPr/>
          </a:p>
          <a:p>
            <a:r>
              <a:t>FULL DECK SLIDE 35: Confirm the scope, launch once and review final evidence</a:t>
            </a:r>
          </a:p>
          <a:p>
            <a:r>
              <a:t>04 / T2-D04 • D / LAUNCH</a:t>
            </a:r>
          </a:p>
          <a:p>
            <a:r>
              <a:t>Confirm the scope, launch once and review final evidence</a:t>
            </a:r>
          </a:p>
          <a:p>
            <a:r>
              <a:t>Cross-field business rule</a:t>
            </a:r>
          </a:p>
          <a:p>
            <a:r>
              <a:t>Implemented • paused</a:t>
            </a:r>
          </a:p>
          <a:p>
            <a:r>
              <a:t>01</a:t>
            </a:r>
          </a:p>
          <a:p>
            <a:r>
              <a:t>Inspect coverage</a:t>
            </a:r>
          </a:p>
          <a:p>
            <a:r>
              <a:t>Current card shows workflow pending</a:t>
            </a:r>
          </a:p>
          <a:p>
            <a:r>
              <a:t>02</a:t>
            </a:r>
          </a:p>
          <a:p>
            <a:r>
              <a:t>Resolve scope</a:t>
            </a:r>
          </a:p>
          <a:p>
            <a:r>
              <a:t>When re-enabled: use case and tables</a:t>
            </a:r>
          </a:p>
          <a:p>
            <a:r>
              <a:t>03</a:t>
            </a:r>
          </a:p>
          <a:p>
            <a:r>
              <a:t>Review rules</a:t>
            </a:r>
          </a:p>
          <a:p>
            <a:r>
              <a:t>Confirm roles, exclusions and tolerances</a:t>
            </a:r>
          </a:p>
          <a:p>
            <a:r>
              <a:t>04</a:t>
            </a:r>
          </a:p>
          <a:p>
            <a:r>
              <a:t>Freeze &amp; execute</a:t>
            </a:r>
          </a:p>
          <a:p>
            <a:r>
              <a:t>Supported code path; unavailable now</a:t>
            </a:r>
          </a:p>
          <a:p>
            <a:r>
              <a:t>05</a:t>
            </a:r>
          </a:p>
          <a:p>
            <a:r>
              <a:t>Read report</a:t>
            </a:r>
          </a:p>
          <a:p>
            <a:r>
              <a:t>Historical evidence remains reviewable</a:t>
            </a:r>
          </a:p>
          <a:p>
            <a:r>
              <a:t>Success / completion</a:t>
            </a:r>
          </a:p>
          <a:p>
            <a:r>
              <a:t>Implemented path produces complete rule accounting and hands VIOLATION findings to issue synchronization.</a:t>
            </a:r>
          </a:p>
          <a:p>
            <a:r>
              <a:t>Failure / blocked scope</a:t>
            </a:r>
          </a:p>
          <a:p>
            <a:r>
              <a:t>Current launches are refused. In the code path, missing scope yields reasons; execution errors are sanitized.</a:t>
            </a:r>
          </a:p>
          <a:p>
            <a:r>
              <a:t>Original speaker note: Supported launch sequence is summarized from manifest/runner and diagnostic documentation. Drafts are mutable before freeze; frozen scope and completed artifacts remain historical evidence. Launch availability always follows the register. Implemented path produces complete rule accounting and hands VIOLATION findings to issue synchronization. Current launches are refused. In the code path, missing scope yields reasons; execution errors are sanitized.</a:t>
            </a:r>
          </a:p>
          <a:p>
            <a:endParaRPr/>
          </a:p>
          <a:p>
            <a:r>
              <a:t>FULL DECK SLIDE 36: Carry the finding into a controlled investigation</a:t>
            </a:r>
          </a:p>
          <a:p>
            <a:r>
              <a:t>04 / T2-D04 • E / ISSUE &amp; RCA</a:t>
            </a:r>
          </a:p>
          <a:p>
            <a:r>
              <a:t>Carry the finding into a controlled investigation</a:t>
            </a:r>
          </a:p>
          <a:p>
            <a:r>
              <a:t>Cross-field business rule</a:t>
            </a:r>
          </a:p>
          <a:p>
            <a:r>
              <a:t>Implemented • paused</a:t>
            </a:r>
          </a:p>
          <a:p>
            <a:r>
              <a:t>Step</a:t>
            </a:r>
          </a:p>
          <a:p>
            <a:r>
              <a:t>Implemented behavior / proposed follow-up</a:t>
            </a:r>
          </a:p>
          <a:p>
            <a:r>
              <a:t>Finding</a:t>
            </a:r>
          </a:p>
          <a:p>
            <a:r>
              <a:t>A deterministic VIOLATION is the finding condition after exceptions and tolerance.</a:t>
            </a:r>
          </a:p>
          <a:p>
            <a:r>
              <a:t>Issue gate</a:t>
            </a:r>
          </a:p>
          <a:p>
            <a:r>
              <a:t>Implemented runner auto-opens issues for violations when executed; PASS/NOT-APPLICABLE do not.</a:t>
            </a:r>
          </a:p>
          <a:p>
            <a:r>
              <a:t>RCA</a:t>
            </a:r>
          </a:p>
          <a:p>
            <a:r>
              <a:t>Inspect the governed rule, bindings, exceptions and segment evidence; verify whether data or rule design is wrong.</a:t>
            </a:r>
          </a:p>
          <a:p>
            <a:r>
              <a:t>Remediation / retest</a:t>
            </a:r>
          </a:p>
          <a:p>
            <a:r>
              <a:t>Suggested: correct source logic or submit a governed rule change; retest manually after approval and re-enablement.</a:t>
            </a:r>
          </a:p>
          <a:p>
            <a:r>
              <a:t>Closure</a:t>
            </a:r>
          </a:p>
          <a:p>
            <a:r>
              <a:t>Reviewer approves root cause identified or unresolved with evidence; optional follow-up stays separate.</a:t>
            </a:r>
          </a:p>
          <a:p>
            <a:r>
              <a:t>Manual / proposed: source correction and fresh-data retest. RCA approval does not prove a fix.</a:t>
            </a:r>
          </a:p>
          <a:p>
            <a:r>
              <a:t>Original speaker note: Finding condition and creation gate are implemented as described. RCA uses the existing shared service. Investigation suggestions are derived from diagnostic evidence and framework remediation guidance; they are not automated source fixes. Optional tracked remediation and manual fresh-data assessment are separate from current RCA conclusion approval. Suggested: correct source logic or submit a governed rule change; retest manually after approval and re-enablement.</a:t>
            </a:r>
          </a:p>
          <a:p>
            <a:endParaRPr/>
          </a:p>
          <a:p>
            <a:r>
              <a:t>CURRENT SHARED RCA CONTRACT</a:t>
            </a:r>
          </a:p>
          <a:p>
            <a:r>
              <a:t>The user concludes RCA with an approved identified root cause or an unresolved result. This closes the RCA and managed issue; it does not certify that source data was fixed. Optional remediation tracking records owner, priority and target date independently. A fresh assessment requires manual new data upload and rerun. Planned and deferred diagnostic-specific gates and RCA actions in this summary are proposed, not current executors.</a:t>
            </a:r>
          </a:p>
          <a:p>
            <a:endParaRPr/>
          </a:p>
          <a:p>
            <a:r>
              <a:t>SOURCES</a:t>
            </a:r>
          </a:p>
          <a:p>
            <a:r>
              <a:t>[S08] source-codes/backend/knowledge_base/dq_framework_data.json</a:t>
            </a:r>
          </a:p>
          <a:p>
            <a:r>
              <a:t>[D04R] source-codes/backend/domains/test_lab/diagnostics/t2_d04_cross_field_business_rule/README.md</a:t>
            </a:r>
          </a:p>
          <a:p>
            <a:r>
              <a:t>[D04E] source-codes/backend/domains/test_lab/diagnostics/t2_d04_cross_field_business_rule/engine.py</a:t>
            </a:r>
          </a:p>
          <a:p>
            <a:r>
              <a:t>[D04M] source-codes/backend/domains/test_lab/diagnostics/t2_d04_cross_field_business_rule/manifest.py</a:t>
            </a:r>
          </a:p>
          <a:p>
            <a:r>
              <a:t>[D04X] source-codes/backend/domains/test_lab/diagnostics/t2_d04_cross_field_business_rule/runner.py</a:t>
            </a:r>
          </a:p>
          <a:p>
            <a:r>
              <a:t>[S14] source-codes/backend/ai/v2/issues.py</a:t>
            </a:r>
          </a:p>
          <a:p>
            <a:r>
              <a:t>[S15] source-codes/backend/domains/rca/service.py</a:t>
            </a:r>
          </a:p>
          <a:p>
            <a:r>
              <a:t>[S16] source-codes/ui/src/features/rca/components/RcaCase.jsx</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3</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Row-completeness reconciliation</a:t>
            </a:r>
          </a:p>
          <a:p>
            <a:endParaRPr/>
          </a:p>
          <a:p>
            <a:r>
              <a:t>One-page summary of the unchanged full product deck, slides 37–41.</a:t>
            </a:r>
          </a:p>
          <a:p>
            <a:r>
              <a:t>All on-slide text, cards, pills and connectors are native editable PowerPoint objects.</a:t>
            </a:r>
          </a:p>
          <a:p>
            <a:r>
              <a:t>DETAIL RETAINED FOR PRESENTERS</a:t>
            </a:r>
          </a:p>
          <a:p>
            <a:endParaRPr/>
          </a:p>
          <a:p>
            <a:r>
              <a:t>FULL DECK SLIDE 37: Find missing facility-period rows inside observed lifespans</a:t>
            </a:r>
          </a:p>
          <a:p>
            <a:r>
              <a:t>04 / T2-D06 • A / PURPOSE</a:t>
            </a:r>
          </a:p>
          <a:p>
            <a:r>
              <a:t>Find missing facility-period rows inside observed lifespans</a:t>
            </a:r>
          </a:p>
          <a:p>
            <a:r>
              <a:t>Row-completeness reconciliation</a:t>
            </a:r>
          </a:p>
          <a:p>
            <a:r>
              <a:t>Implemented • enabled</a:t>
            </a:r>
          </a:p>
          <a:p>
            <a:r>
              <a:t>!</a:t>
            </a:r>
          </a:p>
          <a:p>
            <a:r>
              <a:t>Problem</a:t>
            </a:r>
          </a:p>
          <a:p>
            <a:r>
              <a:t>Panel gaps and duplicate keys can distort longitudinal analysis even when received rows are populated.</a:t>
            </a:r>
          </a:p>
          <a:p>
            <a:r>
              <a:t>Primary users</a:t>
            </a:r>
          </a:p>
          <a:p>
            <a:r>
              <a:t>Data teams and analytics reviewers who understand facility identifiers, period grain and optional segments.</a:t>
            </a:r>
          </a:p>
          <a:p>
            <a:r>
              <a:t>When to use it</a:t>
            </a:r>
          </a:p>
          <a:p>
            <a:r>
              <a:t>One ready panel table with a facility ID, reporting period, confirmed grain and continuity floor.</a:t>
            </a:r>
          </a:p>
          <a:p>
            <a:r>
              <a:t>Six deterministic rule results and continuity evidence, with human review before an issue is created.</a:t>
            </a:r>
          </a:p>
          <a:p>
            <a:r>
              <a:t>Original speaker note: Purpose and expected outcome derived from diagnostic sources. Implemented • enabled. Personas are operating responsibilities, not separate RBAC roles.</a:t>
            </a:r>
          </a:p>
          <a:p>
            <a:endParaRPr/>
          </a:p>
          <a:p>
            <a:r>
              <a:t>FULL DECK SLIDE 38: Follow the governed processing path</a:t>
            </a:r>
          </a:p>
          <a:p>
            <a:r>
              <a:t>04 / T2-D06 • B / APPROACH</a:t>
            </a:r>
          </a:p>
          <a:p>
            <a:r>
              <a:t>Follow the governed processing path</a:t>
            </a:r>
          </a:p>
          <a:p>
            <a:r>
              <a:t>Row-completeness reconciliation</a:t>
            </a:r>
          </a:p>
          <a:p>
            <a:r>
              <a:t>Implemented • enabled</a:t>
            </a:r>
          </a:p>
          <a:p>
            <a:r>
              <a:t>INPUTS</a:t>
            </a:r>
          </a:p>
          <a:p>
            <a:r>
              <a:t>One panel table; facility_id and period bindings; grain; optional segment; continuity floor (default 95%).</a:t>
            </a:r>
          </a:p>
          <a:p>
            <a:r>
              <a:t>01</a:t>
            </a:r>
          </a:p>
          <a:p>
            <a:r>
              <a:t>Validate keys</a:t>
            </a:r>
          </a:p>
          <a:p>
            <a:r>
              <a:t>Check identifiers and parse periods</a:t>
            </a:r>
          </a:p>
          <a:p>
            <a:r>
              <a:t>02</a:t>
            </a:r>
          </a:p>
          <a:p>
            <a:r>
              <a:t>Define spans</a:t>
            </a:r>
          </a:p>
          <a:p>
            <a:r>
              <a:t>First-to-last observed period per facility</a:t>
            </a:r>
          </a:p>
          <a:p>
            <a:r>
              <a:t>03</a:t>
            </a:r>
          </a:p>
          <a:p>
            <a:r>
              <a:t>Build grid</a:t>
            </a:r>
          </a:p>
          <a:p>
            <a:r>
              <a:t>Required facility-period pairs inside spans</a:t>
            </a:r>
          </a:p>
          <a:p>
            <a:r>
              <a:t>04</a:t>
            </a:r>
          </a:p>
          <a:p>
            <a:r>
              <a:t>Reconcile</a:t>
            </a:r>
          </a:p>
          <a:p>
            <a:r>
              <a:t>Detect gaps, duplicates and segment gaps</a:t>
            </a:r>
          </a:p>
          <a:p>
            <a:r>
              <a:t>05</a:t>
            </a:r>
          </a:p>
          <a:p>
            <a:r>
              <a:t>Summarize</a:t>
            </a:r>
          </a:p>
          <a:p>
            <a:r>
              <a:t>Retain six rule results and coverage</a:t>
            </a:r>
          </a:p>
          <a:p>
            <a:r>
              <a:t>Observed-span method only: cannot detect wholly absent facilities or missing rows beyond observed endpoints.</a:t>
            </a:r>
          </a:p>
          <a:p>
            <a:r>
              <a:t>Original speaker note: Current engine methodology row-completeness-observed-span-v1 overrides the workbook expected-population/anti-join wording. The old contract header says workflow pending, but current register enables #6. Rule IDs are T2D6-01 through T2D6-06. Example from test_invalid_rows_full_calendar_gap_duplicates_and_observed_span_reconcile: 6 required pairs, 4 received, 1 surplus duplicate, 1 invalid row, and 4 primary issue instances (invalid + 2 missing + 1 surplus). This is a synthetic regression fixture, not client data or a new test run.</a:t>
            </a:r>
          </a:p>
          <a:p>
            <a:endParaRPr/>
          </a:p>
          <a:p>
            <a:r>
              <a:t>FULL DECK SLIDE 39: Read the metrics alongside scope and limitations</a:t>
            </a:r>
          </a:p>
          <a:p>
            <a:r>
              <a:t>04 / T2-D06 • C / EVIDENCE</a:t>
            </a:r>
          </a:p>
          <a:p>
            <a:r>
              <a:t>Read the metrics alongside scope and limitations</a:t>
            </a:r>
          </a:p>
          <a:p>
            <a:r>
              <a:t>Row-completeness reconciliation</a:t>
            </a:r>
          </a:p>
          <a:p>
            <a:r>
              <a:t>Implemented • enabled</a:t>
            </a:r>
          </a:p>
          <a:p>
            <a:r>
              <a:t>Continuity metric</a:t>
            </a:r>
          </a:p>
          <a:p>
            <a:r>
              <a:t>Received required facility-period pairs divided by required pairs within observed spans.</a:t>
            </a:r>
          </a:p>
          <a:p>
            <a:r>
              <a:t>Six rule outcomes</a:t>
            </a:r>
          </a:p>
          <a:p>
            <a:r>
              <a:t>Identifiers; period sequence; rows by period; duplicate pairs; facility gaps; segment gaps.</a:t>
            </a:r>
          </a:p>
          <a:p>
            <a:r>
              <a:t>Decision evidence</a:t>
            </a:r>
          </a:p>
          <a:p>
            <a:r>
              <a:t>Masked failed-row examples, rule rationales, affected populations and PDF/text report.</a:t>
            </a:r>
          </a:p>
          <a:p>
            <a:r>
              <a:t>A high portfolio coverage rate can coexist with a failed period or segment rule.</a:t>
            </a:r>
          </a:p>
          <a:p>
            <a:r>
              <a:t>Original speaker note: Current engine methodology row-completeness-observed-span-v1 overrides the workbook expected-population/anti-join wording. The old contract header says workflow pending, but current register enables #6. Rule IDs are T2D6-01 through T2D6-06. Example from test_invalid_rows_full_calendar_gap_duplicates_and_observed_span_reconcile: 6 required pairs, 4 received, 1 surplus duplicate, 1 invalid row, and 4 primary issue instances (invalid + 2 missing + 1 surplus). This is a synthetic regression fixture, not client data or a new test run. Synthetic fixture example is documented in the appendix; visible metrics here describe the contract, not fabricated portfolio results.</a:t>
            </a:r>
          </a:p>
          <a:p>
            <a:endParaRPr/>
          </a:p>
          <a:p>
            <a:r>
              <a:t>FULL DECK SLIDE 40: Confirm the scope, launch once and review final evidence</a:t>
            </a:r>
          </a:p>
          <a:p>
            <a:r>
              <a:t>04 / T2-D06 • D / LAUNCH</a:t>
            </a:r>
          </a:p>
          <a:p>
            <a:r>
              <a:t>Confirm the scope, launch once and review final evidence</a:t>
            </a:r>
          </a:p>
          <a:p>
            <a:r>
              <a:t>Row-completeness reconciliation</a:t>
            </a:r>
          </a:p>
          <a:p>
            <a:r>
              <a:t>Implemented • enabled</a:t>
            </a:r>
          </a:p>
          <a:p>
            <a:r>
              <a:t>01</a:t>
            </a:r>
          </a:p>
          <a:p>
            <a:r>
              <a:t>Select table</a:t>
            </a:r>
          </a:p>
          <a:p>
            <a:r>
              <a:t>Use one ready panel snapshot</a:t>
            </a:r>
          </a:p>
          <a:p>
            <a:r>
              <a:t>02</a:t>
            </a:r>
          </a:p>
          <a:p>
            <a:r>
              <a:t>Confirm roles</a:t>
            </a:r>
          </a:p>
          <a:p>
            <a:r>
              <a:t>Facility ID, period and optional segment</a:t>
            </a:r>
          </a:p>
          <a:p>
            <a:r>
              <a:t>03</a:t>
            </a:r>
          </a:p>
          <a:p>
            <a:r>
              <a:t>Set method</a:t>
            </a:r>
          </a:p>
          <a:p>
            <a:r>
              <a:t>Review grain and continuity floor</a:t>
            </a:r>
          </a:p>
          <a:p>
            <a:r>
              <a:t>04</a:t>
            </a:r>
          </a:p>
          <a:p>
            <a:r>
              <a:t>Freeze &amp; run</a:t>
            </a:r>
          </a:p>
          <a:p>
            <a:r>
              <a:t>Use the frozen observed-span scope</a:t>
            </a:r>
          </a:p>
          <a:p>
            <a:r>
              <a:t>05</a:t>
            </a:r>
          </a:p>
          <a:p>
            <a:r>
              <a:t>Review rules</a:t>
            </a:r>
          </a:p>
          <a:p>
            <a:r>
              <a:t>Inspect findings and governed report</a:t>
            </a:r>
          </a:p>
          <a:p>
            <a:r>
              <a:t>Success / completion</a:t>
            </a:r>
          </a:p>
          <a:p>
            <a:r>
              <a:t>Six rule outcomes, masked evidence and continuity metrics are retained. Optional segment can be NOT-APPLICABLE.</a:t>
            </a:r>
          </a:p>
          <a:p>
            <a:r>
              <a:t>Failure / blocked scope</a:t>
            </a:r>
          </a:p>
          <a:p>
            <a:r>
              <a:t>Input/period incompatibilities are reported; failed rules await human review and do not auto-create issues.</a:t>
            </a:r>
          </a:p>
          <a:p>
            <a:r>
              <a:t>Original speaker note: Supported launch sequence is summarized from manifest/runner and diagnostic documentation. Drafts are mutable before freeze; frozen scope and completed artifacts remain historical evidence. Launch availability always follows the register. Six rule outcomes, masked evidence and continuity metrics are retained. Optional segment can be NOT-APPLICABLE. Input/period incompatibilities are reported; failed rules await human review and do not auto-create issues.</a:t>
            </a:r>
          </a:p>
          <a:p>
            <a:endParaRPr/>
          </a:p>
          <a:p>
            <a:r>
              <a:t>FULL DECK SLIDE 41: Carry the finding into a controlled investigation</a:t>
            </a:r>
          </a:p>
          <a:p>
            <a:r>
              <a:t>04 / T2-D06 • E / ISSUE &amp; RCA</a:t>
            </a:r>
          </a:p>
          <a:p>
            <a:r>
              <a:t>Carry the finding into a controlled investigation</a:t>
            </a:r>
          </a:p>
          <a:p>
            <a:r>
              <a:t>Row-completeness reconciliation</a:t>
            </a:r>
          </a:p>
          <a:p>
            <a:r>
              <a:t>Implemented • enabled</a:t>
            </a:r>
          </a:p>
          <a:p>
            <a:r>
              <a:t>Step</a:t>
            </a:r>
          </a:p>
          <a:p>
            <a:r>
              <a:t>Implemented behavior / proposed follow-up</a:t>
            </a:r>
          </a:p>
          <a:p>
            <a:r>
              <a:t>Finding</a:t>
            </a:r>
          </a:p>
          <a:p>
            <a:r>
              <a:t>A VIOLATION in any of the six rules becomes a reviewable finding.</a:t>
            </a:r>
          </a:p>
          <a:p>
            <a:r>
              <a:t>Issue gate</a:t>
            </a:r>
          </a:p>
          <a:p>
            <a:r>
              <a:t>Human confirms or dismisses failed-rule findings with rationale before issue creation.</a:t>
            </a:r>
          </a:p>
          <a:p>
            <a:r>
              <a:t>RCA</a:t>
            </a:r>
          </a:p>
          <a:p>
            <a:r>
              <a:t>Review invalid keys, calendar gaps, duplicate type and affected period/segment concentrations.</a:t>
            </a:r>
          </a:p>
          <a:p>
            <a:r>
              <a:t>Remediation / retest</a:t>
            </a:r>
          </a:p>
          <a:p>
            <a:r>
              <a:t>Suggested: reconcile source deliveries or deduplicate; upload corrected panel and rerun for fresh evidence.</a:t>
            </a:r>
          </a:p>
          <a:p>
            <a:r>
              <a:t>Closure</a:t>
            </a:r>
          </a:p>
          <a:p>
            <a:r>
              <a:t>Reviewer approves root cause identified or unresolved with evidence; optional follow-up stays separate.</a:t>
            </a:r>
          </a:p>
          <a:p>
            <a:r>
              <a:t>Manual / proposed: source correction and fresh-data retest. RCA approval does not prove a fix.</a:t>
            </a:r>
          </a:p>
          <a:p>
            <a:r>
              <a:t>Original speaker note: Finding condition and creation gate are implemented as described. RCA uses the existing shared service. Investigation suggestions are derived from diagnostic evidence and framework remediation guidance; they are not automated source fixes. Optional tracked remediation and manual fresh-data assessment are separate from current RCA conclusion approval. Suggested: reconcile source deliveries or deduplicate; upload corrected panel and rerun for fresh evidence.</a:t>
            </a:r>
          </a:p>
          <a:p>
            <a:endParaRPr/>
          </a:p>
          <a:p>
            <a:r>
              <a:t>CURRENT SHARED RCA CONTRACT</a:t>
            </a:r>
          </a:p>
          <a:p>
            <a:r>
              <a:t>The user concludes RCA with an approved identified root cause or an unresolved result. This closes the RCA and managed issue; it does not certify that source data was fixed. Optional remediation tracking records owner, priority and target date independently. A fresh assessment requires manual new data upload and rerun. Planned and deferred diagnostic-specific gates and RCA actions in this summary are proposed, not current executors.</a:t>
            </a:r>
          </a:p>
          <a:p>
            <a:endParaRPr/>
          </a:p>
          <a:p>
            <a:r>
              <a:t>SOURCES</a:t>
            </a:r>
          </a:p>
          <a:p>
            <a:r>
              <a:t>[D06R] source-codes/backend/domains/test_lab/diagnostics/t2_d06_row_completeness/README.md</a:t>
            </a:r>
          </a:p>
          <a:p>
            <a:r>
              <a:t>[D06E] source-codes/backend/domains/test_lab/diagnostics/t2_d06_row_completeness/engine.py</a:t>
            </a:r>
          </a:p>
          <a:p>
            <a:r>
              <a:t>[D06M] source-codes/backend/domains/test_lab/diagnostics/t2_d06_row_completeness/manifest.py</a:t>
            </a:r>
          </a:p>
          <a:p>
            <a:r>
              <a:t>[D06X] source-codes/backend/domains/test_lab/diagnostics/t2_d06_row_completeness/runner.py</a:t>
            </a:r>
          </a:p>
          <a:p>
            <a:r>
              <a:t>[D06T] source-codes/backend/tests/unit/test_lab/diagnostics/t2_d06_row_completeness/test_row_completeness_engine.py</a:t>
            </a:r>
          </a:p>
          <a:p>
            <a:r>
              <a:t>[S08] source-codes/backend/knowledge_base/dq_framework_data.json</a:t>
            </a:r>
          </a:p>
          <a:p>
            <a:r>
              <a:t>[S15] source-codes/backend/domains/rca/service.py</a:t>
            </a:r>
          </a:p>
          <a:p>
            <a:r>
              <a:t>[S16] source-codes/ui/src/features/rca/components/RcaCase.jsx</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4</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Value-semantics classification</a:t>
            </a:r>
          </a:p>
          <a:p>
            <a:endParaRPr/>
          </a:p>
          <a:p>
            <a:r>
              <a:t>One-page summary of the unchanged full product deck, slides 42–46.</a:t>
            </a:r>
          </a:p>
          <a:p>
            <a:r>
              <a:t>All on-slide text, cards, pills and connectors are native editable PowerPoint objects.</a:t>
            </a:r>
          </a:p>
          <a:p>
            <a:r>
              <a:t>DETAIL RETAINED FOR PRESENTERS</a:t>
            </a:r>
          </a:p>
          <a:p>
            <a:endParaRPr/>
          </a:p>
          <a:p>
            <a:r>
              <a:t>FULL DECK SLIDE 42: Explain exceptional values before treating them as defects</a:t>
            </a:r>
          </a:p>
          <a:p>
            <a:r>
              <a:t>04 / T2-D08 • A / PURPOSE</a:t>
            </a:r>
          </a:p>
          <a:p>
            <a:r>
              <a:t>Explain exceptional values before treating them as defects</a:t>
            </a:r>
          </a:p>
          <a:p>
            <a:r>
              <a:t>Value-semantics classification</a:t>
            </a:r>
          </a:p>
          <a:p>
            <a:r>
              <a:t>Implemented • enabled</a:t>
            </a:r>
          </a:p>
          <a:p>
            <a:r>
              <a:t>!</a:t>
            </a:r>
          </a:p>
          <a:p>
            <a:r>
              <a:t>Problem</a:t>
            </a:r>
          </a:p>
          <a:p>
            <a:r>
              <a:t>Blanks, sentinels, static values and conditional fields can have legitimate business meaning.</a:t>
            </a:r>
          </a:p>
          <a:p>
            <a:r>
              <a:t>Primary users</a:t>
            </a:r>
          </a:p>
          <a:p>
            <a:r>
              <a:t>Data and model teams, with an SME confirming semantic roles when exact evidence is insufficient.</a:t>
            </a:r>
          </a:p>
          <a:p>
            <a:r>
              <a:t>When to use it</a:t>
            </a:r>
          </a:p>
          <a:p>
            <a:r>
              <a:t>A ready table with selected fields, confirmed role coverage and any required runtime declarations.</a:t>
            </a:r>
          </a:p>
          <a:p>
            <a:r>
              <a:t>Non-destructive cell tags, coverage gaps and grouped candidate findings; source values stay unchanged.</a:t>
            </a:r>
          </a:p>
          <a:p>
            <a:r>
              <a:t>Original speaker note: Purpose and expected outcome derived from diagnostic sources. Implemented • enabled. Personas are operating responsibilities, not separate RBAC roles.</a:t>
            </a:r>
          </a:p>
          <a:p>
            <a:endParaRPr/>
          </a:p>
          <a:p>
            <a:r>
              <a:t>FULL DECK SLIDE 43: Follow the governed processing path</a:t>
            </a:r>
          </a:p>
          <a:p>
            <a:r>
              <a:t>04 / T2-D08 • B / APPROACH</a:t>
            </a:r>
          </a:p>
          <a:p>
            <a:r>
              <a:t>Follow the governed processing path</a:t>
            </a:r>
          </a:p>
          <a:p>
            <a:r>
              <a:t>Value-semantics classification</a:t>
            </a:r>
          </a:p>
          <a:p>
            <a:r>
              <a:t>Implemented • enabled</a:t>
            </a:r>
          </a:p>
          <a:p>
            <a:r>
              <a:t>INPUTS</a:t>
            </a:r>
          </a:p>
          <a:p>
            <a:r>
              <a:t>Selected fields; confirmed canonical roles; versioned KB/terminology; declared sentinels, dates or panel rules.</a:t>
            </a:r>
          </a:p>
          <a:p>
            <a:r>
              <a:t>01</a:t>
            </a:r>
          </a:p>
          <a:p>
            <a:r>
              <a:t>Bind roles</a:t>
            </a:r>
          </a:p>
          <a:p>
            <a:r>
              <a:t>Exact-first matching; confirm other proposals</a:t>
            </a:r>
          </a:p>
          <a:p>
            <a:r>
              <a:t>02</a:t>
            </a:r>
          </a:p>
          <a:p>
            <a:r>
              <a:t>Route rules</a:t>
            </a:r>
          </a:p>
          <a:p>
            <a:r>
              <a:t>Expand roles and check prerequisites</a:t>
            </a:r>
          </a:p>
          <a:p>
            <a:r>
              <a:t>03</a:t>
            </a:r>
          </a:p>
          <a:p>
            <a:r>
              <a:t>Classify cells</a:t>
            </a:r>
          </a:p>
          <a:p>
            <a:r>
              <a:t>Run deterministic KB primitives</a:t>
            </a:r>
          </a:p>
          <a:p>
            <a:r>
              <a:t>04</a:t>
            </a:r>
          </a:p>
          <a:p>
            <a:r>
              <a:t>Resolve precedence</a:t>
            </a:r>
          </a:p>
          <a:p>
            <a:r>
              <a:t>Retain one winning tag per cell</a:t>
            </a:r>
          </a:p>
          <a:p>
            <a:r>
              <a:t>05</a:t>
            </a:r>
          </a:p>
          <a:p>
            <a:r>
              <a:t>Publish evidence</a:t>
            </a:r>
          </a:p>
          <a:p>
            <a:r>
              <a:t>Tags, assessment ledger and report</a:t>
            </a:r>
          </a:p>
          <a:p>
            <a:r>
              <a:t>General context is valid. Credit-risk use context is optional and does not enable or suppress rules.</a:t>
            </a:r>
          </a:p>
          <a:p>
            <a:r>
              <a:t>Original speaker note: Active rules KB v0.2, terminology v0.3, engine v1.0.0. 36 canonical roles. CENSORED means the required future window/process is incomplete. STALE_FROZEN can be declared sentinel or governed non-variation; NOT_APPLICABLE requires confirmed business conditions. Missing prerequisites remain UNSCOPED. Unresolved competing tag precedence fails closed. Raw source values are excluded from persisted tag/ledger artifacts. Automated downstream consumption of all D08 tags by every diagnostic is not verified and is not claimed.</a:t>
            </a:r>
          </a:p>
          <a:p>
            <a:endParaRPr/>
          </a:p>
          <a:p>
            <a:r>
              <a:t>FULL DECK SLIDE 44: Read the metrics alongside scope and limitations</a:t>
            </a:r>
          </a:p>
          <a:p>
            <a:r>
              <a:t>04 / T2-D08 • C / EVIDENCE</a:t>
            </a:r>
          </a:p>
          <a:p>
            <a:r>
              <a:t>Read the metrics alongside scope and limitations</a:t>
            </a:r>
          </a:p>
          <a:p>
            <a:r>
              <a:t>Value-semantics classification</a:t>
            </a:r>
          </a:p>
          <a:p>
            <a:r>
              <a:t>Implemented • enabled</a:t>
            </a:r>
          </a:p>
          <a:p>
            <a:r>
              <a:t>Three governed tags</a:t>
            </a:r>
          </a:p>
          <a:p>
            <a:r>
              <a:t>CENSORED • STALE_FROZEN • NOT_APPLICABLE. Tags explain a cell; they do not edit it.</a:t>
            </a:r>
          </a:p>
          <a:p>
            <a:r>
              <a:t>Coverage outcomes</a:t>
            </a:r>
          </a:p>
          <a:p>
            <a:r>
              <a:t>NO_TAG • UNCLASSIFIED • UNSCOPED. No tag does not certify validity.</a:t>
            </a:r>
          </a:p>
          <a:p>
            <a:r>
              <a:t>Four AAR artifacts</a:t>
            </a:r>
          </a:p>
          <a:p>
            <a:r>
              <a:t>Bindings JSON; sparse tags Parquet; assessment ledger Parquet; structured report JSON.</a:t>
            </a:r>
          </a:p>
          <a:p>
            <a:r>
              <a:t>Optional AI reviews bounded metadata; users confirm non-exact roles; deterministic rules create tags.</a:t>
            </a:r>
          </a:p>
          <a:p>
            <a:r>
              <a:t>Original speaker note: Active rules KB v0.2, terminology v0.3, engine v1.0.0. 36 canonical roles. CENSORED means the required future window/process is incomplete. STALE_FROZEN can be declared sentinel or governed non-variation; NOT_APPLICABLE requires confirmed business conditions. Missing prerequisites remain UNSCOPED. Unresolved competing tag precedence fails closed. Raw source values are excluded from persisted tag/ledger artifacts. Automated downstream consumption of all D08 tags by every diagnostic is not verified and is not claimed.</a:t>
            </a:r>
          </a:p>
          <a:p>
            <a:endParaRPr/>
          </a:p>
          <a:p>
            <a:r>
              <a:t>FULL DECK SLIDE 45: Confirm the scope, launch once and review final evidence</a:t>
            </a:r>
          </a:p>
          <a:p>
            <a:r>
              <a:t>04 / T2-D08 • D / LAUNCH</a:t>
            </a:r>
          </a:p>
          <a:p>
            <a:r>
              <a:t>Confirm the scope, launch once and review final evidence</a:t>
            </a:r>
          </a:p>
          <a:p>
            <a:r>
              <a:t>Value-semantics classification</a:t>
            </a:r>
          </a:p>
          <a:p>
            <a:r>
              <a:t>Implemented • enabled</a:t>
            </a:r>
          </a:p>
          <a:p>
            <a:r>
              <a:t>01</a:t>
            </a:r>
          </a:p>
          <a:p>
            <a:r>
              <a:t>Acknowledge About</a:t>
            </a:r>
          </a:p>
          <a:p>
            <a:r>
              <a:t>Understand tags and limitations</a:t>
            </a:r>
          </a:p>
          <a:p>
            <a:r>
              <a:t>02</a:t>
            </a:r>
          </a:p>
          <a:p>
            <a:r>
              <a:t>Data &amp; context</a:t>
            </a:r>
          </a:p>
          <a:p>
            <a:r>
              <a:t>Select table; context is optional</a:t>
            </a:r>
          </a:p>
          <a:p>
            <a:r>
              <a:t>03</a:t>
            </a:r>
          </a:p>
          <a:p>
            <a:r>
              <a:t>Confirm bindings</a:t>
            </a:r>
          </a:p>
          <a:p>
            <a:r>
              <a:t>Review scope and semantic roles</a:t>
            </a:r>
          </a:p>
          <a:p>
            <a:r>
              <a:t>04</a:t>
            </a:r>
          </a:p>
          <a:p>
            <a:r>
              <a:t>Rules &amp; launch</a:t>
            </a:r>
          </a:p>
          <a:p>
            <a:r>
              <a:t>Review declarations; freeze scope</a:t>
            </a:r>
          </a:p>
          <a:p>
            <a:r>
              <a:t>05</a:t>
            </a:r>
          </a:p>
          <a:p>
            <a:r>
              <a:t>Review results</a:t>
            </a:r>
          </a:p>
          <a:p>
            <a:r>
              <a:t>Tags, coverage, report and dispositions</a:t>
            </a:r>
          </a:p>
          <a:p>
            <a:r>
              <a:t>Success / completion</a:t>
            </a:r>
          </a:p>
          <a:p>
            <a:r>
              <a:t>Deterministic tags and exhaustive routed coverage publish to AAR, with authenticated reports and inference disclosure.</a:t>
            </a:r>
          </a:p>
          <a:p>
            <a:r>
              <a:t>Failure / blocked scope</a:t>
            </a:r>
          </a:p>
          <a:p>
            <a:r>
              <a:t>Unacknowledged intro or no usable confirmed role coverage blocks freeze. Missing optional inputs yield UNSCOPED.</a:t>
            </a:r>
          </a:p>
          <a:p>
            <a:r>
              <a:t>Original speaker note: Supported launch sequence is summarized from manifest/runner and diagnostic documentation. Drafts are mutable before freeze; frozen scope and completed artifacts remain historical evidence. Launch availability always follows the register. Deterministic tags and exhaustive routed coverage publish to AAR, with authenticated reports and inference disclosure. Unacknowledged intro or no usable confirmed role coverage blocks freeze. Missing optional inputs yield UNSCOPED.</a:t>
            </a:r>
          </a:p>
          <a:p>
            <a:endParaRPr/>
          </a:p>
          <a:p>
            <a:r>
              <a:t>FULL DECK SLIDE 46: Carry the finding into a controlled investigation</a:t>
            </a:r>
          </a:p>
          <a:p>
            <a:r>
              <a:t>04 / T2-D08 • E / ISSUE &amp; RCA</a:t>
            </a:r>
          </a:p>
          <a:p>
            <a:r>
              <a:t>Carry the finding into a controlled investigation</a:t>
            </a:r>
          </a:p>
          <a:p>
            <a:r>
              <a:t>Value-semantics classification</a:t>
            </a:r>
          </a:p>
          <a:p>
            <a:r>
              <a:t>Implemented • enabled</a:t>
            </a:r>
          </a:p>
          <a:p>
            <a:r>
              <a:t>Step</a:t>
            </a:r>
          </a:p>
          <a:p>
            <a:r>
              <a:t>Implemented behavior / proposed follow-up</a:t>
            </a:r>
          </a:p>
          <a:p>
            <a:r>
              <a:t>Finding</a:t>
            </a:r>
          </a:p>
          <a:p>
            <a:r>
              <a:t>Stale/frozen patterns and populated not-applicable values can form grouped issue candidates.</a:t>
            </a:r>
          </a:p>
          <a:p>
            <a:r>
              <a:t>Issue gate</a:t>
            </a:r>
          </a:p>
          <a:p>
            <a:r>
              <a:t>User confirms or dismisses candidates with rationale. No issue or RCA is started automatically.</a:t>
            </a:r>
          </a:p>
          <a:p>
            <a:r>
              <a:t>RCA</a:t>
            </a:r>
          </a:p>
          <a:p>
            <a:r>
              <a:t>Use role bindings, rule reasons, precedence and coverage evidence; review semantics before alleging a defect.</a:t>
            </a:r>
          </a:p>
          <a:p>
            <a:r>
              <a:t>Remediation / retest</a:t>
            </a:r>
          </a:p>
          <a:p>
            <a:r>
              <a:t>Suggested: correct declarations or source capture when justified; run a new assessment after change.</a:t>
            </a:r>
          </a:p>
          <a:p>
            <a:r>
              <a:t>Closure</a:t>
            </a:r>
          </a:p>
          <a:p>
            <a:r>
              <a:t>Reviewer approves root cause identified or unresolved with evidence; optional follow-up stays separate.</a:t>
            </a:r>
          </a:p>
          <a:p>
            <a:r>
              <a:t>Manual / proposed: source correction and fresh-data retest. RCA approval does not prove a fix.</a:t>
            </a:r>
          </a:p>
          <a:p>
            <a:r>
              <a:t>Original speaker note: Finding condition and creation gate are implemented as described. RCA uses the existing shared service. Investigation suggestions are derived from diagnostic evidence and framework remediation guidance; they are not automated source fixes. Optional tracked remediation and manual fresh-data assessment are separate from current RCA conclusion approval. Suggested: correct declarations or source capture when justified; run a new assessment after change.</a:t>
            </a:r>
          </a:p>
          <a:p>
            <a:endParaRPr/>
          </a:p>
          <a:p>
            <a:r>
              <a:t>CURRENT SHARED RCA CONTRACT</a:t>
            </a:r>
          </a:p>
          <a:p>
            <a:r>
              <a:t>The user concludes RCA with an approved identified root cause or an unresolved result. This closes the RCA and managed issue; it does not certify that source data was fixed. Optional remediation tracking records owner, priority and target date independently. A fresh assessment requires manual new data upload and rerun. Planned and deferred diagnostic-specific gates and RCA actions in this summary are proposed, not current executors.</a:t>
            </a:r>
          </a:p>
          <a:p>
            <a:endParaRPr/>
          </a:p>
          <a:p>
            <a:r>
              <a:t>SOURCES</a:t>
            </a:r>
          </a:p>
          <a:p>
            <a:r>
              <a:t>[D08R] source-codes/backend/domains/test_lab/diagnostics/t2_d08_value_semantics/README.md</a:t>
            </a:r>
          </a:p>
          <a:p>
            <a:r>
              <a:t>[D08M] source-codes/backend/domains/test_lab/diagnostics/t2_d08_value_semantics/manifest.py</a:t>
            </a:r>
          </a:p>
          <a:p>
            <a:r>
              <a:t>[D08E] source-codes/backend/domains/test_lab/diagnostics/t2_d08_value_semantics/engine.py</a:t>
            </a:r>
          </a:p>
          <a:p>
            <a:r>
              <a:t>[D08X] source-codes/backend/domains/test_lab/diagnostics/t2_d08_value_semantics/runner.py</a:t>
            </a:r>
          </a:p>
          <a:p>
            <a:r>
              <a:t>[D08K] source-codes/backend/knowledge_base/value_semantics_kb_v0_2.yaml</a:t>
            </a:r>
          </a:p>
          <a:p>
            <a:r>
              <a:t>[S08] source-codes/backend/knowledge_base/dq_framework_data.json</a:t>
            </a:r>
          </a:p>
          <a:p>
            <a:r>
              <a:t>[S15] source-codes/backend/domains/rca/service.py</a:t>
            </a:r>
          </a:p>
          <a:p>
            <a:r>
              <a:t>[S16] source-codes/ui/src/features/rca/components/RcaCase.jsx</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5</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Directional / monotonic consistency</a:t>
            </a:r>
          </a:p>
          <a:p>
            <a:endParaRPr/>
          </a:p>
          <a:p>
            <a:r>
              <a:t>One-page summary of the unchanged full product deck, slides 47–51.</a:t>
            </a:r>
          </a:p>
          <a:p>
            <a:r>
              <a:t>All on-slide text, cards, pills and connectors are native editable PowerPoint objects.</a:t>
            </a:r>
          </a:p>
          <a:p>
            <a:r>
              <a:t>DETAIL RETAINED FOR PRESENTERS</a:t>
            </a:r>
          </a:p>
          <a:p>
            <a:endParaRPr/>
          </a:p>
          <a:p>
            <a:r>
              <a:t>FULL DECK SLIDE 47: Compare observed relationships with governed expectations</a:t>
            </a:r>
          </a:p>
          <a:p>
            <a:r>
              <a:t>04 / T2-D11 • A / PURPOSE</a:t>
            </a:r>
          </a:p>
          <a:p>
            <a:r>
              <a:t>Compare observed relationships with governed expectations</a:t>
            </a:r>
          </a:p>
          <a:p>
            <a:r>
              <a:t>Directional / monotonic consistency</a:t>
            </a:r>
          </a:p>
          <a:p>
            <a:r>
              <a:t>Implemented • enabled</a:t>
            </a:r>
          </a:p>
          <a:p>
            <a:r>
              <a:t>!</a:t>
            </a:r>
          </a:p>
          <a:p>
            <a:r>
              <a:t>Problem</a:t>
            </a:r>
          </a:p>
          <a:p>
            <a:r>
              <a:t>A numeric feature can move against the expected risk direction, or show weak or conflicting evidence.</a:t>
            </a:r>
          </a:p>
          <a:p>
            <a:r>
              <a:t>Primary users</a:t>
            </a:r>
          </a:p>
          <a:p>
            <a:r>
              <a:t>Analytics and domain SMEs reviewing economically meaningful numerical relationships.</a:t>
            </a:r>
          </a:p>
          <a:p>
            <a:r>
              <a:t>When to use it</a:t>
            </a:r>
          </a:p>
          <a:p>
            <a:r>
              <a:t>Ready data with a saved target; confirm reference type, risk orientation and selected numeric features.</a:t>
            </a:r>
          </a:p>
          <a:p>
            <a:r>
              <a:t>Expected-versus-observed conclusions, component evidence and contextual review findings.</a:t>
            </a:r>
          </a:p>
          <a:p>
            <a:r>
              <a:t>Original speaker note: Purpose and expected outcome derived from diagnostic sources. Implemented • enabled. Personas are operating responsibilities, not separate RBAC roles.</a:t>
            </a:r>
          </a:p>
          <a:p>
            <a:endParaRPr/>
          </a:p>
          <a:p>
            <a:r>
              <a:t>FULL DECK SLIDE 48: Follow the governed processing path</a:t>
            </a:r>
          </a:p>
          <a:p>
            <a:r>
              <a:t>04 / T2-D11 • B / APPROACH</a:t>
            </a:r>
          </a:p>
          <a:p>
            <a:r>
              <a:t>Follow the governed processing path</a:t>
            </a:r>
          </a:p>
          <a:p>
            <a:r>
              <a:t>Directional / monotonic consistency</a:t>
            </a:r>
          </a:p>
          <a:p>
            <a:r>
              <a:t>Implemented • enabled</a:t>
            </a:r>
          </a:p>
          <a:p>
            <a:r>
              <a:t>INPUTS</a:t>
            </a:r>
          </a:p>
          <a:p>
            <a:r>
              <a:t>Numeric features; target or approved run-level substitute; risk orientation; expected directions; evidence floors.</a:t>
            </a:r>
          </a:p>
          <a:p>
            <a:r>
              <a:t>01</a:t>
            </a:r>
          </a:p>
          <a:p>
            <a:r>
              <a:t>Set expectation</a:t>
            </a:r>
          </a:p>
          <a:p>
            <a:r>
              <a:t>Exact KB or explicit human confirmation</a:t>
            </a:r>
          </a:p>
          <a:p>
            <a:r>
              <a:t>02</a:t>
            </a:r>
          </a:p>
          <a:p>
            <a:r>
              <a:t>Measure components</a:t>
            </a:r>
          </a:p>
          <a:p>
            <a:r>
              <a:t>Binned shape, Spearman and regression</a:t>
            </a:r>
          </a:p>
          <a:p>
            <a:r>
              <a:t>03</a:t>
            </a:r>
          </a:p>
          <a:p>
            <a:r>
              <a:t>Classify direction</a:t>
            </a:r>
          </a:p>
          <a:p>
            <a:r>
              <a:t>Consensus plus applicability/data guards</a:t>
            </a:r>
          </a:p>
          <a:p>
            <a:r>
              <a:t>04</a:t>
            </a:r>
          </a:p>
          <a:p>
            <a:r>
              <a:t>Compare</a:t>
            </a:r>
          </a:p>
          <a:p>
            <a:r>
              <a:t>Orient expected risk direction to reference</a:t>
            </a:r>
          </a:p>
          <a:p>
            <a:r>
              <a:t>05</a:t>
            </a:r>
          </a:p>
          <a:p>
            <a:r>
              <a:t>Retain &amp; review</a:t>
            </a:r>
          </a:p>
          <a:p>
            <a:r>
              <a:t>Feature artifacts, charts and report</a:t>
            </a:r>
          </a:p>
          <a:p>
            <a:r>
              <a:t>First run is overall-only. A later run can add one accepted segment using the shared PSI split builder.</a:t>
            </a:r>
          </a:p>
          <a:p>
            <a:r>
              <a:t>Original speaker note: Default requested quantile bins 5; minimum paired observations 30; minimum binary class 10; significance level .05; absolute Spearman floor .20; standardized regression floor .10; binned movement .10 reference standard deviations. These are tunable MVP defaults, not adequacy certification. Strong=3/3 directional corroboration; moderate=2/3. Shape and guards can instead yield non-monotonic, flat, conflicting, weak or insufficient-data classes. No formal adjacent-bin inversion count. Reviewed KB proposals require separate curation before a new packaged release consumes them.</a:t>
            </a:r>
          </a:p>
          <a:p>
            <a:endParaRPr/>
          </a:p>
          <a:p>
            <a:r>
              <a:t>FULL DECK SLIDE 49: Read the metrics alongside scope and limitations</a:t>
            </a:r>
          </a:p>
          <a:p>
            <a:r>
              <a:t>04 / T2-D11 • C / EVIDENCE</a:t>
            </a:r>
          </a:p>
          <a:p>
            <a:r>
              <a:t>Read the metrics alongside scope and limitations</a:t>
            </a:r>
          </a:p>
          <a:p>
            <a:r>
              <a:t>Directional / monotonic consistency</a:t>
            </a:r>
          </a:p>
          <a:p>
            <a:r>
              <a:t>Implemented • enabled</a:t>
            </a:r>
          </a:p>
          <a:p>
            <a:r>
              <a:t>Three empirical inputs</a:t>
            </a:r>
          </a:p>
          <a:p>
            <a:r>
              <a:t>Broad binned averages, Spearman rank correlation and standardized univariate regression.</a:t>
            </a:r>
          </a:p>
          <a:p>
            <a:r>
              <a:t>Review conclusions</a:t>
            </a:r>
          </a:p>
          <a:p>
            <a:r>
              <a:t>Agreement, review recommended, weak/no relationship, conflicting evidence or insufficient data.</a:t>
            </a:r>
          </a:p>
          <a:p>
            <a:r>
              <a:t>Governed evidence</a:t>
            </a:r>
          </a:p>
          <a:p>
            <a:r>
              <a:t>Feature-level directionality_evidence and run-level directionality_report; charts and JSON evidence.</a:t>
            </a:r>
          </a:p>
          <a:p>
            <a:r>
              <a:t>Pearson correlation is displayed for context; it does not vote in the direction class.</a:t>
            </a:r>
          </a:p>
          <a:p>
            <a:r>
              <a:t>Original speaker note: Default requested quantile bins 5; minimum paired observations 30; minimum binary class 10; significance level .05; absolute Spearman floor .20; standardized regression floor .10; binned movement .10 reference standard deviations. These are tunable MVP defaults, not adequacy certification. Strong=3/3 directional corroboration; moderate=2/3. Shape and guards can instead yield non-monotonic, flat, conflicting, weak or insufficient-data classes. No formal adjacent-bin inversion count. Reviewed KB proposals require separate curation before a new packaged release consumes them.</a:t>
            </a:r>
          </a:p>
          <a:p>
            <a:endParaRPr/>
          </a:p>
          <a:p>
            <a:r>
              <a:t>FULL DECK SLIDE 50: Confirm the scope, launch once and review final evidence</a:t>
            </a:r>
          </a:p>
          <a:p>
            <a:r>
              <a:t>04 / T2-D11 • D / LAUNCH</a:t>
            </a:r>
          </a:p>
          <a:p>
            <a:r>
              <a:t>Confirm the scope, launch once and review final evidence</a:t>
            </a:r>
          </a:p>
          <a:p>
            <a:r>
              <a:t>Directional / monotonic consistency</a:t>
            </a:r>
          </a:p>
          <a:p>
            <a:r>
              <a:t>Implemented • enabled</a:t>
            </a:r>
          </a:p>
          <a:p>
            <a:r>
              <a:t>01</a:t>
            </a:r>
          </a:p>
          <a:p>
            <a:r>
              <a:t>Resume or create</a:t>
            </a:r>
          </a:p>
          <a:p>
            <a:r>
              <a:t>Restore a compatible working draft</a:t>
            </a:r>
          </a:p>
          <a:p>
            <a:r>
              <a:t>02</a:t>
            </a:r>
          </a:p>
          <a:p>
            <a:r>
              <a:t>Confirm reference</a:t>
            </a:r>
          </a:p>
          <a:p>
            <a:r>
              <a:t>Set type, event class and orientation</a:t>
            </a:r>
          </a:p>
          <a:p>
            <a:r>
              <a:t>03</a:t>
            </a:r>
          </a:p>
          <a:p>
            <a:r>
              <a:t>Select features</a:t>
            </a:r>
          </a:p>
          <a:p>
            <a:r>
              <a:t>Resolve each expected direction</a:t>
            </a:r>
          </a:p>
          <a:p>
            <a:r>
              <a:t>04</a:t>
            </a:r>
          </a:p>
          <a:p>
            <a:r>
              <a:t>Freeze &amp; run</a:t>
            </a:r>
          </a:p>
          <a:p>
            <a:r>
              <a:t>Atomic manifest and optional proposal</a:t>
            </a:r>
          </a:p>
          <a:p>
            <a:r>
              <a:t>05</a:t>
            </a:r>
          </a:p>
          <a:p>
            <a:r>
              <a:t>Review evidence</a:t>
            </a:r>
          </a:p>
          <a:p>
            <a:r>
              <a:t>Overall first; optional later segment</a:t>
            </a:r>
          </a:p>
          <a:p>
            <a:r>
              <a:t>Success / completion</a:t>
            </a:r>
          </a:p>
          <a:p>
            <a:r>
              <a:t>Retained confirmations can be reused on compatible reruns; new overall/segment evidence is computed.</a:t>
            </a:r>
          </a:p>
          <a:p>
            <a:r>
              <a:t>Failure / blocked scope</a:t>
            </a:r>
          </a:p>
          <a:p>
            <a:r>
              <a:t>Unresolved scope blocks freeze; atomic freeze failure leaves the draft. Feature failures remain explicit.</a:t>
            </a:r>
          </a:p>
          <a:p>
            <a:r>
              <a:t>Original speaker note: Supported launch sequence is summarized from manifest/runner and diagnostic documentation. Drafts are mutable before freeze; frozen scope and completed artifacts remain historical evidence. Launch availability always follows the register. Retained confirmations can be reused on compatible reruns; new overall/segment evidence is computed. Unresolved scope blocks freeze; atomic freeze failure leaves the draft. Feature failures remain explicit.</a:t>
            </a:r>
          </a:p>
          <a:p>
            <a:endParaRPr/>
          </a:p>
          <a:p>
            <a:r>
              <a:t>FULL DECK SLIDE 51: Carry the finding into a controlled investigation</a:t>
            </a:r>
          </a:p>
          <a:p>
            <a:r>
              <a:t>04 / T2-D11 • E / ISSUE &amp; RCA</a:t>
            </a:r>
          </a:p>
          <a:p>
            <a:r>
              <a:t>Carry the finding into a controlled investigation</a:t>
            </a:r>
          </a:p>
          <a:p>
            <a:r>
              <a:t>Directional / monotonic consistency</a:t>
            </a:r>
          </a:p>
          <a:p>
            <a:r>
              <a:t>Implemented • enabled</a:t>
            </a:r>
          </a:p>
          <a:p>
            <a:r>
              <a:t>Step</a:t>
            </a:r>
          </a:p>
          <a:p>
            <a:r>
              <a:t>Implemented behavior / proposed follow-up</a:t>
            </a:r>
          </a:p>
          <a:p>
            <a:r>
              <a:t>Finding</a:t>
            </a:r>
          </a:p>
          <a:p>
            <a:r>
              <a:t>REVIEW_RECOMMENDED, CONFLICTING_EVIDENCE or WEAK_OR_NO_RELATIONSHIP creates contextual review findings.</a:t>
            </a:r>
          </a:p>
          <a:p>
            <a:r>
              <a:t>Issue gate</a:t>
            </a:r>
          </a:p>
          <a:p>
            <a:r>
              <a:t>An SME promotes or dismisses with rationale; observed evidence remains immutable.</a:t>
            </a:r>
          </a:p>
          <a:p>
            <a:r>
              <a:t>RCA</a:t>
            </a:r>
          </a:p>
          <a:p>
            <a:r>
              <a:t>Compare expected direction, target orientation, cleaning counts, component evidence and segment context.</a:t>
            </a:r>
          </a:p>
          <a:p>
            <a:r>
              <a:t>Remediation / retest</a:t>
            </a:r>
          </a:p>
          <a:p>
            <a:r>
              <a:t>Suggested: investigate mapping, population or business change; propose reviewed KB updates where warranted.</a:t>
            </a:r>
          </a:p>
          <a:p>
            <a:r>
              <a:t>Closure</a:t>
            </a:r>
          </a:p>
          <a:p>
            <a:r>
              <a:t>Reviewer approves root cause identified or unresolved with evidence; optional follow-up stays separate.</a:t>
            </a:r>
          </a:p>
          <a:p>
            <a:r>
              <a:t>Manual / proposed: source correction and fresh-data retest. RCA approval does not prove a fix.</a:t>
            </a:r>
          </a:p>
          <a:p>
            <a:r>
              <a:t>Original speaker note: Finding condition and creation gate are implemented as described. RCA uses the existing shared service. Investigation suggestions are derived from diagnostic evidence and framework remediation guidance; they are not automated source fixes. Optional tracked remediation and manual fresh-data assessment are separate from current RCA conclusion approval. Suggested: investigate mapping, population or business change; propose reviewed KB updates where warranted.</a:t>
            </a:r>
          </a:p>
          <a:p>
            <a:endParaRPr/>
          </a:p>
          <a:p>
            <a:r>
              <a:t>CURRENT SHARED RCA CONTRACT</a:t>
            </a:r>
          </a:p>
          <a:p>
            <a:r>
              <a:t>The user concludes RCA with an approved identified root cause or an unresolved result. This closes the RCA and managed issue; it does not certify that source data was fixed. Optional remediation tracking records owner, priority and target date independently. A fresh assessment requires manual new data upload and rerun. Planned and deferred diagnostic-specific gates and RCA actions in this summary are proposed, not current executors.</a:t>
            </a:r>
          </a:p>
          <a:p>
            <a:endParaRPr/>
          </a:p>
          <a:p>
            <a:r>
              <a:t>SOURCES</a:t>
            </a:r>
          </a:p>
          <a:p>
            <a:r>
              <a:t>[D11R] source-codes/backend/domains/test_lab/diagnostics/t2_d11_directional_monotonic_consistency/README.md</a:t>
            </a:r>
          </a:p>
          <a:p>
            <a:r>
              <a:t>[D11M] source-codes/backend/domains/test_lab/diagnostics/t2_d11_directional_monotonic_consistency/manifest.py</a:t>
            </a:r>
          </a:p>
          <a:p>
            <a:r>
              <a:t>[D11E] source-codes/backend/domains/test_lab/diagnostics/t2_d11_directional_monotonic_consistency/engine.py</a:t>
            </a:r>
          </a:p>
          <a:p>
            <a:r>
              <a:t>[D11X] source-codes/backend/domains/test_lab/diagnostics/t2_d11_directional_monotonic_consistency/runner.py</a:t>
            </a:r>
          </a:p>
          <a:p>
            <a:r>
              <a:t>[D11K] source-codes/backend/knowledge_base/pd_directionality_kb_v0_3.yaml</a:t>
            </a:r>
          </a:p>
          <a:p>
            <a:r>
              <a:t>[S08] source-codes/backend/knowledge_base/dq_framework_data.json</a:t>
            </a:r>
          </a:p>
          <a:p>
            <a:r>
              <a:t>[S15] source-codes/backend/domains/rca/service.py</a:t>
            </a:r>
          </a:p>
          <a:p>
            <a:r>
              <a:t>[S16] source-codes/ui/src/features/rca/components/RcaCase.jsx</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6</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Population Stability Index (PSI)</a:t>
            </a:r>
          </a:p>
          <a:p>
            <a:endParaRPr/>
          </a:p>
          <a:p>
            <a:r>
              <a:t>One-page summary of the unchanged full product deck, slides 52–56.</a:t>
            </a:r>
          </a:p>
          <a:p>
            <a:r>
              <a:t>All on-slide text, cards, pills and connectors are native editable PowerPoint objects.</a:t>
            </a:r>
          </a:p>
          <a:p>
            <a:r>
              <a:t>DETAIL RETAINED FOR PRESENTERS</a:t>
            </a:r>
          </a:p>
          <a:p>
            <a:endParaRPr/>
          </a:p>
          <a:p>
            <a:r>
              <a:t>FULL DECK SLIDE 52: Locate distribution changes between governed populations</a:t>
            </a:r>
          </a:p>
          <a:p>
            <a:r>
              <a:t>04 / T4-D14 • A / PURPOSE</a:t>
            </a:r>
          </a:p>
          <a:p>
            <a:r>
              <a:t>Locate distribution changes between governed populations</a:t>
            </a:r>
          </a:p>
          <a:p>
            <a:r>
              <a:t>Population Stability Index (PSI)</a:t>
            </a:r>
          </a:p>
          <a:p>
            <a:r>
              <a:t>Implemented • enabled</a:t>
            </a:r>
          </a:p>
          <a:p>
            <a:r>
              <a:t>!</a:t>
            </a:r>
          </a:p>
          <a:p>
            <a:r>
              <a:t>Problem</a:t>
            </a:r>
          </a:p>
          <a:p>
            <a:r>
              <a:t>A sample or later snapshot can differ materially from its intended baseline population.</a:t>
            </a:r>
          </a:p>
          <a:p>
            <a:r>
              <a:t>Primary users</a:t>
            </a:r>
          </a:p>
          <a:p>
            <a:r>
              <a:t>Analytics, portfolio and model teams reviewing representativeness or population shift.</a:t>
            </a:r>
          </a:p>
          <a:p>
            <a:r>
              <a:t>When to use it</a:t>
            </a:r>
          </a:p>
          <a:p>
            <a:r>
              <a:t>One snapshot split into Baseline/Current, or two compatible snapshots; a target is optional.</a:t>
            </a:r>
          </a:p>
          <a:p>
            <a:r>
              <a:t>PSI per feature, reconciled bin counts, contributions and contextual findings for SME review.</a:t>
            </a:r>
          </a:p>
          <a:p>
            <a:r>
              <a:t>Original speaker note: Purpose and expected outcome derived from diagnostic sources. Implemented • enabled. Personas are operating responsibilities, not separate RBAC roles.</a:t>
            </a:r>
          </a:p>
          <a:p>
            <a:endParaRPr/>
          </a:p>
          <a:p>
            <a:r>
              <a:t>FULL DECK SLIDE 53: Follow the governed processing path</a:t>
            </a:r>
          </a:p>
          <a:p>
            <a:r>
              <a:t>04 / T4-D14 • B / APPROACH</a:t>
            </a:r>
          </a:p>
          <a:p>
            <a:r>
              <a:t>Follow the governed processing path</a:t>
            </a:r>
          </a:p>
          <a:p>
            <a:r>
              <a:t>Population Stability Index (PSI)</a:t>
            </a:r>
          </a:p>
          <a:p>
            <a:r>
              <a:t>Implemented • enabled</a:t>
            </a:r>
          </a:p>
          <a:p>
            <a:r>
              <a:t>INPUTS</a:t>
            </a:r>
          </a:p>
          <a:p>
            <a:r>
              <a:t>Baseline and Current populations; compatible features; optional governed target; approved frozen bin definitions.</a:t>
            </a:r>
          </a:p>
          <a:p>
            <a:r>
              <a:t>01</a:t>
            </a:r>
          </a:p>
          <a:p>
            <a:r>
              <a:t>Define populations</a:t>
            </a:r>
          </a:p>
          <a:p>
            <a:r>
              <a:t>One split or two snapshots</a:t>
            </a:r>
          </a:p>
          <a:p>
            <a:r>
              <a:t>02</a:t>
            </a:r>
          </a:p>
          <a:p>
            <a:r>
              <a:t>Route binning</a:t>
            </a:r>
          </a:p>
          <a:p>
            <a:r>
              <a:t>Target-free or D02 target-aware bins</a:t>
            </a:r>
          </a:p>
          <a:p>
            <a:r>
              <a:t>03</a:t>
            </a:r>
          </a:p>
          <a:p>
            <a:r>
              <a:t>Review &amp; freeze</a:t>
            </a:r>
          </a:p>
          <a:p>
            <a:r>
              <a:t>Approve rules applied to both sides</a:t>
            </a:r>
          </a:p>
          <a:p>
            <a:r>
              <a:t>04</a:t>
            </a:r>
          </a:p>
          <a:p>
            <a:r>
              <a:t>Calculate PSI</a:t>
            </a:r>
          </a:p>
          <a:p>
            <a:r>
              <a:t>Compare proportions in identical bins</a:t>
            </a:r>
          </a:p>
          <a:p>
            <a:r>
              <a:t>05</a:t>
            </a:r>
          </a:p>
          <a:p>
            <a:r>
              <a:t>Interpret</a:t>
            </a:r>
          </a:p>
          <a:p>
            <a:r>
              <a:t>Stable / watch / investigate with evidence</a:t>
            </a:r>
          </a:p>
          <a:p>
            <a:r>
              <a:t>Target-aware binning uses D02. Two-snapshot reuse requires an exact, explicitly promoted universal definition.</a:t>
            </a:r>
          </a:p>
          <a:p>
            <a:r>
              <a:t>Original speaker note: engine.classify uses &gt;= thresholds, overriding workbook prose with &gt;. Calculation sums (Current share − Baseline share) × ln(Current share / Baseline share), with governed epsilon for zero shares. Target-free numeric bins use Baseline deciles; categoricals top 49 plus OTHER_BASELINE; missing is separate. One-snapshot target-aware always runs D02 on split Baseline. Two-snapshot target-aware uses the exact explicitly promoted D02 fine/coarse/IV chain or regenerates. No approximate reuse; a PSI-specific override does not become a universal D02 definition.</a:t>
            </a:r>
          </a:p>
          <a:p>
            <a:endParaRPr/>
          </a:p>
          <a:p>
            <a:r>
              <a:t>FULL DECK SLIDE 54: Read the metrics alongside scope and limitations</a:t>
            </a:r>
          </a:p>
          <a:p>
            <a:r>
              <a:t>04 / T4-D14 • C / EVIDENCE</a:t>
            </a:r>
          </a:p>
          <a:p>
            <a:r>
              <a:t>Read the metrics alongside scope and limitations</a:t>
            </a:r>
          </a:p>
          <a:p>
            <a:r>
              <a:t>Population Stability Index (PSI)</a:t>
            </a:r>
          </a:p>
          <a:p>
            <a:r>
              <a:t>Implemented • enabled</a:t>
            </a:r>
          </a:p>
          <a:p>
            <a:r>
              <a:t>Population accounting</a:t>
            </a:r>
          </a:p>
          <a:p>
            <a:r>
              <a:t>Baseline / Current counts and shares, split predicate or snapshot lineage, missing and special bins.</a:t>
            </a:r>
          </a:p>
          <a:p>
            <a:r>
              <a:t>PSI contribution table</a:t>
            </a:r>
          </a:p>
          <a:p>
            <a:r>
              <a:t>Each bin’s contribution and reconciled totals; Current-only categories are retained as UNSEEN.</a:t>
            </a:r>
          </a:p>
          <a:p>
            <a:r>
              <a:t>Reviewable outputs</a:t>
            </a:r>
          </a:p>
          <a:p>
            <a:r>
              <a:t>Feature evidence, frozen bin lineage, result classifications and run reports.</a:t>
            </a:r>
          </a:p>
          <a:p>
            <a:r>
              <a:t>Governed defaults: stable &lt; 0.10; watch ≥ 0.10; investigate ≥ 0.25.</a:t>
            </a:r>
          </a:p>
          <a:p>
            <a:r>
              <a:t>Original speaker note: engine.classify uses &gt;= thresholds, overriding workbook prose with &gt;. Calculation sums (Current share − Baseline share) × ln(Current share / Baseline share), with governed epsilon for zero shares. Target-free numeric bins use Baseline deciles; categoricals top 49 plus OTHER_BASELINE; missing is separate. One-snapshot target-aware always runs D02 on split Baseline. Two-snapshot target-aware uses the exact explicitly promoted D02 fine/coarse/IV chain or regenerates. No approximate reuse; a PSI-specific override does not become a universal D02 definition.</a:t>
            </a:r>
          </a:p>
          <a:p>
            <a:endParaRPr/>
          </a:p>
          <a:p>
            <a:r>
              <a:t>FULL DECK SLIDE 55: Confirm the scope, launch once and review final evidence</a:t>
            </a:r>
          </a:p>
          <a:p>
            <a:r>
              <a:t>04 / T4-D14 • D / LAUNCH</a:t>
            </a:r>
          </a:p>
          <a:p>
            <a:r>
              <a:t>Confirm the scope, launch once and review final evidence</a:t>
            </a:r>
          </a:p>
          <a:p>
            <a:r>
              <a:t>Population Stability Index (PSI)</a:t>
            </a:r>
          </a:p>
          <a:p>
            <a:r>
              <a:t>Implemented • enabled</a:t>
            </a:r>
          </a:p>
          <a:p>
            <a:r>
              <a:t>01</a:t>
            </a:r>
          </a:p>
          <a:p>
            <a:r>
              <a:t>Choose populations</a:t>
            </a:r>
          </a:p>
          <a:p>
            <a:r>
              <a:t>One snapshot split or two snapshots</a:t>
            </a:r>
          </a:p>
          <a:p>
            <a:r>
              <a:t>02</a:t>
            </a:r>
          </a:p>
          <a:p>
            <a:r>
              <a:t>Select route</a:t>
            </a:r>
          </a:p>
          <a:p>
            <a:r>
              <a:t>Use governed target or target-free</a:t>
            </a:r>
          </a:p>
          <a:p>
            <a:r>
              <a:t>03</a:t>
            </a:r>
          </a:p>
          <a:p>
            <a:r>
              <a:t>Prepare bins</a:t>
            </a:r>
          </a:p>
          <a:p>
            <a:r>
              <a:t>Read Baseline; generate or exact-reuse</a:t>
            </a:r>
          </a:p>
          <a:p>
            <a:r>
              <a:t>04</a:t>
            </a:r>
          </a:p>
          <a:p>
            <a:r>
              <a:t>Approve &amp; execute</a:t>
            </a:r>
          </a:p>
          <a:p>
            <a:r>
              <a:t>Freeze common bins and run PSI</a:t>
            </a:r>
          </a:p>
          <a:p>
            <a:r>
              <a:t>05</a:t>
            </a:r>
          </a:p>
          <a:p>
            <a:r>
              <a:t>Review final</a:t>
            </a:r>
          </a:p>
          <a:p>
            <a:r>
              <a:t>Contributions, findings and report</a:t>
            </a:r>
          </a:p>
          <a:p>
            <a:r>
              <a:t>Success / completion</a:t>
            </a:r>
          </a:p>
          <a:p>
            <a:r>
              <a:t>Server-owned work continues across browser reconnects. Buffered previews remain preliminary until finalization.</a:t>
            </a:r>
          </a:p>
          <a:p>
            <a:r>
              <a:t>Failure / blocked scope</a:t>
            </a:r>
          </a:p>
          <a:p>
            <a:r>
              <a:t>Incompatible scope, invalid cuts or non-reconciling bins are rejected; unavailable feature evidence is explicit.</a:t>
            </a:r>
          </a:p>
          <a:p>
            <a:r>
              <a:t>Original speaker note: Supported launch sequence is summarized from manifest/runner and diagnostic documentation. Drafts are mutable before freeze; frozen scope and completed artifacts remain historical evidence. Launch availability always follows the register. Server-owned work continues across browser reconnects. Buffered previews remain preliminary until finalization. Incompatible scope, invalid cuts or non-reconciling bins are rejected; unavailable feature evidence is explicit.</a:t>
            </a:r>
          </a:p>
          <a:p>
            <a:endParaRPr/>
          </a:p>
          <a:p>
            <a:r>
              <a:t>FULL DECK SLIDE 56: Carry the finding into a controlled investigation</a:t>
            </a:r>
          </a:p>
          <a:p>
            <a:r>
              <a:t>04 / T4-D14 • E / ISSUE &amp; RCA</a:t>
            </a:r>
          </a:p>
          <a:p>
            <a:r>
              <a:t>Carry the finding into a controlled investigation</a:t>
            </a:r>
          </a:p>
          <a:p>
            <a:r>
              <a:t>Population Stability Index (PSI)</a:t>
            </a:r>
          </a:p>
          <a:p>
            <a:r>
              <a:t>Implemented • enabled</a:t>
            </a:r>
          </a:p>
          <a:p>
            <a:r>
              <a:t>Step</a:t>
            </a:r>
          </a:p>
          <a:p>
            <a:r>
              <a:t>Implemented behavior / proposed follow-up</a:t>
            </a:r>
          </a:p>
          <a:p>
            <a:r>
              <a:t>Finding</a:t>
            </a:r>
          </a:p>
          <a:p>
            <a:r>
              <a:t>Watch/investigate population shifts create contextual findings; they are not automatic data violations.</a:t>
            </a:r>
          </a:p>
          <a:p>
            <a:r>
              <a:t>Issue gate</a:t>
            </a:r>
          </a:p>
          <a:p>
            <a:r>
              <a:t>SME confirms or dismisses with rationale before issue creation and the existing RCA handoff.</a:t>
            </a:r>
          </a:p>
          <a:p>
            <a:r>
              <a:t>RCA</a:t>
            </a:r>
          </a:p>
          <a:p>
            <a:r>
              <a:t>Review which bins drive PSI, population selection, missing/special values and any legitimate business shift.</a:t>
            </a:r>
          </a:p>
          <a:p>
            <a:r>
              <a:t>Remediation / retest</a:t>
            </a:r>
          </a:p>
          <a:p>
            <a:r>
              <a:t>Suggested: adjust a justified sample/baseline or correct data; approve fresh bins where required and rerun.</a:t>
            </a:r>
          </a:p>
          <a:p>
            <a:r>
              <a:t>Closure</a:t>
            </a:r>
          </a:p>
          <a:p>
            <a:r>
              <a:t>Reviewer approves root cause identified or unresolved with evidence; optional follow-up stays separate.</a:t>
            </a:r>
          </a:p>
          <a:p>
            <a:r>
              <a:t>Manual / proposed: source correction and fresh-data retest. RCA approval does not prove a fix.</a:t>
            </a:r>
          </a:p>
          <a:p>
            <a:r>
              <a:t>Original speaker note: Finding condition and creation gate are implemented as described. RCA uses the existing shared service. Investigation suggestions are derived from diagnostic evidence and framework remediation guidance; they are not automated source fixes. Optional tracked remediation and manual fresh-data assessment are separate from current RCA conclusion approval. Suggested: adjust a justified sample/baseline or correct data; approve fresh bins where required and rerun.</a:t>
            </a:r>
          </a:p>
          <a:p>
            <a:endParaRPr/>
          </a:p>
          <a:p>
            <a:r>
              <a:t>CURRENT SHARED RCA CONTRACT</a:t>
            </a:r>
          </a:p>
          <a:p>
            <a:r>
              <a:t>The user concludes RCA with an approved identified root cause or an unresolved result. This closes the RCA and managed issue; it does not certify that source data was fixed. Optional remediation tracking records owner, priority and target date independently. A fresh assessment requires manual new data upload and rerun. Planned and deferred diagnostic-specific gates and RCA actions in this summary are proposed, not current executors.</a:t>
            </a:r>
          </a:p>
          <a:p>
            <a:endParaRPr/>
          </a:p>
          <a:p>
            <a:r>
              <a:t>SOURCES</a:t>
            </a:r>
          </a:p>
          <a:p>
            <a:r>
              <a:t>[D14R] source-codes/backend/domains/test_lab/diagnostics/t4_d14_population_stability/README.md</a:t>
            </a:r>
          </a:p>
          <a:p>
            <a:r>
              <a:t>[D14E] source-codes/backend/domains/test_lab/diagnostics/t4_d14_population_stability/engine.py</a:t>
            </a:r>
          </a:p>
          <a:p>
            <a:r>
              <a:t>[D14M] source-codes/backend/domains/test_lab/diagnostics/t4_d14_population_stability/manifest.py</a:t>
            </a:r>
          </a:p>
          <a:p>
            <a:r>
              <a:t>[D14X] source-codes/backend/domains/test_lab/diagnostics/t4_d14_population_stability/runner.py</a:t>
            </a:r>
          </a:p>
          <a:p>
            <a:r>
              <a:t>[D14T] source-codes/backend/tests/integration/test_lab/diagnostics/t4_d14_population_stability/test_population_stability.py</a:t>
            </a:r>
          </a:p>
          <a:p>
            <a:r>
              <a:t>[S08] source-codes/backend/knowledge_base/dq_framework_data.json</a:t>
            </a:r>
          </a:p>
          <a:p>
            <a:r>
              <a:t>[S15] source-codes/backend/domains/rca/service.py</a:t>
            </a:r>
          </a:p>
          <a:p>
            <a:r>
              <a:t>[S16] source-codes/ui/src/features/rca/components/RcaCase.jsx</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7</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Missingness Mechanism</a:t>
            </a:r>
          </a:p>
          <a:p>
            <a:endParaRPr/>
          </a:p>
          <a:p>
            <a:r>
              <a:t>One-page summary of the unchanged full product deck, slides 57–59.</a:t>
            </a:r>
          </a:p>
          <a:p>
            <a:r>
              <a:t>All on-slide text, cards, pills and connectors are native editable PowerPoint objects.</a:t>
            </a:r>
          </a:p>
          <a:p>
            <a:r>
              <a:t>DETAIL RETAINED FOR PRESENTERS</a:t>
            </a:r>
          </a:p>
          <a:p>
            <a:endParaRPr/>
          </a:p>
          <a:p>
            <a:r>
              <a:t>FULL DECK SLIDE 57: Explain missingness patterns without asserting causality</a:t>
            </a:r>
          </a:p>
          <a:p>
            <a:r>
              <a:t>05 / SUPPORTING INVESTIGATION • A</a:t>
            </a:r>
          </a:p>
          <a:p>
            <a:r>
              <a:t>Explain missingness patterns without asserting causality</a:t>
            </a:r>
          </a:p>
          <a:p>
            <a:r>
              <a:t>Missingness Mechanism is implemented beside the nine-diagnostic register.</a:t>
            </a:r>
          </a:p>
          <a:p>
            <a:r>
              <a:t>Implemented • supporting</a:t>
            </a:r>
          </a:p>
          <a:p>
            <a:r>
              <a:t>Purpose</a:t>
            </a:r>
          </a:p>
          <a:p>
            <a:r>
              <a:t>Identify descriptive structure in missingness and distinguish weak evidence from untestable scope.</a:t>
            </a:r>
          </a:p>
          <a:p>
            <a:r>
              <a:t>Inputs</a:t>
            </a:r>
          </a:p>
          <a:p>
            <a:r>
              <a:t>Ready active table; missing-value codes; period context; optional tolerances and analysis parameters.</a:t>
            </a:r>
          </a:p>
          <a:p>
            <a:r>
              <a:t>Outcome</a:t>
            </a:r>
          </a:p>
          <a:p>
            <a:r>
              <a:t>Immutable missingness report and above-tolerance observations for human disposition.</a:t>
            </a:r>
          </a:p>
          <a:p>
            <a:r>
              <a:t>Missing at random terminology is a claim boundary: the analysis does not prove a mechanism.</a:t>
            </a:r>
          </a:p>
          <a:p>
            <a:r>
              <a:t>Original speaker note: This is a supporting analysis, not registered D06 and not a proof of MCAR, MAR or MNAR. Production implementation is a port of the missingChecks deterministic engine. Findings require explicit user confirmation. No live run or client data is presented.</a:t>
            </a:r>
          </a:p>
          <a:p>
            <a:endParaRPr/>
          </a:p>
          <a:p>
            <a:r>
              <a:t>FULL DECK SLIDE 58: Freeze the missingness scope and retain descriptive evidence</a:t>
            </a:r>
          </a:p>
          <a:p>
            <a:r>
              <a:t>05 / SUPPORTING INVESTIGATION • B</a:t>
            </a:r>
          </a:p>
          <a:p>
            <a:r>
              <a:t>Freeze the missingness scope and retain descriptive evidence</a:t>
            </a:r>
          </a:p>
          <a:p>
            <a:r>
              <a:t>Co-missingness, structural breaks and shallow-tree explanations are preserved separately.</a:t>
            </a:r>
          </a:p>
          <a:p>
            <a:r>
              <a:t>01</a:t>
            </a:r>
          </a:p>
          <a:p>
            <a:r>
              <a:t>Freeze scope</a:t>
            </a:r>
          </a:p>
          <a:p>
            <a:r>
              <a:t>Snapshot, codes, parameters and seed</a:t>
            </a:r>
          </a:p>
          <a:p>
            <a:r>
              <a:t>02</a:t>
            </a:r>
          </a:p>
          <a:p>
            <a:r>
              <a:t>Build masks</a:t>
            </a:r>
          </a:p>
          <a:p>
            <a:r>
              <a:t>Missingness and co-missing blocks</a:t>
            </a:r>
          </a:p>
          <a:p>
            <a:r>
              <a:t>03</a:t>
            </a:r>
          </a:p>
          <a:p>
            <a:r>
              <a:t>Apply gates</a:t>
            </a:r>
          </a:p>
          <a:p>
            <a:r>
              <a:t>Seven classification gates and guards</a:t>
            </a:r>
          </a:p>
          <a:p>
            <a:r>
              <a:t>04</a:t>
            </a:r>
          </a:p>
          <a:p>
            <a:r>
              <a:t>Explain patterns</a:t>
            </a:r>
          </a:p>
          <a:p>
            <a:r>
              <a:t>Shallow trees where analytically valid</a:t>
            </a:r>
          </a:p>
          <a:p>
            <a:r>
              <a:t>05</a:t>
            </a:r>
          </a:p>
          <a:p>
            <a:r>
              <a:t>Store report</a:t>
            </a:r>
          </a:p>
          <a:p>
            <a:r>
              <a:t>Immutable missingness_report artifact</a:t>
            </a:r>
          </a:p>
          <a:p>
            <a:r>
              <a:t>Read the report</a:t>
            </a:r>
          </a:p>
          <a:p>
            <a:r>
              <a:t>Column rates, descriptive patterns, structural period breaks and untestable cases.</a:t>
            </a:r>
          </a:p>
          <a:p>
            <a:r>
              <a:t>Interpret cautiously</a:t>
            </a:r>
          </a:p>
          <a:p>
            <a:r>
              <a:t>No pattern found is distinct from an untestable analysis; association does not establish cause.</a:t>
            </a:r>
          </a:p>
          <a:p>
            <a:r>
              <a:t>Original speaker note: Parameters, seed, scope, inventory fingerprint, period column and missing-code policy freeze into analysis_manifests. Co-missing block members are excluded from one another’s predictor pools. Zero remains valid unless explicitly declared missing. The current documented vertical slice executes synchronously; no diagnostic-progress streaming is promised.</a:t>
            </a:r>
          </a:p>
          <a:p>
            <a:endParaRPr/>
          </a:p>
          <a:p>
            <a:r>
              <a:t>FULL DECK SLIDE 59: Review observations before starting an issue or RCA</a:t>
            </a:r>
          </a:p>
          <a:p>
            <a:r>
              <a:t>05 / SUPPORTING INVESTIGATION • C</a:t>
            </a:r>
          </a:p>
          <a:p>
            <a:r>
              <a:t>Review observations before starting an issue or RCA</a:t>
            </a:r>
          </a:p>
          <a:p>
            <a:r>
              <a:t>Use Test Lab’s supporting-investigation entry point on a ready snapshot.</a:t>
            </a:r>
          </a:p>
          <a:p>
            <a:r>
              <a:t>Stage</a:t>
            </a:r>
          </a:p>
          <a:p>
            <a:r>
              <a:t>Control and output</a:t>
            </a:r>
          </a:p>
          <a:p>
            <a:r>
              <a:t>Launch</a:t>
            </a:r>
          </a:p>
          <a:p>
            <a:r>
              <a:t>Select table and parameters; backend validates ready active scope and freezes the manifest.</a:t>
            </a:r>
          </a:p>
          <a:p>
            <a:r>
              <a:t>Complete / fail</a:t>
            </a:r>
          </a:p>
          <a:p>
            <a:r>
              <a:t>Persist an immutable report; surface readiness and execution failures explicitly.</a:t>
            </a:r>
          </a:p>
          <a:p>
            <a:r>
              <a:t>Finding → issue</a:t>
            </a:r>
          </a:p>
          <a:p>
            <a:r>
              <a:t>User confirms or dismisses an above-tolerance observation with a recorded reason.</a:t>
            </a:r>
          </a:p>
          <a:p>
            <a:r>
              <a:t>RCA and follow-up</a:t>
            </a:r>
          </a:p>
          <a:p>
            <a:r>
              <a:t>Review capture patterns and source context; manually correct/reassess where justified.</a:t>
            </a:r>
          </a:p>
          <a:p>
            <a:r>
              <a:t>Closure</a:t>
            </a:r>
          </a:p>
          <a:p>
            <a:r>
              <a:t>Approve a supported or unresolved RCA conclusion; retain the original report as evidence.</a:t>
            </a:r>
          </a:p>
          <a:p>
            <a:r>
              <a:t>This analysis complements value-semantics review; automatic D08 tag consumption needs validation.</a:t>
            </a:r>
          </a:p>
          <a:p>
            <a:r>
              <a:t>Original speaker note: Launch is through analyses/catalog, analyses/manifests, manifest/run and analysis-observations disposition, not diagnostic ID dispatch. Above-tolerance observations remain open until confirmed or dismissed with a reason. A confirmed issue enters the shared RCA journey. Source remediation and corrected-data retest are manual follow-up.</a:t>
            </a:r>
          </a:p>
          <a:p>
            <a:endParaRPr/>
          </a:p>
          <a:p>
            <a:r>
              <a:t>CURRENT SHARED RCA CONTRACT</a:t>
            </a:r>
          </a:p>
          <a:p>
            <a:r>
              <a:t>The user concludes RCA with an approved identified root cause or an unresolved result. This closes the RCA and managed issue; it does not certify that source data was fixed. Optional remediation tracking records owner, priority and target date independently. A fresh assessment requires manual new data upload and rerun. Planned and deferred diagnostic-specific gates and RCA actions in this summary are proposed, not current executors.</a:t>
            </a:r>
          </a:p>
          <a:p>
            <a:endParaRPr/>
          </a:p>
          <a:p>
            <a:r>
              <a:t>SOURCES</a:t>
            </a:r>
          </a:p>
          <a:p>
            <a:r>
              <a:t>[S23] source-codes/docs/architecture/phase1b-missingness.md</a:t>
            </a:r>
          </a:p>
          <a:p>
            <a:r>
              <a:t>[S24] source-codes/backend/supporting_analyses/missingness.py</a:t>
            </a:r>
          </a:p>
          <a:p>
            <a:r>
              <a:t>[S33] source-codes/backend/tests/test_missingness_capability.py</a:t>
            </a:r>
          </a:p>
          <a:p>
            <a:r>
              <a:t>[S16] source-codes/ui/src/features/rca/components/RcaCase.jsx</a:t>
            </a:r>
          </a:p>
          <a:p>
            <a:r>
              <a:t>[S15] source-codes/backend/domains/rca/service.py</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8</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Label-consistency rule</a:t>
            </a:r>
          </a:p>
          <a:p>
            <a:endParaRPr/>
          </a:p>
          <a:p>
            <a:r>
              <a:t>One-page summary of the unchanged full product deck, slides 60–60.</a:t>
            </a:r>
          </a:p>
          <a:p>
            <a:r>
              <a:t>All on-slide text, cards, pills and connectors are native editable PowerPoint objects.</a:t>
            </a:r>
          </a:p>
          <a:p>
            <a:r>
              <a:t>DETAIL RETAINED FOR PRESENTERS</a:t>
            </a:r>
          </a:p>
          <a:p>
            <a:endParaRPr/>
          </a:p>
          <a:p>
            <a:r>
              <a:t>FULL DECK SLIDE 60: Check label consistency against the business process</a:t>
            </a:r>
          </a:p>
          <a:p>
            <a:r>
              <a:t>06 / PLANNED • T3-D12</a:t>
            </a:r>
          </a:p>
          <a:p>
            <a:r>
              <a:t>Check label consistency against the business process</a:t>
            </a:r>
          </a:p>
          <a:p>
            <a:r>
              <a:t>Label-consistency rule</a:t>
            </a:r>
          </a:p>
          <a:p>
            <a:r>
              <a:t>Planned • workflow pending</a:t>
            </a:r>
          </a:p>
          <a:p>
            <a:r>
              <a:t>Purpose &amp; user</a:t>
            </a:r>
          </a:p>
          <a:p>
            <a:r>
              <a:t>Reconcile internally inconsistent label fields using governed process rules. Data and domain SMEs would review conflicts before accepting an issue.</a:t>
            </a:r>
          </a:p>
          <a:p>
            <a:r>
              <a:t>Inputs &amp; approach</a:t>
            </a:r>
          </a:p>
          <a:p>
            <a:r>
              <a:t>Target/label fields, event/process evidence and the applicable KB rules. Planned method: deterministic violation count after documented rule exceptions.</a:t>
            </a:r>
          </a:p>
          <a:p>
            <a:r>
              <a:t>!</a:t>
            </a:r>
          </a:p>
          <a:p>
            <a:r>
              <a:t>Launch &amp; downstream</a:t>
            </a:r>
          </a:p>
          <a:p>
            <a:r>
              <a:t>No current launch. Proposed: review evidence, decide a finding, then use issue/RCA and manual follow-up.</a:t>
            </a:r>
          </a:p>
          <a:p>
            <a:r>
              <a:t>Planned capability: thresholds, workflow controls, report schema and acceptance remain to be validated.</a:t>
            </a:r>
          </a:p>
          <a:p>
            <a:r>
              <a:t>Original speaker note: Classification: Planned. Register metadata exists, but no executable diagnostic adapter or accepted current launch workflow is present for T3-D12. Planned method: deterministic violation count after documented rule exceptions. Data and domain SMEs would review conflicts before accepting an issue. Any issue/RCA/remediation journey for this entry is proposed. D17 resolution floor metadata is 0.75 in the current threshold defaults but should be validated for use case before implementation. D20 adjacent governed KB proposals in D11 do not equal execution of this registered proposal loop.</a:t>
            </a:r>
          </a:p>
          <a:p>
            <a:endParaRPr/>
          </a:p>
          <a:p>
            <a:r>
              <a:t>CURRENT SHARED RCA CONTRACT</a:t>
            </a:r>
          </a:p>
          <a:p>
            <a:r>
              <a:t>The user concludes RCA with an approved identified root cause or an unresolved result. This closes the RCA and managed issue; it does not certify that source data was fixed. Optional remediation tracking records owner, priority and target date independently. A fresh assessment requires manual new data upload and rerun. Planned and deferred diagnostic-specific gates and RCA actions in this summary are proposed, not current executors.</a:t>
            </a:r>
          </a:p>
          <a:p>
            <a:endParaRPr/>
          </a:p>
          <a:p>
            <a:r>
              <a:t>SOURCES</a:t>
            </a:r>
          </a:p>
          <a:p>
            <a:r>
              <a:t>[S08] source-codes/backend/knowledge_base/dq_framework_data.json</a:t>
            </a:r>
          </a:p>
          <a:p>
            <a:r>
              <a:t>[S02] documentation/Presentations/MVP_Test Plan_DA.xlsx</a:t>
            </a:r>
          </a:p>
          <a:p>
            <a:r>
              <a:t>[S10] source-codes/backend/dq_diagnostics/dispatch.py</a:t>
            </a:r>
          </a:p>
          <a:p>
            <a:r>
              <a:t>[S15] source-codes/backend/domains/rca/service.py</a:t>
            </a:r>
          </a:p>
          <a:p>
            <a:r>
              <a:t>[S16] source-codes/ui/src/features/rca/components/RcaCase.jsx</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9</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Resolution / maturity rate by vintage</a:t>
            </a:r>
          </a:p>
          <a:p>
            <a:endParaRPr/>
          </a:p>
          <a:p>
            <a:r>
              <a:t>One-page summary of the unchanged full product deck, slides 61–61.</a:t>
            </a:r>
          </a:p>
          <a:p>
            <a:r>
              <a:t>All on-slide text, cards, pills and connectors are native editable PowerPoint objects.</a:t>
            </a:r>
          </a:p>
          <a:p>
            <a:r>
              <a:t>DETAIL RETAINED FOR PRESENTERS</a:t>
            </a:r>
          </a:p>
          <a:p>
            <a:endParaRPr/>
          </a:p>
          <a:p>
            <a:r>
              <a:t>FULL DECK SLIDE 61: Review how fully each vintage’s outcomes have resolved</a:t>
            </a:r>
          </a:p>
          <a:p>
            <a:r>
              <a:t>06 / PLANNED • T5-D17</a:t>
            </a:r>
          </a:p>
          <a:p>
            <a:r>
              <a:t>Review how fully each vintage’s outcomes have resolved</a:t>
            </a:r>
          </a:p>
          <a:p>
            <a:r>
              <a:t>Resolution / maturity rate by vintage</a:t>
            </a:r>
          </a:p>
          <a:p>
            <a:r>
              <a:t>Planned • workflow pending</a:t>
            </a:r>
          </a:p>
          <a:p>
            <a:r>
              <a:t>Purpose &amp; user</a:t>
            </a:r>
          </a:p>
          <a:p>
            <a:r>
              <a:t>Identify vintages whose unresolved outcomes may bias analytical conclusions. Model and portfolio teams would distinguish incomplete observation from a defect.</a:t>
            </a:r>
          </a:p>
          <a:p>
            <a:r>
              <a:t>Inputs &amp; approach</a:t>
            </a:r>
          </a:p>
          <a:p>
            <a:r>
              <a:t>Vintage identifier, outcome state and a definition of resolved versus open. Planned method: resolved count / total count by vintage against a tunable floor.</a:t>
            </a:r>
          </a:p>
          <a:p>
            <a:r>
              <a:t>!</a:t>
            </a:r>
          </a:p>
          <a:p>
            <a:r>
              <a:t>Launch &amp; downstream</a:t>
            </a:r>
          </a:p>
          <a:p>
            <a:r>
              <a:t>No current launch. Proposed: review evidence, decide a finding, then use issue/RCA and manual follow-up.</a:t>
            </a:r>
          </a:p>
          <a:p>
            <a:r>
              <a:t>Planned capability: thresholds, workflow controls, report schema and acceptance remain to be validated.</a:t>
            </a:r>
          </a:p>
          <a:p>
            <a:r>
              <a:t>Original speaker note: Classification: Planned. Register metadata exists, but no executable diagnostic adapter or accepted current launch workflow is present for T5-D17. Planned method: resolved count / total count by vintage against a tunable floor. Model and portfolio teams would distinguish incomplete observation from a defect. Any issue/RCA/remediation journey for this entry is proposed. D17 resolution floor metadata is 0.75 in the current threshold defaults but should be validated for use case before implementation. D20 adjacent governed KB proposals in D11 do not equal execution of this registered proposal loop.</a:t>
            </a:r>
          </a:p>
          <a:p>
            <a:endParaRPr/>
          </a:p>
          <a:p>
            <a:r>
              <a:t>CURRENT SHARED RCA CONTRACT</a:t>
            </a:r>
          </a:p>
          <a:p>
            <a:r>
              <a:t>The user concludes RCA with an approved identified root cause or an unresolved result. This closes the RCA and managed issue; it does not certify that source data was fixed. Optional remediation tracking records owner, priority and target date independently. A fresh assessment requires manual new data upload and rerun. Planned and deferred diagnostic-specific gates and RCA actions in this summary are proposed, not current executors.</a:t>
            </a:r>
          </a:p>
          <a:p>
            <a:endParaRPr/>
          </a:p>
          <a:p>
            <a:r>
              <a:t>SOURCES</a:t>
            </a:r>
          </a:p>
          <a:p>
            <a:r>
              <a:t>[S08] source-codes/backend/knowledge_base/dq_framework_data.json</a:t>
            </a:r>
          </a:p>
          <a:p>
            <a:r>
              <a:t>[S02] documentation/Presentations/MVP_Test Plan_DA.xlsx</a:t>
            </a:r>
          </a:p>
          <a:p>
            <a:r>
              <a:t>[S10] source-codes/backend/dq_diagnostics/dispatch.py</a:t>
            </a:r>
          </a:p>
          <a:p>
            <a:r>
              <a:t>[S15] source-codes/backend/domains/rca/service.py</a:t>
            </a:r>
          </a:p>
          <a:p>
            <a:r>
              <a:t>[S16] source-codes/ui/src/features/rca/components/RcaCase.jsx</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10</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AI-proposal workflow</a:t>
            </a:r>
          </a:p>
          <a:p>
            <a:endParaRPr/>
          </a:p>
          <a:p>
            <a:r>
              <a:t>One-page summary of the unchanged full product deck, slides 62–62.</a:t>
            </a:r>
          </a:p>
          <a:p>
            <a:r>
              <a:t>All on-slide text, cards, pills and connectors are native editable PowerPoint objects.</a:t>
            </a:r>
          </a:p>
          <a:p>
            <a:r>
              <a:t>DETAIL RETAINED FOR PRESENTERS</a:t>
            </a:r>
          </a:p>
          <a:p>
            <a:endParaRPr/>
          </a:p>
          <a:p>
            <a:r>
              <a:t>FULL DECK SLIDE 62: Expand governed relationships through an SME-reviewed loop</a:t>
            </a:r>
          </a:p>
          <a:p>
            <a:r>
              <a:t>06 / PLANNED • T6-D20</a:t>
            </a:r>
          </a:p>
          <a:p>
            <a:r>
              <a:t>Expand governed relationships through an SME-reviewed loop</a:t>
            </a:r>
          </a:p>
          <a:p>
            <a:r>
              <a:t>AI-proposal workflow</a:t>
            </a:r>
          </a:p>
          <a:p>
            <a:r>
              <a:t>Planned • workflow pending</a:t>
            </a:r>
          </a:p>
          <a:p>
            <a:r>
              <a:t>Purpose &amp; user</a:t>
            </a:r>
          </a:p>
          <a:p>
            <a:r>
              <a:t>Propose relationships absent from the existing KB and retain human acceptance. SMEs would review candidates; confidence ranks proposals and is not a data metric.</a:t>
            </a:r>
          </a:p>
          <a:p>
            <a:r>
              <a:t>Inputs &amp; approach</a:t>
            </a:r>
          </a:p>
          <a:p>
            <a:r>
              <a:t>Profile metadata, existing KB, candidate provenance and an SME review decision. Planned sequence: propose → validate → persist → route into a Test 2 engine.</a:t>
            </a:r>
          </a:p>
          <a:p>
            <a:r>
              <a:t>!</a:t>
            </a:r>
          </a:p>
          <a:p>
            <a:r>
              <a:t>Launch &amp; downstream</a:t>
            </a:r>
          </a:p>
          <a:p>
            <a:r>
              <a:t>No current launch. Proposed: review evidence, decide a finding, then use issue/RCA and manual follow-up.</a:t>
            </a:r>
          </a:p>
          <a:p>
            <a:r>
              <a:t>Planned capability: thresholds, workflow controls, report schema and acceptance remain to be validated.</a:t>
            </a:r>
          </a:p>
          <a:p>
            <a:r>
              <a:t>Original speaker note: Classification: Planned. Register metadata exists, but no executable diagnostic adapter or accepted current launch workflow is present for T6-D20. Planned sequence: propose → validate → persist → route into a Test 2 engine. SMEs would review candidates; confidence ranks proposals and is not a data metric. Any issue/RCA/remediation journey for this entry is proposed. D17 resolution floor metadata is 0.75 in the current threshold defaults but should be validated for use case before implementation. D20 adjacent governed KB proposals in D11 do not equal execution of this registered proposal loop.</a:t>
            </a:r>
          </a:p>
          <a:p>
            <a:endParaRPr/>
          </a:p>
          <a:p>
            <a:r>
              <a:t>CURRENT SHARED RCA CONTRACT</a:t>
            </a:r>
          </a:p>
          <a:p>
            <a:r>
              <a:t>The user concludes RCA with an approved identified root cause or an unresolved result. This closes the RCA and managed issue; it does not certify that source data was fixed. Optional remediation tracking records owner, priority and target date independently. A fresh assessment requires manual new data upload and rerun. Planned and deferred diagnostic-specific gates and RCA actions in this summary are proposed, not current executors.</a:t>
            </a:r>
          </a:p>
          <a:p>
            <a:endParaRPr/>
          </a:p>
          <a:p>
            <a:r>
              <a:t>SOURCES</a:t>
            </a:r>
          </a:p>
          <a:p>
            <a:r>
              <a:t>[S08] source-codes/backend/knowledge_base/dq_framework_data.json</a:t>
            </a:r>
          </a:p>
          <a:p>
            <a:r>
              <a:t>[S02] documentation/Presentations/MVP_Test Plan_DA.xlsx</a:t>
            </a:r>
          </a:p>
          <a:p>
            <a:r>
              <a:t>[S10] source-codes/backend/dq_diagnostics/dispatch.py</a:t>
            </a:r>
          </a:p>
          <a:p>
            <a:r>
              <a:t>[S15] source-codes/backend/domains/rca/service.py</a:t>
            </a:r>
          </a:p>
          <a:p>
            <a:r>
              <a:t>[S16] source-codes/ui/src/features/rca/components/RcaCase.jsx</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11</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Post-outcome / look-ahead field</a:t>
            </a:r>
          </a:p>
          <a:p>
            <a:endParaRPr/>
          </a:p>
          <a:p>
            <a:r>
              <a:t>One-page summary of the unchanged full product deck, slides 63–63.</a:t>
            </a:r>
          </a:p>
          <a:p>
            <a:r>
              <a:t>All on-slide text, cards, pills and connectors are native editable PowerPoint objects.</a:t>
            </a:r>
          </a:p>
          <a:p>
            <a:r>
              <a:t>DETAIL RETAINED FOR PRESENTERS</a:t>
            </a:r>
          </a:p>
          <a:p>
            <a:endParaRPr/>
          </a:p>
          <a:p>
            <a:r>
              <a:t>FULL DECK SLIDE 63: Check whether feature information arrives after the outcome</a:t>
            </a:r>
          </a:p>
          <a:p>
            <a:r>
              <a:t>06 / DEFERRED • T1-D01</a:t>
            </a:r>
          </a:p>
          <a:p>
            <a:r>
              <a:t>Check whether feature information arrives after the outcome</a:t>
            </a:r>
          </a:p>
          <a:p>
            <a:r>
              <a:t>Post-outcome field / look-ahead present</a:t>
            </a:r>
          </a:p>
          <a:p>
            <a:r>
              <a:t>Planned • deferred</a:t>
            </a:r>
          </a:p>
          <a:p>
            <a:r>
              <a:t>Purpose &amp; inputs</a:t>
            </a:r>
          </a:p>
          <a:p>
            <a:r>
              <a:t>Features, availability/as-of dates and outcome timing. Is a field known only after the outcome (or a look-ahead construction) in the feature set?</a:t>
            </a:r>
          </a:p>
          <a:p>
            <a:r>
              <a:t>Approach &amp; output</a:t>
            </a:r>
          </a:p>
          <a:p>
            <a:r>
              <a:t>field availability vs as-of date. Availability flags requiring confirmation of actual feature timing.</a:t>
            </a:r>
          </a:p>
          <a:p>
            <a:r>
              <a:t>!</a:t>
            </a:r>
          </a:p>
          <a:p>
            <a:r>
              <a:t>Launch &amp; issue journey</a:t>
            </a:r>
          </a:p>
          <a:p>
            <a:r>
              <a:t>Not registered or launchable. Proposed: SME reviews evidence, confirms any issue and routes justified work into RCA.</a:t>
            </a:r>
          </a:p>
          <a:p>
            <a:r>
              <a:t>Deferred scope: methodology, prerequisites, workflow and evidence contract require acceptance.</a:t>
            </a:r>
          </a:p>
          <a:p>
            <a:r>
              <a:t>Original speaker note: Planned, deferred workbook diagnostic. Is a field known only after the outcome (or a look-ahead construction) in the feature set? Planned metric: field availability vs as-of date. Workbook default/decision rule: any post-outcome field in features -&gt; flag. Input binding examples in the workbook are illustrative and are not used as real findings. No registered executor, report schema, current launch or diagnostic-specific automated RCA is claimed. Proposed user is analytics/model team with SME review. Remediation would follow evidence review and manual source or methodology correction.</a:t>
            </a:r>
          </a:p>
          <a:p>
            <a:endParaRPr/>
          </a:p>
          <a:p>
            <a:r>
              <a:t>CURRENT SHARED RCA CONTRACT</a:t>
            </a:r>
          </a:p>
          <a:p>
            <a:r>
              <a:t>The user concludes RCA with an approved identified root cause or an unresolved result. This closes the RCA and managed issue; it does not certify that source data was fixed. Optional remediation tracking records owner, priority and target date independently. A fresh assessment requires manual new data upload and rerun. Planned and deferred diagnostic-specific gates and RCA actions in this summary are proposed, not current executors.</a:t>
            </a:r>
          </a:p>
          <a:p>
            <a:endParaRPr/>
          </a:p>
          <a:p>
            <a:r>
              <a:t>SOURCES</a:t>
            </a:r>
          </a:p>
          <a:p>
            <a:r>
              <a:t>[S02] documentation/Presentations/MVP_Test Plan_DA.xlsx</a:t>
            </a:r>
          </a:p>
          <a:p>
            <a:r>
              <a:t>[S28] source-codes/docs/0.4.0/00-framework.md</a:t>
            </a:r>
          </a:p>
          <a:p>
            <a:r>
              <a:t>[S09] source-codes/backend/dq_diagnostics/register.py</a:t>
            </a:r>
          </a:p>
          <a:p>
            <a:r>
              <a:t>[S15] source-codes/backend/domains/rca/service.py</a:t>
            </a:r>
          </a:p>
          <a:p>
            <a:r>
              <a:t>[S16] source-codes/ui/src/features/rca/components/RcaCase.jsx</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12</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Categorical leakage: association / purity</a:t>
            </a:r>
          </a:p>
          <a:p>
            <a:endParaRPr/>
          </a:p>
          <a:p>
            <a:r>
              <a:t>One-page summary of the unchanged full product deck, slides 64–64.</a:t>
            </a:r>
          </a:p>
          <a:p>
            <a:r>
              <a:t>All on-slide text, cards, pills and connectors are native editable PowerPoint objects.</a:t>
            </a:r>
          </a:p>
          <a:p>
            <a:r>
              <a:t>DETAIL RETAINED FOR PRESENTERS</a:t>
            </a:r>
          </a:p>
          <a:p>
            <a:endParaRPr/>
          </a:p>
          <a:p>
            <a:r>
              <a:t>FULL DECK SLIDE 64: Review category-level target purity with a volume guard</a:t>
            </a:r>
          </a:p>
          <a:p>
            <a:r>
              <a:t>06 / DEFERRED • T1-D03</a:t>
            </a:r>
          </a:p>
          <a:p>
            <a:r>
              <a:t>Review category-level target purity with a volume guard</a:t>
            </a:r>
          </a:p>
          <a:p>
            <a:r>
              <a:t>Categorical leakage (association strength / purity)</a:t>
            </a:r>
          </a:p>
          <a:p>
            <a:r>
              <a:t>Planned • deferred</a:t>
            </a:r>
          </a:p>
          <a:p>
            <a:r>
              <a:t>Purpose &amp; inputs</a:t>
            </a:r>
          </a:p>
          <a:p>
            <a:r>
              <a:t>Categorical features, target and minimum category volumes. Does a category value predict the outcome almost deterministically (a proxy for the target)?</a:t>
            </a:r>
          </a:p>
          <a:p>
            <a:r>
              <a:t>Approach &amp; output</a:t>
            </a:r>
          </a:p>
          <a:p>
            <a:r>
              <a:t>per-category outcome rate vs base rate; Cramer's V; Information Value (alt: mutual information). NOT a chi-square significance test - significance over-fires at large n; use effect size.. Volume-gated purity / effect-size evidence; significance alone is insufficient.</a:t>
            </a:r>
          </a:p>
          <a:p>
            <a:r>
              <a:t>!</a:t>
            </a:r>
          </a:p>
          <a:p>
            <a:r>
              <a:t>Launch &amp; issue journey</a:t>
            </a:r>
          </a:p>
          <a:p>
            <a:r>
              <a:t>Not registered or launchable. Proposed: SME reviews evidence, confirms any issue and routes justified work into RCA.</a:t>
            </a:r>
          </a:p>
          <a:p>
            <a:r>
              <a:t>Deferred scope: methodology, prerequisites, workflow and evidence contract require acceptance.</a:t>
            </a:r>
          </a:p>
          <a:p>
            <a:r>
              <a:t>Original speaker note: Planned, deferred workbook diagnostic. Does a category value predict the outcome almost deterministically (a proxy for the target)? Planned metric: per-category outcome rate vs base rate; Cramer's V; Information Value (alt: mutual information). NOT a chi-square significance test - significance over-fires at large n; use effect size.. Workbook default/decision rule: conditional outcome rate near 0/1 (e.g. &gt;~95% vs a far base rate) OR Cramer's V / IV &gt; ~0.5; VOLUME-GATED (min category count) to exclude small-sample noise; tunable.. Input binding examples in the workbook are illustrative and are not used as real findings. No registered executor, report schema, current launch or diagnostic-specific automated RCA is claimed. Proposed user is analytics/model team with SME review. Remediation would follow evidence review and manual source or methodology correction.</a:t>
            </a:r>
          </a:p>
          <a:p>
            <a:endParaRPr/>
          </a:p>
          <a:p>
            <a:r>
              <a:t>CURRENT SHARED RCA CONTRACT</a:t>
            </a:r>
          </a:p>
          <a:p>
            <a:r>
              <a:t>The user concludes RCA with an approved identified root cause or an unresolved result. This closes the RCA and managed issue; it does not certify that source data was fixed. Optional remediation tracking records owner, priority and target date independently. A fresh assessment requires manual new data upload and rerun. Planned and deferred diagnostic-specific gates and RCA actions in this summary are proposed, not current executors.</a:t>
            </a:r>
          </a:p>
          <a:p>
            <a:endParaRPr/>
          </a:p>
          <a:p>
            <a:r>
              <a:t>SOURCES</a:t>
            </a:r>
          </a:p>
          <a:p>
            <a:r>
              <a:t>[S02] documentation/Presentations/MVP_Test Plan_DA.xlsx</a:t>
            </a:r>
          </a:p>
          <a:p>
            <a:r>
              <a:t>[S28] source-codes/docs/0.4.0/00-framework.md</a:t>
            </a:r>
          </a:p>
          <a:p>
            <a:r>
              <a:t>[S09] source-codes/backend/dq_diagnostics/register.py</a:t>
            </a:r>
          </a:p>
          <a:p>
            <a:r>
              <a:t>[S15] source-codes/backend/domains/rca/service.py</a:t>
            </a:r>
          </a:p>
          <a:p>
            <a:r>
              <a:t>[S16] source-codes/ui/src/features/rca/components/RcaCase.jsx</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13</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Derivation identity</a:t>
            </a:r>
          </a:p>
          <a:p>
            <a:endParaRPr/>
          </a:p>
          <a:p>
            <a:r>
              <a:t>One-page summary of the unchanged full product deck, slides 65–65.</a:t>
            </a:r>
          </a:p>
          <a:p>
            <a:r>
              <a:t>All on-slide text, cards, pills and connectors are native editable PowerPoint objects.</a:t>
            </a:r>
          </a:p>
          <a:p>
            <a:r>
              <a:t>DETAIL RETAINED FOR PRESENTERS</a:t>
            </a:r>
          </a:p>
          <a:p>
            <a:endParaRPr/>
          </a:p>
          <a:p>
            <a:r>
              <a:t>FULL DECK SLIDE 65: Reconcile recorded derived values with their formulas</a:t>
            </a:r>
          </a:p>
          <a:p>
            <a:r>
              <a:t>06 / DEFERRED • T2-D05</a:t>
            </a:r>
          </a:p>
          <a:p>
            <a:r>
              <a:t>Reconcile recorded derived values with their formulas</a:t>
            </a:r>
          </a:p>
          <a:p>
            <a:r>
              <a:t>Derivation identity</a:t>
            </a:r>
          </a:p>
          <a:p>
            <a:r>
              <a:t>Planned • deferred</a:t>
            </a:r>
          </a:p>
          <a:p>
            <a:r>
              <a:t>Purpose &amp; inputs</a:t>
            </a:r>
          </a:p>
          <a:p>
            <a:r>
              <a:t>Recorded derived field, formula inputs and numerical tolerance. Does a derived field equal its formula?</a:t>
            </a:r>
          </a:p>
          <a:p>
            <a:r>
              <a:t>Approach &amp; output</a:t>
            </a:r>
          </a:p>
          <a:p>
            <a:r>
              <a:t>abs(recorded - derived). Recorded-versus-derived discrepancy and rule evidence.</a:t>
            </a:r>
          </a:p>
          <a:p>
            <a:r>
              <a:t>!</a:t>
            </a:r>
          </a:p>
          <a:p>
            <a:r>
              <a:t>Launch &amp; issue journey</a:t>
            </a:r>
          </a:p>
          <a:p>
            <a:r>
              <a:t>Not registered or launchable. Proposed: SME reviews evidence, confirms any issue and routes justified work into RCA.</a:t>
            </a:r>
          </a:p>
          <a:p>
            <a:r>
              <a:t>Deferred scope: methodology, prerequisites, workflow and evidence contract require acceptance.</a:t>
            </a:r>
          </a:p>
          <a:p>
            <a:r>
              <a:t>Original speaker note: Planned, deferred workbook diagnostic. Does a derived field equal its formula? Planned metric: abs(recorded - derived). Workbook default/decision rule: abs diff &gt; small tolerance -&gt; flag. Input binding examples in the workbook are illustrative and are not used as real findings. No registered executor, report schema, current launch or diagnostic-specific automated RCA is claimed. Proposed user is analytics/model team with SME review. Remediation would follow evidence review and manual source or methodology correction.</a:t>
            </a:r>
          </a:p>
          <a:p>
            <a:endParaRPr/>
          </a:p>
          <a:p>
            <a:r>
              <a:t>CURRENT SHARED RCA CONTRACT</a:t>
            </a:r>
          </a:p>
          <a:p>
            <a:r>
              <a:t>The user concludes RCA with an approved identified root cause or an unresolved result. This closes the RCA and managed issue; it does not certify that source data was fixed. Optional remediation tracking records owner, priority and target date independently. A fresh assessment requires manual new data upload and rerun. Planned and deferred diagnostic-specific gates and RCA actions in this summary are proposed, not current executors.</a:t>
            </a:r>
          </a:p>
          <a:p>
            <a:endParaRPr/>
          </a:p>
          <a:p>
            <a:r>
              <a:t>SOURCES</a:t>
            </a:r>
          </a:p>
          <a:p>
            <a:r>
              <a:t>[S02] documentation/Presentations/MVP_Test Plan_DA.xlsx</a:t>
            </a:r>
          </a:p>
          <a:p>
            <a:r>
              <a:t>[S28] source-codes/docs/0.4.0/00-framework.md</a:t>
            </a:r>
          </a:p>
          <a:p>
            <a:r>
              <a:t>[S09] source-codes/backend/dq_diagnostics/register.py</a:t>
            </a:r>
          </a:p>
          <a:p>
            <a:r>
              <a:t>[S15] source-codes/backend/domains/rca/service.py</a:t>
            </a:r>
          </a:p>
          <a:p>
            <a:r>
              <a:t>[S16] source-codes/ui/src/features/rca/components/RcaCase.jsx</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14</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Disguised missingness / staleness</a:t>
            </a:r>
          </a:p>
          <a:p>
            <a:endParaRPr/>
          </a:p>
          <a:p>
            <a:r>
              <a:t>One-page summary of the unchanged full product deck, slides 66–66.</a:t>
            </a:r>
          </a:p>
          <a:p>
            <a:r>
              <a:t>All on-slide text, cards, pills and connectors are native editable PowerPoint objects.</a:t>
            </a:r>
          </a:p>
          <a:p>
            <a:r>
              <a:t>DETAIL RETAINED FOR PRESENTERS</a:t>
            </a:r>
          </a:p>
          <a:p>
            <a:endParaRPr/>
          </a:p>
          <a:p>
            <a:r>
              <a:t>FULL DECK SLIDE 66: Identify fields that appear frozen or disguised as missing</a:t>
            </a:r>
          </a:p>
          <a:p>
            <a:r>
              <a:t>06 / DEFERRED • T2-D07</a:t>
            </a:r>
          </a:p>
          <a:p>
            <a:r>
              <a:t>Identify fields that appear frozen or disguised as missing</a:t>
            </a:r>
          </a:p>
          <a:p>
            <a:r>
              <a:t>Disguised-missing / staleness</a:t>
            </a:r>
          </a:p>
          <a:p>
            <a:r>
              <a:t>Planned • deferred</a:t>
            </a:r>
          </a:p>
          <a:p>
            <a:r>
              <a:t>Purpose &amp; inputs</a:t>
            </a:r>
          </a:p>
          <a:p>
            <a:r>
              <a:t>Segment-period panel, declared sentinels and expected variation. Is a normally-varying field frozen/sentinel over a segment-period?</a:t>
            </a:r>
          </a:p>
          <a:p>
            <a:r>
              <a:t>Approach &amp; output</a:t>
            </a:r>
          </a:p>
          <a:p>
            <a:r>
              <a:t>within-segment variance over time; sentinel share. Frozen/sentinel evidence; overlap with D08 tags does not activate D07.</a:t>
            </a:r>
          </a:p>
          <a:p>
            <a:r>
              <a:t>!</a:t>
            </a:r>
          </a:p>
          <a:p>
            <a:r>
              <a:t>Launch &amp; issue journey</a:t>
            </a:r>
          </a:p>
          <a:p>
            <a:r>
              <a:t>Not registered or launchable. Proposed: SME reviews evidence, confirms any issue and routes justified work into RCA.</a:t>
            </a:r>
          </a:p>
          <a:p>
            <a:r>
              <a:t>Deferred scope: methodology, prerequisites, workflow and evidence contract require acceptance.</a:t>
            </a:r>
          </a:p>
          <a:p>
            <a:r>
              <a:t>Original speaker note: Planned, deferred workbook diagnostic. Is a normally-varying field frozen/sentinel over a segment-period? Planned metric: within-segment variance over time; sentinel share. Workbook default/decision rule: zero/near-zero variance where variance expected -&gt; flag. Input binding examples in the workbook are illustrative and are not used as real findings. No registered executor, report schema, current launch or diagnostic-specific automated RCA is claimed. Proposed user is analytics/model team with SME review. Remediation would follow evidence review and manual source or methodology correction.</a:t>
            </a:r>
          </a:p>
          <a:p>
            <a:endParaRPr/>
          </a:p>
          <a:p>
            <a:r>
              <a:t>CURRENT SHARED RCA CONTRACT</a:t>
            </a:r>
          </a:p>
          <a:p>
            <a:r>
              <a:t>The user concludes RCA with an approved identified root cause or an unresolved result. This closes the RCA and managed issue; it does not certify that source data was fixed. Optional remediation tracking records owner, priority and target date independently. A fresh assessment requires manual new data upload and rerun. Planned and deferred diagnostic-specific gates and RCA actions in this summary are proposed, not current executors.</a:t>
            </a:r>
          </a:p>
          <a:p>
            <a:endParaRPr/>
          </a:p>
          <a:p>
            <a:r>
              <a:t>SOURCES</a:t>
            </a:r>
          </a:p>
          <a:p>
            <a:r>
              <a:t>[S02] documentation/Presentations/MVP_Test Plan_DA.xlsx</a:t>
            </a:r>
          </a:p>
          <a:p>
            <a:r>
              <a:t>[S28] source-codes/docs/0.4.0/00-framework.md</a:t>
            </a:r>
          </a:p>
          <a:p>
            <a:r>
              <a:t>[S09] source-codes/backend/dq_diagnostics/register.py</a:t>
            </a:r>
          </a:p>
          <a:p>
            <a:r>
              <a:t>[S15] source-codes/backend/domains/rca/service.py</a:t>
            </a:r>
          </a:p>
          <a:p>
            <a:r>
              <a:t>[S16] source-codes/ui/src/features/rca/components/RcaCase.jsx</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15</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Statistical outlier: robust Z</a:t>
            </a:r>
          </a:p>
          <a:p>
            <a:endParaRPr/>
          </a:p>
          <a:p>
            <a:r>
              <a:t>One-page summary of the unchanged full product deck, slides 67–67.</a:t>
            </a:r>
          </a:p>
          <a:p>
            <a:r>
              <a:t>All on-slide text, cards, pills and connectors are native editable PowerPoint objects.</a:t>
            </a:r>
          </a:p>
          <a:p>
            <a:r>
              <a:t>DETAIL RETAINED FOR PRESENTERS</a:t>
            </a:r>
          </a:p>
          <a:p>
            <a:endParaRPr/>
          </a:p>
          <a:p>
            <a:r>
              <a:t>FULL DECK SLIDE 67: Screen material numeric fields for robust outlier candidates</a:t>
            </a:r>
          </a:p>
          <a:p>
            <a:r>
              <a:t>06 / DEFERRED • T2-D09</a:t>
            </a:r>
          </a:p>
          <a:p>
            <a:r>
              <a:t>Screen material numeric fields for robust outlier candidates</a:t>
            </a:r>
          </a:p>
          <a:p>
            <a:r>
              <a:t>Statistical outlier (robust-Z)</a:t>
            </a:r>
          </a:p>
          <a:p>
            <a:r>
              <a:t>Planned • deferred</a:t>
            </a:r>
          </a:p>
          <a:p>
            <a:r>
              <a:t>Purpose &amp; inputs</a:t>
            </a:r>
          </a:p>
          <a:p>
            <a:r>
              <a:t>Material numeric fields, semantics exclusions and robust scale. Improbable extreme values in a material field's tail.</a:t>
            </a:r>
          </a:p>
          <a:p>
            <a:r>
              <a:t>Approach &amp; output</a:t>
            </a:r>
          </a:p>
          <a:p>
            <a:r>
              <a:t>robust z = 0.6745*(x-median)/MAD (alt: IQR fence, isolation forest). Robust-Z candidate flags; genuine tails still require contextual review.</a:t>
            </a:r>
          </a:p>
          <a:p>
            <a:r>
              <a:t>!</a:t>
            </a:r>
          </a:p>
          <a:p>
            <a:r>
              <a:t>Launch &amp; issue journey</a:t>
            </a:r>
          </a:p>
          <a:p>
            <a:r>
              <a:t>Not registered or launchable. Proposed: SME reviews evidence, confirms any issue and routes justified work into RCA.</a:t>
            </a:r>
          </a:p>
          <a:p>
            <a:r>
              <a:t>Deferred scope: methodology, prerequisites, workflow and evidence contract require acceptance.</a:t>
            </a:r>
          </a:p>
          <a:p>
            <a:r>
              <a:t>Original speaker note: Planned, deferred workbook diagnostic. Improbable extreme values in a material field's tail. Planned metric: robust z = 0.6745*(x-median)/MAD (alt: IQR fence, isolation forest). Workbook default/decision rule: |robust z| &gt; ~3.5 -&gt; flag; material fields only; gated on value-semantics. Input binding examples in the workbook are illustrative and are not used as real findings. No registered executor, report schema, current launch or diagnostic-specific automated RCA is claimed. Proposed user is analytics/model team with SME review. Remediation would follow evidence review and manual source or methodology correction.</a:t>
            </a:r>
          </a:p>
          <a:p>
            <a:endParaRPr/>
          </a:p>
          <a:p>
            <a:r>
              <a:t>CURRENT SHARED RCA CONTRACT</a:t>
            </a:r>
          </a:p>
          <a:p>
            <a:r>
              <a:t>The user concludes RCA with an approved identified root cause or an unresolved result. This closes the RCA and managed issue; it does not certify that source data was fixed. Optional remediation tracking records owner, priority and target date independently. A fresh assessment requires manual new data upload and rerun. Planned and deferred diagnostic-specific gates and RCA actions in this summary are proposed, not current executors.</a:t>
            </a:r>
          </a:p>
          <a:p>
            <a:endParaRPr/>
          </a:p>
          <a:p>
            <a:r>
              <a:t>SOURCES</a:t>
            </a:r>
          </a:p>
          <a:p>
            <a:r>
              <a:t>[S02] documentation/Presentations/MVP_Test Plan_DA.xlsx</a:t>
            </a:r>
          </a:p>
          <a:p>
            <a:r>
              <a:t>[S28] source-codes/docs/0.4.0/00-framework.md</a:t>
            </a:r>
          </a:p>
          <a:p>
            <a:r>
              <a:t>[S09] source-codes/backend/dq_diagnostics/register.py</a:t>
            </a:r>
          </a:p>
          <a:p>
            <a:r>
              <a:t>[S15] source-codes/backend/domains/rca/service.py</a:t>
            </a:r>
          </a:p>
          <a:p>
            <a:r>
              <a:t>[S16] source-codes/ui/src/features/rca/components/RcaCase.jsx</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16</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Boundary / pile-up detection</a:t>
            </a:r>
          </a:p>
          <a:p>
            <a:endParaRPr/>
          </a:p>
          <a:p>
            <a:r>
              <a:t>One-page summary of the unchanged full product deck, slides 68–68.</a:t>
            </a:r>
          </a:p>
          <a:p>
            <a:r>
              <a:t>All on-slide text, cards, pills and connectors are native editable PowerPoint objects.</a:t>
            </a:r>
          </a:p>
          <a:p>
            <a:r>
              <a:t>DETAIL RETAINED FOR PRESENTERS</a:t>
            </a:r>
          </a:p>
          <a:p>
            <a:endParaRPr/>
          </a:p>
          <a:p>
            <a:r>
              <a:t>FULL DECK SLIDE 68: Look for implausible concentration at declared boundaries</a:t>
            </a:r>
          </a:p>
          <a:p>
            <a:r>
              <a:t>06 / DEFERRED • T2-D10</a:t>
            </a:r>
          </a:p>
          <a:p>
            <a:r>
              <a:t>Look for implausible concentration at declared boundaries</a:t>
            </a:r>
          </a:p>
          <a:p>
            <a:r>
              <a:t>Boundary / pile-up detection</a:t>
            </a:r>
          </a:p>
          <a:p>
            <a:r>
              <a:t>Planned • deferred</a:t>
            </a:r>
          </a:p>
          <a:p>
            <a:r>
              <a:t>Purpose &amp; inputs</a:t>
            </a:r>
          </a:p>
          <a:p>
            <a:r>
              <a:t>Bounded field, declared limits and boundary-share threshold. Implausible mass at a bounded field's min/max.</a:t>
            </a:r>
          </a:p>
          <a:p>
            <a:r>
              <a:t>Approach &amp; output</a:t>
            </a:r>
          </a:p>
          <a:p>
            <a:r>
              <a:t>share of mass at boundary. Boundary concentration evidence; scope and materiality require definition.</a:t>
            </a:r>
          </a:p>
          <a:p>
            <a:r>
              <a:t>!</a:t>
            </a:r>
          </a:p>
          <a:p>
            <a:r>
              <a:t>Launch &amp; issue journey</a:t>
            </a:r>
          </a:p>
          <a:p>
            <a:r>
              <a:t>Not registered or launchable. Proposed: SME reviews evidence, confirms any issue and routes justified work into RCA.</a:t>
            </a:r>
          </a:p>
          <a:p>
            <a:r>
              <a:t>Deferred scope: methodology, prerequisites, workflow and evidence contract require acceptance.</a:t>
            </a:r>
          </a:p>
          <a:p>
            <a:r>
              <a:t>Original speaker note: Planned, deferred workbook diagnostic. Implausible mass at a bounded field's min/max. Planned metric: share of mass at boundary. Workbook default/decision rule: boundary share &gt; X% -&gt; flag. Input binding examples in the workbook are illustrative and are not used as real findings. No registered executor, report schema, current launch or diagnostic-specific automated RCA is claimed. Proposed user is analytics/model team with SME review. Remediation would follow evidence review and manual source or methodology correction.</a:t>
            </a:r>
          </a:p>
          <a:p>
            <a:endParaRPr/>
          </a:p>
          <a:p>
            <a:r>
              <a:t>CURRENT SHARED RCA CONTRACT</a:t>
            </a:r>
          </a:p>
          <a:p>
            <a:r>
              <a:t>The user concludes RCA with an approved identified root cause or an unresolved result. This closes the RCA and managed issue; it does not certify that source data was fixed. Optional remediation tracking records owner, priority and target date independently. A fresh assessment requires manual new data upload and rerun. Planned and deferred diagnostic-specific gates and RCA actions in this summary are proposed, not current executors.</a:t>
            </a:r>
          </a:p>
          <a:p>
            <a:endParaRPr/>
          </a:p>
          <a:p>
            <a:r>
              <a:t>SOURCES</a:t>
            </a:r>
          </a:p>
          <a:p>
            <a:r>
              <a:t>[S02] documentation/Presentations/MVP_Test Plan_DA.xlsx</a:t>
            </a:r>
          </a:p>
          <a:p>
            <a:r>
              <a:t>[S28] source-codes/docs/0.4.0/00-framework.md</a:t>
            </a:r>
          </a:p>
          <a:p>
            <a:r>
              <a:t>[S09] source-codes/backend/dq_diagnostics/register.py</a:t>
            </a:r>
          </a:p>
          <a:p>
            <a:r>
              <a:t>[S15] source-codes/backend/domains/rca/service.py</a:t>
            </a:r>
          </a:p>
          <a:p>
            <a:r>
              <a:t>[S16] source-codes/ui/src/features/rca/components/RcaCase.jsx</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17</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Target-rate break / change-point</a:t>
            </a:r>
          </a:p>
          <a:p>
            <a:endParaRPr/>
          </a:p>
          <a:p>
            <a:r>
              <a:t>One-page summary of the unchanged full product deck, slides 69–69.</a:t>
            </a:r>
          </a:p>
          <a:p>
            <a:r>
              <a:t>All on-slide text, cards, pills and connectors are native editable PowerPoint objects.</a:t>
            </a:r>
          </a:p>
          <a:p>
            <a:r>
              <a:t>DETAIL RETAINED FOR PRESENTERS</a:t>
            </a:r>
          </a:p>
          <a:p>
            <a:endParaRPr/>
          </a:p>
          <a:p>
            <a:r>
              <a:t>FULL DECK SLIDE 69: Locate target-rate breaks around definition changes</a:t>
            </a:r>
          </a:p>
          <a:p>
            <a:r>
              <a:t>06 / DEFERRED • T3-D13</a:t>
            </a:r>
          </a:p>
          <a:p>
            <a:r>
              <a:t>Locate target-rate breaks around definition changes</a:t>
            </a:r>
          </a:p>
          <a:p>
            <a:r>
              <a:t>Target-rate break (change-point)</a:t>
            </a:r>
          </a:p>
          <a:p>
            <a:r>
              <a:t>Planned • deferred</a:t>
            </a:r>
          </a:p>
          <a:p>
            <a:r>
              <a:t>Purpose &amp; inputs</a:t>
            </a:r>
          </a:p>
          <a:p>
            <a:r>
              <a:t>Dated target-rate series and label-definition change dates. Does the target rate shift over time for definitional reasons?</a:t>
            </a:r>
          </a:p>
          <a:p>
            <a:r>
              <a:t>Approach &amp; output</a:t>
            </a:r>
          </a:p>
          <a:p>
            <a:r>
              <a:t>change-point / structural-break statistic on target-rate series. Change-point candidates aligned to documented definition dates.</a:t>
            </a:r>
          </a:p>
          <a:p>
            <a:r>
              <a:t>!</a:t>
            </a:r>
          </a:p>
          <a:p>
            <a:r>
              <a:t>Launch &amp; issue journey</a:t>
            </a:r>
          </a:p>
          <a:p>
            <a:r>
              <a:t>Not registered or launchable. Proposed: SME reviews evidence, confirms any issue and routes justified work into RCA.</a:t>
            </a:r>
          </a:p>
          <a:p>
            <a:r>
              <a:t>Deferred scope: methodology, prerequisites, workflow and evidence contract require acceptance.</a:t>
            </a:r>
          </a:p>
          <a:p>
            <a:r>
              <a:t>Original speaker note: Planned, deferred workbook diagnostic. Does the target rate shift over time for definitional reasons? Planned metric: change-point / structural-break statistic on target-rate series. Workbook default/decision rule: significant break vs significance level -&gt; flag; align to definition dates. Input binding examples in the workbook are illustrative and are not used as real findings. No registered executor, report schema, current launch or diagnostic-specific automated RCA is claimed. Proposed user is analytics/model team with SME review. Remediation would follow evidence review and manual source or methodology correction.</a:t>
            </a:r>
          </a:p>
          <a:p>
            <a:endParaRPr/>
          </a:p>
          <a:p>
            <a:r>
              <a:t>CURRENT SHARED RCA CONTRACT</a:t>
            </a:r>
          </a:p>
          <a:p>
            <a:r>
              <a:t>The user concludes RCA with an approved identified root cause or an unresolved result. This closes the RCA and managed issue; it does not certify that source data was fixed. Optional remediation tracking records owner, priority and target date independently. A fresh assessment requires manual new data upload and rerun. Planned and deferred diagnostic-specific gates and RCA actions in this summary are proposed, not current executors.</a:t>
            </a:r>
          </a:p>
          <a:p>
            <a:endParaRPr/>
          </a:p>
          <a:p>
            <a:r>
              <a:t>SOURCES</a:t>
            </a:r>
          </a:p>
          <a:p>
            <a:r>
              <a:t>[S02] documentation/Presentations/MVP_Test Plan_DA.xlsx</a:t>
            </a:r>
          </a:p>
          <a:p>
            <a:r>
              <a:t>[S28] source-codes/docs/0.4.0/00-framework.md</a:t>
            </a:r>
          </a:p>
          <a:p>
            <a:r>
              <a:t>[S09] source-codes/backend/dq_diagnostics/register.py</a:t>
            </a:r>
          </a:p>
          <a:p>
            <a:r>
              <a:t>[S15] source-codes/backend/domains/rca/service.py</a:t>
            </a:r>
          </a:p>
          <a:p>
            <a:r>
              <a:t>[S16] source-codes/ui/src/features/rca/components/RcaCase.jsx</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18</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KS distance</a:t>
            </a:r>
          </a:p>
          <a:p>
            <a:endParaRPr/>
          </a:p>
          <a:p>
            <a:r>
              <a:t>One-page summary of the unchanged full product deck, slides 70–70.</a:t>
            </a:r>
          </a:p>
          <a:p>
            <a:r>
              <a:t>All on-slide text, cards, pills and connectors are native editable PowerPoint objects.</a:t>
            </a:r>
          </a:p>
          <a:p>
            <a:r>
              <a:t>DETAIL RETAINED FOR PRESENTERS</a:t>
            </a:r>
          </a:p>
          <a:p>
            <a:endParaRPr/>
          </a:p>
          <a:p>
            <a:r>
              <a:t>FULL DECK SLIDE 70: Compare sample and reference distributions using KS distance</a:t>
            </a:r>
          </a:p>
          <a:p>
            <a:r>
              <a:t>06 / DEFERRED • T4-D15</a:t>
            </a:r>
          </a:p>
          <a:p>
            <a:r>
              <a:t>Compare sample and reference distributions using KS distance</a:t>
            </a:r>
          </a:p>
          <a:p>
            <a:r>
              <a:t>KS distance</a:t>
            </a:r>
          </a:p>
          <a:p>
            <a:r>
              <a:t>Planned • deferred</a:t>
            </a:r>
          </a:p>
          <a:p>
            <a:r>
              <a:t>Purpose &amp; inputs</a:t>
            </a:r>
          </a:p>
          <a:p>
            <a:r>
              <a:t>Numeric sample and reference distributions. Distributional difference vs reference (complements PSI).</a:t>
            </a:r>
          </a:p>
          <a:p>
            <a:r>
              <a:t>Approach &amp; output</a:t>
            </a:r>
          </a:p>
          <a:p>
            <a:r>
              <a:t>Kolmogorov-Smirnov statistic. Distribution distance, interpreted alongside sample size and PSI.</a:t>
            </a:r>
          </a:p>
          <a:p>
            <a:r>
              <a:t>!</a:t>
            </a:r>
          </a:p>
          <a:p>
            <a:r>
              <a:t>Launch &amp; issue journey</a:t>
            </a:r>
          </a:p>
          <a:p>
            <a:r>
              <a:t>Not registered or launchable. Proposed: SME reviews evidence, confirms any issue and routes justified work into RCA.</a:t>
            </a:r>
          </a:p>
          <a:p>
            <a:r>
              <a:t>Deferred scope: methodology, prerequisites, workflow and evidence contract require acceptance.</a:t>
            </a:r>
          </a:p>
          <a:p>
            <a:r>
              <a:t>Original speaker note: Planned, deferred workbook diagnostic. Distributional difference vs reference (complements PSI). Planned metric: Kolmogorov-Smirnov statistic. Workbook default/decision rule: KS above threshold -&gt; flag (over-flags at large n; read with PSI). Input binding examples in the workbook are illustrative and are not used as real findings. No registered executor, report schema, current launch or diagnostic-specific automated RCA is claimed. Proposed user is analytics/model team with SME review. Remediation would follow evidence review and manual source or methodology correction.</a:t>
            </a:r>
          </a:p>
          <a:p>
            <a:endParaRPr/>
          </a:p>
          <a:p>
            <a:r>
              <a:t>CURRENT SHARED RCA CONTRACT</a:t>
            </a:r>
          </a:p>
          <a:p>
            <a:r>
              <a:t>The user concludes RCA with an approved identified root cause or an unresolved result. This closes the RCA and managed issue; it does not certify that source data was fixed. Optional remediation tracking records owner, priority and target date independently. A fresh assessment requires manual new data upload and rerun. Planned and deferred diagnostic-specific gates and RCA actions in this summary are proposed, not current executors.</a:t>
            </a:r>
          </a:p>
          <a:p>
            <a:endParaRPr/>
          </a:p>
          <a:p>
            <a:r>
              <a:t>SOURCES</a:t>
            </a:r>
          </a:p>
          <a:p>
            <a:r>
              <a:t>[S02] documentation/Presentations/MVP_Test Plan_DA.xlsx</a:t>
            </a:r>
          </a:p>
          <a:p>
            <a:r>
              <a:t>[S28] source-codes/docs/0.4.0/00-framework.md</a:t>
            </a:r>
          </a:p>
          <a:p>
            <a:r>
              <a:t>[S09] source-codes/backend/dq_diagnostics/register.py</a:t>
            </a:r>
          </a:p>
          <a:p>
            <a:r>
              <a:t>[S15] source-codes/backend/domains/rca/service.py</a:t>
            </a:r>
          </a:p>
          <a:p>
            <a:r>
              <a:t>[S16] source-codes/ui/src/features/rca/components/RcaCase.jsx</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19</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Segment coverage</a:t>
            </a:r>
          </a:p>
          <a:p>
            <a:endParaRPr/>
          </a:p>
          <a:p>
            <a:r>
              <a:t>One-page summary of the unchanged full product deck, slides 71–71.</a:t>
            </a:r>
          </a:p>
          <a:p>
            <a:r>
              <a:t>All on-slide text, cards, pills and connectors are native editable PowerPoint objects.</a:t>
            </a:r>
          </a:p>
          <a:p>
            <a:r>
              <a:t>DETAIL RETAINED FOR PRESENTERS</a:t>
            </a:r>
          </a:p>
          <a:p>
            <a:endParaRPr/>
          </a:p>
          <a:p>
            <a:r>
              <a:t>FULL DECK SLIDE 71: Expose absent or thin population segments</a:t>
            </a:r>
          </a:p>
          <a:p>
            <a:r>
              <a:t>06 / DEFERRED • T4-D16</a:t>
            </a:r>
          </a:p>
          <a:p>
            <a:r>
              <a:t>Expose absent or thin population segments</a:t>
            </a:r>
          </a:p>
          <a:p>
            <a:r>
              <a:t>Segment coverage</a:t>
            </a:r>
          </a:p>
          <a:p>
            <a:r>
              <a:t>Planned • deferred</a:t>
            </a:r>
          </a:p>
          <a:p>
            <a:r>
              <a:t>Purpose &amp; inputs</a:t>
            </a:r>
          </a:p>
          <a:p>
            <a:r>
              <a:t>Reference and sample segment keys and population counts. Is any live-population segment absent/thin in the sample?</a:t>
            </a:r>
          </a:p>
          <a:p>
            <a:r>
              <a:t>Approach &amp; output</a:t>
            </a:r>
          </a:p>
          <a:p>
            <a:r>
              <a:t>presence &amp; share by segment. Absent or underrepresented segments and their shares.</a:t>
            </a:r>
          </a:p>
          <a:p>
            <a:r>
              <a:t>!</a:t>
            </a:r>
          </a:p>
          <a:p>
            <a:r>
              <a:t>Launch &amp; issue journey</a:t>
            </a:r>
          </a:p>
          <a:p>
            <a:r>
              <a:t>Not registered or launchable. Proposed: SME reviews evidence, confirms any issue and routes justified work into RCA.</a:t>
            </a:r>
          </a:p>
          <a:p>
            <a:r>
              <a:t>Deferred scope: methodology, prerequisites, workflow and evidence contract require acceptance.</a:t>
            </a:r>
          </a:p>
          <a:p>
            <a:r>
              <a:t>Original speaker note: Planned, deferred workbook diagnostic. Is any live-population segment absent/thin in the sample? Planned metric: presence &amp; share by segment. Workbook default/decision rule: segment in reference but &lt; min share in sample -&gt; flag. Input binding examples in the workbook are illustrative and are not used as real findings. No registered executor, report schema, current launch or diagnostic-specific automated RCA is claimed. Proposed user is analytics/model team with SME review. Remediation would follow evidence review and manual source or methodology correction.</a:t>
            </a:r>
          </a:p>
          <a:p>
            <a:endParaRPr/>
          </a:p>
          <a:p>
            <a:r>
              <a:t>CURRENT SHARED RCA CONTRACT</a:t>
            </a:r>
          </a:p>
          <a:p>
            <a:r>
              <a:t>The user concludes RCA with an approved identified root cause or an unresolved result. This closes the RCA and managed issue; it does not certify that source data was fixed. Optional remediation tracking records owner, priority and target date independently. A fresh assessment requires manual new data upload and rerun. Planned and deferred diagnostic-specific gates and RCA actions in this summary are proposed, not current executors.</a:t>
            </a:r>
          </a:p>
          <a:p>
            <a:endParaRPr/>
          </a:p>
          <a:p>
            <a:r>
              <a:t>SOURCES</a:t>
            </a:r>
          </a:p>
          <a:p>
            <a:r>
              <a:t>[S02] documentation/Presentations/MVP_Test Plan_DA.xlsx</a:t>
            </a:r>
          </a:p>
          <a:p>
            <a:r>
              <a:t>[S28] source-codes/docs/0.4.0/00-framework.md</a:t>
            </a:r>
          </a:p>
          <a:p>
            <a:r>
              <a:t>[S09] source-codes/backend/dq_diagnostics/register.py</a:t>
            </a:r>
          </a:p>
          <a:p>
            <a:r>
              <a:t>[S15] source-codes/backend/domains/rca/service.py</a:t>
            </a:r>
          </a:p>
          <a:p>
            <a:r>
              <a:t>[S16] source-codes/ui/src/features/rca/components/RcaCase.jsx</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20</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Resolved-only vs all differential</a:t>
            </a:r>
          </a:p>
          <a:p>
            <a:endParaRPr/>
          </a:p>
          <a:p>
            <a:r>
              <a:t>One-page summary of the unchanged full product deck, slides 72–72.</a:t>
            </a:r>
          </a:p>
          <a:p>
            <a:r>
              <a:t>All on-slide text, cards, pills and connectors are native editable PowerPoint objects.</a:t>
            </a:r>
          </a:p>
          <a:p>
            <a:r>
              <a:t>DETAIL RETAINED FOR PRESENTERS</a:t>
            </a:r>
          </a:p>
          <a:p>
            <a:endParaRPr/>
          </a:p>
          <a:p>
            <a:r>
              <a:t>FULL DECK SLIDE 72: Quantify the impact of resolved-only outcome selection</a:t>
            </a:r>
          </a:p>
          <a:p>
            <a:r>
              <a:t>06 / DEFERRED • T5-D18</a:t>
            </a:r>
          </a:p>
          <a:p>
            <a:r>
              <a:t>Quantify the impact of resolved-only outcome selection</a:t>
            </a:r>
          </a:p>
          <a:p>
            <a:r>
              <a:t>Resolved-only vs all differential</a:t>
            </a:r>
          </a:p>
          <a:p>
            <a:r>
              <a:t>Planned • deferred</a:t>
            </a:r>
          </a:p>
          <a:p>
            <a:r>
              <a:t>Purpose &amp; inputs</a:t>
            </a:r>
          </a:p>
          <a:p>
            <a:r>
              <a:t>Resolved flag, outcomes and comparable full/resolved samples. How much the estimate changes on resolved-only vs all.</a:t>
            </a:r>
          </a:p>
          <a:p>
            <a:r>
              <a:t>Approach &amp; output</a:t>
            </a:r>
          </a:p>
          <a:p>
            <a:r>
              <a:t>delta(estimate resolved-only vs all). Difference in analytical estimates attributable to resolved-only selection.</a:t>
            </a:r>
          </a:p>
          <a:p>
            <a:r>
              <a:t>!</a:t>
            </a:r>
          </a:p>
          <a:p>
            <a:r>
              <a:t>Launch &amp; issue journey</a:t>
            </a:r>
          </a:p>
          <a:p>
            <a:r>
              <a:t>Not registered or launchable. Proposed: SME reviews evidence, confirms any issue and routes justified work into RCA.</a:t>
            </a:r>
          </a:p>
          <a:p>
            <a:r>
              <a:t>Deferred scope: methodology, prerequisites, workflow and evidence contract require acceptance.</a:t>
            </a:r>
          </a:p>
          <a:p>
            <a:r>
              <a:t>Original speaker note: Planned, deferred workbook diagnostic. How much the estimate changes on resolved-only vs all. Planned metric: delta(estimate resolved-only vs all). Workbook default/decision rule: differential &gt; Y -&gt; flag downward bias. Input binding examples in the workbook are illustrative and are not used as real findings. No registered executor, report schema, current launch or diagnostic-specific automated RCA is claimed. Proposed user is analytics/model team with SME review. Remediation would follow evidence review and manual source or methodology correction.</a:t>
            </a:r>
          </a:p>
          <a:p>
            <a:endParaRPr/>
          </a:p>
          <a:p>
            <a:r>
              <a:t>CURRENT SHARED RCA CONTRACT</a:t>
            </a:r>
          </a:p>
          <a:p>
            <a:r>
              <a:t>The user concludes RCA with an approved identified root cause or an unresolved result. This closes the RCA and managed issue; it does not certify that source data was fixed. Optional remediation tracking records owner, priority and target date independently. A fresh assessment requires manual new data upload and rerun. Planned and deferred diagnostic-specific gates and RCA actions in this summary are proposed, not current executors.</a:t>
            </a:r>
          </a:p>
          <a:p>
            <a:endParaRPr/>
          </a:p>
          <a:p>
            <a:r>
              <a:t>SOURCES</a:t>
            </a:r>
          </a:p>
          <a:p>
            <a:r>
              <a:t>[S02] documentation/Presentations/MVP_Test Plan_DA.xlsx</a:t>
            </a:r>
          </a:p>
          <a:p>
            <a:r>
              <a:t>[S28] source-codes/docs/0.4.0/00-framework.md</a:t>
            </a:r>
          </a:p>
          <a:p>
            <a:r>
              <a:t>[S09] source-codes/backend/dq_diagnostics/register.py</a:t>
            </a:r>
          </a:p>
          <a:p>
            <a:r>
              <a:t>[S15] source-codes/backend/domains/rca/service.py</a:t>
            </a:r>
          </a:p>
          <a:p>
            <a:r>
              <a:t>[S16] source-codes/ui/src/features/rca/components/RcaCase.jsx</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21</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Seasoning / maturity profile</a:t>
            </a:r>
          </a:p>
          <a:p>
            <a:endParaRPr/>
          </a:p>
          <a:p>
            <a:r>
              <a:t>One-page summary of the unchanged full product deck, slides 73–73.</a:t>
            </a:r>
          </a:p>
          <a:p>
            <a:r>
              <a:t>All on-slide text, cards, pills and connectors are native editable PowerPoint objects.</a:t>
            </a:r>
          </a:p>
          <a:p>
            <a:r>
              <a:t>DETAIL RETAINED FOR PRESENTERS</a:t>
            </a:r>
          </a:p>
          <a:p>
            <a:endParaRPr/>
          </a:p>
          <a:p>
            <a:r>
              <a:t>FULL DECK SLIDE 73: Assess whether vintages have had time to mature</a:t>
            </a:r>
          </a:p>
          <a:p>
            <a:r>
              <a:t>06 / DEFERRED • T5-D19</a:t>
            </a:r>
          </a:p>
          <a:p>
            <a:r>
              <a:t>Assess whether vintages have had time to mature</a:t>
            </a:r>
          </a:p>
          <a:p>
            <a:r>
              <a:t>Seasoning / maturity profile</a:t>
            </a:r>
          </a:p>
          <a:p>
            <a:r>
              <a:t>Planned • deferred</a:t>
            </a:r>
          </a:p>
          <a:p>
            <a:r>
              <a:t>Purpose &amp; inputs</a:t>
            </a:r>
          </a:p>
          <a:p>
            <a:r>
              <a:t>Origination/vintage, months-on-book and cumulative outcomes. Are recent vintages too immature for the outcome horizon?</a:t>
            </a:r>
          </a:p>
          <a:p>
            <a:r>
              <a:t>Approach &amp; output</a:t>
            </a:r>
          </a:p>
          <a:p>
            <a:r>
              <a:t>cumulative outcome by months-on-book (seasoning curve). Seasoning curves supporting a use-case-specific maturity decision.</a:t>
            </a:r>
          </a:p>
          <a:p>
            <a:r>
              <a:t>!</a:t>
            </a:r>
          </a:p>
          <a:p>
            <a:r>
              <a:t>Launch &amp; issue journey</a:t>
            </a:r>
          </a:p>
          <a:p>
            <a:r>
              <a:t>Not registered or launchable. Proposed: SME reviews evidence, confirms any issue and routes justified work into RCA.</a:t>
            </a:r>
          </a:p>
          <a:p>
            <a:r>
              <a:t>Deferred scope: methodology, prerequisites, workflow and evidence contract require acceptance.</a:t>
            </a:r>
          </a:p>
          <a:p>
            <a:r>
              <a:t>Original speaker note: Planned, deferred workbook diagnostic. Are recent vintages too immature for the outcome horizon? Planned metric: cumulative outcome by months-on-book (seasoning curve). Workbook default/decision rule: recent vintages below mature seasoning -&gt; flag immaturity. Input binding examples in the workbook are illustrative and are not used as real findings. No registered executor, report schema, current launch or diagnostic-specific automated RCA is claimed. Proposed user is analytics/model team with SME review. Remediation would follow evidence review and manual source or methodology correction.</a:t>
            </a:r>
          </a:p>
          <a:p>
            <a:endParaRPr/>
          </a:p>
          <a:p>
            <a:r>
              <a:t>CURRENT SHARED RCA CONTRACT</a:t>
            </a:r>
          </a:p>
          <a:p>
            <a:r>
              <a:t>The user concludes RCA with an approved identified root cause or an unresolved result. This closes the RCA and managed issue; it does not certify that source data was fixed. Optional remediation tracking records owner, priority and target date independently. A fresh assessment requires manual new data upload and rerun. Planned and deferred diagnostic-specific gates and RCA actions in this summary are proposed, not current executors.</a:t>
            </a:r>
          </a:p>
          <a:p>
            <a:endParaRPr/>
          </a:p>
          <a:p>
            <a:r>
              <a:t>SOURCES</a:t>
            </a:r>
          </a:p>
          <a:p>
            <a:r>
              <a:t>[S02] documentation/Presentations/MVP_Test Plan_DA.xlsx</a:t>
            </a:r>
          </a:p>
          <a:p>
            <a:r>
              <a:t>[S28] source-codes/docs/0.4.0/00-framework.md</a:t>
            </a:r>
          </a:p>
          <a:p>
            <a:r>
              <a:t>[S09] source-codes/backend/dq_diagnostics/register.py</a:t>
            </a:r>
          </a:p>
          <a:p>
            <a:r>
              <a:t>[S15] source-codes/backend/domains/rca/service.py</a:t>
            </a:r>
          </a:p>
          <a:p>
            <a:r>
              <a:t>[S16] source-codes/ui/src/features/rca/components/RcaCase.jsx</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22</a:t>
            </a:fld>
            <a:endParaRPr lang="en-IN"/>
          </a:p>
        </p:txBody>
      </p:sp>
    </p:spTree>
    <p:extLst>
      <p:ext uri="{BB962C8B-B14F-4D97-AF65-F5344CB8AC3E}">
        <p14:creationId xmlns:p14="http://schemas.microsoft.com/office/powerpoint/2010/main" val="35179760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4966D-9E49-1932-5A86-A6CB7111AC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303CA9A-636A-57DC-143F-C371A65396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12D917F-AC5F-AF1D-7B3E-48EB96220E9C}"/>
              </a:ext>
            </a:extLst>
          </p:cNvPr>
          <p:cNvSpPr>
            <a:spLocks noGrp="1"/>
          </p:cNvSpPr>
          <p:nvPr>
            <p:ph type="dt" sz="half" idx="10"/>
          </p:nvPr>
        </p:nvSpPr>
        <p:spPr/>
        <p:txBody>
          <a:bodyPr/>
          <a:lstStyle/>
          <a:p>
            <a:fld id="{FA1D9F8E-DEB9-487D-920A-CEF9A3186930}" type="datetimeFigureOut">
              <a:rPr lang="en-IN" smtClean="0"/>
              <a:t>07-09-2026</a:t>
            </a:fld>
            <a:endParaRPr lang="en-IN"/>
          </a:p>
        </p:txBody>
      </p:sp>
      <p:sp>
        <p:nvSpPr>
          <p:cNvPr id="5" name="Footer Placeholder 4">
            <a:extLst>
              <a:ext uri="{FF2B5EF4-FFF2-40B4-BE49-F238E27FC236}">
                <a16:creationId xmlns:a16="http://schemas.microsoft.com/office/drawing/2014/main" id="{3750C9C5-1474-F364-8645-67CA238B3E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71AD92-21C0-8245-9FC5-BDD5C150CC06}"/>
              </a:ext>
            </a:extLst>
          </p:cNvPr>
          <p:cNvSpPr>
            <a:spLocks noGrp="1"/>
          </p:cNvSpPr>
          <p:nvPr>
            <p:ph type="sldNum" sz="quarter" idx="12"/>
          </p:nvPr>
        </p:nvSpPr>
        <p:spPr/>
        <p:txBody>
          <a:bodyPr/>
          <a:lstStyle/>
          <a:p>
            <a:fld id="{672E2321-9154-4AA3-82C0-AEF1CBDAC5C6}" type="slidenum">
              <a:rPr lang="en-IN" smtClean="0"/>
              <a:t>‹#›</a:t>
            </a:fld>
            <a:endParaRPr lang="en-IN"/>
          </a:p>
        </p:txBody>
      </p:sp>
    </p:spTree>
    <p:extLst>
      <p:ext uri="{BB962C8B-B14F-4D97-AF65-F5344CB8AC3E}">
        <p14:creationId xmlns:p14="http://schemas.microsoft.com/office/powerpoint/2010/main" val="753135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76169-2CD9-D1C1-11E2-116DFAB8FFB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D9BE458-1872-5BC7-F244-F782784380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06CA9A-E7FA-7DE2-F462-94B89FBCD07F}"/>
              </a:ext>
            </a:extLst>
          </p:cNvPr>
          <p:cNvSpPr>
            <a:spLocks noGrp="1"/>
          </p:cNvSpPr>
          <p:nvPr>
            <p:ph type="dt" sz="half" idx="10"/>
          </p:nvPr>
        </p:nvSpPr>
        <p:spPr/>
        <p:txBody>
          <a:bodyPr/>
          <a:lstStyle/>
          <a:p>
            <a:fld id="{FA1D9F8E-DEB9-487D-920A-CEF9A3186930}" type="datetimeFigureOut">
              <a:rPr lang="en-IN" smtClean="0"/>
              <a:t>07-09-2026</a:t>
            </a:fld>
            <a:endParaRPr lang="en-IN"/>
          </a:p>
        </p:txBody>
      </p:sp>
      <p:sp>
        <p:nvSpPr>
          <p:cNvPr id="5" name="Footer Placeholder 4">
            <a:extLst>
              <a:ext uri="{FF2B5EF4-FFF2-40B4-BE49-F238E27FC236}">
                <a16:creationId xmlns:a16="http://schemas.microsoft.com/office/drawing/2014/main" id="{88EF0F37-B572-0EF2-63F2-99A4E19002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03B0A4-1427-626A-C4AE-0F4CCD201815}"/>
              </a:ext>
            </a:extLst>
          </p:cNvPr>
          <p:cNvSpPr>
            <a:spLocks noGrp="1"/>
          </p:cNvSpPr>
          <p:nvPr>
            <p:ph type="sldNum" sz="quarter" idx="12"/>
          </p:nvPr>
        </p:nvSpPr>
        <p:spPr/>
        <p:txBody>
          <a:bodyPr/>
          <a:lstStyle/>
          <a:p>
            <a:fld id="{672E2321-9154-4AA3-82C0-AEF1CBDAC5C6}" type="slidenum">
              <a:rPr lang="en-IN" smtClean="0"/>
              <a:t>‹#›</a:t>
            </a:fld>
            <a:endParaRPr lang="en-IN"/>
          </a:p>
        </p:txBody>
      </p:sp>
    </p:spTree>
    <p:extLst>
      <p:ext uri="{BB962C8B-B14F-4D97-AF65-F5344CB8AC3E}">
        <p14:creationId xmlns:p14="http://schemas.microsoft.com/office/powerpoint/2010/main" val="2788719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F4084-BA4B-74CB-EBB4-AC37F14447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3747E87-AEC1-67FD-1C71-2D3EECB6609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A39E57-DE80-8CBD-9662-7CEB7F6F6F7A}"/>
              </a:ext>
            </a:extLst>
          </p:cNvPr>
          <p:cNvSpPr>
            <a:spLocks noGrp="1"/>
          </p:cNvSpPr>
          <p:nvPr>
            <p:ph type="dt" sz="half" idx="10"/>
          </p:nvPr>
        </p:nvSpPr>
        <p:spPr/>
        <p:txBody>
          <a:bodyPr/>
          <a:lstStyle/>
          <a:p>
            <a:fld id="{FA1D9F8E-DEB9-487D-920A-CEF9A3186930}" type="datetimeFigureOut">
              <a:rPr lang="en-IN" smtClean="0"/>
              <a:t>07-09-2026</a:t>
            </a:fld>
            <a:endParaRPr lang="en-IN"/>
          </a:p>
        </p:txBody>
      </p:sp>
      <p:sp>
        <p:nvSpPr>
          <p:cNvPr id="5" name="Footer Placeholder 4">
            <a:extLst>
              <a:ext uri="{FF2B5EF4-FFF2-40B4-BE49-F238E27FC236}">
                <a16:creationId xmlns:a16="http://schemas.microsoft.com/office/drawing/2014/main" id="{14F997F5-9CD8-92CF-6CCD-2510E35229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0BBD19-9759-ABEE-5638-B4CAB8D9BC1C}"/>
              </a:ext>
            </a:extLst>
          </p:cNvPr>
          <p:cNvSpPr>
            <a:spLocks noGrp="1"/>
          </p:cNvSpPr>
          <p:nvPr>
            <p:ph type="sldNum" sz="quarter" idx="12"/>
          </p:nvPr>
        </p:nvSpPr>
        <p:spPr/>
        <p:txBody>
          <a:bodyPr/>
          <a:lstStyle/>
          <a:p>
            <a:fld id="{672E2321-9154-4AA3-82C0-AEF1CBDAC5C6}" type="slidenum">
              <a:rPr lang="en-IN" smtClean="0"/>
              <a:t>‹#›</a:t>
            </a:fld>
            <a:endParaRPr lang="en-IN"/>
          </a:p>
        </p:txBody>
      </p:sp>
    </p:spTree>
    <p:extLst>
      <p:ext uri="{BB962C8B-B14F-4D97-AF65-F5344CB8AC3E}">
        <p14:creationId xmlns:p14="http://schemas.microsoft.com/office/powerpoint/2010/main" val="27290281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9BCA8-AEA9-484A-79F5-DF6FDBEA050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FE62680-D470-01FE-DA29-4107537394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A3E9518-8C8A-4C0F-0247-F66D8F5B07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41D496B-7A7E-B40E-1C31-869E5EBAFEFF}"/>
              </a:ext>
            </a:extLst>
          </p:cNvPr>
          <p:cNvSpPr>
            <a:spLocks noGrp="1"/>
          </p:cNvSpPr>
          <p:nvPr>
            <p:ph type="dt" sz="half" idx="10"/>
          </p:nvPr>
        </p:nvSpPr>
        <p:spPr/>
        <p:txBody>
          <a:bodyPr/>
          <a:lstStyle/>
          <a:p>
            <a:fld id="{FA1D9F8E-DEB9-487D-920A-CEF9A3186930}" type="datetimeFigureOut">
              <a:rPr lang="en-IN" smtClean="0"/>
              <a:t>07-09-2026</a:t>
            </a:fld>
            <a:endParaRPr lang="en-IN"/>
          </a:p>
        </p:txBody>
      </p:sp>
      <p:sp>
        <p:nvSpPr>
          <p:cNvPr id="6" name="Footer Placeholder 5">
            <a:extLst>
              <a:ext uri="{FF2B5EF4-FFF2-40B4-BE49-F238E27FC236}">
                <a16:creationId xmlns:a16="http://schemas.microsoft.com/office/drawing/2014/main" id="{110C3C5A-AF76-75B1-B923-0B5B43B3CBD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E43CFF-C14D-22C1-04B4-0FA592862088}"/>
              </a:ext>
            </a:extLst>
          </p:cNvPr>
          <p:cNvSpPr>
            <a:spLocks noGrp="1"/>
          </p:cNvSpPr>
          <p:nvPr>
            <p:ph type="sldNum" sz="quarter" idx="12"/>
          </p:nvPr>
        </p:nvSpPr>
        <p:spPr/>
        <p:txBody>
          <a:bodyPr/>
          <a:lstStyle/>
          <a:p>
            <a:fld id="{672E2321-9154-4AA3-82C0-AEF1CBDAC5C6}" type="slidenum">
              <a:rPr lang="en-IN" smtClean="0"/>
              <a:t>‹#›</a:t>
            </a:fld>
            <a:endParaRPr lang="en-IN"/>
          </a:p>
        </p:txBody>
      </p:sp>
    </p:spTree>
    <p:extLst>
      <p:ext uri="{BB962C8B-B14F-4D97-AF65-F5344CB8AC3E}">
        <p14:creationId xmlns:p14="http://schemas.microsoft.com/office/powerpoint/2010/main" val="1533729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CB2B7-83D5-8DF1-D97A-A7EA304B745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BE8E37B-4BE9-4C58-D243-BEAD88472A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162EC9-677F-8729-8FAD-0986AB7093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1484358-82B6-72D1-0D06-681B2A6CA8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3D33B7-920A-E10E-F2F1-127CF3BBC0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15DCC21-F8F9-AE25-32BC-2B1EA50AE82B}"/>
              </a:ext>
            </a:extLst>
          </p:cNvPr>
          <p:cNvSpPr>
            <a:spLocks noGrp="1"/>
          </p:cNvSpPr>
          <p:nvPr>
            <p:ph type="dt" sz="half" idx="10"/>
          </p:nvPr>
        </p:nvSpPr>
        <p:spPr/>
        <p:txBody>
          <a:bodyPr/>
          <a:lstStyle/>
          <a:p>
            <a:fld id="{FA1D9F8E-DEB9-487D-920A-CEF9A3186930}" type="datetimeFigureOut">
              <a:rPr lang="en-IN" smtClean="0"/>
              <a:t>07-09-2026</a:t>
            </a:fld>
            <a:endParaRPr lang="en-IN"/>
          </a:p>
        </p:txBody>
      </p:sp>
      <p:sp>
        <p:nvSpPr>
          <p:cNvPr id="8" name="Footer Placeholder 7">
            <a:extLst>
              <a:ext uri="{FF2B5EF4-FFF2-40B4-BE49-F238E27FC236}">
                <a16:creationId xmlns:a16="http://schemas.microsoft.com/office/drawing/2014/main" id="{E220BB4D-8C22-D98C-2C2B-3B5E39701A0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3F4F82B-F428-10D9-3593-ACE133B1217C}"/>
              </a:ext>
            </a:extLst>
          </p:cNvPr>
          <p:cNvSpPr>
            <a:spLocks noGrp="1"/>
          </p:cNvSpPr>
          <p:nvPr>
            <p:ph type="sldNum" sz="quarter" idx="12"/>
          </p:nvPr>
        </p:nvSpPr>
        <p:spPr/>
        <p:txBody>
          <a:bodyPr/>
          <a:lstStyle/>
          <a:p>
            <a:fld id="{672E2321-9154-4AA3-82C0-AEF1CBDAC5C6}" type="slidenum">
              <a:rPr lang="en-IN" smtClean="0"/>
              <a:t>‹#›</a:t>
            </a:fld>
            <a:endParaRPr lang="en-IN"/>
          </a:p>
        </p:txBody>
      </p:sp>
    </p:spTree>
    <p:extLst>
      <p:ext uri="{BB962C8B-B14F-4D97-AF65-F5344CB8AC3E}">
        <p14:creationId xmlns:p14="http://schemas.microsoft.com/office/powerpoint/2010/main" val="791965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D51CA-F55B-6DB6-7284-21EE64D60C1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84F3874-FA25-E1D5-C9E6-6D6DFD7A8497}"/>
              </a:ext>
            </a:extLst>
          </p:cNvPr>
          <p:cNvSpPr>
            <a:spLocks noGrp="1"/>
          </p:cNvSpPr>
          <p:nvPr>
            <p:ph type="dt" sz="half" idx="10"/>
          </p:nvPr>
        </p:nvSpPr>
        <p:spPr/>
        <p:txBody>
          <a:bodyPr/>
          <a:lstStyle/>
          <a:p>
            <a:fld id="{FA1D9F8E-DEB9-487D-920A-CEF9A3186930}" type="datetimeFigureOut">
              <a:rPr lang="en-IN" smtClean="0"/>
              <a:t>07-09-2026</a:t>
            </a:fld>
            <a:endParaRPr lang="en-IN"/>
          </a:p>
        </p:txBody>
      </p:sp>
      <p:sp>
        <p:nvSpPr>
          <p:cNvPr id="4" name="Footer Placeholder 3">
            <a:extLst>
              <a:ext uri="{FF2B5EF4-FFF2-40B4-BE49-F238E27FC236}">
                <a16:creationId xmlns:a16="http://schemas.microsoft.com/office/drawing/2014/main" id="{1F8883E4-2D04-CAF4-E5BC-62AC9E9695B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C956151-4938-DFDB-BAA1-11598B0863FE}"/>
              </a:ext>
            </a:extLst>
          </p:cNvPr>
          <p:cNvSpPr>
            <a:spLocks noGrp="1"/>
          </p:cNvSpPr>
          <p:nvPr>
            <p:ph type="sldNum" sz="quarter" idx="12"/>
          </p:nvPr>
        </p:nvSpPr>
        <p:spPr/>
        <p:txBody>
          <a:bodyPr/>
          <a:lstStyle/>
          <a:p>
            <a:fld id="{672E2321-9154-4AA3-82C0-AEF1CBDAC5C6}" type="slidenum">
              <a:rPr lang="en-IN" smtClean="0"/>
              <a:t>‹#›</a:t>
            </a:fld>
            <a:endParaRPr lang="en-IN"/>
          </a:p>
        </p:txBody>
      </p:sp>
    </p:spTree>
    <p:extLst>
      <p:ext uri="{BB962C8B-B14F-4D97-AF65-F5344CB8AC3E}">
        <p14:creationId xmlns:p14="http://schemas.microsoft.com/office/powerpoint/2010/main" val="2244576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195A2D-AF60-A226-5B13-60BE943F3CDC}"/>
              </a:ext>
            </a:extLst>
          </p:cNvPr>
          <p:cNvSpPr>
            <a:spLocks noGrp="1"/>
          </p:cNvSpPr>
          <p:nvPr>
            <p:ph type="dt" sz="half" idx="10"/>
          </p:nvPr>
        </p:nvSpPr>
        <p:spPr/>
        <p:txBody>
          <a:bodyPr/>
          <a:lstStyle/>
          <a:p>
            <a:fld id="{FA1D9F8E-DEB9-487D-920A-CEF9A3186930}" type="datetimeFigureOut">
              <a:rPr lang="en-IN" smtClean="0"/>
              <a:t>07-09-2026</a:t>
            </a:fld>
            <a:endParaRPr lang="en-IN"/>
          </a:p>
        </p:txBody>
      </p:sp>
      <p:sp>
        <p:nvSpPr>
          <p:cNvPr id="3" name="Footer Placeholder 2">
            <a:extLst>
              <a:ext uri="{FF2B5EF4-FFF2-40B4-BE49-F238E27FC236}">
                <a16:creationId xmlns:a16="http://schemas.microsoft.com/office/drawing/2014/main" id="{ADAE7D61-9DB6-EF94-02B9-63E9D3C88EB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B59A420-0746-4494-FAB0-9912B1EFD570}"/>
              </a:ext>
            </a:extLst>
          </p:cNvPr>
          <p:cNvSpPr>
            <a:spLocks noGrp="1"/>
          </p:cNvSpPr>
          <p:nvPr>
            <p:ph type="sldNum" sz="quarter" idx="12"/>
          </p:nvPr>
        </p:nvSpPr>
        <p:spPr/>
        <p:txBody>
          <a:bodyPr/>
          <a:lstStyle/>
          <a:p>
            <a:fld id="{672E2321-9154-4AA3-82C0-AEF1CBDAC5C6}" type="slidenum">
              <a:rPr lang="en-IN" smtClean="0"/>
              <a:t>‹#›</a:t>
            </a:fld>
            <a:endParaRPr lang="en-IN"/>
          </a:p>
        </p:txBody>
      </p:sp>
    </p:spTree>
    <p:extLst>
      <p:ext uri="{BB962C8B-B14F-4D97-AF65-F5344CB8AC3E}">
        <p14:creationId xmlns:p14="http://schemas.microsoft.com/office/powerpoint/2010/main" val="4054128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27EF0-5C60-D483-5301-39A5253F28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BF43510-E650-A6D8-5E31-2DA5A18613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6C30D3D-7C49-B9F5-3AEC-C6BFBC368C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063FFD-A3EE-F7EB-5CF7-ECB5E0AF00D9}"/>
              </a:ext>
            </a:extLst>
          </p:cNvPr>
          <p:cNvSpPr>
            <a:spLocks noGrp="1"/>
          </p:cNvSpPr>
          <p:nvPr>
            <p:ph type="dt" sz="half" idx="10"/>
          </p:nvPr>
        </p:nvSpPr>
        <p:spPr/>
        <p:txBody>
          <a:bodyPr/>
          <a:lstStyle/>
          <a:p>
            <a:fld id="{FA1D9F8E-DEB9-487D-920A-CEF9A3186930}" type="datetimeFigureOut">
              <a:rPr lang="en-IN" smtClean="0"/>
              <a:t>07-09-2026</a:t>
            </a:fld>
            <a:endParaRPr lang="en-IN"/>
          </a:p>
        </p:txBody>
      </p:sp>
      <p:sp>
        <p:nvSpPr>
          <p:cNvPr id="6" name="Footer Placeholder 5">
            <a:extLst>
              <a:ext uri="{FF2B5EF4-FFF2-40B4-BE49-F238E27FC236}">
                <a16:creationId xmlns:a16="http://schemas.microsoft.com/office/drawing/2014/main" id="{A16361E7-98A8-E1A8-AFF6-4269DCC20F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6AFDC9-70E9-DB7D-04D1-A1AF168E0CCB}"/>
              </a:ext>
            </a:extLst>
          </p:cNvPr>
          <p:cNvSpPr>
            <a:spLocks noGrp="1"/>
          </p:cNvSpPr>
          <p:nvPr>
            <p:ph type="sldNum" sz="quarter" idx="12"/>
          </p:nvPr>
        </p:nvSpPr>
        <p:spPr/>
        <p:txBody>
          <a:bodyPr/>
          <a:lstStyle/>
          <a:p>
            <a:fld id="{672E2321-9154-4AA3-82C0-AEF1CBDAC5C6}" type="slidenum">
              <a:rPr lang="en-IN" smtClean="0"/>
              <a:t>‹#›</a:t>
            </a:fld>
            <a:endParaRPr lang="en-IN"/>
          </a:p>
        </p:txBody>
      </p:sp>
    </p:spTree>
    <p:extLst>
      <p:ext uri="{BB962C8B-B14F-4D97-AF65-F5344CB8AC3E}">
        <p14:creationId xmlns:p14="http://schemas.microsoft.com/office/powerpoint/2010/main" val="882278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1F15A-CC24-DD32-53E0-3485B5F36D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EB9D165-0CCD-7B7F-3991-9A5CAC2C54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5B5ED30-BEE2-8715-1436-4FE9AC4315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49F66D-3BD2-1E4C-8D62-09C122D8E2E8}"/>
              </a:ext>
            </a:extLst>
          </p:cNvPr>
          <p:cNvSpPr>
            <a:spLocks noGrp="1"/>
          </p:cNvSpPr>
          <p:nvPr>
            <p:ph type="dt" sz="half" idx="10"/>
          </p:nvPr>
        </p:nvSpPr>
        <p:spPr/>
        <p:txBody>
          <a:bodyPr/>
          <a:lstStyle/>
          <a:p>
            <a:fld id="{FA1D9F8E-DEB9-487D-920A-CEF9A3186930}" type="datetimeFigureOut">
              <a:rPr lang="en-IN" smtClean="0"/>
              <a:t>07-09-2026</a:t>
            </a:fld>
            <a:endParaRPr lang="en-IN"/>
          </a:p>
        </p:txBody>
      </p:sp>
      <p:sp>
        <p:nvSpPr>
          <p:cNvPr id="6" name="Footer Placeholder 5">
            <a:extLst>
              <a:ext uri="{FF2B5EF4-FFF2-40B4-BE49-F238E27FC236}">
                <a16:creationId xmlns:a16="http://schemas.microsoft.com/office/drawing/2014/main" id="{03A85FD4-DAF7-0E29-40D0-2D339B3DAD1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7DF562-2FC2-A4C2-A97C-E7A74A6C3ECB}"/>
              </a:ext>
            </a:extLst>
          </p:cNvPr>
          <p:cNvSpPr>
            <a:spLocks noGrp="1"/>
          </p:cNvSpPr>
          <p:nvPr>
            <p:ph type="sldNum" sz="quarter" idx="12"/>
          </p:nvPr>
        </p:nvSpPr>
        <p:spPr/>
        <p:txBody>
          <a:bodyPr/>
          <a:lstStyle/>
          <a:p>
            <a:fld id="{672E2321-9154-4AA3-82C0-AEF1CBDAC5C6}" type="slidenum">
              <a:rPr lang="en-IN" smtClean="0"/>
              <a:t>‹#›</a:t>
            </a:fld>
            <a:endParaRPr lang="en-IN"/>
          </a:p>
        </p:txBody>
      </p:sp>
    </p:spTree>
    <p:extLst>
      <p:ext uri="{BB962C8B-B14F-4D97-AF65-F5344CB8AC3E}">
        <p14:creationId xmlns:p14="http://schemas.microsoft.com/office/powerpoint/2010/main" val="2251388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EBF8A-E1F4-EFB6-FE00-90928F9B2D6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1870753-A3AD-3378-24F5-D40BFC4C53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A06E09-D90C-2E3E-5B31-A475087B2175}"/>
              </a:ext>
            </a:extLst>
          </p:cNvPr>
          <p:cNvSpPr>
            <a:spLocks noGrp="1"/>
          </p:cNvSpPr>
          <p:nvPr>
            <p:ph type="dt" sz="half" idx="10"/>
          </p:nvPr>
        </p:nvSpPr>
        <p:spPr/>
        <p:txBody>
          <a:bodyPr/>
          <a:lstStyle/>
          <a:p>
            <a:fld id="{FA1D9F8E-DEB9-487D-920A-CEF9A3186930}" type="datetimeFigureOut">
              <a:rPr lang="en-IN" smtClean="0"/>
              <a:t>07-09-2026</a:t>
            </a:fld>
            <a:endParaRPr lang="en-IN"/>
          </a:p>
        </p:txBody>
      </p:sp>
      <p:sp>
        <p:nvSpPr>
          <p:cNvPr id="5" name="Footer Placeholder 4">
            <a:extLst>
              <a:ext uri="{FF2B5EF4-FFF2-40B4-BE49-F238E27FC236}">
                <a16:creationId xmlns:a16="http://schemas.microsoft.com/office/drawing/2014/main" id="{D1A1AF67-F125-98DE-CB5E-F50D0B01F4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15F174-594F-0215-89A2-2E5AD1E9D07D}"/>
              </a:ext>
            </a:extLst>
          </p:cNvPr>
          <p:cNvSpPr>
            <a:spLocks noGrp="1"/>
          </p:cNvSpPr>
          <p:nvPr>
            <p:ph type="sldNum" sz="quarter" idx="12"/>
          </p:nvPr>
        </p:nvSpPr>
        <p:spPr/>
        <p:txBody>
          <a:bodyPr/>
          <a:lstStyle/>
          <a:p>
            <a:fld id="{672E2321-9154-4AA3-82C0-AEF1CBDAC5C6}" type="slidenum">
              <a:rPr lang="en-IN" smtClean="0"/>
              <a:t>‹#›</a:t>
            </a:fld>
            <a:endParaRPr lang="en-IN"/>
          </a:p>
        </p:txBody>
      </p:sp>
    </p:spTree>
    <p:extLst>
      <p:ext uri="{BB962C8B-B14F-4D97-AF65-F5344CB8AC3E}">
        <p14:creationId xmlns:p14="http://schemas.microsoft.com/office/powerpoint/2010/main" val="20702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B400F0-1B14-5D8D-C4BC-D26F02AA0CF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F689DA-50AA-9D8C-32B3-2BFD977875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3791FF-E1D8-822C-4B8F-BEE942E05EAD}"/>
              </a:ext>
            </a:extLst>
          </p:cNvPr>
          <p:cNvSpPr>
            <a:spLocks noGrp="1"/>
          </p:cNvSpPr>
          <p:nvPr>
            <p:ph type="dt" sz="half" idx="10"/>
          </p:nvPr>
        </p:nvSpPr>
        <p:spPr/>
        <p:txBody>
          <a:bodyPr/>
          <a:lstStyle/>
          <a:p>
            <a:fld id="{FA1D9F8E-DEB9-487D-920A-CEF9A3186930}" type="datetimeFigureOut">
              <a:rPr lang="en-IN" smtClean="0"/>
              <a:t>07-09-2026</a:t>
            </a:fld>
            <a:endParaRPr lang="en-IN"/>
          </a:p>
        </p:txBody>
      </p:sp>
      <p:sp>
        <p:nvSpPr>
          <p:cNvPr id="5" name="Footer Placeholder 4">
            <a:extLst>
              <a:ext uri="{FF2B5EF4-FFF2-40B4-BE49-F238E27FC236}">
                <a16:creationId xmlns:a16="http://schemas.microsoft.com/office/drawing/2014/main" id="{02E5D092-1458-3A60-4F00-23BE895D28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FE7A3D-2490-B619-59ED-78F98B268A17}"/>
              </a:ext>
            </a:extLst>
          </p:cNvPr>
          <p:cNvSpPr>
            <a:spLocks noGrp="1"/>
          </p:cNvSpPr>
          <p:nvPr>
            <p:ph type="sldNum" sz="quarter" idx="12"/>
          </p:nvPr>
        </p:nvSpPr>
        <p:spPr/>
        <p:txBody>
          <a:bodyPr/>
          <a:lstStyle/>
          <a:p>
            <a:fld id="{672E2321-9154-4AA3-82C0-AEF1CBDAC5C6}" type="slidenum">
              <a:rPr lang="en-IN" smtClean="0"/>
              <a:t>‹#›</a:t>
            </a:fld>
            <a:endParaRPr lang="en-IN"/>
          </a:p>
        </p:txBody>
      </p:sp>
    </p:spTree>
    <p:extLst>
      <p:ext uri="{BB962C8B-B14F-4D97-AF65-F5344CB8AC3E}">
        <p14:creationId xmlns:p14="http://schemas.microsoft.com/office/powerpoint/2010/main" val="2957532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68842F-38DF-A2B3-05E1-70FC5D000E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ED2986-4EBF-D7C6-80D1-0717D7BA1E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F6D749-0631-E9DC-C090-75879299A2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A1D9F8E-DEB9-487D-920A-CEF9A3186930}" type="datetimeFigureOut">
              <a:rPr lang="en-IN" smtClean="0"/>
              <a:t>07-09-2026</a:t>
            </a:fld>
            <a:endParaRPr lang="en-IN"/>
          </a:p>
        </p:txBody>
      </p:sp>
      <p:sp>
        <p:nvSpPr>
          <p:cNvPr id="5" name="Footer Placeholder 4">
            <a:extLst>
              <a:ext uri="{FF2B5EF4-FFF2-40B4-BE49-F238E27FC236}">
                <a16:creationId xmlns:a16="http://schemas.microsoft.com/office/drawing/2014/main" id="{4F5BB514-651D-D331-ED69-36A4BCD2DF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190289C-4617-40D3-CBDE-73F3514677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72E2321-9154-4AA3-82C0-AEF1CBDAC5C6}" type="slidenum">
              <a:rPr lang="en-IN" smtClean="0"/>
              <a:t>‹#›</a:t>
            </a:fld>
            <a:endParaRPr lang="en-IN"/>
          </a:p>
        </p:txBody>
      </p:sp>
    </p:spTree>
    <p:extLst>
      <p:ext uri="{BB962C8B-B14F-4D97-AF65-F5344CB8AC3E}">
        <p14:creationId xmlns:p14="http://schemas.microsoft.com/office/powerpoint/2010/main" val="13606635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406400" y="304800"/>
            <a:ext cx="8636000" cy="241300"/>
          </a:xfrm>
          <a:prstGeom prst="rect">
            <a:avLst/>
          </a:prstGeom>
          <a:noFill/>
          <a:ln>
            <a:noFill/>
          </a:ln>
        </p:spPr>
        <p:txBody>
          <a:bodyPr wrap="none" lIns="0" tIns="0" rIns="0" bIns="0" anchor="t">
            <a:noAutofit/>
          </a:bodyPr>
          <a:lstStyle/>
          <a:p>
            <a:pPr algn="l">
              <a:lnSpc>
                <a:spcPts val="1254"/>
              </a:lnSpc>
              <a:spcAft>
                <a:spcPts val="0"/>
              </a:spcAft>
            </a:pPr>
            <a:r>
              <a:rPr lang="en-US" sz="1100" b="1" dirty="0">
                <a:solidFill>
                  <a:srgbClr val="FF4F59"/>
                </a:solidFill>
                <a:latin typeface="Funnel Sans"/>
              </a:rPr>
              <a:t>DATA WORKBENCH / DIAGNOSTICS</a:t>
            </a:r>
            <a:endParaRPr lang="en-US" sz="1100"/>
          </a:p>
        </p:txBody>
      </p:sp>
      <p:sp>
        <p:nvSpPr>
          <p:cNvPr id="4" name="text 4"/>
          <p:cNvSpPr/>
          <p:nvPr/>
        </p:nvSpPr>
        <p:spPr>
          <a:xfrm>
            <a:off x="406400" y="787400"/>
            <a:ext cx="11379200" cy="698500"/>
          </a:xfrm>
          <a:prstGeom prst="rect">
            <a:avLst/>
          </a:prstGeom>
          <a:noFill/>
          <a:ln>
            <a:noFill/>
          </a:ln>
        </p:spPr>
        <p:txBody>
          <a:bodyPr wrap="none" lIns="0" tIns="0" rIns="0" bIns="0" anchor="t">
            <a:noAutofit/>
          </a:bodyPr>
          <a:lstStyle/>
          <a:p>
            <a:pPr algn="l">
              <a:lnSpc>
                <a:spcPts val="4446"/>
              </a:lnSpc>
              <a:spcAft>
                <a:spcPts val="0"/>
              </a:spcAft>
            </a:pPr>
            <a:r>
              <a:rPr lang="en-US" sz="3900" b="1" dirty="0">
                <a:solidFill>
                  <a:srgbClr val="181C23"/>
                </a:solidFill>
                <a:latin typeface="Funnel Sans"/>
              </a:rPr>
              <a:t>One diagnostic. One page.</a:t>
            </a:r>
            <a:endParaRPr lang="en-US" sz="3900"/>
          </a:p>
        </p:txBody>
      </p:sp>
      <p:sp>
        <p:nvSpPr>
          <p:cNvPr id="5" name="text 5"/>
          <p:cNvSpPr/>
          <p:nvPr/>
        </p:nvSpPr>
        <p:spPr>
          <a:xfrm>
            <a:off x="431800" y="1600200"/>
            <a:ext cx="11239500" cy="3810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6D706B"/>
                </a:solidFill>
                <a:latin typeface="Funnel Sans"/>
              </a:rPr>
              <a:t>Purpose, inputs, evidence and workflow — compressed into editable cards and pills.</a:t>
            </a:r>
            <a:endParaRPr lang="en-US" sz="1700"/>
          </a:p>
        </p:txBody>
      </p:sp>
      <p:sp>
        <p:nvSpPr>
          <p:cNvPr id="6" name="shape 6"/>
          <p:cNvSpPr/>
          <p:nvPr/>
        </p:nvSpPr>
        <p:spPr>
          <a:xfrm>
            <a:off x="406400" y="2222500"/>
            <a:ext cx="2603500" cy="292100"/>
          </a:xfrm>
          <a:prstGeom prst="roundRect">
            <a:avLst/>
          </a:prstGeom>
          <a:solidFill>
            <a:srgbClr val="EFEEE9"/>
          </a:solidFill>
          <a:ln>
            <a:noFill/>
          </a:ln>
        </p:spPr>
      </p:sp>
      <p:sp>
        <p:nvSpPr>
          <p:cNvPr id="7" name="text 7"/>
          <p:cNvSpPr/>
          <p:nvPr/>
        </p:nvSpPr>
        <p:spPr>
          <a:xfrm>
            <a:off x="520700" y="2286000"/>
            <a:ext cx="23749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181C23"/>
                </a:solidFill>
                <a:latin typeface="Funnel Sans"/>
              </a:rPr>
              <a:t>20 numbered diagnostics</a:t>
            </a:r>
            <a:endParaRPr lang="en-US" sz="1000"/>
          </a:p>
        </p:txBody>
      </p:sp>
      <p:sp>
        <p:nvSpPr>
          <p:cNvPr id="8" name="shape 8"/>
          <p:cNvSpPr/>
          <p:nvPr/>
        </p:nvSpPr>
        <p:spPr>
          <a:xfrm>
            <a:off x="3149600" y="2222500"/>
            <a:ext cx="2349500" cy="292100"/>
          </a:xfrm>
          <a:prstGeom prst="roundRect">
            <a:avLst/>
          </a:prstGeom>
          <a:solidFill>
            <a:srgbClr val="EFEEE9"/>
          </a:solidFill>
          <a:ln>
            <a:noFill/>
          </a:ln>
        </p:spPr>
      </p:sp>
      <p:sp>
        <p:nvSpPr>
          <p:cNvPr id="9" name="text 9"/>
          <p:cNvSpPr/>
          <p:nvPr/>
        </p:nvSpPr>
        <p:spPr>
          <a:xfrm>
            <a:off x="3263900" y="2286000"/>
            <a:ext cx="21209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181C23"/>
                </a:solidFill>
                <a:latin typeface="Funnel Sans"/>
              </a:rPr>
              <a:t>1 supporting analysis</a:t>
            </a:r>
            <a:endParaRPr lang="en-US" sz="1000"/>
          </a:p>
        </p:txBody>
      </p:sp>
      <p:sp>
        <p:nvSpPr>
          <p:cNvPr id="10" name="shape 10"/>
          <p:cNvSpPr/>
          <p:nvPr/>
        </p:nvSpPr>
        <p:spPr>
          <a:xfrm>
            <a:off x="5638800" y="2222500"/>
            <a:ext cx="2743200" cy="292100"/>
          </a:xfrm>
          <a:prstGeom prst="roundRect">
            <a:avLst/>
          </a:prstGeom>
          <a:solidFill>
            <a:srgbClr val="EFEEE9"/>
          </a:solidFill>
          <a:ln>
            <a:noFill/>
          </a:ln>
        </p:spPr>
      </p:sp>
      <p:sp>
        <p:nvSpPr>
          <p:cNvPr id="11" name="text 11"/>
          <p:cNvSpPr/>
          <p:nvPr/>
        </p:nvSpPr>
        <p:spPr>
          <a:xfrm>
            <a:off x="5753100" y="2286000"/>
            <a:ext cx="25146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181C23"/>
                </a:solidFill>
                <a:latin typeface="Funnel Sans"/>
              </a:rPr>
              <a:t>Detail + sources in notes</a:t>
            </a:r>
            <a:endParaRPr lang="en-US" sz="1000"/>
          </a:p>
        </p:txBody>
      </p:sp>
      <p:sp>
        <p:nvSpPr>
          <p:cNvPr id="12" name="shape 12"/>
          <p:cNvSpPr/>
          <p:nvPr/>
        </p:nvSpPr>
        <p:spPr>
          <a:xfrm>
            <a:off x="8521700" y="2222500"/>
            <a:ext cx="3263900" cy="292100"/>
          </a:xfrm>
          <a:prstGeom prst="roundRect">
            <a:avLst/>
          </a:prstGeom>
          <a:solidFill>
            <a:srgbClr val="EFEEE9"/>
          </a:solidFill>
          <a:ln>
            <a:noFill/>
          </a:ln>
        </p:spPr>
      </p:sp>
      <p:sp>
        <p:nvSpPr>
          <p:cNvPr id="13" name="text 13"/>
          <p:cNvSpPr/>
          <p:nvPr/>
        </p:nvSpPr>
        <p:spPr>
          <a:xfrm>
            <a:off x="8636000" y="2286000"/>
            <a:ext cx="30353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181C23"/>
                </a:solidFill>
                <a:latin typeface="Funnel Sans"/>
              </a:rPr>
              <a:t>Repository baseline 0.5.2</a:t>
            </a:r>
            <a:endParaRPr lang="en-US" sz="1000"/>
          </a:p>
        </p:txBody>
      </p:sp>
      <p:sp>
        <p:nvSpPr>
          <p:cNvPr id="14" name="shape 14"/>
          <p:cNvSpPr/>
          <p:nvPr/>
        </p:nvSpPr>
        <p:spPr>
          <a:xfrm>
            <a:off x="406400" y="2819400"/>
            <a:ext cx="3632200" cy="3429000"/>
          </a:xfrm>
          <a:prstGeom prst="roundRect">
            <a:avLst/>
          </a:prstGeom>
          <a:solidFill>
            <a:srgbClr val="FFFFFF"/>
          </a:solidFill>
          <a:ln w="12700">
            <a:solidFill>
              <a:srgbClr val="DEDCD6"/>
            </a:solidFill>
          </a:ln>
        </p:spPr>
      </p:sp>
      <p:sp>
        <p:nvSpPr>
          <p:cNvPr id="15" name="shape 15"/>
          <p:cNvSpPr/>
          <p:nvPr/>
        </p:nvSpPr>
        <p:spPr>
          <a:xfrm>
            <a:off x="4279900" y="2819400"/>
            <a:ext cx="3632200" cy="3429000"/>
          </a:xfrm>
          <a:prstGeom prst="roundRect">
            <a:avLst/>
          </a:prstGeom>
          <a:solidFill>
            <a:srgbClr val="FFF2DF"/>
          </a:solidFill>
          <a:ln w="12700">
            <a:solidFill>
              <a:srgbClr val="DEDCD6"/>
            </a:solidFill>
          </a:ln>
        </p:spPr>
      </p:sp>
      <p:sp>
        <p:nvSpPr>
          <p:cNvPr id="16" name="shape 16"/>
          <p:cNvSpPr/>
          <p:nvPr/>
        </p:nvSpPr>
        <p:spPr>
          <a:xfrm>
            <a:off x="8153400" y="2819400"/>
            <a:ext cx="3632200" cy="3429000"/>
          </a:xfrm>
          <a:prstGeom prst="roundRect">
            <a:avLst/>
          </a:prstGeom>
          <a:solidFill>
            <a:srgbClr val="FFFFFF"/>
          </a:solidFill>
          <a:ln w="12700">
            <a:solidFill>
              <a:srgbClr val="DEDCD6"/>
            </a:solidFill>
          </a:ln>
        </p:spPr>
      </p:sp>
      <p:sp>
        <p:nvSpPr>
          <p:cNvPr id="17" name="text 17"/>
          <p:cNvSpPr/>
          <p:nvPr/>
        </p:nvSpPr>
        <p:spPr>
          <a:xfrm>
            <a:off x="584200" y="2997200"/>
            <a:ext cx="3251200" cy="228600"/>
          </a:xfrm>
          <a:prstGeom prst="rect">
            <a:avLst/>
          </a:prstGeom>
          <a:noFill/>
          <a:ln>
            <a:noFill/>
          </a:ln>
        </p:spPr>
        <p:txBody>
          <a:bodyPr wrap="none" lIns="0" tIns="0" rIns="0" bIns="0" anchor="t">
            <a:noAutofit/>
          </a:bodyPr>
          <a:lstStyle/>
          <a:p>
            <a:pPr algn="l">
              <a:lnSpc>
                <a:spcPts val="1254"/>
              </a:lnSpc>
              <a:spcAft>
                <a:spcPts val="0"/>
              </a:spcAft>
            </a:pPr>
            <a:r>
              <a:rPr lang="en-US" sz="1100" b="1" dirty="0">
                <a:solidFill>
                  <a:srgbClr val="276B57"/>
                </a:solidFill>
                <a:latin typeface="Funnel Sans"/>
              </a:rPr>
              <a:t>IMPLEMENTED</a:t>
            </a:r>
            <a:endParaRPr lang="en-US" sz="1100"/>
          </a:p>
        </p:txBody>
      </p:sp>
      <p:sp>
        <p:nvSpPr>
          <p:cNvPr id="18" name="text 18"/>
          <p:cNvSpPr/>
          <p:nvPr/>
        </p:nvSpPr>
        <p:spPr>
          <a:xfrm>
            <a:off x="4457700" y="2997200"/>
            <a:ext cx="3251200" cy="228600"/>
          </a:xfrm>
          <a:prstGeom prst="rect">
            <a:avLst/>
          </a:prstGeom>
          <a:noFill/>
          <a:ln>
            <a:noFill/>
          </a:ln>
        </p:spPr>
        <p:txBody>
          <a:bodyPr wrap="none" lIns="0" tIns="0" rIns="0" bIns="0" anchor="t">
            <a:noAutofit/>
          </a:bodyPr>
          <a:lstStyle/>
          <a:p>
            <a:pPr algn="l">
              <a:lnSpc>
                <a:spcPts val="1254"/>
              </a:lnSpc>
              <a:spcAft>
                <a:spcPts val="0"/>
              </a:spcAft>
            </a:pPr>
            <a:r>
              <a:rPr lang="en-US" sz="1100" b="1" dirty="0">
                <a:solidFill>
                  <a:srgbClr val="98641E"/>
                </a:solidFill>
                <a:latin typeface="Funnel Sans"/>
              </a:rPr>
              <a:t>REGISTERED · PLANNED</a:t>
            </a:r>
            <a:endParaRPr lang="en-US" sz="1100"/>
          </a:p>
        </p:txBody>
      </p:sp>
      <p:sp>
        <p:nvSpPr>
          <p:cNvPr id="19" name="text 19"/>
          <p:cNvSpPr/>
          <p:nvPr/>
        </p:nvSpPr>
        <p:spPr>
          <a:xfrm>
            <a:off x="8331200" y="2997200"/>
            <a:ext cx="3251200" cy="228600"/>
          </a:xfrm>
          <a:prstGeom prst="rect">
            <a:avLst/>
          </a:prstGeom>
          <a:noFill/>
          <a:ln>
            <a:noFill/>
          </a:ln>
        </p:spPr>
        <p:txBody>
          <a:bodyPr wrap="none" lIns="0" tIns="0" rIns="0" bIns="0" anchor="t">
            <a:noAutofit/>
          </a:bodyPr>
          <a:lstStyle/>
          <a:p>
            <a:pPr algn="l">
              <a:lnSpc>
                <a:spcPts val="1254"/>
              </a:lnSpc>
              <a:spcAft>
                <a:spcPts val="0"/>
              </a:spcAft>
            </a:pPr>
            <a:r>
              <a:rPr lang="en-US" sz="1100" b="1" dirty="0">
                <a:solidFill>
                  <a:srgbClr val="6D706B"/>
                </a:solidFill>
                <a:latin typeface="Funnel Sans"/>
              </a:rPr>
              <a:t>DEFERRED · PROPOSED</a:t>
            </a:r>
            <a:endParaRPr lang="en-US" sz="1100"/>
          </a:p>
        </p:txBody>
      </p:sp>
      <p:sp>
        <p:nvSpPr>
          <p:cNvPr id="20" name="text 20"/>
          <p:cNvSpPr/>
          <p:nvPr/>
        </p:nvSpPr>
        <p:spPr>
          <a:xfrm>
            <a:off x="584200" y="3429000"/>
            <a:ext cx="2870200" cy="2413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D02 Target separation</a:t>
            </a:r>
            <a:endParaRPr lang="en-US" sz="1250"/>
          </a:p>
        </p:txBody>
      </p:sp>
      <p:sp>
        <p:nvSpPr>
          <p:cNvPr id="21" name="text 21"/>
          <p:cNvSpPr/>
          <p:nvPr/>
        </p:nvSpPr>
        <p:spPr>
          <a:xfrm>
            <a:off x="3505200" y="3429000"/>
            <a:ext cx="330200" cy="228600"/>
          </a:xfrm>
          <a:prstGeom prst="rect">
            <a:avLst/>
          </a:prstGeom>
          <a:noFill/>
          <a:ln>
            <a:noFill/>
          </a:ln>
        </p:spPr>
        <p:txBody>
          <a:bodyPr wrap="none" lIns="0" tIns="0" rIns="0" bIns="0" anchor="t">
            <a:noAutofit/>
          </a:bodyPr>
          <a:lstStyle/>
          <a:p>
            <a:pPr algn="r">
              <a:lnSpc>
                <a:spcPts val="1254"/>
              </a:lnSpc>
              <a:spcAft>
                <a:spcPts val="0"/>
              </a:spcAft>
            </a:pPr>
            <a:r>
              <a:rPr lang="en-US" sz="1100" b="0" dirty="0">
                <a:solidFill>
                  <a:srgbClr val="6D706B"/>
                </a:solidFill>
                <a:latin typeface="Funnel Sans"/>
              </a:rPr>
              <a:t>02</a:t>
            </a:r>
            <a:endParaRPr lang="en-US" sz="1100"/>
          </a:p>
        </p:txBody>
      </p:sp>
      <p:sp>
        <p:nvSpPr>
          <p:cNvPr id="22" name="text 22"/>
          <p:cNvSpPr/>
          <p:nvPr/>
        </p:nvSpPr>
        <p:spPr>
          <a:xfrm>
            <a:off x="584200" y="3784600"/>
            <a:ext cx="2870200" cy="2413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D04 Business rules · paused</a:t>
            </a:r>
            <a:endParaRPr lang="en-US" sz="1250"/>
          </a:p>
        </p:txBody>
      </p:sp>
      <p:sp>
        <p:nvSpPr>
          <p:cNvPr id="23" name="text 23"/>
          <p:cNvSpPr/>
          <p:nvPr/>
        </p:nvSpPr>
        <p:spPr>
          <a:xfrm>
            <a:off x="3505200" y="3784600"/>
            <a:ext cx="330200" cy="228600"/>
          </a:xfrm>
          <a:prstGeom prst="rect">
            <a:avLst/>
          </a:prstGeom>
          <a:noFill/>
          <a:ln>
            <a:noFill/>
          </a:ln>
        </p:spPr>
        <p:txBody>
          <a:bodyPr wrap="none" lIns="0" tIns="0" rIns="0" bIns="0" anchor="t">
            <a:noAutofit/>
          </a:bodyPr>
          <a:lstStyle/>
          <a:p>
            <a:pPr algn="r">
              <a:lnSpc>
                <a:spcPts val="1254"/>
              </a:lnSpc>
              <a:spcAft>
                <a:spcPts val="0"/>
              </a:spcAft>
            </a:pPr>
            <a:r>
              <a:rPr lang="en-US" sz="1100" b="0" dirty="0">
                <a:solidFill>
                  <a:srgbClr val="6D706B"/>
                </a:solidFill>
                <a:latin typeface="Funnel Sans"/>
              </a:rPr>
              <a:t>03</a:t>
            </a:r>
            <a:endParaRPr lang="en-US" sz="1100"/>
          </a:p>
        </p:txBody>
      </p:sp>
      <p:sp>
        <p:nvSpPr>
          <p:cNvPr id="24" name="text 24"/>
          <p:cNvSpPr/>
          <p:nvPr/>
        </p:nvSpPr>
        <p:spPr>
          <a:xfrm>
            <a:off x="584200" y="4140200"/>
            <a:ext cx="2870200" cy="2413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D06 Row completeness</a:t>
            </a:r>
            <a:endParaRPr lang="en-US" sz="1250"/>
          </a:p>
        </p:txBody>
      </p:sp>
      <p:sp>
        <p:nvSpPr>
          <p:cNvPr id="25" name="text 25"/>
          <p:cNvSpPr/>
          <p:nvPr/>
        </p:nvSpPr>
        <p:spPr>
          <a:xfrm>
            <a:off x="3505200" y="4140200"/>
            <a:ext cx="330200" cy="228600"/>
          </a:xfrm>
          <a:prstGeom prst="rect">
            <a:avLst/>
          </a:prstGeom>
          <a:noFill/>
          <a:ln>
            <a:noFill/>
          </a:ln>
        </p:spPr>
        <p:txBody>
          <a:bodyPr wrap="none" lIns="0" tIns="0" rIns="0" bIns="0" anchor="t">
            <a:noAutofit/>
          </a:bodyPr>
          <a:lstStyle/>
          <a:p>
            <a:pPr algn="r">
              <a:lnSpc>
                <a:spcPts val="1254"/>
              </a:lnSpc>
              <a:spcAft>
                <a:spcPts val="0"/>
              </a:spcAft>
            </a:pPr>
            <a:r>
              <a:rPr lang="en-US" sz="1100" b="0" dirty="0">
                <a:solidFill>
                  <a:srgbClr val="6D706B"/>
                </a:solidFill>
                <a:latin typeface="Funnel Sans"/>
              </a:rPr>
              <a:t>04</a:t>
            </a:r>
            <a:endParaRPr lang="en-US" sz="1100"/>
          </a:p>
        </p:txBody>
      </p:sp>
      <p:sp>
        <p:nvSpPr>
          <p:cNvPr id="26" name="text 26"/>
          <p:cNvSpPr/>
          <p:nvPr/>
        </p:nvSpPr>
        <p:spPr>
          <a:xfrm>
            <a:off x="584200" y="4495800"/>
            <a:ext cx="2870200" cy="2413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D08 Value semantics</a:t>
            </a:r>
            <a:endParaRPr lang="en-US" sz="1250"/>
          </a:p>
        </p:txBody>
      </p:sp>
      <p:sp>
        <p:nvSpPr>
          <p:cNvPr id="27" name="text 27"/>
          <p:cNvSpPr/>
          <p:nvPr/>
        </p:nvSpPr>
        <p:spPr>
          <a:xfrm>
            <a:off x="3505200" y="4495800"/>
            <a:ext cx="330200" cy="228600"/>
          </a:xfrm>
          <a:prstGeom prst="rect">
            <a:avLst/>
          </a:prstGeom>
          <a:noFill/>
          <a:ln>
            <a:noFill/>
          </a:ln>
        </p:spPr>
        <p:txBody>
          <a:bodyPr wrap="none" lIns="0" tIns="0" rIns="0" bIns="0" anchor="t">
            <a:noAutofit/>
          </a:bodyPr>
          <a:lstStyle/>
          <a:p>
            <a:pPr algn="r">
              <a:lnSpc>
                <a:spcPts val="1254"/>
              </a:lnSpc>
              <a:spcAft>
                <a:spcPts val="0"/>
              </a:spcAft>
            </a:pPr>
            <a:r>
              <a:rPr lang="en-US" sz="1100" b="0" dirty="0">
                <a:solidFill>
                  <a:srgbClr val="6D706B"/>
                </a:solidFill>
                <a:latin typeface="Funnel Sans"/>
              </a:rPr>
              <a:t>05</a:t>
            </a:r>
            <a:endParaRPr lang="en-US" sz="1100"/>
          </a:p>
        </p:txBody>
      </p:sp>
      <p:sp>
        <p:nvSpPr>
          <p:cNvPr id="28" name="text 28"/>
          <p:cNvSpPr/>
          <p:nvPr/>
        </p:nvSpPr>
        <p:spPr>
          <a:xfrm>
            <a:off x="584200" y="4851400"/>
            <a:ext cx="2870200" cy="2413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D11 Directional consistency</a:t>
            </a:r>
            <a:endParaRPr lang="en-US" sz="1250"/>
          </a:p>
        </p:txBody>
      </p:sp>
      <p:sp>
        <p:nvSpPr>
          <p:cNvPr id="29" name="text 29"/>
          <p:cNvSpPr/>
          <p:nvPr/>
        </p:nvSpPr>
        <p:spPr>
          <a:xfrm>
            <a:off x="3505200" y="4851400"/>
            <a:ext cx="330200" cy="228600"/>
          </a:xfrm>
          <a:prstGeom prst="rect">
            <a:avLst/>
          </a:prstGeom>
          <a:noFill/>
          <a:ln>
            <a:noFill/>
          </a:ln>
        </p:spPr>
        <p:txBody>
          <a:bodyPr wrap="none" lIns="0" tIns="0" rIns="0" bIns="0" anchor="t">
            <a:noAutofit/>
          </a:bodyPr>
          <a:lstStyle/>
          <a:p>
            <a:pPr algn="r">
              <a:lnSpc>
                <a:spcPts val="1254"/>
              </a:lnSpc>
              <a:spcAft>
                <a:spcPts val="0"/>
              </a:spcAft>
            </a:pPr>
            <a:r>
              <a:rPr lang="en-US" sz="1100" b="0" dirty="0">
                <a:solidFill>
                  <a:srgbClr val="6D706B"/>
                </a:solidFill>
                <a:latin typeface="Funnel Sans"/>
              </a:rPr>
              <a:t>06</a:t>
            </a:r>
            <a:endParaRPr lang="en-US" sz="1100"/>
          </a:p>
        </p:txBody>
      </p:sp>
      <p:sp>
        <p:nvSpPr>
          <p:cNvPr id="30" name="text 30"/>
          <p:cNvSpPr/>
          <p:nvPr/>
        </p:nvSpPr>
        <p:spPr>
          <a:xfrm>
            <a:off x="584200" y="5207000"/>
            <a:ext cx="2870200" cy="2413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D14 Population stability</a:t>
            </a:r>
            <a:endParaRPr lang="en-US" sz="1250"/>
          </a:p>
        </p:txBody>
      </p:sp>
      <p:sp>
        <p:nvSpPr>
          <p:cNvPr id="31" name="text 31"/>
          <p:cNvSpPr/>
          <p:nvPr/>
        </p:nvSpPr>
        <p:spPr>
          <a:xfrm>
            <a:off x="3505200" y="5207000"/>
            <a:ext cx="330200" cy="228600"/>
          </a:xfrm>
          <a:prstGeom prst="rect">
            <a:avLst/>
          </a:prstGeom>
          <a:noFill/>
          <a:ln>
            <a:noFill/>
          </a:ln>
        </p:spPr>
        <p:txBody>
          <a:bodyPr wrap="none" lIns="0" tIns="0" rIns="0" bIns="0" anchor="t">
            <a:noAutofit/>
          </a:bodyPr>
          <a:lstStyle/>
          <a:p>
            <a:pPr algn="r">
              <a:lnSpc>
                <a:spcPts val="1254"/>
              </a:lnSpc>
              <a:spcAft>
                <a:spcPts val="0"/>
              </a:spcAft>
            </a:pPr>
            <a:r>
              <a:rPr lang="en-US" sz="1100" b="0" dirty="0">
                <a:solidFill>
                  <a:srgbClr val="6D706B"/>
                </a:solidFill>
                <a:latin typeface="Funnel Sans"/>
              </a:rPr>
              <a:t>07</a:t>
            </a:r>
            <a:endParaRPr lang="en-US" sz="1100"/>
          </a:p>
        </p:txBody>
      </p:sp>
      <p:sp>
        <p:nvSpPr>
          <p:cNvPr id="32" name="text 32"/>
          <p:cNvSpPr/>
          <p:nvPr/>
        </p:nvSpPr>
        <p:spPr>
          <a:xfrm>
            <a:off x="584200" y="5562600"/>
            <a:ext cx="2870200" cy="2413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SUP Missingness Mechanism</a:t>
            </a:r>
            <a:endParaRPr lang="en-US" sz="1250"/>
          </a:p>
        </p:txBody>
      </p:sp>
      <p:sp>
        <p:nvSpPr>
          <p:cNvPr id="33" name="text 33"/>
          <p:cNvSpPr/>
          <p:nvPr/>
        </p:nvSpPr>
        <p:spPr>
          <a:xfrm>
            <a:off x="3505200" y="5562600"/>
            <a:ext cx="330200" cy="228600"/>
          </a:xfrm>
          <a:prstGeom prst="rect">
            <a:avLst/>
          </a:prstGeom>
          <a:noFill/>
          <a:ln>
            <a:noFill/>
          </a:ln>
        </p:spPr>
        <p:txBody>
          <a:bodyPr wrap="none" lIns="0" tIns="0" rIns="0" bIns="0" anchor="t">
            <a:noAutofit/>
          </a:bodyPr>
          <a:lstStyle/>
          <a:p>
            <a:pPr algn="r">
              <a:lnSpc>
                <a:spcPts val="1254"/>
              </a:lnSpc>
              <a:spcAft>
                <a:spcPts val="0"/>
              </a:spcAft>
            </a:pPr>
            <a:r>
              <a:rPr lang="en-US" sz="1100" b="0" dirty="0">
                <a:solidFill>
                  <a:srgbClr val="6D706B"/>
                </a:solidFill>
                <a:latin typeface="Funnel Sans"/>
              </a:rPr>
              <a:t>08</a:t>
            </a:r>
            <a:endParaRPr lang="en-US" sz="1100"/>
          </a:p>
        </p:txBody>
      </p:sp>
      <p:sp>
        <p:nvSpPr>
          <p:cNvPr id="34" name="text 34"/>
          <p:cNvSpPr/>
          <p:nvPr/>
        </p:nvSpPr>
        <p:spPr>
          <a:xfrm>
            <a:off x="4457700" y="3429000"/>
            <a:ext cx="2870200" cy="2413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D12 Label consistency</a:t>
            </a:r>
            <a:endParaRPr lang="en-US" sz="1250"/>
          </a:p>
        </p:txBody>
      </p:sp>
      <p:sp>
        <p:nvSpPr>
          <p:cNvPr id="35" name="text 35"/>
          <p:cNvSpPr/>
          <p:nvPr/>
        </p:nvSpPr>
        <p:spPr>
          <a:xfrm>
            <a:off x="7378700" y="3429000"/>
            <a:ext cx="330200" cy="228600"/>
          </a:xfrm>
          <a:prstGeom prst="rect">
            <a:avLst/>
          </a:prstGeom>
          <a:noFill/>
          <a:ln>
            <a:noFill/>
          </a:ln>
        </p:spPr>
        <p:txBody>
          <a:bodyPr wrap="none" lIns="0" tIns="0" rIns="0" bIns="0" anchor="t">
            <a:noAutofit/>
          </a:bodyPr>
          <a:lstStyle/>
          <a:p>
            <a:pPr algn="r">
              <a:lnSpc>
                <a:spcPts val="1254"/>
              </a:lnSpc>
              <a:spcAft>
                <a:spcPts val="0"/>
              </a:spcAft>
            </a:pPr>
            <a:r>
              <a:rPr lang="en-US" sz="1100" b="0" dirty="0">
                <a:solidFill>
                  <a:srgbClr val="6D706B"/>
                </a:solidFill>
                <a:latin typeface="Funnel Sans"/>
              </a:rPr>
              <a:t>09</a:t>
            </a:r>
            <a:endParaRPr lang="en-US" sz="1100"/>
          </a:p>
        </p:txBody>
      </p:sp>
      <p:sp>
        <p:nvSpPr>
          <p:cNvPr id="36" name="text 36"/>
          <p:cNvSpPr/>
          <p:nvPr/>
        </p:nvSpPr>
        <p:spPr>
          <a:xfrm>
            <a:off x="4457700" y="3784600"/>
            <a:ext cx="2870200" cy="2413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D17 Resolution rate</a:t>
            </a:r>
            <a:endParaRPr lang="en-US" sz="1250"/>
          </a:p>
        </p:txBody>
      </p:sp>
      <p:sp>
        <p:nvSpPr>
          <p:cNvPr id="37" name="text 37"/>
          <p:cNvSpPr/>
          <p:nvPr/>
        </p:nvSpPr>
        <p:spPr>
          <a:xfrm>
            <a:off x="7378700" y="3784600"/>
            <a:ext cx="330200" cy="228600"/>
          </a:xfrm>
          <a:prstGeom prst="rect">
            <a:avLst/>
          </a:prstGeom>
          <a:noFill/>
          <a:ln>
            <a:noFill/>
          </a:ln>
        </p:spPr>
        <p:txBody>
          <a:bodyPr wrap="none" lIns="0" tIns="0" rIns="0" bIns="0" anchor="t">
            <a:noAutofit/>
          </a:bodyPr>
          <a:lstStyle/>
          <a:p>
            <a:pPr algn="r">
              <a:lnSpc>
                <a:spcPts val="1254"/>
              </a:lnSpc>
              <a:spcAft>
                <a:spcPts val="0"/>
              </a:spcAft>
            </a:pPr>
            <a:r>
              <a:rPr lang="en-US" sz="1100" b="0" dirty="0">
                <a:solidFill>
                  <a:srgbClr val="6D706B"/>
                </a:solidFill>
                <a:latin typeface="Funnel Sans"/>
              </a:rPr>
              <a:t>10</a:t>
            </a:r>
            <a:endParaRPr lang="en-US" sz="1100"/>
          </a:p>
        </p:txBody>
      </p:sp>
      <p:sp>
        <p:nvSpPr>
          <p:cNvPr id="38" name="text 38"/>
          <p:cNvSpPr/>
          <p:nvPr/>
        </p:nvSpPr>
        <p:spPr>
          <a:xfrm>
            <a:off x="4457700" y="4140200"/>
            <a:ext cx="2870200" cy="2413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D20 AI proposals</a:t>
            </a:r>
            <a:endParaRPr lang="en-US" sz="1250"/>
          </a:p>
        </p:txBody>
      </p:sp>
      <p:sp>
        <p:nvSpPr>
          <p:cNvPr id="39" name="text 39"/>
          <p:cNvSpPr/>
          <p:nvPr/>
        </p:nvSpPr>
        <p:spPr>
          <a:xfrm>
            <a:off x="7378700" y="4140200"/>
            <a:ext cx="330200" cy="228600"/>
          </a:xfrm>
          <a:prstGeom prst="rect">
            <a:avLst/>
          </a:prstGeom>
          <a:noFill/>
          <a:ln>
            <a:noFill/>
          </a:ln>
        </p:spPr>
        <p:txBody>
          <a:bodyPr wrap="none" lIns="0" tIns="0" rIns="0" bIns="0" anchor="t">
            <a:noAutofit/>
          </a:bodyPr>
          <a:lstStyle/>
          <a:p>
            <a:pPr algn="r">
              <a:lnSpc>
                <a:spcPts val="1254"/>
              </a:lnSpc>
              <a:spcAft>
                <a:spcPts val="0"/>
              </a:spcAft>
            </a:pPr>
            <a:r>
              <a:rPr lang="en-US" sz="1100" b="0" dirty="0">
                <a:solidFill>
                  <a:srgbClr val="6D706B"/>
                </a:solidFill>
                <a:latin typeface="Funnel Sans"/>
              </a:rPr>
              <a:t>11</a:t>
            </a:r>
            <a:endParaRPr lang="en-US" sz="1100"/>
          </a:p>
        </p:txBody>
      </p:sp>
      <p:sp>
        <p:nvSpPr>
          <p:cNvPr id="40" name="text 40"/>
          <p:cNvSpPr/>
          <p:nvPr/>
        </p:nvSpPr>
        <p:spPr>
          <a:xfrm>
            <a:off x="8331200" y="3378200"/>
            <a:ext cx="2870200" cy="241300"/>
          </a:xfrm>
          <a:prstGeom prst="rect">
            <a:avLst/>
          </a:prstGeom>
          <a:noFill/>
          <a:ln>
            <a:noFill/>
          </a:ln>
        </p:spPr>
        <p:txBody>
          <a:bodyPr wrap="none" lIns="0" tIns="0" rIns="0" bIns="0" anchor="t">
            <a:noAutofit/>
          </a:bodyPr>
          <a:lstStyle/>
          <a:p>
            <a:pPr algn="l">
              <a:lnSpc>
                <a:spcPts val="1311"/>
              </a:lnSpc>
              <a:spcAft>
                <a:spcPts val="0"/>
              </a:spcAft>
            </a:pPr>
            <a:r>
              <a:rPr lang="en-US" sz="1150" b="0" dirty="0">
                <a:solidFill>
                  <a:srgbClr val="181C23"/>
                </a:solidFill>
                <a:latin typeface="Funnel Sans"/>
              </a:rPr>
              <a:t>D01 Look-ahead fields</a:t>
            </a:r>
            <a:endParaRPr lang="en-US" sz="1150"/>
          </a:p>
        </p:txBody>
      </p:sp>
      <p:sp>
        <p:nvSpPr>
          <p:cNvPr id="41" name="text 41"/>
          <p:cNvSpPr/>
          <p:nvPr/>
        </p:nvSpPr>
        <p:spPr>
          <a:xfrm>
            <a:off x="11252200" y="3378200"/>
            <a:ext cx="330200" cy="228600"/>
          </a:xfrm>
          <a:prstGeom prst="rect">
            <a:avLst/>
          </a:prstGeom>
          <a:noFill/>
          <a:ln>
            <a:noFill/>
          </a:ln>
        </p:spPr>
        <p:txBody>
          <a:bodyPr wrap="none" lIns="0" tIns="0" rIns="0" bIns="0" anchor="t">
            <a:noAutofit/>
          </a:bodyPr>
          <a:lstStyle/>
          <a:p>
            <a:pPr algn="r">
              <a:lnSpc>
                <a:spcPts val="1254"/>
              </a:lnSpc>
              <a:spcAft>
                <a:spcPts val="0"/>
              </a:spcAft>
            </a:pPr>
            <a:r>
              <a:rPr lang="en-US" sz="1100" b="0" dirty="0">
                <a:solidFill>
                  <a:srgbClr val="6D706B"/>
                </a:solidFill>
                <a:latin typeface="Funnel Sans"/>
              </a:rPr>
              <a:t>12</a:t>
            </a:r>
            <a:endParaRPr lang="en-US" sz="1100"/>
          </a:p>
        </p:txBody>
      </p:sp>
      <p:sp>
        <p:nvSpPr>
          <p:cNvPr id="42" name="text 42"/>
          <p:cNvSpPr/>
          <p:nvPr/>
        </p:nvSpPr>
        <p:spPr>
          <a:xfrm>
            <a:off x="8331200" y="3632200"/>
            <a:ext cx="2870200" cy="241300"/>
          </a:xfrm>
          <a:prstGeom prst="rect">
            <a:avLst/>
          </a:prstGeom>
          <a:noFill/>
          <a:ln>
            <a:noFill/>
          </a:ln>
        </p:spPr>
        <p:txBody>
          <a:bodyPr wrap="none" lIns="0" tIns="0" rIns="0" bIns="0" anchor="t">
            <a:noAutofit/>
          </a:bodyPr>
          <a:lstStyle/>
          <a:p>
            <a:pPr algn="l">
              <a:lnSpc>
                <a:spcPts val="1311"/>
              </a:lnSpc>
              <a:spcAft>
                <a:spcPts val="0"/>
              </a:spcAft>
            </a:pPr>
            <a:r>
              <a:rPr lang="en-US" sz="1150" b="0" dirty="0">
                <a:solidFill>
                  <a:srgbClr val="181C23"/>
                </a:solidFill>
                <a:latin typeface="Funnel Sans"/>
              </a:rPr>
              <a:t>D03 Categorical leakage</a:t>
            </a:r>
            <a:endParaRPr lang="en-US" sz="1150"/>
          </a:p>
        </p:txBody>
      </p:sp>
      <p:sp>
        <p:nvSpPr>
          <p:cNvPr id="43" name="text 43"/>
          <p:cNvSpPr/>
          <p:nvPr/>
        </p:nvSpPr>
        <p:spPr>
          <a:xfrm>
            <a:off x="11252200" y="3632200"/>
            <a:ext cx="330200" cy="228600"/>
          </a:xfrm>
          <a:prstGeom prst="rect">
            <a:avLst/>
          </a:prstGeom>
          <a:noFill/>
          <a:ln>
            <a:noFill/>
          </a:ln>
        </p:spPr>
        <p:txBody>
          <a:bodyPr wrap="none" lIns="0" tIns="0" rIns="0" bIns="0" anchor="t">
            <a:noAutofit/>
          </a:bodyPr>
          <a:lstStyle/>
          <a:p>
            <a:pPr algn="r">
              <a:lnSpc>
                <a:spcPts val="1254"/>
              </a:lnSpc>
              <a:spcAft>
                <a:spcPts val="0"/>
              </a:spcAft>
            </a:pPr>
            <a:r>
              <a:rPr lang="en-US" sz="1100" b="0" dirty="0">
                <a:solidFill>
                  <a:srgbClr val="6D706B"/>
                </a:solidFill>
                <a:latin typeface="Funnel Sans"/>
              </a:rPr>
              <a:t>13</a:t>
            </a:r>
            <a:endParaRPr lang="en-US" sz="1100"/>
          </a:p>
        </p:txBody>
      </p:sp>
      <p:sp>
        <p:nvSpPr>
          <p:cNvPr id="44" name="text 44"/>
          <p:cNvSpPr/>
          <p:nvPr/>
        </p:nvSpPr>
        <p:spPr>
          <a:xfrm>
            <a:off x="8331200" y="3886200"/>
            <a:ext cx="2870200" cy="241300"/>
          </a:xfrm>
          <a:prstGeom prst="rect">
            <a:avLst/>
          </a:prstGeom>
          <a:noFill/>
          <a:ln>
            <a:noFill/>
          </a:ln>
        </p:spPr>
        <p:txBody>
          <a:bodyPr wrap="none" lIns="0" tIns="0" rIns="0" bIns="0" anchor="t">
            <a:noAutofit/>
          </a:bodyPr>
          <a:lstStyle/>
          <a:p>
            <a:pPr algn="l">
              <a:lnSpc>
                <a:spcPts val="1311"/>
              </a:lnSpc>
              <a:spcAft>
                <a:spcPts val="0"/>
              </a:spcAft>
            </a:pPr>
            <a:r>
              <a:rPr lang="en-US" sz="1150" b="0" dirty="0">
                <a:solidFill>
                  <a:srgbClr val="181C23"/>
                </a:solidFill>
                <a:latin typeface="Funnel Sans"/>
              </a:rPr>
              <a:t>D05 Derivation identity</a:t>
            </a:r>
            <a:endParaRPr lang="en-US" sz="1150"/>
          </a:p>
        </p:txBody>
      </p:sp>
      <p:sp>
        <p:nvSpPr>
          <p:cNvPr id="45" name="text 45"/>
          <p:cNvSpPr/>
          <p:nvPr/>
        </p:nvSpPr>
        <p:spPr>
          <a:xfrm>
            <a:off x="11252200" y="3886200"/>
            <a:ext cx="330200" cy="228600"/>
          </a:xfrm>
          <a:prstGeom prst="rect">
            <a:avLst/>
          </a:prstGeom>
          <a:noFill/>
          <a:ln>
            <a:noFill/>
          </a:ln>
        </p:spPr>
        <p:txBody>
          <a:bodyPr wrap="none" lIns="0" tIns="0" rIns="0" bIns="0" anchor="t">
            <a:noAutofit/>
          </a:bodyPr>
          <a:lstStyle/>
          <a:p>
            <a:pPr algn="r">
              <a:lnSpc>
                <a:spcPts val="1254"/>
              </a:lnSpc>
              <a:spcAft>
                <a:spcPts val="0"/>
              </a:spcAft>
            </a:pPr>
            <a:r>
              <a:rPr lang="en-US" sz="1100" b="0" dirty="0">
                <a:solidFill>
                  <a:srgbClr val="6D706B"/>
                </a:solidFill>
                <a:latin typeface="Funnel Sans"/>
              </a:rPr>
              <a:t>14</a:t>
            </a:r>
            <a:endParaRPr lang="en-US" sz="1100"/>
          </a:p>
        </p:txBody>
      </p:sp>
      <p:sp>
        <p:nvSpPr>
          <p:cNvPr id="46" name="text 46"/>
          <p:cNvSpPr/>
          <p:nvPr/>
        </p:nvSpPr>
        <p:spPr>
          <a:xfrm>
            <a:off x="8331200" y="4140200"/>
            <a:ext cx="2870200" cy="241300"/>
          </a:xfrm>
          <a:prstGeom prst="rect">
            <a:avLst/>
          </a:prstGeom>
          <a:noFill/>
          <a:ln>
            <a:noFill/>
          </a:ln>
        </p:spPr>
        <p:txBody>
          <a:bodyPr wrap="none" lIns="0" tIns="0" rIns="0" bIns="0" anchor="t">
            <a:noAutofit/>
          </a:bodyPr>
          <a:lstStyle/>
          <a:p>
            <a:pPr algn="l">
              <a:lnSpc>
                <a:spcPts val="1311"/>
              </a:lnSpc>
              <a:spcAft>
                <a:spcPts val="0"/>
              </a:spcAft>
            </a:pPr>
            <a:r>
              <a:rPr lang="en-US" sz="1150" b="0" dirty="0">
                <a:solidFill>
                  <a:srgbClr val="181C23"/>
                </a:solidFill>
                <a:latin typeface="Funnel Sans"/>
              </a:rPr>
              <a:t>D07 Disguised missingness</a:t>
            </a:r>
            <a:endParaRPr lang="en-US" sz="1150"/>
          </a:p>
        </p:txBody>
      </p:sp>
      <p:sp>
        <p:nvSpPr>
          <p:cNvPr id="47" name="text 47"/>
          <p:cNvSpPr/>
          <p:nvPr/>
        </p:nvSpPr>
        <p:spPr>
          <a:xfrm>
            <a:off x="11252200" y="4140200"/>
            <a:ext cx="330200" cy="228600"/>
          </a:xfrm>
          <a:prstGeom prst="rect">
            <a:avLst/>
          </a:prstGeom>
          <a:noFill/>
          <a:ln>
            <a:noFill/>
          </a:ln>
        </p:spPr>
        <p:txBody>
          <a:bodyPr wrap="none" lIns="0" tIns="0" rIns="0" bIns="0" anchor="t">
            <a:noAutofit/>
          </a:bodyPr>
          <a:lstStyle/>
          <a:p>
            <a:pPr algn="r">
              <a:lnSpc>
                <a:spcPts val="1254"/>
              </a:lnSpc>
              <a:spcAft>
                <a:spcPts val="0"/>
              </a:spcAft>
            </a:pPr>
            <a:r>
              <a:rPr lang="en-US" sz="1100" b="0" dirty="0">
                <a:solidFill>
                  <a:srgbClr val="6D706B"/>
                </a:solidFill>
                <a:latin typeface="Funnel Sans"/>
              </a:rPr>
              <a:t>15</a:t>
            </a:r>
            <a:endParaRPr lang="en-US" sz="1100"/>
          </a:p>
        </p:txBody>
      </p:sp>
      <p:sp>
        <p:nvSpPr>
          <p:cNvPr id="48" name="text 48"/>
          <p:cNvSpPr/>
          <p:nvPr/>
        </p:nvSpPr>
        <p:spPr>
          <a:xfrm>
            <a:off x="8331200" y="4394200"/>
            <a:ext cx="2870200" cy="241300"/>
          </a:xfrm>
          <a:prstGeom prst="rect">
            <a:avLst/>
          </a:prstGeom>
          <a:noFill/>
          <a:ln>
            <a:noFill/>
          </a:ln>
        </p:spPr>
        <p:txBody>
          <a:bodyPr wrap="none" lIns="0" tIns="0" rIns="0" bIns="0" anchor="t">
            <a:noAutofit/>
          </a:bodyPr>
          <a:lstStyle/>
          <a:p>
            <a:pPr algn="l">
              <a:lnSpc>
                <a:spcPts val="1311"/>
              </a:lnSpc>
              <a:spcAft>
                <a:spcPts val="0"/>
              </a:spcAft>
            </a:pPr>
            <a:r>
              <a:rPr lang="en-US" sz="1150" b="0" dirty="0">
                <a:solidFill>
                  <a:srgbClr val="181C23"/>
                </a:solidFill>
                <a:latin typeface="Funnel Sans"/>
              </a:rPr>
              <a:t>D09 Robust-Z outliers</a:t>
            </a:r>
            <a:endParaRPr lang="en-US" sz="1150"/>
          </a:p>
        </p:txBody>
      </p:sp>
      <p:sp>
        <p:nvSpPr>
          <p:cNvPr id="49" name="text 49"/>
          <p:cNvSpPr/>
          <p:nvPr/>
        </p:nvSpPr>
        <p:spPr>
          <a:xfrm>
            <a:off x="11252200" y="4394200"/>
            <a:ext cx="330200" cy="228600"/>
          </a:xfrm>
          <a:prstGeom prst="rect">
            <a:avLst/>
          </a:prstGeom>
          <a:noFill/>
          <a:ln>
            <a:noFill/>
          </a:ln>
        </p:spPr>
        <p:txBody>
          <a:bodyPr wrap="none" lIns="0" tIns="0" rIns="0" bIns="0" anchor="t">
            <a:noAutofit/>
          </a:bodyPr>
          <a:lstStyle/>
          <a:p>
            <a:pPr algn="r">
              <a:lnSpc>
                <a:spcPts val="1254"/>
              </a:lnSpc>
              <a:spcAft>
                <a:spcPts val="0"/>
              </a:spcAft>
            </a:pPr>
            <a:r>
              <a:rPr lang="en-US" sz="1100" b="0" dirty="0">
                <a:solidFill>
                  <a:srgbClr val="6D706B"/>
                </a:solidFill>
                <a:latin typeface="Funnel Sans"/>
              </a:rPr>
              <a:t>16</a:t>
            </a:r>
            <a:endParaRPr lang="en-US" sz="1100"/>
          </a:p>
        </p:txBody>
      </p:sp>
      <p:sp>
        <p:nvSpPr>
          <p:cNvPr id="50" name="text 50"/>
          <p:cNvSpPr/>
          <p:nvPr/>
        </p:nvSpPr>
        <p:spPr>
          <a:xfrm>
            <a:off x="8331200" y="4648200"/>
            <a:ext cx="2870200" cy="241300"/>
          </a:xfrm>
          <a:prstGeom prst="rect">
            <a:avLst/>
          </a:prstGeom>
          <a:noFill/>
          <a:ln>
            <a:noFill/>
          </a:ln>
        </p:spPr>
        <p:txBody>
          <a:bodyPr wrap="none" lIns="0" tIns="0" rIns="0" bIns="0" anchor="t">
            <a:noAutofit/>
          </a:bodyPr>
          <a:lstStyle/>
          <a:p>
            <a:pPr algn="l">
              <a:lnSpc>
                <a:spcPts val="1311"/>
              </a:lnSpc>
              <a:spcAft>
                <a:spcPts val="0"/>
              </a:spcAft>
            </a:pPr>
            <a:r>
              <a:rPr lang="en-US" sz="1150" b="0" dirty="0">
                <a:solidFill>
                  <a:srgbClr val="181C23"/>
                </a:solidFill>
                <a:latin typeface="Funnel Sans"/>
              </a:rPr>
              <a:t>D10 Boundary pile-up</a:t>
            </a:r>
            <a:endParaRPr lang="en-US" sz="1150"/>
          </a:p>
        </p:txBody>
      </p:sp>
      <p:sp>
        <p:nvSpPr>
          <p:cNvPr id="51" name="text 51"/>
          <p:cNvSpPr/>
          <p:nvPr/>
        </p:nvSpPr>
        <p:spPr>
          <a:xfrm>
            <a:off x="11252200" y="4648200"/>
            <a:ext cx="330200" cy="228600"/>
          </a:xfrm>
          <a:prstGeom prst="rect">
            <a:avLst/>
          </a:prstGeom>
          <a:noFill/>
          <a:ln>
            <a:noFill/>
          </a:ln>
        </p:spPr>
        <p:txBody>
          <a:bodyPr wrap="none" lIns="0" tIns="0" rIns="0" bIns="0" anchor="t">
            <a:noAutofit/>
          </a:bodyPr>
          <a:lstStyle/>
          <a:p>
            <a:pPr algn="r">
              <a:lnSpc>
                <a:spcPts val="1254"/>
              </a:lnSpc>
              <a:spcAft>
                <a:spcPts val="0"/>
              </a:spcAft>
            </a:pPr>
            <a:r>
              <a:rPr lang="en-US" sz="1100" b="0" dirty="0">
                <a:solidFill>
                  <a:srgbClr val="6D706B"/>
                </a:solidFill>
                <a:latin typeface="Funnel Sans"/>
              </a:rPr>
              <a:t>17</a:t>
            </a:r>
            <a:endParaRPr lang="en-US" sz="1100"/>
          </a:p>
        </p:txBody>
      </p:sp>
      <p:sp>
        <p:nvSpPr>
          <p:cNvPr id="52" name="text 52"/>
          <p:cNvSpPr/>
          <p:nvPr/>
        </p:nvSpPr>
        <p:spPr>
          <a:xfrm>
            <a:off x="8331200" y="4902200"/>
            <a:ext cx="2870200" cy="241300"/>
          </a:xfrm>
          <a:prstGeom prst="rect">
            <a:avLst/>
          </a:prstGeom>
          <a:noFill/>
          <a:ln>
            <a:noFill/>
          </a:ln>
        </p:spPr>
        <p:txBody>
          <a:bodyPr wrap="none" lIns="0" tIns="0" rIns="0" bIns="0" anchor="t">
            <a:noAutofit/>
          </a:bodyPr>
          <a:lstStyle/>
          <a:p>
            <a:pPr algn="l">
              <a:lnSpc>
                <a:spcPts val="1311"/>
              </a:lnSpc>
              <a:spcAft>
                <a:spcPts val="0"/>
              </a:spcAft>
            </a:pPr>
            <a:r>
              <a:rPr lang="en-US" sz="1150" b="0" dirty="0">
                <a:solidFill>
                  <a:srgbClr val="181C23"/>
                </a:solidFill>
                <a:latin typeface="Funnel Sans"/>
              </a:rPr>
              <a:t>D13 Target-rate breaks</a:t>
            </a:r>
            <a:endParaRPr lang="en-US" sz="1150"/>
          </a:p>
        </p:txBody>
      </p:sp>
      <p:sp>
        <p:nvSpPr>
          <p:cNvPr id="53" name="text 53"/>
          <p:cNvSpPr/>
          <p:nvPr/>
        </p:nvSpPr>
        <p:spPr>
          <a:xfrm>
            <a:off x="11252200" y="4902200"/>
            <a:ext cx="330200" cy="228600"/>
          </a:xfrm>
          <a:prstGeom prst="rect">
            <a:avLst/>
          </a:prstGeom>
          <a:noFill/>
          <a:ln>
            <a:noFill/>
          </a:ln>
        </p:spPr>
        <p:txBody>
          <a:bodyPr wrap="none" lIns="0" tIns="0" rIns="0" bIns="0" anchor="t">
            <a:noAutofit/>
          </a:bodyPr>
          <a:lstStyle/>
          <a:p>
            <a:pPr algn="r">
              <a:lnSpc>
                <a:spcPts val="1254"/>
              </a:lnSpc>
              <a:spcAft>
                <a:spcPts val="0"/>
              </a:spcAft>
            </a:pPr>
            <a:r>
              <a:rPr lang="en-US" sz="1100" b="0" dirty="0">
                <a:solidFill>
                  <a:srgbClr val="6D706B"/>
                </a:solidFill>
                <a:latin typeface="Funnel Sans"/>
              </a:rPr>
              <a:t>18</a:t>
            </a:r>
            <a:endParaRPr lang="en-US" sz="1100"/>
          </a:p>
        </p:txBody>
      </p:sp>
      <p:sp>
        <p:nvSpPr>
          <p:cNvPr id="54" name="text 54"/>
          <p:cNvSpPr/>
          <p:nvPr/>
        </p:nvSpPr>
        <p:spPr>
          <a:xfrm>
            <a:off x="8331200" y="5156200"/>
            <a:ext cx="2870200" cy="241300"/>
          </a:xfrm>
          <a:prstGeom prst="rect">
            <a:avLst/>
          </a:prstGeom>
          <a:noFill/>
          <a:ln>
            <a:noFill/>
          </a:ln>
        </p:spPr>
        <p:txBody>
          <a:bodyPr wrap="none" lIns="0" tIns="0" rIns="0" bIns="0" anchor="t">
            <a:noAutofit/>
          </a:bodyPr>
          <a:lstStyle/>
          <a:p>
            <a:pPr algn="l">
              <a:lnSpc>
                <a:spcPts val="1311"/>
              </a:lnSpc>
              <a:spcAft>
                <a:spcPts val="0"/>
              </a:spcAft>
            </a:pPr>
            <a:r>
              <a:rPr lang="en-US" sz="1150" b="0" dirty="0">
                <a:solidFill>
                  <a:srgbClr val="181C23"/>
                </a:solidFill>
                <a:latin typeface="Funnel Sans"/>
              </a:rPr>
              <a:t>D15 KS distance</a:t>
            </a:r>
            <a:endParaRPr lang="en-US" sz="1150"/>
          </a:p>
        </p:txBody>
      </p:sp>
      <p:sp>
        <p:nvSpPr>
          <p:cNvPr id="55" name="text 55"/>
          <p:cNvSpPr/>
          <p:nvPr/>
        </p:nvSpPr>
        <p:spPr>
          <a:xfrm>
            <a:off x="11252200" y="5156200"/>
            <a:ext cx="330200" cy="228600"/>
          </a:xfrm>
          <a:prstGeom prst="rect">
            <a:avLst/>
          </a:prstGeom>
          <a:noFill/>
          <a:ln>
            <a:noFill/>
          </a:ln>
        </p:spPr>
        <p:txBody>
          <a:bodyPr wrap="none" lIns="0" tIns="0" rIns="0" bIns="0" anchor="t">
            <a:noAutofit/>
          </a:bodyPr>
          <a:lstStyle/>
          <a:p>
            <a:pPr algn="r">
              <a:lnSpc>
                <a:spcPts val="1254"/>
              </a:lnSpc>
              <a:spcAft>
                <a:spcPts val="0"/>
              </a:spcAft>
            </a:pPr>
            <a:r>
              <a:rPr lang="en-US" sz="1100" b="0" dirty="0">
                <a:solidFill>
                  <a:srgbClr val="6D706B"/>
                </a:solidFill>
                <a:latin typeface="Funnel Sans"/>
              </a:rPr>
              <a:t>19</a:t>
            </a:r>
            <a:endParaRPr lang="en-US" sz="1100"/>
          </a:p>
        </p:txBody>
      </p:sp>
      <p:sp>
        <p:nvSpPr>
          <p:cNvPr id="56" name="text 56"/>
          <p:cNvSpPr/>
          <p:nvPr/>
        </p:nvSpPr>
        <p:spPr>
          <a:xfrm>
            <a:off x="8331200" y="5410200"/>
            <a:ext cx="2870200" cy="241300"/>
          </a:xfrm>
          <a:prstGeom prst="rect">
            <a:avLst/>
          </a:prstGeom>
          <a:noFill/>
          <a:ln>
            <a:noFill/>
          </a:ln>
        </p:spPr>
        <p:txBody>
          <a:bodyPr wrap="none" lIns="0" tIns="0" rIns="0" bIns="0" anchor="t">
            <a:noAutofit/>
          </a:bodyPr>
          <a:lstStyle/>
          <a:p>
            <a:pPr algn="l">
              <a:lnSpc>
                <a:spcPts val="1311"/>
              </a:lnSpc>
              <a:spcAft>
                <a:spcPts val="0"/>
              </a:spcAft>
            </a:pPr>
            <a:r>
              <a:rPr lang="en-US" sz="1150" b="0" dirty="0">
                <a:solidFill>
                  <a:srgbClr val="181C23"/>
                </a:solidFill>
                <a:latin typeface="Funnel Sans"/>
              </a:rPr>
              <a:t>D16 Segment coverage</a:t>
            </a:r>
            <a:endParaRPr lang="en-US" sz="1150"/>
          </a:p>
        </p:txBody>
      </p:sp>
      <p:sp>
        <p:nvSpPr>
          <p:cNvPr id="57" name="text 57"/>
          <p:cNvSpPr/>
          <p:nvPr/>
        </p:nvSpPr>
        <p:spPr>
          <a:xfrm>
            <a:off x="11252200" y="5410200"/>
            <a:ext cx="330200" cy="228600"/>
          </a:xfrm>
          <a:prstGeom prst="rect">
            <a:avLst/>
          </a:prstGeom>
          <a:noFill/>
          <a:ln>
            <a:noFill/>
          </a:ln>
        </p:spPr>
        <p:txBody>
          <a:bodyPr wrap="none" lIns="0" tIns="0" rIns="0" bIns="0" anchor="t">
            <a:noAutofit/>
          </a:bodyPr>
          <a:lstStyle/>
          <a:p>
            <a:pPr algn="r">
              <a:lnSpc>
                <a:spcPts val="1254"/>
              </a:lnSpc>
              <a:spcAft>
                <a:spcPts val="0"/>
              </a:spcAft>
            </a:pPr>
            <a:r>
              <a:rPr lang="en-US" sz="1100" b="0" dirty="0">
                <a:solidFill>
                  <a:srgbClr val="6D706B"/>
                </a:solidFill>
                <a:latin typeface="Funnel Sans"/>
              </a:rPr>
              <a:t>20</a:t>
            </a:r>
            <a:endParaRPr lang="en-US" sz="1100"/>
          </a:p>
        </p:txBody>
      </p:sp>
      <p:sp>
        <p:nvSpPr>
          <p:cNvPr id="58" name="text 58"/>
          <p:cNvSpPr/>
          <p:nvPr/>
        </p:nvSpPr>
        <p:spPr>
          <a:xfrm>
            <a:off x="8331200" y="5664200"/>
            <a:ext cx="2870200" cy="241300"/>
          </a:xfrm>
          <a:prstGeom prst="rect">
            <a:avLst/>
          </a:prstGeom>
          <a:noFill/>
          <a:ln>
            <a:noFill/>
          </a:ln>
        </p:spPr>
        <p:txBody>
          <a:bodyPr wrap="none" lIns="0" tIns="0" rIns="0" bIns="0" anchor="t">
            <a:noAutofit/>
          </a:bodyPr>
          <a:lstStyle/>
          <a:p>
            <a:pPr algn="l">
              <a:lnSpc>
                <a:spcPts val="1311"/>
              </a:lnSpc>
              <a:spcAft>
                <a:spcPts val="0"/>
              </a:spcAft>
            </a:pPr>
            <a:r>
              <a:rPr lang="en-US" sz="1150" b="0" dirty="0">
                <a:solidFill>
                  <a:srgbClr val="181C23"/>
                </a:solidFill>
                <a:latin typeface="Funnel Sans"/>
              </a:rPr>
              <a:t>D18 Resolved vs all</a:t>
            </a:r>
            <a:endParaRPr lang="en-US" sz="1150"/>
          </a:p>
        </p:txBody>
      </p:sp>
      <p:sp>
        <p:nvSpPr>
          <p:cNvPr id="59" name="text 59"/>
          <p:cNvSpPr/>
          <p:nvPr/>
        </p:nvSpPr>
        <p:spPr>
          <a:xfrm>
            <a:off x="11252200" y="5664200"/>
            <a:ext cx="330200" cy="228600"/>
          </a:xfrm>
          <a:prstGeom prst="rect">
            <a:avLst/>
          </a:prstGeom>
          <a:noFill/>
          <a:ln>
            <a:noFill/>
          </a:ln>
        </p:spPr>
        <p:txBody>
          <a:bodyPr wrap="none" lIns="0" tIns="0" rIns="0" bIns="0" anchor="t">
            <a:noAutofit/>
          </a:bodyPr>
          <a:lstStyle/>
          <a:p>
            <a:pPr algn="r">
              <a:lnSpc>
                <a:spcPts val="1254"/>
              </a:lnSpc>
              <a:spcAft>
                <a:spcPts val="0"/>
              </a:spcAft>
            </a:pPr>
            <a:r>
              <a:rPr lang="en-US" sz="1100" b="0" dirty="0">
                <a:solidFill>
                  <a:srgbClr val="6D706B"/>
                </a:solidFill>
                <a:latin typeface="Funnel Sans"/>
              </a:rPr>
              <a:t>21</a:t>
            </a:r>
            <a:endParaRPr lang="en-US" sz="1100"/>
          </a:p>
        </p:txBody>
      </p:sp>
      <p:sp>
        <p:nvSpPr>
          <p:cNvPr id="60" name="text 60"/>
          <p:cNvSpPr/>
          <p:nvPr/>
        </p:nvSpPr>
        <p:spPr>
          <a:xfrm>
            <a:off x="8331200" y="5918200"/>
            <a:ext cx="2870200" cy="241300"/>
          </a:xfrm>
          <a:prstGeom prst="rect">
            <a:avLst/>
          </a:prstGeom>
          <a:noFill/>
          <a:ln>
            <a:noFill/>
          </a:ln>
        </p:spPr>
        <p:txBody>
          <a:bodyPr wrap="none" lIns="0" tIns="0" rIns="0" bIns="0" anchor="t">
            <a:noAutofit/>
          </a:bodyPr>
          <a:lstStyle/>
          <a:p>
            <a:pPr algn="l">
              <a:lnSpc>
                <a:spcPts val="1311"/>
              </a:lnSpc>
              <a:spcAft>
                <a:spcPts val="0"/>
              </a:spcAft>
            </a:pPr>
            <a:r>
              <a:rPr lang="en-US" sz="1150" b="0" dirty="0">
                <a:solidFill>
                  <a:srgbClr val="181C23"/>
                </a:solidFill>
                <a:latin typeface="Funnel Sans"/>
              </a:rPr>
              <a:t>D19 Seasoning profile</a:t>
            </a:r>
            <a:endParaRPr lang="en-US" sz="1150"/>
          </a:p>
        </p:txBody>
      </p:sp>
      <p:sp>
        <p:nvSpPr>
          <p:cNvPr id="61" name="text 61"/>
          <p:cNvSpPr/>
          <p:nvPr/>
        </p:nvSpPr>
        <p:spPr>
          <a:xfrm>
            <a:off x="11252200" y="5918200"/>
            <a:ext cx="330200" cy="228600"/>
          </a:xfrm>
          <a:prstGeom prst="rect">
            <a:avLst/>
          </a:prstGeom>
          <a:noFill/>
          <a:ln>
            <a:noFill/>
          </a:ln>
        </p:spPr>
        <p:txBody>
          <a:bodyPr wrap="none" lIns="0" tIns="0" rIns="0" bIns="0" anchor="t">
            <a:noAutofit/>
          </a:bodyPr>
          <a:lstStyle/>
          <a:p>
            <a:pPr algn="r">
              <a:lnSpc>
                <a:spcPts val="1254"/>
              </a:lnSpc>
              <a:spcAft>
                <a:spcPts val="0"/>
              </a:spcAft>
            </a:pPr>
            <a:r>
              <a:rPr lang="en-US" sz="1100" b="0" dirty="0">
                <a:solidFill>
                  <a:srgbClr val="6D706B"/>
                </a:solidFill>
                <a:latin typeface="Funnel Sans"/>
              </a:rPr>
              <a:t>22</a:t>
            </a:r>
            <a:endParaRPr lang="en-US" sz="1100"/>
          </a:p>
        </p:txBody>
      </p:sp>
      <p:cxnSp>
        <p:nvCxnSpPr>
          <p:cNvPr id="62" name="connector 62"/>
          <p:cNvCxnSpPr/>
          <p:nvPr/>
        </p:nvCxnSpPr>
        <p:spPr>
          <a:xfrm>
            <a:off x="4457700" y="4660900"/>
            <a:ext cx="3276600" cy="0"/>
          </a:xfrm>
          <a:prstGeom prst="line">
            <a:avLst/>
          </a:prstGeom>
          <a:ln w="9525">
            <a:solidFill>
              <a:srgbClr val="DEDCD6"/>
            </a:solidFill>
          </a:ln>
        </p:spPr>
        <p:style>
          <a:lnRef idx="0">
            <a:schemeClr val="accent1"/>
          </a:lnRef>
          <a:fillRef idx="0">
            <a:schemeClr val="accent1"/>
          </a:fillRef>
          <a:effectRef idx="0">
            <a:schemeClr val="accent1"/>
          </a:effectRef>
          <a:fontRef idx="minor">
            <a:schemeClr val="tx1"/>
          </a:fontRef>
        </p:style>
      </p:cxnSp>
      <p:sp>
        <p:nvSpPr>
          <p:cNvPr id="63" name="text 63"/>
          <p:cNvSpPr/>
          <p:nvPr/>
        </p:nvSpPr>
        <p:spPr>
          <a:xfrm>
            <a:off x="4457700" y="4838700"/>
            <a:ext cx="3276600" cy="215900"/>
          </a:xfrm>
          <a:prstGeom prst="rect">
            <a:avLst/>
          </a:prstGeom>
          <a:noFill/>
          <a:ln>
            <a:noFill/>
          </a:ln>
        </p:spPr>
        <p:txBody>
          <a:bodyPr wrap="none" lIns="0" tIns="0" rIns="0" bIns="0" anchor="t">
            <a:noAutofit/>
          </a:bodyPr>
          <a:lstStyle/>
          <a:p>
            <a:pPr algn="l">
              <a:lnSpc>
                <a:spcPts val="1083"/>
              </a:lnSpc>
              <a:spcAft>
                <a:spcPts val="0"/>
              </a:spcAft>
            </a:pPr>
            <a:r>
              <a:rPr lang="en-US" sz="950" b="1" dirty="0">
                <a:solidFill>
                  <a:srgbClr val="FF4F59"/>
                </a:solidFill>
                <a:latin typeface="Funnel Sans"/>
              </a:rPr>
              <a:t>READ EVERY PAGE THE SAME WAY</a:t>
            </a:r>
            <a:endParaRPr lang="en-US" sz="950"/>
          </a:p>
        </p:txBody>
      </p:sp>
      <p:sp>
        <p:nvSpPr>
          <p:cNvPr id="64" name="text 64"/>
          <p:cNvSpPr/>
          <p:nvPr/>
        </p:nvSpPr>
        <p:spPr>
          <a:xfrm>
            <a:off x="4457700" y="5143500"/>
            <a:ext cx="3276600" cy="927100"/>
          </a:xfrm>
          <a:prstGeom prst="rect">
            <a:avLst/>
          </a:prstGeom>
          <a:noFill/>
          <a:ln>
            <a:noFill/>
          </a:ln>
        </p:spPr>
        <p:txBody>
          <a:bodyPr wrap="none" lIns="0" tIns="0" rIns="0" bIns="0" anchor="t">
            <a:noAutofit/>
          </a:bodyPr>
          <a:lstStyle/>
          <a:p>
            <a:pPr algn="l">
              <a:lnSpc>
                <a:spcPts val="1311"/>
              </a:lnSpc>
              <a:spcAft>
                <a:spcPts val="0"/>
              </a:spcAft>
            </a:pPr>
            <a:r>
              <a:rPr lang="en-US" sz="1150" b="0" dirty="0">
                <a:solidFill>
                  <a:srgbClr val="181C23"/>
                </a:solidFill>
                <a:latin typeface="Funnel Sans"/>
              </a:rPr>
              <a:t>Who / when → Inputs → Evidence</a:t>
            </a:r>
            <a:endParaRPr lang="en-US" sz="1150"/>
          </a:p>
          <a:p>
            <a:pPr algn="l">
              <a:lnSpc>
                <a:spcPts val="1311"/>
              </a:lnSpc>
              <a:spcAft>
                <a:spcPts val="0"/>
              </a:spcAft>
            </a:pPr>
            <a:r>
              <a:rPr lang="en-US" sz="1150" b="0" dirty="0">
                <a:solidFill>
                  <a:srgbClr val="181C23"/>
                </a:solidFill>
                <a:latin typeface="Funnel Sans"/>
              </a:rPr>
              <a:t>Processing → Issue gate → RCA</a:t>
            </a:r>
            <a:endParaRPr lang="en-US" sz="1150"/>
          </a:p>
          <a:p>
            <a:pPr algn="l">
              <a:lnSpc>
                <a:spcPts val="1311"/>
              </a:lnSpc>
              <a:spcAft>
                <a:spcPts val="0"/>
              </a:spcAft>
            </a:pPr>
            <a:endParaRPr lang="en-US" sz="1150"/>
          </a:p>
          <a:p>
            <a:pPr algn="l">
              <a:lnSpc>
                <a:spcPts val="1311"/>
              </a:lnSpc>
              <a:spcAft>
                <a:spcPts val="0"/>
              </a:spcAft>
            </a:pPr>
            <a:r>
              <a:rPr lang="en-US" sz="1150" b="0" dirty="0">
                <a:solidFill>
                  <a:srgbClr val="181C23"/>
                </a:solidFill>
                <a:latin typeface="Funnel Sans"/>
              </a:rPr>
              <a:t>Planned flows are explicitly marked.</a:t>
            </a:r>
            <a:endParaRPr lang="en-US" sz="1150"/>
          </a:p>
          <a:p>
            <a:pPr algn="l">
              <a:lnSpc>
                <a:spcPts val="1311"/>
              </a:lnSpc>
              <a:spcAft>
                <a:spcPts val="0"/>
              </a:spcAft>
            </a:pPr>
            <a:r>
              <a:rPr lang="en-US" sz="1150" b="0" dirty="0">
                <a:solidFill>
                  <a:srgbClr val="181C23"/>
                </a:solidFill>
                <a:latin typeface="Funnel Sans"/>
              </a:rPr>
              <a:t>RCA closure does not certify a source fix.</a:t>
            </a:r>
            <a:endParaRPr lang="en-US" sz="1150"/>
          </a:p>
        </p:txBody>
      </p:sp>
      <p:cxnSp>
        <p:nvCxnSpPr>
          <p:cNvPr id="65" name="connector 65"/>
          <p:cNvCxnSpPr/>
          <p:nvPr/>
        </p:nvCxnSpPr>
        <p:spPr>
          <a:xfrm>
            <a:off x="406400" y="6553200"/>
            <a:ext cx="113792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66" name="text 66"/>
          <p:cNvSpPr/>
          <p:nvPr/>
        </p:nvSpPr>
        <p:spPr>
          <a:xfrm>
            <a:off x="406400" y="6629400"/>
            <a:ext cx="5715000" cy="152400"/>
          </a:xfrm>
          <a:prstGeom prst="rect">
            <a:avLst/>
          </a:prstGeom>
          <a:noFill/>
          <a:ln>
            <a:noFill/>
          </a:ln>
        </p:spPr>
        <p:txBody>
          <a:bodyPr wrap="none" lIns="0" tIns="0" rIns="0" bIns="0" anchor="t">
            <a:noAutofit/>
          </a:bodyPr>
          <a:lstStyle/>
          <a:p>
            <a:pPr algn="l">
              <a:lnSpc>
                <a:spcPts val="969"/>
              </a:lnSpc>
              <a:spcAft>
                <a:spcPts val="0"/>
              </a:spcAft>
            </a:pPr>
            <a:r>
              <a:rPr lang="en-US" sz="850" b="0" dirty="0">
                <a:solidFill>
                  <a:srgbClr val="6D706B"/>
                </a:solidFill>
                <a:latin typeface="Funnel Sans"/>
              </a:rPr>
              <a:t>DATA WORKBENCH / Diagnostic quick reference</a:t>
            </a:r>
            <a:endParaRPr lang="en-US" sz="850"/>
          </a:p>
        </p:txBody>
      </p:sp>
      <p:sp>
        <p:nvSpPr>
          <p:cNvPr id="67" name="text 67"/>
          <p:cNvSpPr/>
          <p:nvPr/>
        </p:nvSpPr>
        <p:spPr>
          <a:xfrm>
            <a:off x="6223000" y="6629400"/>
            <a:ext cx="4254500" cy="152400"/>
          </a:xfrm>
          <a:prstGeom prst="rect">
            <a:avLst/>
          </a:prstGeom>
          <a:noFill/>
          <a:ln>
            <a:noFill/>
          </a:ln>
        </p:spPr>
        <p:txBody>
          <a:bodyPr wrap="none" lIns="0" tIns="0" rIns="0" bIns="0" anchor="t">
            <a:noAutofit/>
          </a:bodyPr>
          <a:lstStyle/>
          <a:p>
            <a:pPr algn="r">
              <a:lnSpc>
                <a:spcPts val="969"/>
              </a:lnSpc>
              <a:spcAft>
                <a:spcPts val="0"/>
              </a:spcAft>
            </a:pPr>
            <a:r>
              <a:rPr lang="en-US" sz="850" b="0" dirty="0">
                <a:solidFill>
                  <a:srgbClr val="6D706B"/>
                </a:solidFill>
                <a:latin typeface="Funnel Sans"/>
              </a:rPr>
              <a:t>Companion to the full 87-slide presentation</a:t>
            </a:r>
            <a:endParaRPr lang="en-US" sz="850"/>
          </a:p>
        </p:txBody>
      </p:sp>
      <p:sp>
        <p:nvSpPr>
          <p:cNvPr id="68" name="text 68"/>
          <p:cNvSpPr/>
          <p:nvPr/>
        </p:nvSpPr>
        <p:spPr>
          <a:xfrm>
            <a:off x="10795000" y="6616700"/>
            <a:ext cx="990600" cy="177800"/>
          </a:xfrm>
          <a:prstGeom prst="rect">
            <a:avLst/>
          </a:prstGeom>
          <a:noFill/>
          <a:ln>
            <a:noFill/>
          </a:ln>
        </p:spPr>
        <p:txBody>
          <a:bodyPr wrap="none" lIns="0" tIns="0" rIns="0" bIns="0" anchor="t">
            <a:noAutofit/>
          </a:bodyPr>
          <a:lstStyle/>
          <a:p>
            <a:pPr algn="r">
              <a:lnSpc>
                <a:spcPts val="1083"/>
              </a:lnSpc>
              <a:spcAft>
                <a:spcPts val="0"/>
              </a:spcAft>
            </a:pPr>
            <a:r>
              <a:rPr lang="en-US" sz="950" b="0" dirty="0">
                <a:solidFill>
                  <a:srgbClr val="6D706B"/>
                </a:solidFill>
                <a:latin typeface="Funnel Sans"/>
              </a:rPr>
              <a:t>01 / 22</a:t>
            </a:r>
            <a:endParaRPr lang="en-US" sz="95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shape 3"/>
          <p:cNvSpPr/>
          <p:nvPr/>
        </p:nvSpPr>
        <p:spPr>
          <a:xfrm>
            <a:off x="406400" y="228600"/>
            <a:ext cx="1181100" cy="292100"/>
          </a:xfrm>
          <a:prstGeom prst="roundRect">
            <a:avLst/>
          </a:prstGeom>
          <a:solidFill>
            <a:srgbClr val="FFF2DF"/>
          </a:solidFill>
          <a:ln>
            <a:noFill/>
          </a:ln>
        </p:spPr>
      </p:sp>
      <p:sp>
        <p:nvSpPr>
          <p:cNvPr id="4" name="text 4"/>
          <p:cNvSpPr/>
          <p:nvPr/>
        </p:nvSpPr>
        <p:spPr>
          <a:xfrm>
            <a:off x="520700" y="292100"/>
            <a:ext cx="952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T1-D02</a:t>
            </a:r>
            <a:endParaRPr lang="en-US" sz="1000"/>
          </a:p>
        </p:txBody>
      </p:sp>
      <p:sp>
        <p:nvSpPr>
          <p:cNvPr id="5" name="text 5"/>
          <p:cNvSpPr/>
          <p:nvPr/>
        </p:nvSpPr>
        <p:spPr>
          <a:xfrm>
            <a:off x="1739900" y="304800"/>
            <a:ext cx="3022600" cy="190500"/>
          </a:xfrm>
          <a:prstGeom prst="rect">
            <a:avLst/>
          </a:prstGeom>
          <a:noFill/>
          <a:ln>
            <a:noFill/>
          </a:ln>
        </p:spPr>
        <p:txBody>
          <a:bodyPr wrap="none" lIns="0" tIns="0" rIns="0" bIns="0" anchor="t">
            <a:noAutofit/>
          </a:bodyPr>
          <a:lstStyle/>
          <a:p>
            <a:pPr algn="l">
              <a:lnSpc>
                <a:spcPts val="1083"/>
              </a:lnSpc>
              <a:spcAft>
                <a:spcPts val="0"/>
              </a:spcAft>
            </a:pPr>
            <a:r>
              <a:rPr lang="en-US" sz="950" b="1" dirty="0">
                <a:solidFill>
                  <a:srgbClr val="6D706B"/>
                </a:solidFill>
                <a:latin typeface="Funnel Sans"/>
              </a:rPr>
              <a:t>LEAKAGE &amp; SIGNAL</a:t>
            </a:r>
            <a:endParaRPr lang="en-US" sz="950"/>
          </a:p>
        </p:txBody>
      </p:sp>
      <p:sp>
        <p:nvSpPr>
          <p:cNvPr id="6" name="shape 6"/>
          <p:cNvSpPr/>
          <p:nvPr/>
        </p:nvSpPr>
        <p:spPr>
          <a:xfrm>
            <a:off x="4864100" y="228600"/>
            <a:ext cx="3797300" cy="292100"/>
          </a:xfrm>
          <a:prstGeom prst="roundRect">
            <a:avLst/>
          </a:prstGeom>
          <a:solidFill>
            <a:srgbClr val="EFEEE9"/>
          </a:solidFill>
          <a:ln>
            <a:noFill/>
          </a:ln>
        </p:spPr>
      </p:sp>
      <p:sp>
        <p:nvSpPr>
          <p:cNvPr id="7" name="text 7"/>
          <p:cNvSpPr/>
          <p:nvPr/>
        </p:nvSpPr>
        <p:spPr>
          <a:xfrm>
            <a:off x="4978400" y="292100"/>
            <a:ext cx="35687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181C23"/>
                </a:solidFill>
                <a:latin typeface="Funnel Sans"/>
              </a:rPr>
              <a:t>ROC / AUC · WOE / IV</a:t>
            </a:r>
            <a:endParaRPr lang="en-US" sz="1000"/>
          </a:p>
        </p:txBody>
      </p:sp>
      <p:sp>
        <p:nvSpPr>
          <p:cNvPr id="8" name="shape 8"/>
          <p:cNvSpPr/>
          <p:nvPr/>
        </p:nvSpPr>
        <p:spPr>
          <a:xfrm>
            <a:off x="8826500" y="228600"/>
            <a:ext cx="2959100" cy="292100"/>
          </a:xfrm>
          <a:prstGeom prst="roundRect">
            <a:avLst/>
          </a:prstGeom>
          <a:solidFill>
            <a:srgbClr val="E9F3ED"/>
          </a:solidFill>
          <a:ln>
            <a:noFill/>
          </a:ln>
        </p:spPr>
      </p:sp>
      <p:sp>
        <p:nvSpPr>
          <p:cNvPr id="9" name="text 9"/>
          <p:cNvSpPr/>
          <p:nvPr/>
        </p:nvSpPr>
        <p:spPr>
          <a:xfrm>
            <a:off x="8940800" y="292100"/>
            <a:ext cx="2730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276B57"/>
                </a:solidFill>
                <a:latin typeface="Funnel Sans"/>
              </a:rPr>
              <a:t>Enabled</a:t>
            </a:r>
            <a:endParaRPr lang="en-US" sz="1000"/>
          </a:p>
        </p:txBody>
      </p:sp>
      <p:sp>
        <p:nvSpPr>
          <p:cNvPr id="10" name="text 10"/>
          <p:cNvSpPr/>
          <p:nvPr/>
        </p:nvSpPr>
        <p:spPr>
          <a:xfrm>
            <a:off x="406400" y="698500"/>
            <a:ext cx="11379200" cy="508000"/>
          </a:xfrm>
          <a:prstGeom prst="rect">
            <a:avLst/>
          </a:prstGeom>
          <a:noFill/>
          <a:ln>
            <a:noFill/>
          </a:ln>
        </p:spPr>
        <p:txBody>
          <a:bodyPr wrap="none" lIns="0" tIns="0" rIns="0" bIns="0" anchor="t">
            <a:noAutofit/>
          </a:bodyPr>
          <a:lstStyle/>
          <a:p>
            <a:pPr algn="l">
              <a:lnSpc>
                <a:spcPts val="3192"/>
              </a:lnSpc>
              <a:spcAft>
                <a:spcPts val="0"/>
              </a:spcAft>
            </a:pPr>
            <a:r>
              <a:rPr lang="en-US" sz="2800" b="1" dirty="0">
                <a:solidFill>
                  <a:srgbClr val="181C23"/>
                </a:solidFill>
                <a:latin typeface="Funnel Sans"/>
              </a:rPr>
              <a:t>Single-feature target separation</a:t>
            </a:r>
            <a:endParaRPr lang="en-US" sz="2800"/>
          </a:p>
        </p:txBody>
      </p:sp>
      <p:sp>
        <p:nvSpPr>
          <p:cNvPr id="11" name="text 11"/>
          <p:cNvSpPr/>
          <p:nvPr/>
        </p:nvSpPr>
        <p:spPr>
          <a:xfrm>
            <a:off x="419100" y="1320800"/>
            <a:ext cx="11353800" cy="4445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Find unusually predictive features and weak individual signals before modeling.</a:t>
            </a:r>
            <a:endParaRPr lang="en-US" sz="1500"/>
          </a:p>
        </p:txBody>
      </p:sp>
      <p:sp>
        <p:nvSpPr>
          <p:cNvPr id="12" name="shape 12"/>
          <p:cNvSpPr/>
          <p:nvPr/>
        </p:nvSpPr>
        <p:spPr>
          <a:xfrm>
            <a:off x="406400" y="1905000"/>
            <a:ext cx="3632200" cy="1549400"/>
          </a:xfrm>
          <a:prstGeom prst="roundRect">
            <a:avLst/>
          </a:prstGeom>
          <a:solidFill>
            <a:srgbClr val="FFFFFF"/>
          </a:solidFill>
          <a:ln w="12700">
            <a:solidFill>
              <a:srgbClr val="DEDCD6"/>
            </a:solidFill>
          </a:ln>
        </p:spPr>
      </p:sp>
      <p:sp>
        <p:nvSpPr>
          <p:cNvPr id="13" name="text 13"/>
          <p:cNvSpPr/>
          <p:nvPr/>
        </p:nvSpPr>
        <p:spPr>
          <a:xfrm>
            <a:off x="571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USER &amp; TRIGGER</a:t>
            </a:r>
            <a:endParaRPr lang="en-US" sz="1000"/>
          </a:p>
        </p:txBody>
      </p:sp>
      <p:sp>
        <p:nvSpPr>
          <p:cNvPr id="14" name="text 14"/>
          <p:cNvSpPr/>
          <p:nvPr/>
        </p:nvSpPr>
        <p:spPr>
          <a:xfrm>
            <a:off x="571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Analyst / model team + SME</a:t>
            </a:r>
            <a:endParaRPr lang="en-US" sz="1325"/>
          </a:p>
          <a:p>
            <a:pPr algn="l">
              <a:lnSpc>
                <a:spcPts val="1510"/>
              </a:lnSpc>
              <a:spcAft>
                <a:spcPts val="0"/>
              </a:spcAft>
            </a:pPr>
            <a:r>
              <a:rPr lang="en-US" sz="1325" b="0" dirty="0">
                <a:solidFill>
                  <a:srgbClr val="181C23"/>
                </a:solidFill>
                <a:latin typeface="Funnel Sans"/>
              </a:rPr>
              <a:t>Run before feature selection, after target</a:t>
            </a:r>
            <a:endParaRPr lang="en-US" sz="1325"/>
          </a:p>
          <a:p>
            <a:pPr algn="l">
              <a:lnSpc>
                <a:spcPts val="1510"/>
              </a:lnSpc>
              <a:spcAft>
                <a:spcPts val="0"/>
              </a:spcAft>
            </a:pPr>
            <a:r>
              <a:rPr lang="en-US" sz="1325" b="0" dirty="0">
                <a:solidFill>
                  <a:srgbClr val="181C23"/>
                </a:solidFill>
                <a:latin typeface="Funnel Sans"/>
              </a:rPr>
              <a:t>changes or when leakage is suspected.</a:t>
            </a:r>
            <a:endParaRPr lang="en-US" sz="1325"/>
          </a:p>
        </p:txBody>
      </p:sp>
      <p:sp>
        <p:nvSpPr>
          <p:cNvPr id="15" name="shape 15"/>
          <p:cNvSpPr/>
          <p:nvPr/>
        </p:nvSpPr>
        <p:spPr>
          <a:xfrm>
            <a:off x="4279900" y="1905000"/>
            <a:ext cx="3632200" cy="1549400"/>
          </a:xfrm>
          <a:prstGeom prst="roundRect">
            <a:avLst/>
          </a:prstGeom>
          <a:solidFill>
            <a:srgbClr val="FFFFFF"/>
          </a:solidFill>
          <a:ln w="12700">
            <a:solidFill>
              <a:srgbClr val="DEDCD6"/>
            </a:solidFill>
          </a:ln>
        </p:spPr>
      </p:sp>
      <p:sp>
        <p:nvSpPr>
          <p:cNvPr id="16" name="text 16"/>
          <p:cNvSpPr/>
          <p:nvPr/>
        </p:nvSpPr>
        <p:spPr>
          <a:xfrm>
            <a:off x="44450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INPUTS &amp; READINESS</a:t>
            </a:r>
            <a:endParaRPr lang="en-US" sz="1000"/>
          </a:p>
        </p:txBody>
      </p:sp>
      <p:sp>
        <p:nvSpPr>
          <p:cNvPr id="17" name="text 17"/>
          <p:cNvSpPr/>
          <p:nvPr/>
        </p:nvSpPr>
        <p:spPr>
          <a:xfrm>
            <a:off x="44450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Ready snapshot; confirmed target, target</a:t>
            </a:r>
            <a:endParaRPr lang="en-US" sz="1325"/>
          </a:p>
          <a:p>
            <a:pPr algn="l">
              <a:lnSpc>
                <a:spcPts val="1510"/>
              </a:lnSpc>
              <a:spcAft>
                <a:spcPts val="0"/>
              </a:spcAft>
            </a:pPr>
            <a:r>
              <a:rPr lang="en-US" sz="1325" b="0" dirty="0">
                <a:solidFill>
                  <a:srgbClr val="181C23"/>
                </a:solidFill>
                <a:latin typeface="Funnel Sans"/>
              </a:rPr>
              <a:t>type and event class; selected features;</a:t>
            </a:r>
            <a:endParaRPr lang="en-US" sz="1325"/>
          </a:p>
          <a:p>
            <a:pPr algn="l">
              <a:lnSpc>
                <a:spcPts val="1510"/>
              </a:lnSpc>
              <a:spcAft>
                <a:spcPts val="0"/>
              </a:spcAft>
            </a:pPr>
            <a:r>
              <a:rPr lang="en-US" sz="1325" b="0" dirty="0">
                <a:solidFill>
                  <a:srgbClr val="181C23"/>
                </a:solidFill>
                <a:latin typeface="Funnel Sans"/>
              </a:rPr>
              <a:t>approved bin constraints.</a:t>
            </a:r>
            <a:endParaRPr lang="en-US" sz="1325"/>
          </a:p>
        </p:txBody>
      </p:sp>
      <p:sp>
        <p:nvSpPr>
          <p:cNvPr id="18" name="shape 18"/>
          <p:cNvSpPr/>
          <p:nvPr/>
        </p:nvSpPr>
        <p:spPr>
          <a:xfrm>
            <a:off x="8153400" y="1905000"/>
            <a:ext cx="3632200" cy="1549400"/>
          </a:xfrm>
          <a:prstGeom prst="roundRect">
            <a:avLst/>
          </a:prstGeom>
          <a:solidFill>
            <a:srgbClr val="FFF2DF"/>
          </a:solidFill>
          <a:ln w="12700">
            <a:solidFill>
              <a:srgbClr val="DEDCD6"/>
            </a:solidFill>
          </a:ln>
        </p:spPr>
      </p:sp>
      <p:sp>
        <p:nvSpPr>
          <p:cNvPr id="19" name="text 19"/>
          <p:cNvSpPr/>
          <p:nvPr/>
        </p:nvSpPr>
        <p:spPr>
          <a:xfrm>
            <a:off x="8318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OUTPUTS &amp; EVIDENCE</a:t>
            </a:r>
            <a:endParaRPr lang="en-US" sz="1000"/>
          </a:p>
        </p:txBody>
      </p:sp>
      <p:sp>
        <p:nvSpPr>
          <p:cNvPr id="20" name="text 20"/>
          <p:cNvSpPr/>
          <p:nvPr/>
        </p:nvSpPr>
        <p:spPr>
          <a:xfrm>
            <a:off x="8318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ROC / AUC / Gini, fine and coarse bins,</a:t>
            </a:r>
            <a:endParaRPr lang="en-US" sz="1325"/>
          </a:p>
          <a:p>
            <a:pPr algn="l">
              <a:lnSpc>
                <a:spcPts val="1510"/>
              </a:lnSpc>
              <a:spcAft>
                <a:spcPts val="0"/>
              </a:spcAft>
            </a:pPr>
            <a:r>
              <a:rPr lang="en-US" sz="1325" b="0" dirty="0">
                <a:solidFill>
                  <a:srgbClr val="181C23"/>
                </a:solidFill>
                <a:latin typeface="Funnel Sans"/>
              </a:rPr>
              <a:t>WOE / IV, feature categories and review</a:t>
            </a:r>
            <a:endParaRPr lang="en-US" sz="1325"/>
          </a:p>
          <a:p>
            <a:pPr algn="l">
              <a:lnSpc>
                <a:spcPts val="1510"/>
              </a:lnSpc>
              <a:spcAft>
                <a:spcPts val="0"/>
              </a:spcAft>
            </a:pPr>
            <a:r>
              <a:rPr lang="en-US" sz="1325" b="0" dirty="0">
                <a:solidFill>
                  <a:srgbClr val="181C23"/>
                </a:solidFill>
                <a:latin typeface="Funnel Sans"/>
              </a:rPr>
              <a:t>candidates. Partial feature errors stay</a:t>
            </a:r>
            <a:endParaRPr lang="en-US" sz="1325"/>
          </a:p>
          <a:p>
            <a:pPr algn="l">
              <a:lnSpc>
                <a:spcPts val="1510"/>
              </a:lnSpc>
              <a:spcAft>
                <a:spcPts val="0"/>
              </a:spcAft>
            </a:pPr>
            <a:r>
              <a:rPr lang="en-US" sz="1325" b="0" dirty="0">
                <a:solidFill>
                  <a:srgbClr val="181C23"/>
                </a:solidFill>
                <a:latin typeface="Funnel Sans"/>
              </a:rPr>
              <a:t>explicit.</a:t>
            </a:r>
            <a:endParaRPr lang="en-US" sz="1325"/>
          </a:p>
        </p:txBody>
      </p:sp>
      <p:sp>
        <p:nvSpPr>
          <p:cNvPr id="21" name="text 21"/>
          <p:cNvSpPr/>
          <p:nvPr/>
        </p:nvSpPr>
        <p:spPr>
          <a:xfrm>
            <a:off x="406400" y="3606800"/>
            <a:ext cx="7747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PROCESS &amp; LAUNCH</a:t>
            </a:r>
            <a:endParaRPr lang="en-US" sz="1000"/>
          </a:p>
        </p:txBody>
      </p:sp>
      <p:sp>
        <p:nvSpPr>
          <p:cNvPr id="22" name="shape 22"/>
          <p:cNvSpPr/>
          <p:nvPr/>
        </p:nvSpPr>
        <p:spPr>
          <a:xfrm>
            <a:off x="406400" y="3898900"/>
            <a:ext cx="2113280" cy="774700"/>
          </a:xfrm>
          <a:prstGeom prst="roundRect">
            <a:avLst/>
          </a:prstGeom>
          <a:solidFill>
            <a:srgbClr val="FFF2DF"/>
          </a:solidFill>
          <a:ln>
            <a:noFill/>
          </a:ln>
        </p:spPr>
      </p:sp>
      <p:sp>
        <p:nvSpPr>
          <p:cNvPr id="23" name="text 23"/>
          <p:cNvSpPr/>
          <p:nvPr/>
        </p:nvSpPr>
        <p:spPr>
          <a:xfrm>
            <a:off x="53340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01</a:t>
            </a:r>
            <a:endParaRPr lang="en-US" sz="1200"/>
          </a:p>
        </p:txBody>
      </p:sp>
      <p:sp>
        <p:nvSpPr>
          <p:cNvPr id="24" name="text 24"/>
          <p:cNvSpPr/>
          <p:nvPr/>
        </p:nvSpPr>
        <p:spPr>
          <a:xfrm>
            <a:off x="87630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Select</a:t>
            </a:r>
            <a:endParaRPr lang="en-US" sz="1250"/>
          </a:p>
        </p:txBody>
      </p:sp>
      <p:sp>
        <p:nvSpPr>
          <p:cNvPr id="25" name="text 25"/>
          <p:cNvSpPr/>
          <p:nvPr/>
        </p:nvSpPr>
        <p:spPr>
          <a:xfrm>
            <a:off x="53340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Snapshot + features</a:t>
            </a:r>
            <a:endParaRPr lang="en-US" sz="1100"/>
          </a:p>
        </p:txBody>
      </p:sp>
      <p:cxnSp>
        <p:nvCxnSpPr>
          <p:cNvPr id="26" name="connector 26"/>
          <p:cNvCxnSpPr/>
          <p:nvPr/>
        </p:nvCxnSpPr>
        <p:spPr>
          <a:xfrm>
            <a:off x="254508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2722880" y="3898900"/>
            <a:ext cx="2113280" cy="774700"/>
          </a:xfrm>
          <a:prstGeom prst="roundRect">
            <a:avLst/>
          </a:prstGeom>
          <a:solidFill>
            <a:srgbClr val="FFF2DF"/>
          </a:solidFill>
          <a:ln>
            <a:noFill/>
          </a:ln>
        </p:spPr>
      </p:sp>
      <p:sp>
        <p:nvSpPr>
          <p:cNvPr id="28" name="text 28"/>
          <p:cNvSpPr/>
          <p:nvPr/>
        </p:nvSpPr>
        <p:spPr>
          <a:xfrm>
            <a:off x="284988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02</a:t>
            </a:r>
            <a:endParaRPr lang="en-US" sz="1200"/>
          </a:p>
        </p:txBody>
      </p:sp>
      <p:sp>
        <p:nvSpPr>
          <p:cNvPr id="29" name="text 29"/>
          <p:cNvSpPr/>
          <p:nvPr/>
        </p:nvSpPr>
        <p:spPr>
          <a:xfrm>
            <a:off x="319278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Confirm</a:t>
            </a:r>
            <a:endParaRPr lang="en-US" sz="1250"/>
          </a:p>
        </p:txBody>
      </p:sp>
      <p:sp>
        <p:nvSpPr>
          <p:cNvPr id="30" name="text 30"/>
          <p:cNvSpPr/>
          <p:nvPr/>
        </p:nvSpPr>
        <p:spPr>
          <a:xfrm>
            <a:off x="284988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Target + event class</a:t>
            </a:r>
            <a:endParaRPr lang="en-US" sz="1100"/>
          </a:p>
        </p:txBody>
      </p:sp>
      <p:cxnSp>
        <p:nvCxnSpPr>
          <p:cNvPr id="31" name="connector 31"/>
          <p:cNvCxnSpPr/>
          <p:nvPr/>
        </p:nvCxnSpPr>
        <p:spPr>
          <a:xfrm>
            <a:off x="486156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2" name="shape 32"/>
          <p:cNvSpPr/>
          <p:nvPr/>
        </p:nvSpPr>
        <p:spPr>
          <a:xfrm>
            <a:off x="5039360" y="3898900"/>
            <a:ext cx="2113280" cy="774700"/>
          </a:xfrm>
          <a:prstGeom prst="roundRect">
            <a:avLst/>
          </a:prstGeom>
          <a:solidFill>
            <a:srgbClr val="FFF2DF"/>
          </a:solidFill>
          <a:ln>
            <a:noFill/>
          </a:ln>
        </p:spPr>
      </p:sp>
      <p:sp>
        <p:nvSpPr>
          <p:cNvPr id="33" name="text 33"/>
          <p:cNvSpPr/>
          <p:nvPr/>
        </p:nvSpPr>
        <p:spPr>
          <a:xfrm>
            <a:off x="516636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03</a:t>
            </a:r>
            <a:endParaRPr lang="en-US" sz="1200"/>
          </a:p>
        </p:txBody>
      </p:sp>
      <p:sp>
        <p:nvSpPr>
          <p:cNvPr id="34" name="text 34"/>
          <p:cNvSpPr/>
          <p:nvPr/>
        </p:nvSpPr>
        <p:spPr>
          <a:xfrm>
            <a:off x="550926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Freeze</a:t>
            </a:r>
            <a:endParaRPr lang="en-US" sz="1250"/>
          </a:p>
        </p:txBody>
      </p:sp>
      <p:sp>
        <p:nvSpPr>
          <p:cNvPr id="35" name="text 35"/>
          <p:cNvSpPr/>
          <p:nvPr/>
        </p:nvSpPr>
        <p:spPr>
          <a:xfrm>
            <a:off x="516636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Run / bin settings</a:t>
            </a:r>
            <a:endParaRPr lang="en-US" sz="1100"/>
          </a:p>
        </p:txBody>
      </p:sp>
      <p:cxnSp>
        <p:nvCxnSpPr>
          <p:cNvPr id="36" name="connector 36"/>
          <p:cNvCxnSpPr/>
          <p:nvPr/>
        </p:nvCxnSpPr>
        <p:spPr>
          <a:xfrm>
            <a:off x="717804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7" name="shape 37"/>
          <p:cNvSpPr/>
          <p:nvPr/>
        </p:nvSpPr>
        <p:spPr>
          <a:xfrm>
            <a:off x="7355840" y="3898900"/>
            <a:ext cx="2113280" cy="774700"/>
          </a:xfrm>
          <a:prstGeom prst="roundRect">
            <a:avLst/>
          </a:prstGeom>
          <a:solidFill>
            <a:srgbClr val="FFF2DF"/>
          </a:solidFill>
          <a:ln>
            <a:noFill/>
          </a:ln>
        </p:spPr>
      </p:sp>
      <p:sp>
        <p:nvSpPr>
          <p:cNvPr id="38" name="text 38"/>
          <p:cNvSpPr/>
          <p:nvPr/>
        </p:nvSpPr>
        <p:spPr>
          <a:xfrm>
            <a:off x="748284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04</a:t>
            </a:r>
            <a:endParaRPr lang="en-US" sz="1200"/>
          </a:p>
        </p:txBody>
      </p:sp>
      <p:sp>
        <p:nvSpPr>
          <p:cNvPr id="39" name="text 39"/>
          <p:cNvSpPr/>
          <p:nvPr/>
        </p:nvSpPr>
        <p:spPr>
          <a:xfrm>
            <a:off x="782574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Calculate</a:t>
            </a:r>
            <a:endParaRPr lang="en-US" sz="1250"/>
          </a:p>
        </p:txBody>
      </p:sp>
      <p:sp>
        <p:nvSpPr>
          <p:cNvPr id="40" name="text 40"/>
          <p:cNvSpPr/>
          <p:nvPr/>
        </p:nvSpPr>
        <p:spPr>
          <a:xfrm>
            <a:off x="748284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ROC + WOE / IV</a:t>
            </a:r>
            <a:endParaRPr lang="en-US" sz="1100"/>
          </a:p>
        </p:txBody>
      </p:sp>
      <p:cxnSp>
        <p:nvCxnSpPr>
          <p:cNvPr id="41" name="connector 41"/>
          <p:cNvCxnSpPr/>
          <p:nvPr/>
        </p:nvCxnSpPr>
        <p:spPr>
          <a:xfrm>
            <a:off x="949452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9672320" y="3898900"/>
            <a:ext cx="2113280" cy="774700"/>
          </a:xfrm>
          <a:prstGeom prst="roundRect">
            <a:avLst/>
          </a:prstGeom>
          <a:solidFill>
            <a:srgbClr val="FFF2DF"/>
          </a:solidFill>
          <a:ln>
            <a:noFill/>
          </a:ln>
        </p:spPr>
      </p:sp>
      <p:sp>
        <p:nvSpPr>
          <p:cNvPr id="43" name="text 43"/>
          <p:cNvSpPr/>
          <p:nvPr/>
        </p:nvSpPr>
        <p:spPr>
          <a:xfrm>
            <a:off x="979932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05</a:t>
            </a:r>
            <a:endParaRPr lang="en-US" sz="1200"/>
          </a:p>
        </p:txBody>
      </p:sp>
      <p:sp>
        <p:nvSpPr>
          <p:cNvPr id="44" name="text 44"/>
          <p:cNvSpPr/>
          <p:nvPr/>
        </p:nvSpPr>
        <p:spPr>
          <a:xfrm>
            <a:off x="1014222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Review</a:t>
            </a:r>
            <a:endParaRPr lang="en-US" sz="1250"/>
          </a:p>
        </p:txBody>
      </p:sp>
      <p:sp>
        <p:nvSpPr>
          <p:cNvPr id="45" name="text 45"/>
          <p:cNvSpPr/>
          <p:nvPr/>
        </p:nvSpPr>
        <p:spPr>
          <a:xfrm>
            <a:off x="979932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Final feature report</a:t>
            </a:r>
            <a:endParaRPr lang="en-US" sz="1100"/>
          </a:p>
        </p:txBody>
      </p:sp>
      <p:sp>
        <p:nvSpPr>
          <p:cNvPr id="46" name="shape 46"/>
          <p:cNvSpPr/>
          <p:nvPr/>
        </p:nvSpPr>
        <p:spPr>
          <a:xfrm>
            <a:off x="406400" y="4851400"/>
            <a:ext cx="5562600" cy="1206500"/>
          </a:xfrm>
          <a:prstGeom prst="roundRect">
            <a:avLst/>
          </a:prstGeom>
          <a:solidFill>
            <a:srgbClr val="FFFFFF"/>
          </a:solidFill>
          <a:ln w="12700">
            <a:solidFill>
              <a:srgbClr val="DEDCD6"/>
            </a:solidFill>
          </a:ln>
        </p:spPr>
      </p:sp>
      <p:sp>
        <p:nvSpPr>
          <p:cNvPr id="47" name="text 47"/>
          <p:cNvSpPr/>
          <p:nvPr/>
        </p:nvSpPr>
        <p:spPr>
          <a:xfrm>
            <a:off x="5715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FINDING → ISSUE</a:t>
            </a:r>
            <a:endParaRPr lang="en-US" sz="1000"/>
          </a:p>
        </p:txBody>
      </p:sp>
      <p:sp>
        <p:nvSpPr>
          <p:cNvPr id="48" name="text 48"/>
          <p:cNvSpPr/>
          <p:nvPr/>
        </p:nvSpPr>
        <p:spPr>
          <a:xfrm>
            <a:off x="5715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Suspicious → Strong → Medium → Weak precedence. AUC cutoffs .90 /</a:t>
            </a:r>
            <a:endParaRPr lang="en-US" sz="1250"/>
          </a:p>
          <a:p>
            <a:pPr algn="l">
              <a:lnSpc>
                <a:spcPts val="1425"/>
              </a:lnSpc>
              <a:spcAft>
                <a:spcPts val="0"/>
              </a:spcAft>
            </a:pPr>
            <a:r>
              <a:rPr lang="en-US" sz="1250" b="0" dirty="0">
                <a:solidFill>
                  <a:srgbClr val="181C23"/>
                </a:solidFill>
                <a:latin typeface="Funnel Sans"/>
              </a:rPr>
              <a:t>.70 / .55; IV .50 / .30 / .05 are tunable. Candidate thresholds are</a:t>
            </a:r>
            <a:endParaRPr lang="en-US" sz="1250"/>
          </a:p>
          <a:p>
            <a:pPr algn="l">
              <a:lnSpc>
                <a:spcPts val="1425"/>
              </a:lnSpc>
              <a:spcAft>
                <a:spcPts val="0"/>
              </a:spcAft>
            </a:pPr>
            <a:r>
              <a:rPr lang="en-US" sz="1250" b="0" dirty="0">
                <a:solidFill>
                  <a:srgbClr val="181C23"/>
                </a:solidFill>
                <a:latin typeface="Funnel Sans"/>
              </a:rPr>
              <a:t>separate; user confirms or dismisses.</a:t>
            </a:r>
            <a:endParaRPr lang="en-US" sz="1250"/>
          </a:p>
        </p:txBody>
      </p:sp>
      <p:sp>
        <p:nvSpPr>
          <p:cNvPr id="49" name="shape 49"/>
          <p:cNvSpPr/>
          <p:nvPr/>
        </p:nvSpPr>
        <p:spPr>
          <a:xfrm>
            <a:off x="6223000" y="4851400"/>
            <a:ext cx="5562600" cy="1206500"/>
          </a:xfrm>
          <a:prstGeom prst="roundRect">
            <a:avLst/>
          </a:prstGeom>
          <a:solidFill>
            <a:srgbClr val="FFFFFF"/>
          </a:solidFill>
          <a:ln w="12700">
            <a:solidFill>
              <a:srgbClr val="DEDCD6"/>
            </a:solidFill>
          </a:ln>
        </p:spPr>
      </p:sp>
      <p:sp>
        <p:nvSpPr>
          <p:cNvPr id="50" name="text 50"/>
          <p:cNvSpPr/>
          <p:nvPr/>
        </p:nvSpPr>
        <p:spPr>
          <a:xfrm>
            <a:off x="63881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RCA → REMEDIATION</a:t>
            </a:r>
            <a:endParaRPr lang="en-US" sz="1000"/>
          </a:p>
        </p:txBody>
      </p:sp>
      <p:sp>
        <p:nvSpPr>
          <p:cNvPr id="51" name="text 51"/>
          <p:cNvSpPr/>
          <p:nvPr/>
        </p:nvSpPr>
        <p:spPr>
          <a:xfrm>
            <a:off x="63881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Check target construction, feature availability and bin evidence.</a:t>
            </a:r>
            <a:endParaRPr lang="en-US" sz="1250"/>
          </a:p>
          <a:p>
            <a:pPr algn="l">
              <a:lnSpc>
                <a:spcPts val="1425"/>
              </a:lnSpc>
              <a:spcAft>
                <a:spcPts val="0"/>
              </a:spcAft>
            </a:pPr>
            <a:r>
              <a:rPr lang="en-US" sz="1250" b="0" dirty="0">
                <a:solidFill>
                  <a:srgbClr val="181C23"/>
                </a:solidFill>
                <a:latin typeface="Funnel Sans"/>
              </a:rPr>
              <a:t>Approve a root cause or mark unresolved; correct source / feature</a:t>
            </a:r>
            <a:endParaRPr lang="en-US" sz="1250"/>
          </a:p>
          <a:p>
            <a:pPr algn="l">
              <a:lnSpc>
                <a:spcPts val="1425"/>
              </a:lnSpc>
              <a:spcAft>
                <a:spcPts val="0"/>
              </a:spcAft>
            </a:pPr>
            <a:r>
              <a:rPr lang="en-US" sz="1250" b="0" dirty="0">
                <a:solidFill>
                  <a:srgbClr val="181C23"/>
                </a:solidFill>
                <a:latin typeface="Funnel Sans"/>
              </a:rPr>
              <a:t>design externally, then upload and rerun.</a:t>
            </a:r>
            <a:endParaRPr lang="en-US" sz="1250"/>
          </a:p>
        </p:txBody>
      </p:sp>
      <p:sp>
        <p:nvSpPr>
          <p:cNvPr id="52" name="shape 52"/>
          <p:cNvSpPr/>
          <p:nvPr/>
        </p:nvSpPr>
        <p:spPr>
          <a:xfrm>
            <a:off x="406400" y="6172200"/>
            <a:ext cx="11379200" cy="292100"/>
          </a:xfrm>
          <a:prstGeom prst="roundRect">
            <a:avLst/>
          </a:prstGeom>
          <a:solidFill>
            <a:srgbClr val="282A27"/>
          </a:solidFill>
          <a:ln>
            <a:noFill/>
          </a:ln>
        </p:spPr>
      </p:sp>
      <p:sp>
        <p:nvSpPr>
          <p:cNvPr id="53" name="text 53"/>
          <p:cNvSpPr/>
          <p:nvPr/>
        </p:nvSpPr>
        <p:spPr>
          <a:xfrm>
            <a:off x="546100" y="6235700"/>
            <a:ext cx="11099800" cy="203200"/>
          </a:xfrm>
          <a:prstGeom prst="rect">
            <a:avLst/>
          </a:prstGeom>
          <a:noFill/>
          <a:ln>
            <a:noFill/>
          </a:ln>
        </p:spPr>
        <p:txBody>
          <a:bodyPr wrap="none" lIns="0" tIns="0" rIns="0" bIns="0" anchor="t">
            <a:noAutofit/>
          </a:bodyPr>
          <a:lstStyle/>
          <a:p>
            <a:pPr algn="l">
              <a:lnSpc>
                <a:spcPts val="1197"/>
              </a:lnSpc>
              <a:spcAft>
                <a:spcPts val="0"/>
              </a:spcAft>
            </a:pPr>
            <a:r>
              <a:rPr lang="en-US" sz="1050" b="0" dirty="0">
                <a:solidFill>
                  <a:srgbClr val="FFFFFF"/>
                </a:solidFill>
                <a:latin typeface="Funnel Sans"/>
              </a:rPr>
              <a:t>A strong single feature is a review signal, not proof of leakage. Streaming previews are not final results.</a:t>
            </a:r>
            <a:endParaRPr lang="en-US" sz="1050"/>
          </a:p>
        </p:txBody>
      </p:sp>
      <p:cxnSp>
        <p:nvCxnSpPr>
          <p:cNvPr id="54" name="connector 54"/>
          <p:cNvCxnSpPr/>
          <p:nvPr/>
        </p:nvCxnSpPr>
        <p:spPr>
          <a:xfrm>
            <a:off x="406400" y="6553200"/>
            <a:ext cx="113792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55" name="text 55"/>
          <p:cNvSpPr/>
          <p:nvPr/>
        </p:nvSpPr>
        <p:spPr>
          <a:xfrm>
            <a:off x="406400" y="6629400"/>
            <a:ext cx="5715000" cy="152400"/>
          </a:xfrm>
          <a:prstGeom prst="rect">
            <a:avLst/>
          </a:prstGeom>
          <a:noFill/>
          <a:ln>
            <a:noFill/>
          </a:ln>
        </p:spPr>
        <p:txBody>
          <a:bodyPr wrap="none" lIns="0" tIns="0" rIns="0" bIns="0" anchor="t">
            <a:noAutofit/>
          </a:bodyPr>
          <a:lstStyle/>
          <a:p>
            <a:pPr algn="l">
              <a:lnSpc>
                <a:spcPts val="969"/>
              </a:lnSpc>
              <a:spcAft>
                <a:spcPts val="0"/>
              </a:spcAft>
            </a:pPr>
            <a:r>
              <a:rPr lang="en-US" sz="850" b="0" dirty="0">
                <a:solidFill>
                  <a:srgbClr val="6D706B"/>
                </a:solidFill>
                <a:latin typeface="Funnel Sans"/>
              </a:rPr>
              <a:t>DATA WORKBENCH / Diagnostic quick reference</a:t>
            </a:r>
            <a:endParaRPr lang="en-US" sz="850"/>
          </a:p>
        </p:txBody>
      </p:sp>
      <p:sp>
        <p:nvSpPr>
          <p:cNvPr id="56" name="text 56"/>
          <p:cNvSpPr/>
          <p:nvPr/>
        </p:nvSpPr>
        <p:spPr>
          <a:xfrm>
            <a:off x="6223000" y="6629400"/>
            <a:ext cx="4254500" cy="152400"/>
          </a:xfrm>
          <a:prstGeom prst="rect">
            <a:avLst/>
          </a:prstGeom>
          <a:noFill/>
          <a:ln>
            <a:noFill/>
          </a:ln>
        </p:spPr>
        <p:txBody>
          <a:bodyPr wrap="none" lIns="0" tIns="0" rIns="0" bIns="0" anchor="t">
            <a:noAutofit/>
          </a:bodyPr>
          <a:lstStyle/>
          <a:p>
            <a:pPr algn="r">
              <a:lnSpc>
                <a:spcPts val="969"/>
              </a:lnSpc>
              <a:spcAft>
                <a:spcPts val="0"/>
              </a:spcAft>
            </a:pPr>
            <a:r>
              <a:rPr lang="en-US" sz="850" b="0" dirty="0">
                <a:solidFill>
                  <a:srgbClr val="6D706B"/>
                </a:solidFill>
                <a:latin typeface="Funnel Sans"/>
              </a:rPr>
              <a:t>Full deck: slides 27–31</a:t>
            </a:r>
            <a:endParaRPr lang="en-US" sz="850"/>
          </a:p>
        </p:txBody>
      </p:sp>
      <p:sp>
        <p:nvSpPr>
          <p:cNvPr id="57" name="text 57"/>
          <p:cNvSpPr/>
          <p:nvPr/>
        </p:nvSpPr>
        <p:spPr>
          <a:xfrm>
            <a:off x="10795000" y="6616700"/>
            <a:ext cx="990600" cy="177800"/>
          </a:xfrm>
          <a:prstGeom prst="rect">
            <a:avLst/>
          </a:prstGeom>
          <a:noFill/>
          <a:ln>
            <a:noFill/>
          </a:ln>
        </p:spPr>
        <p:txBody>
          <a:bodyPr wrap="none" lIns="0" tIns="0" rIns="0" bIns="0" anchor="t">
            <a:noAutofit/>
          </a:bodyPr>
          <a:lstStyle/>
          <a:p>
            <a:pPr algn="r">
              <a:lnSpc>
                <a:spcPts val="1083"/>
              </a:lnSpc>
              <a:spcAft>
                <a:spcPts val="0"/>
              </a:spcAft>
            </a:pPr>
            <a:r>
              <a:rPr lang="en-US" sz="950" b="0" dirty="0">
                <a:solidFill>
                  <a:srgbClr val="6D706B"/>
                </a:solidFill>
                <a:latin typeface="Funnel Sans"/>
              </a:rPr>
              <a:t>02 / 22</a:t>
            </a:r>
            <a:endParaRPr lang="en-US" sz="9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shape 3"/>
          <p:cNvSpPr/>
          <p:nvPr/>
        </p:nvSpPr>
        <p:spPr>
          <a:xfrm>
            <a:off x="406400" y="228600"/>
            <a:ext cx="1181100" cy="292100"/>
          </a:xfrm>
          <a:prstGeom prst="roundRect">
            <a:avLst/>
          </a:prstGeom>
          <a:solidFill>
            <a:srgbClr val="FFF2DF"/>
          </a:solidFill>
          <a:ln>
            <a:noFill/>
          </a:ln>
        </p:spPr>
      </p:sp>
      <p:sp>
        <p:nvSpPr>
          <p:cNvPr id="4" name="text 4"/>
          <p:cNvSpPr/>
          <p:nvPr/>
        </p:nvSpPr>
        <p:spPr>
          <a:xfrm>
            <a:off x="520700" y="292100"/>
            <a:ext cx="952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T2-D04</a:t>
            </a:r>
            <a:endParaRPr lang="en-US" sz="1000"/>
          </a:p>
        </p:txBody>
      </p:sp>
      <p:sp>
        <p:nvSpPr>
          <p:cNvPr id="5" name="text 5"/>
          <p:cNvSpPr/>
          <p:nvPr/>
        </p:nvSpPr>
        <p:spPr>
          <a:xfrm>
            <a:off x="1739900" y="304800"/>
            <a:ext cx="3022600" cy="190500"/>
          </a:xfrm>
          <a:prstGeom prst="rect">
            <a:avLst/>
          </a:prstGeom>
          <a:noFill/>
          <a:ln>
            <a:noFill/>
          </a:ln>
        </p:spPr>
        <p:txBody>
          <a:bodyPr wrap="none" lIns="0" tIns="0" rIns="0" bIns="0" anchor="t">
            <a:noAutofit/>
          </a:bodyPr>
          <a:lstStyle/>
          <a:p>
            <a:pPr algn="l">
              <a:lnSpc>
                <a:spcPts val="1083"/>
              </a:lnSpc>
              <a:spcAft>
                <a:spcPts val="0"/>
              </a:spcAft>
            </a:pPr>
            <a:r>
              <a:rPr lang="en-US" sz="950" b="1" dirty="0">
                <a:solidFill>
                  <a:srgbClr val="6D706B"/>
                </a:solidFill>
                <a:latin typeface="Funnel Sans"/>
              </a:rPr>
              <a:t>INTERNAL CONSISTENCY</a:t>
            </a:r>
            <a:endParaRPr lang="en-US" sz="950"/>
          </a:p>
        </p:txBody>
      </p:sp>
      <p:sp>
        <p:nvSpPr>
          <p:cNvPr id="6" name="shape 6"/>
          <p:cNvSpPr/>
          <p:nvPr/>
        </p:nvSpPr>
        <p:spPr>
          <a:xfrm>
            <a:off x="4864100" y="228600"/>
            <a:ext cx="3797300" cy="292100"/>
          </a:xfrm>
          <a:prstGeom prst="roundRect">
            <a:avLst/>
          </a:prstGeom>
          <a:solidFill>
            <a:srgbClr val="EFEEE9"/>
          </a:solidFill>
          <a:ln>
            <a:noFill/>
          </a:ln>
        </p:spPr>
      </p:sp>
      <p:sp>
        <p:nvSpPr>
          <p:cNvPr id="7" name="text 7"/>
          <p:cNvSpPr/>
          <p:nvPr/>
        </p:nvSpPr>
        <p:spPr>
          <a:xfrm>
            <a:off x="4978400" y="292100"/>
            <a:ext cx="35687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181C23"/>
                </a:solidFill>
                <a:latin typeface="Funnel Sans"/>
              </a:rPr>
              <a:t>Deterministic KB rules</a:t>
            </a:r>
            <a:endParaRPr lang="en-US" sz="1000"/>
          </a:p>
        </p:txBody>
      </p:sp>
      <p:sp>
        <p:nvSpPr>
          <p:cNvPr id="8" name="shape 8"/>
          <p:cNvSpPr/>
          <p:nvPr/>
        </p:nvSpPr>
        <p:spPr>
          <a:xfrm>
            <a:off x="8826500" y="228600"/>
            <a:ext cx="2959100" cy="292100"/>
          </a:xfrm>
          <a:prstGeom prst="roundRect">
            <a:avLst/>
          </a:prstGeom>
          <a:solidFill>
            <a:srgbClr val="FFF2DF"/>
          </a:solidFill>
          <a:ln>
            <a:noFill/>
          </a:ln>
        </p:spPr>
      </p:sp>
      <p:sp>
        <p:nvSpPr>
          <p:cNvPr id="9" name="text 9"/>
          <p:cNvSpPr/>
          <p:nvPr/>
        </p:nvSpPr>
        <p:spPr>
          <a:xfrm>
            <a:off x="8940800" y="292100"/>
            <a:ext cx="2730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98641E"/>
                </a:solidFill>
                <a:latin typeface="Funnel Sans"/>
              </a:rPr>
              <a:t>Implemented · paused</a:t>
            </a:r>
            <a:endParaRPr lang="en-US" sz="1000"/>
          </a:p>
        </p:txBody>
      </p:sp>
      <p:sp>
        <p:nvSpPr>
          <p:cNvPr id="10" name="text 10"/>
          <p:cNvSpPr/>
          <p:nvPr/>
        </p:nvSpPr>
        <p:spPr>
          <a:xfrm>
            <a:off x="406400" y="698500"/>
            <a:ext cx="11379200" cy="508000"/>
          </a:xfrm>
          <a:prstGeom prst="rect">
            <a:avLst/>
          </a:prstGeom>
          <a:noFill/>
          <a:ln>
            <a:noFill/>
          </a:ln>
        </p:spPr>
        <p:txBody>
          <a:bodyPr wrap="none" lIns="0" tIns="0" rIns="0" bIns="0" anchor="t">
            <a:noAutofit/>
          </a:bodyPr>
          <a:lstStyle/>
          <a:p>
            <a:pPr algn="l">
              <a:lnSpc>
                <a:spcPts val="3192"/>
              </a:lnSpc>
              <a:spcAft>
                <a:spcPts val="0"/>
              </a:spcAft>
            </a:pPr>
            <a:r>
              <a:rPr lang="en-US" sz="2800" b="1" dirty="0">
                <a:solidFill>
                  <a:srgbClr val="181C23"/>
                </a:solidFill>
                <a:latin typeface="Funnel Sans"/>
              </a:rPr>
              <a:t>Cross-field business rule</a:t>
            </a:r>
            <a:endParaRPr lang="en-US" sz="2800"/>
          </a:p>
        </p:txBody>
      </p:sp>
      <p:sp>
        <p:nvSpPr>
          <p:cNvPr id="11" name="text 11"/>
          <p:cNvSpPr/>
          <p:nvPr/>
        </p:nvSpPr>
        <p:spPr>
          <a:xfrm>
            <a:off x="419100" y="1320800"/>
            <a:ext cx="11353800" cy="4445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Check whether related values satisfy approved business rules, conditions and exceptions.</a:t>
            </a:r>
            <a:endParaRPr lang="en-US" sz="1500"/>
          </a:p>
        </p:txBody>
      </p:sp>
      <p:sp>
        <p:nvSpPr>
          <p:cNvPr id="12" name="shape 12"/>
          <p:cNvSpPr/>
          <p:nvPr/>
        </p:nvSpPr>
        <p:spPr>
          <a:xfrm>
            <a:off x="406400" y="1905000"/>
            <a:ext cx="3632200" cy="1549400"/>
          </a:xfrm>
          <a:prstGeom prst="roundRect">
            <a:avLst/>
          </a:prstGeom>
          <a:solidFill>
            <a:srgbClr val="FFFFFF"/>
          </a:solidFill>
          <a:ln w="12700">
            <a:solidFill>
              <a:srgbClr val="DEDCD6"/>
            </a:solidFill>
          </a:ln>
        </p:spPr>
      </p:sp>
      <p:sp>
        <p:nvSpPr>
          <p:cNvPr id="13" name="text 13"/>
          <p:cNvSpPr/>
          <p:nvPr/>
        </p:nvSpPr>
        <p:spPr>
          <a:xfrm>
            <a:off x="571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USER &amp; TRIGGER</a:t>
            </a:r>
            <a:endParaRPr lang="en-US" sz="1000"/>
          </a:p>
        </p:txBody>
      </p:sp>
      <p:sp>
        <p:nvSpPr>
          <p:cNvPr id="14" name="text 14"/>
          <p:cNvSpPr/>
          <p:nvPr/>
        </p:nvSpPr>
        <p:spPr>
          <a:xfrm>
            <a:off x="571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Data team / diagnostic owner + SME</a:t>
            </a:r>
            <a:endParaRPr lang="en-US" sz="1325"/>
          </a:p>
          <a:p>
            <a:pPr algn="l">
              <a:lnSpc>
                <a:spcPts val="1510"/>
              </a:lnSpc>
              <a:spcAft>
                <a:spcPts val="0"/>
              </a:spcAft>
            </a:pPr>
            <a:r>
              <a:rPr lang="en-US" sz="1325" b="0" dirty="0">
                <a:solidFill>
                  <a:srgbClr val="181C23"/>
                </a:solidFill>
                <a:latin typeface="Funnel Sans"/>
              </a:rPr>
              <a:t>Use for cross-field contradictions after</a:t>
            </a:r>
            <a:endParaRPr lang="en-US" sz="1325"/>
          </a:p>
          <a:p>
            <a:pPr algn="l">
              <a:lnSpc>
                <a:spcPts val="1510"/>
              </a:lnSpc>
              <a:spcAft>
                <a:spcPts val="0"/>
              </a:spcAft>
            </a:pPr>
            <a:r>
              <a:rPr lang="en-US" sz="1325" b="0" dirty="0">
                <a:solidFill>
                  <a:srgbClr val="181C23"/>
                </a:solidFill>
                <a:latin typeface="Funnel Sans"/>
              </a:rPr>
              <a:t>rule selection and binding are approved.</a:t>
            </a:r>
            <a:endParaRPr lang="en-US" sz="1325"/>
          </a:p>
        </p:txBody>
      </p:sp>
      <p:sp>
        <p:nvSpPr>
          <p:cNvPr id="15" name="shape 15"/>
          <p:cNvSpPr/>
          <p:nvPr/>
        </p:nvSpPr>
        <p:spPr>
          <a:xfrm>
            <a:off x="4279900" y="1905000"/>
            <a:ext cx="3632200" cy="1549400"/>
          </a:xfrm>
          <a:prstGeom prst="roundRect">
            <a:avLst/>
          </a:prstGeom>
          <a:solidFill>
            <a:srgbClr val="FFFFFF"/>
          </a:solidFill>
          <a:ln w="12700">
            <a:solidFill>
              <a:srgbClr val="DEDCD6"/>
            </a:solidFill>
          </a:ln>
        </p:spPr>
      </p:sp>
      <p:sp>
        <p:nvSpPr>
          <p:cNvPr id="16" name="text 16"/>
          <p:cNvSpPr/>
          <p:nvPr/>
        </p:nvSpPr>
        <p:spPr>
          <a:xfrm>
            <a:off x="44450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INPUTS &amp; READINESS</a:t>
            </a:r>
            <a:endParaRPr lang="en-US" sz="1000"/>
          </a:p>
        </p:txBody>
      </p:sp>
      <p:sp>
        <p:nvSpPr>
          <p:cNvPr id="17" name="text 17"/>
          <p:cNvSpPr/>
          <p:nvPr/>
        </p:nvSpPr>
        <p:spPr>
          <a:xfrm>
            <a:off x="44450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Ready data; published knowledge-base</a:t>
            </a:r>
            <a:endParaRPr lang="en-US" sz="1325"/>
          </a:p>
          <a:p>
            <a:pPr algn="l">
              <a:lnSpc>
                <a:spcPts val="1510"/>
              </a:lnSpc>
              <a:spcAft>
                <a:spcPts val="0"/>
              </a:spcAft>
            </a:pPr>
            <a:r>
              <a:rPr lang="en-US" sz="1325" b="0" dirty="0">
                <a:solidFill>
                  <a:srgbClr val="181C23"/>
                </a:solidFill>
                <a:latin typeface="Funnel Sans"/>
              </a:rPr>
              <a:t>rules; use case; field-role bindings;</a:t>
            </a:r>
            <a:endParaRPr lang="en-US" sz="1325"/>
          </a:p>
          <a:p>
            <a:pPr algn="l">
              <a:lnSpc>
                <a:spcPts val="1510"/>
              </a:lnSpc>
              <a:spcAft>
                <a:spcPts val="0"/>
              </a:spcAft>
            </a:pPr>
            <a:r>
              <a:rPr lang="en-US" sz="1325" b="0" dirty="0">
                <a:solidFill>
                  <a:srgbClr val="181C23"/>
                </a:solidFill>
                <a:latin typeface="Funnel Sans"/>
              </a:rPr>
              <a:t>rule-specific tolerances and exceptions.</a:t>
            </a:r>
            <a:endParaRPr lang="en-US" sz="1325"/>
          </a:p>
        </p:txBody>
      </p:sp>
      <p:sp>
        <p:nvSpPr>
          <p:cNvPr id="18" name="shape 18"/>
          <p:cNvSpPr/>
          <p:nvPr/>
        </p:nvSpPr>
        <p:spPr>
          <a:xfrm>
            <a:off x="8153400" y="1905000"/>
            <a:ext cx="3632200" cy="1549400"/>
          </a:xfrm>
          <a:prstGeom prst="roundRect">
            <a:avLst/>
          </a:prstGeom>
          <a:solidFill>
            <a:srgbClr val="FFF2DF"/>
          </a:solidFill>
          <a:ln w="12700">
            <a:solidFill>
              <a:srgbClr val="DEDCD6"/>
            </a:solidFill>
          </a:ln>
        </p:spPr>
      </p:sp>
      <p:sp>
        <p:nvSpPr>
          <p:cNvPr id="19" name="text 19"/>
          <p:cNvSpPr/>
          <p:nvPr/>
        </p:nvSpPr>
        <p:spPr>
          <a:xfrm>
            <a:off x="8318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OUTPUTS &amp; EVIDENCE</a:t>
            </a:r>
            <a:endParaRPr lang="en-US" sz="1000"/>
          </a:p>
        </p:txBody>
      </p:sp>
      <p:sp>
        <p:nvSpPr>
          <p:cNvPr id="20" name="text 20"/>
          <p:cNvSpPr/>
          <p:nvPr/>
        </p:nvSpPr>
        <p:spPr>
          <a:xfrm>
            <a:off x="8318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PASS / VIOLATION / NOT-APPLICABLE;</a:t>
            </a:r>
            <a:endParaRPr lang="en-US" sz="1325"/>
          </a:p>
          <a:p>
            <a:pPr algn="l">
              <a:lnSpc>
                <a:spcPts val="1510"/>
              </a:lnSpc>
              <a:spcAft>
                <a:spcPts val="0"/>
              </a:spcAft>
            </a:pPr>
            <a:r>
              <a:rPr lang="en-US" sz="1325" b="0" dirty="0">
                <a:solidFill>
                  <a:srgbClr val="181C23"/>
                </a:solidFill>
                <a:latin typeface="Funnel Sans"/>
              </a:rPr>
              <a:t>evaluated, exception and skip counts;</a:t>
            </a:r>
            <a:endParaRPr lang="en-US" sz="1325"/>
          </a:p>
          <a:p>
            <a:pPr algn="l">
              <a:lnSpc>
                <a:spcPts val="1510"/>
              </a:lnSpc>
              <a:spcAft>
                <a:spcPts val="0"/>
              </a:spcAft>
            </a:pPr>
            <a:r>
              <a:rPr lang="en-US" sz="1325" b="0" dirty="0">
                <a:solidFill>
                  <a:srgbClr val="181C23"/>
                </a:solidFill>
                <a:latin typeface="Funnel Sans"/>
              </a:rPr>
              <a:t>violation rates, patterns and report</a:t>
            </a:r>
            <a:endParaRPr lang="en-US" sz="1325"/>
          </a:p>
          <a:p>
            <a:pPr algn="l">
              <a:lnSpc>
                <a:spcPts val="1510"/>
              </a:lnSpc>
              <a:spcAft>
                <a:spcPts val="0"/>
              </a:spcAft>
            </a:pPr>
            <a:r>
              <a:rPr lang="en-US" sz="1325" b="0" dirty="0">
                <a:solidFill>
                  <a:srgbClr val="181C23"/>
                </a:solidFill>
                <a:latin typeface="Funnel Sans"/>
              </a:rPr>
              <a:t>evidence.</a:t>
            </a:r>
            <a:endParaRPr lang="en-US" sz="1325"/>
          </a:p>
        </p:txBody>
      </p:sp>
      <p:sp>
        <p:nvSpPr>
          <p:cNvPr id="21" name="text 21"/>
          <p:cNvSpPr/>
          <p:nvPr/>
        </p:nvSpPr>
        <p:spPr>
          <a:xfrm>
            <a:off x="406400" y="3606800"/>
            <a:ext cx="7747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PROCESS &amp; LAUNCH</a:t>
            </a:r>
            <a:endParaRPr lang="en-US" sz="1000"/>
          </a:p>
        </p:txBody>
      </p:sp>
      <p:sp>
        <p:nvSpPr>
          <p:cNvPr id="22" name="text 22"/>
          <p:cNvSpPr/>
          <p:nvPr/>
        </p:nvSpPr>
        <p:spPr>
          <a:xfrm>
            <a:off x="7747000" y="3606800"/>
            <a:ext cx="4038600" cy="203200"/>
          </a:xfrm>
          <a:prstGeom prst="rect">
            <a:avLst/>
          </a:prstGeom>
          <a:noFill/>
          <a:ln>
            <a:noFill/>
          </a:ln>
        </p:spPr>
        <p:txBody>
          <a:bodyPr wrap="none" lIns="0" tIns="0" rIns="0" bIns="0" anchor="t">
            <a:noAutofit/>
          </a:bodyPr>
          <a:lstStyle/>
          <a:p>
            <a:pPr algn="r">
              <a:lnSpc>
                <a:spcPts val="1083"/>
              </a:lnSpc>
              <a:spcAft>
                <a:spcPts val="0"/>
              </a:spcAft>
            </a:pPr>
            <a:r>
              <a:rPr lang="en-US" sz="950" b="1" dirty="0">
                <a:solidFill>
                  <a:srgbClr val="98641E"/>
                </a:solidFill>
                <a:latin typeface="Funnel Sans"/>
              </a:rPr>
              <a:t>CODE PATH SHOWN · LAUNCH PAUSED</a:t>
            </a:r>
            <a:endParaRPr lang="en-US" sz="950"/>
          </a:p>
        </p:txBody>
      </p:sp>
      <p:sp>
        <p:nvSpPr>
          <p:cNvPr id="23" name="shape 23"/>
          <p:cNvSpPr/>
          <p:nvPr/>
        </p:nvSpPr>
        <p:spPr>
          <a:xfrm>
            <a:off x="406400" y="3898900"/>
            <a:ext cx="2113280" cy="774700"/>
          </a:xfrm>
          <a:prstGeom prst="roundRect">
            <a:avLst/>
          </a:prstGeom>
          <a:solidFill>
            <a:srgbClr val="FFF2DF"/>
          </a:solidFill>
          <a:ln>
            <a:noFill/>
          </a:ln>
        </p:spPr>
      </p:sp>
      <p:sp>
        <p:nvSpPr>
          <p:cNvPr id="24" name="text 24"/>
          <p:cNvSpPr/>
          <p:nvPr/>
        </p:nvSpPr>
        <p:spPr>
          <a:xfrm>
            <a:off x="53340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01</a:t>
            </a:r>
            <a:endParaRPr lang="en-US" sz="1200"/>
          </a:p>
        </p:txBody>
      </p:sp>
      <p:sp>
        <p:nvSpPr>
          <p:cNvPr id="25" name="text 25"/>
          <p:cNvSpPr/>
          <p:nvPr/>
        </p:nvSpPr>
        <p:spPr>
          <a:xfrm>
            <a:off x="87630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Select rules</a:t>
            </a:r>
            <a:endParaRPr lang="en-US" sz="1250"/>
          </a:p>
        </p:txBody>
      </p:sp>
      <p:sp>
        <p:nvSpPr>
          <p:cNvPr id="26" name="text 26"/>
          <p:cNvSpPr/>
          <p:nvPr/>
        </p:nvSpPr>
        <p:spPr>
          <a:xfrm>
            <a:off x="53340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Approved KB release</a:t>
            </a:r>
            <a:endParaRPr lang="en-US" sz="1100"/>
          </a:p>
        </p:txBody>
      </p:sp>
      <p:cxnSp>
        <p:nvCxnSpPr>
          <p:cNvPr id="27" name="connector 27"/>
          <p:cNvCxnSpPr/>
          <p:nvPr/>
        </p:nvCxnSpPr>
        <p:spPr>
          <a:xfrm>
            <a:off x="254508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8" name="shape 28"/>
          <p:cNvSpPr/>
          <p:nvPr/>
        </p:nvSpPr>
        <p:spPr>
          <a:xfrm>
            <a:off x="2722880" y="3898900"/>
            <a:ext cx="2113280" cy="774700"/>
          </a:xfrm>
          <a:prstGeom prst="roundRect">
            <a:avLst/>
          </a:prstGeom>
          <a:solidFill>
            <a:srgbClr val="FFF2DF"/>
          </a:solidFill>
          <a:ln>
            <a:noFill/>
          </a:ln>
        </p:spPr>
      </p:sp>
      <p:sp>
        <p:nvSpPr>
          <p:cNvPr id="29" name="text 29"/>
          <p:cNvSpPr/>
          <p:nvPr/>
        </p:nvSpPr>
        <p:spPr>
          <a:xfrm>
            <a:off x="284988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02</a:t>
            </a:r>
            <a:endParaRPr lang="en-US" sz="1200"/>
          </a:p>
        </p:txBody>
      </p:sp>
      <p:sp>
        <p:nvSpPr>
          <p:cNvPr id="30" name="text 30"/>
          <p:cNvSpPr/>
          <p:nvPr/>
        </p:nvSpPr>
        <p:spPr>
          <a:xfrm>
            <a:off x="319278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Bind roles</a:t>
            </a:r>
            <a:endParaRPr lang="en-US" sz="1250"/>
          </a:p>
        </p:txBody>
      </p:sp>
      <p:sp>
        <p:nvSpPr>
          <p:cNvPr id="31" name="text 31"/>
          <p:cNvSpPr/>
          <p:nvPr/>
        </p:nvSpPr>
        <p:spPr>
          <a:xfrm>
            <a:off x="284988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Resolve required fields</a:t>
            </a:r>
            <a:endParaRPr lang="en-US" sz="1100"/>
          </a:p>
        </p:txBody>
      </p:sp>
      <p:cxnSp>
        <p:nvCxnSpPr>
          <p:cNvPr id="32" name="connector 32"/>
          <p:cNvCxnSpPr/>
          <p:nvPr/>
        </p:nvCxnSpPr>
        <p:spPr>
          <a:xfrm>
            <a:off x="486156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3" name="shape 33"/>
          <p:cNvSpPr/>
          <p:nvPr/>
        </p:nvSpPr>
        <p:spPr>
          <a:xfrm>
            <a:off x="5039360" y="3898900"/>
            <a:ext cx="2113280" cy="774700"/>
          </a:xfrm>
          <a:prstGeom prst="roundRect">
            <a:avLst/>
          </a:prstGeom>
          <a:solidFill>
            <a:srgbClr val="FFF2DF"/>
          </a:solidFill>
          <a:ln>
            <a:noFill/>
          </a:ln>
        </p:spPr>
      </p:sp>
      <p:sp>
        <p:nvSpPr>
          <p:cNvPr id="34" name="text 34"/>
          <p:cNvSpPr/>
          <p:nvPr/>
        </p:nvSpPr>
        <p:spPr>
          <a:xfrm>
            <a:off x="516636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03</a:t>
            </a:r>
            <a:endParaRPr lang="en-US" sz="1200"/>
          </a:p>
        </p:txBody>
      </p:sp>
      <p:sp>
        <p:nvSpPr>
          <p:cNvPr id="35" name="text 35"/>
          <p:cNvSpPr/>
          <p:nvPr/>
        </p:nvSpPr>
        <p:spPr>
          <a:xfrm>
            <a:off x="550926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Apply scope</a:t>
            </a:r>
            <a:endParaRPr lang="en-US" sz="1250"/>
          </a:p>
        </p:txBody>
      </p:sp>
      <p:sp>
        <p:nvSpPr>
          <p:cNvPr id="36" name="text 36"/>
          <p:cNvSpPr/>
          <p:nvPr/>
        </p:nvSpPr>
        <p:spPr>
          <a:xfrm>
            <a:off x="516636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Conditions / exceptions</a:t>
            </a:r>
            <a:endParaRPr lang="en-US" sz="1100"/>
          </a:p>
        </p:txBody>
      </p:sp>
      <p:cxnSp>
        <p:nvCxnSpPr>
          <p:cNvPr id="37" name="connector 37"/>
          <p:cNvCxnSpPr/>
          <p:nvPr/>
        </p:nvCxnSpPr>
        <p:spPr>
          <a:xfrm>
            <a:off x="717804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8" name="shape 38"/>
          <p:cNvSpPr/>
          <p:nvPr/>
        </p:nvSpPr>
        <p:spPr>
          <a:xfrm>
            <a:off x="7355840" y="3898900"/>
            <a:ext cx="2113280" cy="774700"/>
          </a:xfrm>
          <a:prstGeom prst="roundRect">
            <a:avLst/>
          </a:prstGeom>
          <a:solidFill>
            <a:srgbClr val="FFF2DF"/>
          </a:solidFill>
          <a:ln>
            <a:noFill/>
          </a:ln>
        </p:spPr>
      </p:sp>
      <p:sp>
        <p:nvSpPr>
          <p:cNvPr id="39" name="text 39"/>
          <p:cNvSpPr/>
          <p:nvPr/>
        </p:nvSpPr>
        <p:spPr>
          <a:xfrm>
            <a:off x="748284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04</a:t>
            </a:r>
            <a:endParaRPr lang="en-US" sz="1200"/>
          </a:p>
        </p:txBody>
      </p:sp>
      <p:sp>
        <p:nvSpPr>
          <p:cNvPr id="40" name="text 40"/>
          <p:cNvSpPr/>
          <p:nvPr/>
        </p:nvSpPr>
        <p:spPr>
          <a:xfrm>
            <a:off x="782574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Evaluate</a:t>
            </a:r>
            <a:endParaRPr lang="en-US" sz="1250"/>
          </a:p>
        </p:txBody>
      </p:sp>
      <p:sp>
        <p:nvSpPr>
          <p:cNvPr id="41" name="text 41"/>
          <p:cNvSpPr/>
          <p:nvPr/>
        </p:nvSpPr>
        <p:spPr>
          <a:xfrm>
            <a:off x="748284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Rate vs tolerance</a:t>
            </a:r>
            <a:endParaRPr lang="en-US" sz="1100"/>
          </a:p>
        </p:txBody>
      </p:sp>
      <p:cxnSp>
        <p:nvCxnSpPr>
          <p:cNvPr id="42" name="connector 42"/>
          <p:cNvCxnSpPr/>
          <p:nvPr/>
        </p:nvCxnSpPr>
        <p:spPr>
          <a:xfrm>
            <a:off x="949452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43" name="shape 43"/>
          <p:cNvSpPr/>
          <p:nvPr/>
        </p:nvSpPr>
        <p:spPr>
          <a:xfrm>
            <a:off x="9672320" y="3898900"/>
            <a:ext cx="2113280" cy="774700"/>
          </a:xfrm>
          <a:prstGeom prst="roundRect">
            <a:avLst/>
          </a:prstGeom>
          <a:solidFill>
            <a:srgbClr val="FFF2DF"/>
          </a:solidFill>
          <a:ln>
            <a:noFill/>
          </a:ln>
        </p:spPr>
      </p:sp>
      <p:sp>
        <p:nvSpPr>
          <p:cNvPr id="44" name="text 44"/>
          <p:cNvSpPr/>
          <p:nvPr/>
        </p:nvSpPr>
        <p:spPr>
          <a:xfrm>
            <a:off x="979932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05</a:t>
            </a:r>
            <a:endParaRPr lang="en-US" sz="1200"/>
          </a:p>
        </p:txBody>
      </p:sp>
      <p:sp>
        <p:nvSpPr>
          <p:cNvPr id="45" name="text 45"/>
          <p:cNvSpPr/>
          <p:nvPr/>
        </p:nvSpPr>
        <p:spPr>
          <a:xfrm>
            <a:off x="1014222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Persist</a:t>
            </a:r>
            <a:endParaRPr lang="en-US" sz="1250"/>
          </a:p>
        </p:txBody>
      </p:sp>
      <p:sp>
        <p:nvSpPr>
          <p:cNvPr id="46" name="text 46"/>
          <p:cNvSpPr/>
          <p:nvPr/>
        </p:nvSpPr>
        <p:spPr>
          <a:xfrm>
            <a:off x="979932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Report + issue handoff</a:t>
            </a:r>
            <a:endParaRPr lang="en-US" sz="1100"/>
          </a:p>
        </p:txBody>
      </p:sp>
      <p:sp>
        <p:nvSpPr>
          <p:cNvPr id="47" name="shape 47"/>
          <p:cNvSpPr/>
          <p:nvPr/>
        </p:nvSpPr>
        <p:spPr>
          <a:xfrm>
            <a:off x="406400" y="4851400"/>
            <a:ext cx="5562600" cy="1206500"/>
          </a:xfrm>
          <a:prstGeom prst="roundRect">
            <a:avLst/>
          </a:prstGeom>
          <a:solidFill>
            <a:srgbClr val="FFFFFF"/>
          </a:solidFill>
          <a:ln w="12700">
            <a:solidFill>
              <a:srgbClr val="DEDCD6"/>
            </a:solidFill>
          </a:ln>
        </p:spPr>
      </p:sp>
      <p:sp>
        <p:nvSpPr>
          <p:cNvPr id="48" name="text 48"/>
          <p:cNvSpPr/>
          <p:nvPr/>
        </p:nvSpPr>
        <p:spPr>
          <a:xfrm>
            <a:off x="5715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FINDING → ISSUE</a:t>
            </a:r>
            <a:endParaRPr lang="en-US" sz="1000"/>
          </a:p>
        </p:txBody>
      </p:sp>
      <p:sp>
        <p:nvSpPr>
          <p:cNvPr id="49" name="text 49"/>
          <p:cNvSpPr/>
          <p:nvPr/>
        </p:nvSpPr>
        <p:spPr>
          <a:xfrm>
            <a:off x="5715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If executed, VIOLATION auto-opens an issue in the runner. Rate ≤</a:t>
            </a:r>
            <a:endParaRPr lang="en-US" sz="1250"/>
          </a:p>
          <a:p>
            <a:pPr algn="l">
              <a:lnSpc>
                <a:spcPts val="1425"/>
              </a:lnSpc>
              <a:spcAft>
                <a:spcPts val="0"/>
              </a:spcAft>
            </a:pPr>
            <a:r>
              <a:rPr lang="en-US" sz="1250" b="0" dirty="0">
                <a:solidFill>
                  <a:srgbClr val="181C23"/>
                </a:solidFill>
                <a:latin typeface="Funnel Sans"/>
              </a:rPr>
              <a:t>tolerance is PASS. Missing roles, empty scope or entirely skipped rows</a:t>
            </a:r>
            <a:endParaRPr lang="en-US" sz="1250"/>
          </a:p>
          <a:p>
            <a:pPr algn="l">
              <a:lnSpc>
                <a:spcPts val="1425"/>
              </a:lnSpc>
              <a:spcAft>
                <a:spcPts val="0"/>
              </a:spcAft>
            </a:pPr>
            <a:r>
              <a:rPr lang="en-US" sz="1250" b="0" dirty="0">
                <a:solidFill>
                  <a:srgbClr val="181C23"/>
                </a:solidFill>
                <a:latin typeface="Funnel Sans"/>
              </a:rPr>
              <a:t>are NOT-APPLICABLE.</a:t>
            </a:r>
            <a:endParaRPr lang="en-US" sz="1250"/>
          </a:p>
        </p:txBody>
      </p:sp>
      <p:sp>
        <p:nvSpPr>
          <p:cNvPr id="50" name="shape 50"/>
          <p:cNvSpPr/>
          <p:nvPr/>
        </p:nvSpPr>
        <p:spPr>
          <a:xfrm>
            <a:off x="6223000" y="4851400"/>
            <a:ext cx="5562600" cy="1206500"/>
          </a:xfrm>
          <a:prstGeom prst="roundRect">
            <a:avLst/>
          </a:prstGeom>
          <a:solidFill>
            <a:srgbClr val="FFFFFF"/>
          </a:solidFill>
          <a:ln w="12700">
            <a:solidFill>
              <a:srgbClr val="DEDCD6"/>
            </a:solidFill>
          </a:ln>
        </p:spPr>
      </p:sp>
      <p:sp>
        <p:nvSpPr>
          <p:cNvPr id="51" name="text 51"/>
          <p:cNvSpPr/>
          <p:nvPr/>
        </p:nvSpPr>
        <p:spPr>
          <a:xfrm>
            <a:off x="63881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RCA → REMEDIATION</a:t>
            </a:r>
            <a:endParaRPr lang="en-US" sz="1000"/>
          </a:p>
        </p:txBody>
      </p:sp>
      <p:sp>
        <p:nvSpPr>
          <p:cNvPr id="52" name="text 52"/>
          <p:cNvSpPr/>
          <p:nvPr/>
        </p:nvSpPr>
        <p:spPr>
          <a:xfrm>
            <a:off x="63881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Review mapping, exceptions and source facts versus rule design.</a:t>
            </a:r>
            <a:endParaRPr lang="en-US" sz="1250"/>
          </a:p>
          <a:p>
            <a:pPr algn="l">
              <a:lnSpc>
                <a:spcPts val="1425"/>
              </a:lnSpc>
              <a:spcAft>
                <a:spcPts val="0"/>
              </a:spcAft>
            </a:pPr>
            <a:r>
              <a:rPr lang="en-US" sz="1250" b="0" dirty="0">
                <a:solidFill>
                  <a:srgbClr val="181C23"/>
                </a:solidFill>
                <a:latin typeface="Funnel Sans"/>
              </a:rPr>
              <a:t>Resolve RCA or mark unresolved; use an external data fix or governed</a:t>
            </a:r>
            <a:endParaRPr lang="en-US" sz="1250"/>
          </a:p>
          <a:p>
            <a:pPr algn="l">
              <a:lnSpc>
                <a:spcPts val="1425"/>
              </a:lnSpc>
              <a:spcAft>
                <a:spcPts val="0"/>
              </a:spcAft>
            </a:pPr>
            <a:r>
              <a:rPr lang="en-US" sz="1250" b="0" dirty="0">
                <a:solidFill>
                  <a:srgbClr val="181C23"/>
                </a:solidFill>
                <a:latin typeface="Funnel Sans"/>
              </a:rPr>
              <a:t>rule change, then retest when enabled.</a:t>
            </a:r>
            <a:endParaRPr lang="en-US" sz="1250"/>
          </a:p>
        </p:txBody>
      </p:sp>
      <p:sp>
        <p:nvSpPr>
          <p:cNvPr id="53" name="shape 53"/>
          <p:cNvSpPr/>
          <p:nvPr/>
        </p:nvSpPr>
        <p:spPr>
          <a:xfrm>
            <a:off x="406400" y="6172200"/>
            <a:ext cx="11379200" cy="292100"/>
          </a:xfrm>
          <a:prstGeom prst="roundRect">
            <a:avLst/>
          </a:prstGeom>
          <a:solidFill>
            <a:srgbClr val="282A27"/>
          </a:solidFill>
          <a:ln>
            <a:noFill/>
          </a:ln>
        </p:spPr>
      </p:sp>
      <p:sp>
        <p:nvSpPr>
          <p:cNvPr id="54" name="text 54"/>
          <p:cNvSpPr/>
          <p:nvPr/>
        </p:nvSpPr>
        <p:spPr>
          <a:xfrm>
            <a:off x="546100" y="6235700"/>
            <a:ext cx="11099800" cy="203200"/>
          </a:xfrm>
          <a:prstGeom prst="rect">
            <a:avLst/>
          </a:prstGeom>
          <a:noFill/>
          <a:ln>
            <a:noFill/>
          </a:ln>
        </p:spPr>
        <p:txBody>
          <a:bodyPr wrap="none" lIns="0" tIns="0" rIns="0" bIns="0" anchor="t">
            <a:noAutofit/>
          </a:bodyPr>
          <a:lstStyle/>
          <a:p>
            <a:pPr algn="l">
              <a:lnSpc>
                <a:spcPts val="1197"/>
              </a:lnSpc>
              <a:spcAft>
                <a:spcPts val="0"/>
              </a:spcAft>
            </a:pPr>
            <a:r>
              <a:rPr lang="en-US" sz="1050" b="0" dirty="0">
                <a:solidFill>
                  <a:srgbClr val="FFFFFF"/>
                </a:solidFill>
                <a:latin typeface="Funnel Sans"/>
              </a:rPr>
              <a:t>Current register pauses launch (workflow_pending). The processing and issue behavior shown exists in code.</a:t>
            </a:r>
            <a:endParaRPr lang="en-US" sz="1050"/>
          </a:p>
        </p:txBody>
      </p:sp>
      <p:cxnSp>
        <p:nvCxnSpPr>
          <p:cNvPr id="55" name="connector 55"/>
          <p:cNvCxnSpPr/>
          <p:nvPr/>
        </p:nvCxnSpPr>
        <p:spPr>
          <a:xfrm>
            <a:off x="406400" y="6553200"/>
            <a:ext cx="113792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56" name="text 56"/>
          <p:cNvSpPr/>
          <p:nvPr/>
        </p:nvSpPr>
        <p:spPr>
          <a:xfrm>
            <a:off x="406400" y="6629400"/>
            <a:ext cx="5715000" cy="152400"/>
          </a:xfrm>
          <a:prstGeom prst="rect">
            <a:avLst/>
          </a:prstGeom>
          <a:noFill/>
          <a:ln>
            <a:noFill/>
          </a:ln>
        </p:spPr>
        <p:txBody>
          <a:bodyPr wrap="none" lIns="0" tIns="0" rIns="0" bIns="0" anchor="t">
            <a:noAutofit/>
          </a:bodyPr>
          <a:lstStyle/>
          <a:p>
            <a:pPr algn="l">
              <a:lnSpc>
                <a:spcPts val="969"/>
              </a:lnSpc>
              <a:spcAft>
                <a:spcPts val="0"/>
              </a:spcAft>
            </a:pPr>
            <a:r>
              <a:rPr lang="en-US" sz="850" b="0" dirty="0">
                <a:solidFill>
                  <a:srgbClr val="6D706B"/>
                </a:solidFill>
                <a:latin typeface="Funnel Sans"/>
              </a:rPr>
              <a:t>DATA WORKBENCH / Diagnostic quick reference</a:t>
            </a:r>
            <a:endParaRPr lang="en-US" sz="850"/>
          </a:p>
        </p:txBody>
      </p:sp>
      <p:sp>
        <p:nvSpPr>
          <p:cNvPr id="57" name="text 57"/>
          <p:cNvSpPr/>
          <p:nvPr/>
        </p:nvSpPr>
        <p:spPr>
          <a:xfrm>
            <a:off x="6223000" y="6629400"/>
            <a:ext cx="4254500" cy="152400"/>
          </a:xfrm>
          <a:prstGeom prst="rect">
            <a:avLst/>
          </a:prstGeom>
          <a:noFill/>
          <a:ln>
            <a:noFill/>
          </a:ln>
        </p:spPr>
        <p:txBody>
          <a:bodyPr wrap="none" lIns="0" tIns="0" rIns="0" bIns="0" anchor="t">
            <a:noAutofit/>
          </a:bodyPr>
          <a:lstStyle/>
          <a:p>
            <a:pPr algn="r">
              <a:lnSpc>
                <a:spcPts val="969"/>
              </a:lnSpc>
              <a:spcAft>
                <a:spcPts val="0"/>
              </a:spcAft>
            </a:pPr>
            <a:r>
              <a:rPr lang="en-US" sz="850" b="0" dirty="0">
                <a:solidFill>
                  <a:srgbClr val="6D706B"/>
                </a:solidFill>
                <a:latin typeface="Funnel Sans"/>
              </a:rPr>
              <a:t>Full deck: slides 32–36</a:t>
            </a:r>
            <a:endParaRPr lang="en-US" sz="850"/>
          </a:p>
        </p:txBody>
      </p:sp>
      <p:sp>
        <p:nvSpPr>
          <p:cNvPr id="58" name="text 58"/>
          <p:cNvSpPr/>
          <p:nvPr/>
        </p:nvSpPr>
        <p:spPr>
          <a:xfrm>
            <a:off x="10795000" y="6616700"/>
            <a:ext cx="990600" cy="177800"/>
          </a:xfrm>
          <a:prstGeom prst="rect">
            <a:avLst/>
          </a:prstGeom>
          <a:noFill/>
          <a:ln>
            <a:noFill/>
          </a:ln>
        </p:spPr>
        <p:txBody>
          <a:bodyPr wrap="none" lIns="0" tIns="0" rIns="0" bIns="0" anchor="t">
            <a:noAutofit/>
          </a:bodyPr>
          <a:lstStyle/>
          <a:p>
            <a:pPr algn="r">
              <a:lnSpc>
                <a:spcPts val="1083"/>
              </a:lnSpc>
              <a:spcAft>
                <a:spcPts val="0"/>
              </a:spcAft>
            </a:pPr>
            <a:r>
              <a:rPr lang="en-US" sz="950" b="0" dirty="0">
                <a:solidFill>
                  <a:srgbClr val="6D706B"/>
                </a:solidFill>
                <a:latin typeface="Funnel Sans"/>
              </a:rPr>
              <a:t>03 / 22</a:t>
            </a:r>
            <a:endParaRPr lang="en-US" sz="9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shape 3"/>
          <p:cNvSpPr/>
          <p:nvPr/>
        </p:nvSpPr>
        <p:spPr>
          <a:xfrm>
            <a:off x="406400" y="228600"/>
            <a:ext cx="1181100" cy="292100"/>
          </a:xfrm>
          <a:prstGeom prst="roundRect">
            <a:avLst/>
          </a:prstGeom>
          <a:solidFill>
            <a:srgbClr val="FFF2DF"/>
          </a:solidFill>
          <a:ln>
            <a:noFill/>
          </a:ln>
        </p:spPr>
      </p:sp>
      <p:sp>
        <p:nvSpPr>
          <p:cNvPr id="4" name="text 4"/>
          <p:cNvSpPr/>
          <p:nvPr/>
        </p:nvSpPr>
        <p:spPr>
          <a:xfrm>
            <a:off x="520700" y="292100"/>
            <a:ext cx="952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T2-D06</a:t>
            </a:r>
            <a:endParaRPr lang="en-US" sz="1000"/>
          </a:p>
        </p:txBody>
      </p:sp>
      <p:sp>
        <p:nvSpPr>
          <p:cNvPr id="5" name="text 5"/>
          <p:cNvSpPr/>
          <p:nvPr/>
        </p:nvSpPr>
        <p:spPr>
          <a:xfrm>
            <a:off x="1739900" y="304800"/>
            <a:ext cx="3022600" cy="190500"/>
          </a:xfrm>
          <a:prstGeom prst="rect">
            <a:avLst/>
          </a:prstGeom>
          <a:noFill/>
          <a:ln>
            <a:noFill/>
          </a:ln>
        </p:spPr>
        <p:txBody>
          <a:bodyPr wrap="none" lIns="0" tIns="0" rIns="0" bIns="0" anchor="t">
            <a:noAutofit/>
          </a:bodyPr>
          <a:lstStyle/>
          <a:p>
            <a:pPr algn="l">
              <a:lnSpc>
                <a:spcPts val="1083"/>
              </a:lnSpc>
              <a:spcAft>
                <a:spcPts val="0"/>
              </a:spcAft>
            </a:pPr>
            <a:r>
              <a:rPr lang="en-US" sz="950" b="1" dirty="0">
                <a:solidFill>
                  <a:srgbClr val="6D706B"/>
                </a:solidFill>
                <a:latin typeface="Funnel Sans"/>
              </a:rPr>
              <a:t>INTERNAL CONSISTENCY</a:t>
            </a:r>
            <a:endParaRPr lang="en-US" sz="950"/>
          </a:p>
        </p:txBody>
      </p:sp>
      <p:sp>
        <p:nvSpPr>
          <p:cNvPr id="6" name="shape 6"/>
          <p:cNvSpPr/>
          <p:nvPr/>
        </p:nvSpPr>
        <p:spPr>
          <a:xfrm>
            <a:off x="4864100" y="228600"/>
            <a:ext cx="3797300" cy="292100"/>
          </a:xfrm>
          <a:prstGeom prst="roundRect">
            <a:avLst/>
          </a:prstGeom>
          <a:solidFill>
            <a:srgbClr val="EFEEE9"/>
          </a:solidFill>
          <a:ln>
            <a:noFill/>
          </a:ln>
        </p:spPr>
      </p:sp>
      <p:sp>
        <p:nvSpPr>
          <p:cNvPr id="7" name="text 7"/>
          <p:cNvSpPr/>
          <p:nvPr/>
        </p:nvSpPr>
        <p:spPr>
          <a:xfrm>
            <a:off x="4978400" y="292100"/>
            <a:ext cx="35687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181C23"/>
                </a:solidFill>
                <a:latin typeface="Funnel Sans"/>
              </a:rPr>
              <a:t>Facility × period grid</a:t>
            </a:r>
            <a:endParaRPr lang="en-US" sz="1000"/>
          </a:p>
        </p:txBody>
      </p:sp>
      <p:sp>
        <p:nvSpPr>
          <p:cNvPr id="8" name="shape 8"/>
          <p:cNvSpPr/>
          <p:nvPr/>
        </p:nvSpPr>
        <p:spPr>
          <a:xfrm>
            <a:off x="8826500" y="228600"/>
            <a:ext cx="2959100" cy="292100"/>
          </a:xfrm>
          <a:prstGeom prst="roundRect">
            <a:avLst/>
          </a:prstGeom>
          <a:solidFill>
            <a:srgbClr val="E9F3ED"/>
          </a:solidFill>
          <a:ln>
            <a:noFill/>
          </a:ln>
        </p:spPr>
      </p:sp>
      <p:sp>
        <p:nvSpPr>
          <p:cNvPr id="9" name="text 9"/>
          <p:cNvSpPr/>
          <p:nvPr/>
        </p:nvSpPr>
        <p:spPr>
          <a:xfrm>
            <a:off x="8940800" y="292100"/>
            <a:ext cx="2730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276B57"/>
                </a:solidFill>
                <a:latin typeface="Funnel Sans"/>
              </a:rPr>
              <a:t>Enabled</a:t>
            </a:r>
            <a:endParaRPr lang="en-US" sz="1000"/>
          </a:p>
        </p:txBody>
      </p:sp>
      <p:sp>
        <p:nvSpPr>
          <p:cNvPr id="10" name="text 10"/>
          <p:cNvSpPr/>
          <p:nvPr/>
        </p:nvSpPr>
        <p:spPr>
          <a:xfrm>
            <a:off x="406400" y="698500"/>
            <a:ext cx="11379200" cy="508000"/>
          </a:xfrm>
          <a:prstGeom prst="rect">
            <a:avLst/>
          </a:prstGeom>
          <a:noFill/>
          <a:ln>
            <a:noFill/>
          </a:ln>
        </p:spPr>
        <p:txBody>
          <a:bodyPr wrap="none" lIns="0" tIns="0" rIns="0" bIns="0" anchor="t">
            <a:noAutofit/>
          </a:bodyPr>
          <a:lstStyle/>
          <a:p>
            <a:pPr algn="l">
              <a:lnSpc>
                <a:spcPts val="3192"/>
              </a:lnSpc>
              <a:spcAft>
                <a:spcPts val="0"/>
              </a:spcAft>
            </a:pPr>
            <a:r>
              <a:rPr lang="en-US" sz="2800" b="1" dirty="0">
                <a:solidFill>
                  <a:srgbClr val="181C23"/>
                </a:solidFill>
                <a:latin typeface="Funnel Sans"/>
              </a:rPr>
              <a:t>Row-completeness reconciliation</a:t>
            </a:r>
            <a:endParaRPr lang="en-US" sz="2800"/>
          </a:p>
        </p:txBody>
      </p:sp>
      <p:sp>
        <p:nvSpPr>
          <p:cNvPr id="11" name="text 11"/>
          <p:cNvSpPr/>
          <p:nvPr/>
        </p:nvSpPr>
        <p:spPr>
          <a:xfrm>
            <a:off x="419100" y="1320800"/>
            <a:ext cx="11353800" cy="4445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Detect missing periods, duplicate pairs and gaps within the observed facility panel.</a:t>
            </a:r>
            <a:endParaRPr lang="en-US" sz="1500"/>
          </a:p>
        </p:txBody>
      </p:sp>
      <p:sp>
        <p:nvSpPr>
          <p:cNvPr id="12" name="shape 12"/>
          <p:cNvSpPr/>
          <p:nvPr/>
        </p:nvSpPr>
        <p:spPr>
          <a:xfrm>
            <a:off x="406400" y="1905000"/>
            <a:ext cx="3632200" cy="1549400"/>
          </a:xfrm>
          <a:prstGeom prst="roundRect">
            <a:avLst/>
          </a:prstGeom>
          <a:solidFill>
            <a:srgbClr val="FFFFFF"/>
          </a:solidFill>
          <a:ln w="12700">
            <a:solidFill>
              <a:srgbClr val="DEDCD6"/>
            </a:solidFill>
          </a:ln>
        </p:spPr>
      </p:sp>
      <p:sp>
        <p:nvSpPr>
          <p:cNvPr id="13" name="text 13"/>
          <p:cNvSpPr/>
          <p:nvPr/>
        </p:nvSpPr>
        <p:spPr>
          <a:xfrm>
            <a:off x="571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USER &amp; TRIGGER</a:t>
            </a:r>
            <a:endParaRPr lang="en-US" sz="1000"/>
          </a:p>
        </p:txBody>
      </p:sp>
      <p:sp>
        <p:nvSpPr>
          <p:cNvPr id="14" name="text 14"/>
          <p:cNvSpPr/>
          <p:nvPr/>
        </p:nvSpPr>
        <p:spPr>
          <a:xfrm>
            <a:off x="571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Data / analytics team</a:t>
            </a:r>
            <a:endParaRPr lang="en-US" sz="1325"/>
          </a:p>
          <a:p>
            <a:pPr algn="l">
              <a:lnSpc>
                <a:spcPts val="1510"/>
              </a:lnSpc>
              <a:spcAft>
                <a:spcPts val="0"/>
              </a:spcAft>
            </a:pPr>
            <a:r>
              <a:rPr lang="en-US" sz="1325" b="0" dirty="0">
                <a:solidFill>
                  <a:srgbClr val="181C23"/>
                </a:solidFill>
                <a:latin typeface="Funnel Sans"/>
              </a:rPr>
              <a:t>Run on a periodic panel to assess</a:t>
            </a:r>
            <a:endParaRPr lang="en-US" sz="1325"/>
          </a:p>
          <a:p>
            <a:pPr algn="l">
              <a:lnSpc>
                <a:spcPts val="1510"/>
              </a:lnSpc>
              <a:spcAft>
                <a:spcPts val="0"/>
              </a:spcAft>
            </a:pPr>
            <a:r>
              <a:rPr lang="en-US" sz="1325" b="0" dirty="0">
                <a:solidFill>
                  <a:srgbClr val="181C23"/>
                </a:solidFill>
                <a:latin typeface="Funnel Sans"/>
              </a:rPr>
              <a:t>continuity before downstream analysis.</a:t>
            </a:r>
            <a:endParaRPr lang="en-US" sz="1325"/>
          </a:p>
        </p:txBody>
      </p:sp>
      <p:sp>
        <p:nvSpPr>
          <p:cNvPr id="15" name="shape 15"/>
          <p:cNvSpPr/>
          <p:nvPr/>
        </p:nvSpPr>
        <p:spPr>
          <a:xfrm>
            <a:off x="4279900" y="1905000"/>
            <a:ext cx="3632200" cy="1549400"/>
          </a:xfrm>
          <a:prstGeom prst="roundRect">
            <a:avLst/>
          </a:prstGeom>
          <a:solidFill>
            <a:srgbClr val="FFFFFF"/>
          </a:solidFill>
          <a:ln w="12700">
            <a:solidFill>
              <a:srgbClr val="DEDCD6"/>
            </a:solidFill>
          </a:ln>
        </p:spPr>
      </p:sp>
      <p:sp>
        <p:nvSpPr>
          <p:cNvPr id="16" name="text 16"/>
          <p:cNvSpPr/>
          <p:nvPr/>
        </p:nvSpPr>
        <p:spPr>
          <a:xfrm>
            <a:off x="44450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INPUTS &amp; READINESS</a:t>
            </a:r>
            <a:endParaRPr lang="en-US" sz="1000"/>
          </a:p>
        </p:txBody>
      </p:sp>
      <p:sp>
        <p:nvSpPr>
          <p:cNvPr id="17" name="text 17"/>
          <p:cNvSpPr/>
          <p:nvPr/>
        </p:nvSpPr>
        <p:spPr>
          <a:xfrm>
            <a:off x="44450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One ready facility-period panel; facility ID,</a:t>
            </a:r>
            <a:endParaRPr lang="en-US" sz="1325"/>
          </a:p>
          <a:p>
            <a:pPr algn="l">
              <a:lnSpc>
                <a:spcPts val="1510"/>
              </a:lnSpc>
              <a:spcAft>
                <a:spcPts val="0"/>
              </a:spcAft>
            </a:pPr>
            <a:r>
              <a:rPr lang="en-US" sz="1325" b="0" dirty="0">
                <a:solidFill>
                  <a:srgbClr val="181C23"/>
                </a:solidFill>
                <a:latin typeface="Funnel Sans"/>
              </a:rPr>
              <a:t>reporting period and confirmed grain;</a:t>
            </a:r>
            <a:endParaRPr lang="en-US" sz="1325"/>
          </a:p>
          <a:p>
            <a:pPr algn="l">
              <a:lnSpc>
                <a:spcPts val="1510"/>
              </a:lnSpc>
              <a:spcAft>
                <a:spcPts val="0"/>
              </a:spcAft>
            </a:pPr>
            <a:r>
              <a:rPr lang="en-US" sz="1325" b="0" dirty="0">
                <a:solidFill>
                  <a:srgbClr val="181C23"/>
                </a:solidFill>
                <a:latin typeface="Funnel Sans"/>
              </a:rPr>
              <a:t>optional segment; continuity floor</a:t>
            </a:r>
            <a:endParaRPr lang="en-US" sz="1325"/>
          </a:p>
          <a:p>
            <a:pPr algn="l">
              <a:lnSpc>
                <a:spcPts val="1510"/>
              </a:lnSpc>
              <a:spcAft>
                <a:spcPts val="0"/>
              </a:spcAft>
            </a:pPr>
            <a:r>
              <a:rPr lang="en-US" sz="1325" b="0" dirty="0">
                <a:solidFill>
                  <a:srgbClr val="181C23"/>
                </a:solidFill>
                <a:latin typeface="Funnel Sans"/>
              </a:rPr>
              <a:t>(default 95%).</a:t>
            </a:r>
            <a:endParaRPr lang="en-US" sz="1325"/>
          </a:p>
        </p:txBody>
      </p:sp>
      <p:sp>
        <p:nvSpPr>
          <p:cNvPr id="18" name="shape 18"/>
          <p:cNvSpPr/>
          <p:nvPr/>
        </p:nvSpPr>
        <p:spPr>
          <a:xfrm>
            <a:off x="8153400" y="1905000"/>
            <a:ext cx="3632200" cy="1549400"/>
          </a:xfrm>
          <a:prstGeom prst="roundRect">
            <a:avLst/>
          </a:prstGeom>
          <a:solidFill>
            <a:srgbClr val="FFF2DF"/>
          </a:solidFill>
          <a:ln w="12700">
            <a:solidFill>
              <a:srgbClr val="DEDCD6"/>
            </a:solidFill>
          </a:ln>
        </p:spPr>
      </p:sp>
      <p:sp>
        <p:nvSpPr>
          <p:cNvPr id="19" name="text 19"/>
          <p:cNvSpPr/>
          <p:nvPr/>
        </p:nvSpPr>
        <p:spPr>
          <a:xfrm>
            <a:off x="8318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OUTPUTS &amp; EVIDENCE</a:t>
            </a:r>
            <a:endParaRPr lang="en-US" sz="1000"/>
          </a:p>
        </p:txBody>
      </p:sp>
      <p:sp>
        <p:nvSpPr>
          <p:cNvPr id="20" name="text 20"/>
          <p:cNvSpPr/>
          <p:nvPr/>
        </p:nvSpPr>
        <p:spPr>
          <a:xfrm>
            <a:off x="8318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Six rule outcomes: identifiers, period</a:t>
            </a:r>
            <a:endParaRPr lang="en-US" sz="1325"/>
          </a:p>
          <a:p>
            <a:pPr algn="l">
              <a:lnSpc>
                <a:spcPts val="1510"/>
              </a:lnSpc>
              <a:spcAft>
                <a:spcPts val="0"/>
              </a:spcAft>
            </a:pPr>
            <a:r>
              <a:rPr lang="en-US" sz="1325" b="0" dirty="0">
                <a:solidFill>
                  <a:srgbClr val="181C23"/>
                </a:solidFill>
                <a:latin typeface="Funnel Sans"/>
              </a:rPr>
              <a:t>sequence, rows per period, duplicate</a:t>
            </a:r>
            <a:endParaRPr lang="en-US" sz="1325"/>
          </a:p>
          <a:p>
            <a:pPr algn="l">
              <a:lnSpc>
                <a:spcPts val="1510"/>
              </a:lnSpc>
              <a:spcAft>
                <a:spcPts val="0"/>
              </a:spcAft>
            </a:pPr>
            <a:r>
              <a:rPr lang="en-US" sz="1325" b="0" dirty="0">
                <a:solidFill>
                  <a:srgbClr val="181C23"/>
                </a:solidFill>
                <a:latin typeface="Funnel Sans"/>
              </a:rPr>
              <a:t>pairs, facility gaps and segment gaps;</a:t>
            </a:r>
            <a:endParaRPr lang="en-US" sz="1325"/>
          </a:p>
          <a:p>
            <a:pPr algn="l">
              <a:lnSpc>
                <a:spcPts val="1510"/>
              </a:lnSpc>
              <a:spcAft>
                <a:spcPts val="0"/>
              </a:spcAft>
            </a:pPr>
            <a:r>
              <a:rPr lang="en-US" sz="1325" b="0" dirty="0">
                <a:solidFill>
                  <a:srgbClr val="181C23"/>
                </a:solidFill>
                <a:latin typeface="Funnel Sans"/>
              </a:rPr>
              <a:t>masked failure evidence.</a:t>
            </a:r>
            <a:endParaRPr lang="en-US" sz="1325"/>
          </a:p>
        </p:txBody>
      </p:sp>
      <p:sp>
        <p:nvSpPr>
          <p:cNvPr id="21" name="text 21"/>
          <p:cNvSpPr/>
          <p:nvPr/>
        </p:nvSpPr>
        <p:spPr>
          <a:xfrm>
            <a:off x="406400" y="3606800"/>
            <a:ext cx="7747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PROCESS &amp; LAUNCH</a:t>
            </a:r>
            <a:endParaRPr lang="en-US" sz="1000"/>
          </a:p>
        </p:txBody>
      </p:sp>
      <p:sp>
        <p:nvSpPr>
          <p:cNvPr id="22" name="shape 22"/>
          <p:cNvSpPr/>
          <p:nvPr/>
        </p:nvSpPr>
        <p:spPr>
          <a:xfrm>
            <a:off x="406400" y="3898900"/>
            <a:ext cx="2113280" cy="774700"/>
          </a:xfrm>
          <a:prstGeom prst="roundRect">
            <a:avLst/>
          </a:prstGeom>
          <a:solidFill>
            <a:srgbClr val="FFF2DF"/>
          </a:solidFill>
          <a:ln>
            <a:noFill/>
          </a:ln>
        </p:spPr>
      </p:sp>
      <p:sp>
        <p:nvSpPr>
          <p:cNvPr id="23" name="text 23"/>
          <p:cNvSpPr/>
          <p:nvPr/>
        </p:nvSpPr>
        <p:spPr>
          <a:xfrm>
            <a:off x="53340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01</a:t>
            </a:r>
            <a:endParaRPr lang="en-US" sz="1200"/>
          </a:p>
        </p:txBody>
      </p:sp>
      <p:sp>
        <p:nvSpPr>
          <p:cNvPr id="24" name="text 24"/>
          <p:cNvSpPr/>
          <p:nvPr/>
        </p:nvSpPr>
        <p:spPr>
          <a:xfrm>
            <a:off x="87630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Validate</a:t>
            </a:r>
            <a:endParaRPr lang="en-US" sz="1250"/>
          </a:p>
        </p:txBody>
      </p:sp>
      <p:sp>
        <p:nvSpPr>
          <p:cNvPr id="25" name="text 25"/>
          <p:cNvSpPr/>
          <p:nvPr/>
        </p:nvSpPr>
        <p:spPr>
          <a:xfrm>
            <a:off x="53340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Keys + panel grain</a:t>
            </a:r>
            <a:endParaRPr lang="en-US" sz="1100"/>
          </a:p>
        </p:txBody>
      </p:sp>
      <p:cxnSp>
        <p:nvCxnSpPr>
          <p:cNvPr id="26" name="connector 26"/>
          <p:cNvCxnSpPr/>
          <p:nvPr/>
        </p:nvCxnSpPr>
        <p:spPr>
          <a:xfrm>
            <a:off x="254508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2722880" y="3898900"/>
            <a:ext cx="2113280" cy="774700"/>
          </a:xfrm>
          <a:prstGeom prst="roundRect">
            <a:avLst/>
          </a:prstGeom>
          <a:solidFill>
            <a:srgbClr val="FFF2DF"/>
          </a:solidFill>
          <a:ln>
            <a:noFill/>
          </a:ln>
        </p:spPr>
      </p:sp>
      <p:sp>
        <p:nvSpPr>
          <p:cNvPr id="28" name="text 28"/>
          <p:cNvSpPr/>
          <p:nvPr/>
        </p:nvSpPr>
        <p:spPr>
          <a:xfrm>
            <a:off x="284988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02</a:t>
            </a:r>
            <a:endParaRPr lang="en-US" sz="1200"/>
          </a:p>
        </p:txBody>
      </p:sp>
      <p:sp>
        <p:nvSpPr>
          <p:cNvPr id="29" name="text 29"/>
          <p:cNvSpPr/>
          <p:nvPr/>
        </p:nvSpPr>
        <p:spPr>
          <a:xfrm>
            <a:off x="319278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Define span</a:t>
            </a:r>
            <a:endParaRPr lang="en-US" sz="1250"/>
          </a:p>
        </p:txBody>
      </p:sp>
      <p:sp>
        <p:nvSpPr>
          <p:cNvPr id="30" name="text 30"/>
          <p:cNvSpPr/>
          <p:nvPr/>
        </p:nvSpPr>
        <p:spPr>
          <a:xfrm>
            <a:off x="284988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Observed first to last</a:t>
            </a:r>
            <a:endParaRPr lang="en-US" sz="1100"/>
          </a:p>
        </p:txBody>
      </p:sp>
      <p:cxnSp>
        <p:nvCxnSpPr>
          <p:cNvPr id="31" name="connector 31"/>
          <p:cNvCxnSpPr/>
          <p:nvPr/>
        </p:nvCxnSpPr>
        <p:spPr>
          <a:xfrm>
            <a:off x="486156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2" name="shape 32"/>
          <p:cNvSpPr/>
          <p:nvPr/>
        </p:nvSpPr>
        <p:spPr>
          <a:xfrm>
            <a:off x="5039360" y="3898900"/>
            <a:ext cx="2113280" cy="774700"/>
          </a:xfrm>
          <a:prstGeom prst="roundRect">
            <a:avLst/>
          </a:prstGeom>
          <a:solidFill>
            <a:srgbClr val="FFF2DF"/>
          </a:solidFill>
          <a:ln>
            <a:noFill/>
          </a:ln>
        </p:spPr>
      </p:sp>
      <p:sp>
        <p:nvSpPr>
          <p:cNvPr id="33" name="text 33"/>
          <p:cNvSpPr/>
          <p:nvPr/>
        </p:nvSpPr>
        <p:spPr>
          <a:xfrm>
            <a:off x="516636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03</a:t>
            </a:r>
            <a:endParaRPr lang="en-US" sz="1200"/>
          </a:p>
        </p:txBody>
      </p:sp>
      <p:sp>
        <p:nvSpPr>
          <p:cNvPr id="34" name="text 34"/>
          <p:cNvSpPr/>
          <p:nvPr/>
        </p:nvSpPr>
        <p:spPr>
          <a:xfrm>
            <a:off x="550926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Build grid</a:t>
            </a:r>
            <a:endParaRPr lang="en-US" sz="1250"/>
          </a:p>
        </p:txBody>
      </p:sp>
      <p:sp>
        <p:nvSpPr>
          <p:cNvPr id="35" name="text 35"/>
          <p:cNvSpPr/>
          <p:nvPr/>
        </p:nvSpPr>
        <p:spPr>
          <a:xfrm>
            <a:off x="516636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Required pairs</a:t>
            </a:r>
            <a:endParaRPr lang="en-US" sz="1100"/>
          </a:p>
        </p:txBody>
      </p:sp>
      <p:cxnSp>
        <p:nvCxnSpPr>
          <p:cNvPr id="36" name="connector 36"/>
          <p:cNvCxnSpPr/>
          <p:nvPr/>
        </p:nvCxnSpPr>
        <p:spPr>
          <a:xfrm>
            <a:off x="717804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7" name="shape 37"/>
          <p:cNvSpPr/>
          <p:nvPr/>
        </p:nvSpPr>
        <p:spPr>
          <a:xfrm>
            <a:off x="7355840" y="3898900"/>
            <a:ext cx="2113280" cy="774700"/>
          </a:xfrm>
          <a:prstGeom prst="roundRect">
            <a:avLst/>
          </a:prstGeom>
          <a:solidFill>
            <a:srgbClr val="FFF2DF"/>
          </a:solidFill>
          <a:ln>
            <a:noFill/>
          </a:ln>
        </p:spPr>
      </p:sp>
      <p:sp>
        <p:nvSpPr>
          <p:cNvPr id="38" name="text 38"/>
          <p:cNvSpPr/>
          <p:nvPr/>
        </p:nvSpPr>
        <p:spPr>
          <a:xfrm>
            <a:off x="748284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04</a:t>
            </a:r>
            <a:endParaRPr lang="en-US" sz="1200"/>
          </a:p>
        </p:txBody>
      </p:sp>
      <p:sp>
        <p:nvSpPr>
          <p:cNvPr id="39" name="text 39"/>
          <p:cNvSpPr/>
          <p:nvPr/>
        </p:nvSpPr>
        <p:spPr>
          <a:xfrm>
            <a:off x="782574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Reconcile</a:t>
            </a:r>
            <a:endParaRPr lang="en-US" sz="1250"/>
          </a:p>
        </p:txBody>
      </p:sp>
      <p:sp>
        <p:nvSpPr>
          <p:cNvPr id="40" name="text 40"/>
          <p:cNvSpPr/>
          <p:nvPr/>
        </p:nvSpPr>
        <p:spPr>
          <a:xfrm>
            <a:off x="748284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Gaps + duplicates</a:t>
            </a:r>
            <a:endParaRPr lang="en-US" sz="1100"/>
          </a:p>
        </p:txBody>
      </p:sp>
      <p:cxnSp>
        <p:nvCxnSpPr>
          <p:cNvPr id="41" name="connector 41"/>
          <p:cNvCxnSpPr/>
          <p:nvPr/>
        </p:nvCxnSpPr>
        <p:spPr>
          <a:xfrm>
            <a:off x="949452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9672320" y="3898900"/>
            <a:ext cx="2113280" cy="774700"/>
          </a:xfrm>
          <a:prstGeom prst="roundRect">
            <a:avLst/>
          </a:prstGeom>
          <a:solidFill>
            <a:srgbClr val="FFF2DF"/>
          </a:solidFill>
          <a:ln>
            <a:noFill/>
          </a:ln>
        </p:spPr>
      </p:sp>
      <p:sp>
        <p:nvSpPr>
          <p:cNvPr id="43" name="text 43"/>
          <p:cNvSpPr/>
          <p:nvPr/>
        </p:nvSpPr>
        <p:spPr>
          <a:xfrm>
            <a:off x="979932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05</a:t>
            </a:r>
            <a:endParaRPr lang="en-US" sz="1200"/>
          </a:p>
        </p:txBody>
      </p:sp>
      <p:sp>
        <p:nvSpPr>
          <p:cNvPr id="44" name="text 44"/>
          <p:cNvSpPr/>
          <p:nvPr/>
        </p:nvSpPr>
        <p:spPr>
          <a:xfrm>
            <a:off x="1014222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Review</a:t>
            </a:r>
            <a:endParaRPr lang="en-US" sz="1250"/>
          </a:p>
        </p:txBody>
      </p:sp>
      <p:sp>
        <p:nvSpPr>
          <p:cNvPr id="45" name="text 45"/>
          <p:cNvSpPr/>
          <p:nvPr/>
        </p:nvSpPr>
        <p:spPr>
          <a:xfrm>
            <a:off x="979932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Six rules + artifacts</a:t>
            </a:r>
            <a:endParaRPr lang="en-US" sz="1100"/>
          </a:p>
        </p:txBody>
      </p:sp>
      <p:sp>
        <p:nvSpPr>
          <p:cNvPr id="46" name="shape 46"/>
          <p:cNvSpPr/>
          <p:nvPr/>
        </p:nvSpPr>
        <p:spPr>
          <a:xfrm>
            <a:off x="406400" y="4851400"/>
            <a:ext cx="5562600" cy="1206500"/>
          </a:xfrm>
          <a:prstGeom prst="roundRect">
            <a:avLst/>
          </a:prstGeom>
          <a:solidFill>
            <a:srgbClr val="FFFFFF"/>
          </a:solidFill>
          <a:ln w="12700">
            <a:solidFill>
              <a:srgbClr val="DEDCD6"/>
            </a:solidFill>
          </a:ln>
        </p:spPr>
      </p:sp>
      <p:sp>
        <p:nvSpPr>
          <p:cNvPr id="47" name="text 47"/>
          <p:cNvSpPr/>
          <p:nvPr/>
        </p:nvSpPr>
        <p:spPr>
          <a:xfrm>
            <a:off x="5715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FINDING → ISSUE</a:t>
            </a:r>
            <a:endParaRPr lang="en-US" sz="1000"/>
          </a:p>
        </p:txBody>
      </p:sp>
      <p:sp>
        <p:nvSpPr>
          <p:cNvPr id="48" name="text 48"/>
          <p:cNvSpPr/>
          <p:nvPr/>
        </p:nvSpPr>
        <p:spPr>
          <a:xfrm>
            <a:off x="5715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Continuity = received required pairs / required pairs. Review rule and</a:t>
            </a:r>
            <a:endParaRPr lang="en-US" sz="1250"/>
          </a:p>
          <a:p>
            <a:pPr algn="l">
              <a:lnSpc>
                <a:spcPts val="1425"/>
              </a:lnSpc>
              <a:spcAft>
                <a:spcPts val="0"/>
              </a:spcAft>
            </a:pPr>
            <a:r>
              <a:rPr lang="en-US" sz="1250" b="0" dirty="0">
                <a:solidFill>
                  <a:srgbClr val="181C23"/>
                </a:solidFill>
                <a:latin typeface="Funnel Sans"/>
              </a:rPr>
              <a:t>segment failures even when the aggregate passes. User confirms a</a:t>
            </a:r>
            <a:endParaRPr lang="en-US" sz="1250"/>
          </a:p>
          <a:p>
            <a:pPr algn="l">
              <a:lnSpc>
                <a:spcPts val="1425"/>
              </a:lnSpc>
              <a:spcAft>
                <a:spcPts val="0"/>
              </a:spcAft>
            </a:pPr>
            <a:r>
              <a:rPr lang="en-US" sz="1250" b="0" dirty="0">
                <a:solidFill>
                  <a:srgbClr val="181C23"/>
                </a:solidFill>
                <a:latin typeface="Funnel Sans"/>
              </a:rPr>
              <a:t>finding before issue creation.</a:t>
            </a:r>
            <a:endParaRPr lang="en-US" sz="1250"/>
          </a:p>
        </p:txBody>
      </p:sp>
      <p:sp>
        <p:nvSpPr>
          <p:cNvPr id="49" name="shape 49"/>
          <p:cNvSpPr/>
          <p:nvPr/>
        </p:nvSpPr>
        <p:spPr>
          <a:xfrm>
            <a:off x="6223000" y="4851400"/>
            <a:ext cx="5562600" cy="1206500"/>
          </a:xfrm>
          <a:prstGeom prst="roundRect">
            <a:avLst/>
          </a:prstGeom>
          <a:solidFill>
            <a:srgbClr val="FFFFFF"/>
          </a:solidFill>
          <a:ln w="12700">
            <a:solidFill>
              <a:srgbClr val="DEDCD6"/>
            </a:solidFill>
          </a:ln>
        </p:spPr>
      </p:sp>
      <p:sp>
        <p:nvSpPr>
          <p:cNvPr id="50" name="text 50"/>
          <p:cNvSpPr/>
          <p:nvPr/>
        </p:nvSpPr>
        <p:spPr>
          <a:xfrm>
            <a:off x="63881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RCA → REMEDIATION</a:t>
            </a:r>
            <a:endParaRPr lang="en-US" sz="1000"/>
          </a:p>
        </p:txBody>
      </p:sp>
      <p:sp>
        <p:nvSpPr>
          <p:cNvPr id="51" name="text 51"/>
          <p:cNvSpPr/>
          <p:nvPr/>
        </p:nvSpPr>
        <p:spPr>
          <a:xfrm>
            <a:off x="63881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Inspect invalid keys, calendar gaps, duplicate types and delivery gaps.</a:t>
            </a:r>
            <a:endParaRPr lang="en-US" sz="1250"/>
          </a:p>
          <a:p>
            <a:pPr algn="l">
              <a:lnSpc>
                <a:spcPts val="1425"/>
              </a:lnSpc>
              <a:spcAft>
                <a:spcPts val="0"/>
              </a:spcAft>
            </a:pPr>
            <a:r>
              <a:rPr lang="en-US" sz="1250" b="0" dirty="0">
                <a:solidFill>
                  <a:srgbClr val="181C23"/>
                </a:solidFill>
                <a:latin typeface="Funnel Sans"/>
              </a:rPr>
              <a:t>Approve root cause or mark unresolved; correct the panel externally,</a:t>
            </a:r>
            <a:endParaRPr lang="en-US" sz="1250"/>
          </a:p>
          <a:p>
            <a:pPr algn="l">
              <a:lnSpc>
                <a:spcPts val="1425"/>
              </a:lnSpc>
              <a:spcAft>
                <a:spcPts val="0"/>
              </a:spcAft>
            </a:pPr>
            <a:r>
              <a:rPr lang="en-US" sz="1250" b="0" dirty="0">
                <a:solidFill>
                  <a:srgbClr val="181C23"/>
                </a:solidFill>
                <a:latin typeface="Funnel Sans"/>
              </a:rPr>
              <a:t>upload new data and rerun.</a:t>
            </a:r>
            <a:endParaRPr lang="en-US" sz="1250"/>
          </a:p>
        </p:txBody>
      </p:sp>
      <p:sp>
        <p:nvSpPr>
          <p:cNvPr id="52" name="shape 52"/>
          <p:cNvSpPr/>
          <p:nvPr/>
        </p:nvSpPr>
        <p:spPr>
          <a:xfrm>
            <a:off x="406400" y="6172200"/>
            <a:ext cx="11379200" cy="292100"/>
          </a:xfrm>
          <a:prstGeom prst="roundRect">
            <a:avLst/>
          </a:prstGeom>
          <a:solidFill>
            <a:srgbClr val="282A27"/>
          </a:solidFill>
          <a:ln>
            <a:noFill/>
          </a:ln>
        </p:spPr>
      </p:sp>
      <p:sp>
        <p:nvSpPr>
          <p:cNvPr id="53" name="text 53"/>
          <p:cNvSpPr/>
          <p:nvPr/>
        </p:nvSpPr>
        <p:spPr>
          <a:xfrm>
            <a:off x="546100" y="6235700"/>
            <a:ext cx="11099800" cy="203200"/>
          </a:xfrm>
          <a:prstGeom prst="rect">
            <a:avLst/>
          </a:prstGeom>
          <a:noFill/>
          <a:ln>
            <a:noFill/>
          </a:ln>
        </p:spPr>
        <p:txBody>
          <a:bodyPr wrap="none" lIns="0" tIns="0" rIns="0" bIns="0" anchor="t">
            <a:noAutofit/>
          </a:bodyPr>
          <a:lstStyle/>
          <a:p>
            <a:pPr algn="l">
              <a:lnSpc>
                <a:spcPts val="1197"/>
              </a:lnSpc>
              <a:spcAft>
                <a:spcPts val="0"/>
              </a:spcAft>
            </a:pPr>
            <a:r>
              <a:rPr lang="en-US" sz="1050" b="0" dirty="0">
                <a:solidFill>
                  <a:srgbClr val="FFFFFF"/>
                </a:solidFill>
                <a:latin typeface="Funnel Sans"/>
              </a:rPr>
              <a:t>Observed-span coverage only: cannot detect wholly absent facilities or missing rows outside observed endpoints.</a:t>
            </a:r>
            <a:endParaRPr lang="en-US" sz="1050"/>
          </a:p>
        </p:txBody>
      </p:sp>
      <p:cxnSp>
        <p:nvCxnSpPr>
          <p:cNvPr id="54" name="connector 54"/>
          <p:cNvCxnSpPr/>
          <p:nvPr/>
        </p:nvCxnSpPr>
        <p:spPr>
          <a:xfrm>
            <a:off x="406400" y="6553200"/>
            <a:ext cx="113792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55" name="text 55"/>
          <p:cNvSpPr/>
          <p:nvPr/>
        </p:nvSpPr>
        <p:spPr>
          <a:xfrm>
            <a:off x="406400" y="6629400"/>
            <a:ext cx="5715000" cy="152400"/>
          </a:xfrm>
          <a:prstGeom prst="rect">
            <a:avLst/>
          </a:prstGeom>
          <a:noFill/>
          <a:ln>
            <a:noFill/>
          </a:ln>
        </p:spPr>
        <p:txBody>
          <a:bodyPr wrap="none" lIns="0" tIns="0" rIns="0" bIns="0" anchor="t">
            <a:noAutofit/>
          </a:bodyPr>
          <a:lstStyle/>
          <a:p>
            <a:pPr algn="l">
              <a:lnSpc>
                <a:spcPts val="969"/>
              </a:lnSpc>
              <a:spcAft>
                <a:spcPts val="0"/>
              </a:spcAft>
            </a:pPr>
            <a:r>
              <a:rPr lang="en-US" sz="850" b="0" dirty="0">
                <a:solidFill>
                  <a:srgbClr val="6D706B"/>
                </a:solidFill>
                <a:latin typeface="Funnel Sans"/>
              </a:rPr>
              <a:t>DATA WORKBENCH / Diagnostic quick reference</a:t>
            </a:r>
            <a:endParaRPr lang="en-US" sz="850"/>
          </a:p>
        </p:txBody>
      </p:sp>
      <p:sp>
        <p:nvSpPr>
          <p:cNvPr id="56" name="text 56"/>
          <p:cNvSpPr/>
          <p:nvPr/>
        </p:nvSpPr>
        <p:spPr>
          <a:xfrm>
            <a:off x="6223000" y="6629400"/>
            <a:ext cx="4254500" cy="152400"/>
          </a:xfrm>
          <a:prstGeom prst="rect">
            <a:avLst/>
          </a:prstGeom>
          <a:noFill/>
          <a:ln>
            <a:noFill/>
          </a:ln>
        </p:spPr>
        <p:txBody>
          <a:bodyPr wrap="none" lIns="0" tIns="0" rIns="0" bIns="0" anchor="t">
            <a:noAutofit/>
          </a:bodyPr>
          <a:lstStyle/>
          <a:p>
            <a:pPr algn="r">
              <a:lnSpc>
                <a:spcPts val="969"/>
              </a:lnSpc>
              <a:spcAft>
                <a:spcPts val="0"/>
              </a:spcAft>
            </a:pPr>
            <a:r>
              <a:rPr lang="en-US" sz="850" b="0" dirty="0">
                <a:solidFill>
                  <a:srgbClr val="6D706B"/>
                </a:solidFill>
                <a:latin typeface="Funnel Sans"/>
              </a:rPr>
              <a:t>Full deck: slides 37–41</a:t>
            </a:r>
            <a:endParaRPr lang="en-US" sz="850"/>
          </a:p>
        </p:txBody>
      </p:sp>
      <p:sp>
        <p:nvSpPr>
          <p:cNvPr id="57" name="text 57"/>
          <p:cNvSpPr/>
          <p:nvPr/>
        </p:nvSpPr>
        <p:spPr>
          <a:xfrm>
            <a:off x="10795000" y="6616700"/>
            <a:ext cx="990600" cy="177800"/>
          </a:xfrm>
          <a:prstGeom prst="rect">
            <a:avLst/>
          </a:prstGeom>
          <a:noFill/>
          <a:ln>
            <a:noFill/>
          </a:ln>
        </p:spPr>
        <p:txBody>
          <a:bodyPr wrap="none" lIns="0" tIns="0" rIns="0" bIns="0" anchor="t">
            <a:noAutofit/>
          </a:bodyPr>
          <a:lstStyle/>
          <a:p>
            <a:pPr algn="r">
              <a:lnSpc>
                <a:spcPts val="1083"/>
              </a:lnSpc>
              <a:spcAft>
                <a:spcPts val="0"/>
              </a:spcAft>
            </a:pPr>
            <a:r>
              <a:rPr lang="en-US" sz="950" b="0" dirty="0">
                <a:solidFill>
                  <a:srgbClr val="6D706B"/>
                </a:solidFill>
                <a:latin typeface="Funnel Sans"/>
              </a:rPr>
              <a:t>04 / 22</a:t>
            </a:r>
            <a:endParaRPr lang="en-US" sz="9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shape 3"/>
          <p:cNvSpPr/>
          <p:nvPr/>
        </p:nvSpPr>
        <p:spPr>
          <a:xfrm>
            <a:off x="406400" y="228600"/>
            <a:ext cx="1181100" cy="292100"/>
          </a:xfrm>
          <a:prstGeom prst="roundRect">
            <a:avLst/>
          </a:prstGeom>
          <a:solidFill>
            <a:srgbClr val="FFF2DF"/>
          </a:solidFill>
          <a:ln>
            <a:noFill/>
          </a:ln>
        </p:spPr>
      </p:sp>
      <p:sp>
        <p:nvSpPr>
          <p:cNvPr id="4" name="text 4"/>
          <p:cNvSpPr/>
          <p:nvPr/>
        </p:nvSpPr>
        <p:spPr>
          <a:xfrm>
            <a:off x="520700" y="292100"/>
            <a:ext cx="952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T2-D08</a:t>
            </a:r>
            <a:endParaRPr lang="en-US" sz="1000"/>
          </a:p>
        </p:txBody>
      </p:sp>
      <p:sp>
        <p:nvSpPr>
          <p:cNvPr id="5" name="text 5"/>
          <p:cNvSpPr/>
          <p:nvPr/>
        </p:nvSpPr>
        <p:spPr>
          <a:xfrm>
            <a:off x="1739900" y="304800"/>
            <a:ext cx="3022600" cy="190500"/>
          </a:xfrm>
          <a:prstGeom prst="rect">
            <a:avLst/>
          </a:prstGeom>
          <a:noFill/>
          <a:ln>
            <a:noFill/>
          </a:ln>
        </p:spPr>
        <p:txBody>
          <a:bodyPr wrap="none" lIns="0" tIns="0" rIns="0" bIns="0" anchor="t">
            <a:noAutofit/>
          </a:bodyPr>
          <a:lstStyle/>
          <a:p>
            <a:pPr algn="l">
              <a:lnSpc>
                <a:spcPts val="1083"/>
              </a:lnSpc>
              <a:spcAft>
                <a:spcPts val="0"/>
              </a:spcAft>
            </a:pPr>
            <a:r>
              <a:rPr lang="en-US" sz="950" b="1" dirty="0">
                <a:solidFill>
                  <a:srgbClr val="6D706B"/>
                </a:solidFill>
                <a:latin typeface="Funnel Sans"/>
              </a:rPr>
              <a:t>INTERNAL CONSISTENCY</a:t>
            </a:r>
            <a:endParaRPr lang="en-US" sz="950"/>
          </a:p>
        </p:txBody>
      </p:sp>
      <p:sp>
        <p:nvSpPr>
          <p:cNvPr id="6" name="shape 6"/>
          <p:cNvSpPr/>
          <p:nvPr/>
        </p:nvSpPr>
        <p:spPr>
          <a:xfrm>
            <a:off x="4864100" y="228600"/>
            <a:ext cx="3797300" cy="292100"/>
          </a:xfrm>
          <a:prstGeom prst="roundRect">
            <a:avLst/>
          </a:prstGeom>
          <a:solidFill>
            <a:srgbClr val="EFEEE9"/>
          </a:solidFill>
          <a:ln>
            <a:noFill/>
          </a:ln>
        </p:spPr>
      </p:sp>
      <p:sp>
        <p:nvSpPr>
          <p:cNvPr id="7" name="text 7"/>
          <p:cNvSpPr/>
          <p:nvPr/>
        </p:nvSpPr>
        <p:spPr>
          <a:xfrm>
            <a:off x="4978400" y="292100"/>
            <a:ext cx="35687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181C23"/>
                </a:solidFill>
                <a:latin typeface="Funnel Sans"/>
              </a:rPr>
              <a:t>Deterministic semantic tags</a:t>
            </a:r>
            <a:endParaRPr lang="en-US" sz="1000"/>
          </a:p>
        </p:txBody>
      </p:sp>
      <p:sp>
        <p:nvSpPr>
          <p:cNvPr id="8" name="shape 8"/>
          <p:cNvSpPr/>
          <p:nvPr/>
        </p:nvSpPr>
        <p:spPr>
          <a:xfrm>
            <a:off x="8826500" y="228600"/>
            <a:ext cx="2959100" cy="292100"/>
          </a:xfrm>
          <a:prstGeom prst="roundRect">
            <a:avLst/>
          </a:prstGeom>
          <a:solidFill>
            <a:srgbClr val="E9F3ED"/>
          </a:solidFill>
          <a:ln>
            <a:noFill/>
          </a:ln>
        </p:spPr>
      </p:sp>
      <p:sp>
        <p:nvSpPr>
          <p:cNvPr id="9" name="text 9"/>
          <p:cNvSpPr/>
          <p:nvPr/>
        </p:nvSpPr>
        <p:spPr>
          <a:xfrm>
            <a:off x="8940800" y="292100"/>
            <a:ext cx="2730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276B57"/>
                </a:solidFill>
                <a:latin typeface="Funnel Sans"/>
              </a:rPr>
              <a:t>Enabled</a:t>
            </a:r>
            <a:endParaRPr lang="en-US" sz="1000"/>
          </a:p>
        </p:txBody>
      </p:sp>
      <p:sp>
        <p:nvSpPr>
          <p:cNvPr id="10" name="text 10"/>
          <p:cNvSpPr/>
          <p:nvPr/>
        </p:nvSpPr>
        <p:spPr>
          <a:xfrm>
            <a:off x="406400" y="698500"/>
            <a:ext cx="11379200" cy="508000"/>
          </a:xfrm>
          <a:prstGeom prst="rect">
            <a:avLst/>
          </a:prstGeom>
          <a:noFill/>
          <a:ln>
            <a:noFill/>
          </a:ln>
        </p:spPr>
        <p:txBody>
          <a:bodyPr wrap="none" lIns="0" tIns="0" rIns="0" bIns="0" anchor="t">
            <a:noAutofit/>
          </a:bodyPr>
          <a:lstStyle/>
          <a:p>
            <a:pPr algn="l">
              <a:lnSpc>
                <a:spcPts val="3192"/>
              </a:lnSpc>
              <a:spcAft>
                <a:spcPts val="0"/>
              </a:spcAft>
            </a:pPr>
            <a:r>
              <a:rPr lang="en-US" sz="2800" b="1" dirty="0">
                <a:solidFill>
                  <a:srgbClr val="181C23"/>
                </a:solidFill>
                <a:latin typeface="Funnel Sans"/>
              </a:rPr>
              <a:t>Value-semantics classification</a:t>
            </a:r>
            <a:endParaRPr lang="en-US" sz="2800"/>
          </a:p>
        </p:txBody>
      </p:sp>
      <p:sp>
        <p:nvSpPr>
          <p:cNvPr id="11" name="text 11"/>
          <p:cNvSpPr/>
          <p:nvPr/>
        </p:nvSpPr>
        <p:spPr>
          <a:xfrm>
            <a:off x="419100" y="1320800"/>
            <a:ext cx="11353800" cy="4445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Distinguish censored, stale or inapplicable values before interpreting data-quality signals.</a:t>
            </a:r>
            <a:endParaRPr lang="en-US" sz="1500"/>
          </a:p>
        </p:txBody>
      </p:sp>
      <p:sp>
        <p:nvSpPr>
          <p:cNvPr id="12" name="shape 12"/>
          <p:cNvSpPr/>
          <p:nvPr/>
        </p:nvSpPr>
        <p:spPr>
          <a:xfrm>
            <a:off x="406400" y="1905000"/>
            <a:ext cx="3632200" cy="1549400"/>
          </a:xfrm>
          <a:prstGeom prst="roundRect">
            <a:avLst/>
          </a:prstGeom>
          <a:solidFill>
            <a:srgbClr val="FFFFFF"/>
          </a:solidFill>
          <a:ln w="12700">
            <a:solidFill>
              <a:srgbClr val="DEDCD6"/>
            </a:solidFill>
          </a:ln>
        </p:spPr>
      </p:sp>
      <p:sp>
        <p:nvSpPr>
          <p:cNvPr id="13" name="text 13"/>
          <p:cNvSpPr/>
          <p:nvPr/>
        </p:nvSpPr>
        <p:spPr>
          <a:xfrm>
            <a:off x="571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USER &amp; TRIGGER</a:t>
            </a:r>
            <a:endParaRPr lang="en-US" sz="1000"/>
          </a:p>
        </p:txBody>
      </p:sp>
      <p:sp>
        <p:nvSpPr>
          <p:cNvPr id="14" name="text 14"/>
          <p:cNvSpPr/>
          <p:nvPr/>
        </p:nvSpPr>
        <p:spPr>
          <a:xfrm>
            <a:off x="571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Analyst + domain SME</a:t>
            </a:r>
            <a:endParaRPr lang="en-US" sz="1325"/>
          </a:p>
          <a:p>
            <a:pPr algn="l">
              <a:lnSpc>
                <a:spcPts val="1510"/>
              </a:lnSpc>
              <a:spcAft>
                <a:spcPts val="0"/>
              </a:spcAft>
            </a:pPr>
            <a:r>
              <a:rPr lang="en-US" sz="1325" b="0" dirty="0">
                <a:solidFill>
                  <a:srgbClr val="181C23"/>
                </a:solidFill>
                <a:latin typeface="Funnel Sans"/>
              </a:rPr>
              <a:t>Acknowledge scope, confirm field roles</a:t>
            </a:r>
            <a:endParaRPr lang="en-US" sz="1325"/>
          </a:p>
          <a:p>
            <a:pPr algn="l">
              <a:lnSpc>
                <a:spcPts val="1510"/>
              </a:lnSpc>
              <a:spcAft>
                <a:spcPts val="0"/>
              </a:spcAft>
            </a:pPr>
            <a:r>
              <a:rPr lang="en-US" sz="1325" b="0" dirty="0">
                <a:solidFill>
                  <a:srgbClr val="181C23"/>
                </a:solidFill>
                <a:latin typeface="Funnel Sans"/>
              </a:rPr>
              <a:t>and resolve prerequisites before</a:t>
            </a:r>
            <a:endParaRPr lang="en-US" sz="1325"/>
          </a:p>
          <a:p>
            <a:pPr algn="l">
              <a:lnSpc>
                <a:spcPts val="1510"/>
              </a:lnSpc>
              <a:spcAft>
                <a:spcPts val="0"/>
              </a:spcAft>
            </a:pPr>
            <a:r>
              <a:rPr lang="en-US" sz="1325" b="0" dirty="0">
                <a:solidFill>
                  <a:srgbClr val="181C23"/>
                </a:solidFill>
                <a:latin typeface="Funnel Sans"/>
              </a:rPr>
              <a:t>execution.</a:t>
            </a:r>
            <a:endParaRPr lang="en-US" sz="1325"/>
          </a:p>
        </p:txBody>
      </p:sp>
      <p:sp>
        <p:nvSpPr>
          <p:cNvPr id="15" name="shape 15"/>
          <p:cNvSpPr/>
          <p:nvPr/>
        </p:nvSpPr>
        <p:spPr>
          <a:xfrm>
            <a:off x="4279900" y="1905000"/>
            <a:ext cx="3632200" cy="1549400"/>
          </a:xfrm>
          <a:prstGeom prst="roundRect">
            <a:avLst/>
          </a:prstGeom>
          <a:solidFill>
            <a:srgbClr val="FFFFFF"/>
          </a:solidFill>
          <a:ln w="12700">
            <a:solidFill>
              <a:srgbClr val="DEDCD6"/>
            </a:solidFill>
          </a:ln>
        </p:spPr>
      </p:sp>
      <p:sp>
        <p:nvSpPr>
          <p:cNvPr id="16" name="text 16"/>
          <p:cNvSpPr/>
          <p:nvPr/>
        </p:nvSpPr>
        <p:spPr>
          <a:xfrm>
            <a:off x="44450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INPUTS &amp; READINESS</a:t>
            </a:r>
            <a:endParaRPr lang="en-US" sz="1000"/>
          </a:p>
        </p:txBody>
      </p:sp>
      <p:sp>
        <p:nvSpPr>
          <p:cNvPr id="17" name="text 17"/>
          <p:cNvSpPr/>
          <p:nvPr/>
        </p:nvSpPr>
        <p:spPr>
          <a:xfrm>
            <a:off x="44450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Ready table; selected fields and canonical</a:t>
            </a:r>
            <a:endParaRPr lang="en-US" sz="1325"/>
          </a:p>
          <a:p>
            <a:pPr algn="l">
              <a:lnSpc>
                <a:spcPts val="1510"/>
              </a:lnSpc>
              <a:spcAft>
                <a:spcPts val="0"/>
              </a:spcAft>
            </a:pPr>
            <a:r>
              <a:rPr lang="en-US" sz="1325" b="0" dirty="0">
                <a:solidFill>
                  <a:srgbClr val="181C23"/>
                </a:solidFill>
                <a:latin typeface="Funnel Sans"/>
              </a:rPr>
              <a:t>roles; KB v0.2 / terminology v0.3; sentinel,</a:t>
            </a:r>
            <a:endParaRPr lang="en-US" sz="1325"/>
          </a:p>
          <a:p>
            <a:pPr algn="l">
              <a:lnSpc>
                <a:spcPts val="1510"/>
              </a:lnSpc>
              <a:spcAft>
                <a:spcPts val="0"/>
              </a:spcAft>
            </a:pPr>
            <a:r>
              <a:rPr lang="en-US" sz="1325" b="0" dirty="0">
                <a:solidFill>
                  <a:srgbClr val="181C23"/>
                </a:solidFill>
                <a:latin typeface="Funnel Sans"/>
              </a:rPr>
              <a:t>date, window or panel declarations as</a:t>
            </a:r>
            <a:endParaRPr lang="en-US" sz="1325"/>
          </a:p>
          <a:p>
            <a:pPr algn="l">
              <a:lnSpc>
                <a:spcPts val="1510"/>
              </a:lnSpc>
              <a:spcAft>
                <a:spcPts val="0"/>
              </a:spcAft>
            </a:pPr>
            <a:r>
              <a:rPr lang="en-US" sz="1325" b="0" dirty="0">
                <a:solidFill>
                  <a:srgbClr val="181C23"/>
                </a:solidFill>
                <a:latin typeface="Funnel Sans"/>
              </a:rPr>
              <a:t>applicable.</a:t>
            </a:r>
            <a:endParaRPr lang="en-US" sz="1325"/>
          </a:p>
        </p:txBody>
      </p:sp>
      <p:sp>
        <p:nvSpPr>
          <p:cNvPr id="18" name="shape 18"/>
          <p:cNvSpPr/>
          <p:nvPr/>
        </p:nvSpPr>
        <p:spPr>
          <a:xfrm>
            <a:off x="8153400" y="1905000"/>
            <a:ext cx="3632200" cy="1549400"/>
          </a:xfrm>
          <a:prstGeom prst="roundRect">
            <a:avLst/>
          </a:prstGeom>
          <a:solidFill>
            <a:srgbClr val="FFF2DF"/>
          </a:solidFill>
          <a:ln w="12700">
            <a:solidFill>
              <a:srgbClr val="DEDCD6"/>
            </a:solidFill>
          </a:ln>
        </p:spPr>
      </p:sp>
      <p:sp>
        <p:nvSpPr>
          <p:cNvPr id="19" name="text 19"/>
          <p:cNvSpPr/>
          <p:nvPr/>
        </p:nvSpPr>
        <p:spPr>
          <a:xfrm>
            <a:off x="8318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OUTPUTS &amp; EVIDENCE</a:t>
            </a:r>
            <a:endParaRPr lang="en-US" sz="1000"/>
          </a:p>
        </p:txBody>
      </p:sp>
      <p:sp>
        <p:nvSpPr>
          <p:cNvPr id="20" name="text 20"/>
          <p:cNvSpPr/>
          <p:nvPr/>
        </p:nvSpPr>
        <p:spPr>
          <a:xfrm>
            <a:off x="8318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CENSORED / STALE_FROZEN /</a:t>
            </a:r>
            <a:endParaRPr lang="en-US" sz="1325"/>
          </a:p>
          <a:p>
            <a:pPr algn="l">
              <a:lnSpc>
                <a:spcPts val="1510"/>
              </a:lnSpc>
              <a:spcAft>
                <a:spcPts val="0"/>
              </a:spcAft>
            </a:pPr>
            <a:r>
              <a:rPr lang="en-US" sz="1325" b="0" dirty="0">
                <a:solidFill>
                  <a:srgbClr val="181C23"/>
                </a:solidFill>
                <a:latin typeface="Funnel Sans"/>
              </a:rPr>
              <a:t>NOT_APPLICABLE tags. Four artifacts:</a:t>
            </a:r>
            <a:endParaRPr lang="en-US" sz="1325"/>
          </a:p>
          <a:p>
            <a:pPr algn="l">
              <a:lnSpc>
                <a:spcPts val="1510"/>
              </a:lnSpc>
              <a:spcAft>
                <a:spcPts val="0"/>
              </a:spcAft>
            </a:pPr>
            <a:r>
              <a:rPr lang="en-US" sz="1325" b="0" dirty="0">
                <a:solidFill>
                  <a:srgbClr val="181C23"/>
                </a:solidFill>
                <a:latin typeface="Funnel Sans"/>
              </a:rPr>
              <a:t>bindings JSON, tags Parquet, ledger</a:t>
            </a:r>
            <a:endParaRPr lang="en-US" sz="1325"/>
          </a:p>
          <a:p>
            <a:pPr algn="l">
              <a:lnSpc>
                <a:spcPts val="1510"/>
              </a:lnSpc>
              <a:spcAft>
                <a:spcPts val="0"/>
              </a:spcAft>
            </a:pPr>
            <a:r>
              <a:rPr lang="en-US" sz="1325" b="0" dirty="0">
                <a:solidFill>
                  <a:srgbClr val="181C23"/>
                </a:solidFill>
                <a:latin typeface="Funnel Sans"/>
              </a:rPr>
              <a:t>Parquet and report JSON.</a:t>
            </a:r>
            <a:endParaRPr lang="en-US" sz="1325"/>
          </a:p>
        </p:txBody>
      </p:sp>
      <p:sp>
        <p:nvSpPr>
          <p:cNvPr id="21" name="text 21"/>
          <p:cNvSpPr/>
          <p:nvPr/>
        </p:nvSpPr>
        <p:spPr>
          <a:xfrm>
            <a:off x="406400" y="3606800"/>
            <a:ext cx="7747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PROCESS &amp; LAUNCH</a:t>
            </a:r>
            <a:endParaRPr lang="en-US" sz="1000"/>
          </a:p>
        </p:txBody>
      </p:sp>
      <p:sp>
        <p:nvSpPr>
          <p:cNvPr id="22" name="shape 22"/>
          <p:cNvSpPr/>
          <p:nvPr/>
        </p:nvSpPr>
        <p:spPr>
          <a:xfrm>
            <a:off x="406400" y="3898900"/>
            <a:ext cx="2113280" cy="774700"/>
          </a:xfrm>
          <a:prstGeom prst="roundRect">
            <a:avLst/>
          </a:prstGeom>
          <a:solidFill>
            <a:srgbClr val="FFF2DF"/>
          </a:solidFill>
          <a:ln>
            <a:noFill/>
          </a:ln>
        </p:spPr>
      </p:sp>
      <p:sp>
        <p:nvSpPr>
          <p:cNvPr id="23" name="text 23"/>
          <p:cNvSpPr/>
          <p:nvPr/>
        </p:nvSpPr>
        <p:spPr>
          <a:xfrm>
            <a:off x="53340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01</a:t>
            </a:r>
            <a:endParaRPr lang="en-US" sz="1200"/>
          </a:p>
        </p:txBody>
      </p:sp>
      <p:sp>
        <p:nvSpPr>
          <p:cNvPr id="24" name="text 24"/>
          <p:cNvSpPr/>
          <p:nvPr/>
        </p:nvSpPr>
        <p:spPr>
          <a:xfrm>
            <a:off x="87630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Acknowledge</a:t>
            </a:r>
            <a:endParaRPr lang="en-US" sz="1250"/>
          </a:p>
        </p:txBody>
      </p:sp>
      <p:sp>
        <p:nvSpPr>
          <p:cNvPr id="25" name="text 25"/>
          <p:cNvSpPr/>
          <p:nvPr/>
        </p:nvSpPr>
        <p:spPr>
          <a:xfrm>
            <a:off x="53340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About + table context</a:t>
            </a:r>
            <a:endParaRPr lang="en-US" sz="1100"/>
          </a:p>
        </p:txBody>
      </p:sp>
      <p:cxnSp>
        <p:nvCxnSpPr>
          <p:cNvPr id="26" name="connector 26"/>
          <p:cNvCxnSpPr/>
          <p:nvPr/>
        </p:nvCxnSpPr>
        <p:spPr>
          <a:xfrm>
            <a:off x="254508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2722880" y="3898900"/>
            <a:ext cx="2113280" cy="774700"/>
          </a:xfrm>
          <a:prstGeom prst="roundRect">
            <a:avLst/>
          </a:prstGeom>
          <a:solidFill>
            <a:srgbClr val="FFF2DF"/>
          </a:solidFill>
          <a:ln>
            <a:noFill/>
          </a:ln>
        </p:spPr>
      </p:sp>
      <p:sp>
        <p:nvSpPr>
          <p:cNvPr id="28" name="text 28"/>
          <p:cNvSpPr/>
          <p:nvPr/>
        </p:nvSpPr>
        <p:spPr>
          <a:xfrm>
            <a:off x="284988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02</a:t>
            </a:r>
            <a:endParaRPr lang="en-US" sz="1200"/>
          </a:p>
        </p:txBody>
      </p:sp>
      <p:sp>
        <p:nvSpPr>
          <p:cNvPr id="29" name="text 29"/>
          <p:cNvSpPr/>
          <p:nvPr/>
        </p:nvSpPr>
        <p:spPr>
          <a:xfrm>
            <a:off x="319278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Bind roles</a:t>
            </a:r>
            <a:endParaRPr lang="en-US" sz="1250"/>
          </a:p>
        </p:txBody>
      </p:sp>
      <p:sp>
        <p:nvSpPr>
          <p:cNvPr id="30" name="text 30"/>
          <p:cNvSpPr/>
          <p:nvPr/>
        </p:nvSpPr>
        <p:spPr>
          <a:xfrm>
            <a:off x="284988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Confirm ranked matches</a:t>
            </a:r>
            <a:endParaRPr lang="en-US" sz="1100"/>
          </a:p>
        </p:txBody>
      </p:sp>
      <p:cxnSp>
        <p:nvCxnSpPr>
          <p:cNvPr id="31" name="connector 31"/>
          <p:cNvCxnSpPr/>
          <p:nvPr/>
        </p:nvCxnSpPr>
        <p:spPr>
          <a:xfrm>
            <a:off x="486156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2" name="shape 32"/>
          <p:cNvSpPr/>
          <p:nvPr/>
        </p:nvSpPr>
        <p:spPr>
          <a:xfrm>
            <a:off x="5039360" y="3898900"/>
            <a:ext cx="2113280" cy="774700"/>
          </a:xfrm>
          <a:prstGeom prst="roundRect">
            <a:avLst/>
          </a:prstGeom>
          <a:solidFill>
            <a:srgbClr val="FFF2DF"/>
          </a:solidFill>
          <a:ln>
            <a:noFill/>
          </a:ln>
        </p:spPr>
      </p:sp>
      <p:sp>
        <p:nvSpPr>
          <p:cNvPr id="33" name="text 33"/>
          <p:cNvSpPr/>
          <p:nvPr/>
        </p:nvSpPr>
        <p:spPr>
          <a:xfrm>
            <a:off x="516636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03</a:t>
            </a:r>
            <a:endParaRPr lang="en-US" sz="1200"/>
          </a:p>
        </p:txBody>
      </p:sp>
      <p:sp>
        <p:nvSpPr>
          <p:cNvPr id="34" name="text 34"/>
          <p:cNvSpPr/>
          <p:nvPr/>
        </p:nvSpPr>
        <p:spPr>
          <a:xfrm>
            <a:off x="550926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Check inputs</a:t>
            </a:r>
            <a:endParaRPr lang="en-US" sz="1250"/>
          </a:p>
        </p:txBody>
      </p:sp>
      <p:sp>
        <p:nvSpPr>
          <p:cNvPr id="35" name="text 35"/>
          <p:cNvSpPr/>
          <p:nvPr/>
        </p:nvSpPr>
        <p:spPr>
          <a:xfrm>
            <a:off x="516636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Required declarations</a:t>
            </a:r>
            <a:endParaRPr lang="en-US" sz="1100"/>
          </a:p>
        </p:txBody>
      </p:sp>
      <p:cxnSp>
        <p:nvCxnSpPr>
          <p:cNvPr id="36" name="connector 36"/>
          <p:cNvCxnSpPr/>
          <p:nvPr/>
        </p:nvCxnSpPr>
        <p:spPr>
          <a:xfrm>
            <a:off x="717804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7" name="shape 37"/>
          <p:cNvSpPr/>
          <p:nvPr/>
        </p:nvSpPr>
        <p:spPr>
          <a:xfrm>
            <a:off x="7355840" y="3898900"/>
            <a:ext cx="2113280" cy="774700"/>
          </a:xfrm>
          <a:prstGeom prst="roundRect">
            <a:avLst/>
          </a:prstGeom>
          <a:solidFill>
            <a:srgbClr val="FFF2DF"/>
          </a:solidFill>
          <a:ln>
            <a:noFill/>
          </a:ln>
        </p:spPr>
      </p:sp>
      <p:sp>
        <p:nvSpPr>
          <p:cNvPr id="38" name="text 38"/>
          <p:cNvSpPr/>
          <p:nvPr/>
        </p:nvSpPr>
        <p:spPr>
          <a:xfrm>
            <a:off x="748284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04</a:t>
            </a:r>
            <a:endParaRPr lang="en-US" sz="1200"/>
          </a:p>
        </p:txBody>
      </p:sp>
      <p:sp>
        <p:nvSpPr>
          <p:cNvPr id="39" name="text 39"/>
          <p:cNvSpPr/>
          <p:nvPr/>
        </p:nvSpPr>
        <p:spPr>
          <a:xfrm>
            <a:off x="782574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Freeze</a:t>
            </a:r>
            <a:endParaRPr lang="en-US" sz="1250"/>
          </a:p>
        </p:txBody>
      </p:sp>
      <p:sp>
        <p:nvSpPr>
          <p:cNvPr id="40" name="text 40"/>
          <p:cNvSpPr/>
          <p:nvPr/>
        </p:nvSpPr>
        <p:spPr>
          <a:xfrm>
            <a:off x="748284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Approved run context</a:t>
            </a:r>
            <a:endParaRPr lang="en-US" sz="1100"/>
          </a:p>
        </p:txBody>
      </p:sp>
      <p:cxnSp>
        <p:nvCxnSpPr>
          <p:cNvPr id="41" name="connector 41"/>
          <p:cNvCxnSpPr/>
          <p:nvPr/>
        </p:nvCxnSpPr>
        <p:spPr>
          <a:xfrm>
            <a:off x="949452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9672320" y="3898900"/>
            <a:ext cx="2113280" cy="774700"/>
          </a:xfrm>
          <a:prstGeom prst="roundRect">
            <a:avLst/>
          </a:prstGeom>
          <a:solidFill>
            <a:srgbClr val="FFF2DF"/>
          </a:solidFill>
          <a:ln>
            <a:noFill/>
          </a:ln>
        </p:spPr>
      </p:sp>
      <p:sp>
        <p:nvSpPr>
          <p:cNvPr id="43" name="text 43"/>
          <p:cNvSpPr/>
          <p:nvPr/>
        </p:nvSpPr>
        <p:spPr>
          <a:xfrm>
            <a:off x="979932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05</a:t>
            </a:r>
            <a:endParaRPr lang="en-US" sz="1200"/>
          </a:p>
        </p:txBody>
      </p:sp>
      <p:sp>
        <p:nvSpPr>
          <p:cNvPr id="44" name="text 44"/>
          <p:cNvSpPr/>
          <p:nvPr/>
        </p:nvSpPr>
        <p:spPr>
          <a:xfrm>
            <a:off x="1014222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Classify</a:t>
            </a:r>
            <a:endParaRPr lang="en-US" sz="1250"/>
          </a:p>
        </p:txBody>
      </p:sp>
      <p:sp>
        <p:nvSpPr>
          <p:cNvPr id="45" name="text 45"/>
          <p:cNvSpPr/>
          <p:nvPr/>
        </p:nvSpPr>
        <p:spPr>
          <a:xfrm>
            <a:off x="979932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Tags + evidence ledger</a:t>
            </a:r>
            <a:endParaRPr lang="en-US" sz="1100"/>
          </a:p>
        </p:txBody>
      </p:sp>
      <p:sp>
        <p:nvSpPr>
          <p:cNvPr id="46" name="shape 46"/>
          <p:cNvSpPr/>
          <p:nvPr/>
        </p:nvSpPr>
        <p:spPr>
          <a:xfrm>
            <a:off x="406400" y="4851400"/>
            <a:ext cx="5562600" cy="1206500"/>
          </a:xfrm>
          <a:prstGeom prst="roundRect">
            <a:avLst/>
          </a:prstGeom>
          <a:solidFill>
            <a:srgbClr val="FFFFFF"/>
          </a:solidFill>
          <a:ln w="12700">
            <a:solidFill>
              <a:srgbClr val="DEDCD6"/>
            </a:solidFill>
          </a:ln>
        </p:spPr>
      </p:sp>
      <p:sp>
        <p:nvSpPr>
          <p:cNvPr id="47" name="text 47"/>
          <p:cNvSpPr/>
          <p:nvPr/>
        </p:nvSpPr>
        <p:spPr>
          <a:xfrm>
            <a:off x="5715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FINDING → ISSUE</a:t>
            </a:r>
            <a:endParaRPr lang="en-US" sz="1000"/>
          </a:p>
        </p:txBody>
      </p:sp>
      <p:sp>
        <p:nvSpPr>
          <p:cNvPr id="48" name="text 48"/>
          <p:cNvSpPr/>
          <p:nvPr/>
        </p:nvSpPr>
        <p:spPr>
          <a:xfrm>
            <a:off x="5715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Stale / frozen and populated not-applicable observations can form</a:t>
            </a:r>
            <a:endParaRPr lang="en-US" sz="1250"/>
          </a:p>
          <a:p>
            <a:pPr algn="l">
              <a:lnSpc>
                <a:spcPts val="1425"/>
              </a:lnSpc>
              <a:spcAft>
                <a:spcPts val="0"/>
              </a:spcAft>
            </a:pPr>
            <a:r>
              <a:rPr lang="en-US" sz="1250" b="0" dirty="0">
                <a:solidFill>
                  <a:srgbClr val="181C23"/>
                </a:solidFill>
                <a:latin typeface="Funnel Sans"/>
              </a:rPr>
              <a:t>grouped candidates. A user confirms or dismisses them. NO_TAG,</a:t>
            </a:r>
            <a:endParaRPr lang="en-US" sz="1250"/>
          </a:p>
          <a:p>
            <a:pPr algn="l">
              <a:lnSpc>
                <a:spcPts val="1425"/>
              </a:lnSpc>
              <a:spcAft>
                <a:spcPts val="0"/>
              </a:spcAft>
            </a:pPr>
            <a:r>
              <a:rPr lang="en-US" sz="1250" b="0" dirty="0">
                <a:solidFill>
                  <a:srgbClr val="181C23"/>
                </a:solidFill>
                <a:latin typeface="Funnel Sans"/>
              </a:rPr>
              <a:t>UNCLASSIFIED and UNSCOPED are coverage states.</a:t>
            </a:r>
            <a:endParaRPr lang="en-US" sz="1250"/>
          </a:p>
        </p:txBody>
      </p:sp>
      <p:sp>
        <p:nvSpPr>
          <p:cNvPr id="49" name="shape 49"/>
          <p:cNvSpPr/>
          <p:nvPr/>
        </p:nvSpPr>
        <p:spPr>
          <a:xfrm>
            <a:off x="6223000" y="4851400"/>
            <a:ext cx="5562600" cy="1206500"/>
          </a:xfrm>
          <a:prstGeom prst="roundRect">
            <a:avLst/>
          </a:prstGeom>
          <a:solidFill>
            <a:srgbClr val="FFFFFF"/>
          </a:solidFill>
          <a:ln w="12700">
            <a:solidFill>
              <a:srgbClr val="DEDCD6"/>
            </a:solidFill>
          </a:ln>
        </p:spPr>
      </p:sp>
      <p:sp>
        <p:nvSpPr>
          <p:cNvPr id="50" name="text 50"/>
          <p:cNvSpPr/>
          <p:nvPr/>
        </p:nvSpPr>
        <p:spPr>
          <a:xfrm>
            <a:off x="63881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RCA → REMEDIATION</a:t>
            </a:r>
            <a:endParaRPr lang="en-US" sz="1000"/>
          </a:p>
        </p:txBody>
      </p:sp>
      <p:sp>
        <p:nvSpPr>
          <p:cNvPr id="51" name="text 51"/>
          <p:cNvSpPr/>
          <p:nvPr/>
        </p:nvSpPr>
        <p:spPr>
          <a:xfrm>
            <a:off x="63881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Review source conventions and binding evidence. Approve root cause</a:t>
            </a:r>
            <a:endParaRPr lang="en-US" sz="1250"/>
          </a:p>
          <a:p>
            <a:pPr algn="l">
              <a:lnSpc>
                <a:spcPts val="1425"/>
              </a:lnSpc>
              <a:spcAft>
                <a:spcPts val="0"/>
              </a:spcAft>
            </a:pPr>
            <a:r>
              <a:rPr lang="en-US" sz="1250" b="0" dirty="0">
                <a:solidFill>
                  <a:srgbClr val="181C23"/>
                </a:solidFill>
                <a:latin typeface="Funnel Sans"/>
              </a:rPr>
              <a:t>or mark unresolved; correct source data or declarations and rerun.</a:t>
            </a:r>
            <a:endParaRPr lang="en-US" sz="1250"/>
          </a:p>
          <a:p>
            <a:pPr algn="l">
              <a:lnSpc>
                <a:spcPts val="1425"/>
              </a:lnSpc>
              <a:spcAft>
                <a:spcPts val="0"/>
              </a:spcAft>
            </a:pPr>
            <a:r>
              <a:rPr lang="en-US" sz="1250" b="0" dirty="0">
                <a:solidFill>
                  <a:srgbClr val="181C23"/>
                </a:solidFill>
                <a:latin typeface="Funnel Sans"/>
              </a:rPr>
              <a:t>This diagnostic never imputes or edits source values.</a:t>
            </a:r>
            <a:endParaRPr lang="en-US" sz="1250"/>
          </a:p>
        </p:txBody>
      </p:sp>
      <p:sp>
        <p:nvSpPr>
          <p:cNvPr id="52" name="shape 52"/>
          <p:cNvSpPr/>
          <p:nvPr/>
        </p:nvSpPr>
        <p:spPr>
          <a:xfrm>
            <a:off x="406400" y="6172200"/>
            <a:ext cx="11379200" cy="292100"/>
          </a:xfrm>
          <a:prstGeom prst="roundRect">
            <a:avLst/>
          </a:prstGeom>
          <a:solidFill>
            <a:srgbClr val="282A27"/>
          </a:solidFill>
          <a:ln>
            <a:noFill/>
          </a:ln>
        </p:spPr>
      </p:sp>
      <p:sp>
        <p:nvSpPr>
          <p:cNvPr id="53" name="text 53"/>
          <p:cNvSpPr/>
          <p:nvPr/>
        </p:nvSpPr>
        <p:spPr>
          <a:xfrm>
            <a:off x="546100" y="6235700"/>
            <a:ext cx="11099800" cy="203200"/>
          </a:xfrm>
          <a:prstGeom prst="rect">
            <a:avLst/>
          </a:prstGeom>
          <a:noFill/>
          <a:ln>
            <a:noFill/>
          </a:ln>
        </p:spPr>
        <p:txBody>
          <a:bodyPr wrap="none" lIns="0" tIns="0" rIns="0" bIns="0" anchor="t">
            <a:noAutofit/>
          </a:bodyPr>
          <a:lstStyle/>
          <a:p>
            <a:pPr algn="l">
              <a:lnSpc>
                <a:spcPts val="1197"/>
              </a:lnSpc>
              <a:spcAft>
                <a:spcPts val="0"/>
              </a:spcAft>
            </a:pPr>
            <a:r>
              <a:rPr lang="en-US" sz="1050" b="0" dirty="0">
                <a:solidFill>
                  <a:srgbClr val="FFFFFF"/>
                </a:solidFill>
                <a:latin typeface="Funnel Sans"/>
              </a:rPr>
              <a:t>General context is valid; AI assists metadata only. Missing optional prerequisites are UNSCOPED; unresolved precedence fails closed.</a:t>
            </a:r>
            <a:endParaRPr lang="en-US" sz="1050"/>
          </a:p>
        </p:txBody>
      </p:sp>
      <p:cxnSp>
        <p:nvCxnSpPr>
          <p:cNvPr id="54" name="connector 54"/>
          <p:cNvCxnSpPr/>
          <p:nvPr/>
        </p:nvCxnSpPr>
        <p:spPr>
          <a:xfrm>
            <a:off x="406400" y="6553200"/>
            <a:ext cx="113792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55" name="text 55"/>
          <p:cNvSpPr/>
          <p:nvPr/>
        </p:nvSpPr>
        <p:spPr>
          <a:xfrm>
            <a:off x="406400" y="6629400"/>
            <a:ext cx="5715000" cy="152400"/>
          </a:xfrm>
          <a:prstGeom prst="rect">
            <a:avLst/>
          </a:prstGeom>
          <a:noFill/>
          <a:ln>
            <a:noFill/>
          </a:ln>
        </p:spPr>
        <p:txBody>
          <a:bodyPr wrap="none" lIns="0" tIns="0" rIns="0" bIns="0" anchor="t">
            <a:noAutofit/>
          </a:bodyPr>
          <a:lstStyle/>
          <a:p>
            <a:pPr algn="l">
              <a:lnSpc>
                <a:spcPts val="969"/>
              </a:lnSpc>
              <a:spcAft>
                <a:spcPts val="0"/>
              </a:spcAft>
            </a:pPr>
            <a:r>
              <a:rPr lang="en-US" sz="850" b="0" dirty="0">
                <a:solidFill>
                  <a:srgbClr val="6D706B"/>
                </a:solidFill>
                <a:latin typeface="Funnel Sans"/>
              </a:rPr>
              <a:t>DATA WORKBENCH / Diagnostic quick reference</a:t>
            </a:r>
            <a:endParaRPr lang="en-US" sz="850"/>
          </a:p>
        </p:txBody>
      </p:sp>
      <p:sp>
        <p:nvSpPr>
          <p:cNvPr id="56" name="text 56"/>
          <p:cNvSpPr/>
          <p:nvPr/>
        </p:nvSpPr>
        <p:spPr>
          <a:xfrm>
            <a:off x="6223000" y="6629400"/>
            <a:ext cx="4254500" cy="152400"/>
          </a:xfrm>
          <a:prstGeom prst="rect">
            <a:avLst/>
          </a:prstGeom>
          <a:noFill/>
          <a:ln>
            <a:noFill/>
          </a:ln>
        </p:spPr>
        <p:txBody>
          <a:bodyPr wrap="none" lIns="0" tIns="0" rIns="0" bIns="0" anchor="t">
            <a:noAutofit/>
          </a:bodyPr>
          <a:lstStyle/>
          <a:p>
            <a:pPr algn="r">
              <a:lnSpc>
                <a:spcPts val="969"/>
              </a:lnSpc>
              <a:spcAft>
                <a:spcPts val="0"/>
              </a:spcAft>
            </a:pPr>
            <a:r>
              <a:rPr lang="en-US" sz="850" b="0" dirty="0">
                <a:solidFill>
                  <a:srgbClr val="6D706B"/>
                </a:solidFill>
                <a:latin typeface="Funnel Sans"/>
              </a:rPr>
              <a:t>Full deck: slides 42–46</a:t>
            </a:r>
            <a:endParaRPr lang="en-US" sz="850"/>
          </a:p>
        </p:txBody>
      </p:sp>
      <p:sp>
        <p:nvSpPr>
          <p:cNvPr id="57" name="text 57"/>
          <p:cNvSpPr/>
          <p:nvPr/>
        </p:nvSpPr>
        <p:spPr>
          <a:xfrm>
            <a:off x="10795000" y="6616700"/>
            <a:ext cx="990600" cy="177800"/>
          </a:xfrm>
          <a:prstGeom prst="rect">
            <a:avLst/>
          </a:prstGeom>
          <a:noFill/>
          <a:ln>
            <a:noFill/>
          </a:ln>
        </p:spPr>
        <p:txBody>
          <a:bodyPr wrap="none" lIns="0" tIns="0" rIns="0" bIns="0" anchor="t">
            <a:noAutofit/>
          </a:bodyPr>
          <a:lstStyle/>
          <a:p>
            <a:pPr algn="r">
              <a:lnSpc>
                <a:spcPts val="1083"/>
              </a:lnSpc>
              <a:spcAft>
                <a:spcPts val="0"/>
              </a:spcAft>
            </a:pPr>
            <a:r>
              <a:rPr lang="en-US" sz="950" b="0" dirty="0">
                <a:solidFill>
                  <a:srgbClr val="6D706B"/>
                </a:solidFill>
                <a:latin typeface="Funnel Sans"/>
              </a:rPr>
              <a:t>05 / 22</a:t>
            </a:r>
            <a:endParaRPr lang="en-US" sz="9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shape 3"/>
          <p:cNvSpPr/>
          <p:nvPr/>
        </p:nvSpPr>
        <p:spPr>
          <a:xfrm>
            <a:off x="406400" y="228600"/>
            <a:ext cx="1181100" cy="292100"/>
          </a:xfrm>
          <a:prstGeom prst="roundRect">
            <a:avLst/>
          </a:prstGeom>
          <a:solidFill>
            <a:srgbClr val="FFF2DF"/>
          </a:solidFill>
          <a:ln>
            <a:noFill/>
          </a:ln>
        </p:spPr>
      </p:sp>
      <p:sp>
        <p:nvSpPr>
          <p:cNvPr id="4" name="text 4"/>
          <p:cNvSpPr/>
          <p:nvPr/>
        </p:nvSpPr>
        <p:spPr>
          <a:xfrm>
            <a:off x="520700" y="292100"/>
            <a:ext cx="952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T2-D11</a:t>
            </a:r>
            <a:endParaRPr lang="en-US" sz="1000"/>
          </a:p>
        </p:txBody>
      </p:sp>
      <p:sp>
        <p:nvSpPr>
          <p:cNvPr id="5" name="text 5"/>
          <p:cNvSpPr/>
          <p:nvPr/>
        </p:nvSpPr>
        <p:spPr>
          <a:xfrm>
            <a:off x="1739900" y="304800"/>
            <a:ext cx="3022600" cy="190500"/>
          </a:xfrm>
          <a:prstGeom prst="rect">
            <a:avLst/>
          </a:prstGeom>
          <a:noFill/>
          <a:ln>
            <a:noFill/>
          </a:ln>
        </p:spPr>
        <p:txBody>
          <a:bodyPr wrap="none" lIns="0" tIns="0" rIns="0" bIns="0" anchor="t">
            <a:noAutofit/>
          </a:bodyPr>
          <a:lstStyle/>
          <a:p>
            <a:pPr algn="l">
              <a:lnSpc>
                <a:spcPts val="1083"/>
              </a:lnSpc>
              <a:spcAft>
                <a:spcPts val="0"/>
              </a:spcAft>
            </a:pPr>
            <a:r>
              <a:rPr lang="en-US" sz="950" b="1" dirty="0">
                <a:solidFill>
                  <a:srgbClr val="6D706B"/>
                </a:solidFill>
                <a:latin typeface="Funnel Sans"/>
              </a:rPr>
              <a:t>INTERNAL CONSISTENCY</a:t>
            </a:r>
            <a:endParaRPr lang="en-US" sz="950"/>
          </a:p>
        </p:txBody>
      </p:sp>
      <p:sp>
        <p:nvSpPr>
          <p:cNvPr id="6" name="shape 6"/>
          <p:cNvSpPr/>
          <p:nvPr/>
        </p:nvSpPr>
        <p:spPr>
          <a:xfrm>
            <a:off x="4864100" y="228600"/>
            <a:ext cx="3797300" cy="292100"/>
          </a:xfrm>
          <a:prstGeom prst="roundRect">
            <a:avLst/>
          </a:prstGeom>
          <a:solidFill>
            <a:srgbClr val="EFEEE9"/>
          </a:solidFill>
          <a:ln>
            <a:noFill/>
          </a:ln>
        </p:spPr>
      </p:sp>
      <p:sp>
        <p:nvSpPr>
          <p:cNvPr id="7" name="text 7"/>
          <p:cNvSpPr/>
          <p:nvPr/>
        </p:nvSpPr>
        <p:spPr>
          <a:xfrm>
            <a:off x="4978400" y="292100"/>
            <a:ext cx="35687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181C23"/>
                </a:solidFill>
                <a:latin typeface="Funnel Sans"/>
              </a:rPr>
              <a:t>Three empirical signals</a:t>
            </a:r>
            <a:endParaRPr lang="en-US" sz="1000"/>
          </a:p>
        </p:txBody>
      </p:sp>
      <p:sp>
        <p:nvSpPr>
          <p:cNvPr id="8" name="shape 8"/>
          <p:cNvSpPr/>
          <p:nvPr/>
        </p:nvSpPr>
        <p:spPr>
          <a:xfrm>
            <a:off x="8826500" y="228600"/>
            <a:ext cx="2959100" cy="292100"/>
          </a:xfrm>
          <a:prstGeom prst="roundRect">
            <a:avLst/>
          </a:prstGeom>
          <a:solidFill>
            <a:srgbClr val="E9F3ED"/>
          </a:solidFill>
          <a:ln>
            <a:noFill/>
          </a:ln>
        </p:spPr>
      </p:sp>
      <p:sp>
        <p:nvSpPr>
          <p:cNvPr id="9" name="text 9"/>
          <p:cNvSpPr/>
          <p:nvPr/>
        </p:nvSpPr>
        <p:spPr>
          <a:xfrm>
            <a:off x="8940800" y="292100"/>
            <a:ext cx="2730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276B57"/>
                </a:solidFill>
                <a:latin typeface="Funnel Sans"/>
              </a:rPr>
              <a:t>Enabled</a:t>
            </a:r>
            <a:endParaRPr lang="en-US" sz="1000"/>
          </a:p>
        </p:txBody>
      </p:sp>
      <p:sp>
        <p:nvSpPr>
          <p:cNvPr id="10" name="text 10"/>
          <p:cNvSpPr/>
          <p:nvPr/>
        </p:nvSpPr>
        <p:spPr>
          <a:xfrm>
            <a:off x="406400" y="698500"/>
            <a:ext cx="11379200" cy="508000"/>
          </a:xfrm>
          <a:prstGeom prst="rect">
            <a:avLst/>
          </a:prstGeom>
          <a:noFill/>
          <a:ln>
            <a:noFill/>
          </a:ln>
        </p:spPr>
        <p:txBody>
          <a:bodyPr wrap="none" lIns="0" tIns="0" rIns="0" bIns="0" anchor="t">
            <a:noAutofit/>
          </a:bodyPr>
          <a:lstStyle/>
          <a:p>
            <a:pPr algn="l">
              <a:lnSpc>
                <a:spcPts val="3192"/>
              </a:lnSpc>
              <a:spcAft>
                <a:spcPts val="0"/>
              </a:spcAft>
            </a:pPr>
            <a:r>
              <a:rPr lang="en-US" sz="2800" b="1" dirty="0">
                <a:solidFill>
                  <a:srgbClr val="181C23"/>
                </a:solidFill>
                <a:latin typeface="Funnel Sans"/>
              </a:rPr>
              <a:t>Directional / monotonic consistency</a:t>
            </a:r>
            <a:endParaRPr lang="en-US" sz="2800"/>
          </a:p>
        </p:txBody>
      </p:sp>
      <p:sp>
        <p:nvSpPr>
          <p:cNvPr id="11" name="text 11"/>
          <p:cNvSpPr/>
          <p:nvPr/>
        </p:nvSpPr>
        <p:spPr>
          <a:xfrm>
            <a:off x="419100" y="1320800"/>
            <a:ext cx="11353800" cy="4445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Compare expected feature direction with empirical behavior against the target or approved reference.</a:t>
            </a:r>
            <a:endParaRPr lang="en-US" sz="1500"/>
          </a:p>
        </p:txBody>
      </p:sp>
      <p:sp>
        <p:nvSpPr>
          <p:cNvPr id="12" name="shape 12"/>
          <p:cNvSpPr/>
          <p:nvPr/>
        </p:nvSpPr>
        <p:spPr>
          <a:xfrm>
            <a:off x="406400" y="1905000"/>
            <a:ext cx="3632200" cy="1549400"/>
          </a:xfrm>
          <a:prstGeom prst="roundRect">
            <a:avLst/>
          </a:prstGeom>
          <a:solidFill>
            <a:srgbClr val="FFFFFF"/>
          </a:solidFill>
          <a:ln w="12700">
            <a:solidFill>
              <a:srgbClr val="DEDCD6"/>
            </a:solidFill>
          </a:ln>
        </p:spPr>
      </p:sp>
      <p:sp>
        <p:nvSpPr>
          <p:cNvPr id="13" name="text 13"/>
          <p:cNvSpPr/>
          <p:nvPr/>
        </p:nvSpPr>
        <p:spPr>
          <a:xfrm>
            <a:off x="571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USER &amp; TRIGGER</a:t>
            </a:r>
            <a:endParaRPr lang="en-US" sz="1000"/>
          </a:p>
        </p:txBody>
      </p:sp>
      <p:sp>
        <p:nvSpPr>
          <p:cNvPr id="14" name="text 14"/>
          <p:cNvSpPr/>
          <p:nvPr/>
        </p:nvSpPr>
        <p:spPr>
          <a:xfrm>
            <a:off x="571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Model / analytics team + SME</a:t>
            </a:r>
            <a:endParaRPr lang="en-US" sz="1325"/>
          </a:p>
          <a:p>
            <a:pPr algn="l">
              <a:lnSpc>
                <a:spcPts val="1510"/>
              </a:lnSpc>
              <a:spcAft>
                <a:spcPts val="0"/>
              </a:spcAft>
            </a:pPr>
            <a:r>
              <a:rPr lang="en-US" sz="1325" b="0" dirty="0">
                <a:solidFill>
                  <a:srgbClr val="181C23"/>
                </a:solidFill>
                <a:latin typeface="Funnel Sans"/>
              </a:rPr>
              <a:t>Use when business expectations and</a:t>
            </a:r>
            <a:endParaRPr lang="en-US" sz="1325"/>
          </a:p>
          <a:p>
            <a:pPr algn="l">
              <a:lnSpc>
                <a:spcPts val="1510"/>
              </a:lnSpc>
              <a:spcAft>
                <a:spcPts val="0"/>
              </a:spcAft>
            </a:pPr>
            <a:r>
              <a:rPr lang="en-US" sz="1325" b="0" dirty="0">
                <a:solidFill>
                  <a:srgbClr val="181C23"/>
                </a:solidFill>
                <a:latin typeface="Funnel Sans"/>
              </a:rPr>
              <a:t>observed relationships may disagree.</a:t>
            </a:r>
            <a:endParaRPr lang="en-US" sz="1325"/>
          </a:p>
        </p:txBody>
      </p:sp>
      <p:sp>
        <p:nvSpPr>
          <p:cNvPr id="15" name="shape 15"/>
          <p:cNvSpPr/>
          <p:nvPr/>
        </p:nvSpPr>
        <p:spPr>
          <a:xfrm>
            <a:off x="4279900" y="1905000"/>
            <a:ext cx="3632200" cy="1549400"/>
          </a:xfrm>
          <a:prstGeom prst="roundRect">
            <a:avLst/>
          </a:prstGeom>
          <a:solidFill>
            <a:srgbClr val="FFFFFF"/>
          </a:solidFill>
          <a:ln w="12700">
            <a:solidFill>
              <a:srgbClr val="DEDCD6"/>
            </a:solidFill>
          </a:ln>
        </p:spPr>
      </p:sp>
      <p:sp>
        <p:nvSpPr>
          <p:cNvPr id="16" name="text 16"/>
          <p:cNvSpPr/>
          <p:nvPr/>
        </p:nvSpPr>
        <p:spPr>
          <a:xfrm>
            <a:off x="44450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INPUTS &amp; READINESS</a:t>
            </a:r>
            <a:endParaRPr lang="en-US" sz="1000"/>
          </a:p>
        </p:txBody>
      </p:sp>
      <p:sp>
        <p:nvSpPr>
          <p:cNvPr id="17" name="text 17"/>
          <p:cNvSpPr/>
          <p:nvPr/>
        </p:nvSpPr>
        <p:spPr>
          <a:xfrm>
            <a:off x="44450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Numeric features; saved target or</a:t>
            </a:r>
            <a:endParaRPr lang="en-US" sz="1325"/>
          </a:p>
          <a:p>
            <a:pPr algn="l">
              <a:lnSpc>
                <a:spcPts val="1510"/>
              </a:lnSpc>
              <a:spcAft>
                <a:spcPts val="0"/>
              </a:spcAft>
            </a:pPr>
            <a:r>
              <a:rPr lang="en-US" sz="1325" b="0" dirty="0">
                <a:solidFill>
                  <a:srgbClr val="181C23"/>
                </a:solidFill>
                <a:latin typeface="Funnel Sans"/>
              </a:rPr>
              <a:t>approved run reference; event / risk</a:t>
            </a:r>
            <a:endParaRPr lang="en-US" sz="1325"/>
          </a:p>
          <a:p>
            <a:pPr algn="l">
              <a:lnSpc>
                <a:spcPts val="1510"/>
              </a:lnSpc>
              <a:spcAft>
                <a:spcPts val="0"/>
              </a:spcAft>
            </a:pPr>
            <a:r>
              <a:rPr lang="en-US" sz="1325" b="0" dirty="0">
                <a:solidFill>
                  <a:srgbClr val="181C23"/>
                </a:solidFill>
                <a:latin typeface="Funnel Sans"/>
              </a:rPr>
              <a:t>orientation; confirmed KB or manual</a:t>
            </a:r>
            <a:endParaRPr lang="en-US" sz="1325"/>
          </a:p>
          <a:p>
            <a:pPr algn="l">
              <a:lnSpc>
                <a:spcPts val="1510"/>
              </a:lnSpc>
              <a:spcAft>
                <a:spcPts val="0"/>
              </a:spcAft>
            </a:pPr>
            <a:r>
              <a:rPr lang="en-US" sz="1325" b="0" dirty="0">
                <a:solidFill>
                  <a:srgbClr val="181C23"/>
                </a:solidFill>
                <a:latin typeface="Funnel Sans"/>
              </a:rPr>
              <a:t>expected directions.</a:t>
            </a:r>
            <a:endParaRPr lang="en-US" sz="1325"/>
          </a:p>
        </p:txBody>
      </p:sp>
      <p:sp>
        <p:nvSpPr>
          <p:cNvPr id="18" name="shape 18"/>
          <p:cNvSpPr/>
          <p:nvPr/>
        </p:nvSpPr>
        <p:spPr>
          <a:xfrm>
            <a:off x="8153400" y="1905000"/>
            <a:ext cx="3632200" cy="1549400"/>
          </a:xfrm>
          <a:prstGeom prst="roundRect">
            <a:avLst/>
          </a:prstGeom>
          <a:solidFill>
            <a:srgbClr val="FFF2DF"/>
          </a:solidFill>
          <a:ln w="12700">
            <a:solidFill>
              <a:srgbClr val="DEDCD6"/>
            </a:solidFill>
          </a:ln>
        </p:spPr>
      </p:sp>
      <p:sp>
        <p:nvSpPr>
          <p:cNvPr id="19" name="text 19"/>
          <p:cNvSpPr/>
          <p:nvPr/>
        </p:nvSpPr>
        <p:spPr>
          <a:xfrm>
            <a:off x="8318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OUTPUTS &amp; EVIDENCE</a:t>
            </a:r>
            <a:endParaRPr lang="en-US" sz="1000"/>
          </a:p>
        </p:txBody>
      </p:sp>
      <p:sp>
        <p:nvSpPr>
          <p:cNvPr id="20" name="text 20"/>
          <p:cNvSpPr/>
          <p:nvPr/>
        </p:nvSpPr>
        <p:spPr>
          <a:xfrm>
            <a:off x="8318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Binned averages, Spearman and</a:t>
            </a:r>
            <a:endParaRPr lang="en-US" sz="1325"/>
          </a:p>
          <a:p>
            <a:pPr algn="l">
              <a:lnSpc>
                <a:spcPts val="1510"/>
              </a:lnSpc>
              <a:spcAft>
                <a:spcPts val="0"/>
              </a:spcAft>
            </a:pPr>
            <a:r>
              <a:rPr lang="en-US" sz="1325" b="0" dirty="0">
                <a:solidFill>
                  <a:srgbClr val="181C23"/>
                </a:solidFill>
                <a:latin typeface="Funnel Sans"/>
              </a:rPr>
              <a:t>standardized univariate regression;</a:t>
            </a:r>
            <a:endParaRPr lang="en-US" sz="1325"/>
          </a:p>
          <a:p>
            <a:pPr algn="l">
              <a:lnSpc>
                <a:spcPts val="1510"/>
              </a:lnSpc>
              <a:spcAft>
                <a:spcPts val="0"/>
              </a:spcAft>
            </a:pPr>
            <a:r>
              <a:rPr lang="en-US" sz="1325" b="0" dirty="0">
                <a:solidFill>
                  <a:srgbClr val="181C23"/>
                </a:solidFill>
                <a:latin typeface="Funnel Sans"/>
              </a:rPr>
              <a:t>direction / strength, charts and feature</a:t>
            </a:r>
            <a:endParaRPr lang="en-US" sz="1325"/>
          </a:p>
          <a:p>
            <a:pPr algn="l">
              <a:lnSpc>
                <a:spcPts val="1510"/>
              </a:lnSpc>
              <a:spcAft>
                <a:spcPts val="0"/>
              </a:spcAft>
            </a:pPr>
            <a:r>
              <a:rPr lang="en-US" sz="1325" b="0" dirty="0">
                <a:solidFill>
                  <a:srgbClr val="181C23"/>
                </a:solidFill>
                <a:latin typeface="Funnel Sans"/>
              </a:rPr>
              <a:t>evidence. Pearson is display-only.</a:t>
            </a:r>
            <a:endParaRPr lang="en-US" sz="1325"/>
          </a:p>
        </p:txBody>
      </p:sp>
      <p:sp>
        <p:nvSpPr>
          <p:cNvPr id="21" name="text 21"/>
          <p:cNvSpPr/>
          <p:nvPr/>
        </p:nvSpPr>
        <p:spPr>
          <a:xfrm>
            <a:off x="406400" y="3606800"/>
            <a:ext cx="7747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PROCESS &amp; LAUNCH</a:t>
            </a:r>
            <a:endParaRPr lang="en-US" sz="1000"/>
          </a:p>
        </p:txBody>
      </p:sp>
      <p:sp>
        <p:nvSpPr>
          <p:cNvPr id="22" name="shape 22"/>
          <p:cNvSpPr/>
          <p:nvPr/>
        </p:nvSpPr>
        <p:spPr>
          <a:xfrm>
            <a:off x="406400" y="3898900"/>
            <a:ext cx="2113280" cy="774700"/>
          </a:xfrm>
          <a:prstGeom prst="roundRect">
            <a:avLst/>
          </a:prstGeom>
          <a:solidFill>
            <a:srgbClr val="FFF2DF"/>
          </a:solidFill>
          <a:ln>
            <a:noFill/>
          </a:ln>
        </p:spPr>
      </p:sp>
      <p:sp>
        <p:nvSpPr>
          <p:cNvPr id="23" name="text 23"/>
          <p:cNvSpPr/>
          <p:nvPr/>
        </p:nvSpPr>
        <p:spPr>
          <a:xfrm>
            <a:off x="53340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01</a:t>
            </a:r>
            <a:endParaRPr lang="en-US" sz="1200"/>
          </a:p>
        </p:txBody>
      </p:sp>
      <p:sp>
        <p:nvSpPr>
          <p:cNvPr id="24" name="text 24"/>
          <p:cNvSpPr/>
          <p:nvPr/>
        </p:nvSpPr>
        <p:spPr>
          <a:xfrm>
            <a:off x="87630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Choose scope</a:t>
            </a:r>
            <a:endParaRPr lang="en-US" sz="1250"/>
          </a:p>
        </p:txBody>
      </p:sp>
      <p:sp>
        <p:nvSpPr>
          <p:cNvPr id="25" name="text 25"/>
          <p:cNvSpPr/>
          <p:nvPr/>
        </p:nvSpPr>
        <p:spPr>
          <a:xfrm>
            <a:off x="53340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Overall first run</a:t>
            </a:r>
            <a:endParaRPr lang="en-US" sz="1100"/>
          </a:p>
        </p:txBody>
      </p:sp>
      <p:cxnSp>
        <p:nvCxnSpPr>
          <p:cNvPr id="26" name="connector 26"/>
          <p:cNvCxnSpPr/>
          <p:nvPr/>
        </p:nvCxnSpPr>
        <p:spPr>
          <a:xfrm>
            <a:off x="254508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2722880" y="3898900"/>
            <a:ext cx="2113280" cy="774700"/>
          </a:xfrm>
          <a:prstGeom prst="roundRect">
            <a:avLst/>
          </a:prstGeom>
          <a:solidFill>
            <a:srgbClr val="FFF2DF"/>
          </a:solidFill>
          <a:ln>
            <a:noFill/>
          </a:ln>
        </p:spPr>
      </p:sp>
      <p:sp>
        <p:nvSpPr>
          <p:cNvPr id="28" name="text 28"/>
          <p:cNvSpPr/>
          <p:nvPr/>
        </p:nvSpPr>
        <p:spPr>
          <a:xfrm>
            <a:off x="284988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02</a:t>
            </a:r>
            <a:endParaRPr lang="en-US" sz="1200"/>
          </a:p>
        </p:txBody>
      </p:sp>
      <p:sp>
        <p:nvSpPr>
          <p:cNvPr id="29" name="text 29"/>
          <p:cNvSpPr/>
          <p:nvPr/>
        </p:nvSpPr>
        <p:spPr>
          <a:xfrm>
            <a:off x="319278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Set reference</a:t>
            </a:r>
            <a:endParaRPr lang="en-US" sz="1250"/>
          </a:p>
        </p:txBody>
      </p:sp>
      <p:sp>
        <p:nvSpPr>
          <p:cNvPr id="30" name="text 30"/>
          <p:cNvSpPr/>
          <p:nvPr/>
        </p:nvSpPr>
        <p:spPr>
          <a:xfrm>
            <a:off x="284988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Target + risk meaning</a:t>
            </a:r>
            <a:endParaRPr lang="en-US" sz="1100"/>
          </a:p>
        </p:txBody>
      </p:sp>
      <p:cxnSp>
        <p:nvCxnSpPr>
          <p:cNvPr id="31" name="connector 31"/>
          <p:cNvCxnSpPr/>
          <p:nvPr/>
        </p:nvCxnSpPr>
        <p:spPr>
          <a:xfrm>
            <a:off x="486156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2" name="shape 32"/>
          <p:cNvSpPr/>
          <p:nvPr/>
        </p:nvSpPr>
        <p:spPr>
          <a:xfrm>
            <a:off x="5039360" y="3898900"/>
            <a:ext cx="2113280" cy="774700"/>
          </a:xfrm>
          <a:prstGeom prst="roundRect">
            <a:avLst/>
          </a:prstGeom>
          <a:solidFill>
            <a:srgbClr val="FFF2DF"/>
          </a:solidFill>
          <a:ln>
            <a:noFill/>
          </a:ln>
        </p:spPr>
      </p:sp>
      <p:sp>
        <p:nvSpPr>
          <p:cNvPr id="33" name="text 33"/>
          <p:cNvSpPr/>
          <p:nvPr/>
        </p:nvSpPr>
        <p:spPr>
          <a:xfrm>
            <a:off x="516636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03</a:t>
            </a:r>
            <a:endParaRPr lang="en-US" sz="1200"/>
          </a:p>
        </p:txBody>
      </p:sp>
      <p:sp>
        <p:nvSpPr>
          <p:cNvPr id="34" name="text 34"/>
          <p:cNvSpPr/>
          <p:nvPr/>
        </p:nvSpPr>
        <p:spPr>
          <a:xfrm>
            <a:off x="550926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Confirm</a:t>
            </a:r>
            <a:endParaRPr lang="en-US" sz="1250"/>
          </a:p>
        </p:txBody>
      </p:sp>
      <p:sp>
        <p:nvSpPr>
          <p:cNvPr id="35" name="text 35"/>
          <p:cNvSpPr/>
          <p:nvPr/>
        </p:nvSpPr>
        <p:spPr>
          <a:xfrm>
            <a:off x="516636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Expected directions</a:t>
            </a:r>
            <a:endParaRPr lang="en-US" sz="1100"/>
          </a:p>
        </p:txBody>
      </p:sp>
      <p:cxnSp>
        <p:nvCxnSpPr>
          <p:cNvPr id="36" name="connector 36"/>
          <p:cNvCxnSpPr/>
          <p:nvPr/>
        </p:nvCxnSpPr>
        <p:spPr>
          <a:xfrm>
            <a:off x="717804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7" name="shape 37"/>
          <p:cNvSpPr/>
          <p:nvPr/>
        </p:nvSpPr>
        <p:spPr>
          <a:xfrm>
            <a:off x="7355840" y="3898900"/>
            <a:ext cx="2113280" cy="774700"/>
          </a:xfrm>
          <a:prstGeom prst="roundRect">
            <a:avLst/>
          </a:prstGeom>
          <a:solidFill>
            <a:srgbClr val="FFF2DF"/>
          </a:solidFill>
          <a:ln>
            <a:noFill/>
          </a:ln>
        </p:spPr>
      </p:sp>
      <p:sp>
        <p:nvSpPr>
          <p:cNvPr id="38" name="text 38"/>
          <p:cNvSpPr/>
          <p:nvPr/>
        </p:nvSpPr>
        <p:spPr>
          <a:xfrm>
            <a:off x="748284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04</a:t>
            </a:r>
            <a:endParaRPr lang="en-US" sz="1200"/>
          </a:p>
        </p:txBody>
      </p:sp>
      <p:sp>
        <p:nvSpPr>
          <p:cNvPr id="39" name="text 39"/>
          <p:cNvSpPr/>
          <p:nvPr/>
        </p:nvSpPr>
        <p:spPr>
          <a:xfrm>
            <a:off x="782574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Freeze</a:t>
            </a:r>
            <a:endParaRPr lang="en-US" sz="1250"/>
          </a:p>
        </p:txBody>
      </p:sp>
      <p:sp>
        <p:nvSpPr>
          <p:cNvPr id="40" name="text 40"/>
          <p:cNvSpPr/>
          <p:nvPr/>
        </p:nvSpPr>
        <p:spPr>
          <a:xfrm>
            <a:off x="748284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Manifest + proposals</a:t>
            </a:r>
            <a:endParaRPr lang="en-US" sz="1100"/>
          </a:p>
        </p:txBody>
      </p:sp>
      <p:cxnSp>
        <p:nvCxnSpPr>
          <p:cNvPr id="41" name="connector 41"/>
          <p:cNvCxnSpPr/>
          <p:nvPr/>
        </p:nvCxnSpPr>
        <p:spPr>
          <a:xfrm>
            <a:off x="949452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9672320" y="3898900"/>
            <a:ext cx="2113280" cy="774700"/>
          </a:xfrm>
          <a:prstGeom prst="roundRect">
            <a:avLst/>
          </a:prstGeom>
          <a:solidFill>
            <a:srgbClr val="FFF2DF"/>
          </a:solidFill>
          <a:ln>
            <a:noFill/>
          </a:ln>
        </p:spPr>
      </p:sp>
      <p:sp>
        <p:nvSpPr>
          <p:cNvPr id="43" name="text 43"/>
          <p:cNvSpPr/>
          <p:nvPr/>
        </p:nvSpPr>
        <p:spPr>
          <a:xfrm>
            <a:off x="979932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05</a:t>
            </a:r>
            <a:endParaRPr lang="en-US" sz="1200"/>
          </a:p>
        </p:txBody>
      </p:sp>
      <p:sp>
        <p:nvSpPr>
          <p:cNvPr id="44" name="text 44"/>
          <p:cNvSpPr/>
          <p:nvPr/>
        </p:nvSpPr>
        <p:spPr>
          <a:xfrm>
            <a:off x="1014222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Compare</a:t>
            </a:r>
            <a:endParaRPr lang="en-US" sz="1250"/>
          </a:p>
        </p:txBody>
      </p:sp>
      <p:sp>
        <p:nvSpPr>
          <p:cNvPr id="45" name="text 45"/>
          <p:cNvSpPr/>
          <p:nvPr/>
        </p:nvSpPr>
        <p:spPr>
          <a:xfrm>
            <a:off x="979932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Three-signal evidence</a:t>
            </a:r>
            <a:endParaRPr lang="en-US" sz="1100"/>
          </a:p>
        </p:txBody>
      </p:sp>
      <p:sp>
        <p:nvSpPr>
          <p:cNvPr id="46" name="shape 46"/>
          <p:cNvSpPr/>
          <p:nvPr/>
        </p:nvSpPr>
        <p:spPr>
          <a:xfrm>
            <a:off x="406400" y="4851400"/>
            <a:ext cx="5562600" cy="1206500"/>
          </a:xfrm>
          <a:prstGeom prst="roundRect">
            <a:avLst/>
          </a:prstGeom>
          <a:solidFill>
            <a:srgbClr val="FFFFFF"/>
          </a:solidFill>
          <a:ln w="12700">
            <a:solidFill>
              <a:srgbClr val="DEDCD6"/>
            </a:solidFill>
          </a:ln>
        </p:spPr>
      </p:sp>
      <p:sp>
        <p:nvSpPr>
          <p:cNvPr id="47" name="text 47"/>
          <p:cNvSpPr/>
          <p:nvPr/>
        </p:nvSpPr>
        <p:spPr>
          <a:xfrm>
            <a:off x="5715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FINDING → ISSUE</a:t>
            </a:r>
            <a:endParaRPr lang="en-US" sz="1000"/>
          </a:p>
        </p:txBody>
      </p:sp>
      <p:sp>
        <p:nvSpPr>
          <p:cNvPr id="48" name="text 48"/>
          <p:cNvSpPr/>
          <p:nvPr/>
        </p:nvSpPr>
        <p:spPr>
          <a:xfrm>
            <a:off x="5715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3/3 agreement is strong; 2/3 is moderate, subject to guards. Weak,</a:t>
            </a:r>
            <a:endParaRPr lang="en-US" sz="1250"/>
          </a:p>
          <a:p>
            <a:pPr algn="l">
              <a:lnSpc>
                <a:spcPts val="1425"/>
              </a:lnSpc>
              <a:spcAft>
                <a:spcPts val="0"/>
              </a:spcAft>
            </a:pPr>
            <a:r>
              <a:rPr lang="en-US" sz="1250" b="0" dirty="0">
                <a:solidFill>
                  <a:srgbClr val="181C23"/>
                </a:solidFill>
                <a:latin typeface="Funnel Sans"/>
              </a:rPr>
              <a:t>conflicting or review-recommended findings need user assessment</a:t>
            </a:r>
            <a:endParaRPr lang="en-US" sz="1250"/>
          </a:p>
          <a:p>
            <a:pPr algn="l">
              <a:lnSpc>
                <a:spcPts val="1425"/>
              </a:lnSpc>
              <a:spcAft>
                <a:spcPts val="0"/>
              </a:spcAft>
            </a:pPr>
            <a:r>
              <a:rPr lang="en-US" sz="1250" b="0" dirty="0">
                <a:solidFill>
                  <a:srgbClr val="181C23"/>
                </a:solidFill>
                <a:latin typeface="Funnel Sans"/>
              </a:rPr>
              <a:t>and confirmation before issue creation.</a:t>
            </a:r>
            <a:endParaRPr lang="en-US" sz="1250"/>
          </a:p>
        </p:txBody>
      </p:sp>
      <p:sp>
        <p:nvSpPr>
          <p:cNvPr id="49" name="shape 49"/>
          <p:cNvSpPr/>
          <p:nvPr/>
        </p:nvSpPr>
        <p:spPr>
          <a:xfrm>
            <a:off x="6223000" y="4851400"/>
            <a:ext cx="5562600" cy="1206500"/>
          </a:xfrm>
          <a:prstGeom prst="roundRect">
            <a:avLst/>
          </a:prstGeom>
          <a:solidFill>
            <a:srgbClr val="FFFFFF"/>
          </a:solidFill>
          <a:ln w="12700">
            <a:solidFill>
              <a:srgbClr val="DEDCD6"/>
            </a:solidFill>
          </a:ln>
        </p:spPr>
      </p:sp>
      <p:sp>
        <p:nvSpPr>
          <p:cNvPr id="50" name="text 50"/>
          <p:cNvSpPr/>
          <p:nvPr/>
        </p:nvSpPr>
        <p:spPr>
          <a:xfrm>
            <a:off x="63881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RCA → REMEDIATION</a:t>
            </a:r>
            <a:endParaRPr lang="en-US" sz="1000"/>
          </a:p>
        </p:txBody>
      </p:sp>
      <p:sp>
        <p:nvSpPr>
          <p:cNvPr id="51" name="text 51"/>
          <p:cNvSpPr/>
          <p:nvPr/>
        </p:nvSpPr>
        <p:spPr>
          <a:xfrm>
            <a:off x="63881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Check expectation, target orientation and population mix. Approve</a:t>
            </a:r>
            <a:endParaRPr lang="en-US" sz="1250"/>
          </a:p>
          <a:p>
            <a:pPr algn="l">
              <a:lnSpc>
                <a:spcPts val="1425"/>
              </a:lnSpc>
              <a:spcAft>
                <a:spcPts val="0"/>
              </a:spcAft>
            </a:pPr>
            <a:r>
              <a:rPr lang="en-US" sz="1250" b="0" dirty="0">
                <a:solidFill>
                  <a:srgbClr val="181C23"/>
                </a:solidFill>
                <a:latin typeface="Funnel Sans"/>
              </a:rPr>
              <a:t>root cause or mark unresolved; correct source or govern a KB change.</a:t>
            </a:r>
            <a:endParaRPr lang="en-US" sz="1250"/>
          </a:p>
          <a:p>
            <a:pPr algn="l">
              <a:lnSpc>
                <a:spcPts val="1425"/>
              </a:lnSpc>
              <a:spcAft>
                <a:spcPts val="0"/>
              </a:spcAft>
            </a:pPr>
            <a:r>
              <a:rPr lang="en-US" sz="1250" b="0" dirty="0">
                <a:solidFill>
                  <a:srgbClr val="181C23"/>
                </a:solidFill>
                <a:latin typeface="Funnel Sans"/>
              </a:rPr>
              <a:t>KB proposals require review and later curation.</a:t>
            </a:r>
            <a:endParaRPr lang="en-US" sz="1250"/>
          </a:p>
        </p:txBody>
      </p:sp>
      <p:sp>
        <p:nvSpPr>
          <p:cNvPr id="52" name="shape 52"/>
          <p:cNvSpPr/>
          <p:nvPr/>
        </p:nvSpPr>
        <p:spPr>
          <a:xfrm>
            <a:off x="406400" y="6172200"/>
            <a:ext cx="11379200" cy="292100"/>
          </a:xfrm>
          <a:prstGeom prst="roundRect">
            <a:avLst/>
          </a:prstGeom>
          <a:solidFill>
            <a:srgbClr val="282A27"/>
          </a:solidFill>
          <a:ln>
            <a:noFill/>
          </a:ln>
        </p:spPr>
      </p:sp>
      <p:sp>
        <p:nvSpPr>
          <p:cNvPr id="53" name="text 53"/>
          <p:cNvSpPr/>
          <p:nvPr/>
        </p:nvSpPr>
        <p:spPr>
          <a:xfrm>
            <a:off x="546100" y="6235700"/>
            <a:ext cx="11099800" cy="203200"/>
          </a:xfrm>
          <a:prstGeom prst="rect">
            <a:avLst/>
          </a:prstGeom>
          <a:noFill/>
          <a:ln>
            <a:noFill/>
          </a:ln>
        </p:spPr>
        <p:txBody>
          <a:bodyPr wrap="none" lIns="0" tIns="0" rIns="0" bIns="0" anchor="t">
            <a:noAutofit/>
          </a:bodyPr>
          <a:lstStyle/>
          <a:p>
            <a:pPr algn="l">
              <a:lnSpc>
                <a:spcPts val="1197"/>
              </a:lnSpc>
              <a:spcAft>
                <a:spcPts val="0"/>
              </a:spcAft>
            </a:pPr>
            <a:r>
              <a:rPr lang="en-US" sz="1050" b="0" dirty="0">
                <a:solidFill>
                  <a:srgbClr val="FFFFFF"/>
                </a:solidFill>
                <a:latin typeface="Funnel Sans"/>
              </a:rPr>
              <a:t>First run is overall only; later runs may use one PSI-based segment. The reference complement is not analysed.</a:t>
            </a:r>
            <a:endParaRPr lang="en-US" sz="1050"/>
          </a:p>
        </p:txBody>
      </p:sp>
      <p:cxnSp>
        <p:nvCxnSpPr>
          <p:cNvPr id="54" name="connector 54"/>
          <p:cNvCxnSpPr/>
          <p:nvPr/>
        </p:nvCxnSpPr>
        <p:spPr>
          <a:xfrm>
            <a:off x="406400" y="6553200"/>
            <a:ext cx="113792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55" name="text 55"/>
          <p:cNvSpPr/>
          <p:nvPr/>
        </p:nvSpPr>
        <p:spPr>
          <a:xfrm>
            <a:off x="406400" y="6629400"/>
            <a:ext cx="5715000" cy="152400"/>
          </a:xfrm>
          <a:prstGeom prst="rect">
            <a:avLst/>
          </a:prstGeom>
          <a:noFill/>
          <a:ln>
            <a:noFill/>
          </a:ln>
        </p:spPr>
        <p:txBody>
          <a:bodyPr wrap="none" lIns="0" tIns="0" rIns="0" bIns="0" anchor="t">
            <a:noAutofit/>
          </a:bodyPr>
          <a:lstStyle/>
          <a:p>
            <a:pPr algn="l">
              <a:lnSpc>
                <a:spcPts val="969"/>
              </a:lnSpc>
              <a:spcAft>
                <a:spcPts val="0"/>
              </a:spcAft>
            </a:pPr>
            <a:r>
              <a:rPr lang="en-US" sz="850" b="0" dirty="0">
                <a:solidFill>
                  <a:srgbClr val="6D706B"/>
                </a:solidFill>
                <a:latin typeface="Funnel Sans"/>
              </a:rPr>
              <a:t>DATA WORKBENCH / Diagnostic quick reference</a:t>
            </a:r>
            <a:endParaRPr lang="en-US" sz="850"/>
          </a:p>
        </p:txBody>
      </p:sp>
      <p:sp>
        <p:nvSpPr>
          <p:cNvPr id="56" name="text 56"/>
          <p:cNvSpPr/>
          <p:nvPr/>
        </p:nvSpPr>
        <p:spPr>
          <a:xfrm>
            <a:off x="6223000" y="6629400"/>
            <a:ext cx="4254500" cy="152400"/>
          </a:xfrm>
          <a:prstGeom prst="rect">
            <a:avLst/>
          </a:prstGeom>
          <a:noFill/>
          <a:ln>
            <a:noFill/>
          </a:ln>
        </p:spPr>
        <p:txBody>
          <a:bodyPr wrap="none" lIns="0" tIns="0" rIns="0" bIns="0" anchor="t">
            <a:noAutofit/>
          </a:bodyPr>
          <a:lstStyle/>
          <a:p>
            <a:pPr algn="r">
              <a:lnSpc>
                <a:spcPts val="969"/>
              </a:lnSpc>
              <a:spcAft>
                <a:spcPts val="0"/>
              </a:spcAft>
            </a:pPr>
            <a:r>
              <a:rPr lang="en-US" sz="850" b="0" dirty="0">
                <a:solidFill>
                  <a:srgbClr val="6D706B"/>
                </a:solidFill>
                <a:latin typeface="Funnel Sans"/>
              </a:rPr>
              <a:t>Full deck: slides 47–51</a:t>
            </a:r>
            <a:endParaRPr lang="en-US" sz="850"/>
          </a:p>
        </p:txBody>
      </p:sp>
      <p:sp>
        <p:nvSpPr>
          <p:cNvPr id="57" name="text 57"/>
          <p:cNvSpPr/>
          <p:nvPr/>
        </p:nvSpPr>
        <p:spPr>
          <a:xfrm>
            <a:off x="10795000" y="6616700"/>
            <a:ext cx="990600" cy="177800"/>
          </a:xfrm>
          <a:prstGeom prst="rect">
            <a:avLst/>
          </a:prstGeom>
          <a:noFill/>
          <a:ln>
            <a:noFill/>
          </a:ln>
        </p:spPr>
        <p:txBody>
          <a:bodyPr wrap="none" lIns="0" tIns="0" rIns="0" bIns="0" anchor="t">
            <a:noAutofit/>
          </a:bodyPr>
          <a:lstStyle/>
          <a:p>
            <a:pPr algn="r">
              <a:lnSpc>
                <a:spcPts val="1083"/>
              </a:lnSpc>
              <a:spcAft>
                <a:spcPts val="0"/>
              </a:spcAft>
            </a:pPr>
            <a:r>
              <a:rPr lang="en-US" sz="950" b="0" dirty="0">
                <a:solidFill>
                  <a:srgbClr val="6D706B"/>
                </a:solidFill>
                <a:latin typeface="Funnel Sans"/>
              </a:rPr>
              <a:t>06 / 22</a:t>
            </a:r>
            <a:endParaRPr lang="en-US" sz="9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shape 3"/>
          <p:cNvSpPr/>
          <p:nvPr/>
        </p:nvSpPr>
        <p:spPr>
          <a:xfrm>
            <a:off x="406400" y="228600"/>
            <a:ext cx="1181100" cy="292100"/>
          </a:xfrm>
          <a:prstGeom prst="roundRect">
            <a:avLst/>
          </a:prstGeom>
          <a:solidFill>
            <a:srgbClr val="FFF2DF"/>
          </a:solidFill>
          <a:ln>
            <a:noFill/>
          </a:ln>
        </p:spPr>
      </p:sp>
      <p:sp>
        <p:nvSpPr>
          <p:cNvPr id="4" name="text 4"/>
          <p:cNvSpPr/>
          <p:nvPr/>
        </p:nvSpPr>
        <p:spPr>
          <a:xfrm>
            <a:off x="520700" y="292100"/>
            <a:ext cx="952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T4-D14</a:t>
            </a:r>
            <a:endParaRPr lang="en-US" sz="1000"/>
          </a:p>
        </p:txBody>
      </p:sp>
      <p:sp>
        <p:nvSpPr>
          <p:cNvPr id="5" name="text 5"/>
          <p:cNvSpPr/>
          <p:nvPr/>
        </p:nvSpPr>
        <p:spPr>
          <a:xfrm>
            <a:off x="1739900" y="304800"/>
            <a:ext cx="3022600" cy="190500"/>
          </a:xfrm>
          <a:prstGeom prst="rect">
            <a:avLst/>
          </a:prstGeom>
          <a:noFill/>
          <a:ln>
            <a:noFill/>
          </a:ln>
        </p:spPr>
        <p:txBody>
          <a:bodyPr wrap="none" lIns="0" tIns="0" rIns="0" bIns="0" anchor="t">
            <a:noAutofit/>
          </a:bodyPr>
          <a:lstStyle/>
          <a:p>
            <a:pPr algn="l">
              <a:lnSpc>
                <a:spcPts val="1083"/>
              </a:lnSpc>
              <a:spcAft>
                <a:spcPts val="0"/>
              </a:spcAft>
            </a:pPr>
            <a:r>
              <a:rPr lang="en-US" sz="950" b="1" dirty="0">
                <a:solidFill>
                  <a:srgbClr val="6D706B"/>
                </a:solidFill>
                <a:latin typeface="Funnel Sans"/>
              </a:rPr>
              <a:t>REPRESENTATIVENESS</a:t>
            </a:r>
            <a:endParaRPr lang="en-US" sz="950"/>
          </a:p>
        </p:txBody>
      </p:sp>
      <p:sp>
        <p:nvSpPr>
          <p:cNvPr id="6" name="shape 6"/>
          <p:cNvSpPr/>
          <p:nvPr/>
        </p:nvSpPr>
        <p:spPr>
          <a:xfrm>
            <a:off x="4864100" y="228600"/>
            <a:ext cx="3797300" cy="292100"/>
          </a:xfrm>
          <a:prstGeom prst="roundRect">
            <a:avLst/>
          </a:prstGeom>
          <a:solidFill>
            <a:srgbClr val="EFEEE9"/>
          </a:solidFill>
          <a:ln>
            <a:noFill/>
          </a:ln>
        </p:spPr>
      </p:sp>
      <p:sp>
        <p:nvSpPr>
          <p:cNvPr id="7" name="text 7"/>
          <p:cNvSpPr/>
          <p:nvPr/>
        </p:nvSpPr>
        <p:spPr>
          <a:xfrm>
            <a:off x="4978400" y="292100"/>
            <a:ext cx="35687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181C23"/>
                </a:solidFill>
                <a:latin typeface="Funnel Sans"/>
              </a:rPr>
              <a:t>Baseline vs Current</a:t>
            </a:r>
            <a:endParaRPr lang="en-US" sz="1000"/>
          </a:p>
        </p:txBody>
      </p:sp>
      <p:sp>
        <p:nvSpPr>
          <p:cNvPr id="8" name="shape 8"/>
          <p:cNvSpPr/>
          <p:nvPr/>
        </p:nvSpPr>
        <p:spPr>
          <a:xfrm>
            <a:off x="8826500" y="228600"/>
            <a:ext cx="2959100" cy="292100"/>
          </a:xfrm>
          <a:prstGeom prst="roundRect">
            <a:avLst/>
          </a:prstGeom>
          <a:solidFill>
            <a:srgbClr val="E9F3ED"/>
          </a:solidFill>
          <a:ln>
            <a:noFill/>
          </a:ln>
        </p:spPr>
      </p:sp>
      <p:sp>
        <p:nvSpPr>
          <p:cNvPr id="9" name="text 9"/>
          <p:cNvSpPr/>
          <p:nvPr/>
        </p:nvSpPr>
        <p:spPr>
          <a:xfrm>
            <a:off x="8940800" y="292100"/>
            <a:ext cx="2730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276B57"/>
                </a:solidFill>
                <a:latin typeface="Funnel Sans"/>
              </a:rPr>
              <a:t>Enabled</a:t>
            </a:r>
            <a:endParaRPr lang="en-US" sz="1000"/>
          </a:p>
        </p:txBody>
      </p:sp>
      <p:sp>
        <p:nvSpPr>
          <p:cNvPr id="10" name="text 10"/>
          <p:cNvSpPr/>
          <p:nvPr/>
        </p:nvSpPr>
        <p:spPr>
          <a:xfrm>
            <a:off x="406400" y="698500"/>
            <a:ext cx="11379200" cy="508000"/>
          </a:xfrm>
          <a:prstGeom prst="rect">
            <a:avLst/>
          </a:prstGeom>
          <a:noFill/>
          <a:ln>
            <a:noFill/>
          </a:ln>
        </p:spPr>
        <p:txBody>
          <a:bodyPr wrap="none" lIns="0" tIns="0" rIns="0" bIns="0" anchor="t">
            <a:noAutofit/>
          </a:bodyPr>
          <a:lstStyle/>
          <a:p>
            <a:pPr algn="l">
              <a:lnSpc>
                <a:spcPts val="3192"/>
              </a:lnSpc>
              <a:spcAft>
                <a:spcPts val="0"/>
              </a:spcAft>
            </a:pPr>
            <a:r>
              <a:rPr lang="en-US" sz="2800" b="1" dirty="0">
                <a:solidFill>
                  <a:srgbClr val="181C23"/>
                </a:solidFill>
                <a:latin typeface="Funnel Sans"/>
              </a:rPr>
              <a:t>Population Stability Index (PSI)</a:t>
            </a:r>
            <a:endParaRPr lang="en-US" sz="2800"/>
          </a:p>
        </p:txBody>
      </p:sp>
      <p:sp>
        <p:nvSpPr>
          <p:cNvPr id="11" name="text 11"/>
          <p:cNvSpPr/>
          <p:nvPr/>
        </p:nvSpPr>
        <p:spPr>
          <a:xfrm>
            <a:off x="419100" y="1320800"/>
            <a:ext cx="11353800" cy="4445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Measure which feature distributions changed, and identify the bins driving the shift.</a:t>
            </a:r>
            <a:endParaRPr lang="en-US" sz="1500"/>
          </a:p>
        </p:txBody>
      </p:sp>
      <p:sp>
        <p:nvSpPr>
          <p:cNvPr id="12" name="shape 12"/>
          <p:cNvSpPr/>
          <p:nvPr/>
        </p:nvSpPr>
        <p:spPr>
          <a:xfrm>
            <a:off x="406400" y="1905000"/>
            <a:ext cx="3632200" cy="1549400"/>
          </a:xfrm>
          <a:prstGeom prst="roundRect">
            <a:avLst/>
          </a:prstGeom>
          <a:solidFill>
            <a:srgbClr val="FFFFFF"/>
          </a:solidFill>
          <a:ln w="12700">
            <a:solidFill>
              <a:srgbClr val="DEDCD6"/>
            </a:solidFill>
          </a:ln>
        </p:spPr>
      </p:sp>
      <p:sp>
        <p:nvSpPr>
          <p:cNvPr id="13" name="text 13"/>
          <p:cNvSpPr/>
          <p:nvPr/>
        </p:nvSpPr>
        <p:spPr>
          <a:xfrm>
            <a:off x="571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USER &amp; TRIGGER</a:t>
            </a:r>
            <a:endParaRPr lang="en-US" sz="1000"/>
          </a:p>
        </p:txBody>
      </p:sp>
      <p:sp>
        <p:nvSpPr>
          <p:cNvPr id="14" name="text 14"/>
          <p:cNvSpPr/>
          <p:nvPr/>
        </p:nvSpPr>
        <p:spPr>
          <a:xfrm>
            <a:off x="571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Analytics / model team</a:t>
            </a:r>
            <a:endParaRPr lang="en-US" sz="1325"/>
          </a:p>
          <a:p>
            <a:pPr algn="l">
              <a:lnSpc>
                <a:spcPts val="1510"/>
              </a:lnSpc>
              <a:spcAft>
                <a:spcPts val="0"/>
              </a:spcAft>
            </a:pPr>
            <a:r>
              <a:rPr lang="en-US" sz="1325" b="0" dirty="0">
                <a:solidFill>
                  <a:srgbClr val="181C23"/>
                </a:solidFill>
                <a:latin typeface="Funnel Sans"/>
              </a:rPr>
              <a:t>Compare populations after a data</a:t>
            </a:r>
            <a:endParaRPr lang="en-US" sz="1325"/>
          </a:p>
          <a:p>
            <a:pPr algn="l">
              <a:lnSpc>
                <a:spcPts val="1510"/>
              </a:lnSpc>
              <a:spcAft>
                <a:spcPts val="0"/>
              </a:spcAft>
            </a:pPr>
            <a:r>
              <a:rPr lang="en-US" sz="1325" b="0" dirty="0">
                <a:solidFill>
                  <a:srgbClr val="181C23"/>
                </a:solidFill>
                <a:latin typeface="Funnel Sans"/>
              </a:rPr>
              <a:t>refresh, sample change or population</a:t>
            </a:r>
            <a:endParaRPr lang="en-US" sz="1325"/>
          </a:p>
          <a:p>
            <a:pPr algn="l">
              <a:lnSpc>
                <a:spcPts val="1510"/>
              </a:lnSpc>
              <a:spcAft>
                <a:spcPts val="0"/>
              </a:spcAft>
            </a:pPr>
            <a:r>
              <a:rPr lang="en-US" sz="1325" b="0" dirty="0">
                <a:solidFill>
                  <a:srgbClr val="181C23"/>
                </a:solidFill>
                <a:latin typeface="Funnel Sans"/>
              </a:rPr>
              <a:t>shift.</a:t>
            </a:r>
            <a:endParaRPr lang="en-US" sz="1325"/>
          </a:p>
        </p:txBody>
      </p:sp>
      <p:sp>
        <p:nvSpPr>
          <p:cNvPr id="15" name="shape 15"/>
          <p:cNvSpPr/>
          <p:nvPr/>
        </p:nvSpPr>
        <p:spPr>
          <a:xfrm>
            <a:off x="4279900" y="1905000"/>
            <a:ext cx="3632200" cy="1549400"/>
          </a:xfrm>
          <a:prstGeom prst="roundRect">
            <a:avLst/>
          </a:prstGeom>
          <a:solidFill>
            <a:srgbClr val="FFFFFF"/>
          </a:solidFill>
          <a:ln w="12700">
            <a:solidFill>
              <a:srgbClr val="DEDCD6"/>
            </a:solidFill>
          </a:ln>
        </p:spPr>
      </p:sp>
      <p:sp>
        <p:nvSpPr>
          <p:cNvPr id="16" name="text 16"/>
          <p:cNvSpPr/>
          <p:nvPr/>
        </p:nvSpPr>
        <p:spPr>
          <a:xfrm>
            <a:off x="44450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INPUTS &amp; READINESS</a:t>
            </a:r>
            <a:endParaRPr lang="en-US" sz="1000"/>
          </a:p>
        </p:txBody>
      </p:sp>
      <p:sp>
        <p:nvSpPr>
          <p:cNvPr id="17" name="text 17"/>
          <p:cNvSpPr/>
          <p:nvPr/>
        </p:nvSpPr>
        <p:spPr>
          <a:xfrm>
            <a:off x="44450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One snapshot split into Baseline /</a:t>
            </a:r>
            <a:endParaRPr lang="en-US" sz="1325"/>
          </a:p>
          <a:p>
            <a:pPr algn="l">
              <a:lnSpc>
                <a:spcPts val="1510"/>
              </a:lnSpc>
              <a:spcAft>
                <a:spcPts val="0"/>
              </a:spcAft>
            </a:pPr>
            <a:r>
              <a:rPr lang="en-US" sz="1325" b="0" dirty="0">
                <a:solidFill>
                  <a:srgbClr val="181C23"/>
                </a:solidFill>
                <a:latin typeface="Funnel Sans"/>
              </a:rPr>
              <a:t>Current, or two compatible snapshots;</a:t>
            </a:r>
            <a:endParaRPr lang="en-US" sz="1325"/>
          </a:p>
          <a:p>
            <a:pPr algn="l">
              <a:lnSpc>
                <a:spcPts val="1510"/>
              </a:lnSpc>
              <a:spcAft>
                <a:spcPts val="0"/>
              </a:spcAft>
            </a:pPr>
            <a:r>
              <a:rPr lang="en-US" sz="1325" b="0" dirty="0">
                <a:solidFill>
                  <a:srgbClr val="181C23"/>
                </a:solidFill>
                <a:latin typeface="Funnel Sans"/>
              </a:rPr>
              <a:t>selected features; optional target;</a:t>
            </a:r>
            <a:endParaRPr lang="en-US" sz="1325"/>
          </a:p>
          <a:p>
            <a:pPr algn="l">
              <a:lnSpc>
                <a:spcPts val="1510"/>
              </a:lnSpc>
              <a:spcAft>
                <a:spcPts val="0"/>
              </a:spcAft>
            </a:pPr>
            <a:r>
              <a:rPr lang="en-US" sz="1325" b="0" dirty="0">
                <a:solidFill>
                  <a:srgbClr val="181C23"/>
                </a:solidFill>
                <a:latin typeface="Funnel Sans"/>
              </a:rPr>
              <a:t>approved bin definitions.</a:t>
            </a:r>
            <a:endParaRPr lang="en-US" sz="1325"/>
          </a:p>
        </p:txBody>
      </p:sp>
      <p:sp>
        <p:nvSpPr>
          <p:cNvPr id="18" name="shape 18"/>
          <p:cNvSpPr/>
          <p:nvPr/>
        </p:nvSpPr>
        <p:spPr>
          <a:xfrm>
            <a:off x="8153400" y="1905000"/>
            <a:ext cx="3632200" cy="1549400"/>
          </a:xfrm>
          <a:prstGeom prst="roundRect">
            <a:avLst/>
          </a:prstGeom>
          <a:solidFill>
            <a:srgbClr val="FFF2DF"/>
          </a:solidFill>
          <a:ln w="12700">
            <a:solidFill>
              <a:srgbClr val="DEDCD6"/>
            </a:solidFill>
          </a:ln>
        </p:spPr>
      </p:sp>
      <p:sp>
        <p:nvSpPr>
          <p:cNvPr id="19" name="text 19"/>
          <p:cNvSpPr/>
          <p:nvPr/>
        </p:nvSpPr>
        <p:spPr>
          <a:xfrm>
            <a:off x="8318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OUTPUTS &amp; EVIDENCE</a:t>
            </a:r>
            <a:endParaRPr lang="en-US" sz="1000"/>
          </a:p>
        </p:txBody>
      </p:sp>
      <p:sp>
        <p:nvSpPr>
          <p:cNvPr id="20" name="text 20"/>
          <p:cNvSpPr/>
          <p:nvPr/>
        </p:nvSpPr>
        <p:spPr>
          <a:xfrm>
            <a:off x="8318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PSI and bin-level counts, shares and</a:t>
            </a:r>
            <a:endParaRPr lang="en-US" sz="1325"/>
          </a:p>
          <a:p>
            <a:pPr algn="l">
              <a:lnSpc>
                <a:spcPts val="1510"/>
              </a:lnSpc>
              <a:spcAft>
                <a:spcPts val="0"/>
              </a:spcAft>
            </a:pPr>
            <a:r>
              <a:rPr lang="en-US" sz="1325" b="0" dirty="0">
                <a:solidFill>
                  <a:srgbClr val="181C23"/>
                </a:solidFill>
                <a:latin typeface="Funnel Sans"/>
              </a:rPr>
              <a:t>contributions; population / bin lineage</a:t>
            </a:r>
            <a:endParaRPr lang="en-US" sz="1325"/>
          </a:p>
          <a:p>
            <a:pPr algn="l">
              <a:lnSpc>
                <a:spcPts val="1510"/>
              </a:lnSpc>
              <a:spcAft>
                <a:spcPts val="0"/>
              </a:spcAft>
            </a:pPr>
            <a:r>
              <a:rPr lang="en-US" sz="1325" b="0" dirty="0">
                <a:solidFill>
                  <a:srgbClr val="181C23"/>
                </a:solidFill>
                <a:latin typeface="Funnel Sans"/>
              </a:rPr>
              <a:t>and final report. Missing and unseen</a:t>
            </a:r>
            <a:endParaRPr lang="en-US" sz="1325"/>
          </a:p>
          <a:p>
            <a:pPr algn="l">
              <a:lnSpc>
                <a:spcPts val="1510"/>
              </a:lnSpc>
              <a:spcAft>
                <a:spcPts val="0"/>
              </a:spcAft>
            </a:pPr>
            <a:r>
              <a:rPr lang="en-US" sz="1325" b="0" dirty="0">
                <a:solidFill>
                  <a:srgbClr val="181C23"/>
                </a:solidFill>
                <a:latin typeface="Funnel Sans"/>
              </a:rPr>
              <a:t>categories are explicit.</a:t>
            </a:r>
            <a:endParaRPr lang="en-US" sz="1325"/>
          </a:p>
        </p:txBody>
      </p:sp>
      <p:sp>
        <p:nvSpPr>
          <p:cNvPr id="21" name="text 21"/>
          <p:cNvSpPr/>
          <p:nvPr/>
        </p:nvSpPr>
        <p:spPr>
          <a:xfrm>
            <a:off x="406400" y="3606800"/>
            <a:ext cx="7747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PROCESS &amp; LAUNCH</a:t>
            </a:r>
            <a:endParaRPr lang="en-US" sz="1000"/>
          </a:p>
        </p:txBody>
      </p:sp>
      <p:sp>
        <p:nvSpPr>
          <p:cNvPr id="22" name="shape 22"/>
          <p:cNvSpPr/>
          <p:nvPr/>
        </p:nvSpPr>
        <p:spPr>
          <a:xfrm>
            <a:off x="406400" y="3898900"/>
            <a:ext cx="2113280" cy="774700"/>
          </a:xfrm>
          <a:prstGeom prst="roundRect">
            <a:avLst/>
          </a:prstGeom>
          <a:solidFill>
            <a:srgbClr val="FFF2DF"/>
          </a:solidFill>
          <a:ln>
            <a:noFill/>
          </a:ln>
        </p:spPr>
      </p:sp>
      <p:sp>
        <p:nvSpPr>
          <p:cNvPr id="23" name="text 23"/>
          <p:cNvSpPr/>
          <p:nvPr/>
        </p:nvSpPr>
        <p:spPr>
          <a:xfrm>
            <a:off x="53340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01</a:t>
            </a:r>
            <a:endParaRPr lang="en-US" sz="1200"/>
          </a:p>
        </p:txBody>
      </p:sp>
      <p:sp>
        <p:nvSpPr>
          <p:cNvPr id="24" name="text 24"/>
          <p:cNvSpPr/>
          <p:nvPr/>
        </p:nvSpPr>
        <p:spPr>
          <a:xfrm>
            <a:off x="87630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Define</a:t>
            </a:r>
            <a:endParaRPr lang="en-US" sz="1250"/>
          </a:p>
        </p:txBody>
      </p:sp>
      <p:sp>
        <p:nvSpPr>
          <p:cNvPr id="25" name="text 25"/>
          <p:cNvSpPr/>
          <p:nvPr/>
        </p:nvSpPr>
        <p:spPr>
          <a:xfrm>
            <a:off x="53340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Baseline + Current</a:t>
            </a:r>
            <a:endParaRPr lang="en-US" sz="1100"/>
          </a:p>
        </p:txBody>
      </p:sp>
      <p:cxnSp>
        <p:nvCxnSpPr>
          <p:cNvPr id="26" name="connector 26"/>
          <p:cNvCxnSpPr/>
          <p:nvPr/>
        </p:nvCxnSpPr>
        <p:spPr>
          <a:xfrm>
            <a:off x="254508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2722880" y="3898900"/>
            <a:ext cx="2113280" cy="774700"/>
          </a:xfrm>
          <a:prstGeom prst="roundRect">
            <a:avLst/>
          </a:prstGeom>
          <a:solidFill>
            <a:srgbClr val="FFF2DF"/>
          </a:solidFill>
          <a:ln>
            <a:noFill/>
          </a:ln>
        </p:spPr>
      </p:sp>
      <p:sp>
        <p:nvSpPr>
          <p:cNvPr id="28" name="text 28"/>
          <p:cNvSpPr/>
          <p:nvPr/>
        </p:nvSpPr>
        <p:spPr>
          <a:xfrm>
            <a:off x="284988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02</a:t>
            </a:r>
            <a:endParaRPr lang="en-US" sz="1200"/>
          </a:p>
        </p:txBody>
      </p:sp>
      <p:sp>
        <p:nvSpPr>
          <p:cNvPr id="29" name="text 29"/>
          <p:cNvSpPr/>
          <p:nvPr/>
        </p:nvSpPr>
        <p:spPr>
          <a:xfrm>
            <a:off x="319278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Route bins</a:t>
            </a:r>
            <a:endParaRPr lang="en-US" sz="1250"/>
          </a:p>
        </p:txBody>
      </p:sp>
      <p:sp>
        <p:nvSpPr>
          <p:cNvPr id="30" name="text 30"/>
          <p:cNvSpPr/>
          <p:nvPr/>
        </p:nvSpPr>
        <p:spPr>
          <a:xfrm>
            <a:off x="284988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Target-free or D02</a:t>
            </a:r>
            <a:endParaRPr lang="en-US" sz="1100"/>
          </a:p>
        </p:txBody>
      </p:sp>
      <p:cxnSp>
        <p:nvCxnSpPr>
          <p:cNvPr id="31" name="connector 31"/>
          <p:cNvCxnSpPr/>
          <p:nvPr/>
        </p:nvCxnSpPr>
        <p:spPr>
          <a:xfrm>
            <a:off x="486156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2" name="shape 32"/>
          <p:cNvSpPr/>
          <p:nvPr/>
        </p:nvSpPr>
        <p:spPr>
          <a:xfrm>
            <a:off x="5039360" y="3898900"/>
            <a:ext cx="2113280" cy="774700"/>
          </a:xfrm>
          <a:prstGeom prst="roundRect">
            <a:avLst/>
          </a:prstGeom>
          <a:solidFill>
            <a:srgbClr val="FFF2DF"/>
          </a:solidFill>
          <a:ln>
            <a:noFill/>
          </a:ln>
        </p:spPr>
      </p:sp>
      <p:sp>
        <p:nvSpPr>
          <p:cNvPr id="33" name="text 33"/>
          <p:cNvSpPr/>
          <p:nvPr/>
        </p:nvSpPr>
        <p:spPr>
          <a:xfrm>
            <a:off x="516636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03</a:t>
            </a:r>
            <a:endParaRPr lang="en-US" sz="1200"/>
          </a:p>
        </p:txBody>
      </p:sp>
      <p:sp>
        <p:nvSpPr>
          <p:cNvPr id="34" name="text 34"/>
          <p:cNvSpPr/>
          <p:nvPr/>
        </p:nvSpPr>
        <p:spPr>
          <a:xfrm>
            <a:off x="550926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Review</a:t>
            </a:r>
            <a:endParaRPr lang="en-US" sz="1250"/>
          </a:p>
        </p:txBody>
      </p:sp>
      <p:sp>
        <p:nvSpPr>
          <p:cNvPr id="35" name="text 35"/>
          <p:cNvSpPr/>
          <p:nvPr/>
        </p:nvSpPr>
        <p:spPr>
          <a:xfrm>
            <a:off x="516636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Approve + freeze bins</a:t>
            </a:r>
            <a:endParaRPr lang="en-US" sz="1100"/>
          </a:p>
        </p:txBody>
      </p:sp>
      <p:cxnSp>
        <p:nvCxnSpPr>
          <p:cNvPr id="36" name="connector 36"/>
          <p:cNvCxnSpPr/>
          <p:nvPr/>
        </p:nvCxnSpPr>
        <p:spPr>
          <a:xfrm>
            <a:off x="717804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7" name="shape 37"/>
          <p:cNvSpPr/>
          <p:nvPr/>
        </p:nvSpPr>
        <p:spPr>
          <a:xfrm>
            <a:off x="7355840" y="3898900"/>
            <a:ext cx="2113280" cy="774700"/>
          </a:xfrm>
          <a:prstGeom prst="roundRect">
            <a:avLst/>
          </a:prstGeom>
          <a:solidFill>
            <a:srgbClr val="FFF2DF"/>
          </a:solidFill>
          <a:ln>
            <a:noFill/>
          </a:ln>
        </p:spPr>
      </p:sp>
      <p:sp>
        <p:nvSpPr>
          <p:cNvPr id="38" name="text 38"/>
          <p:cNvSpPr/>
          <p:nvPr/>
        </p:nvSpPr>
        <p:spPr>
          <a:xfrm>
            <a:off x="748284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04</a:t>
            </a:r>
            <a:endParaRPr lang="en-US" sz="1200"/>
          </a:p>
        </p:txBody>
      </p:sp>
      <p:sp>
        <p:nvSpPr>
          <p:cNvPr id="39" name="text 39"/>
          <p:cNvSpPr/>
          <p:nvPr/>
        </p:nvSpPr>
        <p:spPr>
          <a:xfrm>
            <a:off x="782574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Calculate</a:t>
            </a:r>
            <a:endParaRPr lang="en-US" sz="1250"/>
          </a:p>
        </p:txBody>
      </p:sp>
      <p:sp>
        <p:nvSpPr>
          <p:cNvPr id="40" name="text 40"/>
          <p:cNvSpPr/>
          <p:nvPr/>
        </p:nvSpPr>
        <p:spPr>
          <a:xfrm>
            <a:off x="748284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PSI contributions</a:t>
            </a:r>
            <a:endParaRPr lang="en-US" sz="1100"/>
          </a:p>
        </p:txBody>
      </p:sp>
      <p:cxnSp>
        <p:nvCxnSpPr>
          <p:cNvPr id="41" name="connector 41"/>
          <p:cNvCxnSpPr/>
          <p:nvPr/>
        </p:nvCxnSpPr>
        <p:spPr>
          <a:xfrm>
            <a:off x="949452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9672320" y="3898900"/>
            <a:ext cx="2113280" cy="774700"/>
          </a:xfrm>
          <a:prstGeom prst="roundRect">
            <a:avLst/>
          </a:prstGeom>
          <a:solidFill>
            <a:srgbClr val="FFF2DF"/>
          </a:solidFill>
          <a:ln>
            <a:noFill/>
          </a:ln>
        </p:spPr>
      </p:sp>
      <p:sp>
        <p:nvSpPr>
          <p:cNvPr id="43" name="text 43"/>
          <p:cNvSpPr/>
          <p:nvPr/>
        </p:nvSpPr>
        <p:spPr>
          <a:xfrm>
            <a:off x="979932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05</a:t>
            </a:r>
            <a:endParaRPr lang="en-US" sz="1200"/>
          </a:p>
        </p:txBody>
      </p:sp>
      <p:sp>
        <p:nvSpPr>
          <p:cNvPr id="44" name="text 44"/>
          <p:cNvSpPr/>
          <p:nvPr/>
        </p:nvSpPr>
        <p:spPr>
          <a:xfrm>
            <a:off x="1014222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Investigate</a:t>
            </a:r>
            <a:endParaRPr lang="en-US" sz="1250"/>
          </a:p>
        </p:txBody>
      </p:sp>
      <p:sp>
        <p:nvSpPr>
          <p:cNvPr id="45" name="text 45"/>
          <p:cNvSpPr/>
          <p:nvPr/>
        </p:nvSpPr>
        <p:spPr>
          <a:xfrm>
            <a:off x="979932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Final shift evidence</a:t>
            </a:r>
            <a:endParaRPr lang="en-US" sz="1100"/>
          </a:p>
        </p:txBody>
      </p:sp>
      <p:sp>
        <p:nvSpPr>
          <p:cNvPr id="46" name="shape 46"/>
          <p:cNvSpPr/>
          <p:nvPr/>
        </p:nvSpPr>
        <p:spPr>
          <a:xfrm>
            <a:off x="406400" y="4851400"/>
            <a:ext cx="5562600" cy="1206500"/>
          </a:xfrm>
          <a:prstGeom prst="roundRect">
            <a:avLst/>
          </a:prstGeom>
          <a:solidFill>
            <a:srgbClr val="FFFFFF"/>
          </a:solidFill>
          <a:ln w="12700">
            <a:solidFill>
              <a:srgbClr val="DEDCD6"/>
            </a:solidFill>
          </a:ln>
        </p:spPr>
      </p:sp>
      <p:sp>
        <p:nvSpPr>
          <p:cNvPr id="47" name="text 47"/>
          <p:cNvSpPr/>
          <p:nvPr/>
        </p:nvSpPr>
        <p:spPr>
          <a:xfrm>
            <a:off x="5715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FINDING → ISSUE</a:t>
            </a:r>
            <a:endParaRPr lang="en-US" sz="1000"/>
          </a:p>
        </p:txBody>
      </p:sp>
      <p:sp>
        <p:nvSpPr>
          <p:cNvPr id="48" name="text 48"/>
          <p:cNvSpPr/>
          <p:nvPr/>
        </p:nvSpPr>
        <p:spPr>
          <a:xfrm>
            <a:off x="5715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PSI = Σ(Current − Baseline) × ln(Current / Baseline), with zero-share</a:t>
            </a:r>
            <a:endParaRPr lang="en-US" sz="1250"/>
          </a:p>
          <a:p>
            <a:pPr algn="l">
              <a:lnSpc>
                <a:spcPts val="1425"/>
              </a:lnSpc>
              <a:spcAft>
                <a:spcPts val="0"/>
              </a:spcAft>
            </a:pPr>
            <a:r>
              <a:rPr lang="en-US" sz="1250" b="0" dirty="0">
                <a:solidFill>
                  <a:srgbClr val="181C23"/>
                </a:solidFill>
                <a:latin typeface="Funnel Sans"/>
              </a:rPr>
              <a:t>smoothing. Default bands: &lt;.10 stable; ≥.10 watch; ≥.25 investigate.</a:t>
            </a:r>
            <a:endParaRPr lang="en-US" sz="1250"/>
          </a:p>
          <a:p>
            <a:pPr algn="l">
              <a:lnSpc>
                <a:spcPts val="1425"/>
              </a:lnSpc>
              <a:spcAft>
                <a:spcPts val="0"/>
              </a:spcAft>
            </a:pPr>
            <a:r>
              <a:rPr lang="en-US" sz="1250" b="0" dirty="0">
                <a:solidFill>
                  <a:srgbClr val="181C23"/>
                </a:solidFill>
                <a:latin typeface="Funnel Sans"/>
              </a:rPr>
              <a:t>User reviews and confirms findings.</a:t>
            </a:r>
            <a:endParaRPr lang="en-US" sz="1250"/>
          </a:p>
        </p:txBody>
      </p:sp>
      <p:sp>
        <p:nvSpPr>
          <p:cNvPr id="49" name="shape 49"/>
          <p:cNvSpPr/>
          <p:nvPr/>
        </p:nvSpPr>
        <p:spPr>
          <a:xfrm>
            <a:off x="6223000" y="4851400"/>
            <a:ext cx="5562600" cy="1206500"/>
          </a:xfrm>
          <a:prstGeom prst="roundRect">
            <a:avLst/>
          </a:prstGeom>
          <a:solidFill>
            <a:srgbClr val="FFFFFF"/>
          </a:solidFill>
          <a:ln w="12700">
            <a:solidFill>
              <a:srgbClr val="DEDCD6"/>
            </a:solidFill>
          </a:ln>
        </p:spPr>
      </p:sp>
      <p:sp>
        <p:nvSpPr>
          <p:cNvPr id="50" name="text 50"/>
          <p:cNvSpPr/>
          <p:nvPr/>
        </p:nvSpPr>
        <p:spPr>
          <a:xfrm>
            <a:off x="63881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RCA → REMEDIATION</a:t>
            </a:r>
            <a:endParaRPr lang="en-US" sz="1000"/>
          </a:p>
        </p:txBody>
      </p:sp>
      <p:sp>
        <p:nvSpPr>
          <p:cNvPr id="51" name="text 51"/>
          <p:cNvSpPr/>
          <p:nvPr/>
        </p:nvSpPr>
        <p:spPr>
          <a:xfrm>
            <a:off x="63881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Inspect population choices, bin drivers and legitimate business</a:t>
            </a:r>
            <a:endParaRPr lang="en-US" sz="1250"/>
          </a:p>
          <a:p>
            <a:pPr algn="l">
              <a:lnSpc>
                <a:spcPts val="1425"/>
              </a:lnSpc>
              <a:spcAft>
                <a:spcPts val="0"/>
              </a:spcAft>
            </a:pPr>
            <a:r>
              <a:rPr lang="en-US" sz="1250" b="0" dirty="0">
                <a:solidFill>
                  <a:srgbClr val="181C23"/>
                </a:solidFill>
                <a:latin typeface="Funnel Sans"/>
              </a:rPr>
              <a:t>changes. Approve root cause or mark unresolved; correct the source</a:t>
            </a:r>
            <a:endParaRPr lang="en-US" sz="1250"/>
          </a:p>
          <a:p>
            <a:pPr algn="l">
              <a:lnSpc>
                <a:spcPts val="1425"/>
              </a:lnSpc>
              <a:spcAft>
                <a:spcPts val="0"/>
              </a:spcAft>
            </a:pPr>
            <a:r>
              <a:rPr lang="en-US" sz="1250" b="0" dirty="0">
                <a:solidFill>
                  <a:srgbClr val="181C23"/>
                </a:solidFill>
                <a:latin typeface="Funnel Sans"/>
              </a:rPr>
              <a:t>or assessment setup and manually reassess.</a:t>
            </a:r>
            <a:endParaRPr lang="en-US" sz="1250"/>
          </a:p>
        </p:txBody>
      </p:sp>
      <p:sp>
        <p:nvSpPr>
          <p:cNvPr id="52" name="shape 52"/>
          <p:cNvSpPr/>
          <p:nvPr/>
        </p:nvSpPr>
        <p:spPr>
          <a:xfrm>
            <a:off x="406400" y="6172200"/>
            <a:ext cx="11379200" cy="292100"/>
          </a:xfrm>
          <a:prstGeom prst="roundRect">
            <a:avLst/>
          </a:prstGeom>
          <a:solidFill>
            <a:srgbClr val="282A27"/>
          </a:solidFill>
          <a:ln>
            <a:noFill/>
          </a:ln>
        </p:spPr>
      </p:sp>
      <p:sp>
        <p:nvSpPr>
          <p:cNvPr id="53" name="text 53"/>
          <p:cNvSpPr/>
          <p:nvPr/>
        </p:nvSpPr>
        <p:spPr>
          <a:xfrm>
            <a:off x="546100" y="6235700"/>
            <a:ext cx="11099800" cy="203200"/>
          </a:xfrm>
          <a:prstGeom prst="rect">
            <a:avLst/>
          </a:prstGeom>
          <a:noFill/>
          <a:ln>
            <a:noFill/>
          </a:ln>
        </p:spPr>
        <p:txBody>
          <a:bodyPr wrap="none" lIns="0" tIns="0" rIns="0" bIns="0" anchor="t">
            <a:noAutofit/>
          </a:bodyPr>
          <a:lstStyle/>
          <a:p>
            <a:pPr algn="l">
              <a:lnSpc>
                <a:spcPts val="1197"/>
              </a:lnSpc>
              <a:spcAft>
                <a:spcPts val="0"/>
              </a:spcAft>
            </a:pPr>
            <a:r>
              <a:rPr lang="en-US" sz="1050" b="0" dirty="0">
                <a:solidFill>
                  <a:srgbClr val="FFFFFF"/>
                </a:solidFill>
                <a:latin typeface="Funnel Sans"/>
              </a:rPr>
              <a:t>Bin reuse needs an exact promoted universal chain for two snapshots; split runs regenerate. Previews are not final.</a:t>
            </a:r>
            <a:endParaRPr lang="en-US" sz="1050"/>
          </a:p>
        </p:txBody>
      </p:sp>
      <p:cxnSp>
        <p:nvCxnSpPr>
          <p:cNvPr id="54" name="connector 54"/>
          <p:cNvCxnSpPr/>
          <p:nvPr/>
        </p:nvCxnSpPr>
        <p:spPr>
          <a:xfrm>
            <a:off x="406400" y="6553200"/>
            <a:ext cx="113792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55" name="text 55"/>
          <p:cNvSpPr/>
          <p:nvPr/>
        </p:nvSpPr>
        <p:spPr>
          <a:xfrm>
            <a:off x="406400" y="6629400"/>
            <a:ext cx="5715000" cy="152400"/>
          </a:xfrm>
          <a:prstGeom prst="rect">
            <a:avLst/>
          </a:prstGeom>
          <a:noFill/>
          <a:ln>
            <a:noFill/>
          </a:ln>
        </p:spPr>
        <p:txBody>
          <a:bodyPr wrap="none" lIns="0" tIns="0" rIns="0" bIns="0" anchor="t">
            <a:noAutofit/>
          </a:bodyPr>
          <a:lstStyle/>
          <a:p>
            <a:pPr algn="l">
              <a:lnSpc>
                <a:spcPts val="969"/>
              </a:lnSpc>
              <a:spcAft>
                <a:spcPts val="0"/>
              </a:spcAft>
            </a:pPr>
            <a:r>
              <a:rPr lang="en-US" sz="850" b="0" dirty="0">
                <a:solidFill>
                  <a:srgbClr val="6D706B"/>
                </a:solidFill>
                <a:latin typeface="Funnel Sans"/>
              </a:rPr>
              <a:t>DATA WORKBENCH / Diagnostic quick reference</a:t>
            </a:r>
            <a:endParaRPr lang="en-US" sz="850"/>
          </a:p>
        </p:txBody>
      </p:sp>
      <p:sp>
        <p:nvSpPr>
          <p:cNvPr id="56" name="text 56"/>
          <p:cNvSpPr/>
          <p:nvPr/>
        </p:nvSpPr>
        <p:spPr>
          <a:xfrm>
            <a:off x="6223000" y="6629400"/>
            <a:ext cx="4254500" cy="152400"/>
          </a:xfrm>
          <a:prstGeom prst="rect">
            <a:avLst/>
          </a:prstGeom>
          <a:noFill/>
          <a:ln>
            <a:noFill/>
          </a:ln>
        </p:spPr>
        <p:txBody>
          <a:bodyPr wrap="none" lIns="0" tIns="0" rIns="0" bIns="0" anchor="t">
            <a:noAutofit/>
          </a:bodyPr>
          <a:lstStyle/>
          <a:p>
            <a:pPr algn="r">
              <a:lnSpc>
                <a:spcPts val="969"/>
              </a:lnSpc>
              <a:spcAft>
                <a:spcPts val="0"/>
              </a:spcAft>
            </a:pPr>
            <a:r>
              <a:rPr lang="en-US" sz="850" b="0" dirty="0">
                <a:solidFill>
                  <a:srgbClr val="6D706B"/>
                </a:solidFill>
                <a:latin typeface="Funnel Sans"/>
              </a:rPr>
              <a:t>Full deck: slides 52–56</a:t>
            </a:r>
            <a:endParaRPr lang="en-US" sz="850"/>
          </a:p>
        </p:txBody>
      </p:sp>
      <p:sp>
        <p:nvSpPr>
          <p:cNvPr id="57" name="text 57"/>
          <p:cNvSpPr/>
          <p:nvPr/>
        </p:nvSpPr>
        <p:spPr>
          <a:xfrm>
            <a:off x="10795000" y="6616700"/>
            <a:ext cx="990600" cy="177800"/>
          </a:xfrm>
          <a:prstGeom prst="rect">
            <a:avLst/>
          </a:prstGeom>
          <a:noFill/>
          <a:ln>
            <a:noFill/>
          </a:ln>
        </p:spPr>
        <p:txBody>
          <a:bodyPr wrap="none" lIns="0" tIns="0" rIns="0" bIns="0" anchor="t">
            <a:noAutofit/>
          </a:bodyPr>
          <a:lstStyle/>
          <a:p>
            <a:pPr algn="r">
              <a:lnSpc>
                <a:spcPts val="1083"/>
              </a:lnSpc>
              <a:spcAft>
                <a:spcPts val="0"/>
              </a:spcAft>
            </a:pPr>
            <a:r>
              <a:rPr lang="en-US" sz="950" b="0" dirty="0">
                <a:solidFill>
                  <a:srgbClr val="6D706B"/>
                </a:solidFill>
                <a:latin typeface="Funnel Sans"/>
              </a:rPr>
              <a:t>07 / 22</a:t>
            </a:r>
            <a:endParaRPr lang="en-US" sz="95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shape 3"/>
          <p:cNvSpPr/>
          <p:nvPr/>
        </p:nvSpPr>
        <p:spPr>
          <a:xfrm>
            <a:off x="406400" y="228600"/>
            <a:ext cx="1181100" cy="292100"/>
          </a:xfrm>
          <a:prstGeom prst="roundRect">
            <a:avLst/>
          </a:prstGeom>
          <a:solidFill>
            <a:srgbClr val="FFF2DF"/>
          </a:solidFill>
          <a:ln>
            <a:noFill/>
          </a:ln>
        </p:spPr>
      </p:sp>
      <p:sp>
        <p:nvSpPr>
          <p:cNvPr id="4" name="text 4"/>
          <p:cNvSpPr/>
          <p:nvPr/>
        </p:nvSpPr>
        <p:spPr>
          <a:xfrm>
            <a:off x="520700" y="292100"/>
            <a:ext cx="952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SUP-MISS</a:t>
            </a:r>
            <a:endParaRPr lang="en-US" sz="1000"/>
          </a:p>
        </p:txBody>
      </p:sp>
      <p:sp>
        <p:nvSpPr>
          <p:cNvPr id="5" name="text 5"/>
          <p:cNvSpPr/>
          <p:nvPr/>
        </p:nvSpPr>
        <p:spPr>
          <a:xfrm>
            <a:off x="1739900" y="304800"/>
            <a:ext cx="3022600" cy="190500"/>
          </a:xfrm>
          <a:prstGeom prst="rect">
            <a:avLst/>
          </a:prstGeom>
          <a:noFill/>
          <a:ln>
            <a:noFill/>
          </a:ln>
        </p:spPr>
        <p:txBody>
          <a:bodyPr wrap="none" lIns="0" tIns="0" rIns="0" bIns="0" anchor="t">
            <a:noAutofit/>
          </a:bodyPr>
          <a:lstStyle/>
          <a:p>
            <a:pPr algn="l">
              <a:lnSpc>
                <a:spcPts val="1083"/>
              </a:lnSpc>
              <a:spcAft>
                <a:spcPts val="0"/>
              </a:spcAft>
            </a:pPr>
            <a:r>
              <a:rPr lang="en-US" sz="950" b="1" dirty="0">
                <a:solidFill>
                  <a:srgbClr val="6D706B"/>
                </a:solidFill>
                <a:latin typeface="Funnel Sans"/>
              </a:rPr>
              <a:t>SUPPORTING ANALYSIS</a:t>
            </a:r>
            <a:endParaRPr lang="en-US" sz="950"/>
          </a:p>
        </p:txBody>
      </p:sp>
      <p:sp>
        <p:nvSpPr>
          <p:cNvPr id="6" name="shape 6"/>
          <p:cNvSpPr/>
          <p:nvPr/>
        </p:nvSpPr>
        <p:spPr>
          <a:xfrm>
            <a:off x="4864100" y="228600"/>
            <a:ext cx="3797300" cy="292100"/>
          </a:xfrm>
          <a:prstGeom prst="roundRect">
            <a:avLst/>
          </a:prstGeom>
          <a:solidFill>
            <a:srgbClr val="EFEEE9"/>
          </a:solidFill>
          <a:ln>
            <a:noFill/>
          </a:ln>
        </p:spPr>
      </p:sp>
      <p:sp>
        <p:nvSpPr>
          <p:cNvPr id="7" name="text 7"/>
          <p:cNvSpPr/>
          <p:nvPr/>
        </p:nvSpPr>
        <p:spPr>
          <a:xfrm>
            <a:off x="4978400" y="292100"/>
            <a:ext cx="35687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181C23"/>
                </a:solidFill>
                <a:latin typeface="Funnel Sans"/>
              </a:rPr>
              <a:t>Descriptive investigation</a:t>
            </a:r>
            <a:endParaRPr lang="en-US" sz="1000"/>
          </a:p>
        </p:txBody>
      </p:sp>
      <p:sp>
        <p:nvSpPr>
          <p:cNvPr id="8" name="shape 8"/>
          <p:cNvSpPr/>
          <p:nvPr/>
        </p:nvSpPr>
        <p:spPr>
          <a:xfrm>
            <a:off x="8826500" y="228600"/>
            <a:ext cx="2959100" cy="292100"/>
          </a:xfrm>
          <a:prstGeom prst="roundRect">
            <a:avLst/>
          </a:prstGeom>
          <a:solidFill>
            <a:srgbClr val="E9F3ED"/>
          </a:solidFill>
          <a:ln>
            <a:noFill/>
          </a:ln>
        </p:spPr>
      </p:sp>
      <p:sp>
        <p:nvSpPr>
          <p:cNvPr id="9" name="text 9"/>
          <p:cNvSpPr/>
          <p:nvPr/>
        </p:nvSpPr>
        <p:spPr>
          <a:xfrm>
            <a:off x="8940800" y="292100"/>
            <a:ext cx="2730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276B57"/>
                </a:solidFill>
                <a:latin typeface="Funnel Sans"/>
              </a:rPr>
              <a:t>Implemented · supporting</a:t>
            </a:r>
            <a:endParaRPr lang="en-US" sz="1000"/>
          </a:p>
        </p:txBody>
      </p:sp>
      <p:sp>
        <p:nvSpPr>
          <p:cNvPr id="10" name="text 10"/>
          <p:cNvSpPr/>
          <p:nvPr/>
        </p:nvSpPr>
        <p:spPr>
          <a:xfrm>
            <a:off x="406400" y="698500"/>
            <a:ext cx="11379200" cy="508000"/>
          </a:xfrm>
          <a:prstGeom prst="rect">
            <a:avLst/>
          </a:prstGeom>
          <a:noFill/>
          <a:ln>
            <a:noFill/>
          </a:ln>
        </p:spPr>
        <p:txBody>
          <a:bodyPr wrap="none" lIns="0" tIns="0" rIns="0" bIns="0" anchor="t">
            <a:noAutofit/>
          </a:bodyPr>
          <a:lstStyle/>
          <a:p>
            <a:pPr algn="l">
              <a:lnSpc>
                <a:spcPts val="3192"/>
              </a:lnSpc>
              <a:spcAft>
                <a:spcPts val="0"/>
              </a:spcAft>
            </a:pPr>
            <a:r>
              <a:rPr lang="en-US" sz="2800" b="1" dirty="0">
                <a:solidFill>
                  <a:srgbClr val="181C23"/>
                </a:solidFill>
                <a:latin typeface="Funnel Sans"/>
              </a:rPr>
              <a:t>Missingness Mechanism</a:t>
            </a:r>
            <a:endParaRPr lang="en-US" sz="2800"/>
          </a:p>
        </p:txBody>
      </p:sp>
      <p:sp>
        <p:nvSpPr>
          <p:cNvPr id="11" name="text 11"/>
          <p:cNvSpPr/>
          <p:nvPr/>
        </p:nvSpPr>
        <p:spPr>
          <a:xfrm>
            <a:off x="419100" y="1320800"/>
            <a:ext cx="11353800" cy="4445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Explain where missing values cluster and which observed patterns warrant investigation.</a:t>
            </a:r>
            <a:endParaRPr lang="en-US" sz="1500"/>
          </a:p>
        </p:txBody>
      </p:sp>
      <p:sp>
        <p:nvSpPr>
          <p:cNvPr id="12" name="shape 12"/>
          <p:cNvSpPr/>
          <p:nvPr/>
        </p:nvSpPr>
        <p:spPr>
          <a:xfrm>
            <a:off x="406400" y="1905000"/>
            <a:ext cx="3632200" cy="1549400"/>
          </a:xfrm>
          <a:prstGeom prst="roundRect">
            <a:avLst/>
          </a:prstGeom>
          <a:solidFill>
            <a:srgbClr val="FFFFFF"/>
          </a:solidFill>
          <a:ln w="12700">
            <a:solidFill>
              <a:srgbClr val="DEDCD6"/>
            </a:solidFill>
          </a:ln>
        </p:spPr>
      </p:sp>
      <p:sp>
        <p:nvSpPr>
          <p:cNvPr id="13" name="text 13"/>
          <p:cNvSpPr/>
          <p:nvPr/>
        </p:nvSpPr>
        <p:spPr>
          <a:xfrm>
            <a:off x="571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USER &amp; TRIGGER</a:t>
            </a:r>
            <a:endParaRPr lang="en-US" sz="1000"/>
          </a:p>
        </p:txBody>
      </p:sp>
      <p:sp>
        <p:nvSpPr>
          <p:cNvPr id="14" name="text 14"/>
          <p:cNvSpPr/>
          <p:nvPr/>
        </p:nvSpPr>
        <p:spPr>
          <a:xfrm>
            <a:off x="571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Analyst / data owner + SME</a:t>
            </a:r>
            <a:endParaRPr lang="en-US" sz="1325"/>
          </a:p>
          <a:p>
            <a:pPr algn="l">
              <a:lnSpc>
                <a:spcPts val="1510"/>
              </a:lnSpc>
              <a:spcAft>
                <a:spcPts val="0"/>
              </a:spcAft>
            </a:pPr>
            <a:r>
              <a:rPr lang="en-US" sz="1325" b="0" dirty="0">
                <a:solidFill>
                  <a:srgbClr val="181C23"/>
                </a:solidFill>
                <a:latin typeface="Funnel Sans"/>
              </a:rPr>
              <a:t>Investigate missingness after profiling or</a:t>
            </a:r>
            <a:endParaRPr lang="en-US" sz="1325"/>
          </a:p>
          <a:p>
            <a:pPr algn="l">
              <a:lnSpc>
                <a:spcPts val="1510"/>
              </a:lnSpc>
              <a:spcAft>
                <a:spcPts val="0"/>
              </a:spcAft>
            </a:pPr>
            <a:r>
              <a:rPr lang="en-US" sz="1325" b="0" dirty="0">
                <a:solidFill>
                  <a:srgbClr val="181C23"/>
                </a:solidFill>
                <a:latin typeface="Funnel Sans"/>
              </a:rPr>
              <a:t>a completeness concern.</a:t>
            </a:r>
            <a:endParaRPr lang="en-US" sz="1325"/>
          </a:p>
        </p:txBody>
      </p:sp>
      <p:sp>
        <p:nvSpPr>
          <p:cNvPr id="15" name="shape 15"/>
          <p:cNvSpPr/>
          <p:nvPr/>
        </p:nvSpPr>
        <p:spPr>
          <a:xfrm>
            <a:off x="4279900" y="1905000"/>
            <a:ext cx="3632200" cy="1549400"/>
          </a:xfrm>
          <a:prstGeom prst="roundRect">
            <a:avLst/>
          </a:prstGeom>
          <a:solidFill>
            <a:srgbClr val="FFFFFF"/>
          </a:solidFill>
          <a:ln w="12700">
            <a:solidFill>
              <a:srgbClr val="DEDCD6"/>
            </a:solidFill>
          </a:ln>
        </p:spPr>
      </p:sp>
      <p:sp>
        <p:nvSpPr>
          <p:cNvPr id="16" name="text 16"/>
          <p:cNvSpPr/>
          <p:nvPr/>
        </p:nvSpPr>
        <p:spPr>
          <a:xfrm>
            <a:off x="44450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INPUTS &amp; READINESS</a:t>
            </a:r>
            <a:endParaRPr lang="en-US" sz="1000"/>
          </a:p>
        </p:txBody>
      </p:sp>
      <p:sp>
        <p:nvSpPr>
          <p:cNvPr id="17" name="text 17"/>
          <p:cNvSpPr/>
          <p:nvPr/>
        </p:nvSpPr>
        <p:spPr>
          <a:xfrm>
            <a:off x="44450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Ready table; confirmed missing-value</a:t>
            </a:r>
            <a:endParaRPr lang="en-US" sz="1325"/>
          </a:p>
          <a:p>
            <a:pPr algn="l">
              <a:lnSpc>
                <a:spcPts val="1510"/>
              </a:lnSpc>
              <a:spcAft>
                <a:spcPts val="0"/>
              </a:spcAft>
            </a:pPr>
            <a:r>
              <a:rPr lang="en-US" sz="1325" b="0" dirty="0">
                <a:solidFill>
                  <a:srgbClr val="181C23"/>
                </a:solidFill>
                <a:latin typeface="Funnel Sans"/>
              </a:rPr>
              <a:t>codes and analysis parameters; period</a:t>
            </a:r>
            <a:endParaRPr lang="en-US" sz="1325"/>
          </a:p>
          <a:p>
            <a:pPr algn="l">
              <a:lnSpc>
                <a:spcPts val="1510"/>
              </a:lnSpc>
              <a:spcAft>
                <a:spcPts val="0"/>
              </a:spcAft>
            </a:pPr>
            <a:r>
              <a:rPr lang="en-US" sz="1325" b="0" dirty="0">
                <a:solidFill>
                  <a:srgbClr val="181C23"/>
                </a:solidFill>
                <a:latin typeface="Funnel Sans"/>
              </a:rPr>
              <a:t>context where relevant; frozen snapshot</a:t>
            </a:r>
            <a:endParaRPr lang="en-US" sz="1325"/>
          </a:p>
          <a:p>
            <a:pPr algn="l">
              <a:lnSpc>
                <a:spcPts val="1510"/>
              </a:lnSpc>
              <a:spcAft>
                <a:spcPts val="0"/>
              </a:spcAft>
            </a:pPr>
            <a:r>
              <a:rPr lang="en-US" sz="1325" b="0" dirty="0">
                <a:solidFill>
                  <a:srgbClr val="181C23"/>
                </a:solidFill>
                <a:latin typeface="Funnel Sans"/>
              </a:rPr>
              <a:t>and seed.</a:t>
            </a:r>
            <a:endParaRPr lang="en-US" sz="1325"/>
          </a:p>
        </p:txBody>
      </p:sp>
      <p:sp>
        <p:nvSpPr>
          <p:cNvPr id="18" name="shape 18"/>
          <p:cNvSpPr/>
          <p:nvPr/>
        </p:nvSpPr>
        <p:spPr>
          <a:xfrm>
            <a:off x="8153400" y="1905000"/>
            <a:ext cx="3632200" cy="1549400"/>
          </a:xfrm>
          <a:prstGeom prst="roundRect">
            <a:avLst/>
          </a:prstGeom>
          <a:solidFill>
            <a:srgbClr val="FFF2DF"/>
          </a:solidFill>
          <a:ln w="12700">
            <a:solidFill>
              <a:srgbClr val="DEDCD6"/>
            </a:solidFill>
          </a:ln>
        </p:spPr>
      </p:sp>
      <p:sp>
        <p:nvSpPr>
          <p:cNvPr id="19" name="text 19"/>
          <p:cNvSpPr/>
          <p:nvPr/>
        </p:nvSpPr>
        <p:spPr>
          <a:xfrm>
            <a:off x="8318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OUTPUTS &amp; EVIDENCE</a:t>
            </a:r>
            <a:endParaRPr lang="en-US" sz="1000"/>
          </a:p>
        </p:txBody>
      </p:sp>
      <p:sp>
        <p:nvSpPr>
          <p:cNvPr id="20" name="text 20"/>
          <p:cNvSpPr/>
          <p:nvPr/>
        </p:nvSpPr>
        <p:spPr>
          <a:xfrm>
            <a:off x="8318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Missingness masks, co-missing blocks,</a:t>
            </a:r>
            <a:endParaRPr lang="en-US" sz="1325"/>
          </a:p>
          <a:p>
            <a:pPr algn="l">
              <a:lnSpc>
                <a:spcPts val="1510"/>
              </a:lnSpc>
              <a:spcAft>
                <a:spcPts val="0"/>
              </a:spcAft>
            </a:pPr>
            <a:r>
              <a:rPr lang="en-US" sz="1325" b="0" dirty="0">
                <a:solidFill>
                  <a:srgbClr val="181C23"/>
                </a:solidFill>
                <a:latin typeface="Funnel Sans"/>
              </a:rPr>
              <a:t>seven classification gates and</a:t>
            </a:r>
            <a:endParaRPr lang="en-US" sz="1325"/>
          </a:p>
          <a:p>
            <a:pPr algn="l">
              <a:lnSpc>
                <a:spcPts val="1510"/>
              </a:lnSpc>
              <a:spcAft>
                <a:spcPts val="0"/>
              </a:spcAft>
            </a:pPr>
            <a:r>
              <a:rPr lang="en-US" sz="1325" b="0" dirty="0">
                <a:solidFill>
                  <a:srgbClr val="181C23"/>
                </a:solidFill>
                <a:latin typeface="Funnel Sans"/>
              </a:rPr>
              <a:t>shallow-tree explanations; immutable</a:t>
            </a:r>
            <a:endParaRPr lang="en-US" sz="1325"/>
          </a:p>
          <a:p>
            <a:pPr algn="l">
              <a:lnSpc>
                <a:spcPts val="1510"/>
              </a:lnSpc>
              <a:spcAft>
                <a:spcPts val="0"/>
              </a:spcAft>
            </a:pPr>
            <a:r>
              <a:rPr lang="en-US" sz="1325" b="0" dirty="0">
                <a:solidFill>
                  <a:srgbClr val="181C23"/>
                </a:solidFill>
                <a:latin typeface="Funnel Sans"/>
              </a:rPr>
              <a:t>missingness_report artifact.</a:t>
            </a:r>
            <a:endParaRPr lang="en-US" sz="1325"/>
          </a:p>
        </p:txBody>
      </p:sp>
      <p:sp>
        <p:nvSpPr>
          <p:cNvPr id="21" name="text 21"/>
          <p:cNvSpPr/>
          <p:nvPr/>
        </p:nvSpPr>
        <p:spPr>
          <a:xfrm>
            <a:off x="406400" y="3606800"/>
            <a:ext cx="7747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PROCESS &amp; LAUNCH</a:t>
            </a:r>
            <a:endParaRPr lang="en-US" sz="1000"/>
          </a:p>
        </p:txBody>
      </p:sp>
      <p:sp>
        <p:nvSpPr>
          <p:cNvPr id="22" name="shape 22"/>
          <p:cNvSpPr/>
          <p:nvPr/>
        </p:nvSpPr>
        <p:spPr>
          <a:xfrm>
            <a:off x="406400" y="3898900"/>
            <a:ext cx="2113280" cy="774700"/>
          </a:xfrm>
          <a:prstGeom prst="roundRect">
            <a:avLst/>
          </a:prstGeom>
          <a:solidFill>
            <a:srgbClr val="FFF2DF"/>
          </a:solidFill>
          <a:ln>
            <a:noFill/>
          </a:ln>
        </p:spPr>
      </p:sp>
      <p:sp>
        <p:nvSpPr>
          <p:cNvPr id="23" name="text 23"/>
          <p:cNvSpPr/>
          <p:nvPr/>
        </p:nvSpPr>
        <p:spPr>
          <a:xfrm>
            <a:off x="53340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01</a:t>
            </a:r>
            <a:endParaRPr lang="en-US" sz="1200"/>
          </a:p>
        </p:txBody>
      </p:sp>
      <p:sp>
        <p:nvSpPr>
          <p:cNvPr id="24" name="text 24"/>
          <p:cNvSpPr/>
          <p:nvPr/>
        </p:nvSpPr>
        <p:spPr>
          <a:xfrm>
            <a:off x="87630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Configure</a:t>
            </a:r>
            <a:endParaRPr lang="en-US" sz="1250"/>
          </a:p>
        </p:txBody>
      </p:sp>
      <p:sp>
        <p:nvSpPr>
          <p:cNvPr id="25" name="text 25"/>
          <p:cNvSpPr/>
          <p:nvPr/>
        </p:nvSpPr>
        <p:spPr>
          <a:xfrm>
            <a:off x="53340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Missing codes + scope</a:t>
            </a:r>
            <a:endParaRPr lang="en-US" sz="1100"/>
          </a:p>
        </p:txBody>
      </p:sp>
      <p:cxnSp>
        <p:nvCxnSpPr>
          <p:cNvPr id="26" name="connector 26"/>
          <p:cNvCxnSpPr/>
          <p:nvPr/>
        </p:nvCxnSpPr>
        <p:spPr>
          <a:xfrm>
            <a:off x="254508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2722880" y="3898900"/>
            <a:ext cx="2113280" cy="774700"/>
          </a:xfrm>
          <a:prstGeom prst="roundRect">
            <a:avLst/>
          </a:prstGeom>
          <a:solidFill>
            <a:srgbClr val="FFF2DF"/>
          </a:solidFill>
          <a:ln>
            <a:noFill/>
          </a:ln>
        </p:spPr>
      </p:sp>
      <p:sp>
        <p:nvSpPr>
          <p:cNvPr id="28" name="text 28"/>
          <p:cNvSpPr/>
          <p:nvPr/>
        </p:nvSpPr>
        <p:spPr>
          <a:xfrm>
            <a:off x="284988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02</a:t>
            </a:r>
            <a:endParaRPr lang="en-US" sz="1200"/>
          </a:p>
        </p:txBody>
      </p:sp>
      <p:sp>
        <p:nvSpPr>
          <p:cNvPr id="29" name="text 29"/>
          <p:cNvSpPr/>
          <p:nvPr/>
        </p:nvSpPr>
        <p:spPr>
          <a:xfrm>
            <a:off x="319278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Freeze</a:t>
            </a:r>
            <a:endParaRPr lang="en-US" sz="1250"/>
          </a:p>
        </p:txBody>
      </p:sp>
      <p:sp>
        <p:nvSpPr>
          <p:cNvPr id="30" name="text 30"/>
          <p:cNvSpPr/>
          <p:nvPr/>
        </p:nvSpPr>
        <p:spPr>
          <a:xfrm>
            <a:off x="284988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Snapshot + seed</a:t>
            </a:r>
            <a:endParaRPr lang="en-US" sz="1100"/>
          </a:p>
        </p:txBody>
      </p:sp>
      <p:cxnSp>
        <p:nvCxnSpPr>
          <p:cNvPr id="31" name="connector 31"/>
          <p:cNvCxnSpPr/>
          <p:nvPr/>
        </p:nvCxnSpPr>
        <p:spPr>
          <a:xfrm>
            <a:off x="486156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2" name="shape 32"/>
          <p:cNvSpPr/>
          <p:nvPr/>
        </p:nvSpPr>
        <p:spPr>
          <a:xfrm>
            <a:off x="5039360" y="3898900"/>
            <a:ext cx="2113280" cy="774700"/>
          </a:xfrm>
          <a:prstGeom prst="roundRect">
            <a:avLst/>
          </a:prstGeom>
          <a:solidFill>
            <a:srgbClr val="FFF2DF"/>
          </a:solidFill>
          <a:ln>
            <a:noFill/>
          </a:ln>
        </p:spPr>
      </p:sp>
      <p:sp>
        <p:nvSpPr>
          <p:cNvPr id="33" name="text 33"/>
          <p:cNvSpPr/>
          <p:nvPr/>
        </p:nvSpPr>
        <p:spPr>
          <a:xfrm>
            <a:off x="516636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03</a:t>
            </a:r>
            <a:endParaRPr lang="en-US" sz="1200"/>
          </a:p>
        </p:txBody>
      </p:sp>
      <p:sp>
        <p:nvSpPr>
          <p:cNvPr id="34" name="text 34"/>
          <p:cNvSpPr/>
          <p:nvPr/>
        </p:nvSpPr>
        <p:spPr>
          <a:xfrm>
            <a:off x="550926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Map</a:t>
            </a:r>
            <a:endParaRPr lang="en-US" sz="1250"/>
          </a:p>
        </p:txBody>
      </p:sp>
      <p:sp>
        <p:nvSpPr>
          <p:cNvPr id="35" name="text 35"/>
          <p:cNvSpPr/>
          <p:nvPr/>
        </p:nvSpPr>
        <p:spPr>
          <a:xfrm>
            <a:off x="516636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Masks + co-missingness</a:t>
            </a:r>
            <a:endParaRPr lang="en-US" sz="1100"/>
          </a:p>
        </p:txBody>
      </p:sp>
      <p:cxnSp>
        <p:nvCxnSpPr>
          <p:cNvPr id="36" name="connector 36"/>
          <p:cNvCxnSpPr/>
          <p:nvPr/>
        </p:nvCxnSpPr>
        <p:spPr>
          <a:xfrm>
            <a:off x="717804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7" name="shape 37"/>
          <p:cNvSpPr/>
          <p:nvPr/>
        </p:nvSpPr>
        <p:spPr>
          <a:xfrm>
            <a:off x="7355840" y="3898900"/>
            <a:ext cx="2113280" cy="774700"/>
          </a:xfrm>
          <a:prstGeom prst="roundRect">
            <a:avLst/>
          </a:prstGeom>
          <a:solidFill>
            <a:srgbClr val="FFF2DF"/>
          </a:solidFill>
          <a:ln>
            <a:noFill/>
          </a:ln>
        </p:spPr>
      </p:sp>
      <p:sp>
        <p:nvSpPr>
          <p:cNvPr id="38" name="text 38"/>
          <p:cNvSpPr/>
          <p:nvPr/>
        </p:nvSpPr>
        <p:spPr>
          <a:xfrm>
            <a:off x="748284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04</a:t>
            </a:r>
            <a:endParaRPr lang="en-US" sz="1200"/>
          </a:p>
        </p:txBody>
      </p:sp>
      <p:sp>
        <p:nvSpPr>
          <p:cNvPr id="39" name="text 39"/>
          <p:cNvSpPr/>
          <p:nvPr/>
        </p:nvSpPr>
        <p:spPr>
          <a:xfrm>
            <a:off x="782574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Classify</a:t>
            </a:r>
            <a:endParaRPr lang="en-US" sz="1250"/>
          </a:p>
        </p:txBody>
      </p:sp>
      <p:sp>
        <p:nvSpPr>
          <p:cNvPr id="40" name="text 40"/>
          <p:cNvSpPr/>
          <p:nvPr/>
        </p:nvSpPr>
        <p:spPr>
          <a:xfrm>
            <a:off x="748284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Gates + shallow trees</a:t>
            </a:r>
            <a:endParaRPr lang="en-US" sz="1100"/>
          </a:p>
        </p:txBody>
      </p:sp>
      <p:cxnSp>
        <p:nvCxnSpPr>
          <p:cNvPr id="41" name="connector 41"/>
          <p:cNvCxnSpPr/>
          <p:nvPr/>
        </p:nvCxnSpPr>
        <p:spPr>
          <a:xfrm>
            <a:off x="949452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9672320" y="3898900"/>
            <a:ext cx="2113280" cy="774700"/>
          </a:xfrm>
          <a:prstGeom prst="roundRect">
            <a:avLst/>
          </a:prstGeom>
          <a:solidFill>
            <a:srgbClr val="FFF2DF"/>
          </a:solidFill>
          <a:ln>
            <a:noFill/>
          </a:ln>
        </p:spPr>
      </p:sp>
      <p:sp>
        <p:nvSpPr>
          <p:cNvPr id="43" name="text 43"/>
          <p:cNvSpPr/>
          <p:nvPr/>
        </p:nvSpPr>
        <p:spPr>
          <a:xfrm>
            <a:off x="979932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05</a:t>
            </a:r>
            <a:endParaRPr lang="en-US" sz="1200"/>
          </a:p>
        </p:txBody>
      </p:sp>
      <p:sp>
        <p:nvSpPr>
          <p:cNvPr id="44" name="text 44"/>
          <p:cNvSpPr/>
          <p:nvPr/>
        </p:nvSpPr>
        <p:spPr>
          <a:xfrm>
            <a:off x="1014222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Review</a:t>
            </a:r>
            <a:endParaRPr lang="en-US" sz="1250"/>
          </a:p>
        </p:txBody>
      </p:sp>
      <p:sp>
        <p:nvSpPr>
          <p:cNvPr id="45" name="text 45"/>
          <p:cNvSpPr/>
          <p:nvPr/>
        </p:nvSpPr>
        <p:spPr>
          <a:xfrm>
            <a:off x="979932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Immutable report</a:t>
            </a:r>
            <a:endParaRPr lang="en-US" sz="1100"/>
          </a:p>
        </p:txBody>
      </p:sp>
      <p:sp>
        <p:nvSpPr>
          <p:cNvPr id="46" name="shape 46"/>
          <p:cNvSpPr/>
          <p:nvPr/>
        </p:nvSpPr>
        <p:spPr>
          <a:xfrm>
            <a:off x="406400" y="4851400"/>
            <a:ext cx="5562600" cy="1206500"/>
          </a:xfrm>
          <a:prstGeom prst="roundRect">
            <a:avLst/>
          </a:prstGeom>
          <a:solidFill>
            <a:srgbClr val="FFFFFF"/>
          </a:solidFill>
          <a:ln w="12700">
            <a:solidFill>
              <a:srgbClr val="DEDCD6"/>
            </a:solidFill>
          </a:ln>
        </p:spPr>
      </p:sp>
      <p:sp>
        <p:nvSpPr>
          <p:cNvPr id="47" name="text 47"/>
          <p:cNvSpPr/>
          <p:nvPr/>
        </p:nvSpPr>
        <p:spPr>
          <a:xfrm>
            <a:off x="5715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FINDING → ISSUE</a:t>
            </a:r>
            <a:endParaRPr lang="en-US" sz="1000"/>
          </a:p>
        </p:txBody>
      </p:sp>
      <p:sp>
        <p:nvSpPr>
          <p:cNvPr id="48" name="text 48"/>
          <p:cNvSpPr/>
          <p:nvPr/>
        </p:nvSpPr>
        <p:spPr>
          <a:xfrm>
            <a:off x="5715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Above-tolerance observations enter user review. Confirm with</a:t>
            </a:r>
            <a:endParaRPr lang="en-US" sz="1250"/>
          </a:p>
          <a:p>
            <a:pPr algn="l">
              <a:lnSpc>
                <a:spcPts val="1425"/>
              </a:lnSpc>
              <a:spcAft>
                <a:spcPts val="0"/>
              </a:spcAft>
            </a:pPr>
            <a:r>
              <a:rPr lang="en-US" sz="1250" b="0" dirty="0">
                <a:solidFill>
                  <a:srgbClr val="181C23"/>
                </a:solidFill>
                <a:latin typeface="Funnel Sans"/>
              </a:rPr>
              <a:t>rationale to create an issue, or dismiss. Untestable results must remain</a:t>
            </a:r>
            <a:endParaRPr lang="en-US" sz="1250"/>
          </a:p>
          <a:p>
            <a:pPr algn="l">
              <a:lnSpc>
                <a:spcPts val="1425"/>
              </a:lnSpc>
              <a:spcAft>
                <a:spcPts val="0"/>
              </a:spcAft>
            </a:pPr>
            <a:r>
              <a:rPr lang="en-US" sz="1250" b="0" dirty="0">
                <a:solidFill>
                  <a:srgbClr val="181C23"/>
                </a:solidFill>
                <a:latin typeface="Funnel Sans"/>
              </a:rPr>
              <a:t>distinct from “no pattern found.”</a:t>
            </a:r>
            <a:endParaRPr lang="en-US" sz="1250"/>
          </a:p>
        </p:txBody>
      </p:sp>
      <p:sp>
        <p:nvSpPr>
          <p:cNvPr id="49" name="shape 49"/>
          <p:cNvSpPr/>
          <p:nvPr/>
        </p:nvSpPr>
        <p:spPr>
          <a:xfrm>
            <a:off x="6223000" y="4851400"/>
            <a:ext cx="5562600" cy="1206500"/>
          </a:xfrm>
          <a:prstGeom prst="roundRect">
            <a:avLst/>
          </a:prstGeom>
          <a:solidFill>
            <a:srgbClr val="FFFFFF"/>
          </a:solidFill>
          <a:ln w="12700">
            <a:solidFill>
              <a:srgbClr val="DEDCD6"/>
            </a:solidFill>
          </a:ln>
        </p:spPr>
      </p:sp>
      <p:sp>
        <p:nvSpPr>
          <p:cNvPr id="50" name="text 50"/>
          <p:cNvSpPr/>
          <p:nvPr/>
        </p:nvSpPr>
        <p:spPr>
          <a:xfrm>
            <a:off x="63881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RCA → REMEDIATION</a:t>
            </a:r>
            <a:endParaRPr lang="en-US" sz="1000"/>
          </a:p>
        </p:txBody>
      </p:sp>
      <p:sp>
        <p:nvSpPr>
          <p:cNvPr id="51" name="text 51"/>
          <p:cNvSpPr/>
          <p:nvPr/>
        </p:nvSpPr>
        <p:spPr>
          <a:xfrm>
            <a:off x="63881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Inspect source capture, process and group / period patterns through</a:t>
            </a:r>
            <a:endParaRPr lang="en-US" sz="1250"/>
          </a:p>
          <a:p>
            <a:pPr algn="l">
              <a:lnSpc>
                <a:spcPts val="1425"/>
              </a:lnSpc>
              <a:spcAft>
                <a:spcPts val="0"/>
              </a:spcAft>
            </a:pPr>
            <a:r>
              <a:rPr lang="en-US" sz="1250" b="0" dirty="0">
                <a:solidFill>
                  <a:srgbClr val="181C23"/>
                </a:solidFill>
                <a:latin typeface="Funnel Sans"/>
              </a:rPr>
              <a:t>shared RCA. Approve root cause or mark unresolved; remediate</a:t>
            </a:r>
            <a:endParaRPr lang="en-US" sz="1250"/>
          </a:p>
          <a:p>
            <a:pPr algn="l">
              <a:lnSpc>
                <a:spcPts val="1425"/>
              </a:lnSpc>
              <a:spcAft>
                <a:spcPts val="0"/>
              </a:spcAft>
            </a:pPr>
            <a:r>
              <a:rPr lang="en-US" sz="1250" b="0" dirty="0">
                <a:solidFill>
                  <a:srgbClr val="181C23"/>
                </a:solidFill>
                <a:latin typeface="Funnel Sans"/>
              </a:rPr>
              <a:t>externally and manually reassess new data.</a:t>
            </a:r>
            <a:endParaRPr lang="en-US" sz="1250"/>
          </a:p>
        </p:txBody>
      </p:sp>
      <p:sp>
        <p:nvSpPr>
          <p:cNvPr id="52" name="shape 52"/>
          <p:cNvSpPr/>
          <p:nvPr/>
        </p:nvSpPr>
        <p:spPr>
          <a:xfrm>
            <a:off x="406400" y="6172200"/>
            <a:ext cx="11379200" cy="292100"/>
          </a:xfrm>
          <a:prstGeom prst="roundRect">
            <a:avLst/>
          </a:prstGeom>
          <a:solidFill>
            <a:srgbClr val="282A27"/>
          </a:solidFill>
          <a:ln>
            <a:noFill/>
          </a:ln>
        </p:spPr>
      </p:sp>
      <p:sp>
        <p:nvSpPr>
          <p:cNvPr id="53" name="text 53"/>
          <p:cNvSpPr/>
          <p:nvPr/>
        </p:nvSpPr>
        <p:spPr>
          <a:xfrm>
            <a:off x="546100" y="6235700"/>
            <a:ext cx="11099800" cy="203200"/>
          </a:xfrm>
          <a:prstGeom prst="rect">
            <a:avLst/>
          </a:prstGeom>
          <a:noFill/>
          <a:ln>
            <a:noFill/>
          </a:ln>
        </p:spPr>
        <p:txBody>
          <a:bodyPr wrap="none" lIns="0" tIns="0" rIns="0" bIns="0" anchor="t">
            <a:noAutofit/>
          </a:bodyPr>
          <a:lstStyle/>
          <a:p>
            <a:pPr algn="l">
              <a:lnSpc>
                <a:spcPts val="1197"/>
              </a:lnSpc>
              <a:spcAft>
                <a:spcPts val="0"/>
              </a:spcAft>
            </a:pPr>
            <a:r>
              <a:rPr lang="en-US" sz="1050" b="0" dirty="0">
                <a:solidFill>
                  <a:srgbClr val="FFFFFF"/>
                </a:solidFill>
                <a:latin typeface="Funnel Sans"/>
              </a:rPr>
              <a:t>Descriptive evidence does not establish MCAR, MAR, MNAR or causality. Zero is valid unless explicitly declared missing.</a:t>
            </a:r>
            <a:endParaRPr lang="en-US" sz="1050"/>
          </a:p>
        </p:txBody>
      </p:sp>
      <p:cxnSp>
        <p:nvCxnSpPr>
          <p:cNvPr id="54" name="connector 54"/>
          <p:cNvCxnSpPr/>
          <p:nvPr/>
        </p:nvCxnSpPr>
        <p:spPr>
          <a:xfrm>
            <a:off x="406400" y="6553200"/>
            <a:ext cx="113792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55" name="text 55"/>
          <p:cNvSpPr/>
          <p:nvPr/>
        </p:nvSpPr>
        <p:spPr>
          <a:xfrm>
            <a:off x="406400" y="6629400"/>
            <a:ext cx="5715000" cy="152400"/>
          </a:xfrm>
          <a:prstGeom prst="rect">
            <a:avLst/>
          </a:prstGeom>
          <a:noFill/>
          <a:ln>
            <a:noFill/>
          </a:ln>
        </p:spPr>
        <p:txBody>
          <a:bodyPr wrap="none" lIns="0" tIns="0" rIns="0" bIns="0" anchor="t">
            <a:noAutofit/>
          </a:bodyPr>
          <a:lstStyle/>
          <a:p>
            <a:pPr algn="l">
              <a:lnSpc>
                <a:spcPts val="969"/>
              </a:lnSpc>
              <a:spcAft>
                <a:spcPts val="0"/>
              </a:spcAft>
            </a:pPr>
            <a:r>
              <a:rPr lang="en-US" sz="850" b="0" dirty="0">
                <a:solidFill>
                  <a:srgbClr val="6D706B"/>
                </a:solidFill>
                <a:latin typeface="Funnel Sans"/>
              </a:rPr>
              <a:t>DATA WORKBENCH / Diagnostic quick reference</a:t>
            </a:r>
            <a:endParaRPr lang="en-US" sz="850"/>
          </a:p>
        </p:txBody>
      </p:sp>
      <p:sp>
        <p:nvSpPr>
          <p:cNvPr id="56" name="text 56"/>
          <p:cNvSpPr/>
          <p:nvPr/>
        </p:nvSpPr>
        <p:spPr>
          <a:xfrm>
            <a:off x="6223000" y="6629400"/>
            <a:ext cx="4254500" cy="152400"/>
          </a:xfrm>
          <a:prstGeom prst="rect">
            <a:avLst/>
          </a:prstGeom>
          <a:noFill/>
          <a:ln>
            <a:noFill/>
          </a:ln>
        </p:spPr>
        <p:txBody>
          <a:bodyPr wrap="none" lIns="0" tIns="0" rIns="0" bIns="0" anchor="t">
            <a:noAutofit/>
          </a:bodyPr>
          <a:lstStyle/>
          <a:p>
            <a:pPr algn="r">
              <a:lnSpc>
                <a:spcPts val="969"/>
              </a:lnSpc>
              <a:spcAft>
                <a:spcPts val="0"/>
              </a:spcAft>
            </a:pPr>
            <a:r>
              <a:rPr lang="en-US" sz="850" b="0" dirty="0">
                <a:solidFill>
                  <a:srgbClr val="6D706B"/>
                </a:solidFill>
                <a:latin typeface="Funnel Sans"/>
              </a:rPr>
              <a:t>Full deck: slides 57–59</a:t>
            </a:r>
            <a:endParaRPr lang="en-US" sz="850"/>
          </a:p>
        </p:txBody>
      </p:sp>
      <p:sp>
        <p:nvSpPr>
          <p:cNvPr id="57" name="text 57"/>
          <p:cNvSpPr/>
          <p:nvPr/>
        </p:nvSpPr>
        <p:spPr>
          <a:xfrm>
            <a:off x="10795000" y="6616700"/>
            <a:ext cx="990600" cy="177800"/>
          </a:xfrm>
          <a:prstGeom prst="rect">
            <a:avLst/>
          </a:prstGeom>
          <a:noFill/>
          <a:ln>
            <a:noFill/>
          </a:ln>
        </p:spPr>
        <p:txBody>
          <a:bodyPr wrap="none" lIns="0" tIns="0" rIns="0" bIns="0" anchor="t">
            <a:noAutofit/>
          </a:bodyPr>
          <a:lstStyle/>
          <a:p>
            <a:pPr algn="r">
              <a:lnSpc>
                <a:spcPts val="1083"/>
              </a:lnSpc>
              <a:spcAft>
                <a:spcPts val="0"/>
              </a:spcAft>
            </a:pPr>
            <a:r>
              <a:rPr lang="en-US" sz="950" b="0" dirty="0">
                <a:solidFill>
                  <a:srgbClr val="6D706B"/>
                </a:solidFill>
                <a:latin typeface="Funnel Sans"/>
              </a:rPr>
              <a:t>08 / 22</a:t>
            </a:r>
            <a:endParaRPr lang="en-US" sz="9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shape 3"/>
          <p:cNvSpPr/>
          <p:nvPr/>
        </p:nvSpPr>
        <p:spPr>
          <a:xfrm>
            <a:off x="406400" y="228600"/>
            <a:ext cx="1181100" cy="292100"/>
          </a:xfrm>
          <a:prstGeom prst="roundRect">
            <a:avLst/>
          </a:prstGeom>
          <a:solidFill>
            <a:srgbClr val="FFF2DF"/>
          </a:solidFill>
          <a:ln>
            <a:noFill/>
          </a:ln>
        </p:spPr>
      </p:sp>
      <p:sp>
        <p:nvSpPr>
          <p:cNvPr id="4" name="text 4"/>
          <p:cNvSpPr/>
          <p:nvPr/>
        </p:nvSpPr>
        <p:spPr>
          <a:xfrm>
            <a:off x="520700" y="292100"/>
            <a:ext cx="952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T3-D12</a:t>
            </a:r>
            <a:endParaRPr lang="en-US" sz="1000"/>
          </a:p>
        </p:txBody>
      </p:sp>
      <p:sp>
        <p:nvSpPr>
          <p:cNvPr id="5" name="text 5"/>
          <p:cNvSpPr/>
          <p:nvPr/>
        </p:nvSpPr>
        <p:spPr>
          <a:xfrm>
            <a:off x="1739900" y="304800"/>
            <a:ext cx="3022600" cy="190500"/>
          </a:xfrm>
          <a:prstGeom prst="rect">
            <a:avLst/>
          </a:prstGeom>
          <a:noFill/>
          <a:ln>
            <a:noFill/>
          </a:ln>
        </p:spPr>
        <p:txBody>
          <a:bodyPr wrap="none" lIns="0" tIns="0" rIns="0" bIns="0" anchor="t">
            <a:noAutofit/>
          </a:bodyPr>
          <a:lstStyle/>
          <a:p>
            <a:pPr algn="l">
              <a:lnSpc>
                <a:spcPts val="1083"/>
              </a:lnSpc>
              <a:spcAft>
                <a:spcPts val="0"/>
              </a:spcAft>
            </a:pPr>
            <a:r>
              <a:rPr lang="en-US" sz="950" b="1" dirty="0">
                <a:solidFill>
                  <a:srgbClr val="6D706B"/>
                </a:solidFill>
                <a:latin typeface="Funnel Sans"/>
              </a:rPr>
              <a:t>TARGET VALIDITY</a:t>
            </a:r>
            <a:endParaRPr lang="en-US" sz="950"/>
          </a:p>
        </p:txBody>
      </p:sp>
      <p:sp>
        <p:nvSpPr>
          <p:cNvPr id="6" name="shape 6"/>
          <p:cNvSpPr/>
          <p:nvPr/>
        </p:nvSpPr>
        <p:spPr>
          <a:xfrm>
            <a:off x="4864100" y="228600"/>
            <a:ext cx="3797300" cy="292100"/>
          </a:xfrm>
          <a:prstGeom prst="roundRect">
            <a:avLst/>
          </a:prstGeom>
          <a:solidFill>
            <a:srgbClr val="EFEEE9"/>
          </a:solidFill>
          <a:ln>
            <a:noFill/>
          </a:ln>
        </p:spPr>
      </p:sp>
      <p:sp>
        <p:nvSpPr>
          <p:cNvPr id="7" name="text 7"/>
          <p:cNvSpPr/>
          <p:nvPr/>
        </p:nvSpPr>
        <p:spPr>
          <a:xfrm>
            <a:off x="4978400" y="292100"/>
            <a:ext cx="35687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181C23"/>
                </a:solidFill>
                <a:latin typeface="Funnel Sans"/>
              </a:rPr>
              <a:t>Proposed rule evaluation</a:t>
            </a:r>
            <a:endParaRPr lang="en-US" sz="1000"/>
          </a:p>
        </p:txBody>
      </p:sp>
      <p:sp>
        <p:nvSpPr>
          <p:cNvPr id="8" name="shape 8"/>
          <p:cNvSpPr/>
          <p:nvPr/>
        </p:nvSpPr>
        <p:spPr>
          <a:xfrm>
            <a:off x="8826500" y="228600"/>
            <a:ext cx="2959100" cy="292100"/>
          </a:xfrm>
          <a:prstGeom prst="roundRect">
            <a:avLst/>
          </a:prstGeom>
          <a:solidFill>
            <a:srgbClr val="FFF2DF"/>
          </a:solidFill>
          <a:ln>
            <a:noFill/>
          </a:ln>
        </p:spPr>
      </p:sp>
      <p:sp>
        <p:nvSpPr>
          <p:cNvPr id="9" name="text 9"/>
          <p:cNvSpPr/>
          <p:nvPr/>
        </p:nvSpPr>
        <p:spPr>
          <a:xfrm>
            <a:off x="8940800" y="292100"/>
            <a:ext cx="2730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98641E"/>
                </a:solidFill>
                <a:latin typeface="Funnel Sans"/>
              </a:rPr>
              <a:t>Planned · registered</a:t>
            </a:r>
            <a:endParaRPr lang="en-US" sz="1000"/>
          </a:p>
        </p:txBody>
      </p:sp>
      <p:sp>
        <p:nvSpPr>
          <p:cNvPr id="10" name="text 10"/>
          <p:cNvSpPr/>
          <p:nvPr/>
        </p:nvSpPr>
        <p:spPr>
          <a:xfrm>
            <a:off x="406400" y="698500"/>
            <a:ext cx="11379200" cy="508000"/>
          </a:xfrm>
          <a:prstGeom prst="rect">
            <a:avLst/>
          </a:prstGeom>
          <a:noFill/>
          <a:ln>
            <a:noFill/>
          </a:ln>
        </p:spPr>
        <p:txBody>
          <a:bodyPr wrap="none" lIns="0" tIns="0" rIns="0" bIns="0" anchor="t">
            <a:noAutofit/>
          </a:bodyPr>
          <a:lstStyle/>
          <a:p>
            <a:pPr algn="l">
              <a:lnSpc>
                <a:spcPts val="3192"/>
              </a:lnSpc>
              <a:spcAft>
                <a:spcPts val="0"/>
              </a:spcAft>
            </a:pPr>
            <a:r>
              <a:rPr lang="en-US" sz="2800" b="1" dirty="0">
                <a:solidFill>
                  <a:srgbClr val="181C23"/>
                </a:solidFill>
                <a:latin typeface="Funnel Sans"/>
              </a:rPr>
              <a:t>Label-consistency rule</a:t>
            </a:r>
            <a:endParaRPr lang="en-US" sz="2800"/>
          </a:p>
        </p:txBody>
      </p:sp>
      <p:sp>
        <p:nvSpPr>
          <p:cNvPr id="11" name="text 11"/>
          <p:cNvSpPr/>
          <p:nvPr/>
        </p:nvSpPr>
        <p:spPr>
          <a:xfrm>
            <a:off x="419100" y="1320800"/>
            <a:ext cx="11353800" cy="4445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Identify target labels that contradict approved process or business definitions.</a:t>
            </a:r>
            <a:endParaRPr lang="en-US" sz="1500"/>
          </a:p>
        </p:txBody>
      </p:sp>
      <p:sp>
        <p:nvSpPr>
          <p:cNvPr id="12" name="shape 12"/>
          <p:cNvSpPr/>
          <p:nvPr/>
        </p:nvSpPr>
        <p:spPr>
          <a:xfrm>
            <a:off x="406400" y="1905000"/>
            <a:ext cx="3632200" cy="1549400"/>
          </a:xfrm>
          <a:prstGeom prst="roundRect">
            <a:avLst/>
          </a:prstGeom>
          <a:solidFill>
            <a:srgbClr val="FFFFFF"/>
          </a:solidFill>
          <a:ln w="12700">
            <a:solidFill>
              <a:srgbClr val="DEDCD6"/>
            </a:solidFill>
          </a:ln>
        </p:spPr>
      </p:sp>
      <p:sp>
        <p:nvSpPr>
          <p:cNvPr id="13" name="text 13"/>
          <p:cNvSpPr/>
          <p:nvPr/>
        </p:nvSpPr>
        <p:spPr>
          <a:xfrm>
            <a:off x="571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USER &amp; TRIGGER</a:t>
            </a:r>
            <a:endParaRPr lang="en-US" sz="1000"/>
          </a:p>
        </p:txBody>
      </p:sp>
      <p:sp>
        <p:nvSpPr>
          <p:cNvPr id="14" name="text 14"/>
          <p:cNvSpPr/>
          <p:nvPr/>
        </p:nvSpPr>
        <p:spPr>
          <a:xfrm>
            <a:off x="571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Target owner / SME + data team</a:t>
            </a:r>
            <a:endParaRPr lang="en-US" sz="1325"/>
          </a:p>
          <a:p>
            <a:pPr algn="l">
              <a:lnSpc>
                <a:spcPts val="1510"/>
              </a:lnSpc>
              <a:spcAft>
                <a:spcPts val="0"/>
              </a:spcAft>
            </a:pPr>
            <a:r>
              <a:rPr lang="en-US" sz="1325" b="0" dirty="0">
                <a:solidFill>
                  <a:srgbClr val="181C23"/>
                </a:solidFill>
                <a:latin typeface="Funnel Sans"/>
              </a:rPr>
              <a:t>Intended before model development or</a:t>
            </a:r>
            <a:endParaRPr lang="en-US" sz="1325"/>
          </a:p>
          <a:p>
            <a:pPr algn="l">
              <a:lnSpc>
                <a:spcPts val="1510"/>
              </a:lnSpc>
              <a:spcAft>
                <a:spcPts val="0"/>
              </a:spcAft>
            </a:pPr>
            <a:r>
              <a:rPr lang="en-US" sz="1325" b="0" dirty="0">
                <a:solidFill>
                  <a:srgbClr val="181C23"/>
                </a:solidFill>
                <a:latin typeface="Funnel Sans"/>
              </a:rPr>
              <a:t>after a label-definition change.</a:t>
            </a:r>
            <a:endParaRPr lang="en-US" sz="1325"/>
          </a:p>
        </p:txBody>
      </p:sp>
      <p:sp>
        <p:nvSpPr>
          <p:cNvPr id="15" name="shape 15"/>
          <p:cNvSpPr/>
          <p:nvPr/>
        </p:nvSpPr>
        <p:spPr>
          <a:xfrm>
            <a:off x="4279900" y="1905000"/>
            <a:ext cx="3632200" cy="1549400"/>
          </a:xfrm>
          <a:prstGeom prst="roundRect">
            <a:avLst/>
          </a:prstGeom>
          <a:solidFill>
            <a:srgbClr val="FFFFFF"/>
          </a:solidFill>
          <a:ln w="12700">
            <a:solidFill>
              <a:srgbClr val="DEDCD6"/>
            </a:solidFill>
          </a:ln>
        </p:spPr>
      </p:sp>
      <p:sp>
        <p:nvSpPr>
          <p:cNvPr id="16" name="text 16"/>
          <p:cNvSpPr/>
          <p:nvPr/>
        </p:nvSpPr>
        <p:spPr>
          <a:xfrm>
            <a:off x="44450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INPUTS &amp; READINESS</a:t>
            </a:r>
            <a:endParaRPr lang="en-US" sz="1000"/>
          </a:p>
        </p:txBody>
      </p:sp>
      <p:sp>
        <p:nvSpPr>
          <p:cNvPr id="17" name="text 17"/>
          <p:cNvSpPr/>
          <p:nvPr/>
        </p:nvSpPr>
        <p:spPr>
          <a:xfrm>
            <a:off x="44450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Proposed: labels, process-state fields,</a:t>
            </a:r>
            <a:endParaRPr lang="en-US" sz="1325"/>
          </a:p>
          <a:p>
            <a:pPr algn="l">
              <a:lnSpc>
                <a:spcPts val="1510"/>
              </a:lnSpc>
              <a:spcAft>
                <a:spcPts val="0"/>
              </a:spcAft>
            </a:pPr>
            <a:r>
              <a:rPr lang="en-US" sz="1325" b="0" dirty="0">
                <a:solidFill>
                  <a:srgbClr val="181C23"/>
                </a:solidFill>
                <a:latin typeface="Funnel Sans"/>
              </a:rPr>
              <a:t>approved labeling rules, exceptions,</a:t>
            </a:r>
            <a:endParaRPr lang="en-US" sz="1325"/>
          </a:p>
          <a:p>
            <a:pPr algn="l">
              <a:lnSpc>
                <a:spcPts val="1510"/>
              </a:lnSpc>
              <a:spcAft>
                <a:spcPts val="0"/>
              </a:spcAft>
            </a:pPr>
            <a:r>
              <a:rPr lang="en-US" sz="1325" b="0" dirty="0">
                <a:solidFill>
                  <a:srgbClr val="181C23"/>
                </a:solidFill>
                <a:latin typeface="Funnel Sans"/>
              </a:rPr>
              <a:t>scope and tolerances.</a:t>
            </a:r>
            <a:endParaRPr lang="en-US" sz="1325"/>
          </a:p>
        </p:txBody>
      </p:sp>
      <p:sp>
        <p:nvSpPr>
          <p:cNvPr id="18" name="shape 18"/>
          <p:cNvSpPr/>
          <p:nvPr/>
        </p:nvSpPr>
        <p:spPr>
          <a:xfrm>
            <a:off x="8153400" y="1905000"/>
            <a:ext cx="3632200" cy="1549400"/>
          </a:xfrm>
          <a:prstGeom prst="roundRect">
            <a:avLst/>
          </a:prstGeom>
          <a:solidFill>
            <a:srgbClr val="FFF2DF"/>
          </a:solidFill>
          <a:ln w="12700">
            <a:solidFill>
              <a:srgbClr val="DEDCD6"/>
            </a:solidFill>
          </a:ln>
        </p:spPr>
      </p:sp>
      <p:sp>
        <p:nvSpPr>
          <p:cNvPr id="19" name="text 19"/>
          <p:cNvSpPr/>
          <p:nvPr/>
        </p:nvSpPr>
        <p:spPr>
          <a:xfrm>
            <a:off x="8318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OUTPUTS &amp; EVIDENCE</a:t>
            </a:r>
            <a:endParaRPr lang="en-US" sz="1000"/>
          </a:p>
        </p:txBody>
      </p:sp>
      <p:sp>
        <p:nvSpPr>
          <p:cNvPr id="20" name="text 20"/>
          <p:cNvSpPr/>
          <p:nvPr/>
        </p:nvSpPr>
        <p:spPr>
          <a:xfrm>
            <a:off x="8318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Proposed: label-rule conflicts, violation</a:t>
            </a:r>
            <a:endParaRPr lang="en-US" sz="1325"/>
          </a:p>
          <a:p>
            <a:pPr algn="l">
              <a:lnSpc>
                <a:spcPts val="1510"/>
              </a:lnSpc>
              <a:spcAft>
                <a:spcPts val="0"/>
              </a:spcAft>
            </a:pPr>
            <a:r>
              <a:rPr lang="en-US" sz="1325" b="0" dirty="0">
                <a:solidFill>
                  <a:srgbClr val="181C23"/>
                </a:solidFill>
                <a:latin typeface="Funnel Sans"/>
              </a:rPr>
              <a:t>counts / rates and affected-record</a:t>
            </a:r>
            <a:endParaRPr lang="en-US" sz="1325"/>
          </a:p>
          <a:p>
            <a:pPr algn="l">
              <a:lnSpc>
                <a:spcPts val="1510"/>
              </a:lnSpc>
              <a:spcAft>
                <a:spcPts val="0"/>
              </a:spcAft>
            </a:pPr>
            <a:r>
              <a:rPr lang="en-US" sz="1325" b="0" dirty="0">
                <a:solidFill>
                  <a:srgbClr val="181C23"/>
                </a:solidFill>
                <a:latin typeface="Funnel Sans"/>
              </a:rPr>
              <a:t>evidence. No current executor or artifact</a:t>
            </a:r>
            <a:endParaRPr lang="en-US" sz="1325"/>
          </a:p>
          <a:p>
            <a:pPr algn="l">
              <a:lnSpc>
                <a:spcPts val="1510"/>
              </a:lnSpc>
              <a:spcAft>
                <a:spcPts val="0"/>
              </a:spcAft>
            </a:pPr>
            <a:r>
              <a:rPr lang="en-US" sz="1325" b="0" dirty="0">
                <a:solidFill>
                  <a:srgbClr val="181C23"/>
                </a:solidFill>
                <a:latin typeface="Funnel Sans"/>
              </a:rPr>
              <a:t>contract.</a:t>
            </a:r>
            <a:endParaRPr lang="en-US" sz="1325"/>
          </a:p>
        </p:txBody>
      </p:sp>
      <p:sp>
        <p:nvSpPr>
          <p:cNvPr id="21" name="text 21"/>
          <p:cNvSpPr/>
          <p:nvPr/>
        </p:nvSpPr>
        <p:spPr>
          <a:xfrm>
            <a:off x="406400" y="3606800"/>
            <a:ext cx="7747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PROCESSING FLOW</a:t>
            </a:r>
            <a:endParaRPr lang="en-US" sz="1000"/>
          </a:p>
        </p:txBody>
      </p:sp>
      <p:sp>
        <p:nvSpPr>
          <p:cNvPr id="22" name="shape 22"/>
          <p:cNvSpPr/>
          <p:nvPr/>
        </p:nvSpPr>
        <p:spPr>
          <a:xfrm>
            <a:off x="406400" y="3898900"/>
            <a:ext cx="2113280" cy="774700"/>
          </a:xfrm>
          <a:prstGeom prst="roundRect">
            <a:avLst/>
          </a:prstGeom>
          <a:solidFill>
            <a:srgbClr val="FFF2DF"/>
          </a:solidFill>
          <a:ln>
            <a:noFill/>
          </a:ln>
        </p:spPr>
      </p:sp>
      <p:sp>
        <p:nvSpPr>
          <p:cNvPr id="23" name="text 23"/>
          <p:cNvSpPr/>
          <p:nvPr/>
        </p:nvSpPr>
        <p:spPr>
          <a:xfrm>
            <a:off x="53340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01</a:t>
            </a:r>
            <a:endParaRPr lang="en-US" sz="1200"/>
          </a:p>
        </p:txBody>
      </p:sp>
      <p:sp>
        <p:nvSpPr>
          <p:cNvPr id="24" name="text 24"/>
          <p:cNvSpPr/>
          <p:nvPr/>
        </p:nvSpPr>
        <p:spPr>
          <a:xfrm>
            <a:off x="87630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Define</a:t>
            </a:r>
            <a:endParaRPr lang="en-US" sz="1250"/>
          </a:p>
        </p:txBody>
      </p:sp>
      <p:sp>
        <p:nvSpPr>
          <p:cNvPr id="25" name="text 25"/>
          <p:cNvSpPr/>
          <p:nvPr/>
        </p:nvSpPr>
        <p:spPr>
          <a:xfrm>
            <a:off x="53340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Label / process rules</a:t>
            </a:r>
            <a:endParaRPr lang="en-US" sz="1100"/>
          </a:p>
        </p:txBody>
      </p:sp>
      <p:cxnSp>
        <p:nvCxnSpPr>
          <p:cNvPr id="26" name="connector 26"/>
          <p:cNvCxnSpPr/>
          <p:nvPr/>
        </p:nvCxnSpPr>
        <p:spPr>
          <a:xfrm>
            <a:off x="254508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2722880" y="3898900"/>
            <a:ext cx="2113280" cy="774700"/>
          </a:xfrm>
          <a:prstGeom prst="roundRect">
            <a:avLst/>
          </a:prstGeom>
          <a:solidFill>
            <a:srgbClr val="FFF2DF"/>
          </a:solidFill>
          <a:ln>
            <a:noFill/>
          </a:ln>
        </p:spPr>
      </p:sp>
      <p:sp>
        <p:nvSpPr>
          <p:cNvPr id="28" name="text 28"/>
          <p:cNvSpPr/>
          <p:nvPr/>
        </p:nvSpPr>
        <p:spPr>
          <a:xfrm>
            <a:off x="284988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02</a:t>
            </a:r>
            <a:endParaRPr lang="en-US" sz="1200"/>
          </a:p>
        </p:txBody>
      </p:sp>
      <p:sp>
        <p:nvSpPr>
          <p:cNvPr id="29" name="text 29"/>
          <p:cNvSpPr/>
          <p:nvPr/>
        </p:nvSpPr>
        <p:spPr>
          <a:xfrm>
            <a:off x="319278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Bind</a:t>
            </a:r>
            <a:endParaRPr lang="en-US" sz="1250"/>
          </a:p>
        </p:txBody>
      </p:sp>
      <p:sp>
        <p:nvSpPr>
          <p:cNvPr id="30" name="text 30"/>
          <p:cNvSpPr/>
          <p:nvPr/>
        </p:nvSpPr>
        <p:spPr>
          <a:xfrm>
            <a:off x="284988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Labels + process facts</a:t>
            </a:r>
            <a:endParaRPr lang="en-US" sz="1100"/>
          </a:p>
        </p:txBody>
      </p:sp>
      <p:cxnSp>
        <p:nvCxnSpPr>
          <p:cNvPr id="31" name="connector 31"/>
          <p:cNvCxnSpPr/>
          <p:nvPr/>
        </p:nvCxnSpPr>
        <p:spPr>
          <a:xfrm>
            <a:off x="486156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2" name="shape 32"/>
          <p:cNvSpPr/>
          <p:nvPr/>
        </p:nvSpPr>
        <p:spPr>
          <a:xfrm>
            <a:off x="5039360" y="3898900"/>
            <a:ext cx="2113280" cy="774700"/>
          </a:xfrm>
          <a:prstGeom prst="roundRect">
            <a:avLst/>
          </a:prstGeom>
          <a:solidFill>
            <a:srgbClr val="FFF2DF"/>
          </a:solidFill>
          <a:ln>
            <a:noFill/>
          </a:ln>
        </p:spPr>
      </p:sp>
      <p:sp>
        <p:nvSpPr>
          <p:cNvPr id="33" name="text 33"/>
          <p:cNvSpPr/>
          <p:nvPr/>
        </p:nvSpPr>
        <p:spPr>
          <a:xfrm>
            <a:off x="516636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03</a:t>
            </a:r>
            <a:endParaRPr lang="en-US" sz="1200"/>
          </a:p>
        </p:txBody>
      </p:sp>
      <p:sp>
        <p:nvSpPr>
          <p:cNvPr id="34" name="text 34"/>
          <p:cNvSpPr/>
          <p:nvPr/>
        </p:nvSpPr>
        <p:spPr>
          <a:xfrm>
            <a:off x="550926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Evaluate</a:t>
            </a:r>
            <a:endParaRPr lang="en-US" sz="1250"/>
          </a:p>
        </p:txBody>
      </p:sp>
      <p:sp>
        <p:nvSpPr>
          <p:cNvPr id="35" name="text 35"/>
          <p:cNvSpPr/>
          <p:nvPr/>
        </p:nvSpPr>
        <p:spPr>
          <a:xfrm>
            <a:off x="516636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Rule contradictions</a:t>
            </a:r>
            <a:endParaRPr lang="en-US" sz="1100"/>
          </a:p>
        </p:txBody>
      </p:sp>
      <p:cxnSp>
        <p:nvCxnSpPr>
          <p:cNvPr id="36" name="connector 36"/>
          <p:cNvCxnSpPr/>
          <p:nvPr/>
        </p:nvCxnSpPr>
        <p:spPr>
          <a:xfrm>
            <a:off x="717804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7" name="shape 37"/>
          <p:cNvSpPr/>
          <p:nvPr/>
        </p:nvSpPr>
        <p:spPr>
          <a:xfrm>
            <a:off x="7355840" y="3898900"/>
            <a:ext cx="2113280" cy="774700"/>
          </a:xfrm>
          <a:prstGeom prst="roundRect">
            <a:avLst/>
          </a:prstGeom>
          <a:solidFill>
            <a:srgbClr val="FFF2DF"/>
          </a:solidFill>
          <a:ln>
            <a:noFill/>
          </a:ln>
        </p:spPr>
      </p:sp>
      <p:sp>
        <p:nvSpPr>
          <p:cNvPr id="38" name="text 38"/>
          <p:cNvSpPr/>
          <p:nvPr/>
        </p:nvSpPr>
        <p:spPr>
          <a:xfrm>
            <a:off x="748284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04</a:t>
            </a:r>
            <a:endParaRPr lang="en-US" sz="1200"/>
          </a:p>
        </p:txBody>
      </p:sp>
      <p:sp>
        <p:nvSpPr>
          <p:cNvPr id="39" name="text 39"/>
          <p:cNvSpPr/>
          <p:nvPr/>
        </p:nvSpPr>
        <p:spPr>
          <a:xfrm>
            <a:off x="782574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Summarize</a:t>
            </a:r>
            <a:endParaRPr lang="en-US" sz="1250"/>
          </a:p>
        </p:txBody>
      </p:sp>
      <p:sp>
        <p:nvSpPr>
          <p:cNvPr id="40" name="text 40"/>
          <p:cNvSpPr/>
          <p:nvPr/>
        </p:nvSpPr>
        <p:spPr>
          <a:xfrm>
            <a:off x="748284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Conflicts + rates</a:t>
            </a:r>
            <a:endParaRPr lang="en-US" sz="1100"/>
          </a:p>
        </p:txBody>
      </p:sp>
      <p:cxnSp>
        <p:nvCxnSpPr>
          <p:cNvPr id="41" name="connector 41"/>
          <p:cNvCxnSpPr/>
          <p:nvPr/>
        </p:nvCxnSpPr>
        <p:spPr>
          <a:xfrm>
            <a:off x="949452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9672320" y="3898900"/>
            <a:ext cx="2113280" cy="774700"/>
          </a:xfrm>
          <a:prstGeom prst="roundRect">
            <a:avLst/>
          </a:prstGeom>
          <a:solidFill>
            <a:srgbClr val="FFF2DF"/>
          </a:solidFill>
          <a:ln>
            <a:noFill/>
          </a:ln>
        </p:spPr>
      </p:sp>
      <p:sp>
        <p:nvSpPr>
          <p:cNvPr id="43" name="text 43"/>
          <p:cNvSpPr/>
          <p:nvPr/>
        </p:nvSpPr>
        <p:spPr>
          <a:xfrm>
            <a:off x="979932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05</a:t>
            </a:r>
            <a:endParaRPr lang="en-US" sz="1200"/>
          </a:p>
        </p:txBody>
      </p:sp>
      <p:sp>
        <p:nvSpPr>
          <p:cNvPr id="44" name="text 44"/>
          <p:cNvSpPr/>
          <p:nvPr/>
        </p:nvSpPr>
        <p:spPr>
          <a:xfrm>
            <a:off x="1014222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Review</a:t>
            </a:r>
            <a:endParaRPr lang="en-US" sz="1250"/>
          </a:p>
        </p:txBody>
      </p:sp>
      <p:sp>
        <p:nvSpPr>
          <p:cNvPr id="45" name="text 45"/>
          <p:cNvSpPr/>
          <p:nvPr/>
        </p:nvSpPr>
        <p:spPr>
          <a:xfrm>
            <a:off x="979932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Owner / SME decision</a:t>
            </a:r>
            <a:endParaRPr lang="en-US" sz="1100"/>
          </a:p>
        </p:txBody>
      </p:sp>
      <p:sp>
        <p:nvSpPr>
          <p:cNvPr id="46" name="shape 46"/>
          <p:cNvSpPr/>
          <p:nvPr/>
        </p:nvSpPr>
        <p:spPr>
          <a:xfrm>
            <a:off x="406400" y="4851400"/>
            <a:ext cx="5562600" cy="1206500"/>
          </a:xfrm>
          <a:prstGeom prst="roundRect">
            <a:avLst/>
          </a:prstGeom>
          <a:solidFill>
            <a:srgbClr val="FFFFFF"/>
          </a:solidFill>
          <a:ln w="12700">
            <a:solidFill>
              <a:srgbClr val="DEDCD6"/>
            </a:solidFill>
          </a:ln>
        </p:spPr>
      </p:sp>
      <p:sp>
        <p:nvSpPr>
          <p:cNvPr id="47" name="text 47"/>
          <p:cNvSpPr/>
          <p:nvPr/>
        </p:nvSpPr>
        <p:spPr>
          <a:xfrm>
            <a:off x="5715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FINDING → ISSUE</a:t>
            </a:r>
            <a:endParaRPr lang="en-US" sz="1000"/>
          </a:p>
        </p:txBody>
      </p:sp>
      <p:sp>
        <p:nvSpPr>
          <p:cNvPr id="48" name="text 48"/>
          <p:cNvSpPr/>
          <p:nvPr/>
        </p:nvSpPr>
        <p:spPr>
          <a:xfrm>
            <a:off x="5715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Proposed gate: compare deterministic rule violations with approved</a:t>
            </a:r>
            <a:endParaRPr lang="en-US" sz="1250"/>
          </a:p>
          <a:p>
            <a:pPr algn="l">
              <a:lnSpc>
                <a:spcPts val="1425"/>
              </a:lnSpc>
              <a:spcAft>
                <a:spcPts val="0"/>
              </a:spcAft>
            </a:pPr>
            <a:r>
              <a:rPr lang="en-US" sz="1250" b="0" dirty="0">
                <a:solidFill>
                  <a:srgbClr val="181C23"/>
                </a:solidFill>
                <a:latin typeface="Funnel Sans"/>
              </a:rPr>
              <a:t>tolerance; have the label owner confirm whether each pattern is a</a:t>
            </a:r>
            <a:endParaRPr lang="en-US" sz="1250"/>
          </a:p>
          <a:p>
            <a:pPr algn="l">
              <a:lnSpc>
                <a:spcPts val="1425"/>
              </a:lnSpc>
              <a:spcAft>
                <a:spcPts val="0"/>
              </a:spcAft>
            </a:pPr>
            <a:r>
              <a:rPr lang="en-US" sz="1250" b="0" dirty="0">
                <a:solidFill>
                  <a:srgbClr val="181C23"/>
                </a:solidFill>
                <a:latin typeface="Funnel Sans"/>
              </a:rPr>
              <a:t>defect before issue promotion.</a:t>
            </a:r>
            <a:endParaRPr lang="en-US" sz="1250"/>
          </a:p>
        </p:txBody>
      </p:sp>
      <p:sp>
        <p:nvSpPr>
          <p:cNvPr id="49" name="shape 49"/>
          <p:cNvSpPr/>
          <p:nvPr/>
        </p:nvSpPr>
        <p:spPr>
          <a:xfrm>
            <a:off x="6223000" y="4851400"/>
            <a:ext cx="5562600" cy="1206500"/>
          </a:xfrm>
          <a:prstGeom prst="roundRect">
            <a:avLst/>
          </a:prstGeom>
          <a:solidFill>
            <a:srgbClr val="FFFFFF"/>
          </a:solidFill>
          <a:ln w="12700">
            <a:solidFill>
              <a:srgbClr val="DEDCD6"/>
            </a:solidFill>
          </a:ln>
        </p:spPr>
      </p:sp>
      <p:sp>
        <p:nvSpPr>
          <p:cNvPr id="50" name="text 50"/>
          <p:cNvSpPr/>
          <p:nvPr/>
        </p:nvSpPr>
        <p:spPr>
          <a:xfrm>
            <a:off x="63881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RCA → ACTION</a:t>
            </a:r>
            <a:endParaRPr lang="en-US" sz="1000"/>
          </a:p>
        </p:txBody>
      </p:sp>
      <p:sp>
        <p:nvSpPr>
          <p:cNvPr id="51" name="text 51"/>
          <p:cNvSpPr/>
          <p:nvPr/>
        </p:nvSpPr>
        <p:spPr>
          <a:xfrm>
            <a:off x="63881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Proposed: separate source labeling errors from definition or timing</a:t>
            </a:r>
            <a:endParaRPr lang="en-US" sz="1250"/>
          </a:p>
          <a:p>
            <a:pPr algn="l">
              <a:lnSpc>
                <a:spcPts val="1425"/>
              </a:lnSpc>
              <a:spcAft>
                <a:spcPts val="0"/>
              </a:spcAft>
            </a:pPr>
            <a:r>
              <a:rPr lang="en-US" sz="1250" b="0" dirty="0">
                <a:solidFill>
                  <a:srgbClr val="181C23"/>
                </a:solidFill>
                <a:latin typeface="Funnel Sans"/>
              </a:rPr>
              <a:t>ambiguity. Agree source / rule correction and a fresh assessment;</a:t>
            </a:r>
            <a:endParaRPr lang="en-US" sz="1250"/>
          </a:p>
          <a:p>
            <a:pPr algn="l">
              <a:lnSpc>
                <a:spcPts val="1425"/>
              </a:lnSpc>
              <a:spcAft>
                <a:spcPts val="0"/>
              </a:spcAft>
            </a:pPr>
            <a:r>
              <a:rPr lang="en-US" sz="1250" b="0" dirty="0">
                <a:solidFill>
                  <a:srgbClr val="181C23"/>
                </a:solidFill>
                <a:latin typeface="Funnel Sans"/>
              </a:rPr>
              <a:t>diagnostic-specific automation is not implemented.</a:t>
            </a:r>
            <a:endParaRPr lang="en-US" sz="1250"/>
          </a:p>
        </p:txBody>
      </p:sp>
      <p:sp>
        <p:nvSpPr>
          <p:cNvPr id="52" name="shape 52"/>
          <p:cNvSpPr/>
          <p:nvPr/>
        </p:nvSpPr>
        <p:spPr>
          <a:xfrm>
            <a:off x="406400" y="6172200"/>
            <a:ext cx="11379200" cy="292100"/>
          </a:xfrm>
          <a:prstGeom prst="roundRect">
            <a:avLst/>
          </a:prstGeom>
          <a:solidFill>
            <a:srgbClr val="282A27"/>
          </a:solidFill>
          <a:ln>
            <a:noFill/>
          </a:ln>
        </p:spPr>
      </p:sp>
      <p:sp>
        <p:nvSpPr>
          <p:cNvPr id="53" name="text 53"/>
          <p:cNvSpPr/>
          <p:nvPr/>
        </p:nvSpPr>
        <p:spPr>
          <a:xfrm>
            <a:off x="546100" y="6235700"/>
            <a:ext cx="11099800" cy="203200"/>
          </a:xfrm>
          <a:prstGeom prst="rect">
            <a:avLst/>
          </a:prstGeom>
          <a:noFill/>
          <a:ln>
            <a:noFill/>
          </a:ln>
        </p:spPr>
        <p:txBody>
          <a:bodyPr wrap="none" lIns="0" tIns="0" rIns="0" bIns="0" anchor="t">
            <a:noAutofit/>
          </a:bodyPr>
          <a:lstStyle/>
          <a:p>
            <a:pPr algn="l">
              <a:lnSpc>
                <a:spcPts val="1197"/>
              </a:lnSpc>
              <a:spcAft>
                <a:spcPts val="0"/>
              </a:spcAft>
            </a:pPr>
            <a:r>
              <a:rPr lang="en-US" sz="1050" b="0" dirty="0">
                <a:solidFill>
                  <a:srgbClr val="FFFFFF"/>
                </a:solidFill>
                <a:latin typeface="Funnel Sans"/>
              </a:rPr>
              <a:t>Registered as workflow_pending; planned method only. The numbered diagnostic has no current executable workflow.</a:t>
            </a:r>
            <a:endParaRPr lang="en-US" sz="1050"/>
          </a:p>
        </p:txBody>
      </p:sp>
      <p:cxnSp>
        <p:nvCxnSpPr>
          <p:cNvPr id="54" name="connector 54"/>
          <p:cNvCxnSpPr/>
          <p:nvPr/>
        </p:nvCxnSpPr>
        <p:spPr>
          <a:xfrm>
            <a:off x="406400" y="6553200"/>
            <a:ext cx="113792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55" name="text 55"/>
          <p:cNvSpPr/>
          <p:nvPr/>
        </p:nvSpPr>
        <p:spPr>
          <a:xfrm>
            <a:off x="406400" y="6629400"/>
            <a:ext cx="5715000" cy="152400"/>
          </a:xfrm>
          <a:prstGeom prst="rect">
            <a:avLst/>
          </a:prstGeom>
          <a:noFill/>
          <a:ln>
            <a:noFill/>
          </a:ln>
        </p:spPr>
        <p:txBody>
          <a:bodyPr wrap="none" lIns="0" tIns="0" rIns="0" bIns="0" anchor="t">
            <a:noAutofit/>
          </a:bodyPr>
          <a:lstStyle/>
          <a:p>
            <a:pPr algn="l">
              <a:lnSpc>
                <a:spcPts val="969"/>
              </a:lnSpc>
              <a:spcAft>
                <a:spcPts val="0"/>
              </a:spcAft>
            </a:pPr>
            <a:r>
              <a:rPr lang="en-US" sz="850" b="0" dirty="0">
                <a:solidFill>
                  <a:srgbClr val="6D706B"/>
                </a:solidFill>
                <a:latin typeface="Funnel Sans"/>
              </a:rPr>
              <a:t>DATA WORKBENCH / Diagnostic quick reference</a:t>
            </a:r>
            <a:endParaRPr lang="en-US" sz="850"/>
          </a:p>
        </p:txBody>
      </p:sp>
      <p:sp>
        <p:nvSpPr>
          <p:cNvPr id="56" name="text 56"/>
          <p:cNvSpPr/>
          <p:nvPr/>
        </p:nvSpPr>
        <p:spPr>
          <a:xfrm>
            <a:off x="6223000" y="6629400"/>
            <a:ext cx="4254500" cy="152400"/>
          </a:xfrm>
          <a:prstGeom prst="rect">
            <a:avLst/>
          </a:prstGeom>
          <a:noFill/>
          <a:ln>
            <a:noFill/>
          </a:ln>
        </p:spPr>
        <p:txBody>
          <a:bodyPr wrap="none" lIns="0" tIns="0" rIns="0" bIns="0" anchor="t">
            <a:noAutofit/>
          </a:bodyPr>
          <a:lstStyle/>
          <a:p>
            <a:pPr algn="r">
              <a:lnSpc>
                <a:spcPts val="969"/>
              </a:lnSpc>
              <a:spcAft>
                <a:spcPts val="0"/>
              </a:spcAft>
            </a:pPr>
            <a:r>
              <a:rPr lang="en-US" sz="850" b="0" dirty="0">
                <a:solidFill>
                  <a:srgbClr val="6D706B"/>
                </a:solidFill>
                <a:latin typeface="Funnel Sans"/>
              </a:rPr>
              <a:t>Full deck: slide 60</a:t>
            </a:r>
            <a:endParaRPr lang="en-US" sz="850"/>
          </a:p>
        </p:txBody>
      </p:sp>
      <p:sp>
        <p:nvSpPr>
          <p:cNvPr id="57" name="text 57"/>
          <p:cNvSpPr/>
          <p:nvPr/>
        </p:nvSpPr>
        <p:spPr>
          <a:xfrm>
            <a:off x="10795000" y="6616700"/>
            <a:ext cx="990600" cy="177800"/>
          </a:xfrm>
          <a:prstGeom prst="rect">
            <a:avLst/>
          </a:prstGeom>
          <a:noFill/>
          <a:ln>
            <a:noFill/>
          </a:ln>
        </p:spPr>
        <p:txBody>
          <a:bodyPr wrap="none" lIns="0" tIns="0" rIns="0" bIns="0" anchor="t">
            <a:noAutofit/>
          </a:bodyPr>
          <a:lstStyle/>
          <a:p>
            <a:pPr algn="r">
              <a:lnSpc>
                <a:spcPts val="1083"/>
              </a:lnSpc>
              <a:spcAft>
                <a:spcPts val="0"/>
              </a:spcAft>
            </a:pPr>
            <a:r>
              <a:rPr lang="en-US" sz="950" b="0" dirty="0">
                <a:solidFill>
                  <a:srgbClr val="6D706B"/>
                </a:solidFill>
                <a:latin typeface="Funnel Sans"/>
              </a:rPr>
              <a:t>09 / 22</a:t>
            </a:r>
            <a:endParaRPr lang="en-US" sz="9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shape 3"/>
          <p:cNvSpPr/>
          <p:nvPr/>
        </p:nvSpPr>
        <p:spPr>
          <a:xfrm>
            <a:off x="406400" y="228600"/>
            <a:ext cx="1181100" cy="292100"/>
          </a:xfrm>
          <a:prstGeom prst="roundRect">
            <a:avLst/>
          </a:prstGeom>
          <a:solidFill>
            <a:srgbClr val="FFF2DF"/>
          </a:solidFill>
          <a:ln>
            <a:noFill/>
          </a:ln>
        </p:spPr>
      </p:sp>
      <p:sp>
        <p:nvSpPr>
          <p:cNvPr id="4" name="text 4"/>
          <p:cNvSpPr/>
          <p:nvPr/>
        </p:nvSpPr>
        <p:spPr>
          <a:xfrm>
            <a:off x="520700" y="292100"/>
            <a:ext cx="952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T5-D17</a:t>
            </a:r>
            <a:endParaRPr lang="en-US" sz="1000"/>
          </a:p>
        </p:txBody>
      </p:sp>
      <p:sp>
        <p:nvSpPr>
          <p:cNvPr id="5" name="text 5"/>
          <p:cNvSpPr/>
          <p:nvPr/>
        </p:nvSpPr>
        <p:spPr>
          <a:xfrm>
            <a:off x="1739900" y="304800"/>
            <a:ext cx="3022600" cy="190500"/>
          </a:xfrm>
          <a:prstGeom prst="rect">
            <a:avLst/>
          </a:prstGeom>
          <a:noFill/>
          <a:ln>
            <a:noFill/>
          </a:ln>
        </p:spPr>
        <p:txBody>
          <a:bodyPr wrap="none" lIns="0" tIns="0" rIns="0" bIns="0" anchor="t">
            <a:noAutofit/>
          </a:bodyPr>
          <a:lstStyle/>
          <a:p>
            <a:pPr algn="l">
              <a:lnSpc>
                <a:spcPts val="1083"/>
              </a:lnSpc>
              <a:spcAft>
                <a:spcPts val="0"/>
              </a:spcAft>
            </a:pPr>
            <a:r>
              <a:rPr lang="en-US" sz="950" b="1" dirty="0">
                <a:solidFill>
                  <a:srgbClr val="6D706B"/>
                </a:solidFill>
                <a:latin typeface="Funnel Sans"/>
              </a:rPr>
              <a:t>OUTCOME MATURITY</a:t>
            </a:r>
            <a:endParaRPr lang="en-US" sz="950"/>
          </a:p>
        </p:txBody>
      </p:sp>
      <p:sp>
        <p:nvSpPr>
          <p:cNvPr id="6" name="shape 6"/>
          <p:cNvSpPr/>
          <p:nvPr/>
        </p:nvSpPr>
        <p:spPr>
          <a:xfrm>
            <a:off x="4864100" y="228600"/>
            <a:ext cx="3797300" cy="292100"/>
          </a:xfrm>
          <a:prstGeom prst="roundRect">
            <a:avLst/>
          </a:prstGeom>
          <a:solidFill>
            <a:srgbClr val="EFEEE9"/>
          </a:solidFill>
          <a:ln>
            <a:noFill/>
          </a:ln>
        </p:spPr>
      </p:sp>
      <p:sp>
        <p:nvSpPr>
          <p:cNvPr id="7" name="text 7"/>
          <p:cNvSpPr/>
          <p:nvPr/>
        </p:nvSpPr>
        <p:spPr>
          <a:xfrm>
            <a:off x="4978400" y="292100"/>
            <a:ext cx="35687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181C23"/>
                </a:solidFill>
                <a:latin typeface="Funnel Sans"/>
              </a:rPr>
              <a:t>Proposed resolved / total</a:t>
            </a:r>
            <a:endParaRPr lang="en-US" sz="1000"/>
          </a:p>
        </p:txBody>
      </p:sp>
      <p:sp>
        <p:nvSpPr>
          <p:cNvPr id="8" name="shape 8"/>
          <p:cNvSpPr/>
          <p:nvPr/>
        </p:nvSpPr>
        <p:spPr>
          <a:xfrm>
            <a:off x="8826500" y="228600"/>
            <a:ext cx="2959100" cy="292100"/>
          </a:xfrm>
          <a:prstGeom prst="roundRect">
            <a:avLst/>
          </a:prstGeom>
          <a:solidFill>
            <a:srgbClr val="FFF2DF"/>
          </a:solidFill>
          <a:ln>
            <a:noFill/>
          </a:ln>
        </p:spPr>
      </p:sp>
      <p:sp>
        <p:nvSpPr>
          <p:cNvPr id="9" name="text 9"/>
          <p:cNvSpPr/>
          <p:nvPr/>
        </p:nvSpPr>
        <p:spPr>
          <a:xfrm>
            <a:off x="8940800" y="292100"/>
            <a:ext cx="2730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98641E"/>
                </a:solidFill>
                <a:latin typeface="Funnel Sans"/>
              </a:rPr>
              <a:t>Planned · registered</a:t>
            </a:r>
            <a:endParaRPr lang="en-US" sz="1000"/>
          </a:p>
        </p:txBody>
      </p:sp>
      <p:sp>
        <p:nvSpPr>
          <p:cNvPr id="10" name="text 10"/>
          <p:cNvSpPr/>
          <p:nvPr/>
        </p:nvSpPr>
        <p:spPr>
          <a:xfrm>
            <a:off x="406400" y="698500"/>
            <a:ext cx="11379200" cy="508000"/>
          </a:xfrm>
          <a:prstGeom prst="rect">
            <a:avLst/>
          </a:prstGeom>
          <a:noFill/>
          <a:ln>
            <a:noFill/>
          </a:ln>
        </p:spPr>
        <p:txBody>
          <a:bodyPr wrap="none" lIns="0" tIns="0" rIns="0" bIns="0" anchor="t">
            <a:noAutofit/>
          </a:bodyPr>
          <a:lstStyle/>
          <a:p>
            <a:pPr algn="l">
              <a:lnSpc>
                <a:spcPts val="3192"/>
              </a:lnSpc>
              <a:spcAft>
                <a:spcPts val="0"/>
              </a:spcAft>
            </a:pPr>
            <a:r>
              <a:rPr lang="en-US" sz="2800" b="1" dirty="0">
                <a:solidFill>
                  <a:srgbClr val="181C23"/>
                </a:solidFill>
                <a:latin typeface="Funnel Sans"/>
              </a:rPr>
              <a:t>Resolution / maturity rate by vintage</a:t>
            </a:r>
            <a:endParaRPr lang="en-US" sz="2800"/>
          </a:p>
        </p:txBody>
      </p:sp>
      <p:sp>
        <p:nvSpPr>
          <p:cNvPr id="11" name="text 11"/>
          <p:cNvSpPr/>
          <p:nvPr/>
        </p:nvSpPr>
        <p:spPr>
          <a:xfrm>
            <a:off x="419100" y="1320800"/>
            <a:ext cx="11353800" cy="4445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Show whether each vintage has enough resolved outcomes for the intended assessment.</a:t>
            </a:r>
            <a:endParaRPr lang="en-US" sz="1500"/>
          </a:p>
        </p:txBody>
      </p:sp>
      <p:sp>
        <p:nvSpPr>
          <p:cNvPr id="12" name="shape 12"/>
          <p:cNvSpPr/>
          <p:nvPr/>
        </p:nvSpPr>
        <p:spPr>
          <a:xfrm>
            <a:off x="406400" y="1905000"/>
            <a:ext cx="3632200" cy="1549400"/>
          </a:xfrm>
          <a:prstGeom prst="roundRect">
            <a:avLst/>
          </a:prstGeom>
          <a:solidFill>
            <a:srgbClr val="FFFFFF"/>
          </a:solidFill>
          <a:ln w="12700">
            <a:solidFill>
              <a:srgbClr val="DEDCD6"/>
            </a:solidFill>
          </a:ln>
        </p:spPr>
      </p:sp>
      <p:sp>
        <p:nvSpPr>
          <p:cNvPr id="13" name="text 13"/>
          <p:cNvSpPr/>
          <p:nvPr/>
        </p:nvSpPr>
        <p:spPr>
          <a:xfrm>
            <a:off x="571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USER &amp; TRIGGER</a:t>
            </a:r>
            <a:endParaRPr lang="en-US" sz="1000"/>
          </a:p>
        </p:txBody>
      </p:sp>
      <p:sp>
        <p:nvSpPr>
          <p:cNvPr id="14" name="text 14"/>
          <p:cNvSpPr/>
          <p:nvPr/>
        </p:nvSpPr>
        <p:spPr>
          <a:xfrm>
            <a:off x="571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Outcome / model owner + SME</a:t>
            </a:r>
            <a:endParaRPr lang="en-US" sz="1325"/>
          </a:p>
          <a:p>
            <a:pPr algn="l">
              <a:lnSpc>
                <a:spcPts val="1510"/>
              </a:lnSpc>
              <a:spcAft>
                <a:spcPts val="0"/>
              </a:spcAft>
            </a:pPr>
            <a:r>
              <a:rPr lang="en-US" sz="1325" b="0" dirty="0">
                <a:solidFill>
                  <a:srgbClr val="181C23"/>
                </a:solidFill>
                <a:latin typeface="Funnel Sans"/>
              </a:rPr>
              <a:t>Intended when recent cohorts may still</a:t>
            </a:r>
            <a:endParaRPr lang="en-US" sz="1325"/>
          </a:p>
          <a:p>
            <a:pPr algn="l">
              <a:lnSpc>
                <a:spcPts val="1510"/>
              </a:lnSpc>
              <a:spcAft>
                <a:spcPts val="0"/>
              </a:spcAft>
            </a:pPr>
            <a:r>
              <a:rPr lang="en-US" sz="1325" b="0" dirty="0">
                <a:solidFill>
                  <a:srgbClr val="181C23"/>
                </a:solidFill>
                <a:latin typeface="Funnel Sans"/>
              </a:rPr>
              <a:t>contain many unresolved cases.</a:t>
            </a:r>
            <a:endParaRPr lang="en-US" sz="1325"/>
          </a:p>
        </p:txBody>
      </p:sp>
      <p:sp>
        <p:nvSpPr>
          <p:cNvPr id="15" name="shape 15"/>
          <p:cNvSpPr/>
          <p:nvPr/>
        </p:nvSpPr>
        <p:spPr>
          <a:xfrm>
            <a:off x="4279900" y="1905000"/>
            <a:ext cx="3632200" cy="1549400"/>
          </a:xfrm>
          <a:prstGeom prst="roundRect">
            <a:avLst/>
          </a:prstGeom>
          <a:solidFill>
            <a:srgbClr val="FFFFFF"/>
          </a:solidFill>
          <a:ln w="12700">
            <a:solidFill>
              <a:srgbClr val="DEDCD6"/>
            </a:solidFill>
          </a:ln>
        </p:spPr>
      </p:sp>
      <p:sp>
        <p:nvSpPr>
          <p:cNvPr id="16" name="text 16"/>
          <p:cNvSpPr/>
          <p:nvPr/>
        </p:nvSpPr>
        <p:spPr>
          <a:xfrm>
            <a:off x="44450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INPUTS &amp; READINESS</a:t>
            </a:r>
            <a:endParaRPr lang="en-US" sz="1000"/>
          </a:p>
        </p:txBody>
      </p:sp>
      <p:sp>
        <p:nvSpPr>
          <p:cNvPr id="17" name="text 17"/>
          <p:cNvSpPr/>
          <p:nvPr/>
        </p:nvSpPr>
        <p:spPr>
          <a:xfrm>
            <a:off x="44450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Proposed: vintage, resolved / open</a:t>
            </a:r>
            <a:endParaRPr lang="en-US" sz="1325"/>
          </a:p>
          <a:p>
            <a:pPr algn="l">
              <a:lnSpc>
                <a:spcPts val="1510"/>
              </a:lnSpc>
              <a:spcAft>
                <a:spcPts val="0"/>
              </a:spcAft>
            </a:pPr>
            <a:r>
              <a:rPr lang="en-US" sz="1325" b="0" dirty="0">
                <a:solidFill>
                  <a:srgbClr val="181C23"/>
                </a:solidFill>
                <a:latin typeface="Funnel Sans"/>
              </a:rPr>
              <a:t>status, observation cut-off, relevant</a:t>
            </a:r>
            <a:endParaRPr lang="en-US" sz="1325"/>
          </a:p>
          <a:p>
            <a:pPr algn="l">
              <a:lnSpc>
                <a:spcPts val="1510"/>
              </a:lnSpc>
              <a:spcAft>
                <a:spcPts val="0"/>
              </a:spcAft>
            </a:pPr>
            <a:r>
              <a:rPr lang="en-US" sz="1325" b="0" dirty="0">
                <a:solidFill>
                  <a:srgbClr val="181C23"/>
                </a:solidFill>
                <a:latin typeface="Funnel Sans"/>
              </a:rPr>
              <a:t>horizon and calibrated maturity</a:t>
            </a:r>
            <a:endParaRPr lang="en-US" sz="1325"/>
          </a:p>
          <a:p>
            <a:pPr algn="l">
              <a:lnSpc>
                <a:spcPts val="1510"/>
              </a:lnSpc>
              <a:spcAft>
                <a:spcPts val="0"/>
              </a:spcAft>
            </a:pPr>
            <a:r>
              <a:rPr lang="en-US" sz="1325" b="0" dirty="0">
                <a:solidFill>
                  <a:srgbClr val="181C23"/>
                </a:solidFill>
                <a:latin typeface="Funnel Sans"/>
              </a:rPr>
              <a:t>threshold.</a:t>
            </a:r>
            <a:endParaRPr lang="en-US" sz="1325"/>
          </a:p>
        </p:txBody>
      </p:sp>
      <p:sp>
        <p:nvSpPr>
          <p:cNvPr id="18" name="shape 18"/>
          <p:cNvSpPr/>
          <p:nvPr/>
        </p:nvSpPr>
        <p:spPr>
          <a:xfrm>
            <a:off x="8153400" y="1905000"/>
            <a:ext cx="3632200" cy="1549400"/>
          </a:xfrm>
          <a:prstGeom prst="roundRect">
            <a:avLst/>
          </a:prstGeom>
          <a:solidFill>
            <a:srgbClr val="FFF2DF"/>
          </a:solidFill>
          <a:ln w="12700">
            <a:solidFill>
              <a:srgbClr val="DEDCD6"/>
            </a:solidFill>
          </a:ln>
        </p:spPr>
      </p:sp>
      <p:sp>
        <p:nvSpPr>
          <p:cNvPr id="19" name="text 19"/>
          <p:cNvSpPr/>
          <p:nvPr/>
        </p:nvSpPr>
        <p:spPr>
          <a:xfrm>
            <a:off x="8318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OUTPUTS &amp; EVIDENCE</a:t>
            </a:r>
            <a:endParaRPr lang="en-US" sz="1000"/>
          </a:p>
        </p:txBody>
      </p:sp>
      <p:sp>
        <p:nvSpPr>
          <p:cNvPr id="20" name="text 20"/>
          <p:cNvSpPr/>
          <p:nvPr/>
        </p:nvSpPr>
        <p:spPr>
          <a:xfrm>
            <a:off x="8318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Proposed: resolved / total rate by vintage,</a:t>
            </a:r>
            <a:endParaRPr lang="en-US" sz="1325"/>
          </a:p>
          <a:p>
            <a:pPr algn="l">
              <a:lnSpc>
                <a:spcPts val="1510"/>
              </a:lnSpc>
              <a:spcAft>
                <a:spcPts val="0"/>
              </a:spcAft>
            </a:pPr>
            <a:r>
              <a:rPr lang="en-US" sz="1325" b="0" dirty="0">
                <a:solidFill>
                  <a:srgbClr val="181C23"/>
                </a:solidFill>
                <a:latin typeface="Funnel Sans"/>
              </a:rPr>
              <a:t>denominators and below-threshold</a:t>
            </a:r>
            <a:endParaRPr lang="en-US" sz="1325"/>
          </a:p>
          <a:p>
            <a:pPr algn="l">
              <a:lnSpc>
                <a:spcPts val="1510"/>
              </a:lnSpc>
              <a:spcAft>
                <a:spcPts val="0"/>
              </a:spcAft>
            </a:pPr>
            <a:r>
              <a:rPr lang="en-US" sz="1325" b="0" dirty="0">
                <a:solidFill>
                  <a:srgbClr val="181C23"/>
                </a:solidFill>
                <a:latin typeface="Funnel Sans"/>
              </a:rPr>
              <a:t>cohorts. No current executor or artifact</a:t>
            </a:r>
            <a:endParaRPr lang="en-US" sz="1325"/>
          </a:p>
          <a:p>
            <a:pPr algn="l">
              <a:lnSpc>
                <a:spcPts val="1510"/>
              </a:lnSpc>
              <a:spcAft>
                <a:spcPts val="0"/>
              </a:spcAft>
            </a:pPr>
            <a:r>
              <a:rPr lang="en-US" sz="1325" b="0" dirty="0">
                <a:solidFill>
                  <a:srgbClr val="181C23"/>
                </a:solidFill>
                <a:latin typeface="Funnel Sans"/>
              </a:rPr>
              <a:t>contract.</a:t>
            </a:r>
            <a:endParaRPr lang="en-US" sz="1325"/>
          </a:p>
        </p:txBody>
      </p:sp>
      <p:sp>
        <p:nvSpPr>
          <p:cNvPr id="21" name="text 21"/>
          <p:cNvSpPr/>
          <p:nvPr/>
        </p:nvSpPr>
        <p:spPr>
          <a:xfrm>
            <a:off x="406400" y="3606800"/>
            <a:ext cx="7747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PROCESSING FLOW</a:t>
            </a:r>
            <a:endParaRPr lang="en-US" sz="1000"/>
          </a:p>
        </p:txBody>
      </p:sp>
      <p:sp>
        <p:nvSpPr>
          <p:cNvPr id="22" name="shape 22"/>
          <p:cNvSpPr/>
          <p:nvPr/>
        </p:nvSpPr>
        <p:spPr>
          <a:xfrm>
            <a:off x="406400" y="3898900"/>
            <a:ext cx="2113280" cy="774700"/>
          </a:xfrm>
          <a:prstGeom prst="roundRect">
            <a:avLst/>
          </a:prstGeom>
          <a:solidFill>
            <a:srgbClr val="FFF2DF"/>
          </a:solidFill>
          <a:ln>
            <a:noFill/>
          </a:ln>
        </p:spPr>
      </p:sp>
      <p:sp>
        <p:nvSpPr>
          <p:cNvPr id="23" name="text 23"/>
          <p:cNvSpPr/>
          <p:nvPr/>
        </p:nvSpPr>
        <p:spPr>
          <a:xfrm>
            <a:off x="53340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01</a:t>
            </a:r>
            <a:endParaRPr lang="en-US" sz="1200"/>
          </a:p>
        </p:txBody>
      </p:sp>
      <p:sp>
        <p:nvSpPr>
          <p:cNvPr id="24" name="text 24"/>
          <p:cNvSpPr/>
          <p:nvPr/>
        </p:nvSpPr>
        <p:spPr>
          <a:xfrm>
            <a:off x="87630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Define</a:t>
            </a:r>
            <a:endParaRPr lang="en-US" sz="1250"/>
          </a:p>
        </p:txBody>
      </p:sp>
      <p:sp>
        <p:nvSpPr>
          <p:cNvPr id="25" name="text 25"/>
          <p:cNvSpPr/>
          <p:nvPr/>
        </p:nvSpPr>
        <p:spPr>
          <a:xfrm>
            <a:off x="53340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Vintages + cut-off</a:t>
            </a:r>
            <a:endParaRPr lang="en-US" sz="1100"/>
          </a:p>
        </p:txBody>
      </p:sp>
      <p:cxnSp>
        <p:nvCxnSpPr>
          <p:cNvPr id="26" name="connector 26"/>
          <p:cNvCxnSpPr/>
          <p:nvPr/>
        </p:nvCxnSpPr>
        <p:spPr>
          <a:xfrm>
            <a:off x="254508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2722880" y="3898900"/>
            <a:ext cx="2113280" cy="774700"/>
          </a:xfrm>
          <a:prstGeom prst="roundRect">
            <a:avLst/>
          </a:prstGeom>
          <a:solidFill>
            <a:srgbClr val="FFF2DF"/>
          </a:solidFill>
          <a:ln>
            <a:noFill/>
          </a:ln>
        </p:spPr>
      </p:sp>
      <p:sp>
        <p:nvSpPr>
          <p:cNvPr id="28" name="text 28"/>
          <p:cNvSpPr/>
          <p:nvPr/>
        </p:nvSpPr>
        <p:spPr>
          <a:xfrm>
            <a:off x="284988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02</a:t>
            </a:r>
            <a:endParaRPr lang="en-US" sz="1200"/>
          </a:p>
        </p:txBody>
      </p:sp>
      <p:sp>
        <p:nvSpPr>
          <p:cNvPr id="29" name="text 29"/>
          <p:cNvSpPr/>
          <p:nvPr/>
        </p:nvSpPr>
        <p:spPr>
          <a:xfrm>
            <a:off x="319278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Classify</a:t>
            </a:r>
            <a:endParaRPr lang="en-US" sz="1250"/>
          </a:p>
        </p:txBody>
      </p:sp>
      <p:sp>
        <p:nvSpPr>
          <p:cNvPr id="30" name="text 30"/>
          <p:cNvSpPr/>
          <p:nvPr/>
        </p:nvSpPr>
        <p:spPr>
          <a:xfrm>
            <a:off x="284988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Resolved vs open</a:t>
            </a:r>
            <a:endParaRPr lang="en-US" sz="1100"/>
          </a:p>
        </p:txBody>
      </p:sp>
      <p:cxnSp>
        <p:nvCxnSpPr>
          <p:cNvPr id="31" name="connector 31"/>
          <p:cNvCxnSpPr/>
          <p:nvPr/>
        </p:nvCxnSpPr>
        <p:spPr>
          <a:xfrm>
            <a:off x="486156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2" name="shape 32"/>
          <p:cNvSpPr/>
          <p:nvPr/>
        </p:nvSpPr>
        <p:spPr>
          <a:xfrm>
            <a:off x="5039360" y="3898900"/>
            <a:ext cx="2113280" cy="774700"/>
          </a:xfrm>
          <a:prstGeom prst="roundRect">
            <a:avLst/>
          </a:prstGeom>
          <a:solidFill>
            <a:srgbClr val="FFF2DF"/>
          </a:solidFill>
          <a:ln>
            <a:noFill/>
          </a:ln>
        </p:spPr>
      </p:sp>
      <p:sp>
        <p:nvSpPr>
          <p:cNvPr id="33" name="text 33"/>
          <p:cNvSpPr/>
          <p:nvPr/>
        </p:nvSpPr>
        <p:spPr>
          <a:xfrm>
            <a:off x="516636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03</a:t>
            </a:r>
            <a:endParaRPr lang="en-US" sz="1200"/>
          </a:p>
        </p:txBody>
      </p:sp>
      <p:sp>
        <p:nvSpPr>
          <p:cNvPr id="34" name="text 34"/>
          <p:cNvSpPr/>
          <p:nvPr/>
        </p:nvSpPr>
        <p:spPr>
          <a:xfrm>
            <a:off x="550926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Measure</a:t>
            </a:r>
            <a:endParaRPr lang="en-US" sz="1250"/>
          </a:p>
        </p:txBody>
      </p:sp>
      <p:sp>
        <p:nvSpPr>
          <p:cNvPr id="35" name="text 35"/>
          <p:cNvSpPr/>
          <p:nvPr/>
        </p:nvSpPr>
        <p:spPr>
          <a:xfrm>
            <a:off x="516636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Resolved / total</a:t>
            </a:r>
            <a:endParaRPr lang="en-US" sz="1100"/>
          </a:p>
        </p:txBody>
      </p:sp>
      <p:cxnSp>
        <p:nvCxnSpPr>
          <p:cNvPr id="36" name="connector 36"/>
          <p:cNvCxnSpPr/>
          <p:nvPr/>
        </p:nvCxnSpPr>
        <p:spPr>
          <a:xfrm>
            <a:off x="717804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7" name="shape 37"/>
          <p:cNvSpPr/>
          <p:nvPr/>
        </p:nvSpPr>
        <p:spPr>
          <a:xfrm>
            <a:off x="7355840" y="3898900"/>
            <a:ext cx="2113280" cy="774700"/>
          </a:xfrm>
          <a:prstGeom prst="roundRect">
            <a:avLst/>
          </a:prstGeom>
          <a:solidFill>
            <a:srgbClr val="FFF2DF"/>
          </a:solidFill>
          <a:ln>
            <a:noFill/>
          </a:ln>
        </p:spPr>
      </p:sp>
      <p:sp>
        <p:nvSpPr>
          <p:cNvPr id="38" name="text 38"/>
          <p:cNvSpPr/>
          <p:nvPr/>
        </p:nvSpPr>
        <p:spPr>
          <a:xfrm>
            <a:off x="748284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04</a:t>
            </a:r>
            <a:endParaRPr lang="en-US" sz="1200"/>
          </a:p>
        </p:txBody>
      </p:sp>
      <p:sp>
        <p:nvSpPr>
          <p:cNvPr id="39" name="text 39"/>
          <p:cNvSpPr/>
          <p:nvPr/>
        </p:nvSpPr>
        <p:spPr>
          <a:xfrm>
            <a:off x="782574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Compare</a:t>
            </a:r>
            <a:endParaRPr lang="en-US" sz="1250"/>
          </a:p>
        </p:txBody>
      </p:sp>
      <p:sp>
        <p:nvSpPr>
          <p:cNvPr id="40" name="text 40"/>
          <p:cNvSpPr/>
          <p:nvPr/>
        </p:nvSpPr>
        <p:spPr>
          <a:xfrm>
            <a:off x="748284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Calibrated threshold</a:t>
            </a:r>
            <a:endParaRPr lang="en-US" sz="1100"/>
          </a:p>
        </p:txBody>
      </p:sp>
      <p:cxnSp>
        <p:nvCxnSpPr>
          <p:cNvPr id="41" name="connector 41"/>
          <p:cNvCxnSpPr/>
          <p:nvPr/>
        </p:nvCxnSpPr>
        <p:spPr>
          <a:xfrm>
            <a:off x="949452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9672320" y="3898900"/>
            <a:ext cx="2113280" cy="774700"/>
          </a:xfrm>
          <a:prstGeom prst="roundRect">
            <a:avLst/>
          </a:prstGeom>
          <a:solidFill>
            <a:srgbClr val="FFF2DF"/>
          </a:solidFill>
          <a:ln>
            <a:noFill/>
          </a:ln>
        </p:spPr>
      </p:sp>
      <p:sp>
        <p:nvSpPr>
          <p:cNvPr id="43" name="text 43"/>
          <p:cNvSpPr/>
          <p:nvPr/>
        </p:nvSpPr>
        <p:spPr>
          <a:xfrm>
            <a:off x="979932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05</a:t>
            </a:r>
            <a:endParaRPr lang="en-US" sz="1200"/>
          </a:p>
        </p:txBody>
      </p:sp>
      <p:sp>
        <p:nvSpPr>
          <p:cNvPr id="44" name="text 44"/>
          <p:cNvSpPr/>
          <p:nvPr/>
        </p:nvSpPr>
        <p:spPr>
          <a:xfrm>
            <a:off x="1014222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Review</a:t>
            </a:r>
            <a:endParaRPr lang="en-US" sz="1250"/>
          </a:p>
        </p:txBody>
      </p:sp>
      <p:sp>
        <p:nvSpPr>
          <p:cNvPr id="45" name="text 45"/>
          <p:cNvSpPr/>
          <p:nvPr/>
        </p:nvSpPr>
        <p:spPr>
          <a:xfrm>
            <a:off x="979932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Cohort suitability</a:t>
            </a:r>
            <a:endParaRPr lang="en-US" sz="1100"/>
          </a:p>
        </p:txBody>
      </p:sp>
      <p:sp>
        <p:nvSpPr>
          <p:cNvPr id="46" name="shape 46"/>
          <p:cNvSpPr/>
          <p:nvPr/>
        </p:nvSpPr>
        <p:spPr>
          <a:xfrm>
            <a:off x="406400" y="4851400"/>
            <a:ext cx="5562600" cy="1206500"/>
          </a:xfrm>
          <a:prstGeom prst="roundRect">
            <a:avLst/>
          </a:prstGeom>
          <a:solidFill>
            <a:srgbClr val="FFFFFF"/>
          </a:solidFill>
          <a:ln w="12700">
            <a:solidFill>
              <a:srgbClr val="DEDCD6"/>
            </a:solidFill>
          </a:ln>
        </p:spPr>
      </p:sp>
      <p:sp>
        <p:nvSpPr>
          <p:cNvPr id="47" name="text 47"/>
          <p:cNvSpPr/>
          <p:nvPr/>
        </p:nvSpPr>
        <p:spPr>
          <a:xfrm>
            <a:off x="5715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FINDING → ISSUE</a:t>
            </a:r>
            <a:endParaRPr lang="en-US" sz="1000"/>
          </a:p>
        </p:txBody>
      </p:sp>
      <p:sp>
        <p:nvSpPr>
          <p:cNvPr id="48" name="text 48"/>
          <p:cNvSpPr/>
          <p:nvPr/>
        </p:nvSpPr>
        <p:spPr>
          <a:xfrm>
            <a:off x="5715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Proposed gate: flag low-resolution cohorts for contextual review.</a:t>
            </a:r>
            <a:endParaRPr lang="en-US" sz="1250"/>
          </a:p>
          <a:p>
            <a:pPr algn="l">
              <a:lnSpc>
                <a:spcPts val="1425"/>
              </a:lnSpc>
              <a:spcAft>
                <a:spcPts val="0"/>
              </a:spcAft>
            </a:pPr>
            <a:r>
              <a:rPr lang="en-US" sz="1250" b="0" dirty="0">
                <a:solidFill>
                  <a:srgbClr val="181C23"/>
                </a:solidFill>
                <a:latin typeface="Funnel Sans"/>
              </a:rPr>
              <a:t>Calibrate thresholds to use case and horizon; an immature vintage is</a:t>
            </a:r>
            <a:endParaRPr lang="en-US" sz="1250"/>
          </a:p>
          <a:p>
            <a:pPr algn="l">
              <a:lnSpc>
                <a:spcPts val="1425"/>
              </a:lnSpc>
              <a:spcAft>
                <a:spcPts val="0"/>
              </a:spcAft>
            </a:pPr>
            <a:r>
              <a:rPr lang="en-US" sz="1250" b="0" dirty="0">
                <a:solidFill>
                  <a:srgbClr val="181C23"/>
                </a:solidFill>
                <a:latin typeface="Funnel Sans"/>
              </a:rPr>
              <a:t>not automatically a data defect.</a:t>
            </a:r>
            <a:endParaRPr lang="en-US" sz="1250"/>
          </a:p>
        </p:txBody>
      </p:sp>
      <p:sp>
        <p:nvSpPr>
          <p:cNvPr id="49" name="shape 49"/>
          <p:cNvSpPr/>
          <p:nvPr/>
        </p:nvSpPr>
        <p:spPr>
          <a:xfrm>
            <a:off x="6223000" y="4851400"/>
            <a:ext cx="5562600" cy="1206500"/>
          </a:xfrm>
          <a:prstGeom prst="roundRect">
            <a:avLst/>
          </a:prstGeom>
          <a:solidFill>
            <a:srgbClr val="FFFFFF"/>
          </a:solidFill>
          <a:ln w="12700">
            <a:solidFill>
              <a:srgbClr val="DEDCD6"/>
            </a:solidFill>
          </a:ln>
        </p:spPr>
      </p:sp>
      <p:sp>
        <p:nvSpPr>
          <p:cNvPr id="50" name="text 50"/>
          <p:cNvSpPr/>
          <p:nvPr/>
        </p:nvSpPr>
        <p:spPr>
          <a:xfrm>
            <a:off x="63881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RCA → ACTION</a:t>
            </a:r>
            <a:endParaRPr lang="en-US" sz="1000"/>
          </a:p>
        </p:txBody>
      </p:sp>
      <p:sp>
        <p:nvSpPr>
          <p:cNvPr id="51" name="text 51"/>
          <p:cNvSpPr/>
          <p:nvPr/>
        </p:nvSpPr>
        <p:spPr>
          <a:xfrm>
            <a:off x="63881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Proposed: investigate observation horizon, closure timing and missing</a:t>
            </a:r>
            <a:endParaRPr lang="en-US" sz="1250"/>
          </a:p>
          <a:p>
            <a:pPr algn="l">
              <a:lnSpc>
                <a:spcPts val="1425"/>
              </a:lnSpc>
              <a:spcAft>
                <a:spcPts val="0"/>
              </a:spcAft>
            </a:pPr>
            <a:r>
              <a:rPr lang="en-US" sz="1250" b="0" dirty="0">
                <a:solidFill>
                  <a:srgbClr val="181C23"/>
                </a:solidFill>
                <a:latin typeface="Funnel Sans"/>
              </a:rPr>
              <a:t>status updates. Agree monitoring, data correction or cohort selection</a:t>
            </a:r>
            <a:endParaRPr lang="en-US" sz="1250"/>
          </a:p>
          <a:p>
            <a:pPr algn="l">
              <a:lnSpc>
                <a:spcPts val="1425"/>
              </a:lnSpc>
              <a:spcAft>
                <a:spcPts val="0"/>
              </a:spcAft>
            </a:pPr>
            <a:r>
              <a:rPr lang="en-US" sz="1250" b="0" dirty="0">
                <a:solidFill>
                  <a:srgbClr val="181C23"/>
                </a:solidFill>
                <a:latin typeface="Funnel Sans"/>
              </a:rPr>
              <a:t>changes; reassess with later data.</a:t>
            </a:r>
            <a:endParaRPr lang="en-US" sz="1250"/>
          </a:p>
        </p:txBody>
      </p:sp>
      <p:sp>
        <p:nvSpPr>
          <p:cNvPr id="52" name="shape 52"/>
          <p:cNvSpPr/>
          <p:nvPr/>
        </p:nvSpPr>
        <p:spPr>
          <a:xfrm>
            <a:off x="406400" y="6172200"/>
            <a:ext cx="11379200" cy="292100"/>
          </a:xfrm>
          <a:prstGeom prst="roundRect">
            <a:avLst/>
          </a:prstGeom>
          <a:solidFill>
            <a:srgbClr val="282A27"/>
          </a:solidFill>
          <a:ln>
            <a:noFill/>
          </a:ln>
        </p:spPr>
      </p:sp>
      <p:sp>
        <p:nvSpPr>
          <p:cNvPr id="53" name="text 53"/>
          <p:cNvSpPr/>
          <p:nvPr/>
        </p:nvSpPr>
        <p:spPr>
          <a:xfrm>
            <a:off x="546100" y="6235700"/>
            <a:ext cx="11099800" cy="203200"/>
          </a:xfrm>
          <a:prstGeom prst="rect">
            <a:avLst/>
          </a:prstGeom>
          <a:noFill/>
          <a:ln>
            <a:noFill/>
          </a:ln>
        </p:spPr>
        <p:txBody>
          <a:bodyPr wrap="none" lIns="0" tIns="0" rIns="0" bIns="0" anchor="t">
            <a:noAutofit/>
          </a:bodyPr>
          <a:lstStyle/>
          <a:p>
            <a:pPr algn="l">
              <a:lnSpc>
                <a:spcPts val="1197"/>
              </a:lnSpc>
              <a:spcAft>
                <a:spcPts val="0"/>
              </a:spcAft>
            </a:pPr>
            <a:r>
              <a:rPr lang="en-US" sz="1050" b="0" dirty="0">
                <a:solidFill>
                  <a:srgbClr val="FFFFFF"/>
                </a:solidFill>
                <a:latin typeface="Funnel Sans"/>
              </a:rPr>
              <a:t>Registered as workflow_pending. Maturity is outcome- and horizon-specific; no current D17 execution workflow.</a:t>
            </a:r>
            <a:endParaRPr lang="en-US" sz="1050"/>
          </a:p>
        </p:txBody>
      </p:sp>
      <p:cxnSp>
        <p:nvCxnSpPr>
          <p:cNvPr id="54" name="connector 54"/>
          <p:cNvCxnSpPr/>
          <p:nvPr/>
        </p:nvCxnSpPr>
        <p:spPr>
          <a:xfrm>
            <a:off x="406400" y="6553200"/>
            <a:ext cx="113792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55" name="text 55"/>
          <p:cNvSpPr/>
          <p:nvPr/>
        </p:nvSpPr>
        <p:spPr>
          <a:xfrm>
            <a:off x="406400" y="6629400"/>
            <a:ext cx="5715000" cy="152400"/>
          </a:xfrm>
          <a:prstGeom prst="rect">
            <a:avLst/>
          </a:prstGeom>
          <a:noFill/>
          <a:ln>
            <a:noFill/>
          </a:ln>
        </p:spPr>
        <p:txBody>
          <a:bodyPr wrap="none" lIns="0" tIns="0" rIns="0" bIns="0" anchor="t">
            <a:noAutofit/>
          </a:bodyPr>
          <a:lstStyle/>
          <a:p>
            <a:pPr algn="l">
              <a:lnSpc>
                <a:spcPts val="969"/>
              </a:lnSpc>
              <a:spcAft>
                <a:spcPts val="0"/>
              </a:spcAft>
            </a:pPr>
            <a:r>
              <a:rPr lang="en-US" sz="850" b="0" dirty="0">
                <a:solidFill>
                  <a:srgbClr val="6D706B"/>
                </a:solidFill>
                <a:latin typeface="Funnel Sans"/>
              </a:rPr>
              <a:t>DATA WORKBENCH / Diagnostic quick reference</a:t>
            </a:r>
            <a:endParaRPr lang="en-US" sz="850"/>
          </a:p>
        </p:txBody>
      </p:sp>
      <p:sp>
        <p:nvSpPr>
          <p:cNvPr id="56" name="text 56"/>
          <p:cNvSpPr/>
          <p:nvPr/>
        </p:nvSpPr>
        <p:spPr>
          <a:xfrm>
            <a:off x="6223000" y="6629400"/>
            <a:ext cx="4254500" cy="152400"/>
          </a:xfrm>
          <a:prstGeom prst="rect">
            <a:avLst/>
          </a:prstGeom>
          <a:noFill/>
          <a:ln>
            <a:noFill/>
          </a:ln>
        </p:spPr>
        <p:txBody>
          <a:bodyPr wrap="none" lIns="0" tIns="0" rIns="0" bIns="0" anchor="t">
            <a:noAutofit/>
          </a:bodyPr>
          <a:lstStyle/>
          <a:p>
            <a:pPr algn="r">
              <a:lnSpc>
                <a:spcPts val="969"/>
              </a:lnSpc>
              <a:spcAft>
                <a:spcPts val="0"/>
              </a:spcAft>
            </a:pPr>
            <a:r>
              <a:rPr lang="en-US" sz="850" b="0" dirty="0">
                <a:solidFill>
                  <a:srgbClr val="6D706B"/>
                </a:solidFill>
                <a:latin typeface="Funnel Sans"/>
              </a:rPr>
              <a:t>Full deck: slide 61</a:t>
            </a:r>
            <a:endParaRPr lang="en-US" sz="850"/>
          </a:p>
        </p:txBody>
      </p:sp>
      <p:sp>
        <p:nvSpPr>
          <p:cNvPr id="57" name="text 57"/>
          <p:cNvSpPr/>
          <p:nvPr/>
        </p:nvSpPr>
        <p:spPr>
          <a:xfrm>
            <a:off x="10795000" y="6616700"/>
            <a:ext cx="990600" cy="177800"/>
          </a:xfrm>
          <a:prstGeom prst="rect">
            <a:avLst/>
          </a:prstGeom>
          <a:noFill/>
          <a:ln>
            <a:noFill/>
          </a:ln>
        </p:spPr>
        <p:txBody>
          <a:bodyPr wrap="none" lIns="0" tIns="0" rIns="0" bIns="0" anchor="t">
            <a:noAutofit/>
          </a:bodyPr>
          <a:lstStyle/>
          <a:p>
            <a:pPr algn="r">
              <a:lnSpc>
                <a:spcPts val="1083"/>
              </a:lnSpc>
              <a:spcAft>
                <a:spcPts val="0"/>
              </a:spcAft>
            </a:pPr>
            <a:r>
              <a:rPr lang="en-US" sz="950" b="0" dirty="0">
                <a:solidFill>
                  <a:srgbClr val="6D706B"/>
                </a:solidFill>
                <a:latin typeface="Funnel Sans"/>
              </a:rPr>
              <a:t>10 / 22</a:t>
            </a:r>
            <a:endParaRPr lang="en-US" sz="95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shape 3"/>
          <p:cNvSpPr/>
          <p:nvPr/>
        </p:nvSpPr>
        <p:spPr>
          <a:xfrm>
            <a:off x="406400" y="228600"/>
            <a:ext cx="1181100" cy="292100"/>
          </a:xfrm>
          <a:prstGeom prst="roundRect">
            <a:avLst/>
          </a:prstGeom>
          <a:solidFill>
            <a:srgbClr val="FFF2DF"/>
          </a:solidFill>
          <a:ln>
            <a:noFill/>
          </a:ln>
        </p:spPr>
      </p:sp>
      <p:sp>
        <p:nvSpPr>
          <p:cNvPr id="4" name="text 4"/>
          <p:cNvSpPr/>
          <p:nvPr/>
        </p:nvSpPr>
        <p:spPr>
          <a:xfrm>
            <a:off x="520700" y="292100"/>
            <a:ext cx="952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T6-D20</a:t>
            </a:r>
            <a:endParaRPr lang="en-US" sz="1000"/>
          </a:p>
        </p:txBody>
      </p:sp>
      <p:sp>
        <p:nvSpPr>
          <p:cNvPr id="5" name="text 5"/>
          <p:cNvSpPr/>
          <p:nvPr/>
        </p:nvSpPr>
        <p:spPr>
          <a:xfrm>
            <a:off x="1739900" y="304800"/>
            <a:ext cx="3022600" cy="190500"/>
          </a:xfrm>
          <a:prstGeom prst="rect">
            <a:avLst/>
          </a:prstGeom>
          <a:noFill/>
          <a:ln>
            <a:noFill/>
          </a:ln>
        </p:spPr>
        <p:txBody>
          <a:bodyPr wrap="none" lIns="0" tIns="0" rIns="0" bIns="0" anchor="t">
            <a:noAutofit/>
          </a:bodyPr>
          <a:lstStyle/>
          <a:p>
            <a:pPr algn="l">
              <a:lnSpc>
                <a:spcPts val="1083"/>
              </a:lnSpc>
              <a:spcAft>
                <a:spcPts val="0"/>
              </a:spcAft>
            </a:pPr>
            <a:r>
              <a:rPr lang="en-US" sz="950" b="1" dirty="0">
                <a:solidFill>
                  <a:srgbClr val="6D706B"/>
                </a:solidFill>
                <a:latin typeface="Funnel Sans"/>
              </a:rPr>
              <a:t>KNOWLEDGE &amp; DISCOVERY</a:t>
            </a:r>
            <a:endParaRPr lang="en-US" sz="950"/>
          </a:p>
        </p:txBody>
      </p:sp>
      <p:sp>
        <p:nvSpPr>
          <p:cNvPr id="6" name="shape 6"/>
          <p:cNvSpPr/>
          <p:nvPr/>
        </p:nvSpPr>
        <p:spPr>
          <a:xfrm>
            <a:off x="4864100" y="228600"/>
            <a:ext cx="3797300" cy="292100"/>
          </a:xfrm>
          <a:prstGeom prst="roundRect">
            <a:avLst/>
          </a:prstGeom>
          <a:solidFill>
            <a:srgbClr val="EFEEE9"/>
          </a:solidFill>
          <a:ln>
            <a:noFill/>
          </a:ln>
        </p:spPr>
      </p:sp>
      <p:sp>
        <p:nvSpPr>
          <p:cNvPr id="7" name="text 7"/>
          <p:cNvSpPr/>
          <p:nvPr/>
        </p:nvSpPr>
        <p:spPr>
          <a:xfrm>
            <a:off x="4978400" y="292100"/>
            <a:ext cx="35687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181C23"/>
                </a:solidFill>
                <a:latin typeface="Funnel Sans"/>
              </a:rPr>
              <a:t>Proposed human-governed loop</a:t>
            </a:r>
            <a:endParaRPr lang="en-US" sz="1000"/>
          </a:p>
        </p:txBody>
      </p:sp>
      <p:sp>
        <p:nvSpPr>
          <p:cNvPr id="8" name="shape 8"/>
          <p:cNvSpPr/>
          <p:nvPr/>
        </p:nvSpPr>
        <p:spPr>
          <a:xfrm>
            <a:off x="8826500" y="228600"/>
            <a:ext cx="2959100" cy="292100"/>
          </a:xfrm>
          <a:prstGeom prst="roundRect">
            <a:avLst/>
          </a:prstGeom>
          <a:solidFill>
            <a:srgbClr val="FFF2DF"/>
          </a:solidFill>
          <a:ln>
            <a:noFill/>
          </a:ln>
        </p:spPr>
      </p:sp>
      <p:sp>
        <p:nvSpPr>
          <p:cNvPr id="9" name="text 9"/>
          <p:cNvSpPr/>
          <p:nvPr/>
        </p:nvSpPr>
        <p:spPr>
          <a:xfrm>
            <a:off x="8940800" y="292100"/>
            <a:ext cx="2730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98641E"/>
                </a:solidFill>
                <a:latin typeface="Funnel Sans"/>
              </a:rPr>
              <a:t>Planned · registered</a:t>
            </a:r>
            <a:endParaRPr lang="en-US" sz="1000"/>
          </a:p>
        </p:txBody>
      </p:sp>
      <p:sp>
        <p:nvSpPr>
          <p:cNvPr id="10" name="text 10"/>
          <p:cNvSpPr/>
          <p:nvPr/>
        </p:nvSpPr>
        <p:spPr>
          <a:xfrm>
            <a:off x="406400" y="698500"/>
            <a:ext cx="11379200" cy="508000"/>
          </a:xfrm>
          <a:prstGeom prst="rect">
            <a:avLst/>
          </a:prstGeom>
          <a:noFill/>
          <a:ln>
            <a:noFill/>
          </a:ln>
        </p:spPr>
        <p:txBody>
          <a:bodyPr wrap="none" lIns="0" tIns="0" rIns="0" bIns="0" anchor="t">
            <a:noAutofit/>
          </a:bodyPr>
          <a:lstStyle/>
          <a:p>
            <a:pPr algn="l">
              <a:lnSpc>
                <a:spcPts val="3192"/>
              </a:lnSpc>
              <a:spcAft>
                <a:spcPts val="0"/>
              </a:spcAft>
            </a:pPr>
            <a:r>
              <a:rPr lang="en-US" sz="2800" b="1" dirty="0">
                <a:solidFill>
                  <a:srgbClr val="181C23"/>
                </a:solidFill>
                <a:latin typeface="Funnel Sans"/>
              </a:rPr>
              <a:t>AI-proposal workflow</a:t>
            </a:r>
            <a:endParaRPr lang="en-US" sz="2800"/>
          </a:p>
        </p:txBody>
      </p:sp>
      <p:sp>
        <p:nvSpPr>
          <p:cNvPr id="11" name="text 11"/>
          <p:cNvSpPr/>
          <p:nvPr/>
        </p:nvSpPr>
        <p:spPr>
          <a:xfrm>
            <a:off x="419100" y="1320800"/>
            <a:ext cx="11353800" cy="4445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Turn data observations into reviewed knowledge-base proposals and reusable checks.</a:t>
            </a:r>
            <a:endParaRPr lang="en-US" sz="1500"/>
          </a:p>
        </p:txBody>
      </p:sp>
      <p:sp>
        <p:nvSpPr>
          <p:cNvPr id="12" name="shape 12"/>
          <p:cNvSpPr/>
          <p:nvPr/>
        </p:nvSpPr>
        <p:spPr>
          <a:xfrm>
            <a:off x="406400" y="1905000"/>
            <a:ext cx="3632200" cy="1549400"/>
          </a:xfrm>
          <a:prstGeom prst="roundRect">
            <a:avLst/>
          </a:prstGeom>
          <a:solidFill>
            <a:srgbClr val="FFFFFF"/>
          </a:solidFill>
          <a:ln w="12700">
            <a:solidFill>
              <a:srgbClr val="DEDCD6"/>
            </a:solidFill>
          </a:ln>
        </p:spPr>
      </p:sp>
      <p:sp>
        <p:nvSpPr>
          <p:cNvPr id="13" name="text 13"/>
          <p:cNvSpPr/>
          <p:nvPr/>
        </p:nvSpPr>
        <p:spPr>
          <a:xfrm>
            <a:off x="571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USER &amp; TRIGGER</a:t>
            </a:r>
            <a:endParaRPr lang="en-US" sz="1000"/>
          </a:p>
        </p:txBody>
      </p:sp>
      <p:sp>
        <p:nvSpPr>
          <p:cNvPr id="14" name="text 14"/>
          <p:cNvSpPr/>
          <p:nvPr/>
        </p:nvSpPr>
        <p:spPr>
          <a:xfrm>
            <a:off x="571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Analyst / SME + KB editor and reviewer</a:t>
            </a:r>
            <a:endParaRPr lang="en-US" sz="1325"/>
          </a:p>
          <a:p>
            <a:pPr algn="l">
              <a:lnSpc>
                <a:spcPts val="1510"/>
              </a:lnSpc>
              <a:spcAft>
                <a:spcPts val="0"/>
              </a:spcAft>
            </a:pPr>
            <a:r>
              <a:rPr lang="en-US" sz="1325" b="0" dirty="0">
                <a:solidFill>
                  <a:srgbClr val="181C23"/>
                </a:solidFill>
                <a:latin typeface="Funnel Sans"/>
              </a:rPr>
              <a:t>Intended when existing rules leave</a:t>
            </a:r>
            <a:endParaRPr lang="en-US" sz="1325"/>
          </a:p>
          <a:p>
            <a:pPr algn="l">
              <a:lnSpc>
                <a:spcPts val="1510"/>
              </a:lnSpc>
              <a:spcAft>
                <a:spcPts val="0"/>
              </a:spcAft>
            </a:pPr>
            <a:r>
              <a:rPr lang="en-US" sz="1325" b="0" dirty="0">
                <a:solidFill>
                  <a:srgbClr val="181C23"/>
                </a:solidFill>
                <a:latin typeface="Funnel Sans"/>
              </a:rPr>
              <a:t>coverage gaps.</a:t>
            </a:r>
            <a:endParaRPr lang="en-US" sz="1325"/>
          </a:p>
        </p:txBody>
      </p:sp>
      <p:sp>
        <p:nvSpPr>
          <p:cNvPr id="15" name="shape 15"/>
          <p:cNvSpPr/>
          <p:nvPr/>
        </p:nvSpPr>
        <p:spPr>
          <a:xfrm>
            <a:off x="4279900" y="1905000"/>
            <a:ext cx="3632200" cy="1549400"/>
          </a:xfrm>
          <a:prstGeom prst="roundRect">
            <a:avLst/>
          </a:prstGeom>
          <a:solidFill>
            <a:srgbClr val="FFFFFF"/>
          </a:solidFill>
          <a:ln w="12700">
            <a:solidFill>
              <a:srgbClr val="DEDCD6"/>
            </a:solidFill>
          </a:ln>
        </p:spPr>
      </p:sp>
      <p:sp>
        <p:nvSpPr>
          <p:cNvPr id="16" name="text 16"/>
          <p:cNvSpPr/>
          <p:nvPr/>
        </p:nvSpPr>
        <p:spPr>
          <a:xfrm>
            <a:off x="44450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INPUTS &amp; READINESS</a:t>
            </a:r>
            <a:endParaRPr lang="en-US" sz="1000"/>
          </a:p>
        </p:txBody>
      </p:sp>
      <p:sp>
        <p:nvSpPr>
          <p:cNvPr id="17" name="text 17"/>
          <p:cNvSpPr/>
          <p:nvPr/>
        </p:nvSpPr>
        <p:spPr>
          <a:xfrm>
            <a:off x="44450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Proposed: profile and context, existing</a:t>
            </a:r>
            <a:endParaRPr lang="en-US" sz="1325"/>
          </a:p>
          <a:p>
            <a:pPr algn="l">
              <a:lnSpc>
                <a:spcPts val="1510"/>
              </a:lnSpc>
              <a:spcAft>
                <a:spcPts val="0"/>
              </a:spcAft>
            </a:pPr>
            <a:r>
              <a:rPr lang="en-US" sz="1325" b="0" dirty="0">
                <a:solidFill>
                  <a:srgbClr val="181C23"/>
                </a:solidFill>
                <a:latin typeface="Funnel Sans"/>
              </a:rPr>
              <a:t>KB content, proposal criteria and</a:t>
            </a:r>
            <a:endParaRPr lang="en-US" sz="1325"/>
          </a:p>
          <a:p>
            <a:pPr algn="l">
              <a:lnSpc>
                <a:spcPts val="1510"/>
              </a:lnSpc>
              <a:spcAft>
                <a:spcPts val="0"/>
              </a:spcAft>
            </a:pPr>
            <a:r>
              <a:rPr lang="en-US" sz="1325" b="0" dirty="0">
                <a:solidFill>
                  <a:srgbClr val="181C23"/>
                </a:solidFill>
                <a:latin typeface="Funnel Sans"/>
              </a:rPr>
              <a:t>reviewer decisions. Confidence is a</a:t>
            </a:r>
            <a:endParaRPr lang="en-US" sz="1325"/>
          </a:p>
          <a:p>
            <a:pPr algn="l">
              <a:lnSpc>
                <a:spcPts val="1510"/>
              </a:lnSpc>
              <a:spcAft>
                <a:spcPts val="0"/>
              </a:spcAft>
            </a:pPr>
            <a:r>
              <a:rPr lang="en-US" sz="1325" b="0" dirty="0">
                <a:solidFill>
                  <a:srgbClr val="181C23"/>
                </a:solidFill>
                <a:latin typeface="Funnel Sans"/>
              </a:rPr>
              <a:t>ranking aid.</a:t>
            </a:r>
            <a:endParaRPr lang="en-US" sz="1325"/>
          </a:p>
        </p:txBody>
      </p:sp>
      <p:sp>
        <p:nvSpPr>
          <p:cNvPr id="18" name="shape 18"/>
          <p:cNvSpPr/>
          <p:nvPr/>
        </p:nvSpPr>
        <p:spPr>
          <a:xfrm>
            <a:off x="8153400" y="1905000"/>
            <a:ext cx="3632200" cy="1549400"/>
          </a:xfrm>
          <a:prstGeom prst="roundRect">
            <a:avLst/>
          </a:prstGeom>
          <a:solidFill>
            <a:srgbClr val="FFF2DF"/>
          </a:solidFill>
          <a:ln w="12700">
            <a:solidFill>
              <a:srgbClr val="DEDCD6"/>
            </a:solidFill>
          </a:ln>
        </p:spPr>
      </p:sp>
      <p:sp>
        <p:nvSpPr>
          <p:cNvPr id="19" name="text 19"/>
          <p:cNvSpPr/>
          <p:nvPr/>
        </p:nvSpPr>
        <p:spPr>
          <a:xfrm>
            <a:off x="8318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OUTPUTS &amp; EVIDENCE</a:t>
            </a:r>
            <a:endParaRPr lang="en-US" sz="1000"/>
          </a:p>
        </p:txBody>
      </p:sp>
      <p:sp>
        <p:nvSpPr>
          <p:cNvPr id="20" name="text 20"/>
          <p:cNvSpPr/>
          <p:nvPr/>
        </p:nvSpPr>
        <p:spPr>
          <a:xfrm>
            <a:off x="8318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Proposed: ranked suggestions, SME</a:t>
            </a:r>
            <a:endParaRPr lang="en-US" sz="1325"/>
          </a:p>
          <a:p>
            <a:pPr algn="l">
              <a:lnSpc>
                <a:spcPts val="1510"/>
              </a:lnSpc>
              <a:spcAft>
                <a:spcPts val="0"/>
              </a:spcAft>
            </a:pPr>
            <a:r>
              <a:rPr lang="en-US" sz="1325" b="0" dirty="0">
                <a:solidFill>
                  <a:srgbClr val="181C23"/>
                </a:solidFill>
                <a:latin typeface="Funnel Sans"/>
              </a:rPr>
              <a:t>disposition and accepted KB content;</a:t>
            </a:r>
            <a:endParaRPr lang="en-US" sz="1325"/>
          </a:p>
          <a:p>
            <a:pPr algn="l">
              <a:lnSpc>
                <a:spcPts val="1510"/>
              </a:lnSpc>
              <a:spcAft>
                <a:spcPts val="0"/>
              </a:spcAft>
            </a:pPr>
            <a:r>
              <a:rPr lang="en-US" sz="1325" b="0" dirty="0">
                <a:solidFill>
                  <a:srgbClr val="181C23"/>
                </a:solidFill>
                <a:latin typeface="Funnel Sans"/>
              </a:rPr>
              <a:t>approved checks route into the T2 rule</a:t>
            </a:r>
            <a:endParaRPr lang="en-US" sz="1325"/>
          </a:p>
          <a:p>
            <a:pPr algn="l">
              <a:lnSpc>
                <a:spcPts val="1510"/>
              </a:lnSpc>
              <a:spcAft>
                <a:spcPts val="0"/>
              </a:spcAft>
            </a:pPr>
            <a:r>
              <a:rPr lang="en-US" sz="1325" b="0" dirty="0">
                <a:solidFill>
                  <a:srgbClr val="181C23"/>
                </a:solidFill>
                <a:latin typeface="Funnel Sans"/>
              </a:rPr>
              <a:t>engine.</a:t>
            </a:r>
            <a:endParaRPr lang="en-US" sz="1325"/>
          </a:p>
        </p:txBody>
      </p:sp>
      <p:sp>
        <p:nvSpPr>
          <p:cNvPr id="21" name="text 21"/>
          <p:cNvSpPr/>
          <p:nvPr/>
        </p:nvSpPr>
        <p:spPr>
          <a:xfrm>
            <a:off x="406400" y="3606800"/>
            <a:ext cx="7747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PROCESSING FLOW</a:t>
            </a:r>
            <a:endParaRPr lang="en-US" sz="1000"/>
          </a:p>
        </p:txBody>
      </p:sp>
      <p:sp>
        <p:nvSpPr>
          <p:cNvPr id="22" name="shape 22"/>
          <p:cNvSpPr/>
          <p:nvPr/>
        </p:nvSpPr>
        <p:spPr>
          <a:xfrm>
            <a:off x="406400" y="3898900"/>
            <a:ext cx="2113280" cy="774700"/>
          </a:xfrm>
          <a:prstGeom prst="roundRect">
            <a:avLst/>
          </a:prstGeom>
          <a:solidFill>
            <a:srgbClr val="FFF2DF"/>
          </a:solidFill>
          <a:ln>
            <a:noFill/>
          </a:ln>
        </p:spPr>
      </p:sp>
      <p:sp>
        <p:nvSpPr>
          <p:cNvPr id="23" name="text 23"/>
          <p:cNvSpPr/>
          <p:nvPr/>
        </p:nvSpPr>
        <p:spPr>
          <a:xfrm>
            <a:off x="53340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01</a:t>
            </a:r>
            <a:endParaRPr lang="en-US" sz="1200"/>
          </a:p>
        </p:txBody>
      </p:sp>
      <p:sp>
        <p:nvSpPr>
          <p:cNvPr id="24" name="text 24"/>
          <p:cNvSpPr/>
          <p:nvPr/>
        </p:nvSpPr>
        <p:spPr>
          <a:xfrm>
            <a:off x="87630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Profile</a:t>
            </a:r>
            <a:endParaRPr lang="en-US" sz="1250"/>
          </a:p>
        </p:txBody>
      </p:sp>
      <p:sp>
        <p:nvSpPr>
          <p:cNvPr id="25" name="text 25"/>
          <p:cNvSpPr/>
          <p:nvPr/>
        </p:nvSpPr>
        <p:spPr>
          <a:xfrm>
            <a:off x="53340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Data + KB context</a:t>
            </a:r>
            <a:endParaRPr lang="en-US" sz="1100"/>
          </a:p>
        </p:txBody>
      </p:sp>
      <p:cxnSp>
        <p:nvCxnSpPr>
          <p:cNvPr id="26" name="connector 26"/>
          <p:cNvCxnSpPr/>
          <p:nvPr/>
        </p:nvCxnSpPr>
        <p:spPr>
          <a:xfrm>
            <a:off x="254508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2722880" y="3898900"/>
            <a:ext cx="2113280" cy="774700"/>
          </a:xfrm>
          <a:prstGeom prst="roundRect">
            <a:avLst/>
          </a:prstGeom>
          <a:solidFill>
            <a:srgbClr val="FFF2DF"/>
          </a:solidFill>
          <a:ln>
            <a:noFill/>
          </a:ln>
        </p:spPr>
      </p:sp>
      <p:sp>
        <p:nvSpPr>
          <p:cNvPr id="28" name="text 28"/>
          <p:cNvSpPr/>
          <p:nvPr/>
        </p:nvSpPr>
        <p:spPr>
          <a:xfrm>
            <a:off x="284988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02</a:t>
            </a:r>
            <a:endParaRPr lang="en-US" sz="1200"/>
          </a:p>
        </p:txBody>
      </p:sp>
      <p:sp>
        <p:nvSpPr>
          <p:cNvPr id="29" name="text 29"/>
          <p:cNvSpPr/>
          <p:nvPr/>
        </p:nvSpPr>
        <p:spPr>
          <a:xfrm>
            <a:off x="319278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Propose</a:t>
            </a:r>
            <a:endParaRPr lang="en-US" sz="1250"/>
          </a:p>
        </p:txBody>
      </p:sp>
      <p:sp>
        <p:nvSpPr>
          <p:cNvPr id="30" name="text 30"/>
          <p:cNvSpPr/>
          <p:nvPr/>
        </p:nvSpPr>
        <p:spPr>
          <a:xfrm>
            <a:off x="284988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AI-ranked suggestions</a:t>
            </a:r>
            <a:endParaRPr lang="en-US" sz="1100"/>
          </a:p>
        </p:txBody>
      </p:sp>
      <p:cxnSp>
        <p:nvCxnSpPr>
          <p:cNvPr id="31" name="connector 31"/>
          <p:cNvCxnSpPr/>
          <p:nvPr/>
        </p:nvCxnSpPr>
        <p:spPr>
          <a:xfrm>
            <a:off x="486156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2" name="shape 32"/>
          <p:cNvSpPr/>
          <p:nvPr/>
        </p:nvSpPr>
        <p:spPr>
          <a:xfrm>
            <a:off x="5039360" y="3898900"/>
            <a:ext cx="2113280" cy="774700"/>
          </a:xfrm>
          <a:prstGeom prst="roundRect">
            <a:avLst/>
          </a:prstGeom>
          <a:solidFill>
            <a:srgbClr val="FFF2DF"/>
          </a:solidFill>
          <a:ln>
            <a:noFill/>
          </a:ln>
        </p:spPr>
      </p:sp>
      <p:sp>
        <p:nvSpPr>
          <p:cNvPr id="33" name="text 33"/>
          <p:cNvSpPr/>
          <p:nvPr/>
        </p:nvSpPr>
        <p:spPr>
          <a:xfrm>
            <a:off x="516636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03</a:t>
            </a:r>
            <a:endParaRPr lang="en-US" sz="1200"/>
          </a:p>
        </p:txBody>
      </p:sp>
      <p:sp>
        <p:nvSpPr>
          <p:cNvPr id="34" name="text 34"/>
          <p:cNvSpPr/>
          <p:nvPr/>
        </p:nvSpPr>
        <p:spPr>
          <a:xfrm>
            <a:off x="550926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Validate</a:t>
            </a:r>
            <a:endParaRPr lang="en-US" sz="1250"/>
          </a:p>
        </p:txBody>
      </p:sp>
      <p:sp>
        <p:nvSpPr>
          <p:cNvPr id="35" name="text 35"/>
          <p:cNvSpPr/>
          <p:nvPr/>
        </p:nvSpPr>
        <p:spPr>
          <a:xfrm>
            <a:off x="516636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SME decisions</a:t>
            </a:r>
            <a:endParaRPr lang="en-US" sz="1100"/>
          </a:p>
        </p:txBody>
      </p:sp>
      <p:cxnSp>
        <p:nvCxnSpPr>
          <p:cNvPr id="36" name="connector 36"/>
          <p:cNvCxnSpPr/>
          <p:nvPr/>
        </p:nvCxnSpPr>
        <p:spPr>
          <a:xfrm>
            <a:off x="717804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7" name="shape 37"/>
          <p:cNvSpPr/>
          <p:nvPr/>
        </p:nvSpPr>
        <p:spPr>
          <a:xfrm>
            <a:off x="7355840" y="3898900"/>
            <a:ext cx="2113280" cy="774700"/>
          </a:xfrm>
          <a:prstGeom prst="roundRect">
            <a:avLst/>
          </a:prstGeom>
          <a:solidFill>
            <a:srgbClr val="FFF2DF"/>
          </a:solidFill>
          <a:ln>
            <a:noFill/>
          </a:ln>
        </p:spPr>
      </p:sp>
      <p:sp>
        <p:nvSpPr>
          <p:cNvPr id="38" name="text 38"/>
          <p:cNvSpPr/>
          <p:nvPr/>
        </p:nvSpPr>
        <p:spPr>
          <a:xfrm>
            <a:off x="748284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04</a:t>
            </a:r>
            <a:endParaRPr lang="en-US" sz="1200"/>
          </a:p>
        </p:txBody>
      </p:sp>
      <p:sp>
        <p:nvSpPr>
          <p:cNvPr id="39" name="text 39"/>
          <p:cNvSpPr/>
          <p:nvPr/>
        </p:nvSpPr>
        <p:spPr>
          <a:xfrm>
            <a:off x="782574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Publish</a:t>
            </a:r>
            <a:endParaRPr lang="en-US" sz="1250"/>
          </a:p>
        </p:txBody>
      </p:sp>
      <p:sp>
        <p:nvSpPr>
          <p:cNvPr id="40" name="text 40"/>
          <p:cNvSpPr/>
          <p:nvPr/>
        </p:nvSpPr>
        <p:spPr>
          <a:xfrm>
            <a:off x="748284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Governed KB content</a:t>
            </a:r>
            <a:endParaRPr lang="en-US" sz="1100"/>
          </a:p>
        </p:txBody>
      </p:sp>
      <p:cxnSp>
        <p:nvCxnSpPr>
          <p:cNvPr id="41" name="connector 41"/>
          <p:cNvCxnSpPr/>
          <p:nvPr/>
        </p:nvCxnSpPr>
        <p:spPr>
          <a:xfrm>
            <a:off x="949452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9672320" y="3898900"/>
            <a:ext cx="2113280" cy="774700"/>
          </a:xfrm>
          <a:prstGeom prst="roundRect">
            <a:avLst/>
          </a:prstGeom>
          <a:solidFill>
            <a:srgbClr val="FFF2DF"/>
          </a:solidFill>
          <a:ln>
            <a:noFill/>
          </a:ln>
        </p:spPr>
      </p:sp>
      <p:sp>
        <p:nvSpPr>
          <p:cNvPr id="43" name="text 43"/>
          <p:cNvSpPr/>
          <p:nvPr/>
        </p:nvSpPr>
        <p:spPr>
          <a:xfrm>
            <a:off x="979932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05</a:t>
            </a:r>
            <a:endParaRPr lang="en-US" sz="1200"/>
          </a:p>
        </p:txBody>
      </p:sp>
      <p:sp>
        <p:nvSpPr>
          <p:cNvPr id="44" name="text 44"/>
          <p:cNvSpPr/>
          <p:nvPr/>
        </p:nvSpPr>
        <p:spPr>
          <a:xfrm>
            <a:off x="1014222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Route</a:t>
            </a:r>
            <a:endParaRPr lang="en-US" sz="1250"/>
          </a:p>
        </p:txBody>
      </p:sp>
      <p:sp>
        <p:nvSpPr>
          <p:cNvPr id="45" name="text 45"/>
          <p:cNvSpPr/>
          <p:nvPr/>
        </p:nvSpPr>
        <p:spPr>
          <a:xfrm>
            <a:off x="979932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Accepted T2 checks</a:t>
            </a:r>
            <a:endParaRPr lang="en-US" sz="1100"/>
          </a:p>
        </p:txBody>
      </p:sp>
      <p:sp>
        <p:nvSpPr>
          <p:cNvPr id="46" name="shape 46"/>
          <p:cNvSpPr/>
          <p:nvPr/>
        </p:nvSpPr>
        <p:spPr>
          <a:xfrm>
            <a:off x="406400" y="4851400"/>
            <a:ext cx="5562600" cy="1206500"/>
          </a:xfrm>
          <a:prstGeom prst="roundRect">
            <a:avLst/>
          </a:prstGeom>
          <a:solidFill>
            <a:srgbClr val="FFFFFF"/>
          </a:solidFill>
          <a:ln w="12700">
            <a:solidFill>
              <a:srgbClr val="DEDCD6"/>
            </a:solidFill>
          </a:ln>
        </p:spPr>
      </p:sp>
      <p:sp>
        <p:nvSpPr>
          <p:cNvPr id="47" name="text 47"/>
          <p:cNvSpPr/>
          <p:nvPr/>
        </p:nvSpPr>
        <p:spPr>
          <a:xfrm>
            <a:off x="5715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FINDING → ISSUE</a:t>
            </a:r>
            <a:endParaRPr lang="en-US" sz="1000"/>
          </a:p>
        </p:txBody>
      </p:sp>
      <p:sp>
        <p:nvSpPr>
          <p:cNvPr id="48" name="text 48"/>
          <p:cNvSpPr/>
          <p:nvPr/>
        </p:nvSpPr>
        <p:spPr>
          <a:xfrm>
            <a:off x="5715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Proposed gate: a suggestion does not directly become an issue.</a:t>
            </a:r>
            <a:endParaRPr lang="en-US" sz="1250"/>
          </a:p>
          <a:p>
            <a:pPr algn="l">
              <a:lnSpc>
                <a:spcPts val="1425"/>
              </a:lnSpc>
              <a:spcAft>
                <a:spcPts val="0"/>
              </a:spcAft>
            </a:pPr>
            <a:r>
              <a:rPr lang="en-US" sz="1250" b="0" dirty="0">
                <a:solidFill>
                  <a:srgbClr val="181C23"/>
                </a:solidFill>
                <a:latin typeface="Funnel Sans"/>
              </a:rPr>
              <a:t>Humans validate meaning and publish accepted rules; executable</a:t>
            </a:r>
            <a:endParaRPr lang="en-US" sz="1250"/>
          </a:p>
          <a:p>
            <a:pPr algn="l">
              <a:lnSpc>
                <a:spcPts val="1425"/>
              </a:lnSpc>
              <a:spcAft>
                <a:spcPts val="0"/>
              </a:spcAft>
            </a:pPr>
            <a:r>
              <a:rPr lang="en-US" sz="1250" b="0" dirty="0">
                <a:solidFill>
                  <a:srgbClr val="181C23"/>
                </a:solidFill>
                <a:latin typeface="Funnel Sans"/>
              </a:rPr>
              <a:t>diagnostics then produce reviewable findings.</a:t>
            </a:r>
            <a:endParaRPr lang="en-US" sz="1250"/>
          </a:p>
        </p:txBody>
      </p:sp>
      <p:sp>
        <p:nvSpPr>
          <p:cNvPr id="49" name="shape 49"/>
          <p:cNvSpPr/>
          <p:nvPr/>
        </p:nvSpPr>
        <p:spPr>
          <a:xfrm>
            <a:off x="6223000" y="4851400"/>
            <a:ext cx="5562600" cy="1206500"/>
          </a:xfrm>
          <a:prstGeom prst="roundRect">
            <a:avLst/>
          </a:prstGeom>
          <a:solidFill>
            <a:srgbClr val="FFFFFF"/>
          </a:solidFill>
          <a:ln w="12700">
            <a:solidFill>
              <a:srgbClr val="DEDCD6"/>
            </a:solidFill>
          </a:ln>
        </p:spPr>
      </p:sp>
      <p:sp>
        <p:nvSpPr>
          <p:cNvPr id="50" name="text 50"/>
          <p:cNvSpPr/>
          <p:nvPr/>
        </p:nvSpPr>
        <p:spPr>
          <a:xfrm>
            <a:off x="63881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RCA → ACTION</a:t>
            </a:r>
            <a:endParaRPr lang="en-US" sz="1000"/>
          </a:p>
        </p:txBody>
      </p:sp>
      <p:sp>
        <p:nvSpPr>
          <p:cNvPr id="51" name="text 51"/>
          <p:cNvSpPr/>
          <p:nvPr/>
        </p:nvSpPr>
        <p:spPr>
          <a:xfrm>
            <a:off x="63881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Proposed: retain proposal rationale and reviewer decisions. Route</a:t>
            </a:r>
            <a:endParaRPr lang="en-US" sz="1250"/>
          </a:p>
          <a:p>
            <a:pPr algn="l">
              <a:lnSpc>
                <a:spcPts val="1425"/>
              </a:lnSpc>
              <a:spcAft>
                <a:spcPts val="0"/>
              </a:spcAft>
            </a:pPr>
            <a:r>
              <a:rPr lang="en-US" sz="1250" b="0" dirty="0">
                <a:solidFill>
                  <a:srgbClr val="181C23"/>
                </a:solidFill>
                <a:latin typeface="Funnel Sans"/>
              </a:rPr>
              <a:t>supported findings into issue / RCA handling. D11 proposal building</a:t>
            </a:r>
            <a:endParaRPr lang="en-US" sz="1250"/>
          </a:p>
          <a:p>
            <a:pPr algn="l">
              <a:lnSpc>
                <a:spcPts val="1425"/>
              </a:lnSpc>
              <a:spcAft>
                <a:spcPts val="0"/>
              </a:spcAft>
            </a:pPr>
            <a:r>
              <a:rPr lang="en-US" sz="1250" b="0" dirty="0">
                <a:solidFill>
                  <a:srgbClr val="181C23"/>
                </a:solidFill>
                <a:latin typeface="Funnel Sans"/>
              </a:rPr>
              <a:t>blocks do not constitute the full D20 workflow.</a:t>
            </a:r>
            <a:endParaRPr lang="en-US" sz="1250"/>
          </a:p>
        </p:txBody>
      </p:sp>
      <p:sp>
        <p:nvSpPr>
          <p:cNvPr id="52" name="shape 52"/>
          <p:cNvSpPr/>
          <p:nvPr/>
        </p:nvSpPr>
        <p:spPr>
          <a:xfrm>
            <a:off x="406400" y="6172200"/>
            <a:ext cx="11379200" cy="292100"/>
          </a:xfrm>
          <a:prstGeom prst="roundRect">
            <a:avLst/>
          </a:prstGeom>
          <a:solidFill>
            <a:srgbClr val="282A27"/>
          </a:solidFill>
          <a:ln>
            <a:noFill/>
          </a:ln>
        </p:spPr>
      </p:sp>
      <p:sp>
        <p:nvSpPr>
          <p:cNvPr id="53" name="text 53"/>
          <p:cNvSpPr/>
          <p:nvPr/>
        </p:nvSpPr>
        <p:spPr>
          <a:xfrm>
            <a:off x="546100" y="6235700"/>
            <a:ext cx="11099800" cy="203200"/>
          </a:xfrm>
          <a:prstGeom prst="rect">
            <a:avLst/>
          </a:prstGeom>
          <a:noFill/>
          <a:ln>
            <a:noFill/>
          </a:ln>
        </p:spPr>
        <p:txBody>
          <a:bodyPr wrap="none" lIns="0" tIns="0" rIns="0" bIns="0" anchor="t">
            <a:noAutofit/>
          </a:bodyPr>
          <a:lstStyle/>
          <a:p>
            <a:pPr algn="l">
              <a:lnSpc>
                <a:spcPts val="1197"/>
              </a:lnSpc>
              <a:spcAft>
                <a:spcPts val="0"/>
              </a:spcAft>
            </a:pPr>
            <a:r>
              <a:rPr lang="en-US" sz="1050" b="0" dirty="0">
                <a:solidFill>
                  <a:srgbClr val="FFFFFF"/>
                </a:solidFill>
                <a:latin typeface="Funnel Sans"/>
              </a:rPr>
              <a:t>Registered as workflow_pending. No fixed D20 executor or diagnostic metric; full workflow remains planned.</a:t>
            </a:r>
            <a:endParaRPr lang="en-US" sz="1050"/>
          </a:p>
        </p:txBody>
      </p:sp>
      <p:cxnSp>
        <p:nvCxnSpPr>
          <p:cNvPr id="54" name="connector 54"/>
          <p:cNvCxnSpPr/>
          <p:nvPr/>
        </p:nvCxnSpPr>
        <p:spPr>
          <a:xfrm>
            <a:off x="406400" y="6553200"/>
            <a:ext cx="113792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55" name="text 55"/>
          <p:cNvSpPr/>
          <p:nvPr/>
        </p:nvSpPr>
        <p:spPr>
          <a:xfrm>
            <a:off x="406400" y="6629400"/>
            <a:ext cx="5715000" cy="152400"/>
          </a:xfrm>
          <a:prstGeom prst="rect">
            <a:avLst/>
          </a:prstGeom>
          <a:noFill/>
          <a:ln>
            <a:noFill/>
          </a:ln>
        </p:spPr>
        <p:txBody>
          <a:bodyPr wrap="none" lIns="0" tIns="0" rIns="0" bIns="0" anchor="t">
            <a:noAutofit/>
          </a:bodyPr>
          <a:lstStyle/>
          <a:p>
            <a:pPr algn="l">
              <a:lnSpc>
                <a:spcPts val="969"/>
              </a:lnSpc>
              <a:spcAft>
                <a:spcPts val="0"/>
              </a:spcAft>
            </a:pPr>
            <a:r>
              <a:rPr lang="en-US" sz="850" b="0" dirty="0">
                <a:solidFill>
                  <a:srgbClr val="6D706B"/>
                </a:solidFill>
                <a:latin typeface="Funnel Sans"/>
              </a:rPr>
              <a:t>DATA WORKBENCH / Diagnostic quick reference</a:t>
            </a:r>
            <a:endParaRPr lang="en-US" sz="850"/>
          </a:p>
        </p:txBody>
      </p:sp>
      <p:sp>
        <p:nvSpPr>
          <p:cNvPr id="56" name="text 56"/>
          <p:cNvSpPr/>
          <p:nvPr/>
        </p:nvSpPr>
        <p:spPr>
          <a:xfrm>
            <a:off x="6223000" y="6629400"/>
            <a:ext cx="4254500" cy="152400"/>
          </a:xfrm>
          <a:prstGeom prst="rect">
            <a:avLst/>
          </a:prstGeom>
          <a:noFill/>
          <a:ln>
            <a:noFill/>
          </a:ln>
        </p:spPr>
        <p:txBody>
          <a:bodyPr wrap="none" lIns="0" tIns="0" rIns="0" bIns="0" anchor="t">
            <a:noAutofit/>
          </a:bodyPr>
          <a:lstStyle/>
          <a:p>
            <a:pPr algn="r">
              <a:lnSpc>
                <a:spcPts val="969"/>
              </a:lnSpc>
              <a:spcAft>
                <a:spcPts val="0"/>
              </a:spcAft>
            </a:pPr>
            <a:r>
              <a:rPr lang="en-US" sz="850" b="0" dirty="0">
                <a:solidFill>
                  <a:srgbClr val="6D706B"/>
                </a:solidFill>
                <a:latin typeface="Funnel Sans"/>
              </a:rPr>
              <a:t>Full deck: slide 62</a:t>
            </a:r>
            <a:endParaRPr lang="en-US" sz="850"/>
          </a:p>
        </p:txBody>
      </p:sp>
      <p:sp>
        <p:nvSpPr>
          <p:cNvPr id="57" name="text 57"/>
          <p:cNvSpPr/>
          <p:nvPr/>
        </p:nvSpPr>
        <p:spPr>
          <a:xfrm>
            <a:off x="10795000" y="6616700"/>
            <a:ext cx="990600" cy="177800"/>
          </a:xfrm>
          <a:prstGeom prst="rect">
            <a:avLst/>
          </a:prstGeom>
          <a:noFill/>
          <a:ln>
            <a:noFill/>
          </a:ln>
        </p:spPr>
        <p:txBody>
          <a:bodyPr wrap="none" lIns="0" tIns="0" rIns="0" bIns="0" anchor="t">
            <a:noAutofit/>
          </a:bodyPr>
          <a:lstStyle/>
          <a:p>
            <a:pPr algn="r">
              <a:lnSpc>
                <a:spcPts val="1083"/>
              </a:lnSpc>
              <a:spcAft>
                <a:spcPts val="0"/>
              </a:spcAft>
            </a:pPr>
            <a:r>
              <a:rPr lang="en-US" sz="950" b="0" dirty="0">
                <a:solidFill>
                  <a:srgbClr val="6D706B"/>
                </a:solidFill>
                <a:latin typeface="Funnel Sans"/>
              </a:rPr>
              <a:t>11 / 22</a:t>
            </a:r>
            <a:endParaRPr lang="en-US" sz="95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shape 3"/>
          <p:cNvSpPr/>
          <p:nvPr/>
        </p:nvSpPr>
        <p:spPr>
          <a:xfrm>
            <a:off x="406400" y="228600"/>
            <a:ext cx="1181100" cy="292100"/>
          </a:xfrm>
          <a:prstGeom prst="roundRect">
            <a:avLst/>
          </a:prstGeom>
          <a:solidFill>
            <a:srgbClr val="FFF2DF"/>
          </a:solidFill>
          <a:ln>
            <a:noFill/>
          </a:ln>
        </p:spPr>
      </p:sp>
      <p:sp>
        <p:nvSpPr>
          <p:cNvPr id="4" name="text 4"/>
          <p:cNvSpPr/>
          <p:nvPr/>
        </p:nvSpPr>
        <p:spPr>
          <a:xfrm>
            <a:off x="520700" y="292100"/>
            <a:ext cx="952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T1-D01</a:t>
            </a:r>
            <a:endParaRPr lang="en-US" sz="1000"/>
          </a:p>
        </p:txBody>
      </p:sp>
      <p:sp>
        <p:nvSpPr>
          <p:cNvPr id="5" name="text 5"/>
          <p:cNvSpPr/>
          <p:nvPr/>
        </p:nvSpPr>
        <p:spPr>
          <a:xfrm>
            <a:off x="1739900" y="304800"/>
            <a:ext cx="3022600" cy="190500"/>
          </a:xfrm>
          <a:prstGeom prst="rect">
            <a:avLst/>
          </a:prstGeom>
          <a:noFill/>
          <a:ln>
            <a:noFill/>
          </a:ln>
        </p:spPr>
        <p:txBody>
          <a:bodyPr wrap="none" lIns="0" tIns="0" rIns="0" bIns="0" anchor="t">
            <a:noAutofit/>
          </a:bodyPr>
          <a:lstStyle/>
          <a:p>
            <a:pPr algn="l">
              <a:lnSpc>
                <a:spcPts val="1083"/>
              </a:lnSpc>
              <a:spcAft>
                <a:spcPts val="0"/>
              </a:spcAft>
            </a:pPr>
            <a:r>
              <a:rPr lang="en-US" sz="950" b="1" dirty="0">
                <a:solidFill>
                  <a:srgbClr val="6D706B"/>
                </a:solidFill>
                <a:latin typeface="Funnel Sans"/>
              </a:rPr>
              <a:t>LEAKAGE &amp; SIGNAL</a:t>
            </a:r>
            <a:endParaRPr lang="en-US" sz="950"/>
          </a:p>
        </p:txBody>
      </p:sp>
      <p:sp>
        <p:nvSpPr>
          <p:cNvPr id="6" name="shape 6"/>
          <p:cNvSpPr/>
          <p:nvPr/>
        </p:nvSpPr>
        <p:spPr>
          <a:xfrm>
            <a:off x="4864100" y="228600"/>
            <a:ext cx="3797300" cy="292100"/>
          </a:xfrm>
          <a:prstGeom prst="roundRect">
            <a:avLst/>
          </a:prstGeom>
          <a:solidFill>
            <a:srgbClr val="EFEEE9"/>
          </a:solidFill>
          <a:ln>
            <a:noFill/>
          </a:ln>
        </p:spPr>
      </p:sp>
      <p:sp>
        <p:nvSpPr>
          <p:cNvPr id="7" name="text 7"/>
          <p:cNvSpPr/>
          <p:nvPr/>
        </p:nvSpPr>
        <p:spPr>
          <a:xfrm>
            <a:off x="4978400" y="292100"/>
            <a:ext cx="35687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181C23"/>
                </a:solidFill>
                <a:latin typeface="Funnel Sans"/>
              </a:rPr>
              <a:t>Proposed availability check</a:t>
            </a:r>
            <a:endParaRPr lang="en-US" sz="1000"/>
          </a:p>
        </p:txBody>
      </p:sp>
      <p:sp>
        <p:nvSpPr>
          <p:cNvPr id="8" name="shape 8"/>
          <p:cNvSpPr/>
          <p:nvPr/>
        </p:nvSpPr>
        <p:spPr>
          <a:xfrm>
            <a:off x="8826500" y="228600"/>
            <a:ext cx="2959100" cy="292100"/>
          </a:xfrm>
          <a:prstGeom prst="roundRect">
            <a:avLst/>
          </a:prstGeom>
          <a:solidFill>
            <a:srgbClr val="FFF2DF"/>
          </a:solidFill>
          <a:ln>
            <a:noFill/>
          </a:ln>
        </p:spPr>
      </p:sp>
      <p:sp>
        <p:nvSpPr>
          <p:cNvPr id="9" name="text 9"/>
          <p:cNvSpPr/>
          <p:nvPr/>
        </p:nvSpPr>
        <p:spPr>
          <a:xfrm>
            <a:off x="8940800" y="292100"/>
            <a:ext cx="2730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98641E"/>
                </a:solidFill>
                <a:latin typeface="Funnel Sans"/>
              </a:rPr>
              <a:t>Planned · deferred</a:t>
            </a:r>
            <a:endParaRPr lang="en-US" sz="1000"/>
          </a:p>
        </p:txBody>
      </p:sp>
      <p:sp>
        <p:nvSpPr>
          <p:cNvPr id="10" name="text 10"/>
          <p:cNvSpPr/>
          <p:nvPr/>
        </p:nvSpPr>
        <p:spPr>
          <a:xfrm>
            <a:off x="406400" y="698500"/>
            <a:ext cx="11379200" cy="508000"/>
          </a:xfrm>
          <a:prstGeom prst="rect">
            <a:avLst/>
          </a:prstGeom>
          <a:noFill/>
          <a:ln>
            <a:noFill/>
          </a:ln>
        </p:spPr>
        <p:txBody>
          <a:bodyPr wrap="none" lIns="0" tIns="0" rIns="0" bIns="0" anchor="t">
            <a:noAutofit/>
          </a:bodyPr>
          <a:lstStyle/>
          <a:p>
            <a:pPr algn="l">
              <a:lnSpc>
                <a:spcPts val="3192"/>
              </a:lnSpc>
              <a:spcAft>
                <a:spcPts val="0"/>
              </a:spcAft>
            </a:pPr>
            <a:r>
              <a:rPr lang="en-US" sz="2800" b="1" dirty="0">
                <a:solidFill>
                  <a:srgbClr val="181C23"/>
                </a:solidFill>
                <a:latin typeface="Funnel Sans"/>
              </a:rPr>
              <a:t>Post-outcome / look-ahead field</a:t>
            </a:r>
            <a:endParaRPr lang="en-US" sz="2800"/>
          </a:p>
        </p:txBody>
      </p:sp>
      <p:sp>
        <p:nvSpPr>
          <p:cNvPr id="11" name="text 11"/>
          <p:cNvSpPr/>
          <p:nvPr/>
        </p:nvSpPr>
        <p:spPr>
          <a:xfrm>
            <a:off x="419100" y="1320800"/>
            <a:ext cx="11353800" cy="4445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Find features that would not have been available at the prediction or assessment date.</a:t>
            </a:r>
            <a:endParaRPr lang="en-US" sz="1500"/>
          </a:p>
        </p:txBody>
      </p:sp>
      <p:sp>
        <p:nvSpPr>
          <p:cNvPr id="12" name="shape 12"/>
          <p:cNvSpPr/>
          <p:nvPr/>
        </p:nvSpPr>
        <p:spPr>
          <a:xfrm>
            <a:off x="406400" y="1905000"/>
            <a:ext cx="3632200" cy="1549400"/>
          </a:xfrm>
          <a:prstGeom prst="roundRect">
            <a:avLst/>
          </a:prstGeom>
          <a:solidFill>
            <a:srgbClr val="FFFFFF"/>
          </a:solidFill>
          <a:ln w="12700">
            <a:solidFill>
              <a:srgbClr val="DEDCD6"/>
            </a:solidFill>
          </a:ln>
        </p:spPr>
      </p:sp>
      <p:sp>
        <p:nvSpPr>
          <p:cNvPr id="13" name="text 13"/>
          <p:cNvSpPr/>
          <p:nvPr/>
        </p:nvSpPr>
        <p:spPr>
          <a:xfrm>
            <a:off x="571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USER &amp; TRIGGER</a:t>
            </a:r>
            <a:endParaRPr lang="en-US" sz="1000"/>
          </a:p>
        </p:txBody>
      </p:sp>
      <p:sp>
        <p:nvSpPr>
          <p:cNvPr id="14" name="text 14"/>
          <p:cNvSpPr/>
          <p:nvPr/>
        </p:nvSpPr>
        <p:spPr>
          <a:xfrm>
            <a:off x="571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Model developer / data owner</a:t>
            </a:r>
            <a:endParaRPr lang="en-US" sz="1325"/>
          </a:p>
          <a:p>
            <a:pPr algn="l">
              <a:lnSpc>
                <a:spcPts val="1510"/>
              </a:lnSpc>
              <a:spcAft>
                <a:spcPts val="0"/>
              </a:spcAft>
            </a:pPr>
            <a:r>
              <a:rPr lang="en-US" sz="1325" b="0" dirty="0">
                <a:solidFill>
                  <a:srgbClr val="181C23"/>
                </a:solidFill>
                <a:latin typeface="Funnel Sans"/>
              </a:rPr>
              <a:t>Intended before feature approval and</a:t>
            </a:r>
            <a:endParaRPr lang="en-US" sz="1325"/>
          </a:p>
          <a:p>
            <a:pPr algn="l">
              <a:lnSpc>
                <a:spcPts val="1510"/>
              </a:lnSpc>
              <a:spcAft>
                <a:spcPts val="0"/>
              </a:spcAft>
            </a:pPr>
            <a:r>
              <a:rPr lang="en-US" sz="1325" b="0" dirty="0">
                <a:solidFill>
                  <a:srgbClr val="181C23"/>
                </a:solidFill>
                <a:latin typeface="Funnel Sans"/>
              </a:rPr>
              <a:t>after source or transformation changes.</a:t>
            </a:r>
            <a:endParaRPr lang="en-US" sz="1325"/>
          </a:p>
        </p:txBody>
      </p:sp>
      <p:sp>
        <p:nvSpPr>
          <p:cNvPr id="15" name="shape 15"/>
          <p:cNvSpPr/>
          <p:nvPr/>
        </p:nvSpPr>
        <p:spPr>
          <a:xfrm>
            <a:off x="4279900" y="1905000"/>
            <a:ext cx="3632200" cy="1549400"/>
          </a:xfrm>
          <a:prstGeom prst="roundRect">
            <a:avLst/>
          </a:prstGeom>
          <a:solidFill>
            <a:srgbClr val="FFFFFF"/>
          </a:solidFill>
          <a:ln w="12700">
            <a:solidFill>
              <a:srgbClr val="DEDCD6"/>
            </a:solidFill>
          </a:ln>
        </p:spPr>
      </p:sp>
      <p:sp>
        <p:nvSpPr>
          <p:cNvPr id="16" name="text 16"/>
          <p:cNvSpPr/>
          <p:nvPr/>
        </p:nvSpPr>
        <p:spPr>
          <a:xfrm>
            <a:off x="44450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INPUTS &amp; READINESS</a:t>
            </a:r>
            <a:endParaRPr lang="en-US" sz="1000"/>
          </a:p>
        </p:txBody>
      </p:sp>
      <p:sp>
        <p:nvSpPr>
          <p:cNvPr id="17" name="text 17"/>
          <p:cNvSpPr/>
          <p:nvPr/>
        </p:nvSpPr>
        <p:spPr>
          <a:xfrm>
            <a:off x="44450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Proposed: feature inventory, actual</a:t>
            </a:r>
            <a:endParaRPr lang="en-US" sz="1325"/>
          </a:p>
          <a:p>
            <a:pPr algn="l">
              <a:lnSpc>
                <a:spcPts val="1510"/>
              </a:lnSpc>
              <a:spcAft>
                <a:spcPts val="0"/>
              </a:spcAft>
            </a:pPr>
            <a:r>
              <a:rPr lang="en-US" sz="1325" b="0" dirty="0">
                <a:solidFill>
                  <a:srgbClr val="181C23"/>
                </a:solidFill>
                <a:latin typeface="Funnel Sans"/>
              </a:rPr>
              <a:t>availability timestamps, as-of date,</a:t>
            </a:r>
            <a:endParaRPr lang="en-US" sz="1325"/>
          </a:p>
          <a:p>
            <a:pPr algn="l">
              <a:lnSpc>
                <a:spcPts val="1510"/>
              </a:lnSpc>
              <a:spcAft>
                <a:spcPts val="0"/>
              </a:spcAft>
            </a:pPr>
            <a:r>
              <a:rPr lang="en-US" sz="1325" b="0" dirty="0">
                <a:solidFill>
                  <a:srgbClr val="181C23"/>
                </a:solidFill>
                <a:latin typeface="Funnel Sans"/>
              </a:rPr>
              <a:t>outcome date and transformation</a:t>
            </a:r>
            <a:endParaRPr lang="en-US" sz="1325"/>
          </a:p>
          <a:p>
            <a:pPr algn="l">
              <a:lnSpc>
                <a:spcPts val="1510"/>
              </a:lnSpc>
              <a:spcAft>
                <a:spcPts val="0"/>
              </a:spcAft>
            </a:pPr>
            <a:r>
              <a:rPr lang="en-US" sz="1325" b="0" dirty="0">
                <a:solidFill>
                  <a:srgbClr val="181C23"/>
                </a:solidFill>
                <a:latin typeface="Funnel Sans"/>
              </a:rPr>
              <a:t>lineage.</a:t>
            </a:r>
            <a:endParaRPr lang="en-US" sz="1325"/>
          </a:p>
        </p:txBody>
      </p:sp>
      <p:sp>
        <p:nvSpPr>
          <p:cNvPr id="18" name="shape 18"/>
          <p:cNvSpPr/>
          <p:nvPr/>
        </p:nvSpPr>
        <p:spPr>
          <a:xfrm>
            <a:off x="8153400" y="1905000"/>
            <a:ext cx="3632200" cy="1549400"/>
          </a:xfrm>
          <a:prstGeom prst="roundRect">
            <a:avLst/>
          </a:prstGeom>
          <a:solidFill>
            <a:srgbClr val="FFF2DF"/>
          </a:solidFill>
          <a:ln w="12700">
            <a:solidFill>
              <a:srgbClr val="DEDCD6"/>
            </a:solidFill>
          </a:ln>
        </p:spPr>
      </p:sp>
      <p:sp>
        <p:nvSpPr>
          <p:cNvPr id="19" name="text 19"/>
          <p:cNvSpPr/>
          <p:nvPr/>
        </p:nvSpPr>
        <p:spPr>
          <a:xfrm>
            <a:off x="8318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OUTPUTS &amp; EVIDENCE</a:t>
            </a:r>
            <a:endParaRPr lang="en-US" sz="1000"/>
          </a:p>
        </p:txBody>
      </p:sp>
      <p:sp>
        <p:nvSpPr>
          <p:cNvPr id="20" name="text 20"/>
          <p:cNvSpPr/>
          <p:nvPr/>
        </p:nvSpPr>
        <p:spPr>
          <a:xfrm>
            <a:off x="8318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Proposed: flagged post-outcome /</a:t>
            </a:r>
            <a:endParaRPr lang="en-US" sz="1325"/>
          </a:p>
          <a:p>
            <a:pPr algn="l">
              <a:lnSpc>
                <a:spcPts val="1510"/>
              </a:lnSpc>
              <a:spcAft>
                <a:spcPts val="0"/>
              </a:spcAft>
            </a:pPr>
            <a:r>
              <a:rPr lang="en-US" sz="1325" b="0" dirty="0">
                <a:solidFill>
                  <a:srgbClr val="181C23"/>
                </a:solidFill>
                <a:latin typeface="Funnel Sans"/>
              </a:rPr>
              <a:t>look-ahead fields and timing evidence for</a:t>
            </a:r>
            <a:endParaRPr lang="en-US" sz="1325"/>
          </a:p>
          <a:p>
            <a:pPr algn="l">
              <a:lnSpc>
                <a:spcPts val="1510"/>
              </a:lnSpc>
              <a:spcAft>
                <a:spcPts val="0"/>
              </a:spcAft>
            </a:pPr>
            <a:r>
              <a:rPr lang="en-US" sz="1325" b="0" dirty="0">
                <a:solidFill>
                  <a:srgbClr val="181C23"/>
                </a:solidFill>
                <a:latin typeface="Funnel Sans"/>
              </a:rPr>
              <a:t>each field.</a:t>
            </a:r>
            <a:endParaRPr lang="en-US" sz="1325"/>
          </a:p>
        </p:txBody>
      </p:sp>
      <p:sp>
        <p:nvSpPr>
          <p:cNvPr id="21" name="text 21"/>
          <p:cNvSpPr/>
          <p:nvPr/>
        </p:nvSpPr>
        <p:spPr>
          <a:xfrm>
            <a:off x="406400" y="3606800"/>
            <a:ext cx="7747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PROCESSING FLOW</a:t>
            </a:r>
            <a:endParaRPr lang="en-US" sz="1000"/>
          </a:p>
        </p:txBody>
      </p:sp>
      <p:sp>
        <p:nvSpPr>
          <p:cNvPr id="22" name="shape 22"/>
          <p:cNvSpPr/>
          <p:nvPr/>
        </p:nvSpPr>
        <p:spPr>
          <a:xfrm>
            <a:off x="406400" y="3898900"/>
            <a:ext cx="2113280" cy="774700"/>
          </a:xfrm>
          <a:prstGeom prst="roundRect">
            <a:avLst/>
          </a:prstGeom>
          <a:solidFill>
            <a:srgbClr val="FFF2DF"/>
          </a:solidFill>
          <a:ln>
            <a:noFill/>
          </a:ln>
        </p:spPr>
      </p:sp>
      <p:sp>
        <p:nvSpPr>
          <p:cNvPr id="23" name="text 23"/>
          <p:cNvSpPr/>
          <p:nvPr/>
        </p:nvSpPr>
        <p:spPr>
          <a:xfrm>
            <a:off x="53340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01</a:t>
            </a:r>
            <a:endParaRPr lang="en-US" sz="1200"/>
          </a:p>
        </p:txBody>
      </p:sp>
      <p:sp>
        <p:nvSpPr>
          <p:cNvPr id="24" name="text 24"/>
          <p:cNvSpPr/>
          <p:nvPr/>
        </p:nvSpPr>
        <p:spPr>
          <a:xfrm>
            <a:off x="87630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Inventory</a:t>
            </a:r>
            <a:endParaRPr lang="en-US" sz="1250"/>
          </a:p>
        </p:txBody>
      </p:sp>
      <p:sp>
        <p:nvSpPr>
          <p:cNvPr id="25" name="text 25"/>
          <p:cNvSpPr/>
          <p:nvPr/>
        </p:nvSpPr>
        <p:spPr>
          <a:xfrm>
            <a:off x="53340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Features + lineage</a:t>
            </a:r>
            <a:endParaRPr lang="en-US" sz="1100"/>
          </a:p>
        </p:txBody>
      </p:sp>
      <p:cxnSp>
        <p:nvCxnSpPr>
          <p:cNvPr id="26" name="connector 26"/>
          <p:cNvCxnSpPr/>
          <p:nvPr/>
        </p:nvCxnSpPr>
        <p:spPr>
          <a:xfrm>
            <a:off x="254508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2722880" y="3898900"/>
            <a:ext cx="2113280" cy="774700"/>
          </a:xfrm>
          <a:prstGeom prst="roundRect">
            <a:avLst/>
          </a:prstGeom>
          <a:solidFill>
            <a:srgbClr val="FFF2DF"/>
          </a:solidFill>
          <a:ln>
            <a:noFill/>
          </a:ln>
        </p:spPr>
      </p:sp>
      <p:sp>
        <p:nvSpPr>
          <p:cNvPr id="28" name="text 28"/>
          <p:cNvSpPr/>
          <p:nvPr/>
        </p:nvSpPr>
        <p:spPr>
          <a:xfrm>
            <a:off x="284988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02</a:t>
            </a:r>
            <a:endParaRPr lang="en-US" sz="1200"/>
          </a:p>
        </p:txBody>
      </p:sp>
      <p:sp>
        <p:nvSpPr>
          <p:cNvPr id="29" name="text 29"/>
          <p:cNvSpPr/>
          <p:nvPr/>
        </p:nvSpPr>
        <p:spPr>
          <a:xfrm>
            <a:off x="319278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Establish</a:t>
            </a:r>
            <a:endParaRPr lang="en-US" sz="1250"/>
          </a:p>
        </p:txBody>
      </p:sp>
      <p:sp>
        <p:nvSpPr>
          <p:cNvPr id="30" name="text 30"/>
          <p:cNvSpPr/>
          <p:nvPr/>
        </p:nvSpPr>
        <p:spPr>
          <a:xfrm>
            <a:off x="284988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Actual availability</a:t>
            </a:r>
            <a:endParaRPr lang="en-US" sz="1100"/>
          </a:p>
        </p:txBody>
      </p:sp>
      <p:cxnSp>
        <p:nvCxnSpPr>
          <p:cNvPr id="31" name="connector 31"/>
          <p:cNvCxnSpPr/>
          <p:nvPr/>
        </p:nvCxnSpPr>
        <p:spPr>
          <a:xfrm>
            <a:off x="486156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2" name="shape 32"/>
          <p:cNvSpPr/>
          <p:nvPr/>
        </p:nvSpPr>
        <p:spPr>
          <a:xfrm>
            <a:off x="5039360" y="3898900"/>
            <a:ext cx="2113280" cy="774700"/>
          </a:xfrm>
          <a:prstGeom prst="roundRect">
            <a:avLst/>
          </a:prstGeom>
          <a:solidFill>
            <a:srgbClr val="FFF2DF"/>
          </a:solidFill>
          <a:ln>
            <a:noFill/>
          </a:ln>
        </p:spPr>
      </p:sp>
      <p:sp>
        <p:nvSpPr>
          <p:cNvPr id="33" name="text 33"/>
          <p:cNvSpPr/>
          <p:nvPr/>
        </p:nvSpPr>
        <p:spPr>
          <a:xfrm>
            <a:off x="516636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03</a:t>
            </a:r>
            <a:endParaRPr lang="en-US" sz="1200"/>
          </a:p>
        </p:txBody>
      </p:sp>
      <p:sp>
        <p:nvSpPr>
          <p:cNvPr id="34" name="text 34"/>
          <p:cNvSpPr/>
          <p:nvPr/>
        </p:nvSpPr>
        <p:spPr>
          <a:xfrm>
            <a:off x="550926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Align</a:t>
            </a:r>
            <a:endParaRPr lang="en-US" sz="1250"/>
          </a:p>
        </p:txBody>
      </p:sp>
      <p:sp>
        <p:nvSpPr>
          <p:cNvPr id="35" name="text 35"/>
          <p:cNvSpPr/>
          <p:nvPr/>
        </p:nvSpPr>
        <p:spPr>
          <a:xfrm>
            <a:off x="516636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As-of / outcome dates</a:t>
            </a:r>
            <a:endParaRPr lang="en-US" sz="1100"/>
          </a:p>
        </p:txBody>
      </p:sp>
      <p:cxnSp>
        <p:nvCxnSpPr>
          <p:cNvPr id="36" name="connector 36"/>
          <p:cNvCxnSpPr/>
          <p:nvPr/>
        </p:nvCxnSpPr>
        <p:spPr>
          <a:xfrm>
            <a:off x="717804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7" name="shape 37"/>
          <p:cNvSpPr/>
          <p:nvPr/>
        </p:nvSpPr>
        <p:spPr>
          <a:xfrm>
            <a:off x="7355840" y="3898900"/>
            <a:ext cx="2113280" cy="774700"/>
          </a:xfrm>
          <a:prstGeom prst="roundRect">
            <a:avLst/>
          </a:prstGeom>
          <a:solidFill>
            <a:srgbClr val="FFF2DF"/>
          </a:solidFill>
          <a:ln>
            <a:noFill/>
          </a:ln>
        </p:spPr>
      </p:sp>
      <p:sp>
        <p:nvSpPr>
          <p:cNvPr id="38" name="text 38"/>
          <p:cNvSpPr/>
          <p:nvPr/>
        </p:nvSpPr>
        <p:spPr>
          <a:xfrm>
            <a:off x="748284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04</a:t>
            </a:r>
            <a:endParaRPr lang="en-US" sz="1200"/>
          </a:p>
        </p:txBody>
      </p:sp>
      <p:sp>
        <p:nvSpPr>
          <p:cNvPr id="39" name="text 39"/>
          <p:cNvSpPr/>
          <p:nvPr/>
        </p:nvSpPr>
        <p:spPr>
          <a:xfrm>
            <a:off x="782574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Flag</a:t>
            </a:r>
            <a:endParaRPr lang="en-US" sz="1250"/>
          </a:p>
        </p:txBody>
      </p:sp>
      <p:sp>
        <p:nvSpPr>
          <p:cNvPr id="40" name="text 40"/>
          <p:cNvSpPr/>
          <p:nvPr/>
        </p:nvSpPr>
        <p:spPr>
          <a:xfrm>
            <a:off x="748284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Look-ahead exposure</a:t>
            </a:r>
            <a:endParaRPr lang="en-US" sz="1100"/>
          </a:p>
        </p:txBody>
      </p:sp>
      <p:cxnSp>
        <p:nvCxnSpPr>
          <p:cNvPr id="41" name="connector 41"/>
          <p:cNvCxnSpPr/>
          <p:nvPr/>
        </p:nvCxnSpPr>
        <p:spPr>
          <a:xfrm>
            <a:off x="949452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9672320" y="3898900"/>
            <a:ext cx="2113280" cy="774700"/>
          </a:xfrm>
          <a:prstGeom prst="roundRect">
            <a:avLst/>
          </a:prstGeom>
          <a:solidFill>
            <a:srgbClr val="FFF2DF"/>
          </a:solidFill>
          <a:ln>
            <a:noFill/>
          </a:ln>
        </p:spPr>
      </p:sp>
      <p:sp>
        <p:nvSpPr>
          <p:cNvPr id="43" name="text 43"/>
          <p:cNvSpPr/>
          <p:nvPr/>
        </p:nvSpPr>
        <p:spPr>
          <a:xfrm>
            <a:off x="979932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05</a:t>
            </a:r>
            <a:endParaRPr lang="en-US" sz="1200"/>
          </a:p>
        </p:txBody>
      </p:sp>
      <p:sp>
        <p:nvSpPr>
          <p:cNvPr id="44" name="text 44"/>
          <p:cNvSpPr/>
          <p:nvPr/>
        </p:nvSpPr>
        <p:spPr>
          <a:xfrm>
            <a:off x="1014222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Review</a:t>
            </a:r>
            <a:endParaRPr lang="en-US" sz="1250"/>
          </a:p>
        </p:txBody>
      </p:sp>
      <p:sp>
        <p:nvSpPr>
          <p:cNvPr id="45" name="text 45"/>
          <p:cNvSpPr/>
          <p:nvPr/>
        </p:nvSpPr>
        <p:spPr>
          <a:xfrm>
            <a:off x="979932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Timing with owners</a:t>
            </a:r>
            <a:endParaRPr lang="en-US" sz="1100"/>
          </a:p>
        </p:txBody>
      </p:sp>
      <p:sp>
        <p:nvSpPr>
          <p:cNvPr id="46" name="shape 46"/>
          <p:cNvSpPr/>
          <p:nvPr/>
        </p:nvSpPr>
        <p:spPr>
          <a:xfrm>
            <a:off x="406400" y="4851400"/>
            <a:ext cx="5562600" cy="1206500"/>
          </a:xfrm>
          <a:prstGeom prst="roundRect">
            <a:avLst/>
          </a:prstGeom>
          <a:solidFill>
            <a:srgbClr val="FFFFFF"/>
          </a:solidFill>
          <a:ln w="12700">
            <a:solidFill>
              <a:srgbClr val="DEDCD6"/>
            </a:solidFill>
          </a:ln>
        </p:spPr>
      </p:sp>
      <p:sp>
        <p:nvSpPr>
          <p:cNvPr id="47" name="text 47"/>
          <p:cNvSpPr/>
          <p:nvPr/>
        </p:nvSpPr>
        <p:spPr>
          <a:xfrm>
            <a:off x="5715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FINDING → ISSUE</a:t>
            </a:r>
            <a:endParaRPr lang="en-US" sz="1000"/>
          </a:p>
        </p:txBody>
      </p:sp>
      <p:sp>
        <p:nvSpPr>
          <p:cNvPr id="48" name="text 48"/>
          <p:cNvSpPr/>
          <p:nvPr/>
        </p:nvSpPr>
        <p:spPr>
          <a:xfrm>
            <a:off x="5715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Proposed gate: flag any post-outcome field included in features.</a:t>
            </a:r>
            <a:endParaRPr lang="en-US" sz="1250"/>
          </a:p>
          <a:p>
            <a:pPr algn="l">
              <a:lnSpc>
                <a:spcPts val="1425"/>
              </a:lnSpc>
              <a:spcAft>
                <a:spcPts val="0"/>
              </a:spcAft>
            </a:pPr>
            <a:r>
              <a:rPr lang="en-US" sz="1250" b="0" dirty="0">
                <a:solidFill>
                  <a:srgbClr val="181C23"/>
                </a:solidFill>
                <a:latin typeface="Funnel Sans"/>
              </a:rPr>
              <a:t>Validate actual operational availability and construction history before</a:t>
            </a:r>
            <a:endParaRPr lang="en-US" sz="1250"/>
          </a:p>
          <a:p>
            <a:pPr algn="l">
              <a:lnSpc>
                <a:spcPts val="1425"/>
              </a:lnSpc>
              <a:spcAft>
                <a:spcPts val="0"/>
              </a:spcAft>
            </a:pPr>
            <a:r>
              <a:rPr lang="en-US" sz="1250" b="0" dirty="0">
                <a:solidFill>
                  <a:srgbClr val="181C23"/>
                </a:solidFill>
                <a:latin typeface="Funnel Sans"/>
              </a:rPr>
              <a:t>treating it as leakage.</a:t>
            </a:r>
            <a:endParaRPr lang="en-US" sz="1250"/>
          </a:p>
        </p:txBody>
      </p:sp>
      <p:sp>
        <p:nvSpPr>
          <p:cNvPr id="49" name="shape 49"/>
          <p:cNvSpPr/>
          <p:nvPr/>
        </p:nvSpPr>
        <p:spPr>
          <a:xfrm>
            <a:off x="6223000" y="4851400"/>
            <a:ext cx="5562600" cy="1206500"/>
          </a:xfrm>
          <a:prstGeom prst="roundRect">
            <a:avLst/>
          </a:prstGeom>
          <a:solidFill>
            <a:srgbClr val="FFFFFF"/>
          </a:solidFill>
          <a:ln w="12700">
            <a:solidFill>
              <a:srgbClr val="DEDCD6"/>
            </a:solidFill>
          </a:ln>
        </p:spPr>
      </p:sp>
      <p:sp>
        <p:nvSpPr>
          <p:cNvPr id="50" name="text 50"/>
          <p:cNvSpPr/>
          <p:nvPr/>
        </p:nvSpPr>
        <p:spPr>
          <a:xfrm>
            <a:off x="63881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RCA → ACTION</a:t>
            </a:r>
            <a:endParaRPr lang="en-US" sz="1000"/>
          </a:p>
        </p:txBody>
      </p:sp>
      <p:sp>
        <p:nvSpPr>
          <p:cNvPr id="51" name="text 51"/>
          <p:cNvSpPr/>
          <p:nvPr/>
        </p:nvSpPr>
        <p:spPr>
          <a:xfrm>
            <a:off x="63881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Proposed: trace late source updates and look-ahead joins; rebuild</a:t>
            </a:r>
            <a:endParaRPr lang="en-US" sz="1250"/>
          </a:p>
          <a:p>
            <a:pPr algn="l">
              <a:lnSpc>
                <a:spcPts val="1425"/>
              </a:lnSpc>
              <a:spcAft>
                <a:spcPts val="0"/>
              </a:spcAft>
            </a:pPr>
            <a:r>
              <a:rPr lang="en-US" sz="1250" b="0" dirty="0">
                <a:solidFill>
                  <a:srgbClr val="181C23"/>
                </a:solidFill>
                <a:latin typeface="Funnel Sans"/>
              </a:rPr>
              <a:t>time-correct features or remove affected inputs, then reassess on a</a:t>
            </a:r>
            <a:endParaRPr lang="en-US" sz="1250"/>
          </a:p>
          <a:p>
            <a:pPr algn="l">
              <a:lnSpc>
                <a:spcPts val="1425"/>
              </a:lnSpc>
              <a:spcAft>
                <a:spcPts val="0"/>
              </a:spcAft>
            </a:pPr>
            <a:r>
              <a:rPr lang="en-US" sz="1250" b="0" dirty="0">
                <a:solidFill>
                  <a:srgbClr val="181C23"/>
                </a:solidFill>
                <a:latin typeface="Funnel Sans"/>
              </a:rPr>
              <a:t>valid snapshot.</a:t>
            </a:r>
            <a:endParaRPr lang="en-US" sz="1250"/>
          </a:p>
        </p:txBody>
      </p:sp>
      <p:sp>
        <p:nvSpPr>
          <p:cNvPr id="52" name="shape 52"/>
          <p:cNvSpPr/>
          <p:nvPr/>
        </p:nvSpPr>
        <p:spPr>
          <a:xfrm>
            <a:off x="406400" y="6172200"/>
            <a:ext cx="11379200" cy="292100"/>
          </a:xfrm>
          <a:prstGeom prst="roundRect">
            <a:avLst/>
          </a:prstGeom>
          <a:solidFill>
            <a:srgbClr val="282A27"/>
          </a:solidFill>
          <a:ln>
            <a:noFill/>
          </a:ln>
        </p:spPr>
      </p:sp>
      <p:sp>
        <p:nvSpPr>
          <p:cNvPr id="53" name="text 53"/>
          <p:cNvSpPr/>
          <p:nvPr/>
        </p:nvSpPr>
        <p:spPr>
          <a:xfrm>
            <a:off x="546100" y="6235700"/>
            <a:ext cx="11099800" cy="203200"/>
          </a:xfrm>
          <a:prstGeom prst="rect">
            <a:avLst/>
          </a:prstGeom>
          <a:noFill/>
          <a:ln>
            <a:noFill/>
          </a:ln>
        </p:spPr>
        <p:txBody>
          <a:bodyPr wrap="none" lIns="0" tIns="0" rIns="0" bIns="0" anchor="t">
            <a:noAutofit/>
          </a:bodyPr>
          <a:lstStyle/>
          <a:p>
            <a:pPr algn="l">
              <a:lnSpc>
                <a:spcPts val="1197"/>
              </a:lnSpc>
              <a:spcAft>
                <a:spcPts val="0"/>
              </a:spcAft>
            </a:pPr>
            <a:r>
              <a:rPr lang="en-US" sz="1050" b="0" dirty="0">
                <a:solidFill>
                  <a:srgbClr val="FFFFFF"/>
                </a:solidFill>
                <a:latin typeface="Funnel Sans"/>
              </a:rPr>
              <a:t>Deferred catalog diagnostic: not registered or executable. Timestamp lineage alone may not prove availability.</a:t>
            </a:r>
            <a:endParaRPr lang="en-US" sz="1050"/>
          </a:p>
        </p:txBody>
      </p:sp>
      <p:cxnSp>
        <p:nvCxnSpPr>
          <p:cNvPr id="54" name="connector 54"/>
          <p:cNvCxnSpPr/>
          <p:nvPr/>
        </p:nvCxnSpPr>
        <p:spPr>
          <a:xfrm>
            <a:off x="406400" y="6553200"/>
            <a:ext cx="113792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55" name="text 55"/>
          <p:cNvSpPr/>
          <p:nvPr/>
        </p:nvSpPr>
        <p:spPr>
          <a:xfrm>
            <a:off x="406400" y="6629400"/>
            <a:ext cx="5715000" cy="152400"/>
          </a:xfrm>
          <a:prstGeom prst="rect">
            <a:avLst/>
          </a:prstGeom>
          <a:noFill/>
          <a:ln>
            <a:noFill/>
          </a:ln>
        </p:spPr>
        <p:txBody>
          <a:bodyPr wrap="none" lIns="0" tIns="0" rIns="0" bIns="0" anchor="t">
            <a:noAutofit/>
          </a:bodyPr>
          <a:lstStyle/>
          <a:p>
            <a:pPr algn="l">
              <a:lnSpc>
                <a:spcPts val="969"/>
              </a:lnSpc>
              <a:spcAft>
                <a:spcPts val="0"/>
              </a:spcAft>
            </a:pPr>
            <a:r>
              <a:rPr lang="en-US" sz="850" b="0" dirty="0">
                <a:solidFill>
                  <a:srgbClr val="6D706B"/>
                </a:solidFill>
                <a:latin typeface="Funnel Sans"/>
              </a:rPr>
              <a:t>DATA WORKBENCH / Diagnostic quick reference</a:t>
            </a:r>
            <a:endParaRPr lang="en-US" sz="850"/>
          </a:p>
        </p:txBody>
      </p:sp>
      <p:sp>
        <p:nvSpPr>
          <p:cNvPr id="56" name="text 56"/>
          <p:cNvSpPr/>
          <p:nvPr/>
        </p:nvSpPr>
        <p:spPr>
          <a:xfrm>
            <a:off x="6223000" y="6629400"/>
            <a:ext cx="4254500" cy="152400"/>
          </a:xfrm>
          <a:prstGeom prst="rect">
            <a:avLst/>
          </a:prstGeom>
          <a:noFill/>
          <a:ln>
            <a:noFill/>
          </a:ln>
        </p:spPr>
        <p:txBody>
          <a:bodyPr wrap="none" lIns="0" tIns="0" rIns="0" bIns="0" anchor="t">
            <a:noAutofit/>
          </a:bodyPr>
          <a:lstStyle/>
          <a:p>
            <a:pPr algn="r">
              <a:lnSpc>
                <a:spcPts val="969"/>
              </a:lnSpc>
              <a:spcAft>
                <a:spcPts val="0"/>
              </a:spcAft>
            </a:pPr>
            <a:r>
              <a:rPr lang="en-US" sz="850" b="0" dirty="0">
                <a:solidFill>
                  <a:srgbClr val="6D706B"/>
                </a:solidFill>
                <a:latin typeface="Funnel Sans"/>
              </a:rPr>
              <a:t>Full deck: slide 63</a:t>
            </a:r>
            <a:endParaRPr lang="en-US" sz="850"/>
          </a:p>
        </p:txBody>
      </p:sp>
      <p:sp>
        <p:nvSpPr>
          <p:cNvPr id="57" name="text 57"/>
          <p:cNvSpPr/>
          <p:nvPr/>
        </p:nvSpPr>
        <p:spPr>
          <a:xfrm>
            <a:off x="10795000" y="6616700"/>
            <a:ext cx="990600" cy="177800"/>
          </a:xfrm>
          <a:prstGeom prst="rect">
            <a:avLst/>
          </a:prstGeom>
          <a:noFill/>
          <a:ln>
            <a:noFill/>
          </a:ln>
        </p:spPr>
        <p:txBody>
          <a:bodyPr wrap="none" lIns="0" tIns="0" rIns="0" bIns="0" anchor="t">
            <a:noAutofit/>
          </a:bodyPr>
          <a:lstStyle/>
          <a:p>
            <a:pPr algn="r">
              <a:lnSpc>
                <a:spcPts val="1083"/>
              </a:lnSpc>
              <a:spcAft>
                <a:spcPts val="0"/>
              </a:spcAft>
            </a:pPr>
            <a:r>
              <a:rPr lang="en-US" sz="950" b="0" dirty="0">
                <a:solidFill>
                  <a:srgbClr val="6D706B"/>
                </a:solidFill>
                <a:latin typeface="Funnel Sans"/>
              </a:rPr>
              <a:t>12 / 22</a:t>
            </a:r>
            <a:endParaRPr lang="en-US" sz="95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shape 3"/>
          <p:cNvSpPr/>
          <p:nvPr/>
        </p:nvSpPr>
        <p:spPr>
          <a:xfrm>
            <a:off x="406400" y="228600"/>
            <a:ext cx="1181100" cy="292100"/>
          </a:xfrm>
          <a:prstGeom prst="roundRect">
            <a:avLst/>
          </a:prstGeom>
          <a:solidFill>
            <a:srgbClr val="FFF2DF"/>
          </a:solidFill>
          <a:ln>
            <a:noFill/>
          </a:ln>
        </p:spPr>
      </p:sp>
      <p:sp>
        <p:nvSpPr>
          <p:cNvPr id="4" name="text 4"/>
          <p:cNvSpPr/>
          <p:nvPr/>
        </p:nvSpPr>
        <p:spPr>
          <a:xfrm>
            <a:off x="520700" y="292100"/>
            <a:ext cx="952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T1-D03</a:t>
            </a:r>
            <a:endParaRPr lang="en-US" sz="1000"/>
          </a:p>
        </p:txBody>
      </p:sp>
      <p:sp>
        <p:nvSpPr>
          <p:cNvPr id="5" name="text 5"/>
          <p:cNvSpPr/>
          <p:nvPr/>
        </p:nvSpPr>
        <p:spPr>
          <a:xfrm>
            <a:off x="1739900" y="304800"/>
            <a:ext cx="3022600" cy="190500"/>
          </a:xfrm>
          <a:prstGeom prst="rect">
            <a:avLst/>
          </a:prstGeom>
          <a:noFill/>
          <a:ln>
            <a:noFill/>
          </a:ln>
        </p:spPr>
        <p:txBody>
          <a:bodyPr wrap="none" lIns="0" tIns="0" rIns="0" bIns="0" anchor="t">
            <a:noAutofit/>
          </a:bodyPr>
          <a:lstStyle/>
          <a:p>
            <a:pPr algn="l">
              <a:lnSpc>
                <a:spcPts val="1083"/>
              </a:lnSpc>
              <a:spcAft>
                <a:spcPts val="0"/>
              </a:spcAft>
            </a:pPr>
            <a:r>
              <a:rPr lang="en-US" sz="950" b="1" dirty="0">
                <a:solidFill>
                  <a:srgbClr val="6D706B"/>
                </a:solidFill>
                <a:latin typeface="Funnel Sans"/>
              </a:rPr>
              <a:t>LEAKAGE &amp; SIGNAL</a:t>
            </a:r>
            <a:endParaRPr lang="en-US" sz="950"/>
          </a:p>
        </p:txBody>
      </p:sp>
      <p:sp>
        <p:nvSpPr>
          <p:cNvPr id="6" name="shape 6"/>
          <p:cNvSpPr/>
          <p:nvPr/>
        </p:nvSpPr>
        <p:spPr>
          <a:xfrm>
            <a:off x="4864100" y="228600"/>
            <a:ext cx="3797300" cy="292100"/>
          </a:xfrm>
          <a:prstGeom prst="roundRect">
            <a:avLst/>
          </a:prstGeom>
          <a:solidFill>
            <a:srgbClr val="EFEEE9"/>
          </a:solidFill>
          <a:ln>
            <a:noFill/>
          </a:ln>
        </p:spPr>
      </p:sp>
      <p:sp>
        <p:nvSpPr>
          <p:cNvPr id="7" name="text 7"/>
          <p:cNvSpPr/>
          <p:nvPr/>
        </p:nvSpPr>
        <p:spPr>
          <a:xfrm>
            <a:off x="4978400" y="292100"/>
            <a:ext cx="35687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181C23"/>
                </a:solidFill>
                <a:latin typeface="Funnel Sans"/>
              </a:rPr>
              <a:t>Proposed effect-size screening</a:t>
            </a:r>
            <a:endParaRPr lang="en-US" sz="1000"/>
          </a:p>
        </p:txBody>
      </p:sp>
      <p:sp>
        <p:nvSpPr>
          <p:cNvPr id="8" name="shape 8"/>
          <p:cNvSpPr/>
          <p:nvPr/>
        </p:nvSpPr>
        <p:spPr>
          <a:xfrm>
            <a:off x="8826500" y="228600"/>
            <a:ext cx="2959100" cy="292100"/>
          </a:xfrm>
          <a:prstGeom prst="roundRect">
            <a:avLst/>
          </a:prstGeom>
          <a:solidFill>
            <a:srgbClr val="FFF2DF"/>
          </a:solidFill>
          <a:ln>
            <a:noFill/>
          </a:ln>
        </p:spPr>
      </p:sp>
      <p:sp>
        <p:nvSpPr>
          <p:cNvPr id="9" name="text 9"/>
          <p:cNvSpPr/>
          <p:nvPr/>
        </p:nvSpPr>
        <p:spPr>
          <a:xfrm>
            <a:off x="8940800" y="292100"/>
            <a:ext cx="2730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98641E"/>
                </a:solidFill>
                <a:latin typeface="Funnel Sans"/>
              </a:rPr>
              <a:t>Planned · deferred</a:t>
            </a:r>
            <a:endParaRPr lang="en-US" sz="1000"/>
          </a:p>
        </p:txBody>
      </p:sp>
      <p:sp>
        <p:nvSpPr>
          <p:cNvPr id="10" name="text 10"/>
          <p:cNvSpPr/>
          <p:nvPr/>
        </p:nvSpPr>
        <p:spPr>
          <a:xfrm>
            <a:off x="406400" y="698500"/>
            <a:ext cx="11379200" cy="508000"/>
          </a:xfrm>
          <a:prstGeom prst="rect">
            <a:avLst/>
          </a:prstGeom>
          <a:noFill/>
          <a:ln>
            <a:noFill/>
          </a:ln>
        </p:spPr>
        <p:txBody>
          <a:bodyPr wrap="none" lIns="0" tIns="0" rIns="0" bIns="0" anchor="t">
            <a:noAutofit/>
          </a:bodyPr>
          <a:lstStyle/>
          <a:p>
            <a:pPr algn="l">
              <a:lnSpc>
                <a:spcPts val="3192"/>
              </a:lnSpc>
              <a:spcAft>
                <a:spcPts val="0"/>
              </a:spcAft>
            </a:pPr>
            <a:r>
              <a:rPr lang="en-US" sz="2800" b="1" dirty="0">
                <a:solidFill>
                  <a:srgbClr val="181C23"/>
                </a:solidFill>
                <a:latin typeface="Funnel Sans"/>
              </a:rPr>
              <a:t>Categorical leakage: association / purity</a:t>
            </a:r>
            <a:endParaRPr lang="en-US" sz="2800"/>
          </a:p>
        </p:txBody>
      </p:sp>
      <p:sp>
        <p:nvSpPr>
          <p:cNvPr id="11" name="text 11"/>
          <p:cNvSpPr/>
          <p:nvPr/>
        </p:nvSpPr>
        <p:spPr>
          <a:xfrm>
            <a:off x="419100" y="1320800"/>
            <a:ext cx="11353800" cy="4445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Find category values that act as near-deterministic proxies for the target.</a:t>
            </a:r>
            <a:endParaRPr lang="en-US" sz="1500"/>
          </a:p>
        </p:txBody>
      </p:sp>
      <p:sp>
        <p:nvSpPr>
          <p:cNvPr id="12" name="shape 12"/>
          <p:cNvSpPr/>
          <p:nvPr/>
        </p:nvSpPr>
        <p:spPr>
          <a:xfrm>
            <a:off x="406400" y="1905000"/>
            <a:ext cx="3632200" cy="1549400"/>
          </a:xfrm>
          <a:prstGeom prst="roundRect">
            <a:avLst/>
          </a:prstGeom>
          <a:solidFill>
            <a:srgbClr val="FFFFFF"/>
          </a:solidFill>
          <a:ln w="12700">
            <a:solidFill>
              <a:srgbClr val="DEDCD6"/>
            </a:solidFill>
          </a:ln>
        </p:spPr>
      </p:sp>
      <p:sp>
        <p:nvSpPr>
          <p:cNvPr id="13" name="text 13"/>
          <p:cNvSpPr/>
          <p:nvPr/>
        </p:nvSpPr>
        <p:spPr>
          <a:xfrm>
            <a:off x="571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USER &amp; TRIGGER</a:t>
            </a:r>
            <a:endParaRPr lang="en-US" sz="1000"/>
          </a:p>
        </p:txBody>
      </p:sp>
      <p:sp>
        <p:nvSpPr>
          <p:cNvPr id="14" name="text 14"/>
          <p:cNvSpPr/>
          <p:nvPr/>
        </p:nvSpPr>
        <p:spPr>
          <a:xfrm>
            <a:off x="571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Model / analytics team + SME</a:t>
            </a:r>
            <a:endParaRPr lang="en-US" sz="1325"/>
          </a:p>
          <a:p>
            <a:pPr algn="l">
              <a:lnSpc>
                <a:spcPts val="1510"/>
              </a:lnSpc>
              <a:spcAft>
                <a:spcPts val="0"/>
              </a:spcAft>
            </a:pPr>
            <a:r>
              <a:rPr lang="en-US" sz="1325" b="0" dirty="0">
                <a:solidFill>
                  <a:srgbClr val="181C23"/>
                </a:solidFill>
                <a:latin typeface="Funnel Sans"/>
              </a:rPr>
              <a:t>Intended before categorical feature</a:t>
            </a:r>
            <a:endParaRPr lang="en-US" sz="1325"/>
          </a:p>
          <a:p>
            <a:pPr algn="l">
              <a:lnSpc>
                <a:spcPts val="1510"/>
              </a:lnSpc>
              <a:spcAft>
                <a:spcPts val="0"/>
              </a:spcAft>
            </a:pPr>
            <a:r>
              <a:rPr lang="en-US" sz="1325" b="0" dirty="0">
                <a:solidFill>
                  <a:srgbClr val="181C23"/>
                </a:solidFill>
                <a:latin typeface="Funnel Sans"/>
              </a:rPr>
              <a:t>acceptance.</a:t>
            </a:r>
            <a:endParaRPr lang="en-US" sz="1325"/>
          </a:p>
        </p:txBody>
      </p:sp>
      <p:sp>
        <p:nvSpPr>
          <p:cNvPr id="15" name="shape 15"/>
          <p:cNvSpPr/>
          <p:nvPr/>
        </p:nvSpPr>
        <p:spPr>
          <a:xfrm>
            <a:off x="4279900" y="1905000"/>
            <a:ext cx="3632200" cy="1549400"/>
          </a:xfrm>
          <a:prstGeom prst="roundRect">
            <a:avLst/>
          </a:prstGeom>
          <a:solidFill>
            <a:srgbClr val="FFFFFF"/>
          </a:solidFill>
          <a:ln w="12700">
            <a:solidFill>
              <a:srgbClr val="DEDCD6"/>
            </a:solidFill>
          </a:ln>
        </p:spPr>
      </p:sp>
      <p:sp>
        <p:nvSpPr>
          <p:cNvPr id="16" name="text 16"/>
          <p:cNvSpPr/>
          <p:nvPr/>
        </p:nvSpPr>
        <p:spPr>
          <a:xfrm>
            <a:off x="44450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INPUTS &amp; READINESS</a:t>
            </a:r>
            <a:endParaRPr lang="en-US" sz="1000"/>
          </a:p>
        </p:txBody>
      </p:sp>
      <p:sp>
        <p:nvSpPr>
          <p:cNvPr id="17" name="text 17"/>
          <p:cNvSpPr/>
          <p:nvPr/>
        </p:nvSpPr>
        <p:spPr>
          <a:xfrm>
            <a:off x="44450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Proposed: categorical features, target</a:t>
            </a:r>
            <a:endParaRPr lang="en-US" sz="1325"/>
          </a:p>
          <a:p>
            <a:pPr algn="l">
              <a:lnSpc>
                <a:spcPts val="1510"/>
              </a:lnSpc>
              <a:spcAft>
                <a:spcPts val="0"/>
              </a:spcAft>
            </a:pPr>
            <a:r>
              <a:rPr lang="en-US" sz="1325" b="0" dirty="0">
                <a:solidFill>
                  <a:srgbClr val="181C23"/>
                </a:solidFill>
                <a:latin typeface="Funnel Sans"/>
              </a:rPr>
              <a:t>and event class, base event rate,</a:t>
            </a:r>
            <a:endParaRPr lang="en-US" sz="1325"/>
          </a:p>
          <a:p>
            <a:pPr algn="l">
              <a:lnSpc>
                <a:spcPts val="1510"/>
              </a:lnSpc>
              <a:spcAft>
                <a:spcPts val="0"/>
              </a:spcAft>
            </a:pPr>
            <a:r>
              <a:rPr lang="en-US" sz="1325" b="0" dirty="0">
                <a:solidFill>
                  <a:srgbClr val="181C23"/>
                </a:solidFill>
                <a:latin typeface="Funnel Sans"/>
              </a:rPr>
              <a:t>minimum category count and tuned</a:t>
            </a:r>
            <a:endParaRPr lang="en-US" sz="1325"/>
          </a:p>
          <a:p>
            <a:pPr algn="l">
              <a:lnSpc>
                <a:spcPts val="1510"/>
              </a:lnSpc>
              <a:spcAft>
                <a:spcPts val="0"/>
              </a:spcAft>
            </a:pPr>
            <a:r>
              <a:rPr lang="en-US" sz="1325" b="0" dirty="0">
                <a:solidFill>
                  <a:srgbClr val="181C23"/>
                </a:solidFill>
                <a:latin typeface="Funnel Sans"/>
              </a:rPr>
              <a:t>cutoffs.</a:t>
            </a:r>
            <a:endParaRPr lang="en-US" sz="1325"/>
          </a:p>
        </p:txBody>
      </p:sp>
      <p:sp>
        <p:nvSpPr>
          <p:cNvPr id="18" name="shape 18"/>
          <p:cNvSpPr/>
          <p:nvPr/>
        </p:nvSpPr>
        <p:spPr>
          <a:xfrm>
            <a:off x="8153400" y="1905000"/>
            <a:ext cx="3632200" cy="1549400"/>
          </a:xfrm>
          <a:prstGeom prst="roundRect">
            <a:avLst/>
          </a:prstGeom>
          <a:solidFill>
            <a:srgbClr val="FFF2DF"/>
          </a:solidFill>
          <a:ln w="12700">
            <a:solidFill>
              <a:srgbClr val="DEDCD6"/>
            </a:solidFill>
          </a:ln>
        </p:spPr>
      </p:sp>
      <p:sp>
        <p:nvSpPr>
          <p:cNvPr id="19" name="text 19"/>
          <p:cNvSpPr/>
          <p:nvPr/>
        </p:nvSpPr>
        <p:spPr>
          <a:xfrm>
            <a:off x="8318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OUTPUTS &amp; EVIDENCE</a:t>
            </a:r>
            <a:endParaRPr lang="en-US" sz="1000"/>
          </a:p>
        </p:txBody>
      </p:sp>
      <p:sp>
        <p:nvSpPr>
          <p:cNvPr id="20" name="text 20"/>
          <p:cNvSpPr/>
          <p:nvPr/>
        </p:nvSpPr>
        <p:spPr>
          <a:xfrm>
            <a:off x="8318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Proposed: category event rates versus</a:t>
            </a:r>
            <a:endParaRPr lang="en-US" sz="1325"/>
          </a:p>
          <a:p>
            <a:pPr algn="l">
              <a:lnSpc>
                <a:spcPts val="1510"/>
              </a:lnSpc>
              <a:spcAft>
                <a:spcPts val="0"/>
              </a:spcAft>
            </a:pPr>
            <a:r>
              <a:rPr lang="en-US" sz="1325" b="0" dirty="0">
                <a:solidFill>
                  <a:srgbClr val="181C23"/>
                </a:solidFill>
                <a:latin typeface="Funnel Sans"/>
              </a:rPr>
              <a:t>base rate, volume, Cramér’s V / IV and</a:t>
            </a:r>
            <a:endParaRPr lang="en-US" sz="1325"/>
          </a:p>
          <a:p>
            <a:pPr algn="l">
              <a:lnSpc>
                <a:spcPts val="1510"/>
              </a:lnSpc>
              <a:spcAft>
                <a:spcPts val="0"/>
              </a:spcAft>
            </a:pPr>
            <a:r>
              <a:rPr lang="en-US" sz="1325" b="0" dirty="0">
                <a:solidFill>
                  <a:srgbClr val="181C23"/>
                </a:solidFill>
                <a:latin typeface="Funnel Sans"/>
              </a:rPr>
              <a:t>suspect feature-category pairs.</a:t>
            </a:r>
            <a:endParaRPr lang="en-US" sz="1325"/>
          </a:p>
        </p:txBody>
      </p:sp>
      <p:sp>
        <p:nvSpPr>
          <p:cNvPr id="21" name="text 21"/>
          <p:cNvSpPr/>
          <p:nvPr/>
        </p:nvSpPr>
        <p:spPr>
          <a:xfrm>
            <a:off x="406400" y="3606800"/>
            <a:ext cx="7747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PROCESSING FLOW</a:t>
            </a:r>
            <a:endParaRPr lang="en-US" sz="1000"/>
          </a:p>
        </p:txBody>
      </p:sp>
      <p:sp>
        <p:nvSpPr>
          <p:cNvPr id="22" name="shape 22"/>
          <p:cNvSpPr/>
          <p:nvPr/>
        </p:nvSpPr>
        <p:spPr>
          <a:xfrm>
            <a:off x="406400" y="3898900"/>
            <a:ext cx="2113280" cy="774700"/>
          </a:xfrm>
          <a:prstGeom prst="roundRect">
            <a:avLst/>
          </a:prstGeom>
          <a:solidFill>
            <a:srgbClr val="FFF2DF"/>
          </a:solidFill>
          <a:ln>
            <a:noFill/>
          </a:ln>
        </p:spPr>
      </p:sp>
      <p:sp>
        <p:nvSpPr>
          <p:cNvPr id="23" name="text 23"/>
          <p:cNvSpPr/>
          <p:nvPr/>
        </p:nvSpPr>
        <p:spPr>
          <a:xfrm>
            <a:off x="53340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01</a:t>
            </a:r>
            <a:endParaRPr lang="en-US" sz="1200"/>
          </a:p>
        </p:txBody>
      </p:sp>
      <p:sp>
        <p:nvSpPr>
          <p:cNvPr id="24" name="text 24"/>
          <p:cNvSpPr/>
          <p:nvPr/>
        </p:nvSpPr>
        <p:spPr>
          <a:xfrm>
            <a:off x="87630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Select</a:t>
            </a:r>
            <a:endParaRPr lang="en-US" sz="1250"/>
          </a:p>
        </p:txBody>
      </p:sp>
      <p:sp>
        <p:nvSpPr>
          <p:cNvPr id="25" name="text 25"/>
          <p:cNvSpPr/>
          <p:nvPr/>
        </p:nvSpPr>
        <p:spPr>
          <a:xfrm>
            <a:off x="53340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Categories + target</a:t>
            </a:r>
            <a:endParaRPr lang="en-US" sz="1100"/>
          </a:p>
        </p:txBody>
      </p:sp>
      <p:cxnSp>
        <p:nvCxnSpPr>
          <p:cNvPr id="26" name="connector 26"/>
          <p:cNvCxnSpPr/>
          <p:nvPr/>
        </p:nvCxnSpPr>
        <p:spPr>
          <a:xfrm>
            <a:off x="254508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2722880" y="3898900"/>
            <a:ext cx="2113280" cy="774700"/>
          </a:xfrm>
          <a:prstGeom prst="roundRect">
            <a:avLst/>
          </a:prstGeom>
          <a:solidFill>
            <a:srgbClr val="FFF2DF"/>
          </a:solidFill>
          <a:ln>
            <a:noFill/>
          </a:ln>
        </p:spPr>
      </p:sp>
      <p:sp>
        <p:nvSpPr>
          <p:cNvPr id="28" name="text 28"/>
          <p:cNvSpPr/>
          <p:nvPr/>
        </p:nvSpPr>
        <p:spPr>
          <a:xfrm>
            <a:off x="284988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02</a:t>
            </a:r>
            <a:endParaRPr lang="en-US" sz="1200"/>
          </a:p>
        </p:txBody>
      </p:sp>
      <p:sp>
        <p:nvSpPr>
          <p:cNvPr id="29" name="text 29"/>
          <p:cNvSpPr/>
          <p:nvPr/>
        </p:nvSpPr>
        <p:spPr>
          <a:xfrm>
            <a:off x="319278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Gate volume</a:t>
            </a:r>
            <a:endParaRPr lang="en-US" sz="1250"/>
          </a:p>
        </p:txBody>
      </p:sp>
      <p:sp>
        <p:nvSpPr>
          <p:cNvPr id="30" name="text 30"/>
          <p:cNvSpPr/>
          <p:nvPr/>
        </p:nvSpPr>
        <p:spPr>
          <a:xfrm>
            <a:off x="284988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Minimum category count</a:t>
            </a:r>
            <a:endParaRPr lang="en-US" sz="1100"/>
          </a:p>
        </p:txBody>
      </p:sp>
      <p:cxnSp>
        <p:nvCxnSpPr>
          <p:cNvPr id="31" name="connector 31"/>
          <p:cNvCxnSpPr/>
          <p:nvPr/>
        </p:nvCxnSpPr>
        <p:spPr>
          <a:xfrm>
            <a:off x="486156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2" name="shape 32"/>
          <p:cNvSpPr/>
          <p:nvPr/>
        </p:nvSpPr>
        <p:spPr>
          <a:xfrm>
            <a:off x="5039360" y="3898900"/>
            <a:ext cx="2113280" cy="774700"/>
          </a:xfrm>
          <a:prstGeom prst="roundRect">
            <a:avLst/>
          </a:prstGeom>
          <a:solidFill>
            <a:srgbClr val="FFF2DF"/>
          </a:solidFill>
          <a:ln>
            <a:noFill/>
          </a:ln>
        </p:spPr>
      </p:sp>
      <p:sp>
        <p:nvSpPr>
          <p:cNvPr id="33" name="text 33"/>
          <p:cNvSpPr/>
          <p:nvPr/>
        </p:nvSpPr>
        <p:spPr>
          <a:xfrm>
            <a:off x="516636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03</a:t>
            </a:r>
            <a:endParaRPr lang="en-US" sz="1200"/>
          </a:p>
        </p:txBody>
      </p:sp>
      <p:sp>
        <p:nvSpPr>
          <p:cNvPr id="34" name="text 34"/>
          <p:cNvSpPr/>
          <p:nvPr/>
        </p:nvSpPr>
        <p:spPr>
          <a:xfrm>
            <a:off x="550926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Measure</a:t>
            </a:r>
            <a:endParaRPr lang="en-US" sz="1250"/>
          </a:p>
        </p:txBody>
      </p:sp>
      <p:sp>
        <p:nvSpPr>
          <p:cNvPr id="35" name="text 35"/>
          <p:cNvSpPr/>
          <p:nvPr/>
        </p:nvSpPr>
        <p:spPr>
          <a:xfrm>
            <a:off x="516636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Purity / association</a:t>
            </a:r>
            <a:endParaRPr lang="en-US" sz="1100"/>
          </a:p>
        </p:txBody>
      </p:sp>
      <p:cxnSp>
        <p:nvCxnSpPr>
          <p:cNvPr id="36" name="connector 36"/>
          <p:cNvCxnSpPr/>
          <p:nvPr/>
        </p:nvCxnSpPr>
        <p:spPr>
          <a:xfrm>
            <a:off x="717804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7" name="shape 37"/>
          <p:cNvSpPr/>
          <p:nvPr/>
        </p:nvSpPr>
        <p:spPr>
          <a:xfrm>
            <a:off x="7355840" y="3898900"/>
            <a:ext cx="2113280" cy="774700"/>
          </a:xfrm>
          <a:prstGeom prst="roundRect">
            <a:avLst/>
          </a:prstGeom>
          <a:solidFill>
            <a:srgbClr val="FFF2DF"/>
          </a:solidFill>
          <a:ln>
            <a:noFill/>
          </a:ln>
        </p:spPr>
      </p:sp>
      <p:sp>
        <p:nvSpPr>
          <p:cNvPr id="38" name="text 38"/>
          <p:cNvSpPr/>
          <p:nvPr/>
        </p:nvSpPr>
        <p:spPr>
          <a:xfrm>
            <a:off x="748284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04</a:t>
            </a:r>
            <a:endParaRPr lang="en-US" sz="1200"/>
          </a:p>
        </p:txBody>
      </p:sp>
      <p:sp>
        <p:nvSpPr>
          <p:cNvPr id="39" name="text 39"/>
          <p:cNvSpPr/>
          <p:nvPr/>
        </p:nvSpPr>
        <p:spPr>
          <a:xfrm>
            <a:off x="782574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Flag</a:t>
            </a:r>
            <a:endParaRPr lang="en-US" sz="1250"/>
          </a:p>
        </p:txBody>
      </p:sp>
      <p:sp>
        <p:nvSpPr>
          <p:cNvPr id="40" name="text 40"/>
          <p:cNvSpPr/>
          <p:nvPr/>
        </p:nvSpPr>
        <p:spPr>
          <a:xfrm>
            <a:off x="748284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Tuned effect sizes</a:t>
            </a:r>
            <a:endParaRPr lang="en-US" sz="1100"/>
          </a:p>
        </p:txBody>
      </p:sp>
      <p:cxnSp>
        <p:nvCxnSpPr>
          <p:cNvPr id="41" name="connector 41"/>
          <p:cNvCxnSpPr/>
          <p:nvPr/>
        </p:nvCxnSpPr>
        <p:spPr>
          <a:xfrm>
            <a:off x="949452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9672320" y="3898900"/>
            <a:ext cx="2113280" cy="774700"/>
          </a:xfrm>
          <a:prstGeom prst="roundRect">
            <a:avLst/>
          </a:prstGeom>
          <a:solidFill>
            <a:srgbClr val="FFF2DF"/>
          </a:solidFill>
          <a:ln>
            <a:noFill/>
          </a:ln>
        </p:spPr>
      </p:sp>
      <p:sp>
        <p:nvSpPr>
          <p:cNvPr id="43" name="text 43"/>
          <p:cNvSpPr/>
          <p:nvPr/>
        </p:nvSpPr>
        <p:spPr>
          <a:xfrm>
            <a:off x="979932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05</a:t>
            </a:r>
            <a:endParaRPr lang="en-US" sz="1200"/>
          </a:p>
        </p:txBody>
      </p:sp>
      <p:sp>
        <p:nvSpPr>
          <p:cNvPr id="44" name="text 44"/>
          <p:cNvSpPr/>
          <p:nvPr/>
        </p:nvSpPr>
        <p:spPr>
          <a:xfrm>
            <a:off x="1014222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Review</a:t>
            </a:r>
            <a:endParaRPr lang="en-US" sz="1250"/>
          </a:p>
        </p:txBody>
      </p:sp>
      <p:sp>
        <p:nvSpPr>
          <p:cNvPr id="45" name="text 45"/>
          <p:cNvSpPr/>
          <p:nvPr/>
        </p:nvSpPr>
        <p:spPr>
          <a:xfrm>
            <a:off x="979932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Timing + meaning</a:t>
            </a:r>
            <a:endParaRPr lang="en-US" sz="1100"/>
          </a:p>
        </p:txBody>
      </p:sp>
      <p:sp>
        <p:nvSpPr>
          <p:cNvPr id="46" name="shape 46"/>
          <p:cNvSpPr/>
          <p:nvPr/>
        </p:nvSpPr>
        <p:spPr>
          <a:xfrm>
            <a:off x="406400" y="4851400"/>
            <a:ext cx="5562600" cy="1206500"/>
          </a:xfrm>
          <a:prstGeom prst="roundRect">
            <a:avLst/>
          </a:prstGeom>
          <a:solidFill>
            <a:srgbClr val="FFFFFF"/>
          </a:solidFill>
          <a:ln w="12700">
            <a:solidFill>
              <a:srgbClr val="DEDCD6"/>
            </a:solidFill>
          </a:ln>
        </p:spPr>
      </p:sp>
      <p:sp>
        <p:nvSpPr>
          <p:cNvPr id="47" name="text 47"/>
          <p:cNvSpPr/>
          <p:nvPr/>
        </p:nvSpPr>
        <p:spPr>
          <a:xfrm>
            <a:off x="5715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FINDING → ISSUE</a:t>
            </a:r>
            <a:endParaRPr lang="en-US" sz="1000"/>
          </a:p>
        </p:txBody>
      </p:sp>
      <p:sp>
        <p:nvSpPr>
          <p:cNvPr id="48" name="text 48"/>
          <p:cNvSpPr/>
          <p:nvPr/>
        </p:nvSpPr>
        <p:spPr>
          <a:xfrm>
            <a:off x="5715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Proposed gate: near 0 / 1 outcome rates (for example &gt;~95%) far from</a:t>
            </a:r>
            <a:endParaRPr lang="en-US" sz="1250"/>
          </a:p>
          <a:p>
            <a:pPr algn="l">
              <a:lnSpc>
                <a:spcPts val="1425"/>
              </a:lnSpc>
              <a:spcAft>
                <a:spcPts val="0"/>
              </a:spcAft>
            </a:pPr>
            <a:r>
              <a:rPr lang="en-US" sz="1250" b="0" dirty="0">
                <a:solidFill>
                  <a:srgbClr val="181C23"/>
                </a:solidFill>
                <a:latin typeface="Funnel Sans"/>
              </a:rPr>
              <a:t>base rate, or V / IV &gt;~.5, subject to minimum volume. User / SME</a:t>
            </a:r>
            <a:endParaRPr lang="en-US" sz="1250"/>
          </a:p>
          <a:p>
            <a:pPr algn="l">
              <a:lnSpc>
                <a:spcPts val="1425"/>
              </a:lnSpc>
              <a:spcAft>
                <a:spcPts val="0"/>
              </a:spcAft>
            </a:pPr>
            <a:r>
              <a:rPr lang="en-US" sz="1250" b="0" dirty="0">
                <a:solidFill>
                  <a:srgbClr val="181C23"/>
                </a:solidFill>
                <a:latin typeface="Funnel Sans"/>
              </a:rPr>
              <a:t>confirms leakage concern.</a:t>
            </a:r>
            <a:endParaRPr lang="en-US" sz="1250"/>
          </a:p>
        </p:txBody>
      </p:sp>
      <p:sp>
        <p:nvSpPr>
          <p:cNvPr id="49" name="shape 49"/>
          <p:cNvSpPr/>
          <p:nvPr/>
        </p:nvSpPr>
        <p:spPr>
          <a:xfrm>
            <a:off x="6223000" y="4851400"/>
            <a:ext cx="5562600" cy="1206500"/>
          </a:xfrm>
          <a:prstGeom prst="roundRect">
            <a:avLst/>
          </a:prstGeom>
          <a:solidFill>
            <a:srgbClr val="FFFFFF"/>
          </a:solidFill>
          <a:ln w="12700">
            <a:solidFill>
              <a:srgbClr val="DEDCD6"/>
            </a:solidFill>
          </a:ln>
        </p:spPr>
      </p:sp>
      <p:sp>
        <p:nvSpPr>
          <p:cNvPr id="50" name="text 50"/>
          <p:cNvSpPr/>
          <p:nvPr/>
        </p:nvSpPr>
        <p:spPr>
          <a:xfrm>
            <a:off x="63881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RCA → ACTION</a:t>
            </a:r>
            <a:endParaRPr lang="en-US" sz="1000"/>
          </a:p>
        </p:txBody>
      </p:sp>
      <p:sp>
        <p:nvSpPr>
          <p:cNvPr id="51" name="text 51"/>
          <p:cNvSpPr/>
          <p:nvPr/>
        </p:nvSpPr>
        <p:spPr>
          <a:xfrm>
            <a:off x="63881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Proposed: trace proxy codes, post-outcome assignment and legitimate</a:t>
            </a:r>
            <a:endParaRPr lang="en-US" sz="1250"/>
          </a:p>
          <a:p>
            <a:pPr algn="l">
              <a:lnSpc>
                <a:spcPts val="1425"/>
              </a:lnSpc>
              <a:spcAft>
                <a:spcPts val="0"/>
              </a:spcAft>
            </a:pPr>
            <a:r>
              <a:rPr lang="en-US" sz="1250" b="0" dirty="0">
                <a:solidFill>
                  <a:srgbClr val="181C23"/>
                </a:solidFill>
                <a:latin typeface="Funnel Sans"/>
              </a:rPr>
              <a:t>segmentation. Correct or exclude leakage constructions and reassess</a:t>
            </a:r>
            <a:endParaRPr lang="en-US" sz="1250"/>
          </a:p>
          <a:p>
            <a:pPr algn="l">
              <a:lnSpc>
                <a:spcPts val="1425"/>
              </a:lnSpc>
              <a:spcAft>
                <a:spcPts val="0"/>
              </a:spcAft>
            </a:pPr>
            <a:r>
              <a:rPr lang="en-US" sz="1250" b="0" dirty="0">
                <a:solidFill>
                  <a:srgbClr val="181C23"/>
                </a:solidFill>
                <a:latin typeface="Funnel Sans"/>
              </a:rPr>
              <a:t>on a time-valid sample.</a:t>
            </a:r>
            <a:endParaRPr lang="en-US" sz="1250"/>
          </a:p>
        </p:txBody>
      </p:sp>
      <p:sp>
        <p:nvSpPr>
          <p:cNvPr id="52" name="shape 52"/>
          <p:cNvSpPr/>
          <p:nvPr/>
        </p:nvSpPr>
        <p:spPr>
          <a:xfrm>
            <a:off x="406400" y="6172200"/>
            <a:ext cx="11379200" cy="292100"/>
          </a:xfrm>
          <a:prstGeom prst="roundRect">
            <a:avLst/>
          </a:prstGeom>
          <a:solidFill>
            <a:srgbClr val="282A27"/>
          </a:solidFill>
          <a:ln>
            <a:noFill/>
          </a:ln>
        </p:spPr>
      </p:sp>
      <p:sp>
        <p:nvSpPr>
          <p:cNvPr id="53" name="text 53"/>
          <p:cNvSpPr/>
          <p:nvPr/>
        </p:nvSpPr>
        <p:spPr>
          <a:xfrm>
            <a:off x="546100" y="6235700"/>
            <a:ext cx="11099800" cy="203200"/>
          </a:xfrm>
          <a:prstGeom prst="rect">
            <a:avLst/>
          </a:prstGeom>
          <a:noFill/>
          <a:ln>
            <a:noFill/>
          </a:ln>
        </p:spPr>
        <p:txBody>
          <a:bodyPr wrap="none" lIns="0" tIns="0" rIns="0" bIns="0" anchor="t">
            <a:noAutofit/>
          </a:bodyPr>
          <a:lstStyle/>
          <a:p>
            <a:pPr algn="l">
              <a:lnSpc>
                <a:spcPts val="1197"/>
              </a:lnSpc>
              <a:spcAft>
                <a:spcPts val="0"/>
              </a:spcAft>
            </a:pPr>
            <a:r>
              <a:rPr lang="en-US" sz="1050" b="0" dirty="0">
                <a:solidFill>
                  <a:srgbClr val="FFFFFF"/>
                </a:solidFill>
                <a:latin typeface="Funnel Sans"/>
              </a:rPr>
              <a:t>Deferred; no executor. Use effect size and volume, not chi-square significance that over-fires at large sample sizes.</a:t>
            </a:r>
            <a:endParaRPr lang="en-US" sz="1050"/>
          </a:p>
        </p:txBody>
      </p:sp>
      <p:cxnSp>
        <p:nvCxnSpPr>
          <p:cNvPr id="54" name="connector 54"/>
          <p:cNvCxnSpPr/>
          <p:nvPr/>
        </p:nvCxnSpPr>
        <p:spPr>
          <a:xfrm>
            <a:off x="406400" y="6553200"/>
            <a:ext cx="113792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55" name="text 55"/>
          <p:cNvSpPr/>
          <p:nvPr/>
        </p:nvSpPr>
        <p:spPr>
          <a:xfrm>
            <a:off x="406400" y="6629400"/>
            <a:ext cx="5715000" cy="152400"/>
          </a:xfrm>
          <a:prstGeom prst="rect">
            <a:avLst/>
          </a:prstGeom>
          <a:noFill/>
          <a:ln>
            <a:noFill/>
          </a:ln>
        </p:spPr>
        <p:txBody>
          <a:bodyPr wrap="none" lIns="0" tIns="0" rIns="0" bIns="0" anchor="t">
            <a:noAutofit/>
          </a:bodyPr>
          <a:lstStyle/>
          <a:p>
            <a:pPr algn="l">
              <a:lnSpc>
                <a:spcPts val="969"/>
              </a:lnSpc>
              <a:spcAft>
                <a:spcPts val="0"/>
              </a:spcAft>
            </a:pPr>
            <a:r>
              <a:rPr lang="en-US" sz="850" b="0" dirty="0">
                <a:solidFill>
                  <a:srgbClr val="6D706B"/>
                </a:solidFill>
                <a:latin typeface="Funnel Sans"/>
              </a:rPr>
              <a:t>DATA WORKBENCH / Diagnostic quick reference</a:t>
            </a:r>
            <a:endParaRPr lang="en-US" sz="850"/>
          </a:p>
        </p:txBody>
      </p:sp>
      <p:sp>
        <p:nvSpPr>
          <p:cNvPr id="56" name="text 56"/>
          <p:cNvSpPr/>
          <p:nvPr/>
        </p:nvSpPr>
        <p:spPr>
          <a:xfrm>
            <a:off x="6223000" y="6629400"/>
            <a:ext cx="4254500" cy="152400"/>
          </a:xfrm>
          <a:prstGeom prst="rect">
            <a:avLst/>
          </a:prstGeom>
          <a:noFill/>
          <a:ln>
            <a:noFill/>
          </a:ln>
        </p:spPr>
        <p:txBody>
          <a:bodyPr wrap="none" lIns="0" tIns="0" rIns="0" bIns="0" anchor="t">
            <a:noAutofit/>
          </a:bodyPr>
          <a:lstStyle/>
          <a:p>
            <a:pPr algn="r">
              <a:lnSpc>
                <a:spcPts val="969"/>
              </a:lnSpc>
              <a:spcAft>
                <a:spcPts val="0"/>
              </a:spcAft>
            </a:pPr>
            <a:r>
              <a:rPr lang="en-US" sz="850" b="0" dirty="0">
                <a:solidFill>
                  <a:srgbClr val="6D706B"/>
                </a:solidFill>
                <a:latin typeface="Funnel Sans"/>
              </a:rPr>
              <a:t>Full deck: slide 64</a:t>
            </a:r>
            <a:endParaRPr lang="en-US" sz="850"/>
          </a:p>
        </p:txBody>
      </p:sp>
      <p:sp>
        <p:nvSpPr>
          <p:cNvPr id="57" name="text 57"/>
          <p:cNvSpPr/>
          <p:nvPr/>
        </p:nvSpPr>
        <p:spPr>
          <a:xfrm>
            <a:off x="10795000" y="6616700"/>
            <a:ext cx="990600" cy="177800"/>
          </a:xfrm>
          <a:prstGeom prst="rect">
            <a:avLst/>
          </a:prstGeom>
          <a:noFill/>
          <a:ln>
            <a:noFill/>
          </a:ln>
        </p:spPr>
        <p:txBody>
          <a:bodyPr wrap="none" lIns="0" tIns="0" rIns="0" bIns="0" anchor="t">
            <a:noAutofit/>
          </a:bodyPr>
          <a:lstStyle/>
          <a:p>
            <a:pPr algn="r">
              <a:lnSpc>
                <a:spcPts val="1083"/>
              </a:lnSpc>
              <a:spcAft>
                <a:spcPts val="0"/>
              </a:spcAft>
            </a:pPr>
            <a:r>
              <a:rPr lang="en-US" sz="950" b="0" dirty="0">
                <a:solidFill>
                  <a:srgbClr val="6D706B"/>
                </a:solidFill>
                <a:latin typeface="Funnel Sans"/>
              </a:rPr>
              <a:t>13 / 22</a:t>
            </a:r>
            <a:endParaRPr lang="en-US" sz="95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shape 3"/>
          <p:cNvSpPr/>
          <p:nvPr/>
        </p:nvSpPr>
        <p:spPr>
          <a:xfrm>
            <a:off x="406400" y="228600"/>
            <a:ext cx="1181100" cy="292100"/>
          </a:xfrm>
          <a:prstGeom prst="roundRect">
            <a:avLst/>
          </a:prstGeom>
          <a:solidFill>
            <a:srgbClr val="FFF2DF"/>
          </a:solidFill>
          <a:ln>
            <a:noFill/>
          </a:ln>
        </p:spPr>
      </p:sp>
      <p:sp>
        <p:nvSpPr>
          <p:cNvPr id="4" name="text 4"/>
          <p:cNvSpPr/>
          <p:nvPr/>
        </p:nvSpPr>
        <p:spPr>
          <a:xfrm>
            <a:off x="520700" y="292100"/>
            <a:ext cx="952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T2-D05</a:t>
            </a:r>
            <a:endParaRPr lang="en-US" sz="1000"/>
          </a:p>
        </p:txBody>
      </p:sp>
      <p:sp>
        <p:nvSpPr>
          <p:cNvPr id="5" name="text 5"/>
          <p:cNvSpPr/>
          <p:nvPr/>
        </p:nvSpPr>
        <p:spPr>
          <a:xfrm>
            <a:off x="1739900" y="304800"/>
            <a:ext cx="3022600" cy="190500"/>
          </a:xfrm>
          <a:prstGeom prst="rect">
            <a:avLst/>
          </a:prstGeom>
          <a:noFill/>
          <a:ln>
            <a:noFill/>
          </a:ln>
        </p:spPr>
        <p:txBody>
          <a:bodyPr wrap="none" lIns="0" tIns="0" rIns="0" bIns="0" anchor="t">
            <a:noAutofit/>
          </a:bodyPr>
          <a:lstStyle/>
          <a:p>
            <a:pPr algn="l">
              <a:lnSpc>
                <a:spcPts val="1083"/>
              </a:lnSpc>
              <a:spcAft>
                <a:spcPts val="0"/>
              </a:spcAft>
            </a:pPr>
            <a:r>
              <a:rPr lang="en-US" sz="950" b="1" dirty="0">
                <a:solidFill>
                  <a:srgbClr val="6D706B"/>
                </a:solidFill>
                <a:latin typeface="Funnel Sans"/>
              </a:rPr>
              <a:t>INTERNAL CONSISTENCY</a:t>
            </a:r>
            <a:endParaRPr lang="en-US" sz="950"/>
          </a:p>
        </p:txBody>
      </p:sp>
      <p:sp>
        <p:nvSpPr>
          <p:cNvPr id="6" name="shape 6"/>
          <p:cNvSpPr/>
          <p:nvPr/>
        </p:nvSpPr>
        <p:spPr>
          <a:xfrm>
            <a:off x="4864100" y="228600"/>
            <a:ext cx="3797300" cy="292100"/>
          </a:xfrm>
          <a:prstGeom prst="roundRect">
            <a:avLst/>
          </a:prstGeom>
          <a:solidFill>
            <a:srgbClr val="EFEEE9"/>
          </a:solidFill>
          <a:ln>
            <a:noFill/>
          </a:ln>
        </p:spPr>
      </p:sp>
      <p:sp>
        <p:nvSpPr>
          <p:cNvPr id="7" name="text 7"/>
          <p:cNvSpPr/>
          <p:nvPr/>
        </p:nvSpPr>
        <p:spPr>
          <a:xfrm>
            <a:off x="4978400" y="292100"/>
            <a:ext cx="35687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181C23"/>
                </a:solidFill>
                <a:latin typeface="Funnel Sans"/>
              </a:rPr>
              <a:t>Proposed formula reconciliation</a:t>
            </a:r>
            <a:endParaRPr lang="en-US" sz="1000"/>
          </a:p>
        </p:txBody>
      </p:sp>
      <p:sp>
        <p:nvSpPr>
          <p:cNvPr id="8" name="shape 8"/>
          <p:cNvSpPr/>
          <p:nvPr/>
        </p:nvSpPr>
        <p:spPr>
          <a:xfrm>
            <a:off x="8826500" y="228600"/>
            <a:ext cx="2959100" cy="292100"/>
          </a:xfrm>
          <a:prstGeom prst="roundRect">
            <a:avLst/>
          </a:prstGeom>
          <a:solidFill>
            <a:srgbClr val="FFF2DF"/>
          </a:solidFill>
          <a:ln>
            <a:noFill/>
          </a:ln>
        </p:spPr>
      </p:sp>
      <p:sp>
        <p:nvSpPr>
          <p:cNvPr id="9" name="text 9"/>
          <p:cNvSpPr/>
          <p:nvPr/>
        </p:nvSpPr>
        <p:spPr>
          <a:xfrm>
            <a:off x="8940800" y="292100"/>
            <a:ext cx="2730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98641E"/>
                </a:solidFill>
                <a:latin typeface="Funnel Sans"/>
              </a:rPr>
              <a:t>Planned · deferred</a:t>
            </a:r>
            <a:endParaRPr lang="en-US" sz="1000"/>
          </a:p>
        </p:txBody>
      </p:sp>
      <p:sp>
        <p:nvSpPr>
          <p:cNvPr id="10" name="text 10"/>
          <p:cNvSpPr/>
          <p:nvPr/>
        </p:nvSpPr>
        <p:spPr>
          <a:xfrm>
            <a:off x="406400" y="698500"/>
            <a:ext cx="11379200" cy="508000"/>
          </a:xfrm>
          <a:prstGeom prst="rect">
            <a:avLst/>
          </a:prstGeom>
          <a:noFill/>
          <a:ln>
            <a:noFill/>
          </a:ln>
        </p:spPr>
        <p:txBody>
          <a:bodyPr wrap="none" lIns="0" tIns="0" rIns="0" bIns="0" anchor="t">
            <a:noAutofit/>
          </a:bodyPr>
          <a:lstStyle/>
          <a:p>
            <a:pPr algn="l">
              <a:lnSpc>
                <a:spcPts val="3192"/>
              </a:lnSpc>
              <a:spcAft>
                <a:spcPts val="0"/>
              </a:spcAft>
            </a:pPr>
            <a:r>
              <a:rPr lang="en-US" sz="2800" b="1" dirty="0">
                <a:solidFill>
                  <a:srgbClr val="181C23"/>
                </a:solidFill>
                <a:latin typeface="Funnel Sans"/>
              </a:rPr>
              <a:t>Derivation identity</a:t>
            </a:r>
            <a:endParaRPr lang="en-US" sz="2800"/>
          </a:p>
        </p:txBody>
      </p:sp>
      <p:sp>
        <p:nvSpPr>
          <p:cNvPr id="11" name="text 11"/>
          <p:cNvSpPr/>
          <p:nvPr/>
        </p:nvSpPr>
        <p:spPr>
          <a:xfrm>
            <a:off x="419100" y="1320800"/>
            <a:ext cx="11353800" cy="4445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Check whether a recorded derived field matches its approved calculation.</a:t>
            </a:r>
            <a:endParaRPr lang="en-US" sz="1500"/>
          </a:p>
        </p:txBody>
      </p:sp>
      <p:sp>
        <p:nvSpPr>
          <p:cNvPr id="12" name="shape 12"/>
          <p:cNvSpPr/>
          <p:nvPr/>
        </p:nvSpPr>
        <p:spPr>
          <a:xfrm>
            <a:off x="406400" y="1905000"/>
            <a:ext cx="3632200" cy="1549400"/>
          </a:xfrm>
          <a:prstGeom prst="roundRect">
            <a:avLst/>
          </a:prstGeom>
          <a:solidFill>
            <a:srgbClr val="FFFFFF"/>
          </a:solidFill>
          <a:ln w="12700">
            <a:solidFill>
              <a:srgbClr val="DEDCD6"/>
            </a:solidFill>
          </a:ln>
        </p:spPr>
      </p:sp>
      <p:sp>
        <p:nvSpPr>
          <p:cNvPr id="13" name="text 13"/>
          <p:cNvSpPr/>
          <p:nvPr/>
        </p:nvSpPr>
        <p:spPr>
          <a:xfrm>
            <a:off x="571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USER &amp; TRIGGER</a:t>
            </a:r>
            <a:endParaRPr lang="en-US" sz="1000"/>
          </a:p>
        </p:txBody>
      </p:sp>
      <p:sp>
        <p:nvSpPr>
          <p:cNvPr id="14" name="text 14"/>
          <p:cNvSpPr/>
          <p:nvPr/>
        </p:nvSpPr>
        <p:spPr>
          <a:xfrm>
            <a:off x="571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Data engineer / business owner</a:t>
            </a:r>
            <a:endParaRPr lang="en-US" sz="1325"/>
          </a:p>
          <a:p>
            <a:pPr algn="l">
              <a:lnSpc>
                <a:spcPts val="1510"/>
              </a:lnSpc>
              <a:spcAft>
                <a:spcPts val="0"/>
              </a:spcAft>
            </a:pPr>
            <a:r>
              <a:rPr lang="en-US" sz="1325" b="0" dirty="0">
                <a:solidFill>
                  <a:srgbClr val="181C23"/>
                </a:solidFill>
                <a:latin typeface="Funnel Sans"/>
              </a:rPr>
              <a:t>Intended after calculation, mapping or</a:t>
            </a:r>
            <a:endParaRPr lang="en-US" sz="1325"/>
          </a:p>
          <a:p>
            <a:pPr algn="l">
              <a:lnSpc>
                <a:spcPts val="1510"/>
              </a:lnSpc>
              <a:spcAft>
                <a:spcPts val="0"/>
              </a:spcAft>
            </a:pPr>
            <a:r>
              <a:rPr lang="en-US" sz="1325" b="0" dirty="0">
                <a:solidFill>
                  <a:srgbClr val="181C23"/>
                </a:solidFill>
                <a:latin typeface="Funnel Sans"/>
              </a:rPr>
              <a:t>transformation changes.</a:t>
            </a:r>
            <a:endParaRPr lang="en-US" sz="1325"/>
          </a:p>
        </p:txBody>
      </p:sp>
      <p:sp>
        <p:nvSpPr>
          <p:cNvPr id="15" name="shape 15"/>
          <p:cNvSpPr/>
          <p:nvPr/>
        </p:nvSpPr>
        <p:spPr>
          <a:xfrm>
            <a:off x="4279900" y="1905000"/>
            <a:ext cx="3632200" cy="1549400"/>
          </a:xfrm>
          <a:prstGeom prst="roundRect">
            <a:avLst/>
          </a:prstGeom>
          <a:solidFill>
            <a:srgbClr val="FFFFFF"/>
          </a:solidFill>
          <a:ln w="12700">
            <a:solidFill>
              <a:srgbClr val="DEDCD6"/>
            </a:solidFill>
          </a:ln>
        </p:spPr>
      </p:sp>
      <p:sp>
        <p:nvSpPr>
          <p:cNvPr id="16" name="text 16"/>
          <p:cNvSpPr/>
          <p:nvPr/>
        </p:nvSpPr>
        <p:spPr>
          <a:xfrm>
            <a:off x="44450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INPUTS &amp; READINESS</a:t>
            </a:r>
            <a:endParaRPr lang="en-US" sz="1000"/>
          </a:p>
        </p:txBody>
      </p:sp>
      <p:sp>
        <p:nvSpPr>
          <p:cNvPr id="17" name="text 17"/>
          <p:cNvSpPr/>
          <p:nvPr/>
        </p:nvSpPr>
        <p:spPr>
          <a:xfrm>
            <a:off x="44450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Proposed: recorded derived field,</a:t>
            </a:r>
            <a:endParaRPr lang="en-US" sz="1325"/>
          </a:p>
          <a:p>
            <a:pPr algn="l">
              <a:lnSpc>
                <a:spcPts val="1510"/>
              </a:lnSpc>
              <a:spcAft>
                <a:spcPts val="0"/>
              </a:spcAft>
            </a:pPr>
            <a:r>
              <a:rPr lang="en-US" sz="1325" b="0" dirty="0">
                <a:solidFill>
                  <a:srgbClr val="181C23"/>
                </a:solidFill>
                <a:latin typeface="Funnel Sans"/>
              </a:rPr>
              <a:t>component fields, approved formula,</a:t>
            </a:r>
            <a:endParaRPr lang="en-US" sz="1325"/>
          </a:p>
          <a:p>
            <a:pPr algn="l">
              <a:lnSpc>
                <a:spcPts val="1510"/>
              </a:lnSpc>
              <a:spcAft>
                <a:spcPts val="0"/>
              </a:spcAft>
            </a:pPr>
            <a:r>
              <a:rPr lang="en-US" sz="1325" b="0" dirty="0">
                <a:solidFill>
                  <a:srgbClr val="181C23"/>
                </a:solidFill>
                <a:latin typeface="Funnel Sans"/>
              </a:rPr>
              <a:t>units, rounding rules and tolerance.</a:t>
            </a:r>
            <a:endParaRPr lang="en-US" sz="1325"/>
          </a:p>
        </p:txBody>
      </p:sp>
      <p:sp>
        <p:nvSpPr>
          <p:cNvPr id="18" name="shape 18"/>
          <p:cNvSpPr/>
          <p:nvPr/>
        </p:nvSpPr>
        <p:spPr>
          <a:xfrm>
            <a:off x="8153400" y="1905000"/>
            <a:ext cx="3632200" cy="1549400"/>
          </a:xfrm>
          <a:prstGeom prst="roundRect">
            <a:avLst/>
          </a:prstGeom>
          <a:solidFill>
            <a:srgbClr val="FFF2DF"/>
          </a:solidFill>
          <a:ln w="12700">
            <a:solidFill>
              <a:srgbClr val="DEDCD6"/>
            </a:solidFill>
          </a:ln>
        </p:spPr>
      </p:sp>
      <p:sp>
        <p:nvSpPr>
          <p:cNvPr id="19" name="text 19"/>
          <p:cNvSpPr/>
          <p:nvPr/>
        </p:nvSpPr>
        <p:spPr>
          <a:xfrm>
            <a:off x="8318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OUTPUTS &amp; EVIDENCE</a:t>
            </a:r>
            <a:endParaRPr lang="en-US" sz="1000"/>
          </a:p>
        </p:txBody>
      </p:sp>
      <p:sp>
        <p:nvSpPr>
          <p:cNvPr id="20" name="text 20"/>
          <p:cNvSpPr/>
          <p:nvPr/>
        </p:nvSpPr>
        <p:spPr>
          <a:xfrm>
            <a:off x="8318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Proposed: recomputed value, absolute</a:t>
            </a:r>
            <a:endParaRPr lang="en-US" sz="1325"/>
          </a:p>
          <a:p>
            <a:pPr algn="l">
              <a:lnSpc>
                <a:spcPts val="1510"/>
              </a:lnSpc>
              <a:spcAft>
                <a:spcPts val="0"/>
              </a:spcAft>
            </a:pPr>
            <a:r>
              <a:rPr lang="en-US" sz="1325" b="0" dirty="0">
                <a:solidFill>
                  <a:srgbClr val="181C23"/>
                </a:solidFill>
                <a:latin typeface="Funnel Sans"/>
              </a:rPr>
              <a:t>difference, tolerance breaches and</a:t>
            </a:r>
            <a:endParaRPr lang="en-US" sz="1325"/>
          </a:p>
          <a:p>
            <a:pPr algn="l">
              <a:lnSpc>
                <a:spcPts val="1510"/>
              </a:lnSpc>
              <a:spcAft>
                <a:spcPts val="0"/>
              </a:spcAft>
            </a:pPr>
            <a:r>
              <a:rPr lang="en-US" sz="1325" b="0" dirty="0">
                <a:solidFill>
                  <a:srgbClr val="181C23"/>
                </a:solidFill>
                <a:latin typeface="Funnel Sans"/>
              </a:rPr>
              <a:t>record-level reconciliation evidence.</a:t>
            </a:r>
            <a:endParaRPr lang="en-US" sz="1325"/>
          </a:p>
        </p:txBody>
      </p:sp>
      <p:sp>
        <p:nvSpPr>
          <p:cNvPr id="21" name="text 21"/>
          <p:cNvSpPr/>
          <p:nvPr/>
        </p:nvSpPr>
        <p:spPr>
          <a:xfrm>
            <a:off x="406400" y="3606800"/>
            <a:ext cx="7747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PROCESSING FLOW</a:t>
            </a:r>
            <a:endParaRPr lang="en-US" sz="1000"/>
          </a:p>
        </p:txBody>
      </p:sp>
      <p:sp>
        <p:nvSpPr>
          <p:cNvPr id="22" name="shape 22"/>
          <p:cNvSpPr/>
          <p:nvPr/>
        </p:nvSpPr>
        <p:spPr>
          <a:xfrm>
            <a:off x="406400" y="3898900"/>
            <a:ext cx="2113280" cy="774700"/>
          </a:xfrm>
          <a:prstGeom prst="roundRect">
            <a:avLst/>
          </a:prstGeom>
          <a:solidFill>
            <a:srgbClr val="FFF2DF"/>
          </a:solidFill>
          <a:ln>
            <a:noFill/>
          </a:ln>
        </p:spPr>
      </p:sp>
      <p:sp>
        <p:nvSpPr>
          <p:cNvPr id="23" name="text 23"/>
          <p:cNvSpPr/>
          <p:nvPr/>
        </p:nvSpPr>
        <p:spPr>
          <a:xfrm>
            <a:off x="53340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01</a:t>
            </a:r>
            <a:endParaRPr lang="en-US" sz="1200"/>
          </a:p>
        </p:txBody>
      </p:sp>
      <p:sp>
        <p:nvSpPr>
          <p:cNvPr id="24" name="text 24"/>
          <p:cNvSpPr/>
          <p:nvPr/>
        </p:nvSpPr>
        <p:spPr>
          <a:xfrm>
            <a:off x="87630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Approve</a:t>
            </a:r>
            <a:endParaRPr lang="en-US" sz="1250"/>
          </a:p>
        </p:txBody>
      </p:sp>
      <p:sp>
        <p:nvSpPr>
          <p:cNvPr id="25" name="text 25"/>
          <p:cNvSpPr/>
          <p:nvPr/>
        </p:nvSpPr>
        <p:spPr>
          <a:xfrm>
            <a:off x="53340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Formula + tolerance</a:t>
            </a:r>
            <a:endParaRPr lang="en-US" sz="1100"/>
          </a:p>
        </p:txBody>
      </p:sp>
      <p:cxnSp>
        <p:nvCxnSpPr>
          <p:cNvPr id="26" name="connector 26"/>
          <p:cNvCxnSpPr/>
          <p:nvPr/>
        </p:nvCxnSpPr>
        <p:spPr>
          <a:xfrm>
            <a:off x="254508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2722880" y="3898900"/>
            <a:ext cx="2113280" cy="774700"/>
          </a:xfrm>
          <a:prstGeom prst="roundRect">
            <a:avLst/>
          </a:prstGeom>
          <a:solidFill>
            <a:srgbClr val="FFF2DF"/>
          </a:solidFill>
          <a:ln>
            <a:noFill/>
          </a:ln>
        </p:spPr>
      </p:sp>
      <p:sp>
        <p:nvSpPr>
          <p:cNvPr id="28" name="text 28"/>
          <p:cNvSpPr/>
          <p:nvPr/>
        </p:nvSpPr>
        <p:spPr>
          <a:xfrm>
            <a:off x="284988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02</a:t>
            </a:r>
            <a:endParaRPr lang="en-US" sz="1200"/>
          </a:p>
        </p:txBody>
      </p:sp>
      <p:sp>
        <p:nvSpPr>
          <p:cNvPr id="29" name="text 29"/>
          <p:cNvSpPr/>
          <p:nvPr/>
        </p:nvSpPr>
        <p:spPr>
          <a:xfrm>
            <a:off x="319278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Bind</a:t>
            </a:r>
            <a:endParaRPr lang="en-US" sz="1250"/>
          </a:p>
        </p:txBody>
      </p:sp>
      <p:sp>
        <p:nvSpPr>
          <p:cNvPr id="30" name="text 30"/>
          <p:cNvSpPr/>
          <p:nvPr/>
        </p:nvSpPr>
        <p:spPr>
          <a:xfrm>
            <a:off x="284988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Recorded + inputs</a:t>
            </a:r>
            <a:endParaRPr lang="en-US" sz="1100"/>
          </a:p>
        </p:txBody>
      </p:sp>
      <p:cxnSp>
        <p:nvCxnSpPr>
          <p:cNvPr id="31" name="connector 31"/>
          <p:cNvCxnSpPr/>
          <p:nvPr/>
        </p:nvCxnSpPr>
        <p:spPr>
          <a:xfrm>
            <a:off x="486156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2" name="shape 32"/>
          <p:cNvSpPr/>
          <p:nvPr/>
        </p:nvSpPr>
        <p:spPr>
          <a:xfrm>
            <a:off x="5039360" y="3898900"/>
            <a:ext cx="2113280" cy="774700"/>
          </a:xfrm>
          <a:prstGeom prst="roundRect">
            <a:avLst/>
          </a:prstGeom>
          <a:solidFill>
            <a:srgbClr val="FFF2DF"/>
          </a:solidFill>
          <a:ln>
            <a:noFill/>
          </a:ln>
        </p:spPr>
      </p:sp>
      <p:sp>
        <p:nvSpPr>
          <p:cNvPr id="33" name="text 33"/>
          <p:cNvSpPr/>
          <p:nvPr/>
        </p:nvSpPr>
        <p:spPr>
          <a:xfrm>
            <a:off x="516636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03</a:t>
            </a:r>
            <a:endParaRPr lang="en-US" sz="1200"/>
          </a:p>
        </p:txBody>
      </p:sp>
      <p:sp>
        <p:nvSpPr>
          <p:cNvPr id="34" name="text 34"/>
          <p:cNvSpPr/>
          <p:nvPr/>
        </p:nvSpPr>
        <p:spPr>
          <a:xfrm>
            <a:off x="550926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Recompute</a:t>
            </a:r>
            <a:endParaRPr lang="en-US" sz="1250"/>
          </a:p>
        </p:txBody>
      </p:sp>
      <p:sp>
        <p:nvSpPr>
          <p:cNvPr id="35" name="text 35"/>
          <p:cNvSpPr/>
          <p:nvPr/>
        </p:nvSpPr>
        <p:spPr>
          <a:xfrm>
            <a:off x="516636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Expected derivation</a:t>
            </a:r>
            <a:endParaRPr lang="en-US" sz="1100"/>
          </a:p>
        </p:txBody>
      </p:sp>
      <p:cxnSp>
        <p:nvCxnSpPr>
          <p:cNvPr id="36" name="connector 36"/>
          <p:cNvCxnSpPr/>
          <p:nvPr/>
        </p:nvCxnSpPr>
        <p:spPr>
          <a:xfrm>
            <a:off x="717804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7" name="shape 37"/>
          <p:cNvSpPr/>
          <p:nvPr/>
        </p:nvSpPr>
        <p:spPr>
          <a:xfrm>
            <a:off x="7355840" y="3898900"/>
            <a:ext cx="2113280" cy="774700"/>
          </a:xfrm>
          <a:prstGeom prst="roundRect">
            <a:avLst/>
          </a:prstGeom>
          <a:solidFill>
            <a:srgbClr val="FFF2DF"/>
          </a:solidFill>
          <a:ln>
            <a:noFill/>
          </a:ln>
        </p:spPr>
      </p:sp>
      <p:sp>
        <p:nvSpPr>
          <p:cNvPr id="38" name="text 38"/>
          <p:cNvSpPr/>
          <p:nvPr/>
        </p:nvSpPr>
        <p:spPr>
          <a:xfrm>
            <a:off x="748284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04</a:t>
            </a:r>
            <a:endParaRPr lang="en-US" sz="1200"/>
          </a:p>
        </p:txBody>
      </p:sp>
      <p:sp>
        <p:nvSpPr>
          <p:cNvPr id="39" name="text 39"/>
          <p:cNvSpPr/>
          <p:nvPr/>
        </p:nvSpPr>
        <p:spPr>
          <a:xfrm>
            <a:off x="782574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Compare</a:t>
            </a:r>
            <a:endParaRPr lang="en-US" sz="1250"/>
          </a:p>
        </p:txBody>
      </p:sp>
      <p:sp>
        <p:nvSpPr>
          <p:cNvPr id="40" name="text 40"/>
          <p:cNvSpPr/>
          <p:nvPr/>
        </p:nvSpPr>
        <p:spPr>
          <a:xfrm>
            <a:off x="748284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Absolute difference</a:t>
            </a:r>
            <a:endParaRPr lang="en-US" sz="1100"/>
          </a:p>
        </p:txBody>
      </p:sp>
      <p:cxnSp>
        <p:nvCxnSpPr>
          <p:cNvPr id="41" name="connector 41"/>
          <p:cNvCxnSpPr/>
          <p:nvPr/>
        </p:nvCxnSpPr>
        <p:spPr>
          <a:xfrm>
            <a:off x="949452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9672320" y="3898900"/>
            <a:ext cx="2113280" cy="774700"/>
          </a:xfrm>
          <a:prstGeom prst="roundRect">
            <a:avLst/>
          </a:prstGeom>
          <a:solidFill>
            <a:srgbClr val="FFF2DF"/>
          </a:solidFill>
          <a:ln>
            <a:noFill/>
          </a:ln>
        </p:spPr>
      </p:sp>
      <p:sp>
        <p:nvSpPr>
          <p:cNvPr id="43" name="text 43"/>
          <p:cNvSpPr/>
          <p:nvPr/>
        </p:nvSpPr>
        <p:spPr>
          <a:xfrm>
            <a:off x="979932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05</a:t>
            </a:r>
            <a:endParaRPr lang="en-US" sz="1200"/>
          </a:p>
        </p:txBody>
      </p:sp>
      <p:sp>
        <p:nvSpPr>
          <p:cNvPr id="44" name="text 44"/>
          <p:cNvSpPr/>
          <p:nvPr/>
        </p:nvSpPr>
        <p:spPr>
          <a:xfrm>
            <a:off x="1014222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Review</a:t>
            </a:r>
            <a:endParaRPr lang="en-US" sz="1250"/>
          </a:p>
        </p:txBody>
      </p:sp>
      <p:sp>
        <p:nvSpPr>
          <p:cNvPr id="45" name="text 45"/>
          <p:cNvSpPr/>
          <p:nvPr/>
        </p:nvSpPr>
        <p:spPr>
          <a:xfrm>
            <a:off x="979932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Mismatch evidence</a:t>
            </a:r>
            <a:endParaRPr lang="en-US" sz="1100"/>
          </a:p>
        </p:txBody>
      </p:sp>
      <p:sp>
        <p:nvSpPr>
          <p:cNvPr id="46" name="shape 46"/>
          <p:cNvSpPr/>
          <p:nvPr/>
        </p:nvSpPr>
        <p:spPr>
          <a:xfrm>
            <a:off x="406400" y="4851400"/>
            <a:ext cx="5562600" cy="1206500"/>
          </a:xfrm>
          <a:prstGeom prst="roundRect">
            <a:avLst/>
          </a:prstGeom>
          <a:solidFill>
            <a:srgbClr val="FFFFFF"/>
          </a:solidFill>
          <a:ln w="12700">
            <a:solidFill>
              <a:srgbClr val="DEDCD6"/>
            </a:solidFill>
          </a:ln>
        </p:spPr>
      </p:sp>
      <p:sp>
        <p:nvSpPr>
          <p:cNvPr id="47" name="text 47"/>
          <p:cNvSpPr/>
          <p:nvPr/>
        </p:nvSpPr>
        <p:spPr>
          <a:xfrm>
            <a:off x="5715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FINDING → ISSUE</a:t>
            </a:r>
            <a:endParaRPr lang="en-US" sz="1000"/>
          </a:p>
        </p:txBody>
      </p:sp>
      <p:sp>
        <p:nvSpPr>
          <p:cNvPr id="48" name="text 48"/>
          <p:cNvSpPr/>
          <p:nvPr/>
        </p:nvSpPr>
        <p:spPr>
          <a:xfrm>
            <a:off x="5715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Proposed gate: |recorded − derived| &gt; approved tolerance. Confirm</a:t>
            </a:r>
            <a:endParaRPr lang="en-US" sz="1250"/>
          </a:p>
          <a:p>
            <a:pPr algn="l">
              <a:lnSpc>
                <a:spcPts val="1425"/>
              </a:lnSpc>
              <a:spcAft>
                <a:spcPts val="0"/>
              </a:spcAft>
            </a:pPr>
            <a:r>
              <a:rPr lang="en-US" sz="1250" b="0" dirty="0">
                <a:solidFill>
                  <a:srgbClr val="181C23"/>
                </a:solidFill>
                <a:latin typeface="Funnel Sans"/>
              </a:rPr>
              <a:t>formula version, units and rounding before promoting a mismatch to</a:t>
            </a:r>
            <a:endParaRPr lang="en-US" sz="1250"/>
          </a:p>
          <a:p>
            <a:pPr algn="l">
              <a:lnSpc>
                <a:spcPts val="1425"/>
              </a:lnSpc>
              <a:spcAft>
                <a:spcPts val="0"/>
              </a:spcAft>
            </a:pPr>
            <a:r>
              <a:rPr lang="en-US" sz="1250" b="0" dirty="0">
                <a:solidFill>
                  <a:srgbClr val="181C23"/>
                </a:solidFill>
                <a:latin typeface="Funnel Sans"/>
              </a:rPr>
              <a:t>an issue.</a:t>
            </a:r>
            <a:endParaRPr lang="en-US" sz="1250"/>
          </a:p>
        </p:txBody>
      </p:sp>
      <p:sp>
        <p:nvSpPr>
          <p:cNvPr id="49" name="shape 49"/>
          <p:cNvSpPr/>
          <p:nvPr/>
        </p:nvSpPr>
        <p:spPr>
          <a:xfrm>
            <a:off x="6223000" y="4851400"/>
            <a:ext cx="5562600" cy="1206500"/>
          </a:xfrm>
          <a:prstGeom prst="roundRect">
            <a:avLst/>
          </a:prstGeom>
          <a:solidFill>
            <a:srgbClr val="FFFFFF"/>
          </a:solidFill>
          <a:ln w="12700">
            <a:solidFill>
              <a:srgbClr val="DEDCD6"/>
            </a:solidFill>
          </a:ln>
        </p:spPr>
      </p:sp>
      <p:sp>
        <p:nvSpPr>
          <p:cNvPr id="50" name="text 50"/>
          <p:cNvSpPr/>
          <p:nvPr/>
        </p:nvSpPr>
        <p:spPr>
          <a:xfrm>
            <a:off x="63881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RCA → ACTION</a:t>
            </a:r>
            <a:endParaRPr lang="en-US" sz="1000"/>
          </a:p>
        </p:txBody>
      </p:sp>
      <p:sp>
        <p:nvSpPr>
          <p:cNvPr id="51" name="text 51"/>
          <p:cNvSpPr/>
          <p:nvPr/>
        </p:nvSpPr>
        <p:spPr>
          <a:xfrm>
            <a:off x="63881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Proposed: locate incorrect source components, formula drift or</a:t>
            </a:r>
            <a:endParaRPr lang="en-US" sz="1250"/>
          </a:p>
          <a:p>
            <a:pPr algn="l">
              <a:lnSpc>
                <a:spcPts val="1425"/>
              </a:lnSpc>
              <a:spcAft>
                <a:spcPts val="0"/>
              </a:spcAft>
            </a:pPr>
            <a:r>
              <a:rPr lang="en-US" sz="1250" b="0" dirty="0">
                <a:solidFill>
                  <a:srgbClr val="181C23"/>
                </a:solidFill>
                <a:latin typeface="Funnel Sans"/>
              </a:rPr>
              <a:t>pipeline errors. Correct the calculation / source, reload data and</a:t>
            </a:r>
            <a:endParaRPr lang="en-US" sz="1250"/>
          </a:p>
          <a:p>
            <a:pPr algn="l">
              <a:lnSpc>
                <a:spcPts val="1425"/>
              </a:lnSpc>
              <a:spcAft>
                <a:spcPts val="0"/>
              </a:spcAft>
            </a:pPr>
            <a:r>
              <a:rPr lang="en-US" sz="1250" b="0" dirty="0">
                <a:solidFill>
                  <a:srgbClr val="181C23"/>
                </a:solidFill>
                <a:latin typeface="Funnel Sans"/>
              </a:rPr>
              <a:t>reconcile again.</a:t>
            </a:r>
            <a:endParaRPr lang="en-US" sz="1250"/>
          </a:p>
        </p:txBody>
      </p:sp>
      <p:sp>
        <p:nvSpPr>
          <p:cNvPr id="52" name="shape 52"/>
          <p:cNvSpPr/>
          <p:nvPr/>
        </p:nvSpPr>
        <p:spPr>
          <a:xfrm>
            <a:off x="406400" y="6172200"/>
            <a:ext cx="11379200" cy="292100"/>
          </a:xfrm>
          <a:prstGeom prst="roundRect">
            <a:avLst/>
          </a:prstGeom>
          <a:solidFill>
            <a:srgbClr val="282A27"/>
          </a:solidFill>
          <a:ln>
            <a:noFill/>
          </a:ln>
        </p:spPr>
      </p:sp>
      <p:sp>
        <p:nvSpPr>
          <p:cNvPr id="53" name="text 53"/>
          <p:cNvSpPr/>
          <p:nvPr/>
        </p:nvSpPr>
        <p:spPr>
          <a:xfrm>
            <a:off x="546100" y="6235700"/>
            <a:ext cx="11099800" cy="203200"/>
          </a:xfrm>
          <a:prstGeom prst="rect">
            <a:avLst/>
          </a:prstGeom>
          <a:noFill/>
          <a:ln>
            <a:noFill/>
          </a:ln>
        </p:spPr>
        <p:txBody>
          <a:bodyPr wrap="none" lIns="0" tIns="0" rIns="0" bIns="0" anchor="t">
            <a:noAutofit/>
          </a:bodyPr>
          <a:lstStyle/>
          <a:p>
            <a:pPr algn="l">
              <a:lnSpc>
                <a:spcPts val="1197"/>
              </a:lnSpc>
              <a:spcAft>
                <a:spcPts val="0"/>
              </a:spcAft>
            </a:pPr>
            <a:r>
              <a:rPr lang="en-US" sz="1050" b="0" dirty="0">
                <a:solidFill>
                  <a:srgbClr val="FFFFFF"/>
                </a:solidFill>
                <a:latin typeface="Funnel Sans"/>
              </a:rPr>
              <a:t>Deferred catalog diagnostic: not registered or executable. Formula and tolerance must be explicitly approved.</a:t>
            </a:r>
            <a:endParaRPr lang="en-US" sz="1050"/>
          </a:p>
        </p:txBody>
      </p:sp>
      <p:cxnSp>
        <p:nvCxnSpPr>
          <p:cNvPr id="54" name="connector 54"/>
          <p:cNvCxnSpPr/>
          <p:nvPr/>
        </p:nvCxnSpPr>
        <p:spPr>
          <a:xfrm>
            <a:off x="406400" y="6553200"/>
            <a:ext cx="113792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55" name="text 55"/>
          <p:cNvSpPr/>
          <p:nvPr/>
        </p:nvSpPr>
        <p:spPr>
          <a:xfrm>
            <a:off x="406400" y="6629400"/>
            <a:ext cx="5715000" cy="152400"/>
          </a:xfrm>
          <a:prstGeom prst="rect">
            <a:avLst/>
          </a:prstGeom>
          <a:noFill/>
          <a:ln>
            <a:noFill/>
          </a:ln>
        </p:spPr>
        <p:txBody>
          <a:bodyPr wrap="none" lIns="0" tIns="0" rIns="0" bIns="0" anchor="t">
            <a:noAutofit/>
          </a:bodyPr>
          <a:lstStyle/>
          <a:p>
            <a:pPr algn="l">
              <a:lnSpc>
                <a:spcPts val="969"/>
              </a:lnSpc>
              <a:spcAft>
                <a:spcPts val="0"/>
              </a:spcAft>
            </a:pPr>
            <a:r>
              <a:rPr lang="en-US" sz="850" b="0" dirty="0">
                <a:solidFill>
                  <a:srgbClr val="6D706B"/>
                </a:solidFill>
                <a:latin typeface="Funnel Sans"/>
              </a:rPr>
              <a:t>DATA WORKBENCH / Diagnostic quick reference</a:t>
            </a:r>
            <a:endParaRPr lang="en-US" sz="850"/>
          </a:p>
        </p:txBody>
      </p:sp>
      <p:sp>
        <p:nvSpPr>
          <p:cNvPr id="56" name="text 56"/>
          <p:cNvSpPr/>
          <p:nvPr/>
        </p:nvSpPr>
        <p:spPr>
          <a:xfrm>
            <a:off x="6223000" y="6629400"/>
            <a:ext cx="4254500" cy="152400"/>
          </a:xfrm>
          <a:prstGeom prst="rect">
            <a:avLst/>
          </a:prstGeom>
          <a:noFill/>
          <a:ln>
            <a:noFill/>
          </a:ln>
        </p:spPr>
        <p:txBody>
          <a:bodyPr wrap="none" lIns="0" tIns="0" rIns="0" bIns="0" anchor="t">
            <a:noAutofit/>
          </a:bodyPr>
          <a:lstStyle/>
          <a:p>
            <a:pPr algn="r">
              <a:lnSpc>
                <a:spcPts val="969"/>
              </a:lnSpc>
              <a:spcAft>
                <a:spcPts val="0"/>
              </a:spcAft>
            </a:pPr>
            <a:r>
              <a:rPr lang="en-US" sz="850" b="0" dirty="0">
                <a:solidFill>
                  <a:srgbClr val="6D706B"/>
                </a:solidFill>
                <a:latin typeface="Funnel Sans"/>
              </a:rPr>
              <a:t>Full deck: slide 65</a:t>
            </a:r>
            <a:endParaRPr lang="en-US" sz="850"/>
          </a:p>
        </p:txBody>
      </p:sp>
      <p:sp>
        <p:nvSpPr>
          <p:cNvPr id="57" name="text 57"/>
          <p:cNvSpPr/>
          <p:nvPr/>
        </p:nvSpPr>
        <p:spPr>
          <a:xfrm>
            <a:off x="10795000" y="6616700"/>
            <a:ext cx="990600" cy="177800"/>
          </a:xfrm>
          <a:prstGeom prst="rect">
            <a:avLst/>
          </a:prstGeom>
          <a:noFill/>
          <a:ln>
            <a:noFill/>
          </a:ln>
        </p:spPr>
        <p:txBody>
          <a:bodyPr wrap="none" lIns="0" tIns="0" rIns="0" bIns="0" anchor="t">
            <a:noAutofit/>
          </a:bodyPr>
          <a:lstStyle/>
          <a:p>
            <a:pPr algn="r">
              <a:lnSpc>
                <a:spcPts val="1083"/>
              </a:lnSpc>
              <a:spcAft>
                <a:spcPts val="0"/>
              </a:spcAft>
            </a:pPr>
            <a:r>
              <a:rPr lang="en-US" sz="950" b="0" dirty="0">
                <a:solidFill>
                  <a:srgbClr val="6D706B"/>
                </a:solidFill>
                <a:latin typeface="Funnel Sans"/>
              </a:rPr>
              <a:t>14 / 22</a:t>
            </a:r>
            <a:endParaRPr lang="en-US" sz="95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shape 3"/>
          <p:cNvSpPr/>
          <p:nvPr/>
        </p:nvSpPr>
        <p:spPr>
          <a:xfrm>
            <a:off x="406400" y="228600"/>
            <a:ext cx="1181100" cy="292100"/>
          </a:xfrm>
          <a:prstGeom prst="roundRect">
            <a:avLst/>
          </a:prstGeom>
          <a:solidFill>
            <a:srgbClr val="FFF2DF"/>
          </a:solidFill>
          <a:ln>
            <a:noFill/>
          </a:ln>
        </p:spPr>
      </p:sp>
      <p:sp>
        <p:nvSpPr>
          <p:cNvPr id="4" name="text 4"/>
          <p:cNvSpPr/>
          <p:nvPr/>
        </p:nvSpPr>
        <p:spPr>
          <a:xfrm>
            <a:off x="520700" y="292100"/>
            <a:ext cx="952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T2-D07</a:t>
            </a:r>
            <a:endParaRPr lang="en-US" sz="1000"/>
          </a:p>
        </p:txBody>
      </p:sp>
      <p:sp>
        <p:nvSpPr>
          <p:cNvPr id="5" name="text 5"/>
          <p:cNvSpPr/>
          <p:nvPr/>
        </p:nvSpPr>
        <p:spPr>
          <a:xfrm>
            <a:off x="1739900" y="304800"/>
            <a:ext cx="3022600" cy="190500"/>
          </a:xfrm>
          <a:prstGeom prst="rect">
            <a:avLst/>
          </a:prstGeom>
          <a:noFill/>
          <a:ln>
            <a:noFill/>
          </a:ln>
        </p:spPr>
        <p:txBody>
          <a:bodyPr wrap="none" lIns="0" tIns="0" rIns="0" bIns="0" anchor="t">
            <a:noAutofit/>
          </a:bodyPr>
          <a:lstStyle/>
          <a:p>
            <a:pPr algn="l">
              <a:lnSpc>
                <a:spcPts val="1083"/>
              </a:lnSpc>
              <a:spcAft>
                <a:spcPts val="0"/>
              </a:spcAft>
            </a:pPr>
            <a:r>
              <a:rPr lang="en-US" sz="950" b="1" dirty="0">
                <a:solidFill>
                  <a:srgbClr val="6D706B"/>
                </a:solidFill>
                <a:latin typeface="Funnel Sans"/>
              </a:rPr>
              <a:t>INTERNAL CONSISTENCY</a:t>
            </a:r>
            <a:endParaRPr lang="en-US" sz="950"/>
          </a:p>
        </p:txBody>
      </p:sp>
      <p:sp>
        <p:nvSpPr>
          <p:cNvPr id="6" name="shape 6"/>
          <p:cNvSpPr/>
          <p:nvPr/>
        </p:nvSpPr>
        <p:spPr>
          <a:xfrm>
            <a:off x="4864100" y="228600"/>
            <a:ext cx="3797300" cy="292100"/>
          </a:xfrm>
          <a:prstGeom prst="roundRect">
            <a:avLst/>
          </a:prstGeom>
          <a:solidFill>
            <a:srgbClr val="EFEEE9"/>
          </a:solidFill>
          <a:ln>
            <a:noFill/>
          </a:ln>
        </p:spPr>
      </p:sp>
      <p:sp>
        <p:nvSpPr>
          <p:cNvPr id="7" name="text 7"/>
          <p:cNvSpPr/>
          <p:nvPr/>
        </p:nvSpPr>
        <p:spPr>
          <a:xfrm>
            <a:off x="4978400" y="292100"/>
            <a:ext cx="35687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181C23"/>
                </a:solidFill>
                <a:latin typeface="Funnel Sans"/>
              </a:rPr>
              <a:t>Proposed variance / sentinel check</a:t>
            </a:r>
            <a:endParaRPr lang="en-US" sz="1000"/>
          </a:p>
        </p:txBody>
      </p:sp>
      <p:sp>
        <p:nvSpPr>
          <p:cNvPr id="8" name="shape 8"/>
          <p:cNvSpPr/>
          <p:nvPr/>
        </p:nvSpPr>
        <p:spPr>
          <a:xfrm>
            <a:off x="8826500" y="228600"/>
            <a:ext cx="2959100" cy="292100"/>
          </a:xfrm>
          <a:prstGeom prst="roundRect">
            <a:avLst/>
          </a:prstGeom>
          <a:solidFill>
            <a:srgbClr val="FFF2DF"/>
          </a:solidFill>
          <a:ln>
            <a:noFill/>
          </a:ln>
        </p:spPr>
      </p:sp>
      <p:sp>
        <p:nvSpPr>
          <p:cNvPr id="9" name="text 9"/>
          <p:cNvSpPr/>
          <p:nvPr/>
        </p:nvSpPr>
        <p:spPr>
          <a:xfrm>
            <a:off x="8940800" y="292100"/>
            <a:ext cx="2730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98641E"/>
                </a:solidFill>
                <a:latin typeface="Funnel Sans"/>
              </a:rPr>
              <a:t>Planned · deferred</a:t>
            </a:r>
            <a:endParaRPr lang="en-US" sz="1000"/>
          </a:p>
        </p:txBody>
      </p:sp>
      <p:sp>
        <p:nvSpPr>
          <p:cNvPr id="10" name="text 10"/>
          <p:cNvSpPr/>
          <p:nvPr/>
        </p:nvSpPr>
        <p:spPr>
          <a:xfrm>
            <a:off x="406400" y="698500"/>
            <a:ext cx="11379200" cy="508000"/>
          </a:xfrm>
          <a:prstGeom prst="rect">
            <a:avLst/>
          </a:prstGeom>
          <a:noFill/>
          <a:ln>
            <a:noFill/>
          </a:ln>
        </p:spPr>
        <p:txBody>
          <a:bodyPr wrap="none" lIns="0" tIns="0" rIns="0" bIns="0" anchor="t">
            <a:noAutofit/>
          </a:bodyPr>
          <a:lstStyle/>
          <a:p>
            <a:pPr algn="l">
              <a:lnSpc>
                <a:spcPts val="3192"/>
              </a:lnSpc>
              <a:spcAft>
                <a:spcPts val="0"/>
              </a:spcAft>
            </a:pPr>
            <a:r>
              <a:rPr lang="en-US" sz="2800" b="1" dirty="0">
                <a:solidFill>
                  <a:srgbClr val="181C23"/>
                </a:solidFill>
                <a:latin typeface="Funnel Sans"/>
              </a:rPr>
              <a:t>Disguised missingness / staleness</a:t>
            </a:r>
            <a:endParaRPr lang="en-US" sz="2800"/>
          </a:p>
        </p:txBody>
      </p:sp>
      <p:sp>
        <p:nvSpPr>
          <p:cNvPr id="11" name="text 11"/>
          <p:cNvSpPr/>
          <p:nvPr/>
        </p:nvSpPr>
        <p:spPr>
          <a:xfrm>
            <a:off x="419100" y="1320800"/>
            <a:ext cx="11353800" cy="4445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Detect normally changing fields that become frozen or dominated by sentinel values.</a:t>
            </a:r>
            <a:endParaRPr lang="en-US" sz="1500"/>
          </a:p>
        </p:txBody>
      </p:sp>
      <p:sp>
        <p:nvSpPr>
          <p:cNvPr id="12" name="shape 12"/>
          <p:cNvSpPr/>
          <p:nvPr/>
        </p:nvSpPr>
        <p:spPr>
          <a:xfrm>
            <a:off x="406400" y="1905000"/>
            <a:ext cx="3632200" cy="1549400"/>
          </a:xfrm>
          <a:prstGeom prst="roundRect">
            <a:avLst/>
          </a:prstGeom>
          <a:solidFill>
            <a:srgbClr val="FFFFFF"/>
          </a:solidFill>
          <a:ln w="12700">
            <a:solidFill>
              <a:srgbClr val="DEDCD6"/>
            </a:solidFill>
          </a:ln>
        </p:spPr>
      </p:sp>
      <p:sp>
        <p:nvSpPr>
          <p:cNvPr id="13" name="text 13"/>
          <p:cNvSpPr/>
          <p:nvPr/>
        </p:nvSpPr>
        <p:spPr>
          <a:xfrm>
            <a:off x="571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USER &amp; TRIGGER</a:t>
            </a:r>
            <a:endParaRPr lang="en-US" sz="1000"/>
          </a:p>
        </p:txBody>
      </p:sp>
      <p:sp>
        <p:nvSpPr>
          <p:cNvPr id="14" name="text 14"/>
          <p:cNvSpPr/>
          <p:nvPr/>
        </p:nvSpPr>
        <p:spPr>
          <a:xfrm>
            <a:off x="571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Data owner / analyst + SME</a:t>
            </a:r>
            <a:endParaRPr lang="en-US" sz="1325"/>
          </a:p>
          <a:p>
            <a:pPr algn="l">
              <a:lnSpc>
                <a:spcPts val="1510"/>
              </a:lnSpc>
              <a:spcAft>
                <a:spcPts val="0"/>
              </a:spcAft>
            </a:pPr>
            <a:r>
              <a:rPr lang="en-US" sz="1325" b="0" dirty="0">
                <a:solidFill>
                  <a:srgbClr val="181C23"/>
                </a:solidFill>
                <a:latin typeface="Funnel Sans"/>
              </a:rPr>
              <a:t>Intended when refreshed data appears</a:t>
            </a:r>
            <a:endParaRPr lang="en-US" sz="1325"/>
          </a:p>
          <a:p>
            <a:pPr algn="l">
              <a:lnSpc>
                <a:spcPts val="1510"/>
              </a:lnSpc>
              <a:spcAft>
                <a:spcPts val="0"/>
              </a:spcAft>
            </a:pPr>
            <a:r>
              <a:rPr lang="en-US" sz="1325" b="0" dirty="0">
                <a:solidFill>
                  <a:srgbClr val="181C23"/>
                </a:solidFill>
                <a:latin typeface="Funnel Sans"/>
              </a:rPr>
              <a:t>unexpectedly constant.</a:t>
            </a:r>
            <a:endParaRPr lang="en-US" sz="1325"/>
          </a:p>
        </p:txBody>
      </p:sp>
      <p:sp>
        <p:nvSpPr>
          <p:cNvPr id="15" name="shape 15"/>
          <p:cNvSpPr/>
          <p:nvPr/>
        </p:nvSpPr>
        <p:spPr>
          <a:xfrm>
            <a:off x="4279900" y="1905000"/>
            <a:ext cx="3632200" cy="1549400"/>
          </a:xfrm>
          <a:prstGeom prst="roundRect">
            <a:avLst/>
          </a:prstGeom>
          <a:solidFill>
            <a:srgbClr val="FFFFFF"/>
          </a:solidFill>
          <a:ln w="12700">
            <a:solidFill>
              <a:srgbClr val="DEDCD6"/>
            </a:solidFill>
          </a:ln>
        </p:spPr>
      </p:sp>
      <p:sp>
        <p:nvSpPr>
          <p:cNvPr id="16" name="text 16"/>
          <p:cNvSpPr/>
          <p:nvPr/>
        </p:nvSpPr>
        <p:spPr>
          <a:xfrm>
            <a:off x="44450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INPUTS &amp; READINESS</a:t>
            </a:r>
            <a:endParaRPr lang="en-US" sz="1000"/>
          </a:p>
        </p:txBody>
      </p:sp>
      <p:sp>
        <p:nvSpPr>
          <p:cNvPr id="17" name="text 17"/>
          <p:cNvSpPr/>
          <p:nvPr/>
        </p:nvSpPr>
        <p:spPr>
          <a:xfrm>
            <a:off x="44450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Proposed: fields expected to vary, period</a:t>
            </a:r>
            <a:endParaRPr lang="en-US" sz="1325"/>
          </a:p>
          <a:p>
            <a:pPr algn="l">
              <a:lnSpc>
                <a:spcPts val="1510"/>
              </a:lnSpc>
              <a:spcAft>
                <a:spcPts val="0"/>
              </a:spcAft>
            </a:pPr>
            <a:r>
              <a:rPr lang="en-US" sz="1325" b="0" dirty="0">
                <a:solidFill>
                  <a:srgbClr val="181C23"/>
                </a:solidFill>
                <a:latin typeface="Funnel Sans"/>
              </a:rPr>
              <a:t>and segment keys, sentinel declarations</a:t>
            </a:r>
            <a:endParaRPr lang="en-US" sz="1325"/>
          </a:p>
          <a:p>
            <a:pPr algn="l">
              <a:lnSpc>
                <a:spcPts val="1510"/>
              </a:lnSpc>
              <a:spcAft>
                <a:spcPts val="0"/>
              </a:spcAft>
            </a:pPr>
            <a:r>
              <a:rPr lang="en-US" sz="1325" b="0" dirty="0">
                <a:solidFill>
                  <a:srgbClr val="181C23"/>
                </a:solidFill>
                <a:latin typeface="Funnel Sans"/>
              </a:rPr>
              <a:t>and a meaningful history window.</a:t>
            </a:r>
            <a:endParaRPr lang="en-US" sz="1325"/>
          </a:p>
        </p:txBody>
      </p:sp>
      <p:sp>
        <p:nvSpPr>
          <p:cNvPr id="18" name="shape 18"/>
          <p:cNvSpPr/>
          <p:nvPr/>
        </p:nvSpPr>
        <p:spPr>
          <a:xfrm>
            <a:off x="8153400" y="1905000"/>
            <a:ext cx="3632200" cy="1549400"/>
          </a:xfrm>
          <a:prstGeom prst="roundRect">
            <a:avLst/>
          </a:prstGeom>
          <a:solidFill>
            <a:srgbClr val="FFF2DF"/>
          </a:solidFill>
          <a:ln w="12700">
            <a:solidFill>
              <a:srgbClr val="DEDCD6"/>
            </a:solidFill>
          </a:ln>
        </p:spPr>
      </p:sp>
      <p:sp>
        <p:nvSpPr>
          <p:cNvPr id="19" name="text 19"/>
          <p:cNvSpPr/>
          <p:nvPr/>
        </p:nvSpPr>
        <p:spPr>
          <a:xfrm>
            <a:off x="8318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OUTPUTS &amp; EVIDENCE</a:t>
            </a:r>
            <a:endParaRPr lang="en-US" sz="1000"/>
          </a:p>
        </p:txBody>
      </p:sp>
      <p:sp>
        <p:nvSpPr>
          <p:cNvPr id="20" name="text 20"/>
          <p:cNvSpPr/>
          <p:nvPr/>
        </p:nvSpPr>
        <p:spPr>
          <a:xfrm>
            <a:off x="8318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Proposed: within-segment variance over</a:t>
            </a:r>
            <a:endParaRPr lang="en-US" sz="1325"/>
          </a:p>
          <a:p>
            <a:pPr algn="l">
              <a:lnSpc>
                <a:spcPts val="1510"/>
              </a:lnSpc>
              <a:spcAft>
                <a:spcPts val="0"/>
              </a:spcAft>
            </a:pPr>
            <a:r>
              <a:rPr lang="en-US" sz="1325" b="0" dirty="0">
                <a:solidFill>
                  <a:srgbClr val="181C23"/>
                </a:solidFill>
                <a:latin typeface="Funnel Sans"/>
              </a:rPr>
              <a:t>time, sentinel shares and affected</a:t>
            </a:r>
            <a:endParaRPr lang="en-US" sz="1325"/>
          </a:p>
          <a:p>
            <a:pPr algn="l">
              <a:lnSpc>
                <a:spcPts val="1510"/>
              </a:lnSpc>
              <a:spcAft>
                <a:spcPts val="0"/>
              </a:spcAft>
            </a:pPr>
            <a:r>
              <a:rPr lang="en-US" sz="1325" b="0" dirty="0">
                <a:solidFill>
                  <a:srgbClr val="181C23"/>
                </a:solidFill>
                <a:latin typeface="Funnel Sans"/>
              </a:rPr>
              <a:t>segment-period patterns.</a:t>
            </a:r>
            <a:endParaRPr lang="en-US" sz="1325"/>
          </a:p>
        </p:txBody>
      </p:sp>
      <p:sp>
        <p:nvSpPr>
          <p:cNvPr id="21" name="text 21"/>
          <p:cNvSpPr/>
          <p:nvPr/>
        </p:nvSpPr>
        <p:spPr>
          <a:xfrm>
            <a:off x="406400" y="3606800"/>
            <a:ext cx="7747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PROCESSING FLOW</a:t>
            </a:r>
            <a:endParaRPr lang="en-US" sz="1000"/>
          </a:p>
        </p:txBody>
      </p:sp>
      <p:sp>
        <p:nvSpPr>
          <p:cNvPr id="22" name="shape 22"/>
          <p:cNvSpPr/>
          <p:nvPr/>
        </p:nvSpPr>
        <p:spPr>
          <a:xfrm>
            <a:off x="406400" y="3898900"/>
            <a:ext cx="2113280" cy="774700"/>
          </a:xfrm>
          <a:prstGeom prst="roundRect">
            <a:avLst/>
          </a:prstGeom>
          <a:solidFill>
            <a:srgbClr val="FFF2DF"/>
          </a:solidFill>
          <a:ln>
            <a:noFill/>
          </a:ln>
        </p:spPr>
      </p:sp>
      <p:sp>
        <p:nvSpPr>
          <p:cNvPr id="23" name="text 23"/>
          <p:cNvSpPr/>
          <p:nvPr/>
        </p:nvSpPr>
        <p:spPr>
          <a:xfrm>
            <a:off x="53340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01</a:t>
            </a:r>
            <a:endParaRPr lang="en-US" sz="1200"/>
          </a:p>
        </p:txBody>
      </p:sp>
      <p:sp>
        <p:nvSpPr>
          <p:cNvPr id="24" name="text 24"/>
          <p:cNvSpPr/>
          <p:nvPr/>
        </p:nvSpPr>
        <p:spPr>
          <a:xfrm>
            <a:off x="87630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Scope</a:t>
            </a:r>
            <a:endParaRPr lang="en-US" sz="1250"/>
          </a:p>
        </p:txBody>
      </p:sp>
      <p:sp>
        <p:nvSpPr>
          <p:cNvPr id="25" name="text 25"/>
          <p:cNvSpPr/>
          <p:nvPr/>
        </p:nvSpPr>
        <p:spPr>
          <a:xfrm>
            <a:off x="53340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Expected-varying fields</a:t>
            </a:r>
            <a:endParaRPr lang="en-US" sz="1100"/>
          </a:p>
        </p:txBody>
      </p:sp>
      <p:cxnSp>
        <p:nvCxnSpPr>
          <p:cNvPr id="26" name="connector 26"/>
          <p:cNvCxnSpPr/>
          <p:nvPr/>
        </p:nvCxnSpPr>
        <p:spPr>
          <a:xfrm>
            <a:off x="254508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2722880" y="3898900"/>
            <a:ext cx="2113280" cy="774700"/>
          </a:xfrm>
          <a:prstGeom prst="roundRect">
            <a:avLst/>
          </a:prstGeom>
          <a:solidFill>
            <a:srgbClr val="FFF2DF"/>
          </a:solidFill>
          <a:ln>
            <a:noFill/>
          </a:ln>
        </p:spPr>
      </p:sp>
      <p:sp>
        <p:nvSpPr>
          <p:cNvPr id="28" name="text 28"/>
          <p:cNvSpPr/>
          <p:nvPr/>
        </p:nvSpPr>
        <p:spPr>
          <a:xfrm>
            <a:off x="284988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02</a:t>
            </a:r>
            <a:endParaRPr lang="en-US" sz="1200"/>
          </a:p>
        </p:txBody>
      </p:sp>
      <p:sp>
        <p:nvSpPr>
          <p:cNvPr id="29" name="text 29"/>
          <p:cNvSpPr/>
          <p:nvPr/>
        </p:nvSpPr>
        <p:spPr>
          <a:xfrm>
            <a:off x="319278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Declare</a:t>
            </a:r>
            <a:endParaRPr lang="en-US" sz="1250"/>
          </a:p>
        </p:txBody>
      </p:sp>
      <p:sp>
        <p:nvSpPr>
          <p:cNvPr id="30" name="text 30"/>
          <p:cNvSpPr/>
          <p:nvPr/>
        </p:nvSpPr>
        <p:spPr>
          <a:xfrm>
            <a:off x="284988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Sentinels + periods</a:t>
            </a:r>
            <a:endParaRPr lang="en-US" sz="1100"/>
          </a:p>
        </p:txBody>
      </p:sp>
      <p:cxnSp>
        <p:nvCxnSpPr>
          <p:cNvPr id="31" name="connector 31"/>
          <p:cNvCxnSpPr/>
          <p:nvPr/>
        </p:nvCxnSpPr>
        <p:spPr>
          <a:xfrm>
            <a:off x="486156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2" name="shape 32"/>
          <p:cNvSpPr/>
          <p:nvPr/>
        </p:nvSpPr>
        <p:spPr>
          <a:xfrm>
            <a:off x="5039360" y="3898900"/>
            <a:ext cx="2113280" cy="774700"/>
          </a:xfrm>
          <a:prstGeom prst="roundRect">
            <a:avLst/>
          </a:prstGeom>
          <a:solidFill>
            <a:srgbClr val="FFF2DF"/>
          </a:solidFill>
          <a:ln>
            <a:noFill/>
          </a:ln>
        </p:spPr>
      </p:sp>
      <p:sp>
        <p:nvSpPr>
          <p:cNvPr id="33" name="text 33"/>
          <p:cNvSpPr/>
          <p:nvPr/>
        </p:nvSpPr>
        <p:spPr>
          <a:xfrm>
            <a:off x="516636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03</a:t>
            </a:r>
            <a:endParaRPr lang="en-US" sz="1200"/>
          </a:p>
        </p:txBody>
      </p:sp>
      <p:sp>
        <p:nvSpPr>
          <p:cNvPr id="34" name="text 34"/>
          <p:cNvSpPr/>
          <p:nvPr/>
        </p:nvSpPr>
        <p:spPr>
          <a:xfrm>
            <a:off x="550926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Measure</a:t>
            </a:r>
            <a:endParaRPr lang="en-US" sz="1250"/>
          </a:p>
        </p:txBody>
      </p:sp>
      <p:sp>
        <p:nvSpPr>
          <p:cNvPr id="35" name="text 35"/>
          <p:cNvSpPr/>
          <p:nvPr/>
        </p:nvSpPr>
        <p:spPr>
          <a:xfrm>
            <a:off x="516636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Variance / sentinel share</a:t>
            </a:r>
            <a:endParaRPr lang="en-US" sz="1100"/>
          </a:p>
        </p:txBody>
      </p:sp>
      <p:cxnSp>
        <p:nvCxnSpPr>
          <p:cNvPr id="36" name="connector 36"/>
          <p:cNvCxnSpPr/>
          <p:nvPr/>
        </p:nvCxnSpPr>
        <p:spPr>
          <a:xfrm>
            <a:off x="717804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7" name="shape 37"/>
          <p:cNvSpPr/>
          <p:nvPr/>
        </p:nvSpPr>
        <p:spPr>
          <a:xfrm>
            <a:off x="7355840" y="3898900"/>
            <a:ext cx="2113280" cy="774700"/>
          </a:xfrm>
          <a:prstGeom prst="roundRect">
            <a:avLst/>
          </a:prstGeom>
          <a:solidFill>
            <a:srgbClr val="FFF2DF"/>
          </a:solidFill>
          <a:ln>
            <a:noFill/>
          </a:ln>
        </p:spPr>
      </p:sp>
      <p:sp>
        <p:nvSpPr>
          <p:cNvPr id="38" name="text 38"/>
          <p:cNvSpPr/>
          <p:nvPr/>
        </p:nvSpPr>
        <p:spPr>
          <a:xfrm>
            <a:off x="748284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04</a:t>
            </a:r>
            <a:endParaRPr lang="en-US" sz="1200"/>
          </a:p>
        </p:txBody>
      </p:sp>
      <p:sp>
        <p:nvSpPr>
          <p:cNvPr id="39" name="text 39"/>
          <p:cNvSpPr/>
          <p:nvPr/>
        </p:nvSpPr>
        <p:spPr>
          <a:xfrm>
            <a:off x="782574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Flag</a:t>
            </a:r>
            <a:endParaRPr lang="en-US" sz="1250"/>
          </a:p>
        </p:txBody>
      </p:sp>
      <p:sp>
        <p:nvSpPr>
          <p:cNvPr id="40" name="text 40"/>
          <p:cNvSpPr/>
          <p:nvPr/>
        </p:nvSpPr>
        <p:spPr>
          <a:xfrm>
            <a:off x="748284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Frozen patterns</a:t>
            </a:r>
            <a:endParaRPr lang="en-US" sz="1100"/>
          </a:p>
        </p:txBody>
      </p:sp>
      <p:cxnSp>
        <p:nvCxnSpPr>
          <p:cNvPr id="41" name="connector 41"/>
          <p:cNvCxnSpPr/>
          <p:nvPr/>
        </p:nvCxnSpPr>
        <p:spPr>
          <a:xfrm>
            <a:off x="949452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9672320" y="3898900"/>
            <a:ext cx="2113280" cy="774700"/>
          </a:xfrm>
          <a:prstGeom prst="roundRect">
            <a:avLst/>
          </a:prstGeom>
          <a:solidFill>
            <a:srgbClr val="FFF2DF"/>
          </a:solidFill>
          <a:ln>
            <a:noFill/>
          </a:ln>
        </p:spPr>
      </p:sp>
      <p:sp>
        <p:nvSpPr>
          <p:cNvPr id="43" name="text 43"/>
          <p:cNvSpPr/>
          <p:nvPr/>
        </p:nvSpPr>
        <p:spPr>
          <a:xfrm>
            <a:off x="979932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05</a:t>
            </a:r>
            <a:endParaRPr lang="en-US" sz="1200"/>
          </a:p>
        </p:txBody>
      </p:sp>
      <p:sp>
        <p:nvSpPr>
          <p:cNvPr id="44" name="text 44"/>
          <p:cNvSpPr/>
          <p:nvPr/>
        </p:nvSpPr>
        <p:spPr>
          <a:xfrm>
            <a:off x="1014222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Review</a:t>
            </a:r>
            <a:endParaRPr lang="en-US" sz="1250"/>
          </a:p>
        </p:txBody>
      </p:sp>
      <p:sp>
        <p:nvSpPr>
          <p:cNvPr id="45" name="text 45"/>
          <p:cNvSpPr/>
          <p:nvPr/>
        </p:nvSpPr>
        <p:spPr>
          <a:xfrm>
            <a:off x="979932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Business explanation</a:t>
            </a:r>
            <a:endParaRPr lang="en-US" sz="1100"/>
          </a:p>
        </p:txBody>
      </p:sp>
      <p:sp>
        <p:nvSpPr>
          <p:cNvPr id="46" name="shape 46"/>
          <p:cNvSpPr/>
          <p:nvPr/>
        </p:nvSpPr>
        <p:spPr>
          <a:xfrm>
            <a:off x="406400" y="4851400"/>
            <a:ext cx="5562600" cy="1206500"/>
          </a:xfrm>
          <a:prstGeom prst="roundRect">
            <a:avLst/>
          </a:prstGeom>
          <a:solidFill>
            <a:srgbClr val="FFFFFF"/>
          </a:solidFill>
          <a:ln w="12700">
            <a:solidFill>
              <a:srgbClr val="DEDCD6"/>
            </a:solidFill>
          </a:ln>
        </p:spPr>
      </p:sp>
      <p:sp>
        <p:nvSpPr>
          <p:cNvPr id="47" name="text 47"/>
          <p:cNvSpPr/>
          <p:nvPr/>
        </p:nvSpPr>
        <p:spPr>
          <a:xfrm>
            <a:off x="5715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FINDING → ISSUE</a:t>
            </a:r>
            <a:endParaRPr lang="en-US" sz="1000"/>
          </a:p>
        </p:txBody>
      </p:sp>
      <p:sp>
        <p:nvSpPr>
          <p:cNvPr id="48" name="text 48"/>
          <p:cNvSpPr/>
          <p:nvPr/>
        </p:nvSpPr>
        <p:spPr>
          <a:xfrm>
            <a:off x="5715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Proposed gate: zero / near-zero variance where variation is expected,</a:t>
            </a:r>
            <a:endParaRPr lang="en-US" sz="1250"/>
          </a:p>
          <a:p>
            <a:pPr algn="l">
              <a:lnSpc>
                <a:spcPts val="1425"/>
              </a:lnSpc>
              <a:spcAft>
                <a:spcPts val="0"/>
              </a:spcAft>
            </a:pPr>
            <a:r>
              <a:rPr lang="en-US" sz="1250" b="0" dirty="0">
                <a:solidFill>
                  <a:srgbClr val="181C23"/>
                </a:solidFill>
                <a:latin typeface="Funnel Sans"/>
              </a:rPr>
              <a:t>or excessive sentinel share. Confirm legitimate constants and</a:t>
            </a:r>
            <a:endParaRPr lang="en-US" sz="1250"/>
          </a:p>
          <a:p>
            <a:pPr algn="l">
              <a:lnSpc>
                <a:spcPts val="1425"/>
              </a:lnSpc>
              <a:spcAft>
                <a:spcPts val="0"/>
              </a:spcAft>
            </a:pPr>
            <a:r>
              <a:rPr lang="en-US" sz="1250" b="0" dirty="0">
                <a:solidFill>
                  <a:srgbClr val="181C23"/>
                </a:solidFill>
                <a:latin typeface="Funnel Sans"/>
              </a:rPr>
              <a:t>missing-value conventions with the SME.</a:t>
            </a:r>
            <a:endParaRPr lang="en-US" sz="1250"/>
          </a:p>
        </p:txBody>
      </p:sp>
      <p:sp>
        <p:nvSpPr>
          <p:cNvPr id="49" name="shape 49"/>
          <p:cNvSpPr/>
          <p:nvPr/>
        </p:nvSpPr>
        <p:spPr>
          <a:xfrm>
            <a:off x="6223000" y="4851400"/>
            <a:ext cx="5562600" cy="1206500"/>
          </a:xfrm>
          <a:prstGeom prst="roundRect">
            <a:avLst/>
          </a:prstGeom>
          <a:solidFill>
            <a:srgbClr val="FFFFFF"/>
          </a:solidFill>
          <a:ln w="12700">
            <a:solidFill>
              <a:srgbClr val="DEDCD6"/>
            </a:solidFill>
          </a:ln>
        </p:spPr>
      </p:sp>
      <p:sp>
        <p:nvSpPr>
          <p:cNvPr id="50" name="text 50"/>
          <p:cNvSpPr/>
          <p:nvPr/>
        </p:nvSpPr>
        <p:spPr>
          <a:xfrm>
            <a:off x="63881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RCA → ACTION</a:t>
            </a:r>
            <a:endParaRPr lang="en-US" sz="1000"/>
          </a:p>
        </p:txBody>
      </p:sp>
      <p:sp>
        <p:nvSpPr>
          <p:cNvPr id="51" name="text 51"/>
          <p:cNvSpPr/>
          <p:nvPr/>
        </p:nvSpPr>
        <p:spPr>
          <a:xfrm>
            <a:off x="63881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Proposed: investigate default-filled fields, stale joins and feed refresh</a:t>
            </a:r>
            <a:endParaRPr lang="en-US" sz="1250"/>
          </a:p>
          <a:p>
            <a:pPr algn="l">
              <a:lnSpc>
                <a:spcPts val="1425"/>
              </a:lnSpc>
              <a:spcAft>
                <a:spcPts val="0"/>
              </a:spcAft>
            </a:pPr>
            <a:r>
              <a:rPr lang="en-US" sz="1250" b="0" dirty="0">
                <a:solidFill>
                  <a:srgbClr val="181C23"/>
                </a:solidFill>
                <a:latin typeface="Funnel Sans"/>
              </a:rPr>
              <a:t>failures. Correct capture / delivery or metadata, then reassess updated</a:t>
            </a:r>
            <a:endParaRPr lang="en-US" sz="1250"/>
          </a:p>
          <a:p>
            <a:pPr algn="l">
              <a:lnSpc>
                <a:spcPts val="1425"/>
              </a:lnSpc>
              <a:spcAft>
                <a:spcPts val="0"/>
              </a:spcAft>
            </a:pPr>
            <a:r>
              <a:rPr lang="en-US" sz="1250" b="0" dirty="0">
                <a:solidFill>
                  <a:srgbClr val="181C23"/>
                </a:solidFill>
                <a:latin typeface="Funnel Sans"/>
              </a:rPr>
              <a:t>periods.</a:t>
            </a:r>
            <a:endParaRPr lang="en-US" sz="1250"/>
          </a:p>
        </p:txBody>
      </p:sp>
      <p:sp>
        <p:nvSpPr>
          <p:cNvPr id="52" name="shape 52"/>
          <p:cNvSpPr/>
          <p:nvPr/>
        </p:nvSpPr>
        <p:spPr>
          <a:xfrm>
            <a:off x="406400" y="6172200"/>
            <a:ext cx="11379200" cy="292100"/>
          </a:xfrm>
          <a:prstGeom prst="roundRect">
            <a:avLst/>
          </a:prstGeom>
          <a:solidFill>
            <a:srgbClr val="282A27"/>
          </a:solidFill>
          <a:ln>
            <a:noFill/>
          </a:ln>
        </p:spPr>
      </p:sp>
      <p:sp>
        <p:nvSpPr>
          <p:cNvPr id="53" name="text 53"/>
          <p:cNvSpPr/>
          <p:nvPr/>
        </p:nvSpPr>
        <p:spPr>
          <a:xfrm>
            <a:off x="546100" y="6235700"/>
            <a:ext cx="11099800" cy="203200"/>
          </a:xfrm>
          <a:prstGeom prst="rect">
            <a:avLst/>
          </a:prstGeom>
          <a:noFill/>
          <a:ln>
            <a:noFill/>
          </a:ln>
        </p:spPr>
        <p:txBody>
          <a:bodyPr wrap="none" lIns="0" tIns="0" rIns="0" bIns="0" anchor="t">
            <a:noAutofit/>
          </a:bodyPr>
          <a:lstStyle/>
          <a:p>
            <a:pPr algn="l">
              <a:lnSpc>
                <a:spcPts val="1197"/>
              </a:lnSpc>
              <a:spcAft>
                <a:spcPts val="0"/>
              </a:spcAft>
            </a:pPr>
            <a:r>
              <a:rPr lang="en-US" sz="1050" b="0" dirty="0">
                <a:solidFill>
                  <a:srgbClr val="FFFFFF"/>
                </a:solidFill>
                <a:latin typeface="Funnel Sans"/>
              </a:rPr>
              <a:t>Deferred; no D07 executor. Overlap with implemented D08 semantics does not make this catalog diagnostic active.</a:t>
            </a:r>
            <a:endParaRPr lang="en-US" sz="1050"/>
          </a:p>
        </p:txBody>
      </p:sp>
      <p:cxnSp>
        <p:nvCxnSpPr>
          <p:cNvPr id="54" name="connector 54"/>
          <p:cNvCxnSpPr/>
          <p:nvPr/>
        </p:nvCxnSpPr>
        <p:spPr>
          <a:xfrm>
            <a:off x="406400" y="6553200"/>
            <a:ext cx="113792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55" name="text 55"/>
          <p:cNvSpPr/>
          <p:nvPr/>
        </p:nvSpPr>
        <p:spPr>
          <a:xfrm>
            <a:off x="406400" y="6629400"/>
            <a:ext cx="5715000" cy="152400"/>
          </a:xfrm>
          <a:prstGeom prst="rect">
            <a:avLst/>
          </a:prstGeom>
          <a:noFill/>
          <a:ln>
            <a:noFill/>
          </a:ln>
        </p:spPr>
        <p:txBody>
          <a:bodyPr wrap="none" lIns="0" tIns="0" rIns="0" bIns="0" anchor="t">
            <a:noAutofit/>
          </a:bodyPr>
          <a:lstStyle/>
          <a:p>
            <a:pPr algn="l">
              <a:lnSpc>
                <a:spcPts val="969"/>
              </a:lnSpc>
              <a:spcAft>
                <a:spcPts val="0"/>
              </a:spcAft>
            </a:pPr>
            <a:r>
              <a:rPr lang="en-US" sz="850" b="0" dirty="0">
                <a:solidFill>
                  <a:srgbClr val="6D706B"/>
                </a:solidFill>
                <a:latin typeface="Funnel Sans"/>
              </a:rPr>
              <a:t>DATA WORKBENCH / Diagnostic quick reference</a:t>
            </a:r>
            <a:endParaRPr lang="en-US" sz="850"/>
          </a:p>
        </p:txBody>
      </p:sp>
      <p:sp>
        <p:nvSpPr>
          <p:cNvPr id="56" name="text 56"/>
          <p:cNvSpPr/>
          <p:nvPr/>
        </p:nvSpPr>
        <p:spPr>
          <a:xfrm>
            <a:off x="6223000" y="6629400"/>
            <a:ext cx="4254500" cy="152400"/>
          </a:xfrm>
          <a:prstGeom prst="rect">
            <a:avLst/>
          </a:prstGeom>
          <a:noFill/>
          <a:ln>
            <a:noFill/>
          </a:ln>
        </p:spPr>
        <p:txBody>
          <a:bodyPr wrap="none" lIns="0" tIns="0" rIns="0" bIns="0" anchor="t">
            <a:noAutofit/>
          </a:bodyPr>
          <a:lstStyle/>
          <a:p>
            <a:pPr algn="r">
              <a:lnSpc>
                <a:spcPts val="969"/>
              </a:lnSpc>
              <a:spcAft>
                <a:spcPts val="0"/>
              </a:spcAft>
            </a:pPr>
            <a:r>
              <a:rPr lang="en-US" sz="850" b="0" dirty="0">
                <a:solidFill>
                  <a:srgbClr val="6D706B"/>
                </a:solidFill>
                <a:latin typeface="Funnel Sans"/>
              </a:rPr>
              <a:t>Full deck: slide 66</a:t>
            </a:r>
            <a:endParaRPr lang="en-US" sz="850"/>
          </a:p>
        </p:txBody>
      </p:sp>
      <p:sp>
        <p:nvSpPr>
          <p:cNvPr id="57" name="text 57"/>
          <p:cNvSpPr/>
          <p:nvPr/>
        </p:nvSpPr>
        <p:spPr>
          <a:xfrm>
            <a:off x="10795000" y="6616700"/>
            <a:ext cx="990600" cy="177800"/>
          </a:xfrm>
          <a:prstGeom prst="rect">
            <a:avLst/>
          </a:prstGeom>
          <a:noFill/>
          <a:ln>
            <a:noFill/>
          </a:ln>
        </p:spPr>
        <p:txBody>
          <a:bodyPr wrap="none" lIns="0" tIns="0" rIns="0" bIns="0" anchor="t">
            <a:noAutofit/>
          </a:bodyPr>
          <a:lstStyle/>
          <a:p>
            <a:pPr algn="r">
              <a:lnSpc>
                <a:spcPts val="1083"/>
              </a:lnSpc>
              <a:spcAft>
                <a:spcPts val="0"/>
              </a:spcAft>
            </a:pPr>
            <a:r>
              <a:rPr lang="en-US" sz="950" b="0" dirty="0">
                <a:solidFill>
                  <a:srgbClr val="6D706B"/>
                </a:solidFill>
                <a:latin typeface="Funnel Sans"/>
              </a:rPr>
              <a:t>15 / 22</a:t>
            </a:r>
            <a:endParaRPr lang="en-US" sz="95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shape 3"/>
          <p:cNvSpPr/>
          <p:nvPr/>
        </p:nvSpPr>
        <p:spPr>
          <a:xfrm>
            <a:off x="406400" y="228600"/>
            <a:ext cx="1181100" cy="292100"/>
          </a:xfrm>
          <a:prstGeom prst="roundRect">
            <a:avLst/>
          </a:prstGeom>
          <a:solidFill>
            <a:srgbClr val="FFF2DF"/>
          </a:solidFill>
          <a:ln>
            <a:noFill/>
          </a:ln>
        </p:spPr>
      </p:sp>
      <p:sp>
        <p:nvSpPr>
          <p:cNvPr id="4" name="text 4"/>
          <p:cNvSpPr/>
          <p:nvPr/>
        </p:nvSpPr>
        <p:spPr>
          <a:xfrm>
            <a:off x="520700" y="292100"/>
            <a:ext cx="952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T2-D09</a:t>
            </a:r>
            <a:endParaRPr lang="en-US" sz="1000"/>
          </a:p>
        </p:txBody>
      </p:sp>
      <p:sp>
        <p:nvSpPr>
          <p:cNvPr id="5" name="text 5"/>
          <p:cNvSpPr/>
          <p:nvPr/>
        </p:nvSpPr>
        <p:spPr>
          <a:xfrm>
            <a:off x="1739900" y="304800"/>
            <a:ext cx="3022600" cy="190500"/>
          </a:xfrm>
          <a:prstGeom prst="rect">
            <a:avLst/>
          </a:prstGeom>
          <a:noFill/>
          <a:ln>
            <a:noFill/>
          </a:ln>
        </p:spPr>
        <p:txBody>
          <a:bodyPr wrap="none" lIns="0" tIns="0" rIns="0" bIns="0" anchor="t">
            <a:noAutofit/>
          </a:bodyPr>
          <a:lstStyle/>
          <a:p>
            <a:pPr algn="l">
              <a:lnSpc>
                <a:spcPts val="1083"/>
              </a:lnSpc>
              <a:spcAft>
                <a:spcPts val="0"/>
              </a:spcAft>
            </a:pPr>
            <a:r>
              <a:rPr lang="en-US" sz="950" b="1" dirty="0">
                <a:solidFill>
                  <a:srgbClr val="6D706B"/>
                </a:solidFill>
                <a:latin typeface="Funnel Sans"/>
              </a:rPr>
              <a:t>INTERNAL CONSISTENCY</a:t>
            </a:r>
            <a:endParaRPr lang="en-US" sz="950"/>
          </a:p>
        </p:txBody>
      </p:sp>
      <p:sp>
        <p:nvSpPr>
          <p:cNvPr id="6" name="shape 6"/>
          <p:cNvSpPr/>
          <p:nvPr/>
        </p:nvSpPr>
        <p:spPr>
          <a:xfrm>
            <a:off x="4864100" y="228600"/>
            <a:ext cx="3797300" cy="292100"/>
          </a:xfrm>
          <a:prstGeom prst="roundRect">
            <a:avLst/>
          </a:prstGeom>
          <a:solidFill>
            <a:srgbClr val="EFEEE9"/>
          </a:solidFill>
          <a:ln>
            <a:noFill/>
          </a:ln>
        </p:spPr>
      </p:sp>
      <p:sp>
        <p:nvSpPr>
          <p:cNvPr id="7" name="text 7"/>
          <p:cNvSpPr/>
          <p:nvPr/>
        </p:nvSpPr>
        <p:spPr>
          <a:xfrm>
            <a:off x="4978400" y="292100"/>
            <a:ext cx="35687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181C23"/>
                </a:solidFill>
                <a:latin typeface="Funnel Sans"/>
              </a:rPr>
              <a:t>Proposed median / MAD screening</a:t>
            </a:r>
            <a:endParaRPr lang="en-US" sz="1000"/>
          </a:p>
        </p:txBody>
      </p:sp>
      <p:sp>
        <p:nvSpPr>
          <p:cNvPr id="8" name="shape 8"/>
          <p:cNvSpPr/>
          <p:nvPr/>
        </p:nvSpPr>
        <p:spPr>
          <a:xfrm>
            <a:off x="8826500" y="228600"/>
            <a:ext cx="2959100" cy="292100"/>
          </a:xfrm>
          <a:prstGeom prst="roundRect">
            <a:avLst/>
          </a:prstGeom>
          <a:solidFill>
            <a:srgbClr val="FFF2DF"/>
          </a:solidFill>
          <a:ln>
            <a:noFill/>
          </a:ln>
        </p:spPr>
      </p:sp>
      <p:sp>
        <p:nvSpPr>
          <p:cNvPr id="9" name="text 9"/>
          <p:cNvSpPr/>
          <p:nvPr/>
        </p:nvSpPr>
        <p:spPr>
          <a:xfrm>
            <a:off x="8940800" y="292100"/>
            <a:ext cx="2730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98641E"/>
                </a:solidFill>
                <a:latin typeface="Funnel Sans"/>
              </a:rPr>
              <a:t>Planned · deferred</a:t>
            </a:r>
            <a:endParaRPr lang="en-US" sz="1000"/>
          </a:p>
        </p:txBody>
      </p:sp>
      <p:sp>
        <p:nvSpPr>
          <p:cNvPr id="10" name="text 10"/>
          <p:cNvSpPr/>
          <p:nvPr/>
        </p:nvSpPr>
        <p:spPr>
          <a:xfrm>
            <a:off x="406400" y="698500"/>
            <a:ext cx="11379200" cy="508000"/>
          </a:xfrm>
          <a:prstGeom prst="rect">
            <a:avLst/>
          </a:prstGeom>
          <a:noFill/>
          <a:ln>
            <a:noFill/>
          </a:ln>
        </p:spPr>
        <p:txBody>
          <a:bodyPr wrap="none" lIns="0" tIns="0" rIns="0" bIns="0" anchor="t">
            <a:noAutofit/>
          </a:bodyPr>
          <a:lstStyle/>
          <a:p>
            <a:pPr algn="l">
              <a:lnSpc>
                <a:spcPts val="3192"/>
              </a:lnSpc>
              <a:spcAft>
                <a:spcPts val="0"/>
              </a:spcAft>
            </a:pPr>
            <a:r>
              <a:rPr lang="en-US" sz="2800" b="1" dirty="0">
                <a:solidFill>
                  <a:srgbClr val="181C23"/>
                </a:solidFill>
                <a:latin typeface="Funnel Sans"/>
              </a:rPr>
              <a:t>Statistical outlier: robust Z</a:t>
            </a:r>
            <a:endParaRPr lang="en-US" sz="2800"/>
          </a:p>
        </p:txBody>
      </p:sp>
      <p:sp>
        <p:nvSpPr>
          <p:cNvPr id="11" name="text 11"/>
          <p:cNvSpPr/>
          <p:nvPr/>
        </p:nvSpPr>
        <p:spPr>
          <a:xfrm>
            <a:off x="419100" y="1320800"/>
            <a:ext cx="11353800" cy="4445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Find improbable extremes in material numeric fields after checking value meaning.</a:t>
            </a:r>
            <a:endParaRPr lang="en-US" sz="1500"/>
          </a:p>
        </p:txBody>
      </p:sp>
      <p:sp>
        <p:nvSpPr>
          <p:cNvPr id="12" name="shape 12"/>
          <p:cNvSpPr/>
          <p:nvPr/>
        </p:nvSpPr>
        <p:spPr>
          <a:xfrm>
            <a:off x="406400" y="1905000"/>
            <a:ext cx="3632200" cy="1549400"/>
          </a:xfrm>
          <a:prstGeom prst="roundRect">
            <a:avLst/>
          </a:prstGeom>
          <a:solidFill>
            <a:srgbClr val="FFFFFF"/>
          </a:solidFill>
          <a:ln w="12700">
            <a:solidFill>
              <a:srgbClr val="DEDCD6"/>
            </a:solidFill>
          </a:ln>
        </p:spPr>
      </p:sp>
      <p:sp>
        <p:nvSpPr>
          <p:cNvPr id="13" name="text 13"/>
          <p:cNvSpPr/>
          <p:nvPr/>
        </p:nvSpPr>
        <p:spPr>
          <a:xfrm>
            <a:off x="571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USER &amp; TRIGGER</a:t>
            </a:r>
            <a:endParaRPr lang="en-US" sz="1000"/>
          </a:p>
        </p:txBody>
      </p:sp>
      <p:sp>
        <p:nvSpPr>
          <p:cNvPr id="14" name="text 14"/>
          <p:cNvSpPr/>
          <p:nvPr/>
        </p:nvSpPr>
        <p:spPr>
          <a:xfrm>
            <a:off x="571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Analyst / domain SME</a:t>
            </a:r>
            <a:endParaRPr lang="en-US" sz="1325"/>
          </a:p>
          <a:p>
            <a:pPr algn="l">
              <a:lnSpc>
                <a:spcPts val="1510"/>
              </a:lnSpc>
              <a:spcAft>
                <a:spcPts val="0"/>
              </a:spcAft>
            </a:pPr>
            <a:r>
              <a:rPr lang="en-US" sz="1325" b="0" dirty="0">
                <a:solidFill>
                  <a:srgbClr val="181C23"/>
                </a:solidFill>
                <a:latin typeface="Funnel Sans"/>
              </a:rPr>
              <a:t>Intended for tail review before modeling</a:t>
            </a:r>
            <a:endParaRPr lang="en-US" sz="1325"/>
          </a:p>
          <a:p>
            <a:pPr algn="l">
              <a:lnSpc>
                <a:spcPts val="1510"/>
              </a:lnSpc>
              <a:spcAft>
                <a:spcPts val="0"/>
              </a:spcAft>
            </a:pPr>
            <a:r>
              <a:rPr lang="en-US" sz="1325" b="0" dirty="0">
                <a:solidFill>
                  <a:srgbClr val="181C23"/>
                </a:solidFill>
                <a:latin typeface="Funnel Sans"/>
              </a:rPr>
              <a:t>or business use.</a:t>
            </a:r>
            <a:endParaRPr lang="en-US" sz="1325"/>
          </a:p>
        </p:txBody>
      </p:sp>
      <p:sp>
        <p:nvSpPr>
          <p:cNvPr id="15" name="shape 15"/>
          <p:cNvSpPr/>
          <p:nvPr/>
        </p:nvSpPr>
        <p:spPr>
          <a:xfrm>
            <a:off x="4279900" y="1905000"/>
            <a:ext cx="3632200" cy="1549400"/>
          </a:xfrm>
          <a:prstGeom prst="roundRect">
            <a:avLst/>
          </a:prstGeom>
          <a:solidFill>
            <a:srgbClr val="FFFFFF"/>
          </a:solidFill>
          <a:ln w="12700">
            <a:solidFill>
              <a:srgbClr val="DEDCD6"/>
            </a:solidFill>
          </a:ln>
        </p:spPr>
      </p:sp>
      <p:sp>
        <p:nvSpPr>
          <p:cNvPr id="16" name="text 16"/>
          <p:cNvSpPr/>
          <p:nvPr/>
        </p:nvSpPr>
        <p:spPr>
          <a:xfrm>
            <a:off x="44450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INPUTS &amp; READINESS</a:t>
            </a:r>
            <a:endParaRPr lang="en-US" sz="1000"/>
          </a:p>
        </p:txBody>
      </p:sp>
      <p:sp>
        <p:nvSpPr>
          <p:cNvPr id="17" name="text 17"/>
          <p:cNvSpPr/>
          <p:nvPr/>
        </p:nvSpPr>
        <p:spPr>
          <a:xfrm>
            <a:off x="44450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Proposed: material numeric fields,</a:t>
            </a:r>
            <a:endParaRPr lang="en-US" sz="1325"/>
          </a:p>
          <a:p>
            <a:pPr algn="l">
              <a:lnSpc>
                <a:spcPts val="1510"/>
              </a:lnSpc>
              <a:spcAft>
                <a:spcPts val="0"/>
              </a:spcAft>
            </a:pPr>
            <a:r>
              <a:rPr lang="en-US" sz="1325" b="0" dirty="0">
                <a:solidFill>
                  <a:srgbClr val="181C23"/>
                </a:solidFill>
                <a:latin typeface="Funnel Sans"/>
              </a:rPr>
              <a:t>approved scope and value semantics;</a:t>
            </a:r>
            <a:endParaRPr lang="en-US" sz="1325"/>
          </a:p>
          <a:p>
            <a:pPr algn="l">
              <a:lnSpc>
                <a:spcPts val="1510"/>
              </a:lnSpc>
              <a:spcAft>
                <a:spcPts val="0"/>
              </a:spcAft>
            </a:pPr>
            <a:r>
              <a:rPr lang="en-US" sz="1325" b="0" dirty="0">
                <a:solidFill>
                  <a:srgbClr val="181C23"/>
                </a:solidFill>
                <a:latin typeface="Funnel Sans"/>
              </a:rPr>
              <a:t>robust-Z cutoff and contextual review</a:t>
            </a:r>
            <a:endParaRPr lang="en-US" sz="1325"/>
          </a:p>
          <a:p>
            <a:pPr algn="l">
              <a:lnSpc>
                <a:spcPts val="1510"/>
              </a:lnSpc>
              <a:spcAft>
                <a:spcPts val="0"/>
              </a:spcAft>
            </a:pPr>
            <a:r>
              <a:rPr lang="en-US" sz="1325" b="0" dirty="0">
                <a:solidFill>
                  <a:srgbClr val="181C23"/>
                </a:solidFill>
                <a:latin typeface="Funnel Sans"/>
              </a:rPr>
              <a:t>criteria.</a:t>
            </a:r>
            <a:endParaRPr lang="en-US" sz="1325"/>
          </a:p>
        </p:txBody>
      </p:sp>
      <p:sp>
        <p:nvSpPr>
          <p:cNvPr id="18" name="shape 18"/>
          <p:cNvSpPr/>
          <p:nvPr/>
        </p:nvSpPr>
        <p:spPr>
          <a:xfrm>
            <a:off x="8153400" y="1905000"/>
            <a:ext cx="3632200" cy="1549400"/>
          </a:xfrm>
          <a:prstGeom prst="roundRect">
            <a:avLst/>
          </a:prstGeom>
          <a:solidFill>
            <a:srgbClr val="FFF2DF"/>
          </a:solidFill>
          <a:ln w="12700">
            <a:solidFill>
              <a:srgbClr val="DEDCD6"/>
            </a:solidFill>
          </a:ln>
        </p:spPr>
      </p:sp>
      <p:sp>
        <p:nvSpPr>
          <p:cNvPr id="19" name="text 19"/>
          <p:cNvSpPr/>
          <p:nvPr/>
        </p:nvSpPr>
        <p:spPr>
          <a:xfrm>
            <a:off x="8318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OUTPUTS &amp; EVIDENCE</a:t>
            </a:r>
            <a:endParaRPr lang="en-US" sz="1000"/>
          </a:p>
        </p:txBody>
      </p:sp>
      <p:sp>
        <p:nvSpPr>
          <p:cNvPr id="20" name="text 20"/>
          <p:cNvSpPr/>
          <p:nvPr/>
        </p:nvSpPr>
        <p:spPr>
          <a:xfrm>
            <a:off x="8318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Proposed: median, median absolute</a:t>
            </a:r>
            <a:endParaRPr lang="en-US" sz="1325"/>
          </a:p>
          <a:p>
            <a:pPr algn="l">
              <a:lnSpc>
                <a:spcPts val="1510"/>
              </a:lnSpc>
              <a:spcAft>
                <a:spcPts val="0"/>
              </a:spcAft>
            </a:pPr>
            <a:r>
              <a:rPr lang="en-US" sz="1325" b="0" dirty="0">
                <a:solidFill>
                  <a:srgbClr val="181C23"/>
                </a:solidFill>
                <a:latin typeface="Funnel Sans"/>
              </a:rPr>
              <a:t>deviation (MAD), robust-Z scores and</a:t>
            </a:r>
            <a:endParaRPr lang="en-US" sz="1325"/>
          </a:p>
          <a:p>
            <a:pPr algn="l">
              <a:lnSpc>
                <a:spcPts val="1510"/>
              </a:lnSpc>
              <a:spcAft>
                <a:spcPts val="0"/>
              </a:spcAft>
            </a:pPr>
            <a:r>
              <a:rPr lang="en-US" sz="1325" b="0" dirty="0">
                <a:solidFill>
                  <a:srgbClr val="181C23"/>
                </a:solidFill>
                <a:latin typeface="Funnel Sans"/>
              </a:rPr>
              <a:t>candidate extreme records.</a:t>
            </a:r>
            <a:endParaRPr lang="en-US" sz="1325"/>
          </a:p>
        </p:txBody>
      </p:sp>
      <p:sp>
        <p:nvSpPr>
          <p:cNvPr id="21" name="text 21"/>
          <p:cNvSpPr/>
          <p:nvPr/>
        </p:nvSpPr>
        <p:spPr>
          <a:xfrm>
            <a:off x="406400" y="3606800"/>
            <a:ext cx="7747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PROCESSING FLOW</a:t>
            </a:r>
            <a:endParaRPr lang="en-US" sz="1000"/>
          </a:p>
        </p:txBody>
      </p:sp>
      <p:sp>
        <p:nvSpPr>
          <p:cNvPr id="22" name="shape 22"/>
          <p:cNvSpPr/>
          <p:nvPr/>
        </p:nvSpPr>
        <p:spPr>
          <a:xfrm>
            <a:off x="406400" y="3898900"/>
            <a:ext cx="2113280" cy="774700"/>
          </a:xfrm>
          <a:prstGeom prst="roundRect">
            <a:avLst/>
          </a:prstGeom>
          <a:solidFill>
            <a:srgbClr val="FFF2DF"/>
          </a:solidFill>
          <a:ln>
            <a:noFill/>
          </a:ln>
        </p:spPr>
      </p:sp>
      <p:sp>
        <p:nvSpPr>
          <p:cNvPr id="23" name="text 23"/>
          <p:cNvSpPr/>
          <p:nvPr/>
        </p:nvSpPr>
        <p:spPr>
          <a:xfrm>
            <a:off x="53340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01</a:t>
            </a:r>
            <a:endParaRPr lang="en-US" sz="1200"/>
          </a:p>
        </p:txBody>
      </p:sp>
      <p:sp>
        <p:nvSpPr>
          <p:cNvPr id="24" name="text 24"/>
          <p:cNvSpPr/>
          <p:nvPr/>
        </p:nvSpPr>
        <p:spPr>
          <a:xfrm>
            <a:off x="87630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Select</a:t>
            </a:r>
            <a:endParaRPr lang="en-US" sz="1250"/>
          </a:p>
        </p:txBody>
      </p:sp>
      <p:sp>
        <p:nvSpPr>
          <p:cNvPr id="25" name="text 25"/>
          <p:cNvSpPr/>
          <p:nvPr/>
        </p:nvSpPr>
        <p:spPr>
          <a:xfrm>
            <a:off x="53340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Material fields</a:t>
            </a:r>
            <a:endParaRPr lang="en-US" sz="1100"/>
          </a:p>
        </p:txBody>
      </p:sp>
      <p:cxnSp>
        <p:nvCxnSpPr>
          <p:cNvPr id="26" name="connector 26"/>
          <p:cNvCxnSpPr/>
          <p:nvPr/>
        </p:nvCxnSpPr>
        <p:spPr>
          <a:xfrm>
            <a:off x="254508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2722880" y="3898900"/>
            <a:ext cx="2113280" cy="774700"/>
          </a:xfrm>
          <a:prstGeom prst="roundRect">
            <a:avLst/>
          </a:prstGeom>
          <a:solidFill>
            <a:srgbClr val="FFF2DF"/>
          </a:solidFill>
          <a:ln>
            <a:noFill/>
          </a:ln>
        </p:spPr>
      </p:sp>
      <p:sp>
        <p:nvSpPr>
          <p:cNvPr id="28" name="text 28"/>
          <p:cNvSpPr/>
          <p:nvPr/>
        </p:nvSpPr>
        <p:spPr>
          <a:xfrm>
            <a:off x="284988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02</a:t>
            </a:r>
            <a:endParaRPr lang="en-US" sz="1200"/>
          </a:p>
        </p:txBody>
      </p:sp>
      <p:sp>
        <p:nvSpPr>
          <p:cNvPr id="29" name="text 29"/>
          <p:cNvSpPr/>
          <p:nvPr/>
        </p:nvSpPr>
        <p:spPr>
          <a:xfrm>
            <a:off x="319278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Gate</a:t>
            </a:r>
            <a:endParaRPr lang="en-US" sz="1250"/>
          </a:p>
        </p:txBody>
      </p:sp>
      <p:sp>
        <p:nvSpPr>
          <p:cNvPr id="30" name="text 30"/>
          <p:cNvSpPr/>
          <p:nvPr/>
        </p:nvSpPr>
        <p:spPr>
          <a:xfrm>
            <a:off x="284988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Value semantics</a:t>
            </a:r>
            <a:endParaRPr lang="en-US" sz="1100"/>
          </a:p>
        </p:txBody>
      </p:sp>
      <p:cxnSp>
        <p:nvCxnSpPr>
          <p:cNvPr id="31" name="connector 31"/>
          <p:cNvCxnSpPr/>
          <p:nvPr/>
        </p:nvCxnSpPr>
        <p:spPr>
          <a:xfrm>
            <a:off x="486156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2" name="shape 32"/>
          <p:cNvSpPr/>
          <p:nvPr/>
        </p:nvSpPr>
        <p:spPr>
          <a:xfrm>
            <a:off x="5039360" y="3898900"/>
            <a:ext cx="2113280" cy="774700"/>
          </a:xfrm>
          <a:prstGeom prst="roundRect">
            <a:avLst/>
          </a:prstGeom>
          <a:solidFill>
            <a:srgbClr val="FFF2DF"/>
          </a:solidFill>
          <a:ln>
            <a:noFill/>
          </a:ln>
        </p:spPr>
      </p:sp>
      <p:sp>
        <p:nvSpPr>
          <p:cNvPr id="33" name="text 33"/>
          <p:cNvSpPr/>
          <p:nvPr/>
        </p:nvSpPr>
        <p:spPr>
          <a:xfrm>
            <a:off x="516636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03</a:t>
            </a:r>
            <a:endParaRPr lang="en-US" sz="1200"/>
          </a:p>
        </p:txBody>
      </p:sp>
      <p:sp>
        <p:nvSpPr>
          <p:cNvPr id="34" name="text 34"/>
          <p:cNvSpPr/>
          <p:nvPr/>
        </p:nvSpPr>
        <p:spPr>
          <a:xfrm>
            <a:off x="550926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Estimate</a:t>
            </a:r>
            <a:endParaRPr lang="en-US" sz="1250"/>
          </a:p>
        </p:txBody>
      </p:sp>
      <p:sp>
        <p:nvSpPr>
          <p:cNvPr id="35" name="text 35"/>
          <p:cNvSpPr/>
          <p:nvPr/>
        </p:nvSpPr>
        <p:spPr>
          <a:xfrm>
            <a:off x="516636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Median + MAD</a:t>
            </a:r>
            <a:endParaRPr lang="en-US" sz="1100"/>
          </a:p>
        </p:txBody>
      </p:sp>
      <p:cxnSp>
        <p:nvCxnSpPr>
          <p:cNvPr id="36" name="connector 36"/>
          <p:cNvCxnSpPr/>
          <p:nvPr/>
        </p:nvCxnSpPr>
        <p:spPr>
          <a:xfrm>
            <a:off x="717804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7" name="shape 37"/>
          <p:cNvSpPr/>
          <p:nvPr/>
        </p:nvSpPr>
        <p:spPr>
          <a:xfrm>
            <a:off x="7355840" y="3898900"/>
            <a:ext cx="2113280" cy="774700"/>
          </a:xfrm>
          <a:prstGeom prst="roundRect">
            <a:avLst/>
          </a:prstGeom>
          <a:solidFill>
            <a:srgbClr val="FFF2DF"/>
          </a:solidFill>
          <a:ln>
            <a:noFill/>
          </a:ln>
        </p:spPr>
      </p:sp>
      <p:sp>
        <p:nvSpPr>
          <p:cNvPr id="38" name="text 38"/>
          <p:cNvSpPr/>
          <p:nvPr/>
        </p:nvSpPr>
        <p:spPr>
          <a:xfrm>
            <a:off x="748284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04</a:t>
            </a:r>
            <a:endParaRPr lang="en-US" sz="1200"/>
          </a:p>
        </p:txBody>
      </p:sp>
      <p:sp>
        <p:nvSpPr>
          <p:cNvPr id="39" name="text 39"/>
          <p:cNvSpPr/>
          <p:nvPr/>
        </p:nvSpPr>
        <p:spPr>
          <a:xfrm>
            <a:off x="782574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Score</a:t>
            </a:r>
            <a:endParaRPr lang="en-US" sz="1250"/>
          </a:p>
        </p:txBody>
      </p:sp>
      <p:sp>
        <p:nvSpPr>
          <p:cNvPr id="40" name="text 40"/>
          <p:cNvSpPr/>
          <p:nvPr/>
        </p:nvSpPr>
        <p:spPr>
          <a:xfrm>
            <a:off x="748284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Robust Z</a:t>
            </a:r>
            <a:endParaRPr lang="en-US" sz="1100"/>
          </a:p>
        </p:txBody>
      </p:sp>
      <p:cxnSp>
        <p:nvCxnSpPr>
          <p:cNvPr id="41" name="connector 41"/>
          <p:cNvCxnSpPr/>
          <p:nvPr/>
        </p:nvCxnSpPr>
        <p:spPr>
          <a:xfrm>
            <a:off x="949452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9672320" y="3898900"/>
            <a:ext cx="2113280" cy="774700"/>
          </a:xfrm>
          <a:prstGeom prst="roundRect">
            <a:avLst/>
          </a:prstGeom>
          <a:solidFill>
            <a:srgbClr val="FFF2DF"/>
          </a:solidFill>
          <a:ln>
            <a:noFill/>
          </a:ln>
        </p:spPr>
      </p:sp>
      <p:sp>
        <p:nvSpPr>
          <p:cNvPr id="43" name="text 43"/>
          <p:cNvSpPr/>
          <p:nvPr/>
        </p:nvSpPr>
        <p:spPr>
          <a:xfrm>
            <a:off x="979932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05</a:t>
            </a:r>
            <a:endParaRPr lang="en-US" sz="1200"/>
          </a:p>
        </p:txBody>
      </p:sp>
      <p:sp>
        <p:nvSpPr>
          <p:cNvPr id="44" name="text 44"/>
          <p:cNvSpPr/>
          <p:nvPr/>
        </p:nvSpPr>
        <p:spPr>
          <a:xfrm>
            <a:off x="1014222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Review</a:t>
            </a:r>
            <a:endParaRPr lang="en-US" sz="1250"/>
          </a:p>
        </p:txBody>
      </p:sp>
      <p:sp>
        <p:nvSpPr>
          <p:cNvPr id="45" name="text 45"/>
          <p:cNvSpPr/>
          <p:nvPr/>
        </p:nvSpPr>
        <p:spPr>
          <a:xfrm>
            <a:off x="979932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Extreme candidates</a:t>
            </a:r>
            <a:endParaRPr lang="en-US" sz="1100"/>
          </a:p>
        </p:txBody>
      </p:sp>
      <p:sp>
        <p:nvSpPr>
          <p:cNvPr id="46" name="shape 46"/>
          <p:cNvSpPr/>
          <p:nvPr/>
        </p:nvSpPr>
        <p:spPr>
          <a:xfrm>
            <a:off x="406400" y="4851400"/>
            <a:ext cx="5562600" cy="1206500"/>
          </a:xfrm>
          <a:prstGeom prst="roundRect">
            <a:avLst/>
          </a:prstGeom>
          <a:solidFill>
            <a:srgbClr val="FFFFFF"/>
          </a:solidFill>
          <a:ln w="12700">
            <a:solidFill>
              <a:srgbClr val="DEDCD6"/>
            </a:solidFill>
          </a:ln>
        </p:spPr>
      </p:sp>
      <p:sp>
        <p:nvSpPr>
          <p:cNvPr id="47" name="text 47"/>
          <p:cNvSpPr/>
          <p:nvPr/>
        </p:nvSpPr>
        <p:spPr>
          <a:xfrm>
            <a:off x="5715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FINDING → ISSUE</a:t>
            </a:r>
            <a:endParaRPr lang="en-US" sz="1000"/>
          </a:p>
        </p:txBody>
      </p:sp>
      <p:sp>
        <p:nvSpPr>
          <p:cNvPr id="48" name="text 48"/>
          <p:cNvSpPr/>
          <p:nvPr/>
        </p:nvSpPr>
        <p:spPr>
          <a:xfrm>
            <a:off x="5715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Proposed score: 0.6745 × (x − median) / MAD. An example cutoff is |Z|</a:t>
            </a:r>
            <a:endParaRPr lang="en-US" sz="1250"/>
          </a:p>
          <a:p>
            <a:pPr algn="l">
              <a:lnSpc>
                <a:spcPts val="1425"/>
              </a:lnSpc>
              <a:spcAft>
                <a:spcPts val="0"/>
              </a:spcAft>
            </a:pPr>
            <a:r>
              <a:rPr lang="en-US" sz="1250" b="0" dirty="0">
                <a:solidFill>
                  <a:srgbClr val="181C23"/>
                </a:solidFill>
                <a:latin typeface="Funnel Sans"/>
              </a:rPr>
              <a:t>&gt;~3.5. Confirm semantics and business plausibility; legitimate tails are</a:t>
            </a:r>
            <a:endParaRPr lang="en-US" sz="1250"/>
          </a:p>
          <a:p>
            <a:pPr algn="l">
              <a:lnSpc>
                <a:spcPts val="1425"/>
              </a:lnSpc>
              <a:spcAft>
                <a:spcPts val="0"/>
              </a:spcAft>
            </a:pPr>
            <a:r>
              <a:rPr lang="en-US" sz="1250" b="0" dirty="0">
                <a:solidFill>
                  <a:srgbClr val="181C23"/>
                </a:solidFill>
                <a:latin typeface="Funnel Sans"/>
              </a:rPr>
              <a:t>not automatically defects.</a:t>
            </a:r>
            <a:endParaRPr lang="en-US" sz="1250"/>
          </a:p>
        </p:txBody>
      </p:sp>
      <p:sp>
        <p:nvSpPr>
          <p:cNvPr id="49" name="shape 49"/>
          <p:cNvSpPr/>
          <p:nvPr/>
        </p:nvSpPr>
        <p:spPr>
          <a:xfrm>
            <a:off x="6223000" y="4851400"/>
            <a:ext cx="5562600" cy="1206500"/>
          </a:xfrm>
          <a:prstGeom prst="roundRect">
            <a:avLst/>
          </a:prstGeom>
          <a:solidFill>
            <a:srgbClr val="FFFFFF"/>
          </a:solidFill>
          <a:ln w="12700">
            <a:solidFill>
              <a:srgbClr val="DEDCD6"/>
            </a:solidFill>
          </a:ln>
        </p:spPr>
      </p:sp>
      <p:sp>
        <p:nvSpPr>
          <p:cNvPr id="50" name="text 50"/>
          <p:cNvSpPr/>
          <p:nvPr/>
        </p:nvSpPr>
        <p:spPr>
          <a:xfrm>
            <a:off x="63881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RCA → ACTION</a:t>
            </a:r>
            <a:endParaRPr lang="en-US" sz="1000"/>
          </a:p>
        </p:txBody>
      </p:sp>
      <p:sp>
        <p:nvSpPr>
          <p:cNvPr id="51" name="text 51"/>
          <p:cNvSpPr/>
          <p:nvPr/>
        </p:nvSpPr>
        <p:spPr>
          <a:xfrm>
            <a:off x="63881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Proposed: inspect units, capture mistakes and valid rare events.</a:t>
            </a:r>
            <a:endParaRPr lang="en-US" sz="1250"/>
          </a:p>
          <a:p>
            <a:pPr algn="l">
              <a:lnSpc>
                <a:spcPts val="1425"/>
              </a:lnSpc>
              <a:spcAft>
                <a:spcPts val="0"/>
              </a:spcAft>
            </a:pPr>
            <a:r>
              <a:rPr lang="en-US" sz="1250" b="0" dirty="0">
                <a:solidFill>
                  <a:srgbClr val="181C23"/>
                </a:solidFill>
                <a:latin typeface="Funnel Sans"/>
              </a:rPr>
              <a:t>Correct proven source errors; otherwise document the tail decision</a:t>
            </a:r>
            <a:endParaRPr lang="en-US" sz="1250"/>
          </a:p>
          <a:p>
            <a:pPr algn="l">
              <a:lnSpc>
                <a:spcPts val="1425"/>
              </a:lnSpc>
              <a:spcAft>
                <a:spcPts val="0"/>
              </a:spcAft>
            </a:pPr>
            <a:r>
              <a:rPr lang="en-US" sz="1250" b="0" dirty="0">
                <a:solidFill>
                  <a:srgbClr val="181C23"/>
                </a:solidFill>
                <a:latin typeface="Funnel Sans"/>
              </a:rPr>
              <a:t>and reassess treatment.</a:t>
            </a:r>
            <a:endParaRPr lang="en-US" sz="1250"/>
          </a:p>
        </p:txBody>
      </p:sp>
      <p:sp>
        <p:nvSpPr>
          <p:cNvPr id="52" name="shape 52"/>
          <p:cNvSpPr/>
          <p:nvPr/>
        </p:nvSpPr>
        <p:spPr>
          <a:xfrm>
            <a:off x="406400" y="6172200"/>
            <a:ext cx="11379200" cy="292100"/>
          </a:xfrm>
          <a:prstGeom prst="roundRect">
            <a:avLst/>
          </a:prstGeom>
          <a:solidFill>
            <a:srgbClr val="282A27"/>
          </a:solidFill>
          <a:ln>
            <a:noFill/>
          </a:ln>
        </p:spPr>
      </p:sp>
      <p:sp>
        <p:nvSpPr>
          <p:cNvPr id="53" name="text 53"/>
          <p:cNvSpPr/>
          <p:nvPr/>
        </p:nvSpPr>
        <p:spPr>
          <a:xfrm>
            <a:off x="546100" y="6235700"/>
            <a:ext cx="11099800" cy="203200"/>
          </a:xfrm>
          <a:prstGeom prst="rect">
            <a:avLst/>
          </a:prstGeom>
          <a:noFill/>
          <a:ln>
            <a:noFill/>
          </a:ln>
        </p:spPr>
        <p:txBody>
          <a:bodyPr wrap="none" lIns="0" tIns="0" rIns="0" bIns="0" anchor="t">
            <a:noAutofit/>
          </a:bodyPr>
          <a:lstStyle/>
          <a:p>
            <a:pPr algn="l">
              <a:lnSpc>
                <a:spcPts val="1197"/>
              </a:lnSpc>
              <a:spcAft>
                <a:spcPts val="0"/>
              </a:spcAft>
            </a:pPr>
            <a:r>
              <a:rPr lang="en-US" sz="1050" b="0" dirty="0">
                <a:solidFill>
                  <a:srgbClr val="FFFFFF"/>
                </a:solidFill>
                <a:latin typeface="Funnel Sans"/>
              </a:rPr>
              <a:t>Deferred; no executor. Value-semantics gating is required; constant-field / zero-MAD handling needs specification.</a:t>
            </a:r>
            <a:endParaRPr lang="en-US" sz="1050"/>
          </a:p>
        </p:txBody>
      </p:sp>
      <p:cxnSp>
        <p:nvCxnSpPr>
          <p:cNvPr id="54" name="connector 54"/>
          <p:cNvCxnSpPr/>
          <p:nvPr/>
        </p:nvCxnSpPr>
        <p:spPr>
          <a:xfrm>
            <a:off x="406400" y="6553200"/>
            <a:ext cx="113792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55" name="text 55"/>
          <p:cNvSpPr/>
          <p:nvPr/>
        </p:nvSpPr>
        <p:spPr>
          <a:xfrm>
            <a:off x="406400" y="6629400"/>
            <a:ext cx="5715000" cy="152400"/>
          </a:xfrm>
          <a:prstGeom prst="rect">
            <a:avLst/>
          </a:prstGeom>
          <a:noFill/>
          <a:ln>
            <a:noFill/>
          </a:ln>
        </p:spPr>
        <p:txBody>
          <a:bodyPr wrap="none" lIns="0" tIns="0" rIns="0" bIns="0" anchor="t">
            <a:noAutofit/>
          </a:bodyPr>
          <a:lstStyle/>
          <a:p>
            <a:pPr algn="l">
              <a:lnSpc>
                <a:spcPts val="969"/>
              </a:lnSpc>
              <a:spcAft>
                <a:spcPts val="0"/>
              </a:spcAft>
            </a:pPr>
            <a:r>
              <a:rPr lang="en-US" sz="850" b="0" dirty="0">
                <a:solidFill>
                  <a:srgbClr val="6D706B"/>
                </a:solidFill>
                <a:latin typeface="Funnel Sans"/>
              </a:rPr>
              <a:t>DATA WORKBENCH / Diagnostic quick reference</a:t>
            </a:r>
            <a:endParaRPr lang="en-US" sz="850"/>
          </a:p>
        </p:txBody>
      </p:sp>
      <p:sp>
        <p:nvSpPr>
          <p:cNvPr id="56" name="text 56"/>
          <p:cNvSpPr/>
          <p:nvPr/>
        </p:nvSpPr>
        <p:spPr>
          <a:xfrm>
            <a:off x="6223000" y="6629400"/>
            <a:ext cx="4254500" cy="152400"/>
          </a:xfrm>
          <a:prstGeom prst="rect">
            <a:avLst/>
          </a:prstGeom>
          <a:noFill/>
          <a:ln>
            <a:noFill/>
          </a:ln>
        </p:spPr>
        <p:txBody>
          <a:bodyPr wrap="none" lIns="0" tIns="0" rIns="0" bIns="0" anchor="t">
            <a:noAutofit/>
          </a:bodyPr>
          <a:lstStyle/>
          <a:p>
            <a:pPr algn="r">
              <a:lnSpc>
                <a:spcPts val="969"/>
              </a:lnSpc>
              <a:spcAft>
                <a:spcPts val="0"/>
              </a:spcAft>
            </a:pPr>
            <a:r>
              <a:rPr lang="en-US" sz="850" b="0" dirty="0">
                <a:solidFill>
                  <a:srgbClr val="6D706B"/>
                </a:solidFill>
                <a:latin typeface="Funnel Sans"/>
              </a:rPr>
              <a:t>Full deck: slide 67</a:t>
            </a:r>
            <a:endParaRPr lang="en-US" sz="850"/>
          </a:p>
        </p:txBody>
      </p:sp>
      <p:sp>
        <p:nvSpPr>
          <p:cNvPr id="57" name="text 57"/>
          <p:cNvSpPr/>
          <p:nvPr/>
        </p:nvSpPr>
        <p:spPr>
          <a:xfrm>
            <a:off x="10795000" y="6616700"/>
            <a:ext cx="990600" cy="177800"/>
          </a:xfrm>
          <a:prstGeom prst="rect">
            <a:avLst/>
          </a:prstGeom>
          <a:noFill/>
          <a:ln>
            <a:noFill/>
          </a:ln>
        </p:spPr>
        <p:txBody>
          <a:bodyPr wrap="none" lIns="0" tIns="0" rIns="0" bIns="0" anchor="t">
            <a:noAutofit/>
          </a:bodyPr>
          <a:lstStyle/>
          <a:p>
            <a:pPr algn="r">
              <a:lnSpc>
                <a:spcPts val="1083"/>
              </a:lnSpc>
              <a:spcAft>
                <a:spcPts val="0"/>
              </a:spcAft>
            </a:pPr>
            <a:r>
              <a:rPr lang="en-US" sz="950" b="0" dirty="0">
                <a:solidFill>
                  <a:srgbClr val="6D706B"/>
                </a:solidFill>
                <a:latin typeface="Funnel Sans"/>
              </a:rPr>
              <a:t>16 / 22</a:t>
            </a:r>
            <a:endParaRPr lang="en-US" sz="95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shape 3"/>
          <p:cNvSpPr/>
          <p:nvPr/>
        </p:nvSpPr>
        <p:spPr>
          <a:xfrm>
            <a:off x="406400" y="228600"/>
            <a:ext cx="1181100" cy="292100"/>
          </a:xfrm>
          <a:prstGeom prst="roundRect">
            <a:avLst/>
          </a:prstGeom>
          <a:solidFill>
            <a:srgbClr val="FFF2DF"/>
          </a:solidFill>
          <a:ln>
            <a:noFill/>
          </a:ln>
        </p:spPr>
      </p:sp>
      <p:sp>
        <p:nvSpPr>
          <p:cNvPr id="4" name="text 4"/>
          <p:cNvSpPr/>
          <p:nvPr/>
        </p:nvSpPr>
        <p:spPr>
          <a:xfrm>
            <a:off x="520700" y="292100"/>
            <a:ext cx="952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T2-D10</a:t>
            </a:r>
            <a:endParaRPr lang="en-US" sz="1000"/>
          </a:p>
        </p:txBody>
      </p:sp>
      <p:sp>
        <p:nvSpPr>
          <p:cNvPr id="5" name="text 5"/>
          <p:cNvSpPr/>
          <p:nvPr/>
        </p:nvSpPr>
        <p:spPr>
          <a:xfrm>
            <a:off x="1739900" y="304800"/>
            <a:ext cx="3022600" cy="190500"/>
          </a:xfrm>
          <a:prstGeom prst="rect">
            <a:avLst/>
          </a:prstGeom>
          <a:noFill/>
          <a:ln>
            <a:noFill/>
          </a:ln>
        </p:spPr>
        <p:txBody>
          <a:bodyPr wrap="none" lIns="0" tIns="0" rIns="0" bIns="0" anchor="t">
            <a:noAutofit/>
          </a:bodyPr>
          <a:lstStyle/>
          <a:p>
            <a:pPr algn="l">
              <a:lnSpc>
                <a:spcPts val="1083"/>
              </a:lnSpc>
              <a:spcAft>
                <a:spcPts val="0"/>
              </a:spcAft>
            </a:pPr>
            <a:r>
              <a:rPr lang="en-US" sz="950" b="1" dirty="0">
                <a:solidFill>
                  <a:srgbClr val="6D706B"/>
                </a:solidFill>
                <a:latin typeface="Funnel Sans"/>
              </a:rPr>
              <a:t>INTERNAL CONSISTENCY</a:t>
            </a:r>
            <a:endParaRPr lang="en-US" sz="950"/>
          </a:p>
        </p:txBody>
      </p:sp>
      <p:sp>
        <p:nvSpPr>
          <p:cNvPr id="6" name="shape 6"/>
          <p:cNvSpPr/>
          <p:nvPr/>
        </p:nvSpPr>
        <p:spPr>
          <a:xfrm>
            <a:off x="4864100" y="228600"/>
            <a:ext cx="3797300" cy="292100"/>
          </a:xfrm>
          <a:prstGeom prst="roundRect">
            <a:avLst/>
          </a:prstGeom>
          <a:solidFill>
            <a:srgbClr val="EFEEE9"/>
          </a:solidFill>
          <a:ln>
            <a:noFill/>
          </a:ln>
        </p:spPr>
      </p:sp>
      <p:sp>
        <p:nvSpPr>
          <p:cNvPr id="7" name="text 7"/>
          <p:cNvSpPr/>
          <p:nvPr/>
        </p:nvSpPr>
        <p:spPr>
          <a:xfrm>
            <a:off x="4978400" y="292100"/>
            <a:ext cx="35687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181C23"/>
                </a:solidFill>
                <a:latin typeface="Funnel Sans"/>
              </a:rPr>
              <a:t>Proposed boundary-mass check</a:t>
            </a:r>
            <a:endParaRPr lang="en-US" sz="1000"/>
          </a:p>
        </p:txBody>
      </p:sp>
      <p:sp>
        <p:nvSpPr>
          <p:cNvPr id="8" name="shape 8"/>
          <p:cNvSpPr/>
          <p:nvPr/>
        </p:nvSpPr>
        <p:spPr>
          <a:xfrm>
            <a:off x="8826500" y="228600"/>
            <a:ext cx="2959100" cy="292100"/>
          </a:xfrm>
          <a:prstGeom prst="roundRect">
            <a:avLst/>
          </a:prstGeom>
          <a:solidFill>
            <a:srgbClr val="FFF2DF"/>
          </a:solidFill>
          <a:ln>
            <a:noFill/>
          </a:ln>
        </p:spPr>
      </p:sp>
      <p:sp>
        <p:nvSpPr>
          <p:cNvPr id="9" name="text 9"/>
          <p:cNvSpPr/>
          <p:nvPr/>
        </p:nvSpPr>
        <p:spPr>
          <a:xfrm>
            <a:off x="8940800" y="292100"/>
            <a:ext cx="2730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98641E"/>
                </a:solidFill>
                <a:latin typeface="Funnel Sans"/>
              </a:rPr>
              <a:t>Planned · deferred</a:t>
            </a:r>
            <a:endParaRPr lang="en-US" sz="1000"/>
          </a:p>
        </p:txBody>
      </p:sp>
      <p:sp>
        <p:nvSpPr>
          <p:cNvPr id="10" name="text 10"/>
          <p:cNvSpPr/>
          <p:nvPr/>
        </p:nvSpPr>
        <p:spPr>
          <a:xfrm>
            <a:off x="406400" y="698500"/>
            <a:ext cx="11379200" cy="508000"/>
          </a:xfrm>
          <a:prstGeom prst="rect">
            <a:avLst/>
          </a:prstGeom>
          <a:noFill/>
          <a:ln>
            <a:noFill/>
          </a:ln>
        </p:spPr>
        <p:txBody>
          <a:bodyPr wrap="none" lIns="0" tIns="0" rIns="0" bIns="0" anchor="t">
            <a:noAutofit/>
          </a:bodyPr>
          <a:lstStyle/>
          <a:p>
            <a:pPr algn="l">
              <a:lnSpc>
                <a:spcPts val="3192"/>
              </a:lnSpc>
              <a:spcAft>
                <a:spcPts val="0"/>
              </a:spcAft>
            </a:pPr>
            <a:r>
              <a:rPr lang="en-US" sz="2800" b="1" dirty="0">
                <a:solidFill>
                  <a:srgbClr val="181C23"/>
                </a:solidFill>
                <a:latin typeface="Funnel Sans"/>
              </a:rPr>
              <a:t>Boundary / pile-up detection</a:t>
            </a:r>
            <a:endParaRPr lang="en-US" sz="2800"/>
          </a:p>
        </p:txBody>
      </p:sp>
      <p:sp>
        <p:nvSpPr>
          <p:cNvPr id="11" name="text 11"/>
          <p:cNvSpPr/>
          <p:nvPr/>
        </p:nvSpPr>
        <p:spPr>
          <a:xfrm>
            <a:off x="419100" y="1320800"/>
            <a:ext cx="11353800" cy="4445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Find implausible concentrations at the declared minimum or maximum of a bounded field.</a:t>
            </a:r>
            <a:endParaRPr lang="en-US" sz="1500"/>
          </a:p>
        </p:txBody>
      </p:sp>
      <p:sp>
        <p:nvSpPr>
          <p:cNvPr id="12" name="shape 12"/>
          <p:cNvSpPr/>
          <p:nvPr/>
        </p:nvSpPr>
        <p:spPr>
          <a:xfrm>
            <a:off x="406400" y="1905000"/>
            <a:ext cx="3632200" cy="1549400"/>
          </a:xfrm>
          <a:prstGeom prst="roundRect">
            <a:avLst/>
          </a:prstGeom>
          <a:solidFill>
            <a:srgbClr val="FFFFFF"/>
          </a:solidFill>
          <a:ln w="12700">
            <a:solidFill>
              <a:srgbClr val="DEDCD6"/>
            </a:solidFill>
          </a:ln>
        </p:spPr>
      </p:sp>
      <p:sp>
        <p:nvSpPr>
          <p:cNvPr id="13" name="text 13"/>
          <p:cNvSpPr/>
          <p:nvPr/>
        </p:nvSpPr>
        <p:spPr>
          <a:xfrm>
            <a:off x="571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USER &amp; TRIGGER</a:t>
            </a:r>
            <a:endParaRPr lang="en-US" sz="1000"/>
          </a:p>
        </p:txBody>
      </p:sp>
      <p:sp>
        <p:nvSpPr>
          <p:cNvPr id="14" name="text 14"/>
          <p:cNvSpPr/>
          <p:nvPr/>
        </p:nvSpPr>
        <p:spPr>
          <a:xfrm>
            <a:off x="571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Data / analytics team + SME</a:t>
            </a:r>
            <a:endParaRPr lang="en-US" sz="1325"/>
          </a:p>
          <a:p>
            <a:pPr algn="l">
              <a:lnSpc>
                <a:spcPts val="1510"/>
              </a:lnSpc>
              <a:spcAft>
                <a:spcPts val="0"/>
              </a:spcAft>
            </a:pPr>
            <a:r>
              <a:rPr lang="en-US" sz="1325" b="0" dirty="0">
                <a:solidFill>
                  <a:srgbClr val="181C23"/>
                </a:solidFill>
                <a:latin typeface="Funnel Sans"/>
              </a:rPr>
              <a:t>Intended when values may be clipped,</a:t>
            </a:r>
            <a:endParaRPr lang="en-US" sz="1325"/>
          </a:p>
          <a:p>
            <a:pPr algn="l">
              <a:lnSpc>
                <a:spcPts val="1510"/>
              </a:lnSpc>
              <a:spcAft>
                <a:spcPts val="0"/>
              </a:spcAft>
            </a:pPr>
            <a:r>
              <a:rPr lang="en-US" sz="1325" b="0" dirty="0">
                <a:solidFill>
                  <a:srgbClr val="181C23"/>
                </a:solidFill>
                <a:latin typeface="Funnel Sans"/>
              </a:rPr>
              <a:t>capped or defaulted.</a:t>
            </a:r>
            <a:endParaRPr lang="en-US" sz="1325"/>
          </a:p>
        </p:txBody>
      </p:sp>
      <p:sp>
        <p:nvSpPr>
          <p:cNvPr id="15" name="shape 15"/>
          <p:cNvSpPr/>
          <p:nvPr/>
        </p:nvSpPr>
        <p:spPr>
          <a:xfrm>
            <a:off x="4279900" y="1905000"/>
            <a:ext cx="3632200" cy="1549400"/>
          </a:xfrm>
          <a:prstGeom prst="roundRect">
            <a:avLst/>
          </a:prstGeom>
          <a:solidFill>
            <a:srgbClr val="FFFFFF"/>
          </a:solidFill>
          <a:ln w="12700">
            <a:solidFill>
              <a:srgbClr val="DEDCD6"/>
            </a:solidFill>
          </a:ln>
        </p:spPr>
      </p:sp>
      <p:sp>
        <p:nvSpPr>
          <p:cNvPr id="16" name="text 16"/>
          <p:cNvSpPr/>
          <p:nvPr/>
        </p:nvSpPr>
        <p:spPr>
          <a:xfrm>
            <a:off x="44450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INPUTS &amp; READINESS</a:t>
            </a:r>
            <a:endParaRPr lang="en-US" sz="1000"/>
          </a:p>
        </p:txBody>
      </p:sp>
      <p:sp>
        <p:nvSpPr>
          <p:cNvPr id="17" name="text 17"/>
          <p:cNvSpPr/>
          <p:nvPr/>
        </p:nvSpPr>
        <p:spPr>
          <a:xfrm>
            <a:off x="44450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Proposed: bounded fields, declared</a:t>
            </a:r>
            <a:endParaRPr lang="en-US" sz="1325"/>
          </a:p>
          <a:p>
            <a:pPr algn="l">
              <a:lnSpc>
                <a:spcPts val="1510"/>
              </a:lnSpc>
              <a:spcAft>
                <a:spcPts val="0"/>
              </a:spcAft>
            </a:pPr>
            <a:r>
              <a:rPr lang="en-US" sz="1325" b="0" dirty="0">
                <a:solidFill>
                  <a:srgbClr val="181C23"/>
                </a:solidFill>
                <a:latin typeface="Funnel Sans"/>
              </a:rPr>
              <a:t>limits, relevant segments / periods and an</a:t>
            </a:r>
            <a:endParaRPr lang="en-US" sz="1325"/>
          </a:p>
          <a:p>
            <a:pPr algn="l">
              <a:lnSpc>
                <a:spcPts val="1510"/>
              </a:lnSpc>
              <a:spcAft>
                <a:spcPts val="0"/>
              </a:spcAft>
            </a:pPr>
            <a:r>
              <a:rPr lang="en-US" sz="1325" b="0" dirty="0">
                <a:solidFill>
                  <a:srgbClr val="181C23"/>
                </a:solidFill>
                <a:latin typeface="Funnel Sans"/>
              </a:rPr>
              <a:t>approved boundary-share threshold.</a:t>
            </a:r>
            <a:endParaRPr lang="en-US" sz="1325"/>
          </a:p>
        </p:txBody>
      </p:sp>
      <p:sp>
        <p:nvSpPr>
          <p:cNvPr id="18" name="shape 18"/>
          <p:cNvSpPr/>
          <p:nvPr/>
        </p:nvSpPr>
        <p:spPr>
          <a:xfrm>
            <a:off x="8153400" y="1905000"/>
            <a:ext cx="3632200" cy="1549400"/>
          </a:xfrm>
          <a:prstGeom prst="roundRect">
            <a:avLst/>
          </a:prstGeom>
          <a:solidFill>
            <a:srgbClr val="FFF2DF"/>
          </a:solidFill>
          <a:ln w="12700">
            <a:solidFill>
              <a:srgbClr val="DEDCD6"/>
            </a:solidFill>
          </a:ln>
        </p:spPr>
      </p:sp>
      <p:sp>
        <p:nvSpPr>
          <p:cNvPr id="19" name="text 19"/>
          <p:cNvSpPr/>
          <p:nvPr/>
        </p:nvSpPr>
        <p:spPr>
          <a:xfrm>
            <a:off x="8318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OUTPUTS &amp; EVIDENCE</a:t>
            </a:r>
            <a:endParaRPr lang="en-US" sz="1000"/>
          </a:p>
        </p:txBody>
      </p:sp>
      <p:sp>
        <p:nvSpPr>
          <p:cNvPr id="20" name="text 20"/>
          <p:cNvSpPr/>
          <p:nvPr/>
        </p:nvSpPr>
        <p:spPr>
          <a:xfrm>
            <a:off x="8318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Proposed: share and count at each</a:t>
            </a:r>
            <a:endParaRPr lang="en-US" sz="1325"/>
          </a:p>
          <a:p>
            <a:pPr algn="l">
              <a:lnSpc>
                <a:spcPts val="1510"/>
              </a:lnSpc>
              <a:spcAft>
                <a:spcPts val="0"/>
              </a:spcAft>
            </a:pPr>
            <a:r>
              <a:rPr lang="en-US" sz="1325" b="0" dirty="0">
                <a:solidFill>
                  <a:srgbClr val="181C23"/>
                </a:solidFill>
                <a:latin typeface="Funnel Sans"/>
              </a:rPr>
              <a:t>bound, distribution context and affected</a:t>
            </a:r>
            <a:endParaRPr lang="en-US" sz="1325"/>
          </a:p>
          <a:p>
            <a:pPr algn="l">
              <a:lnSpc>
                <a:spcPts val="1510"/>
              </a:lnSpc>
              <a:spcAft>
                <a:spcPts val="0"/>
              </a:spcAft>
            </a:pPr>
            <a:r>
              <a:rPr lang="en-US" sz="1325" b="0" dirty="0">
                <a:solidFill>
                  <a:srgbClr val="181C23"/>
                </a:solidFill>
                <a:latin typeface="Funnel Sans"/>
              </a:rPr>
              <a:t>fields / segments.</a:t>
            </a:r>
            <a:endParaRPr lang="en-US" sz="1325"/>
          </a:p>
        </p:txBody>
      </p:sp>
      <p:sp>
        <p:nvSpPr>
          <p:cNvPr id="21" name="text 21"/>
          <p:cNvSpPr/>
          <p:nvPr/>
        </p:nvSpPr>
        <p:spPr>
          <a:xfrm>
            <a:off x="406400" y="3606800"/>
            <a:ext cx="7747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PROCESSING FLOW</a:t>
            </a:r>
            <a:endParaRPr lang="en-US" sz="1000"/>
          </a:p>
        </p:txBody>
      </p:sp>
      <p:sp>
        <p:nvSpPr>
          <p:cNvPr id="22" name="shape 22"/>
          <p:cNvSpPr/>
          <p:nvPr/>
        </p:nvSpPr>
        <p:spPr>
          <a:xfrm>
            <a:off x="406400" y="3898900"/>
            <a:ext cx="2113280" cy="774700"/>
          </a:xfrm>
          <a:prstGeom prst="roundRect">
            <a:avLst/>
          </a:prstGeom>
          <a:solidFill>
            <a:srgbClr val="FFF2DF"/>
          </a:solidFill>
          <a:ln>
            <a:noFill/>
          </a:ln>
        </p:spPr>
      </p:sp>
      <p:sp>
        <p:nvSpPr>
          <p:cNvPr id="23" name="text 23"/>
          <p:cNvSpPr/>
          <p:nvPr/>
        </p:nvSpPr>
        <p:spPr>
          <a:xfrm>
            <a:off x="53340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01</a:t>
            </a:r>
            <a:endParaRPr lang="en-US" sz="1200"/>
          </a:p>
        </p:txBody>
      </p:sp>
      <p:sp>
        <p:nvSpPr>
          <p:cNvPr id="24" name="text 24"/>
          <p:cNvSpPr/>
          <p:nvPr/>
        </p:nvSpPr>
        <p:spPr>
          <a:xfrm>
            <a:off x="87630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Declare</a:t>
            </a:r>
            <a:endParaRPr lang="en-US" sz="1250"/>
          </a:p>
        </p:txBody>
      </p:sp>
      <p:sp>
        <p:nvSpPr>
          <p:cNvPr id="25" name="text 25"/>
          <p:cNvSpPr/>
          <p:nvPr/>
        </p:nvSpPr>
        <p:spPr>
          <a:xfrm>
            <a:off x="53340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Bounds + semantics</a:t>
            </a:r>
            <a:endParaRPr lang="en-US" sz="1100"/>
          </a:p>
        </p:txBody>
      </p:sp>
      <p:cxnSp>
        <p:nvCxnSpPr>
          <p:cNvPr id="26" name="connector 26"/>
          <p:cNvCxnSpPr/>
          <p:nvPr/>
        </p:nvCxnSpPr>
        <p:spPr>
          <a:xfrm>
            <a:off x="254508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2722880" y="3898900"/>
            <a:ext cx="2113280" cy="774700"/>
          </a:xfrm>
          <a:prstGeom prst="roundRect">
            <a:avLst/>
          </a:prstGeom>
          <a:solidFill>
            <a:srgbClr val="FFF2DF"/>
          </a:solidFill>
          <a:ln>
            <a:noFill/>
          </a:ln>
        </p:spPr>
      </p:sp>
      <p:sp>
        <p:nvSpPr>
          <p:cNvPr id="28" name="text 28"/>
          <p:cNvSpPr/>
          <p:nvPr/>
        </p:nvSpPr>
        <p:spPr>
          <a:xfrm>
            <a:off x="284988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02</a:t>
            </a:r>
            <a:endParaRPr lang="en-US" sz="1200"/>
          </a:p>
        </p:txBody>
      </p:sp>
      <p:sp>
        <p:nvSpPr>
          <p:cNvPr id="29" name="text 29"/>
          <p:cNvSpPr/>
          <p:nvPr/>
        </p:nvSpPr>
        <p:spPr>
          <a:xfrm>
            <a:off x="319278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Scope</a:t>
            </a:r>
            <a:endParaRPr lang="en-US" sz="1250"/>
          </a:p>
        </p:txBody>
      </p:sp>
      <p:sp>
        <p:nvSpPr>
          <p:cNvPr id="30" name="text 30"/>
          <p:cNvSpPr/>
          <p:nvPr/>
        </p:nvSpPr>
        <p:spPr>
          <a:xfrm>
            <a:off x="284988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Fields / populations</a:t>
            </a:r>
            <a:endParaRPr lang="en-US" sz="1100"/>
          </a:p>
        </p:txBody>
      </p:sp>
      <p:cxnSp>
        <p:nvCxnSpPr>
          <p:cNvPr id="31" name="connector 31"/>
          <p:cNvCxnSpPr/>
          <p:nvPr/>
        </p:nvCxnSpPr>
        <p:spPr>
          <a:xfrm>
            <a:off x="486156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2" name="shape 32"/>
          <p:cNvSpPr/>
          <p:nvPr/>
        </p:nvSpPr>
        <p:spPr>
          <a:xfrm>
            <a:off x="5039360" y="3898900"/>
            <a:ext cx="2113280" cy="774700"/>
          </a:xfrm>
          <a:prstGeom prst="roundRect">
            <a:avLst/>
          </a:prstGeom>
          <a:solidFill>
            <a:srgbClr val="FFF2DF"/>
          </a:solidFill>
          <a:ln>
            <a:noFill/>
          </a:ln>
        </p:spPr>
      </p:sp>
      <p:sp>
        <p:nvSpPr>
          <p:cNvPr id="33" name="text 33"/>
          <p:cNvSpPr/>
          <p:nvPr/>
        </p:nvSpPr>
        <p:spPr>
          <a:xfrm>
            <a:off x="516636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03</a:t>
            </a:r>
            <a:endParaRPr lang="en-US" sz="1200"/>
          </a:p>
        </p:txBody>
      </p:sp>
      <p:sp>
        <p:nvSpPr>
          <p:cNvPr id="34" name="text 34"/>
          <p:cNvSpPr/>
          <p:nvPr/>
        </p:nvSpPr>
        <p:spPr>
          <a:xfrm>
            <a:off x="550926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Measure</a:t>
            </a:r>
            <a:endParaRPr lang="en-US" sz="1250"/>
          </a:p>
        </p:txBody>
      </p:sp>
      <p:sp>
        <p:nvSpPr>
          <p:cNvPr id="35" name="text 35"/>
          <p:cNvSpPr/>
          <p:nvPr/>
        </p:nvSpPr>
        <p:spPr>
          <a:xfrm>
            <a:off x="516636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Mass at each bound</a:t>
            </a:r>
            <a:endParaRPr lang="en-US" sz="1100"/>
          </a:p>
        </p:txBody>
      </p:sp>
      <p:cxnSp>
        <p:nvCxnSpPr>
          <p:cNvPr id="36" name="connector 36"/>
          <p:cNvCxnSpPr/>
          <p:nvPr/>
        </p:nvCxnSpPr>
        <p:spPr>
          <a:xfrm>
            <a:off x="717804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7" name="shape 37"/>
          <p:cNvSpPr/>
          <p:nvPr/>
        </p:nvSpPr>
        <p:spPr>
          <a:xfrm>
            <a:off x="7355840" y="3898900"/>
            <a:ext cx="2113280" cy="774700"/>
          </a:xfrm>
          <a:prstGeom prst="roundRect">
            <a:avLst/>
          </a:prstGeom>
          <a:solidFill>
            <a:srgbClr val="FFF2DF"/>
          </a:solidFill>
          <a:ln>
            <a:noFill/>
          </a:ln>
        </p:spPr>
      </p:sp>
      <p:sp>
        <p:nvSpPr>
          <p:cNvPr id="38" name="text 38"/>
          <p:cNvSpPr/>
          <p:nvPr/>
        </p:nvSpPr>
        <p:spPr>
          <a:xfrm>
            <a:off x="748284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04</a:t>
            </a:r>
            <a:endParaRPr lang="en-US" sz="1200"/>
          </a:p>
        </p:txBody>
      </p:sp>
      <p:sp>
        <p:nvSpPr>
          <p:cNvPr id="39" name="text 39"/>
          <p:cNvSpPr/>
          <p:nvPr/>
        </p:nvSpPr>
        <p:spPr>
          <a:xfrm>
            <a:off x="782574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Compare</a:t>
            </a:r>
            <a:endParaRPr lang="en-US" sz="1250"/>
          </a:p>
        </p:txBody>
      </p:sp>
      <p:sp>
        <p:nvSpPr>
          <p:cNvPr id="40" name="text 40"/>
          <p:cNvSpPr/>
          <p:nvPr/>
        </p:nvSpPr>
        <p:spPr>
          <a:xfrm>
            <a:off x="748284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Tuned share limit</a:t>
            </a:r>
            <a:endParaRPr lang="en-US" sz="1100"/>
          </a:p>
        </p:txBody>
      </p:sp>
      <p:cxnSp>
        <p:nvCxnSpPr>
          <p:cNvPr id="41" name="connector 41"/>
          <p:cNvCxnSpPr/>
          <p:nvPr/>
        </p:nvCxnSpPr>
        <p:spPr>
          <a:xfrm>
            <a:off x="949452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9672320" y="3898900"/>
            <a:ext cx="2113280" cy="774700"/>
          </a:xfrm>
          <a:prstGeom prst="roundRect">
            <a:avLst/>
          </a:prstGeom>
          <a:solidFill>
            <a:srgbClr val="FFF2DF"/>
          </a:solidFill>
          <a:ln>
            <a:noFill/>
          </a:ln>
        </p:spPr>
      </p:sp>
      <p:sp>
        <p:nvSpPr>
          <p:cNvPr id="43" name="text 43"/>
          <p:cNvSpPr/>
          <p:nvPr/>
        </p:nvSpPr>
        <p:spPr>
          <a:xfrm>
            <a:off x="979932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05</a:t>
            </a:r>
            <a:endParaRPr lang="en-US" sz="1200"/>
          </a:p>
        </p:txBody>
      </p:sp>
      <p:sp>
        <p:nvSpPr>
          <p:cNvPr id="44" name="text 44"/>
          <p:cNvSpPr/>
          <p:nvPr/>
        </p:nvSpPr>
        <p:spPr>
          <a:xfrm>
            <a:off x="1014222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Review</a:t>
            </a:r>
            <a:endParaRPr lang="en-US" sz="1250"/>
          </a:p>
        </p:txBody>
      </p:sp>
      <p:sp>
        <p:nvSpPr>
          <p:cNvPr id="45" name="text 45"/>
          <p:cNvSpPr/>
          <p:nvPr/>
        </p:nvSpPr>
        <p:spPr>
          <a:xfrm>
            <a:off x="979932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Cap vs data defect</a:t>
            </a:r>
            <a:endParaRPr lang="en-US" sz="1100"/>
          </a:p>
        </p:txBody>
      </p:sp>
      <p:sp>
        <p:nvSpPr>
          <p:cNvPr id="46" name="shape 46"/>
          <p:cNvSpPr/>
          <p:nvPr/>
        </p:nvSpPr>
        <p:spPr>
          <a:xfrm>
            <a:off x="406400" y="4851400"/>
            <a:ext cx="5562600" cy="1206500"/>
          </a:xfrm>
          <a:prstGeom prst="roundRect">
            <a:avLst/>
          </a:prstGeom>
          <a:solidFill>
            <a:srgbClr val="FFFFFF"/>
          </a:solidFill>
          <a:ln w="12700">
            <a:solidFill>
              <a:srgbClr val="DEDCD6"/>
            </a:solidFill>
          </a:ln>
        </p:spPr>
      </p:sp>
      <p:sp>
        <p:nvSpPr>
          <p:cNvPr id="47" name="text 47"/>
          <p:cNvSpPr/>
          <p:nvPr/>
        </p:nvSpPr>
        <p:spPr>
          <a:xfrm>
            <a:off x="5715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FINDING → ISSUE</a:t>
            </a:r>
            <a:endParaRPr lang="en-US" sz="1000"/>
          </a:p>
        </p:txBody>
      </p:sp>
      <p:sp>
        <p:nvSpPr>
          <p:cNvPr id="48" name="text 48"/>
          <p:cNvSpPr/>
          <p:nvPr/>
        </p:nvSpPr>
        <p:spPr>
          <a:xfrm>
            <a:off x="5715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Proposed gate: boundary share &gt; an approved X%. Review contractual</a:t>
            </a:r>
            <a:endParaRPr lang="en-US" sz="1250"/>
          </a:p>
          <a:p>
            <a:pPr algn="l">
              <a:lnSpc>
                <a:spcPts val="1425"/>
              </a:lnSpc>
              <a:spcAft>
                <a:spcPts val="0"/>
              </a:spcAft>
            </a:pPr>
            <a:r>
              <a:rPr lang="en-US" sz="1250" b="0" dirty="0">
                <a:solidFill>
                  <a:srgbClr val="181C23"/>
                </a:solidFill>
                <a:latin typeface="Funnel Sans"/>
              </a:rPr>
              <a:t>caps, censoring and operational limits before confirming an</a:t>
            </a:r>
            <a:endParaRPr lang="en-US" sz="1250"/>
          </a:p>
          <a:p>
            <a:pPr algn="l">
              <a:lnSpc>
                <a:spcPts val="1425"/>
              </a:lnSpc>
              <a:spcAft>
                <a:spcPts val="0"/>
              </a:spcAft>
            </a:pPr>
            <a:r>
              <a:rPr lang="en-US" sz="1250" b="0" dirty="0">
                <a:solidFill>
                  <a:srgbClr val="181C23"/>
                </a:solidFill>
                <a:latin typeface="Funnel Sans"/>
              </a:rPr>
              <a:t>anomalous pile-up.</a:t>
            </a:r>
            <a:endParaRPr lang="en-US" sz="1250"/>
          </a:p>
        </p:txBody>
      </p:sp>
      <p:sp>
        <p:nvSpPr>
          <p:cNvPr id="49" name="shape 49"/>
          <p:cNvSpPr/>
          <p:nvPr/>
        </p:nvSpPr>
        <p:spPr>
          <a:xfrm>
            <a:off x="6223000" y="4851400"/>
            <a:ext cx="5562600" cy="1206500"/>
          </a:xfrm>
          <a:prstGeom prst="roundRect">
            <a:avLst/>
          </a:prstGeom>
          <a:solidFill>
            <a:srgbClr val="FFFFFF"/>
          </a:solidFill>
          <a:ln w="12700">
            <a:solidFill>
              <a:srgbClr val="DEDCD6"/>
            </a:solidFill>
          </a:ln>
        </p:spPr>
      </p:sp>
      <p:sp>
        <p:nvSpPr>
          <p:cNvPr id="50" name="text 50"/>
          <p:cNvSpPr/>
          <p:nvPr/>
        </p:nvSpPr>
        <p:spPr>
          <a:xfrm>
            <a:off x="63881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RCA → ACTION</a:t>
            </a:r>
            <a:endParaRPr lang="en-US" sz="1000"/>
          </a:p>
        </p:txBody>
      </p:sp>
      <p:sp>
        <p:nvSpPr>
          <p:cNvPr id="51" name="text 51"/>
          <p:cNvSpPr/>
          <p:nvPr/>
        </p:nvSpPr>
        <p:spPr>
          <a:xfrm>
            <a:off x="63881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Proposed: trace clipping, default assignment and source limits.</a:t>
            </a:r>
            <a:endParaRPr lang="en-US" sz="1250"/>
          </a:p>
          <a:p>
            <a:pPr algn="l">
              <a:lnSpc>
                <a:spcPts val="1425"/>
              </a:lnSpc>
              <a:spcAft>
                <a:spcPts val="0"/>
              </a:spcAft>
            </a:pPr>
            <a:r>
              <a:rPr lang="en-US" sz="1250" b="0" dirty="0">
                <a:solidFill>
                  <a:srgbClr val="181C23"/>
                </a:solidFill>
                <a:latin typeface="Funnel Sans"/>
              </a:rPr>
              <a:t>Correct transformation / capture errors or document a valid bound;</a:t>
            </a:r>
            <a:endParaRPr lang="en-US" sz="1250"/>
          </a:p>
          <a:p>
            <a:pPr algn="l">
              <a:lnSpc>
                <a:spcPts val="1425"/>
              </a:lnSpc>
              <a:spcAft>
                <a:spcPts val="0"/>
              </a:spcAft>
            </a:pPr>
            <a:r>
              <a:rPr lang="en-US" sz="1250" b="0" dirty="0">
                <a:solidFill>
                  <a:srgbClr val="181C23"/>
                </a:solidFill>
                <a:latin typeface="Funnel Sans"/>
              </a:rPr>
              <a:t>rerun on updated data.</a:t>
            </a:r>
            <a:endParaRPr lang="en-US" sz="1250"/>
          </a:p>
        </p:txBody>
      </p:sp>
      <p:sp>
        <p:nvSpPr>
          <p:cNvPr id="52" name="shape 52"/>
          <p:cNvSpPr/>
          <p:nvPr/>
        </p:nvSpPr>
        <p:spPr>
          <a:xfrm>
            <a:off x="406400" y="6172200"/>
            <a:ext cx="11379200" cy="292100"/>
          </a:xfrm>
          <a:prstGeom prst="roundRect">
            <a:avLst/>
          </a:prstGeom>
          <a:solidFill>
            <a:srgbClr val="282A27"/>
          </a:solidFill>
          <a:ln>
            <a:noFill/>
          </a:ln>
        </p:spPr>
      </p:sp>
      <p:sp>
        <p:nvSpPr>
          <p:cNvPr id="53" name="text 53"/>
          <p:cNvSpPr/>
          <p:nvPr/>
        </p:nvSpPr>
        <p:spPr>
          <a:xfrm>
            <a:off x="546100" y="6235700"/>
            <a:ext cx="11099800" cy="203200"/>
          </a:xfrm>
          <a:prstGeom prst="rect">
            <a:avLst/>
          </a:prstGeom>
          <a:noFill/>
          <a:ln>
            <a:noFill/>
          </a:ln>
        </p:spPr>
        <p:txBody>
          <a:bodyPr wrap="none" lIns="0" tIns="0" rIns="0" bIns="0" anchor="t">
            <a:noAutofit/>
          </a:bodyPr>
          <a:lstStyle/>
          <a:p>
            <a:pPr algn="l">
              <a:lnSpc>
                <a:spcPts val="1197"/>
              </a:lnSpc>
              <a:spcAft>
                <a:spcPts val="0"/>
              </a:spcAft>
            </a:pPr>
            <a:r>
              <a:rPr lang="en-US" sz="1050" b="0" dirty="0">
                <a:solidFill>
                  <a:srgbClr val="FFFFFF"/>
                </a:solidFill>
                <a:latin typeface="Funnel Sans"/>
              </a:rPr>
              <a:t>Deferred catalog diagnostic: not registered or executable. No universal threshold is supplied for boundary mass.</a:t>
            </a:r>
            <a:endParaRPr lang="en-US" sz="1050"/>
          </a:p>
        </p:txBody>
      </p:sp>
      <p:cxnSp>
        <p:nvCxnSpPr>
          <p:cNvPr id="54" name="connector 54"/>
          <p:cNvCxnSpPr/>
          <p:nvPr/>
        </p:nvCxnSpPr>
        <p:spPr>
          <a:xfrm>
            <a:off x="406400" y="6553200"/>
            <a:ext cx="113792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55" name="text 55"/>
          <p:cNvSpPr/>
          <p:nvPr/>
        </p:nvSpPr>
        <p:spPr>
          <a:xfrm>
            <a:off x="406400" y="6629400"/>
            <a:ext cx="5715000" cy="152400"/>
          </a:xfrm>
          <a:prstGeom prst="rect">
            <a:avLst/>
          </a:prstGeom>
          <a:noFill/>
          <a:ln>
            <a:noFill/>
          </a:ln>
        </p:spPr>
        <p:txBody>
          <a:bodyPr wrap="none" lIns="0" tIns="0" rIns="0" bIns="0" anchor="t">
            <a:noAutofit/>
          </a:bodyPr>
          <a:lstStyle/>
          <a:p>
            <a:pPr algn="l">
              <a:lnSpc>
                <a:spcPts val="969"/>
              </a:lnSpc>
              <a:spcAft>
                <a:spcPts val="0"/>
              </a:spcAft>
            </a:pPr>
            <a:r>
              <a:rPr lang="en-US" sz="850" b="0" dirty="0">
                <a:solidFill>
                  <a:srgbClr val="6D706B"/>
                </a:solidFill>
                <a:latin typeface="Funnel Sans"/>
              </a:rPr>
              <a:t>DATA WORKBENCH / Diagnostic quick reference</a:t>
            </a:r>
            <a:endParaRPr lang="en-US" sz="850"/>
          </a:p>
        </p:txBody>
      </p:sp>
      <p:sp>
        <p:nvSpPr>
          <p:cNvPr id="56" name="text 56"/>
          <p:cNvSpPr/>
          <p:nvPr/>
        </p:nvSpPr>
        <p:spPr>
          <a:xfrm>
            <a:off x="6223000" y="6629400"/>
            <a:ext cx="4254500" cy="152400"/>
          </a:xfrm>
          <a:prstGeom prst="rect">
            <a:avLst/>
          </a:prstGeom>
          <a:noFill/>
          <a:ln>
            <a:noFill/>
          </a:ln>
        </p:spPr>
        <p:txBody>
          <a:bodyPr wrap="none" lIns="0" tIns="0" rIns="0" bIns="0" anchor="t">
            <a:noAutofit/>
          </a:bodyPr>
          <a:lstStyle/>
          <a:p>
            <a:pPr algn="r">
              <a:lnSpc>
                <a:spcPts val="969"/>
              </a:lnSpc>
              <a:spcAft>
                <a:spcPts val="0"/>
              </a:spcAft>
            </a:pPr>
            <a:r>
              <a:rPr lang="en-US" sz="850" b="0" dirty="0">
                <a:solidFill>
                  <a:srgbClr val="6D706B"/>
                </a:solidFill>
                <a:latin typeface="Funnel Sans"/>
              </a:rPr>
              <a:t>Full deck: slide 68</a:t>
            </a:r>
            <a:endParaRPr lang="en-US" sz="850"/>
          </a:p>
        </p:txBody>
      </p:sp>
      <p:sp>
        <p:nvSpPr>
          <p:cNvPr id="57" name="text 57"/>
          <p:cNvSpPr/>
          <p:nvPr/>
        </p:nvSpPr>
        <p:spPr>
          <a:xfrm>
            <a:off x="10795000" y="6616700"/>
            <a:ext cx="990600" cy="177800"/>
          </a:xfrm>
          <a:prstGeom prst="rect">
            <a:avLst/>
          </a:prstGeom>
          <a:noFill/>
          <a:ln>
            <a:noFill/>
          </a:ln>
        </p:spPr>
        <p:txBody>
          <a:bodyPr wrap="none" lIns="0" tIns="0" rIns="0" bIns="0" anchor="t">
            <a:noAutofit/>
          </a:bodyPr>
          <a:lstStyle/>
          <a:p>
            <a:pPr algn="r">
              <a:lnSpc>
                <a:spcPts val="1083"/>
              </a:lnSpc>
              <a:spcAft>
                <a:spcPts val="0"/>
              </a:spcAft>
            </a:pPr>
            <a:r>
              <a:rPr lang="en-US" sz="950" b="0" dirty="0">
                <a:solidFill>
                  <a:srgbClr val="6D706B"/>
                </a:solidFill>
                <a:latin typeface="Funnel Sans"/>
              </a:rPr>
              <a:t>17 / 22</a:t>
            </a:r>
            <a:endParaRPr lang="en-US" sz="95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shape 3"/>
          <p:cNvSpPr/>
          <p:nvPr/>
        </p:nvSpPr>
        <p:spPr>
          <a:xfrm>
            <a:off x="406400" y="228600"/>
            <a:ext cx="1181100" cy="292100"/>
          </a:xfrm>
          <a:prstGeom prst="roundRect">
            <a:avLst/>
          </a:prstGeom>
          <a:solidFill>
            <a:srgbClr val="FFF2DF"/>
          </a:solidFill>
          <a:ln>
            <a:noFill/>
          </a:ln>
        </p:spPr>
      </p:sp>
      <p:sp>
        <p:nvSpPr>
          <p:cNvPr id="4" name="text 4"/>
          <p:cNvSpPr/>
          <p:nvPr/>
        </p:nvSpPr>
        <p:spPr>
          <a:xfrm>
            <a:off x="520700" y="292100"/>
            <a:ext cx="952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T3-D13</a:t>
            </a:r>
            <a:endParaRPr lang="en-US" sz="1000"/>
          </a:p>
        </p:txBody>
      </p:sp>
      <p:sp>
        <p:nvSpPr>
          <p:cNvPr id="5" name="text 5"/>
          <p:cNvSpPr/>
          <p:nvPr/>
        </p:nvSpPr>
        <p:spPr>
          <a:xfrm>
            <a:off x="1739900" y="304800"/>
            <a:ext cx="3022600" cy="190500"/>
          </a:xfrm>
          <a:prstGeom prst="rect">
            <a:avLst/>
          </a:prstGeom>
          <a:noFill/>
          <a:ln>
            <a:noFill/>
          </a:ln>
        </p:spPr>
        <p:txBody>
          <a:bodyPr wrap="none" lIns="0" tIns="0" rIns="0" bIns="0" anchor="t">
            <a:noAutofit/>
          </a:bodyPr>
          <a:lstStyle/>
          <a:p>
            <a:pPr algn="l">
              <a:lnSpc>
                <a:spcPts val="1083"/>
              </a:lnSpc>
              <a:spcAft>
                <a:spcPts val="0"/>
              </a:spcAft>
            </a:pPr>
            <a:r>
              <a:rPr lang="en-US" sz="950" b="1" dirty="0">
                <a:solidFill>
                  <a:srgbClr val="6D706B"/>
                </a:solidFill>
                <a:latin typeface="Funnel Sans"/>
              </a:rPr>
              <a:t>TARGET VALIDITY</a:t>
            </a:r>
            <a:endParaRPr lang="en-US" sz="950"/>
          </a:p>
        </p:txBody>
      </p:sp>
      <p:sp>
        <p:nvSpPr>
          <p:cNvPr id="6" name="shape 6"/>
          <p:cNvSpPr/>
          <p:nvPr/>
        </p:nvSpPr>
        <p:spPr>
          <a:xfrm>
            <a:off x="4864100" y="228600"/>
            <a:ext cx="3797300" cy="292100"/>
          </a:xfrm>
          <a:prstGeom prst="roundRect">
            <a:avLst/>
          </a:prstGeom>
          <a:solidFill>
            <a:srgbClr val="EFEEE9"/>
          </a:solidFill>
          <a:ln>
            <a:noFill/>
          </a:ln>
        </p:spPr>
      </p:sp>
      <p:sp>
        <p:nvSpPr>
          <p:cNvPr id="7" name="text 7"/>
          <p:cNvSpPr/>
          <p:nvPr/>
        </p:nvSpPr>
        <p:spPr>
          <a:xfrm>
            <a:off x="4978400" y="292100"/>
            <a:ext cx="35687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181C23"/>
                </a:solidFill>
                <a:latin typeface="Funnel Sans"/>
              </a:rPr>
              <a:t>Proposed structural-break check</a:t>
            </a:r>
            <a:endParaRPr lang="en-US" sz="1000"/>
          </a:p>
        </p:txBody>
      </p:sp>
      <p:sp>
        <p:nvSpPr>
          <p:cNvPr id="8" name="shape 8"/>
          <p:cNvSpPr/>
          <p:nvPr/>
        </p:nvSpPr>
        <p:spPr>
          <a:xfrm>
            <a:off x="8826500" y="228600"/>
            <a:ext cx="2959100" cy="292100"/>
          </a:xfrm>
          <a:prstGeom prst="roundRect">
            <a:avLst/>
          </a:prstGeom>
          <a:solidFill>
            <a:srgbClr val="FFF2DF"/>
          </a:solidFill>
          <a:ln>
            <a:noFill/>
          </a:ln>
        </p:spPr>
      </p:sp>
      <p:sp>
        <p:nvSpPr>
          <p:cNvPr id="9" name="text 9"/>
          <p:cNvSpPr/>
          <p:nvPr/>
        </p:nvSpPr>
        <p:spPr>
          <a:xfrm>
            <a:off x="8940800" y="292100"/>
            <a:ext cx="2730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98641E"/>
                </a:solidFill>
                <a:latin typeface="Funnel Sans"/>
              </a:rPr>
              <a:t>Planned · deferred</a:t>
            </a:r>
            <a:endParaRPr lang="en-US" sz="1000"/>
          </a:p>
        </p:txBody>
      </p:sp>
      <p:sp>
        <p:nvSpPr>
          <p:cNvPr id="10" name="text 10"/>
          <p:cNvSpPr/>
          <p:nvPr/>
        </p:nvSpPr>
        <p:spPr>
          <a:xfrm>
            <a:off x="406400" y="698500"/>
            <a:ext cx="11379200" cy="508000"/>
          </a:xfrm>
          <a:prstGeom prst="rect">
            <a:avLst/>
          </a:prstGeom>
          <a:noFill/>
          <a:ln>
            <a:noFill/>
          </a:ln>
        </p:spPr>
        <p:txBody>
          <a:bodyPr wrap="none" lIns="0" tIns="0" rIns="0" bIns="0" anchor="t">
            <a:noAutofit/>
          </a:bodyPr>
          <a:lstStyle/>
          <a:p>
            <a:pPr algn="l">
              <a:lnSpc>
                <a:spcPts val="3192"/>
              </a:lnSpc>
              <a:spcAft>
                <a:spcPts val="0"/>
              </a:spcAft>
            </a:pPr>
            <a:r>
              <a:rPr lang="en-US" sz="2800" b="1" dirty="0">
                <a:solidFill>
                  <a:srgbClr val="181C23"/>
                </a:solidFill>
                <a:latin typeface="Funnel Sans"/>
              </a:rPr>
              <a:t>Target-rate break / change-point</a:t>
            </a:r>
            <a:endParaRPr lang="en-US" sz="2800"/>
          </a:p>
        </p:txBody>
      </p:sp>
      <p:sp>
        <p:nvSpPr>
          <p:cNvPr id="11" name="text 11"/>
          <p:cNvSpPr/>
          <p:nvPr/>
        </p:nvSpPr>
        <p:spPr>
          <a:xfrm>
            <a:off x="419100" y="1320800"/>
            <a:ext cx="11353800" cy="4445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Find abrupt target-rate changes that may reflect a definition or process change.</a:t>
            </a:r>
            <a:endParaRPr lang="en-US" sz="1500"/>
          </a:p>
        </p:txBody>
      </p:sp>
      <p:sp>
        <p:nvSpPr>
          <p:cNvPr id="12" name="shape 12"/>
          <p:cNvSpPr/>
          <p:nvPr/>
        </p:nvSpPr>
        <p:spPr>
          <a:xfrm>
            <a:off x="406400" y="1905000"/>
            <a:ext cx="3632200" cy="1549400"/>
          </a:xfrm>
          <a:prstGeom prst="roundRect">
            <a:avLst/>
          </a:prstGeom>
          <a:solidFill>
            <a:srgbClr val="FFFFFF"/>
          </a:solidFill>
          <a:ln w="12700">
            <a:solidFill>
              <a:srgbClr val="DEDCD6"/>
            </a:solidFill>
          </a:ln>
        </p:spPr>
      </p:sp>
      <p:sp>
        <p:nvSpPr>
          <p:cNvPr id="13" name="text 13"/>
          <p:cNvSpPr/>
          <p:nvPr/>
        </p:nvSpPr>
        <p:spPr>
          <a:xfrm>
            <a:off x="571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USER &amp; TRIGGER</a:t>
            </a:r>
            <a:endParaRPr lang="en-US" sz="1000"/>
          </a:p>
        </p:txBody>
      </p:sp>
      <p:sp>
        <p:nvSpPr>
          <p:cNvPr id="14" name="text 14"/>
          <p:cNvSpPr/>
          <p:nvPr/>
        </p:nvSpPr>
        <p:spPr>
          <a:xfrm>
            <a:off x="571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Target owner / model team</a:t>
            </a:r>
            <a:endParaRPr lang="en-US" sz="1325"/>
          </a:p>
          <a:p>
            <a:pPr algn="l">
              <a:lnSpc>
                <a:spcPts val="1510"/>
              </a:lnSpc>
              <a:spcAft>
                <a:spcPts val="0"/>
              </a:spcAft>
            </a:pPr>
            <a:r>
              <a:rPr lang="en-US" sz="1325" b="0" dirty="0">
                <a:solidFill>
                  <a:srgbClr val="181C23"/>
                </a:solidFill>
                <a:latin typeface="Funnel Sans"/>
              </a:rPr>
              <a:t>Intended after label-policy changes or</a:t>
            </a:r>
            <a:endParaRPr lang="en-US" sz="1325"/>
          </a:p>
          <a:p>
            <a:pPr algn="l">
              <a:lnSpc>
                <a:spcPts val="1510"/>
              </a:lnSpc>
              <a:spcAft>
                <a:spcPts val="0"/>
              </a:spcAft>
            </a:pPr>
            <a:r>
              <a:rPr lang="en-US" sz="1325" b="0" dirty="0">
                <a:solidFill>
                  <a:srgbClr val="181C23"/>
                </a:solidFill>
                <a:latin typeface="Funnel Sans"/>
              </a:rPr>
              <a:t>unexpected time trends.</a:t>
            </a:r>
            <a:endParaRPr lang="en-US" sz="1325"/>
          </a:p>
        </p:txBody>
      </p:sp>
      <p:sp>
        <p:nvSpPr>
          <p:cNvPr id="15" name="shape 15"/>
          <p:cNvSpPr/>
          <p:nvPr/>
        </p:nvSpPr>
        <p:spPr>
          <a:xfrm>
            <a:off x="4279900" y="1905000"/>
            <a:ext cx="3632200" cy="1549400"/>
          </a:xfrm>
          <a:prstGeom prst="roundRect">
            <a:avLst/>
          </a:prstGeom>
          <a:solidFill>
            <a:srgbClr val="FFFFFF"/>
          </a:solidFill>
          <a:ln w="12700">
            <a:solidFill>
              <a:srgbClr val="DEDCD6"/>
            </a:solidFill>
          </a:ln>
        </p:spPr>
      </p:sp>
      <p:sp>
        <p:nvSpPr>
          <p:cNvPr id="16" name="text 16"/>
          <p:cNvSpPr/>
          <p:nvPr/>
        </p:nvSpPr>
        <p:spPr>
          <a:xfrm>
            <a:off x="44450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INPUTS &amp; READINESS</a:t>
            </a:r>
            <a:endParaRPr lang="en-US" sz="1000"/>
          </a:p>
        </p:txBody>
      </p:sp>
      <p:sp>
        <p:nvSpPr>
          <p:cNvPr id="17" name="text 17"/>
          <p:cNvSpPr/>
          <p:nvPr/>
        </p:nvSpPr>
        <p:spPr>
          <a:xfrm>
            <a:off x="44450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Proposed: dated target outcomes and</a:t>
            </a:r>
            <a:endParaRPr lang="en-US" sz="1325"/>
          </a:p>
          <a:p>
            <a:pPr algn="l">
              <a:lnSpc>
                <a:spcPts val="1510"/>
              </a:lnSpc>
              <a:spcAft>
                <a:spcPts val="0"/>
              </a:spcAft>
            </a:pPr>
            <a:r>
              <a:rPr lang="en-US" sz="1325" b="0" dirty="0">
                <a:solidFill>
                  <a:srgbClr val="181C23"/>
                </a:solidFill>
                <a:latin typeface="Funnel Sans"/>
              </a:rPr>
              <a:t>denominators, definition / process</a:t>
            </a:r>
            <a:endParaRPr lang="en-US" sz="1325"/>
          </a:p>
          <a:p>
            <a:pPr algn="l">
              <a:lnSpc>
                <a:spcPts val="1510"/>
              </a:lnSpc>
              <a:spcAft>
                <a:spcPts val="0"/>
              </a:spcAft>
            </a:pPr>
            <a:r>
              <a:rPr lang="en-US" sz="1325" b="0" dirty="0">
                <a:solidFill>
                  <a:srgbClr val="181C23"/>
                </a:solidFill>
                <a:latin typeface="Funnel Sans"/>
              </a:rPr>
              <a:t>change dates, analysis windows and</a:t>
            </a:r>
            <a:endParaRPr lang="en-US" sz="1325"/>
          </a:p>
          <a:p>
            <a:pPr algn="l">
              <a:lnSpc>
                <a:spcPts val="1510"/>
              </a:lnSpc>
              <a:spcAft>
                <a:spcPts val="0"/>
              </a:spcAft>
            </a:pPr>
            <a:r>
              <a:rPr lang="en-US" sz="1325" b="0" dirty="0">
                <a:solidFill>
                  <a:srgbClr val="181C23"/>
                </a:solidFill>
                <a:latin typeface="Funnel Sans"/>
              </a:rPr>
              <a:t>significance criteria.</a:t>
            </a:r>
            <a:endParaRPr lang="en-US" sz="1325"/>
          </a:p>
        </p:txBody>
      </p:sp>
      <p:sp>
        <p:nvSpPr>
          <p:cNvPr id="18" name="shape 18"/>
          <p:cNvSpPr/>
          <p:nvPr/>
        </p:nvSpPr>
        <p:spPr>
          <a:xfrm>
            <a:off x="8153400" y="1905000"/>
            <a:ext cx="3632200" cy="1549400"/>
          </a:xfrm>
          <a:prstGeom prst="roundRect">
            <a:avLst/>
          </a:prstGeom>
          <a:solidFill>
            <a:srgbClr val="FFF2DF"/>
          </a:solidFill>
          <a:ln w="12700">
            <a:solidFill>
              <a:srgbClr val="DEDCD6"/>
            </a:solidFill>
          </a:ln>
        </p:spPr>
      </p:sp>
      <p:sp>
        <p:nvSpPr>
          <p:cNvPr id="19" name="text 19"/>
          <p:cNvSpPr/>
          <p:nvPr/>
        </p:nvSpPr>
        <p:spPr>
          <a:xfrm>
            <a:off x="8318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OUTPUTS &amp; EVIDENCE</a:t>
            </a:r>
            <a:endParaRPr lang="en-US" sz="1000"/>
          </a:p>
        </p:txBody>
      </p:sp>
      <p:sp>
        <p:nvSpPr>
          <p:cNvPr id="20" name="text 20"/>
          <p:cNvSpPr/>
          <p:nvPr/>
        </p:nvSpPr>
        <p:spPr>
          <a:xfrm>
            <a:off x="8318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Proposed: target-rate series, candidate</a:t>
            </a:r>
            <a:endParaRPr lang="en-US" sz="1325"/>
          </a:p>
          <a:p>
            <a:pPr algn="l">
              <a:lnSpc>
                <a:spcPts val="1510"/>
              </a:lnSpc>
              <a:spcAft>
                <a:spcPts val="0"/>
              </a:spcAft>
            </a:pPr>
            <a:r>
              <a:rPr lang="en-US" sz="1325" b="0" dirty="0">
                <a:solidFill>
                  <a:srgbClr val="181C23"/>
                </a:solidFill>
                <a:latin typeface="Funnel Sans"/>
              </a:rPr>
              <a:t>change points, break statistics and</a:t>
            </a:r>
            <a:endParaRPr lang="en-US" sz="1325"/>
          </a:p>
          <a:p>
            <a:pPr algn="l">
              <a:lnSpc>
                <a:spcPts val="1510"/>
              </a:lnSpc>
              <a:spcAft>
                <a:spcPts val="0"/>
              </a:spcAft>
            </a:pPr>
            <a:r>
              <a:rPr lang="en-US" sz="1325" b="0" dirty="0">
                <a:solidFill>
                  <a:srgbClr val="181C23"/>
                </a:solidFill>
                <a:latin typeface="Funnel Sans"/>
              </a:rPr>
              <a:t>alignment with definition dates.</a:t>
            </a:r>
            <a:endParaRPr lang="en-US" sz="1325"/>
          </a:p>
        </p:txBody>
      </p:sp>
      <p:sp>
        <p:nvSpPr>
          <p:cNvPr id="21" name="text 21"/>
          <p:cNvSpPr/>
          <p:nvPr/>
        </p:nvSpPr>
        <p:spPr>
          <a:xfrm>
            <a:off x="406400" y="3606800"/>
            <a:ext cx="7747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PROCESSING FLOW</a:t>
            </a:r>
            <a:endParaRPr lang="en-US" sz="1000"/>
          </a:p>
        </p:txBody>
      </p:sp>
      <p:sp>
        <p:nvSpPr>
          <p:cNvPr id="22" name="shape 22"/>
          <p:cNvSpPr/>
          <p:nvPr/>
        </p:nvSpPr>
        <p:spPr>
          <a:xfrm>
            <a:off x="406400" y="3898900"/>
            <a:ext cx="2113280" cy="774700"/>
          </a:xfrm>
          <a:prstGeom prst="roundRect">
            <a:avLst/>
          </a:prstGeom>
          <a:solidFill>
            <a:srgbClr val="FFF2DF"/>
          </a:solidFill>
          <a:ln>
            <a:noFill/>
          </a:ln>
        </p:spPr>
      </p:sp>
      <p:sp>
        <p:nvSpPr>
          <p:cNvPr id="23" name="text 23"/>
          <p:cNvSpPr/>
          <p:nvPr/>
        </p:nvSpPr>
        <p:spPr>
          <a:xfrm>
            <a:off x="53340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01</a:t>
            </a:r>
            <a:endParaRPr lang="en-US" sz="1200"/>
          </a:p>
        </p:txBody>
      </p:sp>
      <p:sp>
        <p:nvSpPr>
          <p:cNvPr id="24" name="text 24"/>
          <p:cNvSpPr/>
          <p:nvPr/>
        </p:nvSpPr>
        <p:spPr>
          <a:xfrm>
            <a:off x="87630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Build</a:t>
            </a:r>
            <a:endParaRPr lang="en-US" sz="1250"/>
          </a:p>
        </p:txBody>
      </p:sp>
      <p:sp>
        <p:nvSpPr>
          <p:cNvPr id="25" name="text 25"/>
          <p:cNvSpPr/>
          <p:nvPr/>
        </p:nvSpPr>
        <p:spPr>
          <a:xfrm>
            <a:off x="53340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Target-rate series</a:t>
            </a:r>
            <a:endParaRPr lang="en-US" sz="1100"/>
          </a:p>
        </p:txBody>
      </p:sp>
      <p:cxnSp>
        <p:nvCxnSpPr>
          <p:cNvPr id="26" name="connector 26"/>
          <p:cNvCxnSpPr/>
          <p:nvPr/>
        </p:nvCxnSpPr>
        <p:spPr>
          <a:xfrm>
            <a:off x="254508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2722880" y="3898900"/>
            <a:ext cx="2113280" cy="774700"/>
          </a:xfrm>
          <a:prstGeom prst="roundRect">
            <a:avLst/>
          </a:prstGeom>
          <a:solidFill>
            <a:srgbClr val="FFF2DF"/>
          </a:solidFill>
          <a:ln>
            <a:noFill/>
          </a:ln>
        </p:spPr>
      </p:sp>
      <p:sp>
        <p:nvSpPr>
          <p:cNvPr id="28" name="text 28"/>
          <p:cNvSpPr/>
          <p:nvPr/>
        </p:nvSpPr>
        <p:spPr>
          <a:xfrm>
            <a:off x="284988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02</a:t>
            </a:r>
            <a:endParaRPr lang="en-US" sz="1200"/>
          </a:p>
        </p:txBody>
      </p:sp>
      <p:sp>
        <p:nvSpPr>
          <p:cNvPr id="29" name="text 29"/>
          <p:cNvSpPr/>
          <p:nvPr/>
        </p:nvSpPr>
        <p:spPr>
          <a:xfrm>
            <a:off x="319278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Annotate</a:t>
            </a:r>
            <a:endParaRPr lang="en-US" sz="1250"/>
          </a:p>
        </p:txBody>
      </p:sp>
      <p:sp>
        <p:nvSpPr>
          <p:cNvPr id="30" name="text 30"/>
          <p:cNvSpPr/>
          <p:nvPr/>
        </p:nvSpPr>
        <p:spPr>
          <a:xfrm>
            <a:off x="284988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Definition / policy dates</a:t>
            </a:r>
            <a:endParaRPr lang="en-US" sz="1100"/>
          </a:p>
        </p:txBody>
      </p:sp>
      <p:cxnSp>
        <p:nvCxnSpPr>
          <p:cNvPr id="31" name="connector 31"/>
          <p:cNvCxnSpPr/>
          <p:nvPr/>
        </p:nvCxnSpPr>
        <p:spPr>
          <a:xfrm>
            <a:off x="486156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2" name="shape 32"/>
          <p:cNvSpPr/>
          <p:nvPr/>
        </p:nvSpPr>
        <p:spPr>
          <a:xfrm>
            <a:off x="5039360" y="3898900"/>
            <a:ext cx="2113280" cy="774700"/>
          </a:xfrm>
          <a:prstGeom prst="roundRect">
            <a:avLst/>
          </a:prstGeom>
          <a:solidFill>
            <a:srgbClr val="FFF2DF"/>
          </a:solidFill>
          <a:ln>
            <a:noFill/>
          </a:ln>
        </p:spPr>
      </p:sp>
      <p:sp>
        <p:nvSpPr>
          <p:cNvPr id="33" name="text 33"/>
          <p:cNvSpPr/>
          <p:nvPr/>
        </p:nvSpPr>
        <p:spPr>
          <a:xfrm>
            <a:off x="516636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03</a:t>
            </a:r>
            <a:endParaRPr lang="en-US" sz="1200"/>
          </a:p>
        </p:txBody>
      </p:sp>
      <p:sp>
        <p:nvSpPr>
          <p:cNvPr id="34" name="text 34"/>
          <p:cNvSpPr/>
          <p:nvPr/>
        </p:nvSpPr>
        <p:spPr>
          <a:xfrm>
            <a:off x="550926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Test</a:t>
            </a:r>
            <a:endParaRPr lang="en-US" sz="1250"/>
          </a:p>
        </p:txBody>
      </p:sp>
      <p:sp>
        <p:nvSpPr>
          <p:cNvPr id="35" name="text 35"/>
          <p:cNvSpPr/>
          <p:nvPr/>
        </p:nvSpPr>
        <p:spPr>
          <a:xfrm>
            <a:off x="516636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Structural breaks</a:t>
            </a:r>
            <a:endParaRPr lang="en-US" sz="1100"/>
          </a:p>
        </p:txBody>
      </p:sp>
      <p:cxnSp>
        <p:nvCxnSpPr>
          <p:cNvPr id="36" name="connector 36"/>
          <p:cNvCxnSpPr/>
          <p:nvPr/>
        </p:nvCxnSpPr>
        <p:spPr>
          <a:xfrm>
            <a:off x="717804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7" name="shape 37"/>
          <p:cNvSpPr/>
          <p:nvPr/>
        </p:nvSpPr>
        <p:spPr>
          <a:xfrm>
            <a:off x="7355840" y="3898900"/>
            <a:ext cx="2113280" cy="774700"/>
          </a:xfrm>
          <a:prstGeom prst="roundRect">
            <a:avLst/>
          </a:prstGeom>
          <a:solidFill>
            <a:srgbClr val="FFF2DF"/>
          </a:solidFill>
          <a:ln>
            <a:noFill/>
          </a:ln>
        </p:spPr>
      </p:sp>
      <p:sp>
        <p:nvSpPr>
          <p:cNvPr id="38" name="text 38"/>
          <p:cNvSpPr/>
          <p:nvPr/>
        </p:nvSpPr>
        <p:spPr>
          <a:xfrm>
            <a:off x="748284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04</a:t>
            </a:r>
            <a:endParaRPr lang="en-US" sz="1200"/>
          </a:p>
        </p:txBody>
      </p:sp>
      <p:sp>
        <p:nvSpPr>
          <p:cNvPr id="39" name="text 39"/>
          <p:cNvSpPr/>
          <p:nvPr/>
        </p:nvSpPr>
        <p:spPr>
          <a:xfrm>
            <a:off x="782574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Align</a:t>
            </a:r>
            <a:endParaRPr lang="en-US" sz="1250"/>
          </a:p>
        </p:txBody>
      </p:sp>
      <p:sp>
        <p:nvSpPr>
          <p:cNvPr id="40" name="text 40"/>
          <p:cNvSpPr/>
          <p:nvPr/>
        </p:nvSpPr>
        <p:spPr>
          <a:xfrm>
            <a:off x="748284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Breaks with events</a:t>
            </a:r>
            <a:endParaRPr lang="en-US" sz="1100"/>
          </a:p>
        </p:txBody>
      </p:sp>
      <p:cxnSp>
        <p:nvCxnSpPr>
          <p:cNvPr id="41" name="connector 41"/>
          <p:cNvCxnSpPr/>
          <p:nvPr/>
        </p:nvCxnSpPr>
        <p:spPr>
          <a:xfrm>
            <a:off x="949452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9672320" y="3898900"/>
            <a:ext cx="2113280" cy="774700"/>
          </a:xfrm>
          <a:prstGeom prst="roundRect">
            <a:avLst/>
          </a:prstGeom>
          <a:solidFill>
            <a:srgbClr val="FFF2DF"/>
          </a:solidFill>
          <a:ln>
            <a:noFill/>
          </a:ln>
        </p:spPr>
      </p:sp>
      <p:sp>
        <p:nvSpPr>
          <p:cNvPr id="43" name="text 43"/>
          <p:cNvSpPr/>
          <p:nvPr/>
        </p:nvSpPr>
        <p:spPr>
          <a:xfrm>
            <a:off x="979932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05</a:t>
            </a:r>
            <a:endParaRPr lang="en-US" sz="1200"/>
          </a:p>
        </p:txBody>
      </p:sp>
      <p:sp>
        <p:nvSpPr>
          <p:cNvPr id="44" name="text 44"/>
          <p:cNvSpPr/>
          <p:nvPr/>
        </p:nvSpPr>
        <p:spPr>
          <a:xfrm>
            <a:off x="1014222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Review</a:t>
            </a:r>
            <a:endParaRPr lang="en-US" sz="1250"/>
          </a:p>
        </p:txBody>
      </p:sp>
      <p:sp>
        <p:nvSpPr>
          <p:cNvPr id="45" name="text 45"/>
          <p:cNvSpPr/>
          <p:nvPr/>
        </p:nvSpPr>
        <p:spPr>
          <a:xfrm>
            <a:off x="979932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Definition vs reality</a:t>
            </a:r>
            <a:endParaRPr lang="en-US" sz="1100"/>
          </a:p>
        </p:txBody>
      </p:sp>
      <p:sp>
        <p:nvSpPr>
          <p:cNvPr id="46" name="shape 46"/>
          <p:cNvSpPr/>
          <p:nvPr/>
        </p:nvSpPr>
        <p:spPr>
          <a:xfrm>
            <a:off x="406400" y="4851400"/>
            <a:ext cx="5562600" cy="1206500"/>
          </a:xfrm>
          <a:prstGeom prst="roundRect">
            <a:avLst/>
          </a:prstGeom>
          <a:solidFill>
            <a:srgbClr val="FFFFFF"/>
          </a:solidFill>
          <a:ln w="12700">
            <a:solidFill>
              <a:srgbClr val="DEDCD6"/>
            </a:solidFill>
          </a:ln>
        </p:spPr>
      </p:sp>
      <p:sp>
        <p:nvSpPr>
          <p:cNvPr id="47" name="text 47"/>
          <p:cNvSpPr/>
          <p:nvPr/>
        </p:nvSpPr>
        <p:spPr>
          <a:xfrm>
            <a:off x="5715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FINDING → ISSUE</a:t>
            </a:r>
            <a:endParaRPr lang="en-US" sz="1000"/>
          </a:p>
        </p:txBody>
      </p:sp>
      <p:sp>
        <p:nvSpPr>
          <p:cNvPr id="48" name="text 48"/>
          <p:cNvSpPr/>
          <p:nvPr/>
        </p:nvSpPr>
        <p:spPr>
          <a:xfrm>
            <a:off x="5715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Proposed gate: a break exceeding the agreed statistical criterion</a:t>
            </a:r>
            <a:endParaRPr lang="en-US" sz="1250"/>
          </a:p>
          <a:p>
            <a:pPr algn="l">
              <a:lnSpc>
                <a:spcPts val="1425"/>
              </a:lnSpc>
              <a:spcAft>
                <a:spcPts val="0"/>
              </a:spcAft>
            </a:pPr>
            <a:r>
              <a:rPr lang="en-US" sz="1250" b="0" dirty="0">
                <a:solidFill>
                  <a:srgbClr val="181C23"/>
                </a:solidFill>
                <a:latin typeface="Funnel Sans"/>
              </a:rPr>
              <a:t>triggers contextual review. Compare denominator, population and</a:t>
            </a:r>
            <a:endParaRPr lang="en-US" sz="1250"/>
          </a:p>
          <a:p>
            <a:pPr algn="l">
              <a:lnSpc>
                <a:spcPts val="1425"/>
              </a:lnSpc>
              <a:spcAft>
                <a:spcPts val="0"/>
              </a:spcAft>
            </a:pPr>
            <a:r>
              <a:rPr lang="en-US" sz="1250" b="0" dirty="0">
                <a:solidFill>
                  <a:srgbClr val="181C23"/>
                </a:solidFill>
                <a:latin typeface="Funnel Sans"/>
              </a:rPr>
              <a:t>definition changes before issue promotion.</a:t>
            </a:r>
            <a:endParaRPr lang="en-US" sz="1250"/>
          </a:p>
        </p:txBody>
      </p:sp>
      <p:sp>
        <p:nvSpPr>
          <p:cNvPr id="49" name="shape 49"/>
          <p:cNvSpPr/>
          <p:nvPr/>
        </p:nvSpPr>
        <p:spPr>
          <a:xfrm>
            <a:off x="6223000" y="4851400"/>
            <a:ext cx="5562600" cy="1206500"/>
          </a:xfrm>
          <a:prstGeom prst="roundRect">
            <a:avLst/>
          </a:prstGeom>
          <a:solidFill>
            <a:srgbClr val="FFFFFF"/>
          </a:solidFill>
          <a:ln w="12700">
            <a:solidFill>
              <a:srgbClr val="DEDCD6"/>
            </a:solidFill>
          </a:ln>
        </p:spPr>
      </p:sp>
      <p:sp>
        <p:nvSpPr>
          <p:cNvPr id="50" name="text 50"/>
          <p:cNvSpPr/>
          <p:nvPr/>
        </p:nvSpPr>
        <p:spPr>
          <a:xfrm>
            <a:off x="63881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RCA → ACTION</a:t>
            </a:r>
            <a:endParaRPr lang="en-US" sz="1000"/>
          </a:p>
        </p:txBody>
      </p:sp>
      <p:sp>
        <p:nvSpPr>
          <p:cNvPr id="51" name="text 51"/>
          <p:cNvSpPr/>
          <p:nvPr/>
        </p:nvSpPr>
        <p:spPr>
          <a:xfrm>
            <a:off x="63881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Proposed: distinguish real business shifts from labeling changes,</a:t>
            </a:r>
            <a:endParaRPr lang="en-US" sz="1250"/>
          </a:p>
          <a:p>
            <a:pPr algn="l">
              <a:lnSpc>
                <a:spcPts val="1425"/>
              </a:lnSpc>
              <a:spcAft>
                <a:spcPts val="0"/>
              </a:spcAft>
            </a:pPr>
            <a:r>
              <a:rPr lang="en-US" sz="1250" b="0" dirty="0">
                <a:solidFill>
                  <a:srgbClr val="181C23"/>
                </a:solidFill>
                <a:latin typeface="Funnel Sans"/>
              </a:rPr>
              <a:t>timing and source errors. Correct or harmonize affected labels and</a:t>
            </a:r>
            <a:endParaRPr lang="en-US" sz="1250"/>
          </a:p>
          <a:p>
            <a:pPr algn="l">
              <a:lnSpc>
                <a:spcPts val="1425"/>
              </a:lnSpc>
              <a:spcAft>
                <a:spcPts val="0"/>
              </a:spcAft>
            </a:pPr>
            <a:r>
              <a:rPr lang="en-US" sz="1250" b="0" dirty="0">
                <a:solidFill>
                  <a:srgbClr val="181C23"/>
                </a:solidFill>
                <a:latin typeface="Funnel Sans"/>
              </a:rPr>
              <a:t>reassess comparable periods.</a:t>
            </a:r>
            <a:endParaRPr lang="en-US" sz="1250"/>
          </a:p>
        </p:txBody>
      </p:sp>
      <p:sp>
        <p:nvSpPr>
          <p:cNvPr id="52" name="shape 52"/>
          <p:cNvSpPr/>
          <p:nvPr/>
        </p:nvSpPr>
        <p:spPr>
          <a:xfrm>
            <a:off x="406400" y="6172200"/>
            <a:ext cx="11379200" cy="292100"/>
          </a:xfrm>
          <a:prstGeom prst="roundRect">
            <a:avLst/>
          </a:prstGeom>
          <a:solidFill>
            <a:srgbClr val="282A27"/>
          </a:solidFill>
          <a:ln>
            <a:noFill/>
          </a:ln>
        </p:spPr>
      </p:sp>
      <p:sp>
        <p:nvSpPr>
          <p:cNvPr id="53" name="text 53"/>
          <p:cNvSpPr/>
          <p:nvPr/>
        </p:nvSpPr>
        <p:spPr>
          <a:xfrm>
            <a:off x="546100" y="6235700"/>
            <a:ext cx="11099800" cy="203200"/>
          </a:xfrm>
          <a:prstGeom prst="rect">
            <a:avLst/>
          </a:prstGeom>
          <a:noFill/>
          <a:ln>
            <a:noFill/>
          </a:ln>
        </p:spPr>
        <p:txBody>
          <a:bodyPr wrap="none" lIns="0" tIns="0" rIns="0" bIns="0" anchor="t">
            <a:noAutofit/>
          </a:bodyPr>
          <a:lstStyle/>
          <a:p>
            <a:pPr algn="l">
              <a:lnSpc>
                <a:spcPts val="1197"/>
              </a:lnSpc>
              <a:spcAft>
                <a:spcPts val="0"/>
              </a:spcAft>
            </a:pPr>
            <a:r>
              <a:rPr lang="en-US" sz="1050" b="0" dirty="0">
                <a:solidFill>
                  <a:srgbClr val="FFFFFF"/>
                </a:solidFill>
                <a:latin typeface="Funnel Sans"/>
              </a:rPr>
              <a:t>Deferred; no executor. A statistical break alone does not establish a definitional defect or its cause.</a:t>
            </a:r>
            <a:endParaRPr lang="en-US" sz="1050"/>
          </a:p>
        </p:txBody>
      </p:sp>
      <p:cxnSp>
        <p:nvCxnSpPr>
          <p:cNvPr id="54" name="connector 54"/>
          <p:cNvCxnSpPr/>
          <p:nvPr/>
        </p:nvCxnSpPr>
        <p:spPr>
          <a:xfrm>
            <a:off x="406400" y="6553200"/>
            <a:ext cx="113792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55" name="text 55"/>
          <p:cNvSpPr/>
          <p:nvPr/>
        </p:nvSpPr>
        <p:spPr>
          <a:xfrm>
            <a:off x="406400" y="6629400"/>
            <a:ext cx="5715000" cy="152400"/>
          </a:xfrm>
          <a:prstGeom prst="rect">
            <a:avLst/>
          </a:prstGeom>
          <a:noFill/>
          <a:ln>
            <a:noFill/>
          </a:ln>
        </p:spPr>
        <p:txBody>
          <a:bodyPr wrap="none" lIns="0" tIns="0" rIns="0" bIns="0" anchor="t">
            <a:noAutofit/>
          </a:bodyPr>
          <a:lstStyle/>
          <a:p>
            <a:pPr algn="l">
              <a:lnSpc>
                <a:spcPts val="969"/>
              </a:lnSpc>
              <a:spcAft>
                <a:spcPts val="0"/>
              </a:spcAft>
            </a:pPr>
            <a:r>
              <a:rPr lang="en-US" sz="850" b="0" dirty="0">
                <a:solidFill>
                  <a:srgbClr val="6D706B"/>
                </a:solidFill>
                <a:latin typeface="Funnel Sans"/>
              </a:rPr>
              <a:t>DATA WORKBENCH / Diagnostic quick reference</a:t>
            </a:r>
            <a:endParaRPr lang="en-US" sz="850"/>
          </a:p>
        </p:txBody>
      </p:sp>
      <p:sp>
        <p:nvSpPr>
          <p:cNvPr id="56" name="text 56"/>
          <p:cNvSpPr/>
          <p:nvPr/>
        </p:nvSpPr>
        <p:spPr>
          <a:xfrm>
            <a:off x="6223000" y="6629400"/>
            <a:ext cx="4254500" cy="152400"/>
          </a:xfrm>
          <a:prstGeom prst="rect">
            <a:avLst/>
          </a:prstGeom>
          <a:noFill/>
          <a:ln>
            <a:noFill/>
          </a:ln>
        </p:spPr>
        <p:txBody>
          <a:bodyPr wrap="none" lIns="0" tIns="0" rIns="0" bIns="0" anchor="t">
            <a:noAutofit/>
          </a:bodyPr>
          <a:lstStyle/>
          <a:p>
            <a:pPr algn="r">
              <a:lnSpc>
                <a:spcPts val="969"/>
              </a:lnSpc>
              <a:spcAft>
                <a:spcPts val="0"/>
              </a:spcAft>
            </a:pPr>
            <a:r>
              <a:rPr lang="en-US" sz="850" b="0" dirty="0">
                <a:solidFill>
                  <a:srgbClr val="6D706B"/>
                </a:solidFill>
                <a:latin typeface="Funnel Sans"/>
              </a:rPr>
              <a:t>Full deck: slide 69</a:t>
            </a:r>
            <a:endParaRPr lang="en-US" sz="850"/>
          </a:p>
        </p:txBody>
      </p:sp>
      <p:sp>
        <p:nvSpPr>
          <p:cNvPr id="57" name="text 57"/>
          <p:cNvSpPr/>
          <p:nvPr/>
        </p:nvSpPr>
        <p:spPr>
          <a:xfrm>
            <a:off x="10795000" y="6616700"/>
            <a:ext cx="990600" cy="177800"/>
          </a:xfrm>
          <a:prstGeom prst="rect">
            <a:avLst/>
          </a:prstGeom>
          <a:noFill/>
          <a:ln>
            <a:noFill/>
          </a:ln>
        </p:spPr>
        <p:txBody>
          <a:bodyPr wrap="none" lIns="0" tIns="0" rIns="0" bIns="0" anchor="t">
            <a:noAutofit/>
          </a:bodyPr>
          <a:lstStyle/>
          <a:p>
            <a:pPr algn="r">
              <a:lnSpc>
                <a:spcPts val="1083"/>
              </a:lnSpc>
              <a:spcAft>
                <a:spcPts val="0"/>
              </a:spcAft>
            </a:pPr>
            <a:r>
              <a:rPr lang="en-US" sz="950" b="0" dirty="0">
                <a:solidFill>
                  <a:srgbClr val="6D706B"/>
                </a:solidFill>
                <a:latin typeface="Funnel Sans"/>
              </a:rPr>
              <a:t>18 / 22</a:t>
            </a:r>
            <a:endParaRPr lang="en-US" sz="95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shape 3"/>
          <p:cNvSpPr/>
          <p:nvPr/>
        </p:nvSpPr>
        <p:spPr>
          <a:xfrm>
            <a:off x="406400" y="228600"/>
            <a:ext cx="1181100" cy="292100"/>
          </a:xfrm>
          <a:prstGeom prst="roundRect">
            <a:avLst/>
          </a:prstGeom>
          <a:solidFill>
            <a:srgbClr val="FFF2DF"/>
          </a:solidFill>
          <a:ln>
            <a:noFill/>
          </a:ln>
        </p:spPr>
      </p:sp>
      <p:sp>
        <p:nvSpPr>
          <p:cNvPr id="4" name="text 4"/>
          <p:cNvSpPr/>
          <p:nvPr/>
        </p:nvSpPr>
        <p:spPr>
          <a:xfrm>
            <a:off x="520700" y="292100"/>
            <a:ext cx="952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T4-D15</a:t>
            </a:r>
            <a:endParaRPr lang="en-US" sz="1000"/>
          </a:p>
        </p:txBody>
      </p:sp>
      <p:sp>
        <p:nvSpPr>
          <p:cNvPr id="5" name="text 5"/>
          <p:cNvSpPr/>
          <p:nvPr/>
        </p:nvSpPr>
        <p:spPr>
          <a:xfrm>
            <a:off x="1739900" y="304800"/>
            <a:ext cx="3022600" cy="190500"/>
          </a:xfrm>
          <a:prstGeom prst="rect">
            <a:avLst/>
          </a:prstGeom>
          <a:noFill/>
          <a:ln>
            <a:noFill/>
          </a:ln>
        </p:spPr>
        <p:txBody>
          <a:bodyPr wrap="none" lIns="0" tIns="0" rIns="0" bIns="0" anchor="t">
            <a:noAutofit/>
          </a:bodyPr>
          <a:lstStyle/>
          <a:p>
            <a:pPr algn="l">
              <a:lnSpc>
                <a:spcPts val="1083"/>
              </a:lnSpc>
              <a:spcAft>
                <a:spcPts val="0"/>
              </a:spcAft>
            </a:pPr>
            <a:r>
              <a:rPr lang="en-US" sz="950" b="1" dirty="0">
                <a:solidFill>
                  <a:srgbClr val="6D706B"/>
                </a:solidFill>
                <a:latin typeface="Funnel Sans"/>
              </a:rPr>
              <a:t>REPRESENTATIVENESS</a:t>
            </a:r>
            <a:endParaRPr lang="en-US" sz="950"/>
          </a:p>
        </p:txBody>
      </p:sp>
      <p:sp>
        <p:nvSpPr>
          <p:cNvPr id="6" name="shape 6"/>
          <p:cNvSpPr/>
          <p:nvPr/>
        </p:nvSpPr>
        <p:spPr>
          <a:xfrm>
            <a:off x="4864100" y="228600"/>
            <a:ext cx="3797300" cy="292100"/>
          </a:xfrm>
          <a:prstGeom prst="roundRect">
            <a:avLst/>
          </a:prstGeom>
          <a:solidFill>
            <a:srgbClr val="EFEEE9"/>
          </a:solidFill>
          <a:ln>
            <a:noFill/>
          </a:ln>
        </p:spPr>
      </p:sp>
      <p:sp>
        <p:nvSpPr>
          <p:cNvPr id="7" name="text 7"/>
          <p:cNvSpPr/>
          <p:nvPr/>
        </p:nvSpPr>
        <p:spPr>
          <a:xfrm>
            <a:off x="4978400" y="292100"/>
            <a:ext cx="35687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181C23"/>
                </a:solidFill>
                <a:latin typeface="Funnel Sans"/>
              </a:rPr>
              <a:t>Proposed distribution comparison</a:t>
            </a:r>
            <a:endParaRPr lang="en-US" sz="1000"/>
          </a:p>
        </p:txBody>
      </p:sp>
      <p:sp>
        <p:nvSpPr>
          <p:cNvPr id="8" name="shape 8"/>
          <p:cNvSpPr/>
          <p:nvPr/>
        </p:nvSpPr>
        <p:spPr>
          <a:xfrm>
            <a:off x="8826500" y="228600"/>
            <a:ext cx="2959100" cy="292100"/>
          </a:xfrm>
          <a:prstGeom prst="roundRect">
            <a:avLst/>
          </a:prstGeom>
          <a:solidFill>
            <a:srgbClr val="FFF2DF"/>
          </a:solidFill>
          <a:ln>
            <a:noFill/>
          </a:ln>
        </p:spPr>
      </p:sp>
      <p:sp>
        <p:nvSpPr>
          <p:cNvPr id="9" name="text 9"/>
          <p:cNvSpPr/>
          <p:nvPr/>
        </p:nvSpPr>
        <p:spPr>
          <a:xfrm>
            <a:off x="8940800" y="292100"/>
            <a:ext cx="2730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98641E"/>
                </a:solidFill>
                <a:latin typeface="Funnel Sans"/>
              </a:rPr>
              <a:t>Planned · deferred</a:t>
            </a:r>
            <a:endParaRPr lang="en-US" sz="1000"/>
          </a:p>
        </p:txBody>
      </p:sp>
      <p:sp>
        <p:nvSpPr>
          <p:cNvPr id="10" name="text 10"/>
          <p:cNvSpPr/>
          <p:nvPr/>
        </p:nvSpPr>
        <p:spPr>
          <a:xfrm>
            <a:off x="406400" y="698500"/>
            <a:ext cx="11379200" cy="508000"/>
          </a:xfrm>
          <a:prstGeom prst="rect">
            <a:avLst/>
          </a:prstGeom>
          <a:noFill/>
          <a:ln>
            <a:noFill/>
          </a:ln>
        </p:spPr>
        <p:txBody>
          <a:bodyPr wrap="none" lIns="0" tIns="0" rIns="0" bIns="0" anchor="t">
            <a:noAutofit/>
          </a:bodyPr>
          <a:lstStyle/>
          <a:p>
            <a:pPr algn="l">
              <a:lnSpc>
                <a:spcPts val="3192"/>
              </a:lnSpc>
              <a:spcAft>
                <a:spcPts val="0"/>
              </a:spcAft>
            </a:pPr>
            <a:r>
              <a:rPr lang="en-US" sz="2800" b="1" dirty="0">
                <a:solidFill>
                  <a:srgbClr val="181C23"/>
                </a:solidFill>
                <a:latin typeface="Funnel Sans"/>
              </a:rPr>
              <a:t>KS distance</a:t>
            </a:r>
            <a:endParaRPr lang="en-US" sz="2800"/>
          </a:p>
        </p:txBody>
      </p:sp>
      <p:sp>
        <p:nvSpPr>
          <p:cNvPr id="11" name="text 11"/>
          <p:cNvSpPr/>
          <p:nvPr/>
        </p:nvSpPr>
        <p:spPr>
          <a:xfrm>
            <a:off x="419100" y="1320800"/>
            <a:ext cx="11353800" cy="4445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Complement PSI with a direct measure of distribution difference from a reference.</a:t>
            </a:r>
            <a:endParaRPr lang="en-US" sz="1500"/>
          </a:p>
        </p:txBody>
      </p:sp>
      <p:sp>
        <p:nvSpPr>
          <p:cNvPr id="12" name="shape 12"/>
          <p:cNvSpPr/>
          <p:nvPr/>
        </p:nvSpPr>
        <p:spPr>
          <a:xfrm>
            <a:off x="406400" y="1905000"/>
            <a:ext cx="3632200" cy="1549400"/>
          </a:xfrm>
          <a:prstGeom prst="roundRect">
            <a:avLst/>
          </a:prstGeom>
          <a:solidFill>
            <a:srgbClr val="FFFFFF"/>
          </a:solidFill>
          <a:ln w="12700">
            <a:solidFill>
              <a:srgbClr val="DEDCD6"/>
            </a:solidFill>
          </a:ln>
        </p:spPr>
      </p:sp>
      <p:sp>
        <p:nvSpPr>
          <p:cNvPr id="13" name="text 13"/>
          <p:cNvSpPr/>
          <p:nvPr/>
        </p:nvSpPr>
        <p:spPr>
          <a:xfrm>
            <a:off x="571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USER &amp; TRIGGER</a:t>
            </a:r>
            <a:endParaRPr lang="en-US" sz="1000"/>
          </a:p>
        </p:txBody>
      </p:sp>
      <p:sp>
        <p:nvSpPr>
          <p:cNvPr id="14" name="text 14"/>
          <p:cNvSpPr/>
          <p:nvPr/>
        </p:nvSpPr>
        <p:spPr>
          <a:xfrm>
            <a:off x="571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Analytics / model team</a:t>
            </a:r>
            <a:endParaRPr lang="en-US" sz="1325"/>
          </a:p>
          <a:p>
            <a:pPr algn="l">
              <a:lnSpc>
                <a:spcPts val="1510"/>
              </a:lnSpc>
              <a:spcAft>
                <a:spcPts val="0"/>
              </a:spcAft>
            </a:pPr>
            <a:r>
              <a:rPr lang="en-US" sz="1325" b="0" dirty="0">
                <a:solidFill>
                  <a:srgbClr val="181C23"/>
                </a:solidFill>
                <a:latin typeface="Funnel Sans"/>
              </a:rPr>
              <a:t>Intended when assessing sample or</a:t>
            </a:r>
            <a:endParaRPr lang="en-US" sz="1325"/>
          </a:p>
          <a:p>
            <a:pPr algn="l">
              <a:lnSpc>
                <a:spcPts val="1510"/>
              </a:lnSpc>
              <a:spcAft>
                <a:spcPts val="0"/>
              </a:spcAft>
            </a:pPr>
            <a:r>
              <a:rPr lang="en-US" sz="1325" b="0" dirty="0">
                <a:solidFill>
                  <a:srgbClr val="181C23"/>
                </a:solidFill>
                <a:latin typeface="Funnel Sans"/>
              </a:rPr>
              <a:t>population representativeness.</a:t>
            </a:r>
            <a:endParaRPr lang="en-US" sz="1325"/>
          </a:p>
        </p:txBody>
      </p:sp>
      <p:sp>
        <p:nvSpPr>
          <p:cNvPr id="15" name="shape 15"/>
          <p:cNvSpPr/>
          <p:nvPr/>
        </p:nvSpPr>
        <p:spPr>
          <a:xfrm>
            <a:off x="4279900" y="1905000"/>
            <a:ext cx="3632200" cy="1549400"/>
          </a:xfrm>
          <a:prstGeom prst="roundRect">
            <a:avLst/>
          </a:prstGeom>
          <a:solidFill>
            <a:srgbClr val="FFFFFF"/>
          </a:solidFill>
          <a:ln w="12700">
            <a:solidFill>
              <a:srgbClr val="DEDCD6"/>
            </a:solidFill>
          </a:ln>
        </p:spPr>
      </p:sp>
      <p:sp>
        <p:nvSpPr>
          <p:cNvPr id="16" name="text 16"/>
          <p:cNvSpPr/>
          <p:nvPr/>
        </p:nvSpPr>
        <p:spPr>
          <a:xfrm>
            <a:off x="44450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INPUTS &amp; READINESS</a:t>
            </a:r>
            <a:endParaRPr lang="en-US" sz="1000"/>
          </a:p>
        </p:txBody>
      </p:sp>
      <p:sp>
        <p:nvSpPr>
          <p:cNvPr id="17" name="text 17"/>
          <p:cNvSpPr/>
          <p:nvPr/>
        </p:nvSpPr>
        <p:spPr>
          <a:xfrm>
            <a:off x="44450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Proposed: compatible sample / reference</a:t>
            </a:r>
            <a:endParaRPr lang="en-US" sz="1325"/>
          </a:p>
          <a:p>
            <a:pPr algn="l">
              <a:lnSpc>
                <a:spcPts val="1510"/>
              </a:lnSpc>
              <a:spcAft>
                <a:spcPts val="0"/>
              </a:spcAft>
            </a:pPr>
            <a:r>
              <a:rPr lang="en-US" sz="1325" b="0" dirty="0">
                <a:solidFill>
                  <a:srgbClr val="181C23"/>
                </a:solidFill>
                <a:latin typeface="Funnel Sans"/>
              </a:rPr>
              <a:t>populations, comparable numeric fields,</a:t>
            </a:r>
            <a:endParaRPr lang="en-US" sz="1325"/>
          </a:p>
          <a:p>
            <a:pPr algn="l">
              <a:lnSpc>
                <a:spcPts val="1510"/>
              </a:lnSpc>
              <a:spcAft>
                <a:spcPts val="0"/>
              </a:spcAft>
            </a:pPr>
            <a:r>
              <a:rPr lang="en-US" sz="1325" b="0" dirty="0">
                <a:solidFill>
                  <a:srgbClr val="181C23"/>
                </a:solidFill>
                <a:latin typeface="Funnel Sans"/>
              </a:rPr>
              <a:t>scope and approved distance threshold.</a:t>
            </a:r>
            <a:endParaRPr lang="en-US" sz="1325"/>
          </a:p>
        </p:txBody>
      </p:sp>
      <p:sp>
        <p:nvSpPr>
          <p:cNvPr id="18" name="shape 18"/>
          <p:cNvSpPr/>
          <p:nvPr/>
        </p:nvSpPr>
        <p:spPr>
          <a:xfrm>
            <a:off x="8153400" y="1905000"/>
            <a:ext cx="3632200" cy="1549400"/>
          </a:xfrm>
          <a:prstGeom prst="roundRect">
            <a:avLst/>
          </a:prstGeom>
          <a:solidFill>
            <a:srgbClr val="FFF2DF"/>
          </a:solidFill>
          <a:ln w="12700">
            <a:solidFill>
              <a:srgbClr val="DEDCD6"/>
            </a:solidFill>
          </a:ln>
        </p:spPr>
      </p:sp>
      <p:sp>
        <p:nvSpPr>
          <p:cNvPr id="19" name="text 19"/>
          <p:cNvSpPr/>
          <p:nvPr/>
        </p:nvSpPr>
        <p:spPr>
          <a:xfrm>
            <a:off x="8318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OUTPUTS &amp; EVIDENCE</a:t>
            </a:r>
            <a:endParaRPr lang="en-US" sz="1000"/>
          </a:p>
        </p:txBody>
      </p:sp>
      <p:sp>
        <p:nvSpPr>
          <p:cNvPr id="20" name="text 20"/>
          <p:cNvSpPr/>
          <p:nvPr/>
        </p:nvSpPr>
        <p:spPr>
          <a:xfrm>
            <a:off x="8318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Proposed: Kolmogorov–Smirnov</a:t>
            </a:r>
            <a:endParaRPr lang="en-US" sz="1325"/>
          </a:p>
          <a:p>
            <a:pPr algn="l">
              <a:lnSpc>
                <a:spcPts val="1510"/>
              </a:lnSpc>
              <a:spcAft>
                <a:spcPts val="0"/>
              </a:spcAft>
            </a:pPr>
            <a:r>
              <a:rPr lang="en-US" sz="1325" b="0" dirty="0">
                <a:solidFill>
                  <a:srgbClr val="181C23"/>
                </a:solidFill>
                <a:latin typeface="Funnel Sans"/>
              </a:rPr>
              <a:t>distance, empirical distribution</a:t>
            </a:r>
            <a:endParaRPr lang="en-US" sz="1325"/>
          </a:p>
          <a:p>
            <a:pPr algn="l">
              <a:lnSpc>
                <a:spcPts val="1510"/>
              </a:lnSpc>
              <a:spcAft>
                <a:spcPts val="0"/>
              </a:spcAft>
            </a:pPr>
            <a:r>
              <a:rPr lang="en-US" sz="1325" b="0" dirty="0">
                <a:solidFill>
                  <a:srgbClr val="181C23"/>
                </a:solidFill>
                <a:latin typeface="Funnel Sans"/>
              </a:rPr>
              <a:t>comparison and candidate shifted</a:t>
            </a:r>
            <a:endParaRPr lang="en-US" sz="1325"/>
          </a:p>
          <a:p>
            <a:pPr algn="l">
              <a:lnSpc>
                <a:spcPts val="1510"/>
              </a:lnSpc>
              <a:spcAft>
                <a:spcPts val="0"/>
              </a:spcAft>
            </a:pPr>
            <a:r>
              <a:rPr lang="en-US" sz="1325" b="0" dirty="0">
                <a:solidFill>
                  <a:srgbClr val="181C23"/>
                </a:solidFill>
                <a:latin typeface="Funnel Sans"/>
              </a:rPr>
              <a:t>features.</a:t>
            </a:r>
            <a:endParaRPr lang="en-US" sz="1325"/>
          </a:p>
        </p:txBody>
      </p:sp>
      <p:sp>
        <p:nvSpPr>
          <p:cNvPr id="21" name="text 21"/>
          <p:cNvSpPr/>
          <p:nvPr/>
        </p:nvSpPr>
        <p:spPr>
          <a:xfrm>
            <a:off x="406400" y="3606800"/>
            <a:ext cx="7747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PROCESSING FLOW</a:t>
            </a:r>
            <a:endParaRPr lang="en-US" sz="1000"/>
          </a:p>
        </p:txBody>
      </p:sp>
      <p:sp>
        <p:nvSpPr>
          <p:cNvPr id="22" name="shape 22"/>
          <p:cNvSpPr/>
          <p:nvPr/>
        </p:nvSpPr>
        <p:spPr>
          <a:xfrm>
            <a:off x="406400" y="3898900"/>
            <a:ext cx="2113280" cy="774700"/>
          </a:xfrm>
          <a:prstGeom prst="roundRect">
            <a:avLst/>
          </a:prstGeom>
          <a:solidFill>
            <a:srgbClr val="FFF2DF"/>
          </a:solidFill>
          <a:ln>
            <a:noFill/>
          </a:ln>
        </p:spPr>
      </p:sp>
      <p:sp>
        <p:nvSpPr>
          <p:cNvPr id="23" name="text 23"/>
          <p:cNvSpPr/>
          <p:nvPr/>
        </p:nvSpPr>
        <p:spPr>
          <a:xfrm>
            <a:off x="53340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01</a:t>
            </a:r>
            <a:endParaRPr lang="en-US" sz="1200"/>
          </a:p>
        </p:txBody>
      </p:sp>
      <p:sp>
        <p:nvSpPr>
          <p:cNvPr id="24" name="text 24"/>
          <p:cNvSpPr/>
          <p:nvPr/>
        </p:nvSpPr>
        <p:spPr>
          <a:xfrm>
            <a:off x="87630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Define</a:t>
            </a:r>
            <a:endParaRPr lang="en-US" sz="1250"/>
          </a:p>
        </p:txBody>
      </p:sp>
      <p:sp>
        <p:nvSpPr>
          <p:cNvPr id="25" name="text 25"/>
          <p:cNvSpPr/>
          <p:nvPr/>
        </p:nvSpPr>
        <p:spPr>
          <a:xfrm>
            <a:off x="53340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Sample + reference</a:t>
            </a:r>
            <a:endParaRPr lang="en-US" sz="1100"/>
          </a:p>
        </p:txBody>
      </p:sp>
      <p:cxnSp>
        <p:nvCxnSpPr>
          <p:cNvPr id="26" name="connector 26"/>
          <p:cNvCxnSpPr/>
          <p:nvPr/>
        </p:nvCxnSpPr>
        <p:spPr>
          <a:xfrm>
            <a:off x="254508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2722880" y="3898900"/>
            <a:ext cx="2113280" cy="774700"/>
          </a:xfrm>
          <a:prstGeom prst="roundRect">
            <a:avLst/>
          </a:prstGeom>
          <a:solidFill>
            <a:srgbClr val="FFF2DF"/>
          </a:solidFill>
          <a:ln>
            <a:noFill/>
          </a:ln>
        </p:spPr>
      </p:sp>
      <p:sp>
        <p:nvSpPr>
          <p:cNvPr id="28" name="text 28"/>
          <p:cNvSpPr/>
          <p:nvPr/>
        </p:nvSpPr>
        <p:spPr>
          <a:xfrm>
            <a:off x="284988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02</a:t>
            </a:r>
            <a:endParaRPr lang="en-US" sz="1200"/>
          </a:p>
        </p:txBody>
      </p:sp>
      <p:sp>
        <p:nvSpPr>
          <p:cNvPr id="29" name="text 29"/>
          <p:cNvSpPr/>
          <p:nvPr/>
        </p:nvSpPr>
        <p:spPr>
          <a:xfrm>
            <a:off x="319278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Align</a:t>
            </a:r>
            <a:endParaRPr lang="en-US" sz="1250"/>
          </a:p>
        </p:txBody>
      </p:sp>
      <p:sp>
        <p:nvSpPr>
          <p:cNvPr id="30" name="text 30"/>
          <p:cNvSpPr/>
          <p:nvPr/>
        </p:nvSpPr>
        <p:spPr>
          <a:xfrm>
            <a:off x="284988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Fields + populations</a:t>
            </a:r>
            <a:endParaRPr lang="en-US" sz="1100"/>
          </a:p>
        </p:txBody>
      </p:sp>
      <p:cxnSp>
        <p:nvCxnSpPr>
          <p:cNvPr id="31" name="connector 31"/>
          <p:cNvCxnSpPr/>
          <p:nvPr/>
        </p:nvCxnSpPr>
        <p:spPr>
          <a:xfrm>
            <a:off x="486156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2" name="shape 32"/>
          <p:cNvSpPr/>
          <p:nvPr/>
        </p:nvSpPr>
        <p:spPr>
          <a:xfrm>
            <a:off x="5039360" y="3898900"/>
            <a:ext cx="2113280" cy="774700"/>
          </a:xfrm>
          <a:prstGeom prst="roundRect">
            <a:avLst/>
          </a:prstGeom>
          <a:solidFill>
            <a:srgbClr val="FFF2DF"/>
          </a:solidFill>
          <a:ln>
            <a:noFill/>
          </a:ln>
        </p:spPr>
      </p:sp>
      <p:sp>
        <p:nvSpPr>
          <p:cNvPr id="33" name="text 33"/>
          <p:cNvSpPr/>
          <p:nvPr/>
        </p:nvSpPr>
        <p:spPr>
          <a:xfrm>
            <a:off x="516636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03</a:t>
            </a:r>
            <a:endParaRPr lang="en-US" sz="1200"/>
          </a:p>
        </p:txBody>
      </p:sp>
      <p:sp>
        <p:nvSpPr>
          <p:cNvPr id="34" name="text 34"/>
          <p:cNvSpPr/>
          <p:nvPr/>
        </p:nvSpPr>
        <p:spPr>
          <a:xfrm>
            <a:off x="550926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Compare</a:t>
            </a:r>
            <a:endParaRPr lang="en-US" sz="1250"/>
          </a:p>
        </p:txBody>
      </p:sp>
      <p:sp>
        <p:nvSpPr>
          <p:cNvPr id="35" name="text 35"/>
          <p:cNvSpPr/>
          <p:nvPr/>
        </p:nvSpPr>
        <p:spPr>
          <a:xfrm>
            <a:off x="516636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Empirical distributions</a:t>
            </a:r>
            <a:endParaRPr lang="en-US" sz="1100"/>
          </a:p>
        </p:txBody>
      </p:sp>
      <p:cxnSp>
        <p:nvCxnSpPr>
          <p:cNvPr id="36" name="connector 36"/>
          <p:cNvCxnSpPr/>
          <p:nvPr/>
        </p:nvCxnSpPr>
        <p:spPr>
          <a:xfrm>
            <a:off x="717804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7" name="shape 37"/>
          <p:cNvSpPr/>
          <p:nvPr/>
        </p:nvSpPr>
        <p:spPr>
          <a:xfrm>
            <a:off x="7355840" y="3898900"/>
            <a:ext cx="2113280" cy="774700"/>
          </a:xfrm>
          <a:prstGeom prst="roundRect">
            <a:avLst/>
          </a:prstGeom>
          <a:solidFill>
            <a:srgbClr val="FFF2DF"/>
          </a:solidFill>
          <a:ln>
            <a:noFill/>
          </a:ln>
        </p:spPr>
      </p:sp>
      <p:sp>
        <p:nvSpPr>
          <p:cNvPr id="38" name="text 38"/>
          <p:cNvSpPr/>
          <p:nvPr/>
        </p:nvSpPr>
        <p:spPr>
          <a:xfrm>
            <a:off x="748284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04</a:t>
            </a:r>
            <a:endParaRPr lang="en-US" sz="1200"/>
          </a:p>
        </p:txBody>
      </p:sp>
      <p:sp>
        <p:nvSpPr>
          <p:cNvPr id="39" name="text 39"/>
          <p:cNvSpPr/>
          <p:nvPr/>
        </p:nvSpPr>
        <p:spPr>
          <a:xfrm>
            <a:off x="782574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Measure</a:t>
            </a:r>
            <a:endParaRPr lang="en-US" sz="1250"/>
          </a:p>
        </p:txBody>
      </p:sp>
      <p:sp>
        <p:nvSpPr>
          <p:cNvPr id="40" name="text 40"/>
          <p:cNvSpPr/>
          <p:nvPr/>
        </p:nvSpPr>
        <p:spPr>
          <a:xfrm>
            <a:off x="748284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KS distance</a:t>
            </a:r>
            <a:endParaRPr lang="en-US" sz="1100"/>
          </a:p>
        </p:txBody>
      </p:sp>
      <p:cxnSp>
        <p:nvCxnSpPr>
          <p:cNvPr id="41" name="connector 41"/>
          <p:cNvCxnSpPr/>
          <p:nvPr/>
        </p:nvCxnSpPr>
        <p:spPr>
          <a:xfrm>
            <a:off x="949452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9672320" y="3898900"/>
            <a:ext cx="2113280" cy="774700"/>
          </a:xfrm>
          <a:prstGeom prst="roundRect">
            <a:avLst/>
          </a:prstGeom>
          <a:solidFill>
            <a:srgbClr val="FFF2DF"/>
          </a:solidFill>
          <a:ln>
            <a:noFill/>
          </a:ln>
        </p:spPr>
      </p:sp>
      <p:sp>
        <p:nvSpPr>
          <p:cNvPr id="43" name="text 43"/>
          <p:cNvSpPr/>
          <p:nvPr/>
        </p:nvSpPr>
        <p:spPr>
          <a:xfrm>
            <a:off x="979932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05</a:t>
            </a:r>
            <a:endParaRPr lang="en-US" sz="1200"/>
          </a:p>
        </p:txBody>
      </p:sp>
      <p:sp>
        <p:nvSpPr>
          <p:cNvPr id="44" name="text 44"/>
          <p:cNvSpPr/>
          <p:nvPr/>
        </p:nvSpPr>
        <p:spPr>
          <a:xfrm>
            <a:off x="1014222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Review</a:t>
            </a:r>
            <a:endParaRPr lang="en-US" sz="1250"/>
          </a:p>
        </p:txBody>
      </p:sp>
      <p:sp>
        <p:nvSpPr>
          <p:cNvPr id="45" name="text 45"/>
          <p:cNvSpPr/>
          <p:nvPr/>
        </p:nvSpPr>
        <p:spPr>
          <a:xfrm>
            <a:off x="979932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PSI + business context</a:t>
            </a:r>
            <a:endParaRPr lang="en-US" sz="1100"/>
          </a:p>
        </p:txBody>
      </p:sp>
      <p:sp>
        <p:nvSpPr>
          <p:cNvPr id="46" name="shape 46"/>
          <p:cNvSpPr/>
          <p:nvPr/>
        </p:nvSpPr>
        <p:spPr>
          <a:xfrm>
            <a:off x="406400" y="4851400"/>
            <a:ext cx="5562600" cy="1206500"/>
          </a:xfrm>
          <a:prstGeom prst="roundRect">
            <a:avLst/>
          </a:prstGeom>
          <a:solidFill>
            <a:srgbClr val="FFFFFF"/>
          </a:solidFill>
          <a:ln w="12700">
            <a:solidFill>
              <a:srgbClr val="DEDCD6"/>
            </a:solidFill>
          </a:ln>
        </p:spPr>
      </p:sp>
      <p:sp>
        <p:nvSpPr>
          <p:cNvPr id="47" name="text 47"/>
          <p:cNvSpPr/>
          <p:nvPr/>
        </p:nvSpPr>
        <p:spPr>
          <a:xfrm>
            <a:off x="5715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FINDING → ISSUE</a:t>
            </a:r>
            <a:endParaRPr lang="en-US" sz="1000"/>
          </a:p>
        </p:txBody>
      </p:sp>
      <p:sp>
        <p:nvSpPr>
          <p:cNvPr id="48" name="text 48"/>
          <p:cNvSpPr/>
          <p:nvPr/>
        </p:nvSpPr>
        <p:spPr>
          <a:xfrm>
            <a:off x="5715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Proposed gate: KS distance above a tuned threshold. Read alongside</a:t>
            </a:r>
            <a:endParaRPr lang="en-US" sz="1250"/>
          </a:p>
          <a:p>
            <a:pPr algn="l">
              <a:lnSpc>
                <a:spcPts val="1425"/>
              </a:lnSpc>
              <a:spcAft>
                <a:spcPts val="0"/>
              </a:spcAft>
            </a:pPr>
            <a:r>
              <a:rPr lang="en-US" sz="1250" b="0" dirty="0">
                <a:solidFill>
                  <a:srgbClr val="181C23"/>
                </a:solidFill>
                <a:latin typeface="Funnel Sans"/>
              </a:rPr>
              <a:t>sample size, PSI and practical materiality before confirming a</a:t>
            </a:r>
            <a:endParaRPr lang="en-US" sz="1250"/>
          </a:p>
          <a:p>
            <a:pPr algn="l">
              <a:lnSpc>
                <a:spcPts val="1425"/>
              </a:lnSpc>
              <a:spcAft>
                <a:spcPts val="0"/>
              </a:spcAft>
            </a:pPr>
            <a:r>
              <a:rPr lang="en-US" sz="1250" b="0" dirty="0">
                <a:solidFill>
                  <a:srgbClr val="181C23"/>
                </a:solidFill>
                <a:latin typeface="Funnel Sans"/>
              </a:rPr>
              <a:t>distribution concern.</a:t>
            </a:r>
            <a:endParaRPr lang="en-US" sz="1250"/>
          </a:p>
        </p:txBody>
      </p:sp>
      <p:sp>
        <p:nvSpPr>
          <p:cNvPr id="49" name="shape 49"/>
          <p:cNvSpPr/>
          <p:nvPr/>
        </p:nvSpPr>
        <p:spPr>
          <a:xfrm>
            <a:off x="6223000" y="4851400"/>
            <a:ext cx="5562600" cy="1206500"/>
          </a:xfrm>
          <a:prstGeom prst="roundRect">
            <a:avLst/>
          </a:prstGeom>
          <a:solidFill>
            <a:srgbClr val="FFFFFF"/>
          </a:solidFill>
          <a:ln w="12700">
            <a:solidFill>
              <a:srgbClr val="DEDCD6"/>
            </a:solidFill>
          </a:ln>
        </p:spPr>
      </p:sp>
      <p:sp>
        <p:nvSpPr>
          <p:cNvPr id="50" name="text 50"/>
          <p:cNvSpPr/>
          <p:nvPr/>
        </p:nvSpPr>
        <p:spPr>
          <a:xfrm>
            <a:off x="63881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RCA → ACTION</a:t>
            </a:r>
            <a:endParaRPr lang="en-US" sz="1000"/>
          </a:p>
        </p:txBody>
      </p:sp>
      <p:sp>
        <p:nvSpPr>
          <p:cNvPr id="51" name="text 51"/>
          <p:cNvSpPr/>
          <p:nvPr/>
        </p:nvSpPr>
        <p:spPr>
          <a:xfrm>
            <a:off x="63881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Proposed: inspect sampling, population mix, extraction and genuine</a:t>
            </a:r>
            <a:endParaRPr lang="en-US" sz="1250"/>
          </a:p>
          <a:p>
            <a:pPr algn="l">
              <a:lnSpc>
                <a:spcPts val="1425"/>
              </a:lnSpc>
              <a:spcAft>
                <a:spcPts val="0"/>
              </a:spcAft>
            </a:pPr>
            <a:r>
              <a:rPr lang="en-US" sz="1250" b="0" dirty="0">
                <a:solidFill>
                  <a:srgbClr val="181C23"/>
                </a:solidFill>
                <a:latin typeface="Funnel Sans"/>
              </a:rPr>
              <a:t>market changes. Correct source / sample problems or document a</a:t>
            </a:r>
            <a:endParaRPr lang="en-US" sz="1250"/>
          </a:p>
          <a:p>
            <a:pPr algn="l">
              <a:lnSpc>
                <a:spcPts val="1425"/>
              </a:lnSpc>
              <a:spcAft>
                <a:spcPts val="0"/>
              </a:spcAft>
            </a:pPr>
            <a:r>
              <a:rPr lang="en-US" sz="1250" b="0" dirty="0">
                <a:solidFill>
                  <a:srgbClr val="181C23"/>
                </a:solidFill>
                <a:latin typeface="Funnel Sans"/>
              </a:rPr>
              <a:t>legitimate shift, then reassess.</a:t>
            </a:r>
            <a:endParaRPr lang="en-US" sz="1250"/>
          </a:p>
        </p:txBody>
      </p:sp>
      <p:sp>
        <p:nvSpPr>
          <p:cNvPr id="52" name="shape 52"/>
          <p:cNvSpPr/>
          <p:nvPr/>
        </p:nvSpPr>
        <p:spPr>
          <a:xfrm>
            <a:off x="406400" y="6172200"/>
            <a:ext cx="11379200" cy="292100"/>
          </a:xfrm>
          <a:prstGeom prst="roundRect">
            <a:avLst/>
          </a:prstGeom>
          <a:solidFill>
            <a:srgbClr val="282A27"/>
          </a:solidFill>
          <a:ln>
            <a:noFill/>
          </a:ln>
        </p:spPr>
      </p:sp>
      <p:sp>
        <p:nvSpPr>
          <p:cNvPr id="53" name="text 53"/>
          <p:cNvSpPr/>
          <p:nvPr/>
        </p:nvSpPr>
        <p:spPr>
          <a:xfrm>
            <a:off x="546100" y="6235700"/>
            <a:ext cx="11099800" cy="203200"/>
          </a:xfrm>
          <a:prstGeom prst="rect">
            <a:avLst/>
          </a:prstGeom>
          <a:noFill/>
          <a:ln>
            <a:noFill/>
          </a:ln>
        </p:spPr>
        <p:txBody>
          <a:bodyPr wrap="none" lIns="0" tIns="0" rIns="0" bIns="0" anchor="t">
            <a:noAutofit/>
          </a:bodyPr>
          <a:lstStyle/>
          <a:p>
            <a:pPr algn="l">
              <a:lnSpc>
                <a:spcPts val="1197"/>
              </a:lnSpc>
              <a:spcAft>
                <a:spcPts val="0"/>
              </a:spcAft>
            </a:pPr>
            <a:r>
              <a:rPr lang="en-US" sz="1050" b="0" dirty="0">
                <a:solidFill>
                  <a:srgbClr val="FFFFFF"/>
                </a:solidFill>
                <a:latin typeface="Funnel Sans"/>
              </a:rPr>
              <a:t>Deferred; no executor. Statistical screening can over-flag at large sample sizes; interpret practical effect size.</a:t>
            </a:r>
            <a:endParaRPr lang="en-US" sz="1050"/>
          </a:p>
        </p:txBody>
      </p:sp>
      <p:cxnSp>
        <p:nvCxnSpPr>
          <p:cNvPr id="54" name="connector 54"/>
          <p:cNvCxnSpPr/>
          <p:nvPr/>
        </p:nvCxnSpPr>
        <p:spPr>
          <a:xfrm>
            <a:off x="406400" y="6553200"/>
            <a:ext cx="113792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55" name="text 55"/>
          <p:cNvSpPr/>
          <p:nvPr/>
        </p:nvSpPr>
        <p:spPr>
          <a:xfrm>
            <a:off x="406400" y="6629400"/>
            <a:ext cx="5715000" cy="152400"/>
          </a:xfrm>
          <a:prstGeom prst="rect">
            <a:avLst/>
          </a:prstGeom>
          <a:noFill/>
          <a:ln>
            <a:noFill/>
          </a:ln>
        </p:spPr>
        <p:txBody>
          <a:bodyPr wrap="none" lIns="0" tIns="0" rIns="0" bIns="0" anchor="t">
            <a:noAutofit/>
          </a:bodyPr>
          <a:lstStyle/>
          <a:p>
            <a:pPr algn="l">
              <a:lnSpc>
                <a:spcPts val="969"/>
              </a:lnSpc>
              <a:spcAft>
                <a:spcPts val="0"/>
              </a:spcAft>
            </a:pPr>
            <a:r>
              <a:rPr lang="en-US" sz="850" b="0" dirty="0">
                <a:solidFill>
                  <a:srgbClr val="6D706B"/>
                </a:solidFill>
                <a:latin typeface="Funnel Sans"/>
              </a:rPr>
              <a:t>DATA WORKBENCH / Diagnostic quick reference</a:t>
            </a:r>
            <a:endParaRPr lang="en-US" sz="850"/>
          </a:p>
        </p:txBody>
      </p:sp>
      <p:sp>
        <p:nvSpPr>
          <p:cNvPr id="56" name="text 56"/>
          <p:cNvSpPr/>
          <p:nvPr/>
        </p:nvSpPr>
        <p:spPr>
          <a:xfrm>
            <a:off x="6223000" y="6629400"/>
            <a:ext cx="4254500" cy="152400"/>
          </a:xfrm>
          <a:prstGeom prst="rect">
            <a:avLst/>
          </a:prstGeom>
          <a:noFill/>
          <a:ln>
            <a:noFill/>
          </a:ln>
        </p:spPr>
        <p:txBody>
          <a:bodyPr wrap="none" lIns="0" tIns="0" rIns="0" bIns="0" anchor="t">
            <a:noAutofit/>
          </a:bodyPr>
          <a:lstStyle/>
          <a:p>
            <a:pPr algn="r">
              <a:lnSpc>
                <a:spcPts val="969"/>
              </a:lnSpc>
              <a:spcAft>
                <a:spcPts val="0"/>
              </a:spcAft>
            </a:pPr>
            <a:r>
              <a:rPr lang="en-US" sz="850" b="0" dirty="0">
                <a:solidFill>
                  <a:srgbClr val="6D706B"/>
                </a:solidFill>
                <a:latin typeface="Funnel Sans"/>
              </a:rPr>
              <a:t>Full deck: slide 70</a:t>
            </a:r>
            <a:endParaRPr lang="en-US" sz="850"/>
          </a:p>
        </p:txBody>
      </p:sp>
      <p:sp>
        <p:nvSpPr>
          <p:cNvPr id="57" name="text 57"/>
          <p:cNvSpPr/>
          <p:nvPr/>
        </p:nvSpPr>
        <p:spPr>
          <a:xfrm>
            <a:off x="10795000" y="6616700"/>
            <a:ext cx="990600" cy="177800"/>
          </a:xfrm>
          <a:prstGeom prst="rect">
            <a:avLst/>
          </a:prstGeom>
          <a:noFill/>
          <a:ln>
            <a:noFill/>
          </a:ln>
        </p:spPr>
        <p:txBody>
          <a:bodyPr wrap="none" lIns="0" tIns="0" rIns="0" bIns="0" anchor="t">
            <a:noAutofit/>
          </a:bodyPr>
          <a:lstStyle/>
          <a:p>
            <a:pPr algn="r">
              <a:lnSpc>
                <a:spcPts val="1083"/>
              </a:lnSpc>
              <a:spcAft>
                <a:spcPts val="0"/>
              </a:spcAft>
            </a:pPr>
            <a:r>
              <a:rPr lang="en-US" sz="950" b="0" dirty="0">
                <a:solidFill>
                  <a:srgbClr val="6D706B"/>
                </a:solidFill>
                <a:latin typeface="Funnel Sans"/>
              </a:rPr>
              <a:t>19 / 22</a:t>
            </a:r>
            <a:endParaRPr lang="en-US" sz="95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shape 3"/>
          <p:cNvSpPr/>
          <p:nvPr/>
        </p:nvSpPr>
        <p:spPr>
          <a:xfrm>
            <a:off x="406400" y="228600"/>
            <a:ext cx="1181100" cy="292100"/>
          </a:xfrm>
          <a:prstGeom prst="roundRect">
            <a:avLst/>
          </a:prstGeom>
          <a:solidFill>
            <a:srgbClr val="FFF2DF"/>
          </a:solidFill>
          <a:ln>
            <a:noFill/>
          </a:ln>
        </p:spPr>
      </p:sp>
      <p:sp>
        <p:nvSpPr>
          <p:cNvPr id="4" name="text 4"/>
          <p:cNvSpPr/>
          <p:nvPr/>
        </p:nvSpPr>
        <p:spPr>
          <a:xfrm>
            <a:off x="520700" y="292100"/>
            <a:ext cx="952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T4-D16</a:t>
            </a:r>
            <a:endParaRPr lang="en-US" sz="1000"/>
          </a:p>
        </p:txBody>
      </p:sp>
      <p:sp>
        <p:nvSpPr>
          <p:cNvPr id="5" name="text 5"/>
          <p:cNvSpPr/>
          <p:nvPr/>
        </p:nvSpPr>
        <p:spPr>
          <a:xfrm>
            <a:off x="1739900" y="304800"/>
            <a:ext cx="3022600" cy="190500"/>
          </a:xfrm>
          <a:prstGeom prst="rect">
            <a:avLst/>
          </a:prstGeom>
          <a:noFill/>
          <a:ln>
            <a:noFill/>
          </a:ln>
        </p:spPr>
        <p:txBody>
          <a:bodyPr wrap="none" lIns="0" tIns="0" rIns="0" bIns="0" anchor="t">
            <a:noAutofit/>
          </a:bodyPr>
          <a:lstStyle/>
          <a:p>
            <a:pPr algn="l">
              <a:lnSpc>
                <a:spcPts val="1083"/>
              </a:lnSpc>
              <a:spcAft>
                <a:spcPts val="0"/>
              </a:spcAft>
            </a:pPr>
            <a:r>
              <a:rPr lang="en-US" sz="950" b="1" dirty="0">
                <a:solidFill>
                  <a:srgbClr val="6D706B"/>
                </a:solidFill>
                <a:latin typeface="Funnel Sans"/>
              </a:rPr>
              <a:t>REPRESENTATIVENESS</a:t>
            </a:r>
            <a:endParaRPr lang="en-US" sz="950"/>
          </a:p>
        </p:txBody>
      </p:sp>
      <p:sp>
        <p:nvSpPr>
          <p:cNvPr id="6" name="shape 6"/>
          <p:cNvSpPr/>
          <p:nvPr/>
        </p:nvSpPr>
        <p:spPr>
          <a:xfrm>
            <a:off x="4864100" y="228600"/>
            <a:ext cx="3797300" cy="292100"/>
          </a:xfrm>
          <a:prstGeom prst="roundRect">
            <a:avLst/>
          </a:prstGeom>
          <a:solidFill>
            <a:srgbClr val="EFEEE9"/>
          </a:solidFill>
          <a:ln>
            <a:noFill/>
          </a:ln>
        </p:spPr>
      </p:sp>
      <p:sp>
        <p:nvSpPr>
          <p:cNvPr id="7" name="text 7"/>
          <p:cNvSpPr/>
          <p:nvPr/>
        </p:nvSpPr>
        <p:spPr>
          <a:xfrm>
            <a:off x="4978400" y="292100"/>
            <a:ext cx="35687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181C23"/>
                </a:solidFill>
                <a:latin typeface="Funnel Sans"/>
              </a:rPr>
              <a:t>Proposed presence / share check</a:t>
            </a:r>
            <a:endParaRPr lang="en-US" sz="1000"/>
          </a:p>
        </p:txBody>
      </p:sp>
      <p:sp>
        <p:nvSpPr>
          <p:cNvPr id="8" name="shape 8"/>
          <p:cNvSpPr/>
          <p:nvPr/>
        </p:nvSpPr>
        <p:spPr>
          <a:xfrm>
            <a:off x="8826500" y="228600"/>
            <a:ext cx="2959100" cy="292100"/>
          </a:xfrm>
          <a:prstGeom prst="roundRect">
            <a:avLst/>
          </a:prstGeom>
          <a:solidFill>
            <a:srgbClr val="FFF2DF"/>
          </a:solidFill>
          <a:ln>
            <a:noFill/>
          </a:ln>
        </p:spPr>
      </p:sp>
      <p:sp>
        <p:nvSpPr>
          <p:cNvPr id="9" name="text 9"/>
          <p:cNvSpPr/>
          <p:nvPr/>
        </p:nvSpPr>
        <p:spPr>
          <a:xfrm>
            <a:off x="8940800" y="292100"/>
            <a:ext cx="2730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98641E"/>
                </a:solidFill>
                <a:latin typeface="Funnel Sans"/>
              </a:rPr>
              <a:t>Planned · deferred</a:t>
            </a:r>
            <a:endParaRPr lang="en-US" sz="1000"/>
          </a:p>
        </p:txBody>
      </p:sp>
      <p:sp>
        <p:nvSpPr>
          <p:cNvPr id="10" name="text 10"/>
          <p:cNvSpPr/>
          <p:nvPr/>
        </p:nvSpPr>
        <p:spPr>
          <a:xfrm>
            <a:off x="406400" y="698500"/>
            <a:ext cx="11379200" cy="508000"/>
          </a:xfrm>
          <a:prstGeom prst="rect">
            <a:avLst/>
          </a:prstGeom>
          <a:noFill/>
          <a:ln>
            <a:noFill/>
          </a:ln>
        </p:spPr>
        <p:txBody>
          <a:bodyPr wrap="none" lIns="0" tIns="0" rIns="0" bIns="0" anchor="t">
            <a:noAutofit/>
          </a:bodyPr>
          <a:lstStyle/>
          <a:p>
            <a:pPr algn="l">
              <a:lnSpc>
                <a:spcPts val="3192"/>
              </a:lnSpc>
              <a:spcAft>
                <a:spcPts val="0"/>
              </a:spcAft>
            </a:pPr>
            <a:r>
              <a:rPr lang="en-US" sz="2800" b="1" dirty="0">
                <a:solidFill>
                  <a:srgbClr val="181C23"/>
                </a:solidFill>
                <a:latin typeface="Funnel Sans"/>
              </a:rPr>
              <a:t>Segment coverage</a:t>
            </a:r>
            <a:endParaRPr lang="en-US" sz="2800"/>
          </a:p>
        </p:txBody>
      </p:sp>
      <p:sp>
        <p:nvSpPr>
          <p:cNvPr id="11" name="text 11"/>
          <p:cNvSpPr/>
          <p:nvPr/>
        </p:nvSpPr>
        <p:spPr>
          <a:xfrm>
            <a:off x="419100" y="1320800"/>
            <a:ext cx="11353800" cy="4445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Find live-population segments that are absent or too thin in the assessment sample.</a:t>
            </a:r>
            <a:endParaRPr lang="en-US" sz="1500"/>
          </a:p>
        </p:txBody>
      </p:sp>
      <p:sp>
        <p:nvSpPr>
          <p:cNvPr id="12" name="shape 12"/>
          <p:cNvSpPr/>
          <p:nvPr/>
        </p:nvSpPr>
        <p:spPr>
          <a:xfrm>
            <a:off x="406400" y="1905000"/>
            <a:ext cx="3632200" cy="1549400"/>
          </a:xfrm>
          <a:prstGeom prst="roundRect">
            <a:avLst/>
          </a:prstGeom>
          <a:solidFill>
            <a:srgbClr val="FFFFFF"/>
          </a:solidFill>
          <a:ln w="12700">
            <a:solidFill>
              <a:srgbClr val="DEDCD6"/>
            </a:solidFill>
          </a:ln>
        </p:spPr>
      </p:sp>
      <p:sp>
        <p:nvSpPr>
          <p:cNvPr id="13" name="text 13"/>
          <p:cNvSpPr/>
          <p:nvPr/>
        </p:nvSpPr>
        <p:spPr>
          <a:xfrm>
            <a:off x="571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USER &amp; TRIGGER</a:t>
            </a:r>
            <a:endParaRPr lang="en-US" sz="1000"/>
          </a:p>
        </p:txBody>
      </p:sp>
      <p:sp>
        <p:nvSpPr>
          <p:cNvPr id="14" name="text 14"/>
          <p:cNvSpPr/>
          <p:nvPr/>
        </p:nvSpPr>
        <p:spPr>
          <a:xfrm>
            <a:off x="571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Analytics / population owner</a:t>
            </a:r>
            <a:endParaRPr lang="en-US" sz="1325"/>
          </a:p>
          <a:p>
            <a:pPr algn="l">
              <a:lnSpc>
                <a:spcPts val="1510"/>
              </a:lnSpc>
              <a:spcAft>
                <a:spcPts val="0"/>
              </a:spcAft>
            </a:pPr>
            <a:r>
              <a:rPr lang="en-US" sz="1325" b="0" dirty="0">
                <a:solidFill>
                  <a:srgbClr val="181C23"/>
                </a:solidFill>
                <a:latin typeface="Funnel Sans"/>
              </a:rPr>
              <a:t>Intended before sample acceptance or</a:t>
            </a:r>
            <a:endParaRPr lang="en-US" sz="1325"/>
          </a:p>
          <a:p>
            <a:pPr algn="l">
              <a:lnSpc>
                <a:spcPts val="1510"/>
              </a:lnSpc>
              <a:spcAft>
                <a:spcPts val="0"/>
              </a:spcAft>
            </a:pPr>
            <a:r>
              <a:rPr lang="en-US" sz="1325" b="0" dirty="0">
                <a:solidFill>
                  <a:srgbClr val="181C23"/>
                </a:solidFill>
                <a:latin typeface="Funnel Sans"/>
              </a:rPr>
              <a:t>model development.</a:t>
            </a:r>
            <a:endParaRPr lang="en-US" sz="1325"/>
          </a:p>
        </p:txBody>
      </p:sp>
      <p:sp>
        <p:nvSpPr>
          <p:cNvPr id="15" name="shape 15"/>
          <p:cNvSpPr/>
          <p:nvPr/>
        </p:nvSpPr>
        <p:spPr>
          <a:xfrm>
            <a:off x="4279900" y="1905000"/>
            <a:ext cx="3632200" cy="1549400"/>
          </a:xfrm>
          <a:prstGeom prst="roundRect">
            <a:avLst/>
          </a:prstGeom>
          <a:solidFill>
            <a:srgbClr val="FFFFFF"/>
          </a:solidFill>
          <a:ln w="12700">
            <a:solidFill>
              <a:srgbClr val="DEDCD6"/>
            </a:solidFill>
          </a:ln>
        </p:spPr>
      </p:sp>
      <p:sp>
        <p:nvSpPr>
          <p:cNvPr id="16" name="text 16"/>
          <p:cNvSpPr/>
          <p:nvPr/>
        </p:nvSpPr>
        <p:spPr>
          <a:xfrm>
            <a:off x="44450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INPUTS &amp; READINESS</a:t>
            </a:r>
            <a:endParaRPr lang="en-US" sz="1000"/>
          </a:p>
        </p:txBody>
      </p:sp>
      <p:sp>
        <p:nvSpPr>
          <p:cNvPr id="17" name="text 17"/>
          <p:cNvSpPr/>
          <p:nvPr/>
        </p:nvSpPr>
        <p:spPr>
          <a:xfrm>
            <a:off x="44450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Proposed: reference and sample</a:t>
            </a:r>
            <a:endParaRPr lang="en-US" sz="1325"/>
          </a:p>
          <a:p>
            <a:pPr algn="l">
              <a:lnSpc>
                <a:spcPts val="1510"/>
              </a:lnSpc>
              <a:spcAft>
                <a:spcPts val="0"/>
              </a:spcAft>
            </a:pPr>
            <a:r>
              <a:rPr lang="en-US" sz="1325" b="0" dirty="0">
                <a:solidFill>
                  <a:srgbClr val="181C23"/>
                </a:solidFill>
                <a:latin typeface="Funnel Sans"/>
              </a:rPr>
              <a:t>populations, consistent segment</a:t>
            </a:r>
            <a:endParaRPr lang="en-US" sz="1325"/>
          </a:p>
          <a:p>
            <a:pPr algn="l">
              <a:lnSpc>
                <a:spcPts val="1510"/>
              </a:lnSpc>
              <a:spcAft>
                <a:spcPts val="0"/>
              </a:spcAft>
            </a:pPr>
            <a:r>
              <a:rPr lang="en-US" sz="1325" b="0" dirty="0">
                <a:solidFill>
                  <a:srgbClr val="181C23"/>
                </a:solidFill>
                <a:latin typeface="Funnel Sans"/>
              </a:rPr>
              <a:t>definitions, counts and minimum</a:t>
            </a:r>
            <a:endParaRPr lang="en-US" sz="1325"/>
          </a:p>
          <a:p>
            <a:pPr algn="l">
              <a:lnSpc>
                <a:spcPts val="1510"/>
              </a:lnSpc>
              <a:spcAft>
                <a:spcPts val="0"/>
              </a:spcAft>
            </a:pPr>
            <a:r>
              <a:rPr lang="en-US" sz="1325" b="0" dirty="0">
                <a:solidFill>
                  <a:srgbClr val="181C23"/>
                </a:solidFill>
                <a:latin typeface="Funnel Sans"/>
              </a:rPr>
              <a:t>acceptable sample share.</a:t>
            </a:r>
            <a:endParaRPr lang="en-US" sz="1325"/>
          </a:p>
        </p:txBody>
      </p:sp>
      <p:sp>
        <p:nvSpPr>
          <p:cNvPr id="18" name="shape 18"/>
          <p:cNvSpPr/>
          <p:nvPr/>
        </p:nvSpPr>
        <p:spPr>
          <a:xfrm>
            <a:off x="8153400" y="1905000"/>
            <a:ext cx="3632200" cy="1549400"/>
          </a:xfrm>
          <a:prstGeom prst="roundRect">
            <a:avLst/>
          </a:prstGeom>
          <a:solidFill>
            <a:srgbClr val="FFF2DF"/>
          </a:solidFill>
          <a:ln w="12700">
            <a:solidFill>
              <a:srgbClr val="DEDCD6"/>
            </a:solidFill>
          </a:ln>
        </p:spPr>
      </p:sp>
      <p:sp>
        <p:nvSpPr>
          <p:cNvPr id="19" name="text 19"/>
          <p:cNvSpPr/>
          <p:nvPr/>
        </p:nvSpPr>
        <p:spPr>
          <a:xfrm>
            <a:off x="8318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OUTPUTS &amp; EVIDENCE</a:t>
            </a:r>
            <a:endParaRPr lang="en-US" sz="1000"/>
          </a:p>
        </p:txBody>
      </p:sp>
      <p:sp>
        <p:nvSpPr>
          <p:cNvPr id="20" name="text 20"/>
          <p:cNvSpPr/>
          <p:nvPr/>
        </p:nvSpPr>
        <p:spPr>
          <a:xfrm>
            <a:off x="8318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Proposed: segment presence and share</a:t>
            </a:r>
            <a:endParaRPr lang="en-US" sz="1325"/>
          </a:p>
          <a:p>
            <a:pPr algn="l">
              <a:lnSpc>
                <a:spcPts val="1510"/>
              </a:lnSpc>
              <a:spcAft>
                <a:spcPts val="0"/>
              </a:spcAft>
            </a:pPr>
            <a:r>
              <a:rPr lang="en-US" sz="1325" b="0" dirty="0">
                <a:solidFill>
                  <a:srgbClr val="181C23"/>
                </a:solidFill>
                <a:latin typeface="Funnel Sans"/>
              </a:rPr>
              <a:t>comparisons, missing / thin segments</a:t>
            </a:r>
            <a:endParaRPr lang="en-US" sz="1325"/>
          </a:p>
          <a:p>
            <a:pPr algn="l">
              <a:lnSpc>
                <a:spcPts val="1510"/>
              </a:lnSpc>
              <a:spcAft>
                <a:spcPts val="0"/>
              </a:spcAft>
            </a:pPr>
            <a:r>
              <a:rPr lang="en-US" sz="1325" b="0" dirty="0">
                <a:solidFill>
                  <a:srgbClr val="181C23"/>
                </a:solidFill>
                <a:latin typeface="Funnel Sans"/>
              </a:rPr>
              <a:t>and coverage gaps.</a:t>
            </a:r>
            <a:endParaRPr lang="en-US" sz="1325"/>
          </a:p>
        </p:txBody>
      </p:sp>
      <p:sp>
        <p:nvSpPr>
          <p:cNvPr id="21" name="text 21"/>
          <p:cNvSpPr/>
          <p:nvPr/>
        </p:nvSpPr>
        <p:spPr>
          <a:xfrm>
            <a:off x="406400" y="3606800"/>
            <a:ext cx="7747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PROCESSING FLOW</a:t>
            </a:r>
            <a:endParaRPr lang="en-US" sz="1000"/>
          </a:p>
        </p:txBody>
      </p:sp>
      <p:sp>
        <p:nvSpPr>
          <p:cNvPr id="22" name="shape 22"/>
          <p:cNvSpPr/>
          <p:nvPr/>
        </p:nvSpPr>
        <p:spPr>
          <a:xfrm>
            <a:off x="406400" y="3898900"/>
            <a:ext cx="2113280" cy="774700"/>
          </a:xfrm>
          <a:prstGeom prst="roundRect">
            <a:avLst/>
          </a:prstGeom>
          <a:solidFill>
            <a:srgbClr val="FFF2DF"/>
          </a:solidFill>
          <a:ln>
            <a:noFill/>
          </a:ln>
        </p:spPr>
      </p:sp>
      <p:sp>
        <p:nvSpPr>
          <p:cNvPr id="23" name="text 23"/>
          <p:cNvSpPr/>
          <p:nvPr/>
        </p:nvSpPr>
        <p:spPr>
          <a:xfrm>
            <a:off x="53340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01</a:t>
            </a:r>
            <a:endParaRPr lang="en-US" sz="1200"/>
          </a:p>
        </p:txBody>
      </p:sp>
      <p:sp>
        <p:nvSpPr>
          <p:cNvPr id="24" name="text 24"/>
          <p:cNvSpPr/>
          <p:nvPr/>
        </p:nvSpPr>
        <p:spPr>
          <a:xfrm>
            <a:off x="87630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Define</a:t>
            </a:r>
            <a:endParaRPr lang="en-US" sz="1250"/>
          </a:p>
        </p:txBody>
      </p:sp>
      <p:sp>
        <p:nvSpPr>
          <p:cNvPr id="25" name="text 25"/>
          <p:cNvSpPr/>
          <p:nvPr/>
        </p:nvSpPr>
        <p:spPr>
          <a:xfrm>
            <a:off x="53340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Reference + sample</a:t>
            </a:r>
            <a:endParaRPr lang="en-US" sz="1100"/>
          </a:p>
        </p:txBody>
      </p:sp>
      <p:cxnSp>
        <p:nvCxnSpPr>
          <p:cNvPr id="26" name="connector 26"/>
          <p:cNvCxnSpPr/>
          <p:nvPr/>
        </p:nvCxnSpPr>
        <p:spPr>
          <a:xfrm>
            <a:off x="254508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2722880" y="3898900"/>
            <a:ext cx="2113280" cy="774700"/>
          </a:xfrm>
          <a:prstGeom prst="roundRect">
            <a:avLst/>
          </a:prstGeom>
          <a:solidFill>
            <a:srgbClr val="FFF2DF"/>
          </a:solidFill>
          <a:ln>
            <a:noFill/>
          </a:ln>
        </p:spPr>
      </p:sp>
      <p:sp>
        <p:nvSpPr>
          <p:cNvPr id="28" name="text 28"/>
          <p:cNvSpPr/>
          <p:nvPr/>
        </p:nvSpPr>
        <p:spPr>
          <a:xfrm>
            <a:off x="284988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02</a:t>
            </a:r>
            <a:endParaRPr lang="en-US" sz="1200"/>
          </a:p>
        </p:txBody>
      </p:sp>
      <p:sp>
        <p:nvSpPr>
          <p:cNvPr id="29" name="text 29"/>
          <p:cNvSpPr/>
          <p:nvPr/>
        </p:nvSpPr>
        <p:spPr>
          <a:xfrm>
            <a:off x="319278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Align</a:t>
            </a:r>
            <a:endParaRPr lang="en-US" sz="1250"/>
          </a:p>
        </p:txBody>
      </p:sp>
      <p:sp>
        <p:nvSpPr>
          <p:cNvPr id="30" name="text 30"/>
          <p:cNvSpPr/>
          <p:nvPr/>
        </p:nvSpPr>
        <p:spPr>
          <a:xfrm>
            <a:off x="284988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Segment definitions</a:t>
            </a:r>
            <a:endParaRPr lang="en-US" sz="1100"/>
          </a:p>
        </p:txBody>
      </p:sp>
      <p:cxnSp>
        <p:nvCxnSpPr>
          <p:cNvPr id="31" name="connector 31"/>
          <p:cNvCxnSpPr/>
          <p:nvPr/>
        </p:nvCxnSpPr>
        <p:spPr>
          <a:xfrm>
            <a:off x="486156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2" name="shape 32"/>
          <p:cNvSpPr/>
          <p:nvPr/>
        </p:nvSpPr>
        <p:spPr>
          <a:xfrm>
            <a:off x="5039360" y="3898900"/>
            <a:ext cx="2113280" cy="774700"/>
          </a:xfrm>
          <a:prstGeom prst="roundRect">
            <a:avLst/>
          </a:prstGeom>
          <a:solidFill>
            <a:srgbClr val="FFF2DF"/>
          </a:solidFill>
          <a:ln>
            <a:noFill/>
          </a:ln>
        </p:spPr>
      </p:sp>
      <p:sp>
        <p:nvSpPr>
          <p:cNvPr id="33" name="text 33"/>
          <p:cNvSpPr/>
          <p:nvPr/>
        </p:nvSpPr>
        <p:spPr>
          <a:xfrm>
            <a:off x="516636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03</a:t>
            </a:r>
            <a:endParaRPr lang="en-US" sz="1200"/>
          </a:p>
        </p:txBody>
      </p:sp>
      <p:sp>
        <p:nvSpPr>
          <p:cNvPr id="34" name="text 34"/>
          <p:cNvSpPr/>
          <p:nvPr/>
        </p:nvSpPr>
        <p:spPr>
          <a:xfrm>
            <a:off x="550926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Count</a:t>
            </a:r>
            <a:endParaRPr lang="en-US" sz="1250"/>
          </a:p>
        </p:txBody>
      </p:sp>
      <p:sp>
        <p:nvSpPr>
          <p:cNvPr id="35" name="text 35"/>
          <p:cNvSpPr/>
          <p:nvPr/>
        </p:nvSpPr>
        <p:spPr>
          <a:xfrm>
            <a:off x="516636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Presence + shares</a:t>
            </a:r>
            <a:endParaRPr lang="en-US" sz="1100"/>
          </a:p>
        </p:txBody>
      </p:sp>
      <p:cxnSp>
        <p:nvCxnSpPr>
          <p:cNvPr id="36" name="connector 36"/>
          <p:cNvCxnSpPr/>
          <p:nvPr/>
        </p:nvCxnSpPr>
        <p:spPr>
          <a:xfrm>
            <a:off x="717804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7" name="shape 37"/>
          <p:cNvSpPr/>
          <p:nvPr/>
        </p:nvSpPr>
        <p:spPr>
          <a:xfrm>
            <a:off x="7355840" y="3898900"/>
            <a:ext cx="2113280" cy="774700"/>
          </a:xfrm>
          <a:prstGeom prst="roundRect">
            <a:avLst/>
          </a:prstGeom>
          <a:solidFill>
            <a:srgbClr val="FFF2DF"/>
          </a:solidFill>
          <a:ln>
            <a:noFill/>
          </a:ln>
        </p:spPr>
      </p:sp>
      <p:sp>
        <p:nvSpPr>
          <p:cNvPr id="38" name="text 38"/>
          <p:cNvSpPr/>
          <p:nvPr/>
        </p:nvSpPr>
        <p:spPr>
          <a:xfrm>
            <a:off x="748284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04</a:t>
            </a:r>
            <a:endParaRPr lang="en-US" sz="1200"/>
          </a:p>
        </p:txBody>
      </p:sp>
      <p:sp>
        <p:nvSpPr>
          <p:cNvPr id="39" name="text 39"/>
          <p:cNvSpPr/>
          <p:nvPr/>
        </p:nvSpPr>
        <p:spPr>
          <a:xfrm>
            <a:off x="782574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Flag</a:t>
            </a:r>
            <a:endParaRPr lang="en-US" sz="1250"/>
          </a:p>
        </p:txBody>
      </p:sp>
      <p:sp>
        <p:nvSpPr>
          <p:cNvPr id="40" name="text 40"/>
          <p:cNvSpPr/>
          <p:nvPr/>
        </p:nvSpPr>
        <p:spPr>
          <a:xfrm>
            <a:off x="748284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Missing / thin groups</a:t>
            </a:r>
            <a:endParaRPr lang="en-US" sz="1100"/>
          </a:p>
        </p:txBody>
      </p:sp>
      <p:cxnSp>
        <p:nvCxnSpPr>
          <p:cNvPr id="41" name="connector 41"/>
          <p:cNvCxnSpPr/>
          <p:nvPr/>
        </p:nvCxnSpPr>
        <p:spPr>
          <a:xfrm>
            <a:off x="949452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9672320" y="3898900"/>
            <a:ext cx="2113280" cy="774700"/>
          </a:xfrm>
          <a:prstGeom prst="roundRect">
            <a:avLst/>
          </a:prstGeom>
          <a:solidFill>
            <a:srgbClr val="FFF2DF"/>
          </a:solidFill>
          <a:ln>
            <a:noFill/>
          </a:ln>
        </p:spPr>
      </p:sp>
      <p:sp>
        <p:nvSpPr>
          <p:cNvPr id="43" name="text 43"/>
          <p:cNvSpPr/>
          <p:nvPr/>
        </p:nvSpPr>
        <p:spPr>
          <a:xfrm>
            <a:off x="979932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05</a:t>
            </a:r>
            <a:endParaRPr lang="en-US" sz="1200"/>
          </a:p>
        </p:txBody>
      </p:sp>
      <p:sp>
        <p:nvSpPr>
          <p:cNvPr id="44" name="text 44"/>
          <p:cNvSpPr/>
          <p:nvPr/>
        </p:nvSpPr>
        <p:spPr>
          <a:xfrm>
            <a:off x="1014222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Review</a:t>
            </a:r>
            <a:endParaRPr lang="en-US" sz="1250"/>
          </a:p>
        </p:txBody>
      </p:sp>
      <p:sp>
        <p:nvSpPr>
          <p:cNvPr id="45" name="text 45"/>
          <p:cNvSpPr/>
          <p:nvPr/>
        </p:nvSpPr>
        <p:spPr>
          <a:xfrm>
            <a:off x="979932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Coverage materiality</a:t>
            </a:r>
            <a:endParaRPr lang="en-US" sz="1100"/>
          </a:p>
        </p:txBody>
      </p:sp>
      <p:sp>
        <p:nvSpPr>
          <p:cNvPr id="46" name="shape 46"/>
          <p:cNvSpPr/>
          <p:nvPr/>
        </p:nvSpPr>
        <p:spPr>
          <a:xfrm>
            <a:off x="406400" y="4851400"/>
            <a:ext cx="5562600" cy="1206500"/>
          </a:xfrm>
          <a:prstGeom prst="roundRect">
            <a:avLst/>
          </a:prstGeom>
          <a:solidFill>
            <a:srgbClr val="FFFFFF"/>
          </a:solidFill>
          <a:ln w="12700">
            <a:solidFill>
              <a:srgbClr val="DEDCD6"/>
            </a:solidFill>
          </a:ln>
        </p:spPr>
      </p:sp>
      <p:sp>
        <p:nvSpPr>
          <p:cNvPr id="47" name="text 47"/>
          <p:cNvSpPr/>
          <p:nvPr/>
        </p:nvSpPr>
        <p:spPr>
          <a:xfrm>
            <a:off x="5715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FINDING → ISSUE</a:t>
            </a:r>
            <a:endParaRPr lang="en-US" sz="1000"/>
          </a:p>
        </p:txBody>
      </p:sp>
      <p:sp>
        <p:nvSpPr>
          <p:cNvPr id="48" name="text 48"/>
          <p:cNvSpPr/>
          <p:nvPr/>
        </p:nvSpPr>
        <p:spPr>
          <a:xfrm>
            <a:off x="5715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Proposed gate: a segment exists in reference but is below the</a:t>
            </a:r>
            <a:endParaRPr lang="en-US" sz="1250"/>
          </a:p>
          <a:p>
            <a:pPr algn="l">
              <a:lnSpc>
                <a:spcPts val="1425"/>
              </a:lnSpc>
              <a:spcAft>
                <a:spcPts val="0"/>
              </a:spcAft>
            </a:pPr>
            <a:r>
              <a:rPr lang="en-US" sz="1250" b="0" dirty="0">
                <a:solidFill>
                  <a:srgbClr val="181C23"/>
                </a:solidFill>
                <a:latin typeface="Funnel Sans"/>
              </a:rPr>
              <a:t>approved sample minimum. Confirm intended exclusions and segment</a:t>
            </a:r>
            <a:endParaRPr lang="en-US" sz="1250"/>
          </a:p>
          <a:p>
            <a:pPr algn="l">
              <a:lnSpc>
                <a:spcPts val="1425"/>
              </a:lnSpc>
              <a:spcAft>
                <a:spcPts val="0"/>
              </a:spcAft>
            </a:pPr>
            <a:r>
              <a:rPr lang="en-US" sz="1250" b="0" dirty="0">
                <a:solidFill>
                  <a:srgbClr val="181C23"/>
                </a:solidFill>
                <a:latin typeface="Funnel Sans"/>
              </a:rPr>
              <a:t>mapping before issue promotion.</a:t>
            </a:r>
            <a:endParaRPr lang="en-US" sz="1250"/>
          </a:p>
        </p:txBody>
      </p:sp>
      <p:sp>
        <p:nvSpPr>
          <p:cNvPr id="49" name="shape 49"/>
          <p:cNvSpPr/>
          <p:nvPr/>
        </p:nvSpPr>
        <p:spPr>
          <a:xfrm>
            <a:off x="6223000" y="4851400"/>
            <a:ext cx="5562600" cy="1206500"/>
          </a:xfrm>
          <a:prstGeom prst="roundRect">
            <a:avLst/>
          </a:prstGeom>
          <a:solidFill>
            <a:srgbClr val="FFFFFF"/>
          </a:solidFill>
          <a:ln w="12700">
            <a:solidFill>
              <a:srgbClr val="DEDCD6"/>
            </a:solidFill>
          </a:ln>
        </p:spPr>
      </p:sp>
      <p:sp>
        <p:nvSpPr>
          <p:cNvPr id="50" name="text 50"/>
          <p:cNvSpPr/>
          <p:nvPr/>
        </p:nvSpPr>
        <p:spPr>
          <a:xfrm>
            <a:off x="63881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RCA → ACTION</a:t>
            </a:r>
            <a:endParaRPr lang="en-US" sz="1000"/>
          </a:p>
        </p:txBody>
      </p:sp>
      <p:sp>
        <p:nvSpPr>
          <p:cNvPr id="51" name="text 51"/>
          <p:cNvSpPr/>
          <p:nvPr/>
        </p:nvSpPr>
        <p:spPr>
          <a:xfrm>
            <a:off x="63881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Proposed: trace selection filters, missing deliveries and mapping gaps.</a:t>
            </a:r>
            <a:endParaRPr lang="en-US" sz="1250"/>
          </a:p>
          <a:p>
            <a:pPr algn="l">
              <a:lnSpc>
                <a:spcPts val="1425"/>
              </a:lnSpc>
              <a:spcAft>
                <a:spcPts val="0"/>
              </a:spcAft>
            </a:pPr>
            <a:r>
              <a:rPr lang="en-US" sz="1250" b="0" dirty="0">
                <a:solidFill>
                  <a:srgbClr val="181C23"/>
                </a:solidFill>
                <a:latin typeface="Funnel Sans"/>
              </a:rPr>
              <a:t>Correct extraction or sampling decisions and verify coverage on a</a:t>
            </a:r>
            <a:endParaRPr lang="en-US" sz="1250"/>
          </a:p>
          <a:p>
            <a:pPr algn="l">
              <a:lnSpc>
                <a:spcPts val="1425"/>
              </a:lnSpc>
              <a:spcAft>
                <a:spcPts val="0"/>
              </a:spcAft>
            </a:pPr>
            <a:r>
              <a:rPr lang="en-US" sz="1250" b="0" dirty="0">
                <a:solidFill>
                  <a:srgbClr val="181C23"/>
                </a:solidFill>
                <a:latin typeface="Funnel Sans"/>
              </a:rPr>
              <a:t>refreshed sample.</a:t>
            </a:r>
            <a:endParaRPr lang="en-US" sz="1250"/>
          </a:p>
        </p:txBody>
      </p:sp>
      <p:sp>
        <p:nvSpPr>
          <p:cNvPr id="52" name="shape 52"/>
          <p:cNvSpPr/>
          <p:nvPr/>
        </p:nvSpPr>
        <p:spPr>
          <a:xfrm>
            <a:off x="406400" y="6172200"/>
            <a:ext cx="11379200" cy="292100"/>
          </a:xfrm>
          <a:prstGeom prst="roundRect">
            <a:avLst/>
          </a:prstGeom>
          <a:solidFill>
            <a:srgbClr val="282A27"/>
          </a:solidFill>
          <a:ln>
            <a:noFill/>
          </a:ln>
        </p:spPr>
      </p:sp>
      <p:sp>
        <p:nvSpPr>
          <p:cNvPr id="53" name="text 53"/>
          <p:cNvSpPr/>
          <p:nvPr/>
        </p:nvSpPr>
        <p:spPr>
          <a:xfrm>
            <a:off x="546100" y="6235700"/>
            <a:ext cx="11099800" cy="203200"/>
          </a:xfrm>
          <a:prstGeom prst="rect">
            <a:avLst/>
          </a:prstGeom>
          <a:noFill/>
          <a:ln>
            <a:noFill/>
          </a:ln>
        </p:spPr>
        <p:txBody>
          <a:bodyPr wrap="none" lIns="0" tIns="0" rIns="0" bIns="0" anchor="t">
            <a:noAutofit/>
          </a:bodyPr>
          <a:lstStyle/>
          <a:p>
            <a:pPr algn="l">
              <a:lnSpc>
                <a:spcPts val="1197"/>
              </a:lnSpc>
              <a:spcAft>
                <a:spcPts val="0"/>
              </a:spcAft>
            </a:pPr>
            <a:r>
              <a:rPr lang="en-US" sz="1050" b="0" dirty="0">
                <a:solidFill>
                  <a:srgbClr val="FFFFFF"/>
                </a:solidFill>
                <a:latin typeface="Funnel Sans"/>
              </a:rPr>
              <a:t>Deferred catalog diagnostic: not registered or executable. Reference quality and scope drive the comparison.</a:t>
            </a:r>
            <a:endParaRPr lang="en-US" sz="1050"/>
          </a:p>
        </p:txBody>
      </p:sp>
      <p:cxnSp>
        <p:nvCxnSpPr>
          <p:cNvPr id="54" name="connector 54"/>
          <p:cNvCxnSpPr/>
          <p:nvPr/>
        </p:nvCxnSpPr>
        <p:spPr>
          <a:xfrm>
            <a:off x="406400" y="6553200"/>
            <a:ext cx="113792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55" name="text 55"/>
          <p:cNvSpPr/>
          <p:nvPr/>
        </p:nvSpPr>
        <p:spPr>
          <a:xfrm>
            <a:off x="406400" y="6629400"/>
            <a:ext cx="5715000" cy="152400"/>
          </a:xfrm>
          <a:prstGeom prst="rect">
            <a:avLst/>
          </a:prstGeom>
          <a:noFill/>
          <a:ln>
            <a:noFill/>
          </a:ln>
        </p:spPr>
        <p:txBody>
          <a:bodyPr wrap="none" lIns="0" tIns="0" rIns="0" bIns="0" anchor="t">
            <a:noAutofit/>
          </a:bodyPr>
          <a:lstStyle/>
          <a:p>
            <a:pPr algn="l">
              <a:lnSpc>
                <a:spcPts val="969"/>
              </a:lnSpc>
              <a:spcAft>
                <a:spcPts val="0"/>
              </a:spcAft>
            </a:pPr>
            <a:r>
              <a:rPr lang="en-US" sz="850" b="0" dirty="0">
                <a:solidFill>
                  <a:srgbClr val="6D706B"/>
                </a:solidFill>
                <a:latin typeface="Funnel Sans"/>
              </a:rPr>
              <a:t>DATA WORKBENCH / Diagnostic quick reference</a:t>
            </a:r>
            <a:endParaRPr lang="en-US" sz="850"/>
          </a:p>
        </p:txBody>
      </p:sp>
      <p:sp>
        <p:nvSpPr>
          <p:cNvPr id="56" name="text 56"/>
          <p:cNvSpPr/>
          <p:nvPr/>
        </p:nvSpPr>
        <p:spPr>
          <a:xfrm>
            <a:off x="6223000" y="6629400"/>
            <a:ext cx="4254500" cy="152400"/>
          </a:xfrm>
          <a:prstGeom prst="rect">
            <a:avLst/>
          </a:prstGeom>
          <a:noFill/>
          <a:ln>
            <a:noFill/>
          </a:ln>
        </p:spPr>
        <p:txBody>
          <a:bodyPr wrap="none" lIns="0" tIns="0" rIns="0" bIns="0" anchor="t">
            <a:noAutofit/>
          </a:bodyPr>
          <a:lstStyle/>
          <a:p>
            <a:pPr algn="r">
              <a:lnSpc>
                <a:spcPts val="969"/>
              </a:lnSpc>
              <a:spcAft>
                <a:spcPts val="0"/>
              </a:spcAft>
            </a:pPr>
            <a:r>
              <a:rPr lang="en-US" sz="850" b="0" dirty="0">
                <a:solidFill>
                  <a:srgbClr val="6D706B"/>
                </a:solidFill>
                <a:latin typeface="Funnel Sans"/>
              </a:rPr>
              <a:t>Full deck: slide 71</a:t>
            </a:r>
            <a:endParaRPr lang="en-US" sz="850"/>
          </a:p>
        </p:txBody>
      </p:sp>
      <p:sp>
        <p:nvSpPr>
          <p:cNvPr id="57" name="text 57"/>
          <p:cNvSpPr/>
          <p:nvPr/>
        </p:nvSpPr>
        <p:spPr>
          <a:xfrm>
            <a:off x="10795000" y="6616700"/>
            <a:ext cx="990600" cy="177800"/>
          </a:xfrm>
          <a:prstGeom prst="rect">
            <a:avLst/>
          </a:prstGeom>
          <a:noFill/>
          <a:ln>
            <a:noFill/>
          </a:ln>
        </p:spPr>
        <p:txBody>
          <a:bodyPr wrap="none" lIns="0" tIns="0" rIns="0" bIns="0" anchor="t">
            <a:noAutofit/>
          </a:bodyPr>
          <a:lstStyle/>
          <a:p>
            <a:pPr algn="r">
              <a:lnSpc>
                <a:spcPts val="1083"/>
              </a:lnSpc>
              <a:spcAft>
                <a:spcPts val="0"/>
              </a:spcAft>
            </a:pPr>
            <a:r>
              <a:rPr lang="en-US" sz="950" b="0" dirty="0">
                <a:solidFill>
                  <a:srgbClr val="6D706B"/>
                </a:solidFill>
                <a:latin typeface="Funnel Sans"/>
              </a:rPr>
              <a:t>20 / 22</a:t>
            </a:r>
            <a:endParaRPr lang="en-US" sz="95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shape 3"/>
          <p:cNvSpPr/>
          <p:nvPr/>
        </p:nvSpPr>
        <p:spPr>
          <a:xfrm>
            <a:off x="406400" y="228600"/>
            <a:ext cx="1181100" cy="292100"/>
          </a:xfrm>
          <a:prstGeom prst="roundRect">
            <a:avLst/>
          </a:prstGeom>
          <a:solidFill>
            <a:srgbClr val="FFF2DF"/>
          </a:solidFill>
          <a:ln>
            <a:noFill/>
          </a:ln>
        </p:spPr>
      </p:sp>
      <p:sp>
        <p:nvSpPr>
          <p:cNvPr id="4" name="text 4"/>
          <p:cNvSpPr/>
          <p:nvPr/>
        </p:nvSpPr>
        <p:spPr>
          <a:xfrm>
            <a:off x="520700" y="292100"/>
            <a:ext cx="952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T5-D18</a:t>
            </a:r>
            <a:endParaRPr lang="en-US" sz="1000"/>
          </a:p>
        </p:txBody>
      </p:sp>
      <p:sp>
        <p:nvSpPr>
          <p:cNvPr id="5" name="text 5"/>
          <p:cNvSpPr/>
          <p:nvPr/>
        </p:nvSpPr>
        <p:spPr>
          <a:xfrm>
            <a:off x="1739900" y="304800"/>
            <a:ext cx="3022600" cy="190500"/>
          </a:xfrm>
          <a:prstGeom prst="rect">
            <a:avLst/>
          </a:prstGeom>
          <a:noFill/>
          <a:ln>
            <a:noFill/>
          </a:ln>
        </p:spPr>
        <p:txBody>
          <a:bodyPr wrap="none" lIns="0" tIns="0" rIns="0" bIns="0" anchor="t">
            <a:noAutofit/>
          </a:bodyPr>
          <a:lstStyle/>
          <a:p>
            <a:pPr algn="l">
              <a:lnSpc>
                <a:spcPts val="1083"/>
              </a:lnSpc>
              <a:spcAft>
                <a:spcPts val="0"/>
              </a:spcAft>
            </a:pPr>
            <a:r>
              <a:rPr lang="en-US" sz="950" b="1" dirty="0">
                <a:solidFill>
                  <a:srgbClr val="6D706B"/>
                </a:solidFill>
                <a:latin typeface="Funnel Sans"/>
              </a:rPr>
              <a:t>OUTCOME MATURITY</a:t>
            </a:r>
            <a:endParaRPr lang="en-US" sz="950"/>
          </a:p>
        </p:txBody>
      </p:sp>
      <p:sp>
        <p:nvSpPr>
          <p:cNvPr id="6" name="shape 6"/>
          <p:cNvSpPr/>
          <p:nvPr/>
        </p:nvSpPr>
        <p:spPr>
          <a:xfrm>
            <a:off x="4864100" y="228600"/>
            <a:ext cx="3797300" cy="292100"/>
          </a:xfrm>
          <a:prstGeom prst="roundRect">
            <a:avLst/>
          </a:prstGeom>
          <a:solidFill>
            <a:srgbClr val="EFEEE9"/>
          </a:solidFill>
          <a:ln>
            <a:noFill/>
          </a:ln>
        </p:spPr>
      </p:sp>
      <p:sp>
        <p:nvSpPr>
          <p:cNvPr id="7" name="text 7"/>
          <p:cNvSpPr/>
          <p:nvPr/>
        </p:nvSpPr>
        <p:spPr>
          <a:xfrm>
            <a:off x="4978400" y="292100"/>
            <a:ext cx="35687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181C23"/>
                </a:solidFill>
                <a:latin typeface="Funnel Sans"/>
              </a:rPr>
              <a:t>Proposed estimate sensitivity</a:t>
            </a:r>
            <a:endParaRPr lang="en-US" sz="1000"/>
          </a:p>
        </p:txBody>
      </p:sp>
      <p:sp>
        <p:nvSpPr>
          <p:cNvPr id="8" name="shape 8"/>
          <p:cNvSpPr/>
          <p:nvPr/>
        </p:nvSpPr>
        <p:spPr>
          <a:xfrm>
            <a:off x="8826500" y="228600"/>
            <a:ext cx="2959100" cy="292100"/>
          </a:xfrm>
          <a:prstGeom prst="roundRect">
            <a:avLst/>
          </a:prstGeom>
          <a:solidFill>
            <a:srgbClr val="FFF2DF"/>
          </a:solidFill>
          <a:ln>
            <a:noFill/>
          </a:ln>
        </p:spPr>
      </p:sp>
      <p:sp>
        <p:nvSpPr>
          <p:cNvPr id="9" name="text 9"/>
          <p:cNvSpPr/>
          <p:nvPr/>
        </p:nvSpPr>
        <p:spPr>
          <a:xfrm>
            <a:off x="8940800" y="292100"/>
            <a:ext cx="2730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98641E"/>
                </a:solidFill>
                <a:latin typeface="Funnel Sans"/>
              </a:rPr>
              <a:t>Planned · deferred</a:t>
            </a:r>
            <a:endParaRPr lang="en-US" sz="1000"/>
          </a:p>
        </p:txBody>
      </p:sp>
      <p:sp>
        <p:nvSpPr>
          <p:cNvPr id="10" name="text 10"/>
          <p:cNvSpPr/>
          <p:nvPr/>
        </p:nvSpPr>
        <p:spPr>
          <a:xfrm>
            <a:off x="406400" y="698500"/>
            <a:ext cx="11379200" cy="508000"/>
          </a:xfrm>
          <a:prstGeom prst="rect">
            <a:avLst/>
          </a:prstGeom>
          <a:noFill/>
          <a:ln>
            <a:noFill/>
          </a:ln>
        </p:spPr>
        <p:txBody>
          <a:bodyPr wrap="none" lIns="0" tIns="0" rIns="0" bIns="0" anchor="t">
            <a:noAutofit/>
          </a:bodyPr>
          <a:lstStyle/>
          <a:p>
            <a:pPr algn="l">
              <a:lnSpc>
                <a:spcPts val="3192"/>
              </a:lnSpc>
              <a:spcAft>
                <a:spcPts val="0"/>
              </a:spcAft>
            </a:pPr>
            <a:r>
              <a:rPr lang="en-US" sz="2800" b="1" dirty="0">
                <a:solidFill>
                  <a:srgbClr val="181C23"/>
                </a:solidFill>
                <a:latin typeface="Funnel Sans"/>
              </a:rPr>
              <a:t>Resolved-only vs all differential</a:t>
            </a:r>
            <a:endParaRPr lang="en-US" sz="2800"/>
          </a:p>
        </p:txBody>
      </p:sp>
      <p:sp>
        <p:nvSpPr>
          <p:cNvPr id="11" name="text 11"/>
          <p:cNvSpPr/>
          <p:nvPr/>
        </p:nvSpPr>
        <p:spPr>
          <a:xfrm>
            <a:off x="419100" y="1320800"/>
            <a:ext cx="11353800" cy="4445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Quantify how much the assessment changes when unresolved cases are excluded.</a:t>
            </a:r>
            <a:endParaRPr lang="en-US" sz="1500"/>
          </a:p>
        </p:txBody>
      </p:sp>
      <p:sp>
        <p:nvSpPr>
          <p:cNvPr id="12" name="shape 12"/>
          <p:cNvSpPr/>
          <p:nvPr/>
        </p:nvSpPr>
        <p:spPr>
          <a:xfrm>
            <a:off x="406400" y="1905000"/>
            <a:ext cx="3632200" cy="1549400"/>
          </a:xfrm>
          <a:prstGeom prst="roundRect">
            <a:avLst/>
          </a:prstGeom>
          <a:solidFill>
            <a:srgbClr val="FFFFFF"/>
          </a:solidFill>
          <a:ln w="12700">
            <a:solidFill>
              <a:srgbClr val="DEDCD6"/>
            </a:solidFill>
          </a:ln>
        </p:spPr>
      </p:sp>
      <p:sp>
        <p:nvSpPr>
          <p:cNvPr id="13" name="text 13"/>
          <p:cNvSpPr/>
          <p:nvPr/>
        </p:nvSpPr>
        <p:spPr>
          <a:xfrm>
            <a:off x="571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USER &amp; TRIGGER</a:t>
            </a:r>
            <a:endParaRPr lang="en-US" sz="1000"/>
          </a:p>
        </p:txBody>
      </p:sp>
      <p:sp>
        <p:nvSpPr>
          <p:cNvPr id="14" name="text 14"/>
          <p:cNvSpPr/>
          <p:nvPr/>
        </p:nvSpPr>
        <p:spPr>
          <a:xfrm>
            <a:off x="571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Outcome / model owner + SME</a:t>
            </a:r>
            <a:endParaRPr lang="en-US" sz="1325"/>
          </a:p>
          <a:p>
            <a:pPr algn="l">
              <a:lnSpc>
                <a:spcPts val="1510"/>
              </a:lnSpc>
              <a:spcAft>
                <a:spcPts val="0"/>
              </a:spcAft>
            </a:pPr>
            <a:r>
              <a:rPr lang="en-US" sz="1325" b="0" dirty="0">
                <a:solidFill>
                  <a:srgbClr val="181C23"/>
                </a:solidFill>
                <a:latin typeface="Funnel Sans"/>
              </a:rPr>
              <a:t>Intended when resolved-only selection</a:t>
            </a:r>
            <a:endParaRPr lang="en-US" sz="1325"/>
          </a:p>
          <a:p>
            <a:pPr algn="l">
              <a:lnSpc>
                <a:spcPts val="1510"/>
              </a:lnSpc>
              <a:spcAft>
                <a:spcPts val="0"/>
              </a:spcAft>
            </a:pPr>
            <a:r>
              <a:rPr lang="en-US" sz="1325" b="0" dirty="0">
                <a:solidFill>
                  <a:srgbClr val="181C23"/>
                </a:solidFill>
                <a:latin typeface="Funnel Sans"/>
              </a:rPr>
              <a:t>may bias an estimate.</a:t>
            </a:r>
            <a:endParaRPr lang="en-US" sz="1325"/>
          </a:p>
        </p:txBody>
      </p:sp>
      <p:sp>
        <p:nvSpPr>
          <p:cNvPr id="15" name="shape 15"/>
          <p:cNvSpPr/>
          <p:nvPr/>
        </p:nvSpPr>
        <p:spPr>
          <a:xfrm>
            <a:off x="4279900" y="1905000"/>
            <a:ext cx="3632200" cy="1549400"/>
          </a:xfrm>
          <a:prstGeom prst="roundRect">
            <a:avLst/>
          </a:prstGeom>
          <a:solidFill>
            <a:srgbClr val="FFFFFF"/>
          </a:solidFill>
          <a:ln w="12700">
            <a:solidFill>
              <a:srgbClr val="DEDCD6"/>
            </a:solidFill>
          </a:ln>
        </p:spPr>
      </p:sp>
      <p:sp>
        <p:nvSpPr>
          <p:cNvPr id="16" name="text 16"/>
          <p:cNvSpPr/>
          <p:nvPr/>
        </p:nvSpPr>
        <p:spPr>
          <a:xfrm>
            <a:off x="44450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INPUTS &amp; READINESS</a:t>
            </a:r>
            <a:endParaRPr lang="en-US" sz="1000"/>
          </a:p>
        </p:txBody>
      </p:sp>
      <p:sp>
        <p:nvSpPr>
          <p:cNvPr id="17" name="text 17"/>
          <p:cNvSpPr/>
          <p:nvPr/>
        </p:nvSpPr>
        <p:spPr>
          <a:xfrm>
            <a:off x="44450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Proposed: full cohort, resolved / open</a:t>
            </a:r>
            <a:endParaRPr lang="en-US" sz="1325"/>
          </a:p>
          <a:p>
            <a:pPr algn="l">
              <a:lnSpc>
                <a:spcPts val="1510"/>
              </a:lnSpc>
              <a:spcAft>
                <a:spcPts val="0"/>
              </a:spcAft>
            </a:pPr>
            <a:r>
              <a:rPr lang="en-US" sz="1325" b="0" dirty="0">
                <a:solidFill>
                  <a:srgbClr val="181C23"/>
                </a:solidFill>
                <a:latin typeface="Funnel Sans"/>
              </a:rPr>
              <a:t>status, defined estimator, comparable</a:t>
            </a:r>
            <a:endParaRPr lang="en-US" sz="1325"/>
          </a:p>
          <a:p>
            <a:pPr algn="l">
              <a:lnSpc>
                <a:spcPts val="1510"/>
              </a:lnSpc>
              <a:spcAft>
                <a:spcPts val="0"/>
              </a:spcAft>
            </a:pPr>
            <a:r>
              <a:rPr lang="en-US" sz="1325" b="0" dirty="0">
                <a:solidFill>
                  <a:srgbClr val="181C23"/>
                </a:solidFill>
                <a:latin typeface="Funnel Sans"/>
              </a:rPr>
              <a:t>observation window and materiality</a:t>
            </a:r>
            <a:endParaRPr lang="en-US" sz="1325"/>
          </a:p>
          <a:p>
            <a:pPr algn="l">
              <a:lnSpc>
                <a:spcPts val="1510"/>
              </a:lnSpc>
              <a:spcAft>
                <a:spcPts val="0"/>
              </a:spcAft>
            </a:pPr>
            <a:r>
              <a:rPr lang="en-US" sz="1325" b="0" dirty="0">
                <a:solidFill>
                  <a:srgbClr val="181C23"/>
                </a:solidFill>
                <a:latin typeface="Funnel Sans"/>
              </a:rPr>
              <a:t>threshold.</a:t>
            </a:r>
            <a:endParaRPr lang="en-US" sz="1325"/>
          </a:p>
        </p:txBody>
      </p:sp>
      <p:sp>
        <p:nvSpPr>
          <p:cNvPr id="18" name="shape 18"/>
          <p:cNvSpPr/>
          <p:nvPr/>
        </p:nvSpPr>
        <p:spPr>
          <a:xfrm>
            <a:off x="8153400" y="1905000"/>
            <a:ext cx="3632200" cy="1549400"/>
          </a:xfrm>
          <a:prstGeom prst="roundRect">
            <a:avLst/>
          </a:prstGeom>
          <a:solidFill>
            <a:srgbClr val="FFF2DF"/>
          </a:solidFill>
          <a:ln w="12700">
            <a:solidFill>
              <a:srgbClr val="DEDCD6"/>
            </a:solidFill>
          </a:ln>
        </p:spPr>
      </p:sp>
      <p:sp>
        <p:nvSpPr>
          <p:cNvPr id="19" name="text 19"/>
          <p:cNvSpPr/>
          <p:nvPr/>
        </p:nvSpPr>
        <p:spPr>
          <a:xfrm>
            <a:off x="8318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OUTPUTS &amp; EVIDENCE</a:t>
            </a:r>
            <a:endParaRPr lang="en-US" sz="1000"/>
          </a:p>
        </p:txBody>
      </p:sp>
      <p:sp>
        <p:nvSpPr>
          <p:cNvPr id="20" name="text 20"/>
          <p:cNvSpPr/>
          <p:nvPr/>
        </p:nvSpPr>
        <p:spPr>
          <a:xfrm>
            <a:off x="8318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Proposed: resolved-only estimate,</a:t>
            </a:r>
            <a:endParaRPr lang="en-US" sz="1325"/>
          </a:p>
          <a:p>
            <a:pPr algn="l">
              <a:lnSpc>
                <a:spcPts val="1510"/>
              </a:lnSpc>
              <a:spcAft>
                <a:spcPts val="0"/>
              </a:spcAft>
            </a:pPr>
            <a:r>
              <a:rPr lang="en-US" sz="1325" b="0" dirty="0">
                <a:solidFill>
                  <a:srgbClr val="181C23"/>
                </a:solidFill>
                <a:latin typeface="Funnel Sans"/>
              </a:rPr>
              <a:t>full-cohort estimate, denominators and</a:t>
            </a:r>
            <a:endParaRPr lang="en-US" sz="1325"/>
          </a:p>
          <a:p>
            <a:pPr algn="l">
              <a:lnSpc>
                <a:spcPts val="1510"/>
              </a:lnSpc>
              <a:spcAft>
                <a:spcPts val="0"/>
              </a:spcAft>
            </a:pPr>
            <a:r>
              <a:rPr lang="en-US" sz="1325" b="0" dirty="0">
                <a:solidFill>
                  <a:srgbClr val="181C23"/>
                </a:solidFill>
                <a:latin typeface="Funnel Sans"/>
              </a:rPr>
              <a:t>the difference between them.</a:t>
            </a:r>
            <a:endParaRPr lang="en-US" sz="1325"/>
          </a:p>
        </p:txBody>
      </p:sp>
      <p:sp>
        <p:nvSpPr>
          <p:cNvPr id="21" name="text 21"/>
          <p:cNvSpPr/>
          <p:nvPr/>
        </p:nvSpPr>
        <p:spPr>
          <a:xfrm>
            <a:off x="406400" y="3606800"/>
            <a:ext cx="7747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PROCESSING FLOW</a:t>
            </a:r>
            <a:endParaRPr lang="en-US" sz="1000"/>
          </a:p>
        </p:txBody>
      </p:sp>
      <p:sp>
        <p:nvSpPr>
          <p:cNvPr id="22" name="shape 22"/>
          <p:cNvSpPr/>
          <p:nvPr/>
        </p:nvSpPr>
        <p:spPr>
          <a:xfrm>
            <a:off x="406400" y="3898900"/>
            <a:ext cx="2113280" cy="774700"/>
          </a:xfrm>
          <a:prstGeom prst="roundRect">
            <a:avLst/>
          </a:prstGeom>
          <a:solidFill>
            <a:srgbClr val="FFF2DF"/>
          </a:solidFill>
          <a:ln>
            <a:noFill/>
          </a:ln>
        </p:spPr>
      </p:sp>
      <p:sp>
        <p:nvSpPr>
          <p:cNvPr id="23" name="text 23"/>
          <p:cNvSpPr/>
          <p:nvPr/>
        </p:nvSpPr>
        <p:spPr>
          <a:xfrm>
            <a:off x="53340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01</a:t>
            </a:r>
            <a:endParaRPr lang="en-US" sz="1200"/>
          </a:p>
        </p:txBody>
      </p:sp>
      <p:sp>
        <p:nvSpPr>
          <p:cNvPr id="24" name="text 24"/>
          <p:cNvSpPr/>
          <p:nvPr/>
        </p:nvSpPr>
        <p:spPr>
          <a:xfrm>
            <a:off x="87630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Define</a:t>
            </a:r>
            <a:endParaRPr lang="en-US" sz="1250"/>
          </a:p>
        </p:txBody>
      </p:sp>
      <p:sp>
        <p:nvSpPr>
          <p:cNvPr id="25" name="text 25"/>
          <p:cNvSpPr/>
          <p:nvPr/>
        </p:nvSpPr>
        <p:spPr>
          <a:xfrm>
            <a:off x="53340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Cohort + estimator</a:t>
            </a:r>
            <a:endParaRPr lang="en-US" sz="1100"/>
          </a:p>
        </p:txBody>
      </p:sp>
      <p:cxnSp>
        <p:nvCxnSpPr>
          <p:cNvPr id="26" name="connector 26"/>
          <p:cNvCxnSpPr/>
          <p:nvPr/>
        </p:nvCxnSpPr>
        <p:spPr>
          <a:xfrm>
            <a:off x="254508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2722880" y="3898900"/>
            <a:ext cx="2113280" cy="774700"/>
          </a:xfrm>
          <a:prstGeom prst="roundRect">
            <a:avLst/>
          </a:prstGeom>
          <a:solidFill>
            <a:srgbClr val="FFF2DF"/>
          </a:solidFill>
          <a:ln>
            <a:noFill/>
          </a:ln>
        </p:spPr>
      </p:sp>
      <p:sp>
        <p:nvSpPr>
          <p:cNvPr id="28" name="text 28"/>
          <p:cNvSpPr/>
          <p:nvPr/>
        </p:nvSpPr>
        <p:spPr>
          <a:xfrm>
            <a:off x="284988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02</a:t>
            </a:r>
            <a:endParaRPr lang="en-US" sz="1200"/>
          </a:p>
        </p:txBody>
      </p:sp>
      <p:sp>
        <p:nvSpPr>
          <p:cNvPr id="29" name="text 29"/>
          <p:cNvSpPr/>
          <p:nvPr/>
        </p:nvSpPr>
        <p:spPr>
          <a:xfrm>
            <a:off x="319278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Split</a:t>
            </a:r>
            <a:endParaRPr lang="en-US" sz="1250"/>
          </a:p>
        </p:txBody>
      </p:sp>
      <p:sp>
        <p:nvSpPr>
          <p:cNvPr id="30" name="text 30"/>
          <p:cNvSpPr/>
          <p:nvPr/>
        </p:nvSpPr>
        <p:spPr>
          <a:xfrm>
            <a:off x="284988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Resolved vs full cohort</a:t>
            </a:r>
            <a:endParaRPr lang="en-US" sz="1100"/>
          </a:p>
        </p:txBody>
      </p:sp>
      <p:cxnSp>
        <p:nvCxnSpPr>
          <p:cNvPr id="31" name="connector 31"/>
          <p:cNvCxnSpPr/>
          <p:nvPr/>
        </p:nvCxnSpPr>
        <p:spPr>
          <a:xfrm>
            <a:off x="486156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2" name="shape 32"/>
          <p:cNvSpPr/>
          <p:nvPr/>
        </p:nvSpPr>
        <p:spPr>
          <a:xfrm>
            <a:off x="5039360" y="3898900"/>
            <a:ext cx="2113280" cy="774700"/>
          </a:xfrm>
          <a:prstGeom prst="roundRect">
            <a:avLst/>
          </a:prstGeom>
          <a:solidFill>
            <a:srgbClr val="FFF2DF"/>
          </a:solidFill>
          <a:ln>
            <a:noFill/>
          </a:ln>
        </p:spPr>
      </p:sp>
      <p:sp>
        <p:nvSpPr>
          <p:cNvPr id="33" name="text 33"/>
          <p:cNvSpPr/>
          <p:nvPr/>
        </p:nvSpPr>
        <p:spPr>
          <a:xfrm>
            <a:off x="516636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03</a:t>
            </a:r>
            <a:endParaRPr lang="en-US" sz="1200"/>
          </a:p>
        </p:txBody>
      </p:sp>
      <p:sp>
        <p:nvSpPr>
          <p:cNvPr id="34" name="text 34"/>
          <p:cNvSpPr/>
          <p:nvPr/>
        </p:nvSpPr>
        <p:spPr>
          <a:xfrm>
            <a:off x="550926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Estimate</a:t>
            </a:r>
            <a:endParaRPr lang="en-US" sz="1250"/>
          </a:p>
        </p:txBody>
      </p:sp>
      <p:sp>
        <p:nvSpPr>
          <p:cNvPr id="35" name="text 35"/>
          <p:cNvSpPr/>
          <p:nvPr/>
        </p:nvSpPr>
        <p:spPr>
          <a:xfrm>
            <a:off x="516636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Comparable measures</a:t>
            </a:r>
            <a:endParaRPr lang="en-US" sz="1100"/>
          </a:p>
        </p:txBody>
      </p:sp>
      <p:cxnSp>
        <p:nvCxnSpPr>
          <p:cNvPr id="36" name="connector 36"/>
          <p:cNvCxnSpPr/>
          <p:nvPr/>
        </p:nvCxnSpPr>
        <p:spPr>
          <a:xfrm>
            <a:off x="717804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7" name="shape 37"/>
          <p:cNvSpPr/>
          <p:nvPr/>
        </p:nvSpPr>
        <p:spPr>
          <a:xfrm>
            <a:off x="7355840" y="3898900"/>
            <a:ext cx="2113280" cy="774700"/>
          </a:xfrm>
          <a:prstGeom prst="roundRect">
            <a:avLst/>
          </a:prstGeom>
          <a:solidFill>
            <a:srgbClr val="FFF2DF"/>
          </a:solidFill>
          <a:ln>
            <a:noFill/>
          </a:ln>
        </p:spPr>
      </p:sp>
      <p:sp>
        <p:nvSpPr>
          <p:cNvPr id="38" name="text 38"/>
          <p:cNvSpPr/>
          <p:nvPr/>
        </p:nvSpPr>
        <p:spPr>
          <a:xfrm>
            <a:off x="748284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04</a:t>
            </a:r>
            <a:endParaRPr lang="en-US" sz="1200"/>
          </a:p>
        </p:txBody>
      </p:sp>
      <p:sp>
        <p:nvSpPr>
          <p:cNvPr id="39" name="text 39"/>
          <p:cNvSpPr/>
          <p:nvPr/>
        </p:nvSpPr>
        <p:spPr>
          <a:xfrm>
            <a:off x="782574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Compare</a:t>
            </a:r>
            <a:endParaRPr lang="en-US" sz="1250"/>
          </a:p>
        </p:txBody>
      </p:sp>
      <p:sp>
        <p:nvSpPr>
          <p:cNvPr id="40" name="text 40"/>
          <p:cNvSpPr/>
          <p:nvPr/>
        </p:nvSpPr>
        <p:spPr>
          <a:xfrm>
            <a:off x="748284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Difference vs limit</a:t>
            </a:r>
            <a:endParaRPr lang="en-US" sz="1100"/>
          </a:p>
        </p:txBody>
      </p:sp>
      <p:cxnSp>
        <p:nvCxnSpPr>
          <p:cNvPr id="41" name="connector 41"/>
          <p:cNvCxnSpPr/>
          <p:nvPr/>
        </p:nvCxnSpPr>
        <p:spPr>
          <a:xfrm>
            <a:off x="949452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9672320" y="3898900"/>
            <a:ext cx="2113280" cy="774700"/>
          </a:xfrm>
          <a:prstGeom prst="roundRect">
            <a:avLst/>
          </a:prstGeom>
          <a:solidFill>
            <a:srgbClr val="FFF2DF"/>
          </a:solidFill>
          <a:ln>
            <a:noFill/>
          </a:ln>
        </p:spPr>
      </p:sp>
      <p:sp>
        <p:nvSpPr>
          <p:cNvPr id="43" name="text 43"/>
          <p:cNvSpPr/>
          <p:nvPr/>
        </p:nvSpPr>
        <p:spPr>
          <a:xfrm>
            <a:off x="979932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05</a:t>
            </a:r>
            <a:endParaRPr lang="en-US" sz="1200"/>
          </a:p>
        </p:txBody>
      </p:sp>
      <p:sp>
        <p:nvSpPr>
          <p:cNvPr id="44" name="text 44"/>
          <p:cNvSpPr/>
          <p:nvPr/>
        </p:nvSpPr>
        <p:spPr>
          <a:xfrm>
            <a:off x="1014222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Review</a:t>
            </a:r>
            <a:endParaRPr lang="en-US" sz="1250"/>
          </a:p>
        </p:txBody>
      </p:sp>
      <p:sp>
        <p:nvSpPr>
          <p:cNvPr id="45" name="text 45"/>
          <p:cNvSpPr/>
          <p:nvPr/>
        </p:nvSpPr>
        <p:spPr>
          <a:xfrm>
            <a:off x="979932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Selection sensitivity</a:t>
            </a:r>
            <a:endParaRPr lang="en-US" sz="1100"/>
          </a:p>
        </p:txBody>
      </p:sp>
      <p:sp>
        <p:nvSpPr>
          <p:cNvPr id="46" name="shape 46"/>
          <p:cNvSpPr/>
          <p:nvPr/>
        </p:nvSpPr>
        <p:spPr>
          <a:xfrm>
            <a:off x="406400" y="4851400"/>
            <a:ext cx="5562600" cy="1206500"/>
          </a:xfrm>
          <a:prstGeom prst="roundRect">
            <a:avLst/>
          </a:prstGeom>
          <a:solidFill>
            <a:srgbClr val="FFFFFF"/>
          </a:solidFill>
          <a:ln w="12700">
            <a:solidFill>
              <a:srgbClr val="DEDCD6"/>
            </a:solidFill>
          </a:ln>
        </p:spPr>
      </p:sp>
      <p:sp>
        <p:nvSpPr>
          <p:cNvPr id="47" name="text 47"/>
          <p:cNvSpPr/>
          <p:nvPr/>
        </p:nvSpPr>
        <p:spPr>
          <a:xfrm>
            <a:off x="5715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FINDING → ISSUE</a:t>
            </a:r>
            <a:endParaRPr lang="en-US" sz="1000"/>
          </a:p>
        </p:txBody>
      </p:sp>
      <p:sp>
        <p:nvSpPr>
          <p:cNvPr id="48" name="text 48"/>
          <p:cNvSpPr/>
          <p:nvPr/>
        </p:nvSpPr>
        <p:spPr>
          <a:xfrm>
            <a:off x="5715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Proposed gate: differential above an agreed Y indicates possible</a:t>
            </a:r>
            <a:endParaRPr lang="en-US" sz="1250"/>
          </a:p>
          <a:p>
            <a:pPr algn="l">
              <a:lnSpc>
                <a:spcPts val="1425"/>
              </a:lnSpc>
              <a:spcAft>
                <a:spcPts val="0"/>
              </a:spcAft>
            </a:pPr>
            <a:r>
              <a:rPr lang="en-US" sz="1250" b="0" dirty="0">
                <a:solidFill>
                  <a:srgbClr val="181C23"/>
                </a:solidFill>
                <a:latin typeface="Funnel Sans"/>
              </a:rPr>
              <a:t>selection bias. Review sign, magnitude and estimator assumptions</a:t>
            </a:r>
            <a:endParaRPr lang="en-US" sz="1250"/>
          </a:p>
          <a:p>
            <a:pPr algn="l">
              <a:lnSpc>
                <a:spcPts val="1425"/>
              </a:lnSpc>
              <a:spcAft>
                <a:spcPts val="0"/>
              </a:spcAft>
            </a:pPr>
            <a:r>
              <a:rPr lang="en-US" sz="1250" b="0" dirty="0">
                <a:solidFill>
                  <a:srgbClr val="181C23"/>
                </a:solidFill>
                <a:latin typeface="Funnel Sans"/>
              </a:rPr>
              <a:t>before confirming the concern.</a:t>
            </a:r>
            <a:endParaRPr lang="en-US" sz="1250"/>
          </a:p>
        </p:txBody>
      </p:sp>
      <p:sp>
        <p:nvSpPr>
          <p:cNvPr id="49" name="shape 49"/>
          <p:cNvSpPr/>
          <p:nvPr/>
        </p:nvSpPr>
        <p:spPr>
          <a:xfrm>
            <a:off x="6223000" y="4851400"/>
            <a:ext cx="5562600" cy="1206500"/>
          </a:xfrm>
          <a:prstGeom prst="roundRect">
            <a:avLst/>
          </a:prstGeom>
          <a:solidFill>
            <a:srgbClr val="FFFFFF"/>
          </a:solidFill>
          <a:ln w="12700">
            <a:solidFill>
              <a:srgbClr val="DEDCD6"/>
            </a:solidFill>
          </a:ln>
        </p:spPr>
      </p:sp>
      <p:sp>
        <p:nvSpPr>
          <p:cNvPr id="50" name="text 50"/>
          <p:cNvSpPr/>
          <p:nvPr/>
        </p:nvSpPr>
        <p:spPr>
          <a:xfrm>
            <a:off x="63881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RCA → ACTION</a:t>
            </a:r>
            <a:endParaRPr lang="en-US" sz="1000"/>
          </a:p>
        </p:txBody>
      </p:sp>
      <p:sp>
        <p:nvSpPr>
          <p:cNvPr id="51" name="text 51"/>
          <p:cNvSpPr/>
          <p:nvPr/>
        </p:nvSpPr>
        <p:spPr>
          <a:xfrm>
            <a:off x="63881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Proposed: investigate resolution timing, exclusions and outcome</a:t>
            </a:r>
            <a:endParaRPr lang="en-US" sz="1250"/>
          </a:p>
          <a:p>
            <a:pPr algn="l">
              <a:lnSpc>
                <a:spcPts val="1425"/>
              </a:lnSpc>
              <a:spcAft>
                <a:spcPts val="0"/>
              </a:spcAft>
            </a:pPr>
            <a:r>
              <a:rPr lang="en-US" sz="1250" b="0" dirty="0">
                <a:solidFill>
                  <a:srgbClr val="181C23"/>
                </a:solidFill>
                <a:latin typeface="Funnel Sans"/>
              </a:rPr>
              <a:t>capture. Adjust the assessment approach or fix status / source data,</a:t>
            </a:r>
            <a:endParaRPr lang="en-US" sz="1250"/>
          </a:p>
          <a:p>
            <a:pPr algn="l">
              <a:lnSpc>
                <a:spcPts val="1425"/>
              </a:lnSpc>
              <a:spcAft>
                <a:spcPts val="0"/>
              </a:spcAft>
            </a:pPr>
            <a:r>
              <a:rPr lang="en-US" sz="1250" b="0" dirty="0">
                <a:solidFill>
                  <a:srgbClr val="181C23"/>
                </a:solidFill>
                <a:latin typeface="Funnel Sans"/>
              </a:rPr>
              <a:t>then reassess both populations.</a:t>
            </a:r>
            <a:endParaRPr lang="en-US" sz="1250"/>
          </a:p>
        </p:txBody>
      </p:sp>
      <p:sp>
        <p:nvSpPr>
          <p:cNvPr id="52" name="shape 52"/>
          <p:cNvSpPr/>
          <p:nvPr/>
        </p:nvSpPr>
        <p:spPr>
          <a:xfrm>
            <a:off x="406400" y="6172200"/>
            <a:ext cx="11379200" cy="292100"/>
          </a:xfrm>
          <a:prstGeom prst="roundRect">
            <a:avLst/>
          </a:prstGeom>
          <a:solidFill>
            <a:srgbClr val="282A27"/>
          </a:solidFill>
          <a:ln>
            <a:noFill/>
          </a:ln>
        </p:spPr>
      </p:sp>
      <p:sp>
        <p:nvSpPr>
          <p:cNvPr id="53" name="text 53"/>
          <p:cNvSpPr/>
          <p:nvPr/>
        </p:nvSpPr>
        <p:spPr>
          <a:xfrm>
            <a:off x="546100" y="6235700"/>
            <a:ext cx="11099800" cy="203200"/>
          </a:xfrm>
          <a:prstGeom prst="rect">
            <a:avLst/>
          </a:prstGeom>
          <a:noFill/>
          <a:ln>
            <a:noFill/>
          </a:ln>
        </p:spPr>
        <p:txBody>
          <a:bodyPr wrap="none" lIns="0" tIns="0" rIns="0" bIns="0" anchor="t">
            <a:noAutofit/>
          </a:bodyPr>
          <a:lstStyle/>
          <a:p>
            <a:pPr algn="l">
              <a:lnSpc>
                <a:spcPts val="1197"/>
              </a:lnSpc>
              <a:spcAft>
                <a:spcPts val="0"/>
              </a:spcAft>
            </a:pPr>
            <a:r>
              <a:rPr lang="en-US" sz="1050" b="0" dirty="0">
                <a:solidFill>
                  <a:srgbClr val="FFFFFF"/>
                </a:solidFill>
                <a:latin typeface="Funnel Sans"/>
              </a:rPr>
              <a:t>Deferred; no executor. A differential signals sensitivity; it does not by itself establish a data defect.</a:t>
            </a:r>
            <a:endParaRPr lang="en-US" sz="1050"/>
          </a:p>
        </p:txBody>
      </p:sp>
      <p:cxnSp>
        <p:nvCxnSpPr>
          <p:cNvPr id="54" name="connector 54"/>
          <p:cNvCxnSpPr/>
          <p:nvPr/>
        </p:nvCxnSpPr>
        <p:spPr>
          <a:xfrm>
            <a:off x="406400" y="6553200"/>
            <a:ext cx="113792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55" name="text 55"/>
          <p:cNvSpPr/>
          <p:nvPr/>
        </p:nvSpPr>
        <p:spPr>
          <a:xfrm>
            <a:off x="406400" y="6629400"/>
            <a:ext cx="5715000" cy="152400"/>
          </a:xfrm>
          <a:prstGeom prst="rect">
            <a:avLst/>
          </a:prstGeom>
          <a:noFill/>
          <a:ln>
            <a:noFill/>
          </a:ln>
        </p:spPr>
        <p:txBody>
          <a:bodyPr wrap="none" lIns="0" tIns="0" rIns="0" bIns="0" anchor="t">
            <a:noAutofit/>
          </a:bodyPr>
          <a:lstStyle/>
          <a:p>
            <a:pPr algn="l">
              <a:lnSpc>
                <a:spcPts val="969"/>
              </a:lnSpc>
              <a:spcAft>
                <a:spcPts val="0"/>
              </a:spcAft>
            </a:pPr>
            <a:r>
              <a:rPr lang="en-US" sz="850" b="0" dirty="0">
                <a:solidFill>
                  <a:srgbClr val="6D706B"/>
                </a:solidFill>
                <a:latin typeface="Funnel Sans"/>
              </a:rPr>
              <a:t>DATA WORKBENCH / Diagnostic quick reference</a:t>
            </a:r>
            <a:endParaRPr lang="en-US" sz="850"/>
          </a:p>
        </p:txBody>
      </p:sp>
      <p:sp>
        <p:nvSpPr>
          <p:cNvPr id="56" name="text 56"/>
          <p:cNvSpPr/>
          <p:nvPr/>
        </p:nvSpPr>
        <p:spPr>
          <a:xfrm>
            <a:off x="6223000" y="6629400"/>
            <a:ext cx="4254500" cy="152400"/>
          </a:xfrm>
          <a:prstGeom prst="rect">
            <a:avLst/>
          </a:prstGeom>
          <a:noFill/>
          <a:ln>
            <a:noFill/>
          </a:ln>
        </p:spPr>
        <p:txBody>
          <a:bodyPr wrap="none" lIns="0" tIns="0" rIns="0" bIns="0" anchor="t">
            <a:noAutofit/>
          </a:bodyPr>
          <a:lstStyle/>
          <a:p>
            <a:pPr algn="r">
              <a:lnSpc>
                <a:spcPts val="969"/>
              </a:lnSpc>
              <a:spcAft>
                <a:spcPts val="0"/>
              </a:spcAft>
            </a:pPr>
            <a:r>
              <a:rPr lang="en-US" sz="850" b="0" dirty="0">
                <a:solidFill>
                  <a:srgbClr val="6D706B"/>
                </a:solidFill>
                <a:latin typeface="Funnel Sans"/>
              </a:rPr>
              <a:t>Full deck: slide 72</a:t>
            </a:r>
            <a:endParaRPr lang="en-US" sz="850"/>
          </a:p>
        </p:txBody>
      </p:sp>
      <p:sp>
        <p:nvSpPr>
          <p:cNvPr id="57" name="text 57"/>
          <p:cNvSpPr/>
          <p:nvPr/>
        </p:nvSpPr>
        <p:spPr>
          <a:xfrm>
            <a:off x="10795000" y="6616700"/>
            <a:ext cx="990600" cy="177800"/>
          </a:xfrm>
          <a:prstGeom prst="rect">
            <a:avLst/>
          </a:prstGeom>
          <a:noFill/>
          <a:ln>
            <a:noFill/>
          </a:ln>
        </p:spPr>
        <p:txBody>
          <a:bodyPr wrap="none" lIns="0" tIns="0" rIns="0" bIns="0" anchor="t">
            <a:noAutofit/>
          </a:bodyPr>
          <a:lstStyle/>
          <a:p>
            <a:pPr algn="r">
              <a:lnSpc>
                <a:spcPts val="1083"/>
              </a:lnSpc>
              <a:spcAft>
                <a:spcPts val="0"/>
              </a:spcAft>
            </a:pPr>
            <a:r>
              <a:rPr lang="en-US" sz="950" b="0" dirty="0">
                <a:solidFill>
                  <a:srgbClr val="6D706B"/>
                </a:solidFill>
                <a:latin typeface="Funnel Sans"/>
              </a:rPr>
              <a:t>21 / 22</a:t>
            </a:r>
            <a:endParaRPr lang="en-US" sz="95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shape 3"/>
          <p:cNvSpPr/>
          <p:nvPr/>
        </p:nvSpPr>
        <p:spPr>
          <a:xfrm>
            <a:off x="406400" y="228600"/>
            <a:ext cx="1181100" cy="292100"/>
          </a:xfrm>
          <a:prstGeom prst="roundRect">
            <a:avLst/>
          </a:prstGeom>
          <a:solidFill>
            <a:srgbClr val="FFF2DF"/>
          </a:solidFill>
          <a:ln>
            <a:noFill/>
          </a:ln>
        </p:spPr>
      </p:sp>
      <p:sp>
        <p:nvSpPr>
          <p:cNvPr id="4" name="text 4"/>
          <p:cNvSpPr/>
          <p:nvPr/>
        </p:nvSpPr>
        <p:spPr>
          <a:xfrm>
            <a:off x="520700" y="292100"/>
            <a:ext cx="952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T5-D19</a:t>
            </a:r>
            <a:endParaRPr lang="en-US" sz="1000"/>
          </a:p>
        </p:txBody>
      </p:sp>
      <p:sp>
        <p:nvSpPr>
          <p:cNvPr id="5" name="text 5"/>
          <p:cNvSpPr/>
          <p:nvPr/>
        </p:nvSpPr>
        <p:spPr>
          <a:xfrm>
            <a:off x="1739900" y="304800"/>
            <a:ext cx="3022600" cy="190500"/>
          </a:xfrm>
          <a:prstGeom prst="rect">
            <a:avLst/>
          </a:prstGeom>
          <a:noFill/>
          <a:ln>
            <a:noFill/>
          </a:ln>
        </p:spPr>
        <p:txBody>
          <a:bodyPr wrap="none" lIns="0" tIns="0" rIns="0" bIns="0" anchor="t">
            <a:noAutofit/>
          </a:bodyPr>
          <a:lstStyle/>
          <a:p>
            <a:pPr algn="l">
              <a:lnSpc>
                <a:spcPts val="1083"/>
              </a:lnSpc>
              <a:spcAft>
                <a:spcPts val="0"/>
              </a:spcAft>
            </a:pPr>
            <a:r>
              <a:rPr lang="en-US" sz="950" b="1" dirty="0">
                <a:solidFill>
                  <a:srgbClr val="6D706B"/>
                </a:solidFill>
                <a:latin typeface="Funnel Sans"/>
              </a:rPr>
              <a:t>OUTCOME MATURITY</a:t>
            </a:r>
            <a:endParaRPr lang="en-US" sz="950"/>
          </a:p>
        </p:txBody>
      </p:sp>
      <p:sp>
        <p:nvSpPr>
          <p:cNvPr id="6" name="shape 6"/>
          <p:cNvSpPr/>
          <p:nvPr/>
        </p:nvSpPr>
        <p:spPr>
          <a:xfrm>
            <a:off x="4864100" y="228600"/>
            <a:ext cx="3797300" cy="292100"/>
          </a:xfrm>
          <a:prstGeom prst="roundRect">
            <a:avLst/>
          </a:prstGeom>
          <a:solidFill>
            <a:srgbClr val="EFEEE9"/>
          </a:solidFill>
          <a:ln>
            <a:noFill/>
          </a:ln>
        </p:spPr>
      </p:sp>
      <p:sp>
        <p:nvSpPr>
          <p:cNvPr id="7" name="text 7"/>
          <p:cNvSpPr/>
          <p:nvPr/>
        </p:nvSpPr>
        <p:spPr>
          <a:xfrm>
            <a:off x="4978400" y="292100"/>
            <a:ext cx="35687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181C23"/>
                </a:solidFill>
                <a:latin typeface="Funnel Sans"/>
              </a:rPr>
              <a:t>Proposed cohort maturity curves</a:t>
            </a:r>
            <a:endParaRPr lang="en-US" sz="1000"/>
          </a:p>
        </p:txBody>
      </p:sp>
      <p:sp>
        <p:nvSpPr>
          <p:cNvPr id="8" name="shape 8"/>
          <p:cNvSpPr/>
          <p:nvPr/>
        </p:nvSpPr>
        <p:spPr>
          <a:xfrm>
            <a:off x="8826500" y="228600"/>
            <a:ext cx="2959100" cy="292100"/>
          </a:xfrm>
          <a:prstGeom prst="roundRect">
            <a:avLst/>
          </a:prstGeom>
          <a:solidFill>
            <a:srgbClr val="FFF2DF"/>
          </a:solidFill>
          <a:ln>
            <a:noFill/>
          </a:ln>
        </p:spPr>
      </p:sp>
      <p:sp>
        <p:nvSpPr>
          <p:cNvPr id="9" name="text 9"/>
          <p:cNvSpPr/>
          <p:nvPr/>
        </p:nvSpPr>
        <p:spPr>
          <a:xfrm>
            <a:off x="8940800" y="292100"/>
            <a:ext cx="2730500" cy="1778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98641E"/>
                </a:solidFill>
                <a:latin typeface="Funnel Sans"/>
              </a:rPr>
              <a:t>Planned · deferred</a:t>
            </a:r>
            <a:endParaRPr lang="en-US" sz="1000"/>
          </a:p>
        </p:txBody>
      </p:sp>
      <p:sp>
        <p:nvSpPr>
          <p:cNvPr id="10" name="text 10"/>
          <p:cNvSpPr/>
          <p:nvPr/>
        </p:nvSpPr>
        <p:spPr>
          <a:xfrm>
            <a:off x="406400" y="698500"/>
            <a:ext cx="11379200" cy="508000"/>
          </a:xfrm>
          <a:prstGeom prst="rect">
            <a:avLst/>
          </a:prstGeom>
          <a:noFill/>
          <a:ln>
            <a:noFill/>
          </a:ln>
        </p:spPr>
        <p:txBody>
          <a:bodyPr wrap="none" lIns="0" tIns="0" rIns="0" bIns="0" anchor="t">
            <a:noAutofit/>
          </a:bodyPr>
          <a:lstStyle/>
          <a:p>
            <a:pPr algn="l">
              <a:lnSpc>
                <a:spcPts val="3192"/>
              </a:lnSpc>
              <a:spcAft>
                <a:spcPts val="0"/>
              </a:spcAft>
            </a:pPr>
            <a:r>
              <a:rPr lang="en-US" sz="2800" b="1" dirty="0">
                <a:solidFill>
                  <a:srgbClr val="181C23"/>
                </a:solidFill>
                <a:latin typeface="Funnel Sans"/>
              </a:rPr>
              <a:t>Seasoning / maturity profile</a:t>
            </a:r>
            <a:endParaRPr lang="en-US" sz="2800"/>
          </a:p>
        </p:txBody>
      </p:sp>
      <p:sp>
        <p:nvSpPr>
          <p:cNvPr id="11" name="text 11"/>
          <p:cNvSpPr/>
          <p:nvPr/>
        </p:nvSpPr>
        <p:spPr>
          <a:xfrm>
            <a:off x="419100" y="1320800"/>
            <a:ext cx="11353800" cy="4445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Identify recent vintages that have not developed far enough for the chosen outcome horizon.</a:t>
            </a:r>
            <a:endParaRPr lang="en-US" sz="1500"/>
          </a:p>
        </p:txBody>
      </p:sp>
      <p:sp>
        <p:nvSpPr>
          <p:cNvPr id="12" name="shape 12"/>
          <p:cNvSpPr/>
          <p:nvPr/>
        </p:nvSpPr>
        <p:spPr>
          <a:xfrm>
            <a:off x="406400" y="1905000"/>
            <a:ext cx="3632200" cy="1549400"/>
          </a:xfrm>
          <a:prstGeom prst="roundRect">
            <a:avLst/>
          </a:prstGeom>
          <a:solidFill>
            <a:srgbClr val="FFFFFF"/>
          </a:solidFill>
          <a:ln w="12700">
            <a:solidFill>
              <a:srgbClr val="DEDCD6"/>
            </a:solidFill>
          </a:ln>
        </p:spPr>
      </p:sp>
      <p:sp>
        <p:nvSpPr>
          <p:cNvPr id="13" name="text 13"/>
          <p:cNvSpPr/>
          <p:nvPr/>
        </p:nvSpPr>
        <p:spPr>
          <a:xfrm>
            <a:off x="571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USER &amp; TRIGGER</a:t>
            </a:r>
            <a:endParaRPr lang="en-US" sz="1000"/>
          </a:p>
        </p:txBody>
      </p:sp>
      <p:sp>
        <p:nvSpPr>
          <p:cNvPr id="14" name="text 14"/>
          <p:cNvSpPr/>
          <p:nvPr/>
        </p:nvSpPr>
        <p:spPr>
          <a:xfrm>
            <a:off x="571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Outcome / model owner + SME</a:t>
            </a:r>
            <a:endParaRPr lang="en-US" sz="1325"/>
          </a:p>
          <a:p>
            <a:pPr algn="l">
              <a:lnSpc>
                <a:spcPts val="1510"/>
              </a:lnSpc>
              <a:spcAft>
                <a:spcPts val="0"/>
              </a:spcAft>
            </a:pPr>
            <a:r>
              <a:rPr lang="en-US" sz="1325" b="0" dirty="0">
                <a:solidFill>
                  <a:srgbClr val="181C23"/>
                </a:solidFill>
                <a:latin typeface="Funnel Sans"/>
              </a:rPr>
              <a:t>Intended before selecting cohorts for</a:t>
            </a:r>
            <a:endParaRPr lang="en-US" sz="1325"/>
          </a:p>
          <a:p>
            <a:pPr algn="l">
              <a:lnSpc>
                <a:spcPts val="1510"/>
              </a:lnSpc>
              <a:spcAft>
                <a:spcPts val="0"/>
              </a:spcAft>
            </a:pPr>
            <a:r>
              <a:rPr lang="en-US" sz="1325" b="0" dirty="0">
                <a:solidFill>
                  <a:srgbClr val="181C23"/>
                </a:solidFill>
                <a:latin typeface="Funnel Sans"/>
              </a:rPr>
              <a:t>outcome estimation.</a:t>
            </a:r>
            <a:endParaRPr lang="en-US" sz="1325"/>
          </a:p>
        </p:txBody>
      </p:sp>
      <p:sp>
        <p:nvSpPr>
          <p:cNvPr id="15" name="shape 15"/>
          <p:cNvSpPr/>
          <p:nvPr/>
        </p:nvSpPr>
        <p:spPr>
          <a:xfrm>
            <a:off x="4279900" y="1905000"/>
            <a:ext cx="3632200" cy="1549400"/>
          </a:xfrm>
          <a:prstGeom prst="roundRect">
            <a:avLst/>
          </a:prstGeom>
          <a:solidFill>
            <a:srgbClr val="FFFFFF"/>
          </a:solidFill>
          <a:ln w="12700">
            <a:solidFill>
              <a:srgbClr val="DEDCD6"/>
            </a:solidFill>
          </a:ln>
        </p:spPr>
      </p:sp>
      <p:sp>
        <p:nvSpPr>
          <p:cNvPr id="16" name="text 16"/>
          <p:cNvSpPr/>
          <p:nvPr/>
        </p:nvSpPr>
        <p:spPr>
          <a:xfrm>
            <a:off x="44450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INPUTS &amp; READINESS</a:t>
            </a:r>
            <a:endParaRPr lang="en-US" sz="1000"/>
          </a:p>
        </p:txBody>
      </p:sp>
      <p:sp>
        <p:nvSpPr>
          <p:cNvPr id="17" name="text 17"/>
          <p:cNvSpPr/>
          <p:nvPr/>
        </p:nvSpPr>
        <p:spPr>
          <a:xfrm>
            <a:off x="44450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Proposed: vintage / origination date,</a:t>
            </a:r>
            <a:endParaRPr lang="en-US" sz="1325"/>
          </a:p>
          <a:p>
            <a:pPr algn="l">
              <a:lnSpc>
                <a:spcPts val="1510"/>
              </a:lnSpc>
              <a:spcAft>
                <a:spcPts val="0"/>
              </a:spcAft>
            </a:pPr>
            <a:r>
              <a:rPr lang="en-US" sz="1325" b="0" dirty="0">
                <a:solidFill>
                  <a:srgbClr val="181C23"/>
                </a:solidFill>
                <a:latin typeface="Funnel Sans"/>
              </a:rPr>
              <a:t>months on book or age, cumulative</a:t>
            </a:r>
            <a:endParaRPr lang="en-US" sz="1325"/>
          </a:p>
          <a:p>
            <a:pPr algn="l">
              <a:lnSpc>
                <a:spcPts val="1510"/>
              </a:lnSpc>
              <a:spcAft>
                <a:spcPts val="0"/>
              </a:spcAft>
            </a:pPr>
            <a:r>
              <a:rPr lang="en-US" sz="1325" b="0" dirty="0">
                <a:solidFill>
                  <a:srgbClr val="181C23"/>
                </a:solidFill>
                <a:latin typeface="Funnel Sans"/>
              </a:rPr>
              <a:t>outcomes, observation cut-off and</a:t>
            </a:r>
            <a:endParaRPr lang="en-US" sz="1325"/>
          </a:p>
          <a:p>
            <a:pPr algn="l">
              <a:lnSpc>
                <a:spcPts val="1510"/>
              </a:lnSpc>
              <a:spcAft>
                <a:spcPts val="0"/>
              </a:spcAft>
            </a:pPr>
            <a:r>
              <a:rPr lang="en-US" sz="1325" b="0" dirty="0">
                <a:solidFill>
                  <a:srgbClr val="181C23"/>
                </a:solidFill>
                <a:latin typeface="Funnel Sans"/>
              </a:rPr>
              <a:t>mature reference cohorts.</a:t>
            </a:r>
            <a:endParaRPr lang="en-US" sz="1325"/>
          </a:p>
        </p:txBody>
      </p:sp>
      <p:sp>
        <p:nvSpPr>
          <p:cNvPr id="18" name="shape 18"/>
          <p:cNvSpPr/>
          <p:nvPr/>
        </p:nvSpPr>
        <p:spPr>
          <a:xfrm>
            <a:off x="8153400" y="1905000"/>
            <a:ext cx="3632200" cy="1549400"/>
          </a:xfrm>
          <a:prstGeom prst="roundRect">
            <a:avLst/>
          </a:prstGeom>
          <a:solidFill>
            <a:srgbClr val="FFF2DF"/>
          </a:solidFill>
          <a:ln w="12700">
            <a:solidFill>
              <a:srgbClr val="DEDCD6"/>
            </a:solidFill>
          </a:ln>
        </p:spPr>
      </p:sp>
      <p:sp>
        <p:nvSpPr>
          <p:cNvPr id="19" name="text 19"/>
          <p:cNvSpPr/>
          <p:nvPr/>
        </p:nvSpPr>
        <p:spPr>
          <a:xfrm>
            <a:off x="8318500" y="2044700"/>
            <a:ext cx="3302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FF4F59"/>
                </a:solidFill>
                <a:latin typeface="Funnel Sans"/>
              </a:rPr>
              <a:t>OUTPUTS &amp; EVIDENCE</a:t>
            </a:r>
            <a:endParaRPr lang="en-US" sz="1000"/>
          </a:p>
        </p:txBody>
      </p:sp>
      <p:sp>
        <p:nvSpPr>
          <p:cNvPr id="20" name="text 20"/>
          <p:cNvSpPr/>
          <p:nvPr/>
        </p:nvSpPr>
        <p:spPr>
          <a:xfrm>
            <a:off x="8318500" y="2349500"/>
            <a:ext cx="3302000" cy="1003300"/>
          </a:xfrm>
          <a:prstGeom prst="rect">
            <a:avLst/>
          </a:prstGeom>
          <a:noFill/>
          <a:ln>
            <a:noFill/>
          </a:ln>
        </p:spPr>
        <p:txBody>
          <a:bodyPr wrap="none" lIns="0" tIns="0" rIns="0" bIns="0" anchor="t">
            <a:noAutofit/>
          </a:bodyPr>
          <a:lstStyle/>
          <a:p>
            <a:pPr algn="l">
              <a:lnSpc>
                <a:spcPts val="1510"/>
              </a:lnSpc>
              <a:spcAft>
                <a:spcPts val="0"/>
              </a:spcAft>
            </a:pPr>
            <a:r>
              <a:rPr lang="en-US" sz="1325" b="0" dirty="0">
                <a:solidFill>
                  <a:srgbClr val="181C23"/>
                </a:solidFill>
                <a:latin typeface="Funnel Sans"/>
              </a:rPr>
              <a:t>Proposed: cumulative outcome /</a:t>
            </a:r>
            <a:endParaRPr lang="en-US" sz="1325"/>
          </a:p>
          <a:p>
            <a:pPr algn="l">
              <a:lnSpc>
                <a:spcPts val="1510"/>
              </a:lnSpc>
              <a:spcAft>
                <a:spcPts val="0"/>
              </a:spcAft>
            </a:pPr>
            <a:r>
              <a:rPr lang="en-US" sz="1325" b="0" dirty="0">
                <a:solidFill>
                  <a:srgbClr val="181C23"/>
                </a:solidFill>
                <a:latin typeface="Funnel Sans"/>
              </a:rPr>
              <a:t>seasoning curves by vintage and cohort</a:t>
            </a:r>
            <a:endParaRPr lang="en-US" sz="1325"/>
          </a:p>
          <a:p>
            <a:pPr algn="l">
              <a:lnSpc>
                <a:spcPts val="1510"/>
              </a:lnSpc>
              <a:spcAft>
                <a:spcPts val="0"/>
              </a:spcAft>
            </a:pPr>
            <a:r>
              <a:rPr lang="en-US" sz="1325" b="0" dirty="0">
                <a:solidFill>
                  <a:srgbClr val="181C23"/>
                </a:solidFill>
                <a:latin typeface="Funnel Sans"/>
              </a:rPr>
              <a:t>maturity gaps at comparable ages.</a:t>
            </a:r>
            <a:endParaRPr lang="en-US" sz="1325"/>
          </a:p>
        </p:txBody>
      </p:sp>
      <p:sp>
        <p:nvSpPr>
          <p:cNvPr id="21" name="text 21"/>
          <p:cNvSpPr/>
          <p:nvPr/>
        </p:nvSpPr>
        <p:spPr>
          <a:xfrm>
            <a:off x="406400" y="3606800"/>
            <a:ext cx="77470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PROCESSING FLOW</a:t>
            </a:r>
            <a:endParaRPr lang="en-US" sz="1000"/>
          </a:p>
        </p:txBody>
      </p:sp>
      <p:sp>
        <p:nvSpPr>
          <p:cNvPr id="22" name="shape 22"/>
          <p:cNvSpPr/>
          <p:nvPr/>
        </p:nvSpPr>
        <p:spPr>
          <a:xfrm>
            <a:off x="406400" y="3898900"/>
            <a:ext cx="2113280" cy="774700"/>
          </a:xfrm>
          <a:prstGeom prst="roundRect">
            <a:avLst/>
          </a:prstGeom>
          <a:solidFill>
            <a:srgbClr val="FFF2DF"/>
          </a:solidFill>
          <a:ln>
            <a:noFill/>
          </a:ln>
        </p:spPr>
      </p:sp>
      <p:sp>
        <p:nvSpPr>
          <p:cNvPr id="23" name="text 23"/>
          <p:cNvSpPr/>
          <p:nvPr/>
        </p:nvSpPr>
        <p:spPr>
          <a:xfrm>
            <a:off x="53340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01</a:t>
            </a:r>
            <a:endParaRPr lang="en-US" sz="1200"/>
          </a:p>
        </p:txBody>
      </p:sp>
      <p:sp>
        <p:nvSpPr>
          <p:cNvPr id="24" name="text 24"/>
          <p:cNvSpPr/>
          <p:nvPr/>
        </p:nvSpPr>
        <p:spPr>
          <a:xfrm>
            <a:off x="87630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Define</a:t>
            </a:r>
            <a:endParaRPr lang="en-US" sz="1250"/>
          </a:p>
        </p:txBody>
      </p:sp>
      <p:sp>
        <p:nvSpPr>
          <p:cNvPr id="25" name="text 25"/>
          <p:cNvSpPr/>
          <p:nvPr/>
        </p:nvSpPr>
        <p:spPr>
          <a:xfrm>
            <a:off x="53340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Vintages + horizon</a:t>
            </a:r>
            <a:endParaRPr lang="en-US" sz="1100"/>
          </a:p>
        </p:txBody>
      </p:sp>
      <p:cxnSp>
        <p:nvCxnSpPr>
          <p:cNvPr id="26" name="connector 26"/>
          <p:cNvCxnSpPr/>
          <p:nvPr/>
        </p:nvCxnSpPr>
        <p:spPr>
          <a:xfrm>
            <a:off x="254508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2722880" y="3898900"/>
            <a:ext cx="2113280" cy="774700"/>
          </a:xfrm>
          <a:prstGeom prst="roundRect">
            <a:avLst/>
          </a:prstGeom>
          <a:solidFill>
            <a:srgbClr val="FFF2DF"/>
          </a:solidFill>
          <a:ln>
            <a:noFill/>
          </a:ln>
        </p:spPr>
      </p:sp>
      <p:sp>
        <p:nvSpPr>
          <p:cNvPr id="28" name="text 28"/>
          <p:cNvSpPr/>
          <p:nvPr/>
        </p:nvSpPr>
        <p:spPr>
          <a:xfrm>
            <a:off x="284988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02</a:t>
            </a:r>
            <a:endParaRPr lang="en-US" sz="1200"/>
          </a:p>
        </p:txBody>
      </p:sp>
      <p:sp>
        <p:nvSpPr>
          <p:cNvPr id="29" name="text 29"/>
          <p:cNvSpPr/>
          <p:nvPr/>
        </p:nvSpPr>
        <p:spPr>
          <a:xfrm>
            <a:off x="319278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Align</a:t>
            </a:r>
            <a:endParaRPr lang="en-US" sz="1250"/>
          </a:p>
        </p:txBody>
      </p:sp>
      <p:sp>
        <p:nvSpPr>
          <p:cNvPr id="30" name="text 30"/>
          <p:cNvSpPr/>
          <p:nvPr/>
        </p:nvSpPr>
        <p:spPr>
          <a:xfrm>
            <a:off x="284988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Age / months on book</a:t>
            </a:r>
            <a:endParaRPr lang="en-US" sz="1100"/>
          </a:p>
        </p:txBody>
      </p:sp>
      <p:cxnSp>
        <p:nvCxnSpPr>
          <p:cNvPr id="31" name="connector 31"/>
          <p:cNvCxnSpPr/>
          <p:nvPr/>
        </p:nvCxnSpPr>
        <p:spPr>
          <a:xfrm>
            <a:off x="486156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2" name="shape 32"/>
          <p:cNvSpPr/>
          <p:nvPr/>
        </p:nvSpPr>
        <p:spPr>
          <a:xfrm>
            <a:off x="5039360" y="3898900"/>
            <a:ext cx="2113280" cy="774700"/>
          </a:xfrm>
          <a:prstGeom prst="roundRect">
            <a:avLst/>
          </a:prstGeom>
          <a:solidFill>
            <a:srgbClr val="FFF2DF"/>
          </a:solidFill>
          <a:ln>
            <a:noFill/>
          </a:ln>
        </p:spPr>
      </p:sp>
      <p:sp>
        <p:nvSpPr>
          <p:cNvPr id="33" name="text 33"/>
          <p:cNvSpPr/>
          <p:nvPr/>
        </p:nvSpPr>
        <p:spPr>
          <a:xfrm>
            <a:off x="516636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03</a:t>
            </a:r>
            <a:endParaRPr lang="en-US" sz="1200"/>
          </a:p>
        </p:txBody>
      </p:sp>
      <p:sp>
        <p:nvSpPr>
          <p:cNvPr id="34" name="text 34"/>
          <p:cNvSpPr/>
          <p:nvPr/>
        </p:nvSpPr>
        <p:spPr>
          <a:xfrm>
            <a:off x="550926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Profile</a:t>
            </a:r>
            <a:endParaRPr lang="en-US" sz="1250"/>
          </a:p>
        </p:txBody>
      </p:sp>
      <p:sp>
        <p:nvSpPr>
          <p:cNvPr id="35" name="text 35"/>
          <p:cNvSpPr/>
          <p:nvPr/>
        </p:nvSpPr>
        <p:spPr>
          <a:xfrm>
            <a:off x="516636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Cumulative outcomes</a:t>
            </a:r>
            <a:endParaRPr lang="en-US" sz="1100"/>
          </a:p>
        </p:txBody>
      </p:sp>
      <p:cxnSp>
        <p:nvCxnSpPr>
          <p:cNvPr id="36" name="connector 36"/>
          <p:cNvCxnSpPr/>
          <p:nvPr/>
        </p:nvCxnSpPr>
        <p:spPr>
          <a:xfrm>
            <a:off x="717804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7" name="shape 37"/>
          <p:cNvSpPr/>
          <p:nvPr/>
        </p:nvSpPr>
        <p:spPr>
          <a:xfrm>
            <a:off x="7355840" y="3898900"/>
            <a:ext cx="2113280" cy="774700"/>
          </a:xfrm>
          <a:prstGeom prst="roundRect">
            <a:avLst/>
          </a:prstGeom>
          <a:solidFill>
            <a:srgbClr val="FFF2DF"/>
          </a:solidFill>
          <a:ln>
            <a:noFill/>
          </a:ln>
        </p:spPr>
      </p:sp>
      <p:sp>
        <p:nvSpPr>
          <p:cNvPr id="38" name="text 38"/>
          <p:cNvSpPr/>
          <p:nvPr/>
        </p:nvSpPr>
        <p:spPr>
          <a:xfrm>
            <a:off x="748284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04</a:t>
            </a:r>
            <a:endParaRPr lang="en-US" sz="1200"/>
          </a:p>
        </p:txBody>
      </p:sp>
      <p:sp>
        <p:nvSpPr>
          <p:cNvPr id="39" name="text 39"/>
          <p:cNvSpPr/>
          <p:nvPr/>
        </p:nvSpPr>
        <p:spPr>
          <a:xfrm>
            <a:off x="782574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Compare</a:t>
            </a:r>
            <a:endParaRPr lang="en-US" sz="1250"/>
          </a:p>
        </p:txBody>
      </p:sp>
      <p:sp>
        <p:nvSpPr>
          <p:cNvPr id="40" name="text 40"/>
          <p:cNvSpPr/>
          <p:nvPr/>
        </p:nvSpPr>
        <p:spPr>
          <a:xfrm>
            <a:off x="748284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Mature seasoning</a:t>
            </a:r>
            <a:endParaRPr lang="en-US" sz="1100"/>
          </a:p>
        </p:txBody>
      </p:sp>
      <p:cxnSp>
        <p:nvCxnSpPr>
          <p:cNvPr id="41" name="connector 41"/>
          <p:cNvCxnSpPr/>
          <p:nvPr/>
        </p:nvCxnSpPr>
        <p:spPr>
          <a:xfrm>
            <a:off x="9494520" y="4279900"/>
            <a:ext cx="139700" cy="0"/>
          </a:xfrm>
          <a:prstGeom prst="line">
            <a:avLst/>
          </a:prstGeom>
          <a:ln w="1651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9672320" y="3898900"/>
            <a:ext cx="2113280" cy="774700"/>
          </a:xfrm>
          <a:prstGeom prst="roundRect">
            <a:avLst/>
          </a:prstGeom>
          <a:solidFill>
            <a:srgbClr val="FFF2DF"/>
          </a:solidFill>
          <a:ln>
            <a:noFill/>
          </a:ln>
        </p:spPr>
      </p:sp>
      <p:sp>
        <p:nvSpPr>
          <p:cNvPr id="43" name="text 43"/>
          <p:cNvSpPr/>
          <p:nvPr/>
        </p:nvSpPr>
        <p:spPr>
          <a:xfrm>
            <a:off x="9799320" y="4025900"/>
            <a:ext cx="304800" cy="2286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4F59"/>
                </a:solidFill>
                <a:latin typeface="Funnel Sans"/>
              </a:rPr>
              <a:t>05</a:t>
            </a:r>
            <a:endParaRPr lang="en-US" sz="1200"/>
          </a:p>
        </p:txBody>
      </p:sp>
      <p:sp>
        <p:nvSpPr>
          <p:cNvPr id="44" name="text 44"/>
          <p:cNvSpPr/>
          <p:nvPr/>
        </p:nvSpPr>
        <p:spPr>
          <a:xfrm>
            <a:off x="10142220" y="4025900"/>
            <a:ext cx="1516380" cy="2413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181C23"/>
                </a:solidFill>
                <a:latin typeface="Funnel Sans"/>
              </a:rPr>
              <a:t>Review</a:t>
            </a:r>
            <a:endParaRPr lang="en-US" sz="1250"/>
          </a:p>
        </p:txBody>
      </p:sp>
      <p:sp>
        <p:nvSpPr>
          <p:cNvPr id="45" name="text 45"/>
          <p:cNvSpPr/>
          <p:nvPr/>
        </p:nvSpPr>
        <p:spPr>
          <a:xfrm>
            <a:off x="9799320" y="4343400"/>
            <a:ext cx="1859280" cy="254000"/>
          </a:xfrm>
          <a:prstGeom prst="rect">
            <a:avLst/>
          </a:prstGeom>
          <a:noFill/>
          <a:ln>
            <a:noFill/>
          </a:ln>
        </p:spPr>
        <p:txBody>
          <a:bodyPr wrap="none" lIns="0" tIns="0" rIns="0" bIns="0" anchor="t">
            <a:noAutofit/>
          </a:bodyPr>
          <a:lstStyle/>
          <a:p>
            <a:pPr algn="l">
              <a:lnSpc>
                <a:spcPts val="1254"/>
              </a:lnSpc>
              <a:spcAft>
                <a:spcPts val="0"/>
              </a:spcAft>
            </a:pPr>
            <a:r>
              <a:rPr lang="en-US" sz="1100" b="0" dirty="0">
                <a:solidFill>
                  <a:srgbClr val="6D706B"/>
                </a:solidFill>
                <a:latin typeface="Funnel Sans"/>
              </a:rPr>
              <a:t>Cohort readiness</a:t>
            </a:r>
            <a:endParaRPr lang="en-US" sz="1100"/>
          </a:p>
        </p:txBody>
      </p:sp>
      <p:sp>
        <p:nvSpPr>
          <p:cNvPr id="46" name="shape 46"/>
          <p:cNvSpPr/>
          <p:nvPr/>
        </p:nvSpPr>
        <p:spPr>
          <a:xfrm>
            <a:off x="406400" y="4851400"/>
            <a:ext cx="5562600" cy="1206500"/>
          </a:xfrm>
          <a:prstGeom prst="roundRect">
            <a:avLst/>
          </a:prstGeom>
          <a:solidFill>
            <a:srgbClr val="FFFFFF"/>
          </a:solidFill>
          <a:ln w="12700">
            <a:solidFill>
              <a:srgbClr val="DEDCD6"/>
            </a:solidFill>
          </a:ln>
        </p:spPr>
      </p:sp>
      <p:sp>
        <p:nvSpPr>
          <p:cNvPr id="47" name="text 47"/>
          <p:cNvSpPr/>
          <p:nvPr/>
        </p:nvSpPr>
        <p:spPr>
          <a:xfrm>
            <a:off x="5715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FINDING → ISSUE</a:t>
            </a:r>
            <a:endParaRPr lang="en-US" sz="1000"/>
          </a:p>
        </p:txBody>
      </p:sp>
      <p:sp>
        <p:nvSpPr>
          <p:cNvPr id="48" name="text 48"/>
          <p:cNvSpPr/>
          <p:nvPr/>
        </p:nvSpPr>
        <p:spPr>
          <a:xfrm>
            <a:off x="5715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Proposed gate: recent vintages below the use-case maturity profile</a:t>
            </a:r>
            <a:endParaRPr lang="en-US" sz="1250"/>
          </a:p>
          <a:p>
            <a:pPr algn="l">
              <a:lnSpc>
                <a:spcPts val="1425"/>
              </a:lnSpc>
              <a:spcAft>
                <a:spcPts val="0"/>
              </a:spcAft>
            </a:pPr>
            <a:r>
              <a:rPr lang="en-US" sz="1250" b="0" dirty="0">
                <a:solidFill>
                  <a:srgbClr val="181C23"/>
                </a:solidFill>
                <a:latin typeface="Funnel Sans"/>
              </a:rPr>
              <a:t>trigger review. Separate shorter observation windows from incomplete</a:t>
            </a:r>
            <a:endParaRPr lang="en-US" sz="1250"/>
          </a:p>
          <a:p>
            <a:pPr algn="l">
              <a:lnSpc>
                <a:spcPts val="1425"/>
              </a:lnSpc>
              <a:spcAft>
                <a:spcPts val="0"/>
              </a:spcAft>
            </a:pPr>
            <a:r>
              <a:rPr lang="en-US" sz="1250" b="0" dirty="0">
                <a:solidFill>
                  <a:srgbClr val="181C23"/>
                </a:solidFill>
                <a:latin typeface="Funnel Sans"/>
              </a:rPr>
              <a:t>or late source capture.</a:t>
            </a:r>
            <a:endParaRPr lang="en-US" sz="1250"/>
          </a:p>
        </p:txBody>
      </p:sp>
      <p:sp>
        <p:nvSpPr>
          <p:cNvPr id="49" name="shape 49"/>
          <p:cNvSpPr/>
          <p:nvPr/>
        </p:nvSpPr>
        <p:spPr>
          <a:xfrm>
            <a:off x="6223000" y="4851400"/>
            <a:ext cx="5562600" cy="1206500"/>
          </a:xfrm>
          <a:prstGeom prst="roundRect">
            <a:avLst/>
          </a:prstGeom>
          <a:solidFill>
            <a:srgbClr val="FFFFFF"/>
          </a:solidFill>
          <a:ln w="12700">
            <a:solidFill>
              <a:srgbClr val="DEDCD6"/>
            </a:solidFill>
          </a:ln>
        </p:spPr>
      </p:sp>
      <p:sp>
        <p:nvSpPr>
          <p:cNvPr id="50" name="text 50"/>
          <p:cNvSpPr/>
          <p:nvPr/>
        </p:nvSpPr>
        <p:spPr>
          <a:xfrm>
            <a:off x="6388100" y="4991100"/>
            <a:ext cx="5232400" cy="203200"/>
          </a:xfrm>
          <a:prstGeom prst="rect">
            <a:avLst/>
          </a:prstGeom>
          <a:noFill/>
          <a:ln>
            <a:noFill/>
          </a:ln>
        </p:spPr>
        <p:txBody>
          <a:bodyPr wrap="none" lIns="0" tIns="0" rIns="0" bIns="0" anchor="t">
            <a:noAutofit/>
          </a:bodyPr>
          <a:lstStyle/>
          <a:p>
            <a:pPr algn="l">
              <a:lnSpc>
                <a:spcPts val="1140"/>
              </a:lnSpc>
              <a:spcAft>
                <a:spcPts val="0"/>
              </a:spcAft>
            </a:pPr>
            <a:r>
              <a:rPr lang="en-US" sz="1000" b="1" dirty="0">
                <a:solidFill>
                  <a:srgbClr val="6D706B"/>
                </a:solidFill>
                <a:latin typeface="Funnel Sans"/>
              </a:rPr>
              <a:t>PROPOSED RCA → ACTION</a:t>
            </a:r>
            <a:endParaRPr lang="en-US" sz="1000"/>
          </a:p>
        </p:txBody>
      </p:sp>
      <p:sp>
        <p:nvSpPr>
          <p:cNvPr id="51" name="text 51"/>
          <p:cNvSpPr/>
          <p:nvPr/>
        </p:nvSpPr>
        <p:spPr>
          <a:xfrm>
            <a:off x="6388100" y="5295900"/>
            <a:ext cx="5232400" cy="6604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Proposed: inspect elapsed horizon, reporting delay and genuine</a:t>
            </a:r>
            <a:endParaRPr lang="en-US" sz="1250"/>
          </a:p>
          <a:p>
            <a:pPr algn="l">
              <a:lnSpc>
                <a:spcPts val="1425"/>
              </a:lnSpc>
              <a:spcAft>
                <a:spcPts val="0"/>
              </a:spcAft>
            </a:pPr>
            <a:r>
              <a:rPr lang="en-US" sz="1250" b="0" dirty="0">
                <a:solidFill>
                  <a:srgbClr val="181C23"/>
                </a:solidFill>
                <a:latin typeface="Funnel Sans"/>
              </a:rPr>
              <a:t>cohort effects. Wait for maturation, revise eligible cohorts or correct</a:t>
            </a:r>
            <a:endParaRPr lang="en-US" sz="1250"/>
          </a:p>
          <a:p>
            <a:pPr algn="l">
              <a:lnSpc>
                <a:spcPts val="1425"/>
              </a:lnSpc>
              <a:spcAft>
                <a:spcPts val="0"/>
              </a:spcAft>
            </a:pPr>
            <a:r>
              <a:rPr lang="en-US" sz="1250" b="0" dirty="0">
                <a:solidFill>
                  <a:srgbClr val="181C23"/>
                </a:solidFill>
                <a:latin typeface="Funnel Sans"/>
              </a:rPr>
              <a:t>source capture, then reassess.</a:t>
            </a:r>
            <a:endParaRPr lang="en-US" sz="1250"/>
          </a:p>
        </p:txBody>
      </p:sp>
      <p:sp>
        <p:nvSpPr>
          <p:cNvPr id="52" name="shape 52"/>
          <p:cNvSpPr/>
          <p:nvPr/>
        </p:nvSpPr>
        <p:spPr>
          <a:xfrm>
            <a:off x="406400" y="6172200"/>
            <a:ext cx="11379200" cy="292100"/>
          </a:xfrm>
          <a:prstGeom prst="roundRect">
            <a:avLst/>
          </a:prstGeom>
          <a:solidFill>
            <a:srgbClr val="282A27"/>
          </a:solidFill>
          <a:ln>
            <a:noFill/>
          </a:ln>
        </p:spPr>
      </p:sp>
      <p:sp>
        <p:nvSpPr>
          <p:cNvPr id="53" name="text 53"/>
          <p:cNvSpPr/>
          <p:nvPr/>
        </p:nvSpPr>
        <p:spPr>
          <a:xfrm>
            <a:off x="546100" y="6235700"/>
            <a:ext cx="11099800" cy="203200"/>
          </a:xfrm>
          <a:prstGeom prst="rect">
            <a:avLst/>
          </a:prstGeom>
          <a:noFill/>
          <a:ln>
            <a:noFill/>
          </a:ln>
        </p:spPr>
        <p:txBody>
          <a:bodyPr wrap="none" lIns="0" tIns="0" rIns="0" bIns="0" anchor="t">
            <a:noAutofit/>
          </a:bodyPr>
          <a:lstStyle/>
          <a:p>
            <a:pPr algn="l">
              <a:lnSpc>
                <a:spcPts val="1197"/>
              </a:lnSpc>
              <a:spcAft>
                <a:spcPts val="0"/>
              </a:spcAft>
            </a:pPr>
            <a:r>
              <a:rPr lang="en-US" sz="1050" b="0" dirty="0">
                <a:solidFill>
                  <a:srgbClr val="FFFFFF"/>
                </a:solidFill>
                <a:latin typeface="Funnel Sans"/>
              </a:rPr>
              <a:t>Deferred catalog diagnostic: not registered or executable. Maturity thresholds depend on outcome and use case.</a:t>
            </a:r>
            <a:endParaRPr lang="en-US" sz="1050"/>
          </a:p>
        </p:txBody>
      </p:sp>
      <p:cxnSp>
        <p:nvCxnSpPr>
          <p:cNvPr id="54" name="connector 54"/>
          <p:cNvCxnSpPr/>
          <p:nvPr/>
        </p:nvCxnSpPr>
        <p:spPr>
          <a:xfrm>
            <a:off x="406400" y="6553200"/>
            <a:ext cx="113792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55" name="text 55"/>
          <p:cNvSpPr/>
          <p:nvPr/>
        </p:nvSpPr>
        <p:spPr>
          <a:xfrm>
            <a:off x="406400" y="6629400"/>
            <a:ext cx="5715000" cy="152400"/>
          </a:xfrm>
          <a:prstGeom prst="rect">
            <a:avLst/>
          </a:prstGeom>
          <a:noFill/>
          <a:ln>
            <a:noFill/>
          </a:ln>
        </p:spPr>
        <p:txBody>
          <a:bodyPr wrap="none" lIns="0" tIns="0" rIns="0" bIns="0" anchor="t">
            <a:noAutofit/>
          </a:bodyPr>
          <a:lstStyle/>
          <a:p>
            <a:pPr algn="l">
              <a:lnSpc>
                <a:spcPts val="969"/>
              </a:lnSpc>
              <a:spcAft>
                <a:spcPts val="0"/>
              </a:spcAft>
            </a:pPr>
            <a:r>
              <a:rPr lang="en-US" sz="850" b="0" dirty="0">
                <a:solidFill>
                  <a:srgbClr val="6D706B"/>
                </a:solidFill>
                <a:latin typeface="Funnel Sans"/>
              </a:rPr>
              <a:t>DATA WORKBENCH / Diagnostic quick reference</a:t>
            </a:r>
            <a:endParaRPr lang="en-US" sz="850"/>
          </a:p>
        </p:txBody>
      </p:sp>
      <p:sp>
        <p:nvSpPr>
          <p:cNvPr id="56" name="text 56"/>
          <p:cNvSpPr/>
          <p:nvPr/>
        </p:nvSpPr>
        <p:spPr>
          <a:xfrm>
            <a:off x="6223000" y="6629400"/>
            <a:ext cx="4254500" cy="152400"/>
          </a:xfrm>
          <a:prstGeom prst="rect">
            <a:avLst/>
          </a:prstGeom>
          <a:noFill/>
          <a:ln>
            <a:noFill/>
          </a:ln>
        </p:spPr>
        <p:txBody>
          <a:bodyPr wrap="none" lIns="0" tIns="0" rIns="0" bIns="0" anchor="t">
            <a:noAutofit/>
          </a:bodyPr>
          <a:lstStyle/>
          <a:p>
            <a:pPr algn="r">
              <a:lnSpc>
                <a:spcPts val="969"/>
              </a:lnSpc>
              <a:spcAft>
                <a:spcPts val="0"/>
              </a:spcAft>
            </a:pPr>
            <a:r>
              <a:rPr lang="en-US" sz="850" b="0" dirty="0">
                <a:solidFill>
                  <a:srgbClr val="6D706B"/>
                </a:solidFill>
                <a:latin typeface="Funnel Sans"/>
              </a:rPr>
              <a:t>Full deck: slide 73</a:t>
            </a:r>
            <a:endParaRPr lang="en-US" sz="850"/>
          </a:p>
        </p:txBody>
      </p:sp>
      <p:sp>
        <p:nvSpPr>
          <p:cNvPr id="57" name="text 57"/>
          <p:cNvSpPr/>
          <p:nvPr/>
        </p:nvSpPr>
        <p:spPr>
          <a:xfrm>
            <a:off x="10795000" y="6616700"/>
            <a:ext cx="990600" cy="177800"/>
          </a:xfrm>
          <a:prstGeom prst="rect">
            <a:avLst/>
          </a:prstGeom>
          <a:noFill/>
          <a:ln>
            <a:noFill/>
          </a:ln>
        </p:spPr>
        <p:txBody>
          <a:bodyPr wrap="none" lIns="0" tIns="0" rIns="0" bIns="0" anchor="t">
            <a:noAutofit/>
          </a:bodyPr>
          <a:lstStyle/>
          <a:p>
            <a:pPr algn="r">
              <a:lnSpc>
                <a:spcPts val="1083"/>
              </a:lnSpc>
              <a:spcAft>
                <a:spcPts val="0"/>
              </a:spcAft>
            </a:pPr>
            <a:r>
              <a:rPr lang="en-US" sz="950" b="0" dirty="0">
                <a:solidFill>
                  <a:srgbClr val="6D706B"/>
                </a:solidFill>
                <a:latin typeface="Funnel Sans"/>
              </a:rPr>
              <a:t>22 / 22</a:t>
            </a:r>
            <a:endParaRPr lang="en-US" sz="9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FF4F59"/>
      </a:accent1>
      <a:accent2>
        <a:srgbClr val="181C23"/>
      </a:accent2>
      <a:accent3>
        <a:srgbClr val="FFF2DF"/>
      </a:accent3>
      <a:accent4>
        <a:srgbClr val="276B57"/>
      </a:accent4>
      <a:accent5>
        <a:srgbClr val="6A557F"/>
      </a:accent5>
      <a:accent6>
        <a:srgbClr val="6D706B"/>
      </a:accent6>
      <a:hlink>
        <a:srgbClr val="467886"/>
      </a:hlink>
      <a:folHlink>
        <a:srgbClr val="96607D"/>
      </a:folHlink>
    </a:clrScheme>
    <a:fontScheme name="Office">
      <a:majorFont>
        <a:latin typeface="Funnel Sans"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unnel San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19423</Words>
  <Application>Microsoft Office PowerPoint</Application>
  <PresentationFormat>Widescreen</PresentationFormat>
  <Paragraphs>2332</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Arial</vt:lpstr>
      <vt:lpstr>Funnel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Genpact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Workbench - One Page per Diagnostic</dc:title>
  <dc:subject>Editable condensed diagnostic reference; companion to full 87-slide product presentation</dc:subject>
  <dc:creator>Data Workbench</dc:creator>
  <cp:keywords>Data Workbench, diagnostics, RCA, editable, compact, repository baseline 0.5.2</cp:keywords>
  <cp:lastModifiedBy>Bollineni, Harsha</cp:lastModifiedBy>
  <cp:revision>3</cp:revision>
  <dcterms:created xsi:type="dcterms:W3CDTF">2026-09-07T05:42:15Z</dcterms:created>
  <dcterms:modified xsi:type="dcterms:W3CDTF">2026-09-07T06:27:27Z</dcterms:modified>
</cp:coreProperties>
</file>