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 Product, framework and people" id="{EFA70D4E-2A80-478D-8D2C-84BA11539F17}">
          <p14:sldIdLst>
            <p14:sldId id="256"/>
            <p14:sldId id="257"/>
            <p14:sldId id="258"/>
            <p14:sldId id="259"/>
            <p14:sldId id="260"/>
            <p14:sldId id="261"/>
            <p14:sldId id="262"/>
            <p14:sldId id="263"/>
          </p14:sldIdLst>
        </p14:section>
        <p14:section name="02 End-to-end journey" id="{FE350964-363E-4C15-919F-230912D3BD32}">
          <p14:sldIdLst>
            <p14:sldId id="264"/>
            <p14:sldId id="265"/>
            <p14:sldId id="266"/>
            <p14:sldId id="267"/>
            <p14:sldId id="268"/>
            <p14:sldId id="269"/>
            <p14:sldId id="270"/>
            <p14:sldId id="271"/>
            <p14:sldId id="272"/>
            <p14:sldId id="273"/>
          </p14:sldIdLst>
        </p14:section>
        <p14:section name="03 Diagnostic catalog" id="{501AA625-84F5-4C61-9A1A-2F06F3088736}">
          <p14:sldIdLst>
            <p14:sldId id="274"/>
            <p14:sldId id="275"/>
            <p14:sldId id="276"/>
            <p14:sldId id="277"/>
            <p14:sldId id="278"/>
            <p14:sldId id="279"/>
            <p14:sldId id="280"/>
            <p14:sldId id="281"/>
          </p14:sldIdLst>
        </p14:section>
        <p14:section name="04A T1-D02 Target separation" id="{A9DF1844-3574-4DFE-A18B-C03199F4DC99}">
          <p14:sldIdLst>
            <p14:sldId id="282"/>
            <p14:sldId id="283"/>
            <p14:sldId id="284"/>
            <p14:sldId id="285"/>
            <p14:sldId id="286"/>
          </p14:sldIdLst>
        </p14:section>
        <p14:section name="04B T2-D04 Cross-field rule - paused" id="{5AF345EA-5910-4E9D-99F7-0A6E8CB5EE71}">
          <p14:sldIdLst>
            <p14:sldId id="287"/>
            <p14:sldId id="288"/>
            <p14:sldId id="289"/>
            <p14:sldId id="290"/>
            <p14:sldId id="291"/>
          </p14:sldIdLst>
        </p14:section>
        <p14:section name="04C T2-D06 Row completeness" id="{777F3DE4-9B97-41F8-8535-8FD1DEAC26A1}">
          <p14:sldIdLst>
            <p14:sldId id="292"/>
            <p14:sldId id="293"/>
            <p14:sldId id="294"/>
            <p14:sldId id="295"/>
            <p14:sldId id="296"/>
          </p14:sldIdLst>
        </p14:section>
        <p14:section name="04D T2-D08 Value semantics" id="{B1017BAE-A1CB-4569-8F93-346C37459CE8}">
          <p14:sldIdLst>
            <p14:sldId id="297"/>
            <p14:sldId id="298"/>
            <p14:sldId id="299"/>
            <p14:sldId id="300"/>
            <p14:sldId id="301"/>
          </p14:sldIdLst>
        </p14:section>
        <p14:section name="04E T2-D11 Directional consistency" id="{6F7E06DE-4F0A-41E9-9D29-E4B8467FD16E}">
          <p14:sldIdLst>
            <p14:sldId id="302"/>
            <p14:sldId id="303"/>
            <p14:sldId id="304"/>
            <p14:sldId id="305"/>
            <p14:sldId id="306"/>
          </p14:sldIdLst>
        </p14:section>
        <p14:section name="04F T4-D14 Population stability" id="{14E1B1F0-525C-423A-AE9F-1EB4823B185C}">
          <p14:sldIdLst>
            <p14:sldId id="307"/>
            <p14:sldId id="308"/>
            <p14:sldId id="309"/>
            <p14:sldId id="310"/>
            <p14:sldId id="311"/>
          </p14:sldIdLst>
        </p14:section>
        <p14:section name="05 Supporting missingness investigation" id="{9CA0F659-646D-49F2-A222-1FB2A0557714}">
          <p14:sldIdLst>
            <p14:sldId id="312"/>
            <p14:sldId id="313"/>
            <p14:sldId id="314"/>
          </p14:sldIdLst>
        </p14:section>
        <p14:section name="06A Registered planned workflows" id="{7BEDF660-F2D0-4449-AD10-78B00C815CEF}">
          <p14:sldIdLst>
            <p14:sldId id="315"/>
            <p14:sldId id="316"/>
            <p14:sldId id="317"/>
          </p14:sldIdLst>
        </p14:section>
        <p14:section name="06B Deferred diagnostics" id="{7A4630FF-1B64-452E-BAAF-B25FD29AB3A6}">
          <p14:sldIdLst>
            <p14:sldId id="318"/>
            <p14:sldId id="319"/>
            <p14:sldId id="320"/>
            <p14:sldId id="321"/>
            <p14:sldId id="322"/>
            <p14:sldId id="323"/>
            <p14:sldId id="324"/>
            <p14:sldId id="325"/>
            <p14:sldId id="326"/>
            <p14:sldId id="327"/>
            <p14:sldId id="328"/>
          </p14:sldIdLst>
        </p14:section>
        <p14:section name="07 Appendices and source traceability" id="{3AF7BEF2-807C-4229-85F4-BC15BAC7EE6C}">
          <p14:sldIdLst>
            <p14:sldId id="329"/>
            <p14:sldId id="330"/>
            <p14:sldId id="331"/>
            <p14:sldId id="332"/>
            <p14:sldId id="333"/>
            <p14:sldId id="334"/>
            <p14:sldId id="335"/>
            <p14:sldId id="336"/>
            <p14:sldId id="337"/>
            <p14:sldId id="338"/>
            <p14:sldId id="339"/>
            <p14:sldId id="340"/>
            <p14:sldId id="341"/>
            <p14:sldId id="34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6E49A7-60C6-47D9-AE8A-1F964BF5BDBA}" type="datetimeFigureOut">
              <a:rPr lang="en-IN" smtClean="0"/>
              <a:t>07-09-2026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0524B-625A-43DD-9139-EFC19AAB9059}" type="slidenum">
              <a:rPr lang="en-IN" smtClean="0"/>
              <a:t>‹#›</a:t>
            </a:fld>
            <a:endParaRPr lang="en-IN"/>
          </a:p>
        </p:txBody>
      </p:sp>
    </p:spTree>
    <p:extLst>
      <p:ext uri="{BB962C8B-B14F-4D97-AF65-F5344CB8AC3E}">
        <p14:creationId xmlns:p14="http://schemas.microsoft.com/office/powerpoint/2010/main" val="2477632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Data Workbench</a:t>
            </a:r>
          </a:p>
          <a:p>
            <a:endParaRPr/>
          </a:p>
          <a:p>
            <a:r>
              <a:t>Requested product name is Data Workbench. The repository also uses Archimedes, DQ Studio and Aegis Labs. This deck uses the requested name consistently. Current-state claims reflect the working tree on 07 September 2026, including uncommitted diagnostic changes. All visible elements are native editable PowerPoint text/shapes; no slide screenshots.</a:t>
            </a:r>
          </a:p>
          <a:p>
            <a:endParaRPr/>
          </a:p>
          <a:p>
            <a:r>
              <a:t>SOURCES</a:t>
            </a:r>
          </a:p>
          <a:p>
            <a:r>
              <a:t>[S05] source-codes/README.md — Current release 0.5.2</a:t>
            </a:r>
          </a:p>
          <a:p>
            <a:r>
              <a:t>[S06] source-codes/USER_GUIDE.md — Source, diagnose, manage findings and RCA</a:t>
            </a:r>
          </a:p>
          <a:p>
            <a:r>
              <a:t>[S04] documentation/Presentations/AI and Accelerators_Risk.pptx — Slide 4: visual structure only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Turn data-quality signals into reviewable decisions</a:t>
            </a:r>
          </a:p>
          <a:p>
            <a:endParaRPr/>
          </a:p>
          <a:p>
            <a:r>
              <a:t>Five enabled IDs are 2, 6, 8, 11 and 14. ID 4 has code, UI and tests but workflow_pending blocks launch. IDs 12, 17 and 20 are registered workflow_pending. Counts are configuration/code findings, not deployment performance measures. Target outcomes are qualitative; no measured ROI is claimed.</a:t>
            </a:r>
          </a:p>
          <a:p>
            <a:endParaRPr/>
          </a:p>
          <a:p>
            <a:r>
              <a:t>SOURCES</a:t>
            </a:r>
          </a:p>
          <a:p>
            <a:r>
              <a:t>[S01] documentation/Presentations/DQ Framework_Analytics and Modeling.xlsx — Framework_Overview rows 2–8</a:t>
            </a:r>
          </a:p>
          <a:p>
            <a:r>
              <a:t>[S06] source-codes/USER_GUIDE.md — Run a diagnostic; Manage findings and RCA</a:t>
            </a:r>
          </a:p>
          <a:p>
            <a:r>
              <a:t>[S08] source-codes/backend/knowledge_base/dq_framework_data.json —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Expose analytical risks before they become modeling problems</a:t>
            </a:r>
          </a:p>
          <a:p>
            <a:endParaRPr/>
          </a:p>
          <a:p>
            <a:r>
              <a:t>Fragmented evidence is a problem inferred from the product architecture and traceability design. The source material explicitly describes analytical defects that generic DQ misses. No claim is made that every enterprise challenge is already solved by this release.</a:t>
            </a:r>
          </a:p>
          <a:p>
            <a:endParaRPr/>
          </a:p>
          <a:p>
            <a:r>
              <a:t>SOURCES</a:t>
            </a:r>
          </a:p>
          <a:p>
            <a:r>
              <a:t>[S01] documentation/Presentations/DQ Framework_Analytics and Modeling.xlsx — Framework_Overview; Detailed_DQ_Framework risks</a:t>
            </a:r>
          </a:p>
          <a:p>
            <a:r>
              <a:t>[S03] documentation/Presentations/DataQuality_Framework.pptx — Slides 2–3</a:t>
            </a:r>
          </a:p>
          <a:p>
            <a:r>
              <a:t>[S06] source-codes/USER_GUIDE.md — Frozen manifest and issue workflow</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 confidence through repeatable assessment and clear ownership</a:t>
            </a:r>
          </a:p>
          <a:p>
            <a:endParaRPr/>
          </a:p>
          <a:p>
            <a:r>
              <a:t>No quantified efficiency, accuracy, compliance or production-readiness claim is made. Target use cases in the framework include risk/modeling and broader analytics; implemented D08/D11 knowledge is credit-risk-oriented.</a:t>
            </a:r>
          </a:p>
          <a:p>
            <a:endParaRPr/>
          </a:p>
          <a:p>
            <a:r>
              <a:t>SOURCES</a:t>
            </a:r>
          </a:p>
          <a:p>
            <a:r>
              <a:t>[S01] documentation/Presentations/DQ Framework_Analytics and Modeling.xlsx — Framework_Overview rows 2–7</a:t>
            </a:r>
          </a:p>
          <a:p>
            <a:r>
              <a:t>[S21] source-codes/backend/domains/aar/README.md — Exact reuse and lineage</a:t>
            </a:r>
          </a:p>
          <a:p>
            <a:r>
              <a:t>[S15] source-codes/backend/domains/rca/service.py — approve_conclusion</a:t>
            </a:r>
          </a:p>
          <a:p>
            <a:r>
              <a:t>[S16] source-codes/ui/src/features/rca/components/RcaCase.jsx — RemediationHandoff</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a governed framework across the assessment journey</a:t>
            </a:r>
          </a:p>
          <a:p>
            <a:endParaRPr/>
          </a:p>
          <a:p>
            <a:r>
              <a:t>This is the design-reference adaptation: five cream cards, coral ordinal markers, dark service headers, compact shared foundations and a dark conclusion band. The original agent counts, health-score claims and continuous monitoring language are not carried over. Stage 5 means manual reassessment on a new upload, not scheduled autonomous monitoring.</a:t>
            </a:r>
          </a:p>
          <a:p>
            <a:endParaRPr/>
          </a:p>
          <a:p>
            <a:r>
              <a:t>SOURCES</a:t>
            </a:r>
          </a:p>
          <a:p>
            <a:r>
              <a:t>[S04] documentation/Presentations/AI and Accelerators_Risk.pptx — Slide 4: five numbered cards; service bands; semantic and deterministic foundations</a:t>
            </a:r>
          </a:p>
          <a:p>
            <a:r>
              <a:t>[S06] source-codes/USER_GUIDE.md — Current workflow</a:t>
            </a:r>
          </a:p>
          <a:p>
            <a:r>
              <a:t>[S08] source-codes/backend/knowledge_base/dq_framework_data.json — Framework register</a:t>
            </a:r>
          </a:p>
          <a:p>
            <a:r>
              <a:t>[S15] source-codes/backend/domains/rca/service.py — approve_conclusion</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framework coverage distinct from executable coverage</a:t>
            </a:r>
          </a:p>
          <a:p>
            <a:endParaRPr/>
          </a:p>
          <a:p>
            <a:r>
              <a:t>Current configuration retains thin/gap coverage semantics from the MVP framework. Multi-snapshot PSI and supporting missingness now exist even though older area-gap explanations remain. This slide presents the framework structure, not a completeness certificate. Third-party controls is the sixth theme, correcting the five-theme language in the older overview.</a:t>
            </a:r>
          </a:p>
          <a:p>
            <a:endParaRPr/>
          </a:p>
          <a:p>
            <a:r>
              <a:t>SOURCES</a:t>
            </a:r>
          </a:p>
          <a:p>
            <a:r>
              <a:t>[S01] documentation/Presentations/DQ Framework_Analytics and Modeling.xlsx — Detailed_DQ_Framework rows 2–12</a:t>
            </a:r>
          </a:p>
          <a:p>
            <a:r>
              <a:t>[S08] source-codes/backend/knowledge_base/dq_framework_data.json — dimensions, coverage, register</a:t>
            </a:r>
          </a:p>
          <a:p>
            <a:r>
              <a:t>[S23] source-codes/docs/architecture/phase1b-missingness.md — Supporting-investigation boundary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each participant a clear purpose and handoff</a:t>
            </a:r>
          </a:p>
          <a:p>
            <a:endParaRPr/>
          </a:p>
          <a:p>
            <a:r>
              <a:t>Personas are synthesized from the named teams and implemented interactions. Executive sponsor and diagnostic owner are proposed operating responsibilities, not distinct application roles. IT/platform administrator, knowledge editor/reviewer and remediation owner have concrete product interactions. No persona-specific executive dashboard is asserted.</a:t>
            </a:r>
          </a:p>
          <a:p>
            <a:endParaRPr/>
          </a:p>
          <a:p>
            <a:r>
              <a:t>SOURCES</a:t>
            </a:r>
          </a:p>
          <a:p>
            <a:r>
              <a:t>[S01] documentation/Presentations/DQ Framework_Analytics and Modeling.xlsx — Framework_Overview row 6</a:t>
            </a:r>
          </a:p>
          <a:p>
            <a:r>
              <a:t>[S27] documentation/product/aegis-labs-product-spec.md — A2 Target Users &amp; Personas</a:t>
            </a:r>
          </a:p>
          <a:p>
            <a:r>
              <a:t>[S06] source-codes/USER_GUIDE.md — User workflow and administration</a:t>
            </a:r>
          </a:p>
          <a:p>
            <a:r>
              <a:t>[S16] source-codes/ui/src/features/rca/components/RcaCase.jsx — ConclusionForm and RemediationHandoff</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Apply the roles that the product actually enforces</a:t>
            </a:r>
          </a:p>
          <a:p>
            <a:endParaRPr/>
          </a:p>
          <a:p>
            <a:r>
              <a:t>Only user, admin, kb_editor and kb_reviewer are recognized authorization roles. Admin does not automatically inherit knowledge publication rights. Session-authenticated routes, D08 tenant controls and D11 setup controls must not be generalized into a fully verified per-asset authorization model. Core schema remains documented as single-tenant-per-deployment; end-to-end security hardening requires validation.</a:t>
            </a:r>
          </a:p>
          <a:p>
            <a:endParaRPr/>
          </a:p>
          <a:p>
            <a:r>
              <a:t>SOURCES</a:t>
            </a:r>
          </a:p>
          <a:p>
            <a:r>
              <a:t>[S17] source-codes/backend/routers/admin.py — _require_admin; create_user recognized authz_roles</a:t>
            </a:r>
          </a:p>
          <a:p>
            <a:r>
              <a:t>[S18] source-codes/backend/routers/auth.py — current_user and is_admin</a:t>
            </a:r>
          </a:p>
          <a:p>
            <a:r>
              <a:t>[S19] source-codes/backend/kb.py — _require_role; publish and archive</a:t>
            </a:r>
          </a:p>
          <a:p>
            <a:r>
              <a:t>[S20] source-codes/docs/rca/00-contracts.md — §13 deployment and authentication boundaries</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evidence from source data to an approved conclusion</a:t>
            </a:r>
          </a:p>
          <a:p>
            <a:endParaRPr/>
          </a:p>
          <a:p>
            <a:r>
              <a:t>Top row is a verified logical grouping of current capabilities, not literal database statuses. The manual extension uses available sourcing and launch features, but automatic post-remediation retest and closure enforcement are not evidenced. Cards below separate tracked remediation from RCA completion.</a:t>
            </a:r>
          </a:p>
          <a:p>
            <a:endParaRPr/>
          </a:p>
          <a:p>
            <a:r>
              <a:t>SOURCES</a:t>
            </a:r>
          </a:p>
          <a:p>
            <a:r>
              <a:t>[S06] source-codes/USER_GUIDE.md — Source and version data; Run a diagnostic; Manage findings and RCA</a:t>
            </a:r>
          </a:p>
          <a:p>
            <a:r>
              <a:t>[S16] source-codes/ui/src/features/rca/components/RcaCase.jsx — stageFor, ConclusionForm, RemediationHandoff</a:t>
            </a:r>
          </a:p>
          <a:p>
            <a:r>
              <a:t>[S15] source-codes/backend/domains/rca/service.py — approve_conclusion</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Prepare an active snapshot and make the run scope explicit</a:t>
            </a:r>
          </a:p>
          <a:p>
            <a:endParaRPr/>
          </a:p>
          <a:p>
            <a:r>
              <a:t>This table groups the seven UI sourcing steps into stages 1 and 2 of the requested eleven-stage enterprise journey. Stage 3 is diagnostic configuration and stage 4 execution. Next transitions follow top to bottom. Owners are operating personas, not additional authz roles.</a:t>
            </a:r>
          </a:p>
          <a:p>
            <a:endParaRPr/>
          </a:p>
          <a:p>
            <a:r>
              <a:t>SOURCES</a:t>
            </a:r>
          </a:p>
          <a:p>
            <a:r>
              <a:t>[S06] source-codes/USER_GUIDE.md — Seven-step sourcing flow and diagnostic launch</a:t>
            </a:r>
          </a:p>
          <a:p>
            <a:r>
              <a:t>[S22] source-codes/docs/architecture/data-sourcing-profiling-aar.md — Confirmation and publication sequence</a:t>
            </a:r>
          </a:p>
          <a:p>
            <a:r>
              <a:t>[S11] source-codes/backend/dq_diagnostics/readiness.py — readiness</a:t>
            </a:r>
          </a:p>
          <a:p>
            <a:r>
              <a:t>[S13] source-codes/backend/domains/test_lab/shared/run_state.py — draft and freeze lifecycle</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Turn calculation outputs into owned investigations</a:t>
            </a:r>
          </a:p>
          <a:p>
            <a:endParaRPr/>
          </a:p>
          <a:p>
            <a:r>
              <a:t>Enabled diagnostics 2, 6, 8, 11 and 14 require user confirmation of findings before issue creation. D04’s paused implementation auto-opens deterministic violations. Ownership/priority/date belong to optional tracked follow-up. They should not be presented as a mandatory approval queue for every analytical run.</a:t>
            </a:r>
          </a:p>
          <a:p>
            <a:endParaRPr/>
          </a:p>
          <a:p>
            <a:r>
              <a:t>SOURCES</a:t>
            </a:r>
          </a:p>
          <a:p>
            <a:r>
              <a:t>[D02X] source-codes/backend/domains/test_lab/diagnostics/t1_d02_feature_target_separation/runner.py — Candidate persistence</a:t>
            </a:r>
          </a:p>
          <a:p>
            <a:r>
              <a:t>[D06X] source-codes/backend/domains/test_lab/diagnostics/t2_d06_row_completeness/runner.py — Human review; no automatic issue creation</a:t>
            </a:r>
          </a:p>
          <a:p>
            <a:r>
              <a:t>[D08R] source-codes/backend/domains/test_lab/diagnostics/t2_d08_value_semantics/README.md — Disposition</a:t>
            </a:r>
          </a:p>
          <a:p>
            <a:r>
              <a:t>[D11R] source-codes/backend/domains/test_lab/diagnostics/t2_d11_directional_monotonic_consistency/README.md — Contextual findings</a:t>
            </a:r>
          </a:p>
          <a:p>
            <a:r>
              <a:t>[D14R] source-codes/backend/domains/test_lab/diagnostics/t4_d14_population_stability/README.md — Contextual outcomes</a:t>
            </a:r>
          </a:p>
          <a:p>
            <a:r>
              <a:t>[S14] source-codes/backend/ai/v2/issues.py — sync_diagnostic_issues, raise_issue</a:t>
            </a:r>
          </a:p>
          <a:p>
            <a:r>
              <a:t>[S16] source-codes/ui/src/features/rca/components/RcaCase.jsx — RCA workflow</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Track remediation without overstating the closure control</a:t>
            </a:r>
          </a:p>
          <a:p>
            <a:endParaRPr/>
          </a:p>
          <a:p>
            <a:r>
              <a:t>Required enterprise journey stages 9–11 are shown with their implementation limits. Current RCA conclusion approval can precede an optional remediation handoff. A forced fix→retest→close workflow is not the product-facing MVP. Legacy fix services rerun a stored snapshot and are not evidence of validation against corrected production data.</a:t>
            </a:r>
          </a:p>
          <a:p>
            <a:endParaRPr/>
          </a:p>
          <a:p>
            <a:r>
              <a:t>SOURCES</a:t>
            </a:r>
          </a:p>
          <a:p>
            <a:r>
              <a:t>[S16] source-codes/ui/src/features/rca/components/RcaCase.jsx — ConclusionForm, RemediationHandoff</a:t>
            </a:r>
          </a:p>
          <a:p>
            <a:r>
              <a:t>[S15] source-codes/backend/domains/rca/service.py — approve_conclusion and _rerun_original_test</a:t>
            </a:r>
          </a:p>
          <a:p>
            <a:r>
              <a:t>[S06] source-codes/USER_GUIDE.md — Tracking/closing does not rerun or modify data</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run state, finding review and issue state separate</a:t>
            </a:r>
          </a:p>
          <a:p>
            <a:endParaRPr/>
          </a:p>
          <a:p>
            <a:r>
              <a:t>Literal stored run states: draft, running, done, failed, discarded. Finding open→confirmed or dismissed requires rationale for enabled workflows. Issues use Open, In RCA, Escalated and Closed; historical Superseded entries are excluded from the normal register. These rows summarize supported paths, not one combined state machine.</a:t>
            </a:r>
          </a:p>
          <a:p>
            <a:endParaRPr/>
          </a:p>
          <a:p>
            <a:r>
              <a:t>SOURCES</a:t>
            </a:r>
          </a:p>
          <a:p>
            <a:r>
              <a:t>[S13] source-codes/backend/domains/test_lab/shared/run_state.py — DRAFT, RUNNING, DONE, FAILED, DISCARDED</a:t>
            </a:r>
          </a:p>
          <a:p>
            <a:r>
              <a:t>[D06X] source-codes/backend/domains/test_lab/diagnostics/t2_d06_row_completeness/runner.py — review_state and finding workflow</a:t>
            </a:r>
          </a:p>
          <a:p>
            <a:r>
              <a:t>[S14] source-codes/backend/ai/v2/issues.py — OPEN_STATUSES, close_issue, rca</a:t>
            </a:r>
          </a:p>
          <a:p>
            <a:r>
              <a:t>[S15] source-codes/backend/domains/rca/service.py — approve_conclusion</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Distinguish evidence, findings and issues in every handoff</a:t>
            </a:r>
          </a:p>
          <a:p>
            <a:endParaRPr/>
          </a:p>
          <a:p>
            <a:endParaRPr/>
          </a:p>
          <a:p>
            <a:endParaRPr/>
          </a:p>
          <a:p>
            <a:r>
              <a:t>SOURCES</a:t>
            </a:r>
          </a:p>
          <a:p>
            <a:r>
              <a:t>[D02R] source-codes/backend/domains/test_lab/diagnostics/t1_d02_feature_target_separation/README.md — Category versus issue rationale</a:t>
            </a:r>
          </a:p>
          <a:p>
            <a:r>
              <a:t>[D11R] source-codes/backend/domains/test_lab/diagnostics/t2_d11_directional_monotonic_consistency/README.md — Expected-versus-observed comparison</a:t>
            </a:r>
          </a:p>
          <a:p>
            <a:r>
              <a:t>[D14R] source-codes/backend/domains/test_lab/diagnostics/t4_d14_population_stability/README.md — PSI calculation</a:t>
            </a:r>
          </a:p>
          <a:p>
            <a:r>
              <a:t>[S14] source-codes/backend/ai/v2/issues.py — Diagnostic issue materialization</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Approve a conclusion with its supporting and limiting evidence</a:t>
            </a:r>
          </a:p>
          <a:p>
            <a:endParaRPr/>
          </a:p>
          <a:p>
            <a:r>
              <a:t>approve_conclusion requires type, rationale, supporting evidence, alternatives, limiting evidence and reconciliation of related failures; identified conclusions also require a root cause. It closes the RCA case and managed issue. Current closure outcomes are root_cause_identified and unresolved. Historical confirmed/genuine_change/test_design_flaw paths remain internal and are not shown as current UI outcomes.</a:t>
            </a:r>
          </a:p>
          <a:p>
            <a:endParaRPr/>
          </a:p>
          <a:p>
            <a:r>
              <a:t>SOURCES</a:t>
            </a:r>
          </a:p>
          <a:p>
            <a:r>
              <a:t>[S16] source-codes/ui/src/features/rca/components/RcaCase.jsx — stageFor; ConclusionForm; KnowledgeProposal</a:t>
            </a:r>
          </a:p>
          <a:p>
            <a:r>
              <a:t>[S15] source-codes/backend/domains/rca/service.py — approve_conclusion; return_to_investigation; propose_reusable_knowledge</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Govern knowledge before it becomes reusable authority</a:t>
            </a:r>
          </a:p>
          <a:p>
            <a:endParaRPr/>
          </a:p>
          <a:p>
            <a:r>
              <a:t>Lifecycle shown is the common document/rule path; actual data also includes expired, superseded and under_suspicion states. Packaged D08/D11 YAML remains the runtime source for those methodologies. Publishing a D11 proposal does not automatically modify the source-controlled knowledge release or change the current run.</a:t>
            </a:r>
          </a:p>
          <a:p>
            <a:endParaRPr/>
          </a:p>
          <a:p>
            <a:r>
              <a:t>SOURCES</a:t>
            </a:r>
          </a:p>
          <a:p>
            <a:r>
              <a:t>[S06] source-codes/USER_GUIDE.md — Govern knowledge</a:t>
            </a:r>
          </a:p>
          <a:p>
            <a:r>
              <a:t>[S19] source-codes/backend/kb.py — publish_rule and archive role checks</a:t>
            </a:r>
          </a:p>
          <a:p>
            <a:r>
              <a:t>[D08R] source-codes/backend/domains/test_lab/diagnostics/t2_d08_value_semantics/README.md — Packaged YAML and governed document versions</a:t>
            </a:r>
          </a:p>
          <a:p>
            <a:r>
              <a:t>[D11R] source-codes/backend/domains/test_lab/diagnostics/t2_d11_directional_monotonic_consistency/README.md — Saving a KB proposal</a:t>
            </a:r>
          </a:p>
          <a:p>
            <a:r>
              <a:t>[S16] source-codes/ui/src/features/rca/components/RcaCase.jsx — KnowledgeProposal</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Retain the chain from snapshot to decision</a:t>
            </a:r>
          </a:p>
          <a:p>
            <a:endParaRPr/>
          </a:p>
          <a:p>
            <a:r>
              <a:t>The UI uses Analytics Artifact Repository while backend documentation uses Analysis Artifact Repository; both refer to AAR. Exact reuse depends on compatible governed identity and payload, not approximate similarity. D04 stores structured diagnostic evidence; it should not be represented as having the same full AAR chain as later diagnostics.</a:t>
            </a:r>
          </a:p>
          <a:p>
            <a:endParaRPr/>
          </a:p>
          <a:p>
            <a:r>
              <a:t>SOURCES</a:t>
            </a:r>
          </a:p>
          <a:p>
            <a:r>
              <a:t>[S21] source-codes/backend/domains/aar/README.md — AAR domain responsibilities</a:t>
            </a:r>
          </a:p>
          <a:p>
            <a:r>
              <a:t>[S22] source-codes/docs/architecture/data-sourcing-profiling-aar.md — AAR storage architecture</a:t>
            </a:r>
          </a:p>
          <a:p>
            <a:r>
              <a:t>[S30] source-codes/backend/domains/aar/repository.py — Save, exact reuse and integrity checks</a:t>
            </a:r>
          </a:p>
          <a:p>
            <a:r>
              <a:t>[D08R] source-codes/backend/domains/test_lab/diagnostics/t2_d08_value_semantics/README.md — Four artifacts</a:t>
            </a:r>
          </a:p>
          <a:p>
            <a:r>
              <a:t>[D11R] source-codes/backend/domains/test_lab/diagnostics/t2_d11_directional_monotonic_consistency/README.md — Results and persistence</a:t>
            </a:r>
          </a:p>
          <a:p>
            <a:r>
              <a:t>[S15] source-codes/backend/domains/rca/service.py — Audit and conclusion</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Separate the user workflow from the execution and evidence services</a:t>
            </a:r>
          </a:p>
          <a:p>
            <a:endParaRPr/>
          </a:p>
          <a:p>
            <a:r>
              <a:t>Current stack is React/Vite UI, FastAPI/Python services, SQLite metadata/working state, file-backed uploads and immutable artifacts. Azure OpenAI supports optional/advisory and RCA features where configured. One tenant per deployment is the documented core boundary. No Kubernetes, distributed cluster, enterprise SSO, or automatic source remediation is claimed.</a:t>
            </a:r>
          </a:p>
          <a:p>
            <a:endParaRPr/>
          </a:p>
          <a:p>
            <a:r>
              <a:t>SOURCES</a:t>
            </a:r>
          </a:p>
          <a:p>
            <a:r>
              <a:t>[S05] source-codes/README.md — Code organization</a:t>
            </a:r>
          </a:p>
          <a:p>
            <a:r>
              <a:t>[S07] source-codes/TSD.md — Architecture, persistence, configuration</a:t>
            </a:r>
          </a:p>
          <a:p>
            <a:r>
              <a:t>[S21] source-codes/backend/domains/aar/README.md — AAR</a:t>
            </a:r>
          </a:p>
          <a:p>
            <a:r>
              <a:t>[S22] source-codes/docs/architecture/data-sourcing-profiling-aar.md — Data Sourcing flow</a:t>
            </a:r>
          </a:p>
          <a:p>
            <a:r>
              <a:t>[D14R] source-codes/backend/domains/test_lab/diagnostics/t4_d14_population_stability/README.md — Execution ownership and workload governor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See which diagnostic implementations can be launched</a:t>
            </a:r>
          </a:p>
          <a:p>
            <a:endParaRPr/>
          </a:p>
          <a:p>
            <a:r>
              <a:t>Implemented means a current production package with runner, manifest, UI and test evidence. It does not mean all acceptance or deployment checks were rerun for this presentation. Five enabled, one paused. Source keys map to repository paths in the appendix and notes.</a:t>
            </a:r>
          </a:p>
          <a:p>
            <a:endParaRPr/>
          </a:p>
          <a:p>
            <a:r>
              <a:t>SOURCES</a:t>
            </a:r>
          </a:p>
          <a:p>
            <a:r>
              <a:t>[S08] source-codes/backend/knowledge_base/dq_framework_data.json — register</a:t>
            </a:r>
          </a:p>
          <a:p>
            <a:r>
              <a:t>[S10] source-codes/backend/dq_diagnostics/dispatch.py — adapter dispatch</a:t>
            </a:r>
          </a:p>
          <a:p>
            <a:r>
              <a:t>[D02R] source-codes/backend/domains/test_lab/diagnostics/t1_d02_feature_target_separation/README.md</a:t>
            </a:r>
          </a:p>
          <a:p>
            <a:r>
              <a:t>[D04R] source-codes/backend/domains/test_lab/diagnostics/t2_d04_cross_field_business_rule/README.md</a:t>
            </a:r>
          </a:p>
          <a:p>
            <a:r>
              <a:t>[D06R] source-codes/backend/domains/test_lab/diagnostics/t2_d06_row_completeness/README.md</a:t>
            </a:r>
          </a:p>
          <a:p>
            <a:r>
              <a:t>[D08R] source-codes/backend/domains/test_lab/diagnostics/t2_d08_value_semantics/README.md</a:t>
            </a:r>
          </a:p>
          <a:p>
            <a:r>
              <a:t>[D11R] source-codes/backend/domains/test_lab/diagnostics/t2_d11_directional_monotonic_consistency/README.md</a:t>
            </a:r>
          </a:p>
          <a:p>
            <a:r>
              <a:t>[D14R] source-codes/backend/domains/test_lab/diagnostics/t4_d14_population_stability/README.md</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19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Keep planned workflows and supporting analytics visible</a:t>
            </a:r>
          </a:p>
          <a:p>
            <a:endParaRPr/>
          </a:p>
          <a:p>
            <a:r>
              <a:t>The three pending workflows have framework metadata but no current diagnostic adapter in dispatch.py. D20 has adjacent KB/AI building blocks, but the registered end-to-end proposal loop is not an executable diagnostic. Missingness is implemented independently and must not be counted as a tenth registered diagnostic.</a:t>
            </a:r>
          </a:p>
          <a:p>
            <a:endParaRPr/>
          </a:p>
          <a:p>
            <a:r>
              <a:t>SOURCES</a:t>
            </a:r>
          </a:p>
          <a:p>
            <a:r>
              <a:t>[S08] source-codes/backend/knowledge_base/dq_framework_data.json — register rows 12,17,20</a:t>
            </a:r>
          </a:p>
          <a:p>
            <a:r>
              <a:t>[S23] source-codes/docs/architecture/phase1b-missingness.md — Product boundary</a:t>
            </a:r>
          </a:p>
          <a:p>
            <a:r>
              <a:t>[S24] source-codes/backend/supporting_analyses/missingness.py — MissingnessCapability</a:t>
            </a:r>
          </a:p>
          <a:p>
            <a:r>
              <a:t>[S02] documentation/Presentations/MVP_Test Plan_DA.xlsx — Diagnostics detail</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Retain deferred diagnostics without implying availability</a:t>
            </a:r>
          </a:p>
          <a:p>
            <a:endParaRPr/>
          </a:p>
          <a:p>
            <a:r>
              <a:t>Deferred describes workbook planning, not a committed release date. Adjacent capabilities may overlap, but they do not activate a standalone registered diagnostic. Each entry receives a dedicated concise page later in the deck.</a:t>
            </a:r>
          </a:p>
          <a:p>
            <a:endParaRPr/>
          </a:p>
          <a:p>
            <a:r>
              <a:t>SOURCES</a:t>
            </a:r>
          </a:p>
          <a:p>
            <a:r>
              <a:t>[S02] documentation/Presentations/MVP_Test Plan_DA.xlsx — Diagnostics detail rows 2–20, MVP scope column</a:t>
            </a:r>
          </a:p>
          <a:p>
            <a:r>
              <a:t>[S09] source-codes/backend/dq_diagnostics/register.py — Unknown diagnostic refusal</a:t>
            </a:r>
          </a:p>
          <a:p>
            <a:r>
              <a:t>[S28] source-codes/docs/0.4.0/00-framework.md — §5 Deferred rows</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Retain deferred diagnostics without implying availability</a:t>
            </a:r>
          </a:p>
          <a:p>
            <a:endParaRPr/>
          </a:p>
          <a:p>
            <a:r>
              <a:t>Deferred describes workbook planning, not a committed release date. Adjacent capabilities may overlap, but they do not activate a standalone registered diagnostic. Each entry receives a dedicated concise page later in the deck.</a:t>
            </a:r>
          </a:p>
          <a:p>
            <a:endParaRPr/>
          </a:p>
          <a:p>
            <a:r>
              <a:t>SOURCES</a:t>
            </a:r>
          </a:p>
          <a:p>
            <a:r>
              <a:t>[S02] documentation/Presentations/MVP_Test Plan_DA.xlsx — Diagnostics detail rows 2–20, MVP scope column</a:t>
            </a:r>
          </a:p>
          <a:p>
            <a:r>
              <a:t>[S09] source-codes/backend/dq_diagnostics/register.py — Unknown diagnostic refusal</a:t>
            </a:r>
          </a:p>
          <a:p>
            <a:r>
              <a:t>[S28] source-codes/docs/0.4.0/00-framework.md — §5 Deferred rows</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 broader framework references explicit</a:t>
            </a:r>
          </a:p>
          <a:p>
            <a:endParaRPr/>
          </a:p>
          <a:p>
            <a:r>
              <a:t>Classification uses the requested four status types. R03/R04 are partially implemented only at the enabling-capability level; the fully managed monitoring diagnostics/workflows are not established. R01 combines formal MCAR/MNAR references but not the implemented descriptive Missingness Mechanism. Metric alternatives (JS/Wasserstein, mutual information, IQR/isolation forest) are alternatives within listed methods, not additional diagnostic rows. Primary user: analytics/model team with SME and data-team support.</a:t>
            </a:r>
          </a:p>
          <a:p>
            <a:endParaRPr/>
          </a:p>
          <a:p>
            <a:r>
              <a:t>SOURCES</a:t>
            </a:r>
          </a:p>
          <a:p>
            <a:r>
              <a:t>[S01] documentation/Presentations/DQ Framework_Analytics and Modeling.xlsx — Detailed_DQ_Framework Analytical Diagnostics column</a:t>
            </a:r>
          </a:p>
          <a:p>
            <a:r>
              <a:t>[S02] documentation/Presentations/MVP_Test Plan_DA.xlsx — Plan B rows 5–6; Decisions &amp; rationale rows 14–16</a:t>
            </a:r>
          </a:p>
          <a:p>
            <a:r>
              <a:t>[S22] source-codes/docs/architecture/data-sourcing-profiling-aar.md — Versioned profiling</a:t>
            </a:r>
          </a:p>
          <a:p>
            <a:r>
              <a:t>[D14R] source-codes/backend/domains/test_lab/diagnostics/t4_d14_population_stability/README.md — Two-snapshot PSI</a:t>
            </a:r>
          </a:p>
          <a:p>
            <a:r>
              <a:t>[S25] source-codes/backend/dq_tests/registry.py — Retired registry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Make broader framework references explicit</a:t>
            </a:r>
          </a:p>
          <a:p>
            <a:endParaRPr/>
          </a:p>
          <a:p>
            <a:r>
              <a:t>Classification uses the requested four status types. R03/R04 are partially implemented only at the enabling-capability level; the fully managed monitoring diagnostics/workflows are not established. R01 combines formal MCAR/MNAR references but not the implemented descriptive Missingness Mechanism. Metric alternatives (JS/Wasserstein, mutual information, IQR/isolation forest) are alternatives within listed methods, not additional diagnostic rows. Primary user: analytics/model team with SME and data-team support.</a:t>
            </a:r>
          </a:p>
          <a:p>
            <a:endParaRPr/>
          </a:p>
          <a:p>
            <a:r>
              <a:t>SOURCES</a:t>
            </a:r>
          </a:p>
          <a:p>
            <a:r>
              <a:t>[S01] documentation/Presentations/DQ Framework_Analytics and Modeling.xlsx — Detailed_DQ_Framework Analytical Diagnostics column</a:t>
            </a:r>
          </a:p>
          <a:p>
            <a:r>
              <a:t>[S02] documentation/Presentations/MVP_Test Plan_DA.xlsx — Plan B rows 5–6; Decisions &amp; rationale rows 14–16</a:t>
            </a:r>
          </a:p>
          <a:p>
            <a:r>
              <a:t>[S22] source-codes/docs/architecture/data-sourcing-profiling-aar.md — Versioned profiling</a:t>
            </a:r>
          </a:p>
          <a:p>
            <a:r>
              <a:t>[D14R] source-codes/backend/domains/test_lab/diagnostics/t4_d14_population_stability/README.md — Two-snapshot PSI</a:t>
            </a:r>
          </a:p>
          <a:p>
            <a:r>
              <a:t>[S25] source-codes/backend/dq_tests/registry.py — Retired registry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Account for the retired fourteen-test library</a:t>
            </a:r>
          </a:p>
          <a:p>
            <a:endParaRPr/>
          </a:p>
          <a:p>
            <a:r>
              <a:t>Every historical library entry is named here to prevent accidental omission or double-counting. Retired items are historical references, with current successor status stated separately. These are not fourteen additional executable diagnostics. The disposition document contains historical counts/labels; actual current code and register take priority. No dedicated current launch or RCA subsection is warranted for removed executors.</a:t>
            </a:r>
          </a:p>
          <a:p>
            <a:endParaRPr/>
          </a:p>
          <a:p>
            <a:r>
              <a:t>SOURCES</a:t>
            </a:r>
          </a:p>
          <a:p>
            <a:r>
              <a:t>[S34] source-codes/backend/dq_tests/README.md — Historical fourteen-test descriptions</a:t>
            </a:r>
          </a:p>
          <a:p>
            <a:r>
              <a:t>[S25] source-codes/backend/dq_tests/registry.py — Empty registry and unconditional unknown-test refusal</a:t>
            </a:r>
          </a:p>
          <a:p>
            <a:r>
              <a:t>[S26] source-codes/docs/0.4.0/01-disposition.md — Test disposition table</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Account for the retired fourteen-test library</a:t>
            </a:r>
          </a:p>
          <a:p>
            <a:endParaRPr/>
          </a:p>
          <a:p>
            <a:r>
              <a:t>Every historical library entry is named here to prevent accidental omission or double-counting. Retired items are historical references, with current successor status stated separately. These are not fourteen additional executable diagnostics. The disposition document contains historical counts/labels; actual current code and register take priority. No dedicated current launch or RCA subsection is warranted for removed executors.</a:t>
            </a:r>
          </a:p>
          <a:p>
            <a:endParaRPr/>
          </a:p>
          <a:p>
            <a:r>
              <a:t>SOURCES</a:t>
            </a:r>
          </a:p>
          <a:p>
            <a:r>
              <a:t>[S34] source-codes/backend/dq_tests/README.md — Historical fourteen-test descriptions</a:t>
            </a:r>
          </a:p>
          <a:p>
            <a:r>
              <a:t>[S25] source-codes/backend/dq_tests/registry.py — Empty registry and unconditional unknown-test refusal</a:t>
            </a:r>
          </a:p>
          <a:p>
            <a:r>
              <a:t>[S26] source-codes/docs/0.4.0/01-disposition.md — Test disposition table</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Spot features whose target separation deserves review</a:t>
            </a:r>
          </a:p>
          <a:p>
            <a:endParaRPr/>
          </a:p>
          <a:p>
            <a:r>
              <a:t>Purpose and expected outcome derived from diagnostic sources. Implemented • enabled. Personas are operating responsibilities, not separate RBAC roles.</a:t>
            </a:r>
          </a:p>
          <a:p>
            <a:endParaRPr/>
          </a:p>
          <a:p>
            <a:r>
              <a:t>SOURCES</a:t>
            </a:r>
          </a:p>
          <a:p>
            <a:r>
              <a:t>[D02R] source-codes/backend/domains/test_lab/diagnostics/t1_d02_feature_target_separation/README.md — Binning workflow; Progressive run review; Governed final report</a:t>
            </a:r>
          </a:p>
          <a:p>
            <a:r>
              <a:t>[D02E] source-codes/backend/domains/test_lab/diagnostics/t1_d02_feature_target_separation/adapter.py — assess_feature_target_separation, _candidate_findings</a:t>
            </a:r>
          </a:p>
          <a:p>
            <a:r>
              <a:t>[D02C] source-codes/backend/domains/test_lab/diagnostics/t1_d02_feature_target_separation/orchestration.py — classify_feature</a:t>
            </a:r>
          </a:p>
          <a:p>
            <a:r>
              <a:t>[D02M] source-codes/backend/domains/test_lab/diagnostics/t1_d02_feature_target_separation/manifest.py — Scope and freeze</a:t>
            </a:r>
          </a:p>
          <a:p>
            <a:r>
              <a:t>[D02X] source-codes/backend/domains/test_lab/diagnostics/t1_d02_feature_target_separation/runner.py — Persist findings and report</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governed processing path</a:t>
            </a:r>
          </a:p>
          <a:p>
            <a:endParaRPr/>
          </a:p>
          <a:p>
            <a:r>
              <a:t>orchestration.classify_feature uses &gt;= category boundaries: AUC 0.90/0.70/0.55 and IV 0.50/0.30/0.05 by default, tunable and ordered. Candidate flags use a separate threshold contract (leakage AUC/IV and poor-discrimination AUC/IV). AUC/IV support multiple target routes; availability and failures are explicit. A weak univariate result does not show that a feature has no joint value.</a:t>
            </a:r>
          </a:p>
          <a:p>
            <a:endParaRPr/>
          </a:p>
          <a:p>
            <a:r>
              <a:t>SOURCES</a:t>
            </a:r>
          </a:p>
          <a:p>
            <a:r>
              <a:t>[D02R] source-codes/backend/domains/test_lab/diagnostics/t1_d02_feature_target_separation/README.md — Binning workflow; Progressive run review; Governed final report</a:t>
            </a:r>
          </a:p>
          <a:p>
            <a:r>
              <a:t>[D02E] source-codes/backend/domains/test_lab/diagnostics/t1_d02_feature_target_separation/adapter.py — assess_feature_target_separation, _candidate_findings</a:t>
            </a:r>
          </a:p>
          <a:p>
            <a:r>
              <a:t>[D02C] source-codes/backend/domains/test_lab/diagnostics/t1_d02_feature_target_separation/orchestration.py — classify_feature</a:t>
            </a:r>
          </a:p>
          <a:p>
            <a:r>
              <a:t>[D02M] source-codes/backend/domains/test_lab/diagnostics/t1_d02_feature_target_separation/manifest.py — Scope and freeze</a:t>
            </a:r>
          </a:p>
          <a:p>
            <a:r>
              <a:t>[D02X] source-codes/backend/domains/test_lab/diagnostics/t1_d02_feature_target_separation/runner.py — Persist findings and report</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metrics alongside scope and limitations</a:t>
            </a:r>
          </a:p>
          <a:p>
            <a:endParaRPr/>
          </a:p>
          <a:p>
            <a:r>
              <a:t>orchestration.classify_feature uses &gt;= category boundaries: AUC 0.90/0.70/0.55 and IV 0.50/0.30/0.05 by default, tunable and ordered. Candidate flags use a separate threshold contract (leakage AUC/IV and poor-discrimination AUC/IV). AUC/IV support multiple target routes; availability and failures are explicit. A weak univariate result does not show that a feature has no joint value.</a:t>
            </a:r>
          </a:p>
          <a:p>
            <a:endParaRPr/>
          </a:p>
          <a:p>
            <a:r>
              <a:t>SOURCES</a:t>
            </a:r>
          </a:p>
          <a:p>
            <a:r>
              <a:t>[D02R] source-codes/backend/domains/test_lab/diagnostics/t1_d02_feature_target_separation/README.md — Binning workflow; Progressive run review; Governed final report</a:t>
            </a:r>
          </a:p>
          <a:p>
            <a:r>
              <a:t>[D02E] source-codes/backend/domains/test_lab/diagnostics/t1_d02_feature_target_separation/adapter.py — assess_feature_target_separation, _candidate_findings</a:t>
            </a:r>
          </a:p>
          <a:p>
            <a:r>
              <a:t>[D02C] source-codes/backend/domains/test_lab/diagnostics/t1_d02_feature_target_separation/orchestration.py — classify_feature</a:t>
            </a:r>
          </a:p>
          <a:p>
            <a:r>
              <a:t>[D02M] source-codes/backend/domains/test_lab/diagnostics/t1_d02_feature_target_separation/manifest.py — Scope and freeze</a:t>
            </a:r>
          </a:p>
          <a:p>
            <a:r>
              <a:t>[D02X] source-codes/backend/domains/test_lab/diagnostics/t1_d02_feature_target_separation/runner.py — Persist findings and report</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29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Confirm the scope, launch once and review final evidence</a:t>
            </a:r>
          </a:p>
          <a:p>
            <a:endParaRPr/>
          </a:p>
          <a:p>
            <a:r>
              <a:t>Supported launch sequence is summarized from manifest/runner and diagnostic documentation. Drafts are mutable before freeze; frozen scope and completed artifacts remain historical evidence. Launch availability always follows the register. Complete or partial feature evidence remains visible. Final findings become available after run finalization. Invalid/action-required inputs and per-feature ROC/binning errors are explicit; previews are not final results.</a:t>
            </a:r>
          </a:p>
          <a:p>
            <a:endParaRPr/>
          </a:p>
          <a:p>
            <a:r>
              <a:t>SOURCES</a:t>
            </a:r>
          </a:p>
          <a:p>
            <a:r>
              <a:t>[D02R] source-codes/backend/domains/test_lab/diagnostics/t1_d02_feature_target_separation/README.md — Binning workflow; Progressive run review; Governed final report</a:t>
            </a:r>
          </a:p>
          <a:p>
            <a:r>
              <a:t>[D02E] source-codes/backend/domains/test_lab/diagnostics/t1_d02_feature_target_separation/adapter.py — assess_feature_target_separation, _candidate_findings</a:t>
            </a:r>
          </a:p>
          <a:p>
            <a:r>
              <a:t>[D02C] source-codes/backend/domains/test_lab/diagnostics/t1_d02_feature_target_separation/orchestration.py — classify_feature</a:t>
            </a:r>
          </a:p>
          <a:p>
            <a:r>
              <a:t>[D02M] source-codes/backend/domains/test_lab/diagnostics/t1_d02_feature_target_separation/manifest.py — Scope and freeze</a:t>
            </a:r>
          </a:p>
          <a:p>
            <a:r>
              <a:t>[D02X] source-codes/backend/domains/test_lab/diagnostics/t1_d02_feature_target_separation/runner.py — Persist findings and report</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Carry the finding into a controlled investigation</a:t>
            </a:r>
          </a:p>
          <a:p>
            <a:endParaRPr/>
          </a:p>
          <a:p>
            <a:r>
              <a:t>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correct construction or review feature use; manually upload corrected data and reassess.</a:t>
            </a:r>
          </a:p>
          <a:p>
            <a:endParaRPr/>
          </a:p>
          <a:p>
            <a:r>
              <a:t>SOURCES</a:t>
            </a:r>
          </a:p>
          <a:p>
            <a:r>
              <a:t>[D02R] source-codes/backend/domains/test_lab/diagnostics/t1_d02_feature_target_separation/README.md — Binning workflow; Progressive run review; Governed final report</a:t>
            </a:r>
          </a:p>
          <a:p>
            <a:r>
              <a:t>[D02E] source-codes/backend/domains/test_lab/diagnostics/t1_d02_feature_target_separation/adapter.py — assess_feature_target_separation, _candidate_findings</a:t>
            </a:r>
          </a:p>
          <a:p>
            <a:r>
              <a:t>[D02C] source-codes/backend/domains/test_lab/diagnostics/t1_d02_feature_target_separation/orchestration.py — classify_feature</a:t>
            </a:r>
          </a:p>
          <a:p>
            <a:r>
              <a:t>[D02M] source-codes/backend/domains/test_lab/diagnostics/t1_d02_feature_target_separation/manifest.py — Scope and freeze</a:t>
            </a:r>
          </a:p>
          <a:p>
            <a:r>
              <a:t>[D02X] source-codes/backend/domains/test_lab/diagnostics/t1_d02_feature_target_separation/runner.py — Persist findings and report</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whether rows satisfy governed business rules</a:t>
            </a:r>
          </a:p>
          <a:p>
            <a:endParaRPr/>
          </a:p>
          <a:p>
            <a:r>
              <a:t>Purpose and expected outcome derived from diagnostic sources. Implemented • paused. Personas are operating responsibilities, not separate RBAC roles.</a:t>
            </a:r>
          </a:p>
          <a:p>
            <a:endParaRPr/>
          </a:p>
          <a:p>
            <a:r>
              <a:t>SOURCES</a:t>
            </a:r>
          </a:p>
          <a:p>
            <a:r>
              <a:t>[S08] source-codes/backend/knowledge_base/dq_framework_data.json — Diagnostic 4 workflow_pending</a:t>
            </a:r>
          </a:p>
          <a:p>
            <a:r>
              <a:t>[D04R] source-codes/backend/domains/test_lab/diagnostics/t2_d04_cross_field_business_rule/README.md — Package ownership</a:t>
            </a:r>
          </a:p>
          <a:p>
            <a:r>
              <a:t>[D04E] source-codes/backend/domains/test_lab/diagnostics/t2_d04_cross_field_business_rule/engine.py — evaluate_rule and violation_pattern</a:t>
            </a:r>
          </a:p>
          <a:p>
            <a:r>
              <a:t>[D04M] source-codes/backend/domains/test_lab/diagnostics/t2_d04_cross_field_business_rule/manifest.py — Manifest and frozen rules</a:t>
            </a:r>
          </a:p>
          <a:p>
            <a:r>
              <a:t>[D04X] source-codes/backend/domains/test_lab/diagnostics/t2_d04_cross_field_business_rule/runner.py — persist, run and sync_diagnostic_issues</a:t>
            </a:r>
          </a:p>
          <a:p>
            <a:r>
              <a:t>[S14] source-codes/backend/ai/v2/issues.py — sync_diagnostic_issues</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governed processing path</a:t>
            </a:r>
          </a:p>
          <a:p>
            <a:endParaRPr/>
          </a:p>
          <a:p>
            <a:r>
              <a:t>engine.evaluate_rule returns NOT-APPLICABLE for unresolved roles, empty scope, unavailable related tables or entirely skipped values. runner.persist writes structured diagnostic results and one finding per rule. No published bound rules produces NOT-APPLICABLE, never silent PASS. This paused package uses the structured diagnostic store and should not be described as having every newer AAR report feature.</a:t>
            </a:r>
          </a:p>
          <a:p>
            <a:endParaRPr/>
          </a:p>
          <a:p>
            <a:r>
              <a:t>SOURCES</a:t>
            </a:r>
          </a:p>
          <a:p>
            <a:r>
              <a:t>[S08] source-codes/backend/knowledge_base/dq_framework_data.json — Diagnostic 4 workflow_pending</a:t>
            </a:r>
          </a:p>
          <a:p>
            <a:r>
              <a:t>[D04R] source-codes/backend/domains/test_lab/diagnostics/t2_d04_cross_field_business_rule/README.md — Package ownership</a:t>
            </a:r>
          </a:p>
          <a:p>
            <a:r>
              <a:t>[D04E] source-codes/backend/domains/test_lab/diagnostics/t2_d04_cross_field_business_rule/engine.py — evaluate_rule and violation_pattern</a:t>
            </a:r>
          </a:p>
          <a:p>
            <a:r>
              <a:t>[D04M] source-codes/backend/domains/test_lab/diagnostics/t2_d04_cross_field_business_rule/manifest.py — Manifest and frozen rules</a:t>
            </a:r>
          </a:p>
          <a:p>
            <a:r>
              <a:t>[D04X] source-codes/backend/domains/test_lab/diagnostics/t2_d04_cross_field_business_rule/runner.py — persist, run and sync_diagnostic_issues</a:t>
            </a:r>
          </a:p>
          <a:p>
            <a:r>
              <a:t>[S14] source-codes/backend/ai/v2/issues.py — sync_diagnostic_issues</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metrics alongside scope and limitations</a:t>
            </a:r>
          </a:p>
          <a:p>
            <a:endParaRPr/>
          </a:p>
          <a:p>
            <a:r>
              <a:t>engine.evaluate_rule returns NOT-APPLICABLE for unresolved roles, empty scope, unavailable related tables or entirely skipped values. runner.persist writes structured diagnostic results and one finding per rule. No published bound rules produces NOT-APPLICABLE, never silent PASS. This paused package uses the structured diagnostic store and should not be described as having every newer AAR report feature.</a:t>
            </a:r>
          </a:p>
          <a:p>
            <a:endParaRPr/>
          </a:p>
          <a:p>
            <a:r>
              <a:t>SOURCES</a:t>
            </a:r>
          </a:p>
          <a:p>
            <a:r>
              <a:t>[S08] source-codes/backend/knowledge_base/dq_framework_data.json — Diagnostic 4 workflow_pending</a:t>
            </a:r>
          </a:p>
          <a:p>
            <a:r>
              <a:t>[D04R] source-codes/backend/domains/test_lab/diagnostics/t2_d04_cross_field_business_rule/README.md — Package ownership</a:t>
            </a:r>
          </a:p>
          <a:p>
            <a:r>
              <a:t>[D04E] source-codes/backend/domains/test_lab/diagnostics/t2_d04_cross_field_business_rule/engine.py — evaluate_rule and violation_pattern</a:t>
            </a:r>
          </a:p>
          <a:p>
            <a:r>
              <a:t>[D04M] source-codes/backend/domains/test_lab/diagnostics/t2_d04_cross_field_business_rule/manifest.py — Manifest and frozen rules</a:t>
            </a:r>
          </a:p>
          <a:p>
            <a:r>
              <a:t>[D04X] source-codes/backend/domains/test_lab/diagnostics/t2_d04_cross_field_business_rule/runner.py — persist, run and sync_diagnostic_issues</a:t>
            </a:r>
          </a:p>
          <a:p>
            <a:r>
              <a:t>[S14] source-codes/backend/ai/v2/issues.py — sync_diagnostic_issues</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Confirm the scope, launch once and review final evidence</a:t>
            </a:r>
          </a:p>
          <a:p>
            <a:endParaRPr/>
          </a:p>
          <a:p>
            <a:r>
              <a:t>Supported launch sequence is summarized from manifest/runner and diagnostic documentation. Drafts are mutable before freeze; frozen scope and completed artifacts remain historical evidence. Launch availability always follows the register. Implemented path produces complete rule accounting and hands VIOLATION findings to issue synchronization. Current launches are refused. In the code path, missing scope yields reasons; execution errors are sanitized.</a:t>
            </a:r>
          </a:p>
          <a:p>
            <a:endParaRPr/>
          </a:p>
          <a:p>
            <a:r>
              <a:t>SOURCES</a:t>
            </a:r>
          </a:p>
          <a:p>
            <a:r>
              <a:t>[S08] source-codes/backend/knowledge_base/dq_framework_data.json — Diagnostic 4 workflow_pending</a:t>
            </a:r>
          </a:p>
          <a:p>
            <a:r>
              <a:t>[D04R] source-codes/backend/domains/test_lab/diagnostics/t2_d04_cross_field_business_rule/README.md — Package ownership</a:t>
            </a:r>
          </a:p>
          <a:p>
            <a:r>
              <a:t>[D04E] source-codes/backend/domains/test_lab/diagnostics/t2_d04_cross_field_business_rule/engine.py — evaluate_rule and violation_pattern</a:t>
            </a:r>
          </a:p>
          <a:p>
            <a:r>
              <a:t>[D04M] source-codes/backend/domains/test_lab/diagnostics/t2_d04_cross_field_business_rule/manifest.py — Manifest and frozen rules</a:t>
            </a:r>
          </a:p>
          <a:p>
            <a:r>
              <a:t>[D04X] source-codes/backend/domains/test_lab/diagnostics/t2_d04_cross_field_business_rule/runner.py — persist, run and sync_diagnostic_issues</a:t>
            </a:r>
          </a:p>
          <a:p>
            <a:r>
              <a:t>[S14] source-codes/backend/ai/v2/issues.py — sync_diagnostic_issues</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Carry the finding into a controlled investigation</a:t>
            </a:r>
          </a:p>
          <a:p>
            <a:endParaRPr/>
          </a:p>
          <a:p>
            <a:r>
              <a:t>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correct source logic or submit a governed rule change; retest manually after approval and re-enablement.</a:t>
            </a:r>
          </a:p>
          <a:p>
            <a:endParaRPr/>
          </a:p>
          <a:p>
            <a:r>
              <a:t>SOURCES</a:t>
            </a:r>
          </a:p>
          <a:p>
            <a:r>
              <a:t>[S08] source-codes/backend/knowledge_base/dq_framework_data.json — Diagnostic 4 workflow_pending</a:t>
            </a:r>
          </a:p>
          <a:p>
            <a:r>
              <a:t>[D04R] source-codes/backend/domains/test_lab/diagnostics/t2_d04_cross_field_business_rule/README.md — Package ownership</a:t>
            </a:r>
          </a:p>
          <a:p>
            <a:r>
              <a:t>[D04E] source-codes/backend/domains/test_lab/diagnostics/t2_d04_cross_field_business_rule/engine.py — evaluate_rule and violation_pattern</a:t>
            </a:r>
          </a:p>
          <a:p>
            <a:r>
              <a:t>[D04M] source-codes/backend/domains/test_lab/diagnostics/t2_d04_cross_field_business_rule/manifest.py — Manifest and frozen rules</a:t>
            </a:r>
          </a:p>
          <a:p>
            <a:r>
              <a:t>[D04X] source-codes/backend/domains/test_lab/diagnostics/t2_d04_cross_field_business_rule/runner.py — persist, run and sync_diagnostic_issues</a:t>
            </a:r>
          </a:p>
          <a:p>
            <a:r>
              <a:t>[S14] source-codes/backend/ai/v2/issues.py — sync_diagnostic_issues</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missing facility-period rows inside observed lifespans</a:t>
            </a:r>
          </a:p>
          <a:p>
            <a:endParaRPr/>
          </a:p>
          <a:p>
            <a:r>
              <a:t>Purpose and expected outcome derived from diagnostic sources. Implemented • enabled. Personas are operating responsibilities, not separate RBAC roles.</a:t>
            </a:r>
          </a:p>
          <a:p>
            <a:endParaRPr/>
          </a:p>
          <a:p>
            <a:r>
              <a:t>SOURCES</a:t>
            </a:r>
          </a:p>
          <a:p>
            <a:r>
              <a:t>[D06R] source-codes/backend/domains/test_lab/diagnostics/t2_d06_row_completeness/README.md — Governed report</a:t>
            </a:r>
          </a:p>
          <a:p>
            <a:r>
              <a:t>[D06E] source-codes/backend/domains/test_lab/diagnostics/t2_d06_row_completeness/engine.py — _prepare, duplicate groups, observed-span evaluation</a:t>
            </a:r>
          </a:p>
          <a:p>
            <a:r>
              <a:t>[D06M] source-codes/backend/domains/test_lab/diagnostics/t2_d06_row_completeness/manifest.py — Role/grain/floor confirmation and freeze</a:t>
            </a:r>
          </a:p>
          <a:p>
            <a:r>
              <a:t>[D06X] source-codes/backend/domains/test_lab/diagnostics/t2_d06_row_completeness/runner.py — Persist, human review and report</a:t>
            </a:r>
          </a:p>
          <a:p>
            <a:r>
              <a:t>[D06T] source-codes/backend/tests/unit/test_lab/diagnostics/t2_d06_row_completeness/test_row_completeness_engine.py — Regression fixtures</a:t>
            </a:r>
          </a:p>
          <a:p>
            <a:r>
              <a:t>[S08] source-codes/backend/knowledge_base/dq_framework_data.json — Diagnostic 6 executable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governed processing path</a:t>
            </a:r>
          </a:p>
          <a:p>
            <a:endParaRPr/>
          </a:p>
          <a:p>
            <a:r>
              <a:t>Current engine methodology row-completeness-observed-span-v1 overrides the workbook expected-population/anti-join wording. The old contract header says workflow pending, but current register enables #6. Rule IDs are T2D6-01 through T2D6-06. Example from test_invalid_rows_full_calendar_gap_duplicates_and_observed_span_reconcile: 6 required pairs, 4 received, 1 surplus duplicate, 1 invalid row, and 4 primary issue instances (invalid + 2 missing + 1 surplus). This is a synthetic regression fixture, not client data or a new test run.</a:t>
            </a:r>
          </a:p>
          <a:p>
            <a:endParaRPr/>
          </a:p>
          <a:p>
            <a:r>
              <a:t>SOURCES</a:t>
            </a:r>
          </a:p>
          <a:p>
            <a:r>
              <a:t>[D06R] source-codes/backend/domains/test_lab/diagnostics/t2_d06_row_completeness/README.md — Governed report</a:t>
            </a:r>
          </a:p>
          <a:p>
            <a:r>
              <a:t>[D06E] source-codes/backend/domains/test_lab/diagnostics/t2_d06_row_completeness/engine.py — _prepare, duplicate groups, observed-span evaluation</a:t>
            </a:r>
          </a:p>
          <a:p>
            <a:r>
              <a:t>[D06M] source-codes/backend/domains/test_lab/diagnostics/t2_d06_row_completeness/manifest.py — Role/grain/floor confirmation and freeze</a:t>
            </a:r>
          </a:p>
          <a:p>
            <a:r>
              <a:t>[D06X] source-codes/backend/domains/test_lab/diagnostics/t2_d06_row_completeness/runner.py — Persist, human review and report</a:t>
            </a:r>
          </a:p>
          <a:p>
            <a:r>
              <a:t>[D06T] source-codes/backend/tests/unit/test_lab/diagnostics/t2_d06_row_completeness/test_row_completeness_engine.py — Regression fixtures</a:t>
            </a:r>
          </a:p>
          <a:p>
            <a:r>
              <a:t>[S08] source-codes/backend/knowledge_base/dq_framework_data.json — Diagnostic 6 executable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metrics alongside scope and limitations</a:t>
            </a:r>
          </a:p>
          <a:p>
            <a:endParaRPr/>
          </a:p>
          <a:p>
            <a:r>
              <a:t>Current engine methodology row-completeness-observed-span-v1 overrides the workbook expected-population/anti-join wording. The old contract header says workflow pending, but current register enables #6. Rule IDs are T2D6-01 through T2D6-06. Example from test_invalid_rows_full_calendar_gap_duplicates_and_observed_span_reconcile: 6 required pairs, 4 received, 1 surplus duplicate, 1 invalid row, and 4 primary issue instances (invalid + 2 missing + 1 surplus). This is a synthetic regression fixture, not client data or a new test run. Synthetic fixture example is documented in the appendix; visible metrics here describe the contract, not fabricated portfolio results.</a:t>
            </a:r>
          </a:p>
          <a:p>
            <a:endParaRPr/>
          </a:p>
          <a:p>
            <a:r>
              <a:t>SOURCES</a:t>
            </a:r>
          </a:p>
          <a:p>
            <a:r>
              <a:t>[D06R] source-codes/backend/domains/test_lab/diagnostics/t2_d06_row_completeness/README.md — Governed report</a:t>
            </a:r>
          </a:p>
          <a:p>
            <a:r>
              <a:t>[D06E] source-codes/backend/domains/test_lab/diagnostics/t2_d06_row_completeness/engine.py — _prepare, duplicate groups, observed-span evaluation</a:t>
            </a:r>
          </a:p>
          <a:p>
            <a:r>
              <a:t>[D06M] source-codes/backend/domains/test_lab/diagnostics/t2_d06_row_completeness/manifest.py — Role/grain/floor confirmation and freeze</a:t>
            </a:r>
          </a:p>
          <a:p>
            <a:r>
              <a:t>[D06X] source-codes/backend/domains/test_lab/diagnostics/t2_d06_row_completeness/runner.py — Persist, human review and report</a:t>
            </a:r>
          </a:p>
          <a:p>
            <a:r>
              <a:t>[D06T] source-codes/backend/tests/unit/test_lab/diagnostics/t2_d06_row_completeness/test_row_completeness_engine.py — Regression fixtures</a:t>
            </a:r>
          </a:p>
          <a:p>
            <a:r>
              <a:t>[S08] source-codes/backend/knowledge_base/dq_framework_data.json — Diagnostic 6 executable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39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Confirm the scope, launch once and review final evidence</a:t>
            </a:r>
          </a:p>
          <a:p>
            <a:endParaRPr/>
          </a:p>
          <a:p>
            <a:r>
              <a:t>Supported launch sequence is summarized from manifest/runner and diagnostic documentation. Drafts are mutable before freeze; frozen scope and completed artifacts remain historical evidence. Launch availability always follows the register. Six rule outcomes, masked evidence and continuity metrics are retained. Optional segment can be NOT-APPLICABLE. Input/period incompatibilities are reported; failed rules await human review and do not auto-create issues.</a:t>
            </a:r>
          </a:p>
          <a:p>
            <a:endParaRPr/>
          </a:p>
          <a:p>
            <a:r>
              <a:t>SOURCES</a:t>
            </a:r>
          </a:p>
          <a:p>
            <a:r>
              <a:t>[D06R] source-codes/backend/domains/test_lab/diagnostics/t2_d06_row_completeness/README.md — Governed report</a:t>
            </a:r>
          </a:p>
          <a:p>
            <a:r>
              <a:t>[D06E] source-codes/backend/domains/test_lab/diagnostics/t2_d06_row_completeness/engine.py — _prepare, duplicate groups, observed-span evaluation</a:t>
            </a:r>
          </a:p>
          <a:p>
            <a:r>
              <a:t>[D06M] source-codes/backend/domains/test_lab/diagnostics/t2_d06_row_completeness/manifest.py — Role/grain/floor confirmation and freeze</a:t>
            </a:r>
          </a:p>
          <a:p>
            <a:r>
              <a:t>[D06X] source-codes/backend/domains/test_lab/diagnostics/t2_d06_row_completeness/runner.py — Persist, human review and report</a:t>
            </a:r>
          </a:p>
          <a:p>
            <a:r>
              <a:t>[D06T] source-codes/backend/tests/unit/test_lab/diagnostics/t2_d06_row_completeness/test_row_completeness_engine.py — Regression fixtures</a:t>
            </a:r>
          </a:p>
          <a:p>
            <a:r>
              <a:t>[S08] source-codes/backend/knowledge_base/dq_framework_data.json — Diagnostic 6 executable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Carry the finding into a controlled investigation</a:t>
            </a:r>
          </a:p>
          <a:p>
            <a:endParaRPr/>
          </a:p>
          <a:p>
            <a:r>
              <a:t>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reconcile source deliveries or deduplicate; upload corrected panel and rerun for fresh evidence.</a:t>
            </a:r>
          </a:p>
          <a:p>
            <a:endParaRPr/>
          </a:p>
          <a:p>
            <a:r>
              <a:t>SOURCES</a:t>
            </a:r>
          </a:p>
          <a:p>
            <a:r>
              <a:t>[D06R] source-codes/backend/domains/test_lab/diagnostics/t2_d06_row_completeness/README.md — Governed report</a:t>
            </a:r>
          </a:p>
          <a:p>
            <a:r>
              <a:t>[D06E] source-codes/backend/domains/test_lab/diagnostics/t2_d06_row_completeness/engine.py — _prepare, duplicate groups, observed-span evaluation</a:t>
            </a:r>
          </a:p>
          <a:p>
            <a:r>
              <a:t>[D06M] source-codes/backend/domains/test_lab/diagnostics/t2_d06_row_completeness/manifest.py — Role/grain/floor confirmation and freeze</a:t>
            </a:r>
          </a:p>
          <a:p>
            <a:r>
              <a:t>[D06X] source-codes/backend/domains/test_lab/diagnostics/t2_d06_row_completeness/runner.py — Persist, human review and report</a:t>
            </a:r>
          </a:p>
          <a:p>
            <a:r>
              <a:t>[D06T] source-codes/backend/tests/unit/test_lab/diagnostics/t2_d06_row_completeness/test_row_completeness_engine.py — Regression fixtures</a:t>
            </a:r>
          </a:p>
          <a:p>
            <a:r>
              <a:t>[S08] source-codes/backend/knowledge_base/dq_framework_data.json — Diagnostic 6 executable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exceptional values before treating them as defects</a:t>
            </a:r>
          </a:p>
          <a:p>
            <a:endParaRPr/>
          </a:p>
          <a:p>
            <a:r>
              <a:t>Purpose and expected outcome derived from diagnostic sources. Implemented • enabled. Personas are operating responsibilities, not separate RBAC roles.</a:t>
            </a:r>
          </a:p>
          <a:p>
            <a:endParaRPr/>
          </a:p>
          <a:p>
            <a:r>
              <a:t>SOURCES</a:t>
            </a:r>
          </a:p>
          <a:p>
            <a:r>
              <a:t>[D08R] source-codes/backend/domains/test_lab/diagnostics/t2_d08_value_semantics/README.md — User journey, semantic model, reporting, AAR and security</a:t>
            </a:r>
          </a:p>
          <a:p>
            <a:r>
              <a:t>[D08M] source-codes/backend/domains/test_lab/diagnostics/t2_d08_value_semantics/manifest.py — Acknowledgment, bindings, freeze blockers</a:t>
            </a:r>
          </a:p>
          <a:p>
            <a:r>
              <a:t>[D08E] source-codes/backend/domains/test_lab/diagnostics/t2_d08_value_semantics/engine.py — Deterministic primitives and precedence</a:t>
            </a:r>
          </a:p>
          <a:p>
            <a:r>
              <a:t>[D08X] source-codes/backend/domains/test_lab/diagnostics/t2_d08_value_semantics/runner.py — Execution and artifacts</a:t>
            </a:r>
          </a:p>
          <a:p>
            <a:r>
              <a:t>[D08K] source-codes/backend/knowledge_base/value_semantics_kb_v0_2.yaml — Versioned role and rule catalog</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governed processing path</a:t>
            </a:r>
          </a:p>
          <a:p>
            <a:endParaRPr/>
          </a:p>
          <a:p>
            <a:r>
              <a:t>Active rules KB v0.2, terminology v0.3, engine v1.0.0. 36 canonical roles. CENSORED means the required future window/process is incomplete. STALE_FROZEN can be declared sentinel or governed non-variation; NOT_APPLICABLE requires confirmed business conditions. Missing prerequisites remain UNSCOPED. Unresolved competing tag precedence fails closed. Raw source values are excluded from persisted tag/ledger artifacts. Automated downstream consumption of all D08 tags by every diagnostic is not verified and is not claimed.</a:t>
            </a:r>
          </a:p>
          <a:p>
            <a:endParaRPr/>
          </a:p>
          <a:p>
            <a:r>
              <a:t>SOURCES</a:t>
            </a:r>
          </a:p>
          <a:p>
            <a:r>
              <a:t>[D08R] source-codes/backend/domains/test_lab/diagnostics/t2_d08_value_semantics/README.md — User journey, semantic model, reporting, AAR and security</a:t>
            </a:r>
          </a:p>
          <a:p>
            <a:r>
              <a:t>[D08M] source-codes/backend/domains/test_lab/diagnostics/t2_d08_value_semantics/manifest.py — Acknowledgment, bindings, freeze blockers</a:t>
            </a:r>
          </a:p>
          <a:p>
            <a:r>
              <a:t>[D08E] source-codes/backend/domains/test_lab/diagnostics/t2_d08_value_semantics/engine.py — Deterministic primitives and precedence</a:t>
            </a:r>
          </a:p>
          <a:p>
            <a:r>
              <a:t>[D08X] source-codes/backend/domains/test_lab/diagnostics/t2_d08_value_semantics/runner.py — Execution and artifacts</a:t>
            </a:r>
          </a:p>
          <a:p>
            <a:r>
              <a:t>[D08K] source-codes/backend/knowledge_base/value_semantics_kb_v0_2.yaml — Versioned role and rule catalog</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metrics alongside scope and limitations</a:t>
            </a:r>
          </a:p>
          <a:p>
            <a:endParaRPr/>
          </a:p>
          <a:p>
            <a:r>
              <a:t>Active rules KB v0.2, terminology v0.3, engine v1.0.0. 36 canonical roles. CENSORED means the required future window/process is incomplete. STALE_FROZEN can be declared sentinel or governed non-variation; NOT_APPLICABLE requires confirmed business conditions. Missing prerequisites remain UNSCOPED. Unresolved competing tag precedence fails closed. Raw source values are excluded from persisted tag/ledger artifacts. Automated downstream consumption of all D08 tags by every diagnostic is not verified and is not claimed.</a:t>
            </a:r>
          </a:p>
          <a:p>
            <a:endParaRPr/>
          </a:p>
          <a:p>
            <a:r>
              <a:t>SOURCES</a:t>
            </a:r>
          </a:p>
          <a:p>
            <a:r>
              <a:t>[D08R] source-codes/backend/domains/test_lab/diagnostics/t2_d08_value_semantics/README.md — User journey, semantic model, reporting, AAR and security</a:t>
            </a:r>
          </a:p>
          <a:p>
            <a:r>
              <a:t>[D08M] source-codes/backend/domains/test_lab/diagnostics/t2_d08_value_semantics/manifest.py — Acknowledgment, bindings, freeze blockers</a:t>
            </a:r>
          </a:p>
          <a:p>
            <a:r>
              <a:t>[D08E] source-codes/backend/domains/test_lab/diagnostics/t2_d08_value_semantics/engine.py — Deterministic primitives and precedence</a:t>
            </a:r>
          </a:p>
          <a:p>
            <a:r>
              <a:t>[D08X] source-codes/backend/domains/test_lab/diagnostics/t2_d08_value_semantics/runner.py — Execution and artifacts</a:t>
            </a:r>
          </a:p>
          <a:p>
            <a:r>
              <a:t>[D08K] source-codes/backend/knowledge_base/value_semantics_kb_v0_2.yaml — Versioned role and rule catalog</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Confirm the scope, launch once and review final evidence</a:t>
            </a:r>
          </a:p>
          <a:p>
            <a:endParaRPr/>
          </a:p>
          <a:p>
            <a:r>
              <a:t>Supported launch sequence is summarized from manifest/runner and diagnostic documentation. Drafts are mutable before freeze; frozen scope and completed artifacts remain historical evidence. Launch availability always follows the register. Deterministic tags and exhaustive routed coverage publish to AAR, with authenticated reports and inference disclosure. Unacknowledged intro or no usable confirmed role coverage blocks freeze. Missing optional inputs yield UNSCOPED.</a:t>
            </a:r>
          </a:p>
          <a:p>
            <a:endParaRPr/>
          </a:p>
          <a:p>
            <a:r>
              <a:t>SOURCES</a:t>
            </a:r>
          </a:p>
          <a:p>
            <a:r>
              <a:t>[D08R] source-codes/backend/domains/test_lab/diagnostics/t2_d08_value_semantics/README.md — User journey, semantic model, reporting, AAR and security</a:t>
            </a:r>
          </a:p>
          <a:p>
            <a:r>
              <a:t>[D08M] source-codes/backend/domains/test_lab/diagnostics/t2_d08_value_semantics/manifest.py — Acknowledgment, bindings, freeze blockers</a:t>
            </a:r>
          </a:p>
          <a:p>
            <a:r>
              <a:t>[D08E] source-codes/backend/domains/test_lab/diagnostics/t2_d08_value_semantics/engine.py — Deterministic primitives and precedence</a:t>
            </a:r>
          </a:p>
          <a:p>
            <a:r>
              <a:t>[D08X] source-codes/backend/domains/test_lab/diagnostics/t2_d08_value_semantics/runner.py — Execution and artifacts</a:t>
            </a:r>
          </a:p>
          <a:p>
            <a:r>
              <a:t>[D08K] source-codes/backend/knowledge_base/value_semantics_kb_v0_2.yaml — Versioned role and rule catalog</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Carry the finding into a controlled investigation</a:t>
            </a:r>
          </a:p>
          <a:p>
            <a:endParaRPr/>
          </a:p>
          <a:p>
            <a:r>
              <a:t>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correct declarations or source capture when justified; run a new assessment after change.</a:t>
            </a:r>
          </a:p>
          <a:p>
            <a:endParaRPr/>
          </a:p>
          <a:p>
            <a:r>
              <a:t>SOURCES</a:t>
            </a:r>
          </a:p>
          <a:p>
            <a:r>
              <a:t>[D08R] source-codes/backend/domains/test_lab/diagnostics/t2_d08_value_semantics/README.md — User journey, semantic model, reporting, AAR and security</a:t>
            </a:r>
          </a:p>
          <a:p>
            <a:r>
              <a:t>[D08M] source-codes/backend/domains/test_lab/diagnostics/t2_d08_value_semantics/manifest.py — Acknowledgment, bindings, freeze blockers</a:t>
            </a:r>
          </a:p>
          <a:p>
            <a:r>
              <a:t>[D08E] source-codes/backend/domains/test_lab/diagnostics/t2_d08_value_semantics/engine.py — Deterministic primitives and precedence</a:t>
            </a:r>
          </a:p>
          <a:p>
            <a:r>
              <a:t>[D08X] source-codes/backend/domains/test_lab/diagnostics/t2_d08_value_semantics/runner.py — Execution and artifacts</a:t>
            </a:r>
          </a:p>
          <a:p>
            <a:r>
              <a:t>[D08K] source-codes/backend/knowledge_base/value_semantics_kb_v0_2.yaml — Versioned role and rule catalog</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observed relationships with governed expectations</a:t>
            </a:r>
          </a:p>
          <a:p>
            <a:endParaRPr/>
          </a:p>
          <a:p>
            <a:r>
              <a:t>Purpose and expected outcome derived from diagnostic sources. Implemented • enabled. Personas are operating responsibilities, not separate RBAC roles.</a:t>
            </a:r>
          </a:p>
          <a:p>
            <a:endParaRPr/>
          </a:p>
          <a:p>
            <a:r>
              <a:t>SOURCES</a:t>
            </a:r>
          </a:p>
          <a:p>
            <a:r>
              <a:t>[D11R] source-codes/backend/domains/test_lab/diagnostics/t2_d11_directional_monotonic_consistency/README.md — Core invariants; empirical methodology; findings; KB proposal lifecycle</a:t>
            </a:r>
          </a:p>
          <a:p>
            <a:r>
              <a:t>[D11M] source-codes/backend/domains/test_lab/diagnostics/t2_d11_directional_monotonic_consistency/manifest.py — Role decisions, orientation and atomic freeze</a:t>
            </a:r>
          </a:p>
          <a:p>
            <a:r>
              <a:t>[D11E] source-codes/backend/domains/test_lab/diagnostics/t2_d11_directional_monotonic_consistency/engine.py — Component classification and guards</a:t>
            </a:r>
          </a:p>
          <a:p>
            <a:r>
              <a:t>[D11X] source-codes/backend/domains/test_lab/diagnostics/t2_d11_directional_monotonic_consistency/runner.py — Artifacts, findings and report</a:t>
            </a:r>
          </a:p>
          <a:p>
            <a:r>
              <a:t>[D11K] source-codes/backend/knowledge_base/pd_directionality_kb_v0_3.yaml — Expected-risk knowledge v0.3</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governed processing path</a:t>
            </a:r>
          </a:p>
          <a:p>
            <a:endParaRPr/>
          </a:p>
          <a:p>
            <a:r>
              <a:t>Default requested quantile bins 5; minimum paired observations 30; minimum binary class 10; significance level .05; absolute Spearman floor .20; standardized regression floor .10; binned movement .10 reference standard deviations. These are tunable MVP defaults, not adequacy certification. Strong=3/3 directional corroboration; moderate=2/3. Shape and guards can instead yield non-monotonic, flat, conflicting, weak or insufficient-data classes. No formal adjacent-bin inversion count. Reviewed KB proposals require separate curation before a new packaged release consumes them.</a:t>
            </a:r>
          </a:p>
          <a:p>
            <a:endParaRPr/>
          </a:p>
          <a:p>
            <a:r>
              <a:t>SOURCES</a:t>
            </a:r>
          </a:p>
          <a:p>
            <a:r>
              <a:t>[D11R] source-codes/backend/domains/test_lab/diagnostics/t2_d11_directional_monotonic_consistency/README.md — Core invariants; empirical methodology; findings; KB proposal lifecycle</a:t>
            </a:r>
          </a:p>
          <a:p>
            <a:r>
              <a:t>[D11M] source-codes/backend/domains/test_lab/diagnostics/t2_d11_directional_monotonic_consistency/manifest.py — Role decisions, orientation and atomic freeze</a:t>
            </a:r>
          </a:p>
          <a:p>
            <a:r>
              <a:t>[D11E] source-codes/backend/domains/test_lab/diagnostics/t2_d11_directional_monotonic_consistency/engine.py — Component classification and guards</a:t>
            </a:r>
          </a:p>
          <a:p>
            <a:r>
              <a:t>[D11X] source-codes/backend/domains/test_lab/diagnostics/t2_d11_directional_monotonic_consistency/runner.py — Artifacts, findings and report</a:t>
            </a:r>
          </a:p>
          <a:p>
            <a:r>
              <a:t>[D11K] source-codes/backend/knowledge_base/pd_directionality_kb_v0_3.yaml — Expected-risk knowledge v0.3</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metrics alongside scope and limitations</a:t>
            </a:r>
          </a:p>
          <a:p>
            <a:endParaRPr/>
          </a:p>
          <a:p>
            <a:r>
              <a:t>Default requested quantile bins 5; minimum paired observations 30; minimum binary class 10; significance level .05; absolute Spearman floor .20; standardized regression floor .10; binned movement .10 reference standard deviations. These are tunable MVP defaults, not adequacy certification. Strong=3/3 directional corroboration; moderate=2/3. Shape and guards can instead yield non-monotonic, flat, conflicting, weak or insufficient-data classes. No formal adjacent-bin inversion count. Reviewed KB proposals require separate curation before a new packaged release consumes them.</a:t>
            </a:r>
          </a:p>
          <a:p>
            <a:endParaRPr/>
          </a:p>
          <a:p>
            <a:r>
              <a:t>SOURCES</a:t>
            </a:r>
          </a:p>
          <a:p>
            <a:r>
              <a:t>[D11R] source-codes/backend/domains/test_lab/diagnostics/t2_d11_directional_monotonic_consistency/README.md — Core invariants; empirical methodology; findings; KB proposal lifecycle</a:t>
            </a:r>
          </a:p>
          <a:p>
            <a:r>
              <a:t>[D11M] source-codes/backend/domains/test_lab/diagnostics/t2_d11_directional_monotonic_consistency/manifest.py — Role decisions, orientation and atomic freeze</a:t>
            </a:r>
          </a:p>
          <a:p>
            <a:r>
              <a:t>[D11E] source-codes/backend/domains/test_lab/diagnostics/t2_d11_directional_monotonic_consistency/engine.py — Component classification and guards</a:t>
            </a:r>
          </a:p>
          <a:p>
            <a:r>
              <a:t>[D11X] source-codes/backend/domains/test_lab/diagnostics/t2_d11_directional_monotonic_consistency/runner.py — Artifacts, findings and report</a:t>
            </a:r>
          </a:p>
          <a:p>
            <a:r>
              <a:t>[D11K] source-codes/backend/knowledge_base/pd_directionality_kb_v0_3.yaml — Expected-risk knowledge v0.3</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49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Confirm the scope, launch once and review final evidence</a:t>
            </a:r>
          </a:p>
          <a:p>
            <a:endParaRPr/>
          </a:p>
          <a:p>
            <a:r>
              <a:t>Supported launch sequence is summarized from manifest/runner and diagnostic documentation. Drafts are mutable before freeze; frozen scope and completed artifacts remain historical evidence. Launch availability always follows the register. Retained confirmations can be reused on compatible reruns; new overall/segment evidence is computed. Unresolved scope blocks freeze; atomic freeze failure leaves the draft. Feature failures remain explicit.</a:t>
            </a:r>
          </a:p>
          <a:p>
            <a:endParaRPr/>
          </a:p>
          <a:p>
            <a:r>
              <a:t>SOURCES</a:t>
            </a:r>
          </a:p>
          <a:p>
            <a:r>
              <a:t>[D11R] source-codes/backend/domains/test_lab/diagnostics/t2_d11_directional_monotonic_consistency/README.md — Core invariants; empirical methodology; findings; KB proposal lifecycle</a:t>
            </a:r>
          </a:p>
          <a:p>
            <a:r>
              <a:t>[D11M] source-codes/backend/domains/test_lab/diagnostics/t2_d11_directional_monotonic_consistency/manifest.py — Role decisions, orientation and atomic freeze</a:t>
            </a:r>
          </a:p>
          <a:p>
            <a:r>
              <a:t>[D11E] source-codes/backend/domains/test_lab/diagnostics/t2_d11_directional_monotonic_consistency/engine.py — Component classification and guards</a:t>
            </a:r>
          </a:p>
          <a:p>
            <a:r>
              <a:t>[D11X] source-codes/backend/domains/test_lab/diagnostics/t2_d11_directional_monotonic_consistency/runner.py — Artifacts, findings and report</a:t>
            </a:r>
          </a:p>
          <a:p>
            <a:r>
              <a:t>[D11K] source-codes/backend/knowledge_base/pd_directionality_kb_v0_3.yaml — Expected-risk knowledge v0.3</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Carry the finding into a controlled investigation</a:t>
            </a:r>
          </a:p>
          <a:p>
            <a:endParaRPr/>
          </a:p>
          <a:p>
            <a:r>
              <a:t>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investigate mapping, population or business change; propose reviewed KB updates where warranted.</a:t>
            </a:r>
          </a:p>
          <a:p>
            <a:endParaRPr/>
          </a:p>
          <a:p>
            <a:r>
              <a:t>SOURCES</a:t>
            </a:r>
          </a:p>
          <a:p>
            <a:r>
              <a:t>[D11R] source-codes/backend/domains/test_lab/diagnostics/t2_d11_directional_monotonic_consistency/README.md — Core invariants; empirical methodology; findings; KB proposal lifecycle</a:t>
            </a:r>
          </a:p>
          <a:p>
            <a:r>
              <a:t>[D11M] source-codes/backend/domains/test_lab/diagnostics/t2_d11_directional_monotonic_consistency/manifest.py — Role decisions, orientation and atomic freeze</a:t>
            </a:r>
          </a:p>
          <a:p>
            <a:r>
              <a:t>[D11E] source-codes/backend/domains/test_lab/diagnostics/t2_d11_directional_monotonic_consistency/engine.py — Component classification and guards</a:t>
            </a:r>
          </a:p>
          <a:p>
            <a:r>
              <a:t>[D11X] source-codes/backend/domains/test_lab/diagnostics/t2_d11_directional_monotonic_consistency/runner.py — Artifacts, findings and report</a:t>
            </a:r>
          </a:p>
          <a:p>
            <a:r>
              <a:t>[D11K] source-codes/backend/knowledge_base/pd_directionality_kb_v0_3.yaml — Expected-risk knowledge v0.3</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Locate distribution changes between governed populations</a:t>
            </a:r>
          </a:p>
          <a:p>
            <a:endParaRPr/>
          </a:p>
          <a:p>
            <a:r>
              <a:t>Purpose and expected outcome derived from diagnostic sources. Implemented • enabled. Personas are operating responsibilities, not separate RBAC roles.</a:t>
            </a:r>
          </a:p>
          <a:p>
            <a:endParaRPr/>
          </a:p>
          <a:p>
            <a:r>
              <a:t>SOURCES</a:t>
            </a:r>
          </a:p>
          <a:p>
            <a:r>
              <a:t>[D14R] source-codes/backend/domains/test_lab/diagnostics/t4_d14_population_stability/README.md — Route matrix, bin governance, execution and PSI calculation</a:t>
            </a:r>
          </a:p>
          <a:p>
            <a:r>
              <a:t>[D14E] source-codes/backend/domains/test_lab/diagnostics/t4_d14_population_stability/engine.py — classify and calculate_feature_psi</a:t>
            </a:r>
          </a:p>
          <a:p>
            <a:r>
              <a:t>[D14M] source-codes/backend/domains/test_lab/diagnostics/t4_d14_population_stability/manifest.py — Population and bin freeze</a:t>
            </a:r>
          </a:p>
          <a:p>
            <a:r>
              <a:t>[D14X] source-codes/backend/domains/test_lab/diagnostics/t4_d14_population_stability/runner.py — Execution, persistence, findings and report</a:t>
            </a:r>
          </a:p>
          <a:p>
            <a:r>
              <a:t>[D14T] source-codes/backend/tests/integration/test_lab/diagnostics/t4_d14_population_stability/test_population_stability.py — Integration evidence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governed processing path</a:t>
            </a:r>
          </a:p>
          <a:p>
            <a:endParaRPr/>
          </a:p>
          <a:p>
            <a:r>
              <a:t>engine.classify uses &gt;= thresholds, overriding workbook prose with &gt;. Calculation sums (Current share − Baseline share) × ln(Current share / Baseline share), with governed epsilon for zero shares. Target-free numeric bins use Baseline deciles; categoricals top 49 plus OTHER_BASELINE; missing is separate. One-snapshot target-aware always runs D02 on split Baseline. Two-snapshot target-aware uses the exact explicitly promoted D02 fine/coarse/IV chain or regenerates. No approximate reuse; a PSI-specific override does not become a universal D02 definition.</a:t>
            </a:r>
          </a:p>
          <a:p>
            <a:endParaRPr/>
          </a:p>
          <a:p>
            <a:r>
              <a:t>SOURCES</a:t>
            </a:r>
          </a:p>
          <a:p>
            <a:r>
              <a:t>[D14R] source-codes/backend/domains/test_lab/diagnostics/t4_d14_population_stability/README.md — Route matrix, bin governance, execution and PSI calculation</a:t>
            </a:r>
          </a:p>
          <a:p>
            <a:r>
              <a:t>[D14E] source-codes/backend/domains/test_lab/diagnostics/t4_d14_population_stability/engine.py — classify and calculate_feature_psi</a:t>
            </a:r>
          </a:p>
          <a:p>
            <a:r>
              <a:t>[D14M] source-codes/backend/domains/test_lab/diagnostics/t4_d14_population_stability/manifest.py — Population and bin freeze</a:t>
            </a:r>
          </a:p>
          <a:p>
            <a:r>
              <a:t>[D14X] source-codes/backend/domains/test_lab/diagnostics/t4_d14_population_stability/runner.py — Execution, persistence, findings and report</a:t>
            </a:r>
          </a:p>
          <a:p>
            <a:r>
              <a:t>[D14T] source-codes/backend/tests/integration/test_lab/diagnostics/t4_d14_population_stability/test_population_stability.py — Integration evidence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metrics alongside scope and limitations</a:t>
            </a:r>
          </a:p>
          <a:p>
            <a:endParaRPr/>
          </a:p>
          <a:p>
            <a:r>
              <a:t>engine.classify uses &gt;= thresholds, overriding workbook prose with &gt;. Calculation sums (Current share − Baseline share) × ln(Current share / Baseline share), with governed epsilon for zero shares. Target-free numeric bins use Baseline deciles; categoricals top 49 plus OTHER_BASELINE; missing is separate. One-snapshot target-aware always runs D02 on split Baseline. Two-snapshot target-aware uses the exact explicitly promoted D02 fine/coarse/IV chain or regenerates. No approximate reuse; a PSI-specific override does not become a universal D02 definition.</a:t>
            </a:r>
          </a:p>
          <a:p>
            <a:endParaRPr/>
          </a:p>
          <a:p>
            <a:r>
              <a:t>SOURCES</a:t>
            </a:r>
          </a:p>
          <a:p>
            <a:r>
              <a:t>[D14R] source-codes/backend/domains/test_lab/diagnostics/t4_d14_population_stability/README.md — Route matrix, bin governance, execution and PSI calculation</a:t>
            </a:r>
          </a:p>
          <a:p>
            <a:r>
              <a:t>[D14E] source-codes/backend/domains/test_lab/diagnostics/t4_d14_population_stability/engine.py — classify and calculate_feature_psi</a:t>
            </a:r>
          </a:p>
          <a:p>
            <a:r>
              <a:t>[D14M] source-codes/backend/domains/test_lab/diagnostics/t4_d14_population_stability/manifest.py — Population and bin freeze</a:t>
            </a:r>
          </a:p>
          <a:p>
            <a:r>
              <a:t>[D14X] source-codes/backend/domains/test_lab/diagnostics/t4_d14_population_stability/runner.py — Execution, persistence, findings and report</a:t>
            </a:r>
          </a:p>
          <a:p>
            <a:r>
              <a:t>[D14T] source-codes/backend/tests/integration/test_lab/diagnostics/t4_d14_population_stability/test_population_stability.py — Integration evidence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Confirm the scope, launch once and review final evidence</a:t>
            </a:r>
          </a:p>
          <a:p>
            <a:endParaRPr/>
          </a:p>
          <a:p>
            <a:r>
              <a:t>Supported launch sequence is summarized from manifest/runner and diagnostic documentation. Drafts are mutable before freeze; frozen scope and completed artifacts remain historical evidence. Launch availability always follows the register. Server-owned work continues across browser reconnects. Buffered previews remain preliminary until finalization. Incompatible scope, invalid cuts or non-reconciling bins are rejected; unavailable feature evidence is explicit.</a:t>
            </a:r>
          </a:p>
          <a:p>
            <a:endParaRPr/>
          </a:p>
          <a:p>
            <a:r>
              <a:t>SOURCES</a:t>
            </a:r>
          </a:p>
          <a:p>
            <a:r>
              <a:t>[D14R] source-codes/backend/domains/test_lab/diagnostics/t4_d14_population_stability/README.md — Route matrix, bin governance, execution and PSI calculation</a:t>
            </a:r>
          </a:p>
          <a:p>
            <a:r>
              <a:t>[D14E] source-codes/backend/domains/test_lab/diagnostics/t4_d14_population_stability/engine.py — classify and calculate_feature_psi</a:t>
            </a:r>
          </a:p>
          <a:p>
            <a:r>
              <a:t>[D14M] source-codes/backend/domains/test_lab/diagnostics/t4_d14_population_stability/manifest.py — Population and bin freeze</a:t>
            </a:r>
          </a:p>
          <a:p>
            <a:r>
              <a:t>[D14X] source-codes/backend/domains/test_lab/diagnostics/t4_d14_population_stability/runner.py — Execution, persistence, findings and report</a:t>
            </a:r>
          </a:p>
          <a:p>
            <a:r>
              <a:t>[D14T] source-codes/backend/tests/integration/test_lab/diagnostics/t4_d14_population_stability/test_population_stability.py — Integration evidence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Carry the finding into a controlled investigation</a:t>
            </a:r>
          </a:p>
          <a:p>
            <a:endParaRPr/>
          </a:p>
          <a:p>
            <a:r>
              <a:t>Finding condition and creation gate are implemented as described. RCA uses the existing shared service. Investigation suggestions are derived from diagnostic evidence and framework remediation guidance; they are not automated source fixes. Optional tracked remediation and manual fresh-data assessment are separate from current RCA conclusion approval. Suggested: adjust a justified sample/baseline or correct data; approve fresh bins where required and rerun.</a:t>
            </a:r>
          </a:p>
          <a:p>
            <a:endParaRPr/>
          </a:p>
          <a:p>
            <a:r>
              <a:t>SOURCES</a:t>
            </a:r>
          </a:p>
          <a:p>
            <a:r>
              <a:t>[D14R] source-codes/backend/domains/test_lab/diagnostics/t4_d14_population_stability/README.md — Route matrix, bin governance, execution and PSI calculation</a:t>
            </a:r>
          </a:p>
          <a:p>
            <a:r>
              <a:t>[D14E] source-codes/backend/domains/test_lab/diagnostics/t4_d14_population_stability/engine.py — classify and calculate_feature_psi</a:t>
            </a:r>
          </a:p>
          <a:p>
            <a:r>
              <a:t>[D14M] source-codes/backend/domains/test_lab/diagnostics/t4_d14_population_stability/manifest.py — Population and bin freeze</a:t>
            </a:r>
          </a:p>
          <a:p>
            <a:r>
              <a:t>[D14X] source-codes/backend/domains/test_lab/diagnostics/t4_d14_population_stability/runner.py — Execution, persistence, findings and report</a:t>
            </a:r>
          </a:p>
          <a:p>
            <a:r>
              <a:t>[D14T] source-codes/backend/tests/integration/test_lab/diagnostics/t4_d14_population_stability/test_population_stability.py — Integration evidence</a:t>
            </a:r>
          </a:p>
          <a:p>
            <a:r>
              <a:t>[S08] source-codes/backend/knowledge_base/dq_framework_data.json — Current diagnostic register</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missingness patterns without asserting causality</a:t>
            </a:r>
          </a:p>
          <a:p>
            <a:endParaRPr/>
          </a:p>
          <a:p>
            <a:r>
              <a:t>This is a supporting analysis, not registered D06 and not a proof of MCAR, MAR or MNAR. Production implementation is a port of the missingChecks deterministic engine. Findings require explicit user confirmation. No live run or client data is presented.</a:t>
            </a:r>
          </a:p>
          <a:p>
            <a:endParaRPr/>
          </a:p>
          <a:p>
            <a:r>
              <a:t>SOURCES</a:t>
            </a:r>
          </a:p>
          <a:p>
            <a:r>
              <a:t>[S23] source-codes/docs/architecture/phase1b-missingness.md — Product boundary, flow and preserved controls</a:t>
            </a:r>
          </a:p>
          <a:p>
            <a:r>
              <a:t>[S24] source-codes/backend/supporting_analyses/missingness.py — MissingnessCapability</a:t>
            </a:r>
          </a:p>
          <a:p>
            <a:r>
              <a:t>[S33] source-codes/backend/tests/test_missingness_capability.py — Integration checks</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Freeze the missingness scope and retain descriptive evidence</a:t>
            </a:r>
          </a:p>
          <a:p>
            <a:endParaRPr/>
          </a:p>
          <a:p>
            <a:r>
              <a:t>Parameters, seed, scope, inventory fingerprint, period column and missing-code policy freeze into analysis_manifests. Co-missing block members are excluded from one another’s predictor pools. Zero remains valid unless explicitly declared missing. The current documented vertical slice executes synchronously; no diagnostic-progress streaming is promised.</a:t>
            </a:r>
          </a:p>
          <a:p>
            <a:endParaRPr/>
          </a:p>
          <a:p>
            <a:r>
              <a:t>SOURCES</a:t>
            </a:r>
          </a:p>
          <a:p>
            <a:r>
              <a:t>[S23] source-codes/docs/architecture/phase1b-missingness.md — Flow and controls</a:t>
            </a:r>
          </a:p>
          <a:p>
            <a:r>
              <a:t>[S24] source-codes/backend/supporting_analyses/missingness.py — build_manifest and execute</a:t>
            </a:r>
          </a:p>
          <a:p>
            <a:r>
              <a:t>[S33] source-codes/backend/tests/test_missingness_capability.py — test_missingness_capability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observations before starting an issue or RCA</a:t>
            </a:r>
          </a:p>
          <a:p>
            <a:endParaRPr/>
          </a:p>
          <a:p>
            <a:r>
              <a:t>Launch is through analyses/catalog, analyses/manifests, manifest/run and analysis-observations disposition, not diagnostic ID dispatch. Above-tolerance observations remain open until confirmed or dismissed with a reason. A confirmed issue enters the shared RCA journey. Source remediation and corrected-data retest are manual follow-up.</a:t>
            </a:r>
          </a:p>
          <a:p>
            <a:endParaRPr/>
          </a:p>
          <a:p>
            <a:r>
              <a:t>SOURCES</a:t>
            </a:r>
          </a:p>
          <a:p>
            <a:r>
              <a:t>[S23] source-codes/docs/architecture/phase1b-missingness.md — APIs and human observation disposition</a:t>
            </a:r>
          </a:p>
          <a:p>
            <a:r>
              <a:t>[S24] source-codes/backend/supporting_analyses/missingness.py — Catalog and execute</a:t>
            </a:r>
          </a:p>
          <a:p>
            <a:r>
              <a:t>[S33] source-codes/backend/tests/test_missingness_capability.py — Observation confirmation tests</a:t>
            </a:r>
          </a:p>
          <a:p>
            <a:r>
              <a:t>[S16] source-codes/ui/src/features/rca/components/RcaCase.jsx — Shared RCA and optional follow-up</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59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label consistency against the business process</a:t>
            </a:r>
          </a:p>
          <a:p>
            <a:endParaRPr/>
          </a:p>
          <a:p>
            <a:r>
              <a:t>Classification: Planned. Register metadata exists, but no executable diagnostic adapter or accepted current launch workflow is present for T3-D12. Planned method: deterministic violation count after documented rule exceptions. Data and domain SMEs would review conflicts before accepting an issue. Any issue/RCA/remediation journey for this entry is proposed. D17 resolution floor metadata is 0.75 in the current threshold defaults but should be validated for use case before implementation. D20 adjacent governed KB proposals in D11 do not equal execution of this registered proposal loop.</a:t>
            </a:r>
          </a:p>
          <a:p>
            <a:endParaRPr/>
          </a:p>
          <a:p>
            <a:r>
              <a:t>SOURCES</a:t>
            </a:r>
          </a:p>
          <a:p>
            <a:r>
              <a:t>[S08] source-codes/backend/knowledge_base/dq_framework_data.json — register row 12; workflow_pending</a:t>
            </a:r>
          </a:p>
          <a:p>
            <a:r>
              <a:t>[S02] documentation/Presentations/MVP_Test Plan_DA.xlsx — Diagnostics detail row 13</a:t>
            </a:r>
          </a:p>
          <a:p>
            <a:r>
              <a:t>[S10] source-codes/backend/dq_diagnostics/dispatch.py — Adapter dispatch omits this ID</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how fully each vintage’s outcomes have resolved</a:t>
            </a:r>
          </a:p>
          <a:p>
            <a:endParaRPr/>
          </a:p>
          <a:p>
            <a:r>
              <a:t>Classification: Planned. Register metadata exists, but no executable diagnostic adapter or accepted current launch workflow is present for T5-D17. Planned method: resolved count / total count by vintage against a tunable floor. Model and portfolio teams would distinguish incomplete observation from a defect. Any issue/RCA/remediation journey for this entry is proposed. D17 resolution floor metadata is 0.75 in the current threshold defaults but should be validated for use case before implementation. D20 adjacent governed KB proposals in D11 do not equal execution of this registered proposal loop.</a:t>
            </a:r>
          </a:p>
          <a:p>
            <a:endParaRPr/>
          </a:p>
          <a:p>
            <a:r>
              <a:t>SOURCES</a:t>
            </a:r>
          </a:p>
          <a:p>
            <a:r>
              <a:t>[S08] source-codes/backend/knowledge_base/dq_framework_data.json — register row 17; workflow_pending</a:t>
            </a:r>
          </a:p>
          <a:p>
            <a:r>
              <a:t>[S02] documentation/Presentations/MVP_Test Plan_DA.xlsx — Diagnostics detail row 18</a:t>
            </a:r>
          </a:p>
          <a:p>
            <a:r>
              <a:t>[S10] source-codes/backend/dq_diagnostics/dispatch.py — Adapter dispatch omits this ID</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Expand governed relationships through an SME-reviewed loop</a:t>
            </a:r>
          </a:p>
          <a:p>
            <a:endParaRPr/>
          </a:p>
          <a:p>
            <a:r>
              <a:t>Classification: Planned. Register metadata exists, but no executable diagnostic adapter or accepted current launch workflow is present for T6-D20. Planned sequence: propose → validate → persist → route into a Test 2 engine. SMEs would review candidates; confidence ranks proposals and is not a data metric. Any issue/RCA/remediation journey for this entry is proposed. D17 resolution floor metadata is 0.75 in the current threshold defaults but should be validated for use case before implementation. D20 adjacent governed KB proposals in D11 do not equal execution of this registered proposal loop.</a:t>
            </a:r>
          </a:p>
          <a:p>
            <a:endParaRPr/>
          </a:p>
          <a:p>
            <a:r>
              <a:t>SOURCES</a:t>
            </a:r>
          </a:p>
          <a:p>
            <a:r>
              <a:t>[S08] source-codes/backend/knowledge_base/dq_framework_data.json — register row 20; workflow_pending</a:t>
            </a:r>
          </a:p>
          <a:p>
            <a:r>
              <a:t>[S02] documentation/Presentations/MVP_Test Plan_DA.xlsx — Diagnostics detail row 21</a:t>
            </a:r>
          </a:p>
          <a:p>
            <a:r>
              <a:t>[S10] source-codes/backend/dq_diagnostics/dispatch.py — Adapter dispatch omits this ID</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whether feature information arrives after the outcome</a:t>
            </a:r>
          </a:p>
          <a:p>
            <a:endParaRPr/>
          </a:p>
          <a:p>
            <a:r>
              <a:t>Planned, deferred workbook diagnostic. Is a field known only after the outcome (or a look-ahead construction) in the feature set? Planned metric: field availability vs as-of date. Workbook default/decision rule: any post-outcome field in features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2;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category-level target purity with a volume guard</a:t>
            </a:r>
          </a:p>
          <a:p>
            <a:endParaRPr/>
          </a:p>
          <a:p>
            <a:r>
              <a:t>Planned, deferred workbook diagnostic. Does a category value predict the outcome almost deterministically (a proxy for the target)? Planned metric: per-category outcome rate vs base rate; Cramer's V; Information Value (alt: mutual information). NOT a chi-square significance test - significance over-fires at large n; use effect size.. Workbook default/decision rule: conditional outcome rate near 0/1 (e.g. &gt;~95% vs a far base rate) OR Cramer's V / IV &gt; ~0.5; VOLUME-GATED (min category count) to exclude small-sample noise; tunable..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4;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Reconcile recorded derived values with their formulas</a:t>
            </a:r>
          </a:p>
          <a:p>
            <a:endParaRPr/>
          </a:p>
          <a:p>
            <a:r>
              <a:t>Planned, deferred workbook diagnostic. Does a derived field equal its formula? Planned metric: abs(recorded - derived). Workbook default/decision rule: abs diff &gt; small tolerance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6;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Identify fields that appear frozen or disguised as missing</a:t>
            </a:r>
          </a:p>
          <a:p>
            <a:endParaRPr/>
          </a:p>
          <a:p>
            <a:r>
              <a:t>Planned, deferred workbook diagnostic. Is a normally-varying field frozen/sentinel over a segment-period? Planned metric: within-segment variance over time; sentinel share. Workbook default/decision rule: zero/near-zero variance where variance expected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8;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Screen material numeric fields for robust outlier candidates</a:t>
            </a:r>
          </a:p>
          <a:p>
            <a:endParaRPr/>
          </a:p>
          <a:p>
            <a:r>
              <a:t>Planned, deferred workbook diagnostic. Improbable extreme values in a material field's tail. Planned metric: robust z = 0.6745*(x-median)/MAD (alt: IQR fence, isolation forest). Workbook default/decision rule: |robust z| &gt; ~3.5 -&gt; flag; material fields only; gated on value-semantics.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10;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Look for implausible concentration at declared boundaries</a:t>
            </a:r>
          </a:p>
          <a:p>
            <a:endParaRPr/>
          </a:p>
          <a:p>
            <a:r>
              <a:t>Planned, deferred workbook diagnostic. Implausible mass at a bounded field's min/max. Planned metric: share of mass at boundary. Workbook default/decision rule: boundary share &gt; X%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11;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Locate target-rate breaks around definition changes</a:t>
            </a:r>
          </a:p>
          <a:p>
            <a:endParaRPr/>
          </a:p>
          <a:p>
            <a:r>
              <a:t>Planned, deferred workbook diagnostic. Does the target rate shift over time for definitional reasons? Planned metric: change-point / structural-break statistic on target-rate series. Workbook default/decision rule: significant break vs significance level -&gt; flag; align to definition dates.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14;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69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Compare sample and reference distributions using KS distance</a:t>
            </a:r>
          </a:p>
          <a:p>
            <a:endParaRPr/>
          </a:p>
          <a:p>
            <a:r>
              <a:t>Planned, deferred workbook diagnostic. Distributional difference vs reference (complements PSI). Planned metric: Kolmogorov-Smirnov statistic. Workbook default/decision rule: KS above threshold -&gt; flag (over-flags at large n; read with PSI).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16;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Expose absent or thin population segments</a:t>
            </a:r>
          </a:p>
          <a:p>
            <a:endParaRPr/>
          </a:p>
          <a:p>
            <a:r>
              <a:t>Planned, deferred workbook diagnostic. Is any live-population segment absent/thin in the sample? Planned metric: presence &amp; share by segment. Workbook default/decision rule: segment in reference but &lt; min share in sample -&gt; flag.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17;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Quantify the impact of resolved-only outcome selection</a:t>
            </a:r>
          </a:p>
          <a:p>
            <a:endParaRPr/>
          </a:p>
          <a:p>
            <a:r>
              <a:t>Planned, deferred workbook diagnostic. How much the estimate changes on resolved-only vs all. Planned metric: delta(estimate resolved-only vs all). Workbook default/decision rule: differential &gt; Y -&gt; flag downward bias.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19;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whether vintages have had time to mature</a:t>
            </a:r>
          </a:p>
          <a:p>
            <a:endParaRPr/>
          </a:p>
          <a:p>
            <a:r>
              <a:t>Planned, deferred workbook diagnostic. Are recent vintages too immature for the outcome horizon? Planned metric: cumulative outcome by months-on-book (seasoning curve). Workbook default/decision rule: recent vintages below mature seasoning -&gt; flag immaturity. Input binding examples in the workbook are illustrative and are not used as real findings. No registered executor, report schema, current launch or diagnostic-specific automated RCA is claimed. Proposed user is analytics/model team with SME review. Remediation would follow evidence review and manual source or methodology correction.</a:t>
            </a:r>
          </a:p>
          <a:p>
            <a:endParaRPr/>
          </a:p>
          <a:p>
            <a:r>
              <a:t>SOURCES</a:t>
            </a:r>
          </a:p>
          <a:p>
            <a:r>
              <a:t>[S02] documentation/Presentations/MVP_Test Plan_DA.xlsx — Diagnostics detail row 20; Defer (phase-2)</a:t>
            </a:r>
          </a:p>
          <a:p>
            <a:r>
              <a:t>[S28] source-codes/docs/0.4.0/00-framework.md — §5 deferred inventory</a:t>
            </a:r>
          </a:p>
          <a:p>
            <a:r>
              <a:t>[S09] source-codes/backend/dq_diagnostics/register.py — Current register excludes this diagnostic</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Reconcile the inventory without double-counting capabilities</a:t>
            </a:r>
          </a:p>
          <a:p>
            <a:endParaRPr/>
          </a:p>
          <a:p>
            <a:r>
              <a:t>Inventory arithmetic: 20 numbered workbook diagnostics = 9 registered + 11 deferred. The nine registered entries = 5 enabled implementations + 1 paused implementation + 3 planned workflows. One supporting Missingness Mechanism is additional. Nine broader framework reference groups and fourteen retired legacy names are retained as cross-references, not added to the executable count. All current six implementations have five-page sections. Each planned/deferred numbered entry has a dedicated concise page.</a:t>
            </a:r>
          </a:p>
          <a:p>
            <a:endParaRPr/>
          </a:p>
          <a:p>
            <a:r>
              <a:t>SOURCES</a:t>
            </a:r>
          </a:p>
          <a:p>
            <a:r>
              <a:t>[S08] source-codes/backend/knowledge_base/dq_framework_data.json — Nine-row register</a:t>
            </a:r>
          </a:p>
          <a:p>
            <a:r>
              <a:t>[S10] source-codes/backend/dq_diagnostics/dispatch.py — Six adapters</a:t>
            </a:r>
          </a:p>
          <a:p>
            <a:r>
              <a:t>[S02] documentation/Presentations/MVP_Test Plan_DA.xlsx — Twenty primary diagnostic rows</a:t>
            </a:r>
          </a:p>
          <a:p>
            <a:r>
              <a:t>[S23] source-codes/docs/architecture/phase1b-missingness.md — Supporting analysis</a:t>
            </a:r>
          </a:p>
          <a:p>
            <a:r>
              <a:t>[S25] source-codes/backend/dq_tests/registry.py — Retired registry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repository fixtures as examples, with their provenance visible</a:t>
            </a:r>
          </a:p>
          <a:p>
            <a:endParaRPr/>
          </a:p>
          <a:p>
            <a:r>
              <a:t>Example copied from repository test input and assertions. It was not generated from client data and the test was not executed for the presentation. Inputs: A Jan twice, A Mar, B Jan, B Mar, blank facility/bad period. Expected span Jan–Mar for A and B gives 6 required pairs, 4 received unique required pairs, 2 missing pairs, 1 surplus exact duplicate and 1 invalid row. Primary issue instances=4; the missing calendar period is not double-counted. This is evidence of the test contract, not product effectiveness at scale.</a:t>
            </a:r>
          </a:p>
          <a:p>
            <a:endParaRPr/>
          </a:p>
          <a:p>
            <a:r>
              <a:t>SOURCES</a:t>
            </a:r>
          </a:p>
          <a:p>
            <a:r>
              <a:t>[D06T] source-codes/backend/tests/unit/test_lab/diagnostics/t2_d06_row_completeness/test_row_completeness_engine.py — test_invalid_rows_full_calendar_gap_duplicates_and_observed_span_reconcile</a:t>
            </a:r>
          </a:p>
          <a:p>
            <a:r>
              <a:t>[D06E] source-codes/backend/domains/test_lab/diagnostics/t2_d06_row_completeness/engine.py — Observed-span grid and issue accounting</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Assess the supplied sources at their proper authority level</a:t>
            </a:r>
          </a:p>
          <a:p>
            <a:endParaRPr/>
          </a:p>
          <a:p>
            <a:r>
              <a:t>Workbook inspection used openpyxl: populated ranges, tables, charts, images, merged cells and properties. Presentations were inspected as OOXML packages, including slides, shape positions, fonts, fills, themes, layouts and available notes. Both supplied presentation packages could not be opened by the local headless PowerPoint API; their XML content and design were fully accessible. Their originals were not modified. The generated deck is validated separately in native PowerPoint.</a:t>
            </a:r>
          </a:p>
          <a:p>
            <a:endParaRPr/>
          </a:p>
          <a:p>
            <a:r>
              <a:t>SOURCES</a:t>
            </a:r>
          </a:p>
          <a:p>
            <a:r>
              <a:t>[S01] documentation/Presentations/DQ Framework_Analytics and Modeling.xlsx — All five worksheets and metadata</a:t>
            </a:r>
          </a:p>
          <a:p>
            <a:r>
              <a:t>[S02] documentation/Presentations/MVP_Test Plan_DA.xlsx — All five worksheets and metadata</a:t>
            </a:r>
          </a:p>
          <a:p>
            <a:r>
              <a:t>[S03] documentation/Presentations/DataQuality_Framework.pptx — All five slides, shapes, themes and notes XML</a:t>
            </a:r>
          </a:p>
          <a:p>
            <a:r>
              <a:t>[S04] documentation/Presentations/AI and Accelerators_Risk.pptx — All four slides; detailed slide 4 XML</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Show implemented controls beside the remaining enterprise work</a:t>
            </a:r>
          </a:p>
          <a:p>
            <a:endParaRPr/>
          </a:p>
          <a:p>
            <a:r>
              <a:t>This is an evidence-based readiness summary, not a generic compliance checklist. Known gaps originate in repository documentation/code. Current single-tenant deployment and bearer-session controls do not establish enterprise SSO, full per-resource RBAC, fresh-snapshot fix validation or continuous monitoring. No changes were made to address these product gaps during presentation creation.</a:t>
            </a:r>
          </a:p>
          <a:p>
            <a:endParaRPr/>
          </a:p>
          <a:p>
            <a:r>
              <a:t>SOURCES</a:t>
            </a:r>
          </a:p>
          <a:p>
            <a:r>
              <a:t>[S06] source-codes/USER_GUIDE.md — Current journey</a:t>
            </a:r>
          </a:p>
          <a:p>
            <a:r>
              <a:t>[S07] source-codes/TSD.md — Configuration and security boundary</a:t>
            </a:r>
          </a:p>
          <a:p>
            <a:r>
              <a:t>[S15] source-codes/backend/domains/rca/service.py — approve_conclusion and legacy rerun</a:t>
            </a:r>
          </a:p>
          <a:p>
            <a:r>
              <a:t>[S16] source-codes/ui/src/features/rca/components/RcaCase.jsx — Optional handoffs</a:t>
            </a:r>
          </a:p>
          <a:p>
            <a:r>
              <a:t>[S08] source-codes/backend/knowledge_base/dq_framework_data.json — register</a:t>
            </a:r>
          </a:p>
          <a:p>
            <a:r>
              <a:t>[S20] source-codes/docs/rca/00-contracts.md — §13 revised boundaries</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77</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Resolve source conflicts in favor of the current implementation</a:t>
            </a:r>
          </a:p>
          <a:p>
            <a:endParaRPr/>
          </a:p>
          <a:p>
            <a:r>
              <a:t>Main discrepancies: current register five enabled vs stale two/four-executable narratives; D04 paused; D06 doc header pending vs code enabled and observed-span method; D08 v0.2 production vs older broad valid/missing tagging language; D11 expected-versus-observed three-input classifier vs median/inversion wording; PSI &gt;= thresholds vs workbook &gt; prose; current RCA conclusion closure vs historical mandatory fix/rerun sequence; six themes vs older five-theme description. Presented code state includes uncommitted changes and must be checked against the deployed release.</a:t>
            </a:r>
          </a:p>
          <a:p>
            <a:endParaRPr/>
          </a:p>
          <a:p>
            <a:r>
              <a:t>SOURCES</a:t>
            </a:r>
          </a:p>
          <a:p>
            <a:r>
              <a:t>[S08] source-codes/backend/knowledge_base/dq_framework_data.json — register, threshold_defaults and stale scoring narrative</a:t>
            </a:r>
          </a:p>
          <a:p>
            <a:r>
              <a:t>[S28] source-codes/docs/0.4.0/00-framework.md — §3 stale executable invariants</a:t>
            </a:r>
          </a:p>
          <a:p>
            <a:r>
              <a:t>[D06E] source-codes/backend/domains/test_lab/diagnostics/t2_d06_row_completeness/engine.py — Observed-span methodology</a:t>
            </a:r>
          </a:p>
          <a:p>
            <a:r>
              <a:t>[D08R] source-codes/backend/domains/test_lab/diagnostics/t2_d08_value_semantics/README.md — Production workflow</a:t>
            </a:r>
          </a:p>
          <a:p>
            <a:r>
              <a:t>[D11R] source-codes/backend/domains/test_lab/diagnostics/t2_d11_directional_monotonic_consistency/README.md — Three-source empirical classification</a:t>
            </a:r>
          </a:p>
          <a:p>
            <a:r>
              <a:t>[D14E] source-codes/backend/domains/test_lab/diagnostics/t4_d14_population_stability/engine.py — Inclusive threshold comparison</a:t>
            </a:r>
          </a:p>
          <a:p>
            <a:r>
              <a:t>[S16] source-codes/ui/src/features/rca/components/RcaCase.jsx — Current RCA UI</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78</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consistent language for data, analysis and workflow</a:t>
            </a:r>
          </a:p>
          <a:p>
            <a:endParaRPr/>
          </a:p>
          <a:p>
            <a:r>
              <a:t>Definitions are operational descriptions drawn from the cited sources. PD/LGD/EAD expand only the optional credit-risk context names used by D08/D11; this deck does not provide regulatory guidance. AAR naming variation is acknowledged: Analysis Artifact Repository in backend references, Analytics Artifact Repository in UI.</a:t>
            </a:r>
          </a:p>
          <a:p>
            <a:endParaRPr/>
          </a:p>
          <a:p>
            <a:r>
              <a:t>SOURCES</a:t>
            </a:r>
          </a:p>
          <a:p>
            <a:r>
              <a:t>[S01] documentation/Presentations/DQ Framework_Analytics and Modeling.xlsx — Framework terminology</a:t>
            </a:r>
          </a:p>
          <a:p>
            <a:r>
              <a:t>[S06] source-codes/USER_GUIDE.md — Workflow terms</a:t>
            </a:r>
          </a:p>
          <a:p>
            <a:r>
              <a:t>[D02R] source-codes/backend/domains/test_lab/diagnostics/t1_d02_feature_target_separation/README.md — Metrics</a:t>
            </a:r>
          </a:p>
          <a:p>
            <a:r>
              <a:t>[D08R] source-codes/backend/domains/test_lab/diagnostics/t2_d08_value_semantics/README.md — Tags and artifacts</a:t>
            </a:r>
          </a:p>
          <a:p>
            <a:r>
              <a:t>[D11R] source-codes/backend/domains/test_lab/diagnostics/t2_d11_directional_monotonic_consistency/README.md — Relationship evidence</a:t>
            </a:r>
          </a:p>
          <a:p>
            <a:r>
              <a:t>[D14R] source-codes/backend/domains/test_lab/diagnostics/t4_d14_population_stability/README.md — PSI</a:t>
            </a:r>
          </a:p>
          <a:p>
            <a:r>
              <a:t>[S20] source-codes/docs/rca/00-contracts.md — Roles and knowledge governance</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79</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 major claims to their source families (1/3)</a:t>
            </a:r>
          </a:p>
          <a:p>
            <a:endParaRPr/>
          </a:p>
          <a:p>
            <a:r>
              <a:t>Paths are repository-relative. Diagnostic key suffixes: R=README; M=manifest; X=runner; E=engine/adapter; C=classification; T=tests; K=knowledge. For concise navigation, visible paths are shortened; full exact locations are recorded below and in the adjacent validation report. Source matrix groups related claims, while per-slide notes supply the detailed mapping.</a:t>
            </a:r>
          </a:p>
          <a:p>
            <a:endParaRPr/>
          </a:p>
          <a:p>
            <a:r>
              <a:t>SOURCES</a:t>
            </a:r>
          </a:p>
          <a:p>
            <a:r>
              <a:t>[S05] source-codes/README.md</a:t>
            </a:r>
          </a:p>
          <a:p>
            <a:r>
              <a:t>[S06] source-codes/USER_GUIDE.md</a:t>
            </a:r>
          </a:p>
          <a:p>
            <a:r>
              <a:t>[S07] source-codes/TSD.md</a:t>
            </a:r>
          </a:p>
          <a:p>
            <a:r>
              <a:t>[S08] source-codes/backend/knowledge_base/dq_framework_data.json</a:t>
            </a:r>
          </a:p>
          <a:p>
            <a:r>
              <a:t>[S09] source-codes/backend/dq_diagnostics/register.py</a:t>
            </a:r>
          </a:p>
          <a:p>
            <a:r>
              <a:t>[S10] source-codes/backend/dq_diagnostics/dispatch.py</a:t>
            </a:r>
          </a:p>
          <a:p>
            <a:r>
              <a:t>[S11] source-codes/backend/dq_diagnostics/readiness.py</a:t>
            </a:r>
          </a:p>
          <a:p>
            <a:r>
              <a:t>[S12] source-codes/backend/routers/diagnostics.py</a:t>
            </a:r>
          </a:p>
          <a:p>
            <a:r>
              <a:t>[S13] source-codes/backend/domains/test_lab/shared/run_state.py</a:t>
            </a:r>
          </a:p>
          <a:p>
            <a:r>
              <a:t>[S14] source-codes/backend/ai/v2/issues.py</a:t>
            </a:r>
          </a:p>
          <a:p>
            <a:r>
              <a:t>[S15] source-codes/backend/domains/rca/service.py</a:t>
            </a:r>
          </a:p>
          <a:p>
            <a:r>
              <a:t>[S16] source-codes/ui/src/features/rca/components/RcaCase.jsx</a:t>
            </a:r>
          </a:p>
          <a:p>
            <a:r>
              <a:t>[S17] source-codes/backend/routers/admin.py</a:t>
            </a:r>
          </a:p>
          <a:p>
            <a:r>
              <a:t>[S18] source-codes/backend/routers/auth.py</a:t>
            </a:r>
          </a:p>
          <a:p>
            <a:r>
              <a:t>[S19] source-codes/backend/kb.py</a:t>
            </a:r>
          </a:p>
          <a:p>
            <a:r>
              <a:t>[S20] source-codes/docs/rca/00-contracts.md</a:t>
            </a:r>
          </a:p>
          <a:p>
            <a:r>
              <a:t>[S21] source-codes/backend/domains/aar/README.md</a:t>
            </a:r>
          </a:p>
          <a:p>
            <a:r>
              <a:t>[S22] source-codes/docs/architecture/data-sourcing-profiling-aar.md</a:t>
            </a:r>
          </a:p>
          <a:p>
            <a:r>
              <a:t>[S23] source-codes/docs/architecture/phase1b-missingness.md</a:t>
            </a:r>
          </a:p>
          <a:p>
            <a:r>
              <a:t>[S24] source-codes/backend/supporting_analyses/missingness.py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80</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 major claims to their source families (2/3)</a:t>
            </a:r>
          </a:p>
          <a:p>
            <a:endParaRPr/>
          </a:p>
          <a:p>
            <a:r>
              <a:t>Paths are repository-relative. Diagnostic key suffixes: R=README; M=manifest; X=runner; E=engine/adapter; C=classification; T=tests; K=knowledge. For concise navigation, visible paths are shortened; full exact locations are recorded below and in the adjacent validation report. Source matrix groups related claims, while per-slide notes supply the detailed mapping.</a:t>
            </a:r>
          </a:p>
          <a:p>
            <a:endParaRPr/>
          </a:p>
          <a:p>
            <a:r>
              <a:t>SOURCES</a:t>
            </a:r>
          </a:p>
          <a:p>
            <a:r>
              <a:t>[S01] documentation/Presentations/DQ Framework_Analytics and Modeling.xlsx</a:t>
            </a:r>
          </a:p>
          <a:p>
            <a:r>
              <a:t>[S02] documentation/Presentations/MVP_Test Plan_DA.xlsx</a:t>
            </a:r>
          </a:p>
          <a:p>
            <a:r>
              <a:t>[S03] documentation/Presentations/DataQuality_Framework.pptx</a:t>
            </a:r>
          </a:p>
          <a:p>
            <a:r>
              <a:t>[S04] documentation/Presentations/AI and Accelerators_Risk.pptx</a:t>
            </a:r>
          </a:p>
          <a:p>
            <a:r>
              <a:t>[S05] source-codes/README.md</a:t>
            </a:r>
          </a:p>
          <a:p>
            <a:r>
              <a:t>[S06] source-codes/USER_GUIDE.md</a:t>
            </a:r>
          </a:p>
          <a:p>
            <a:r>
              <a:t>[S07] source-codes/TSD.md</a:t>
            </a:r>
          </a:p>
          <a:p>
            <a:r>
              <a:t>[S08] source-codes/backend/knowledge_base/dq_framework_data.json</a:t>
            </a:r>
          </a:p>
          <a:p>
            <a:r>
              <a:t>[S09] source-codes/backend/dq_diagnostics/register.py</a:t>
            </a:r>
          </a:p>
          <a:p>
            <a:r>
              <a:t>[S10] source-codes/backend/dq_diagnostics/dispatch.py</a:t>
            </a:r>
          </a:p>
          <a:p>
            <a:r>
              <a:t>[S11] source-codes/backend/dq_diagnostics/readiness.py</a:t>
            </a:r>
          </a:p>
          <a:p>
            <a:r>
              <a:t>[S12] source-codes/backend/routers/diagnostics.py</a:t>
            </a:r>
          </a:p>
          <a:p>
            <a:r>
              <a:t>[S13] source-codes/backend/domains/test_lab/shared/run_state.py</a:t>
            </a:r>
          </a:p>
          <a:p>
            <a:r>
              <a:t>[S14] source-codes/backend/ai/v2/issues.py</a:t>
            </a:r>
          </a:p>
          <a:p>
            <a:r>
              <a:t>[S15] source-codes/backend/domains/rca/service.py</a:t>
            </a:r>
          </a:p>
          <a:p>
            <a:r>
              <a:t>[S16] source-codes/ui/src/features/rca/components/RcaCase.jsx</a:t>
            </a:r>
          </a:p>
          <a:p>
            <a:r>
              <a:t>[S17] source-codes/backend/routers/admin.py</a:t>
            </a:r>
          </a:p>
          <a:p>
            <a:r>
              <a:t>[S18] source-codes/backend/routers/auth.py</a:t>
            </a:r>
          </a:p>
          <a:p>
            <a:r>
              <a:t>[S19] source-codes/backend/kb.py</a:t>
            </a:r>
          </a:p>
          <a:p>
            <a:r>
              <a:t>[S20] source-codes/docs/rca/00-contracts.md</a:t>
            </a:r>
          </a:p>
          <a:p>
            <a:r>
              <a:t>[S21] source-codes/backend/domains/aar/README.md</a:t>
            </a:r>
          </a:p>
          <a:p>
            <a:r>
              <a:t>[S22] source-codes/docs/architecture/data-sourcing-profiling-aar.md</a:t>
            </a:r>
          </a:p>
          <a:p>
            <a:r>
              <a:t>[S23] source-codes/docs/architecture/phase1b-missingness.md</a:t>
            </a:r>
          </a:p>
          <a:p>
            <a:r>
              <a:t>[S24] source-codes/backend/supporting_analyses/missingness.py</a:t>
            </a:r>
          </a:p>
          <a:p>
            <a:r>
              <a:t>[S25] source-codes/backend/dq_tests/registry.py</a:t>
            </a:r>
          </a:p>
          <a:p>
            <a:r>
              <a:t>[S26] source-codes/docs/0.4.0/01-disposition.md</a:t>
            </a:r>
          </a:p>
          <a:p>
            <a:r>
              <a:t>[S27] documentation/product/aegis-labs-product-spec.md</a:t>
            </a:r>
          </a:p>
          <a:p>
            <a:r>
              <a:t>[S28] source-codes/docs/0.4.0/00-framework.md</a:t>
            </a:r>
          </a:p>
          <a:p>
            <a:r>
              <a:t>[S29] source-codes/backend/domains/aar/types.py</a:t>
            </a:r>
          </a:p>
          <a:p>
            <a:r>
              <a:t>[S30] source-codes/backend/domains/aar/repository.py</a:t>
            </a:r>
          </a:p>
          <a:p>
            <a:r>
              <a:t>[S31] source-codes/backend/routers/sourcing.py</a:t>
            </a:r>
          </a:p>
          <a:p>
            <a:r>
              <a:t>[S32] source-codes/ui/src/pages/testlab/ScorePanel.jsx</a:t>
            </a:r>
          </a:p>
          <a:p>
            <a:r>
              <a:t>[S33] source-codes/backend/tests/test_missingness_capability.py</a:t>
            </a:r>
          </a:p>
          <a:p>
            <a:r>
              <a:t>[S34] source-codes/backend/dq_tests/README.md</a:t>
            </a:r>
          </a:p>
          <a:p>
            <a:r>
              <a:t>[D02R] source-codes/backend/domains/test_lab/diagnostics/t1_d02_feature_target_separation/README.md</a:t>
            </a:r>
          </a:p>
          <a:p>
            <a:r>
              <a:t>[D02M] source-codes/backend/domains/test_lab/diagnostics/t1_d02_feature_target_separation/manifest.py</a:t>
            </a:r>
          </a:p>
          <a:p>
            <a:r>
              <a:t>[D02X] source-codes/backend/domains/test_lab/diagnostics/t1_d02_feature_target_separation/runner.py</a:t>
            </a:r>
          </a:p>
          <a:p>
            <a:r>
              <a:t>[D04R] source-codes/backend/domains/test_lab/diagnostics/t2_d04_cross_field_business_rule/README.md</a:t>
            </a:r>
          </a:p>
          <a:p>
            <a:r>
              <a:t>[D04M] source-codes/backend/domains/test_lab/diagnostics/t2_d04_cross_field_business_rule/manifest.py</a:t>
            </a:r>
          </a:p>
          <a:p>
            <a:r>
              <a:t>[D04X] source-codes/backend/domains/test_lab/diagnostics/t2_d04_cross_field_business_rule/runner.py</a:t>
            </a:r>
          </a:p>
          <a:p>
            <a:r>
              <a:t>[D04E] source-codes/backend/domains/test_lab/diagnostics/t2_d04_cross_field_business_rule/engine.py</a:t>
            </a:r>
          </a:p>
          <a:p>
            <a:r>
              <a:t>[D06R] source-codes/backend/domains/test_lab/diagnostics/t2_d06_row_completeness/README.md</a:t>
            </a:r>
          </a:p>
          <a:p>
            <a:r>
              <a:t>[D06M] source-codes/backend/domains/test_lab/diagnostics/t2_d06_row_completeness/manifest.py</a:t>
            </a:r>
          </a:p>
          <a:p>
            <a:r>
              <a:t>[D06X] source-codes/backend/domains/test_lab/diagnostics/t2_d06_row_completeness/runner.py</a:t>
            </a:r>
          </a:p>
          <a:p>
            <a:r>
              <a:t>[D06E] source-codes/backend/domains/test_lab/diagnostics/t2_d06_row_completeness/engine.py</a:t>
            </a:r>
          </a:p>
          <a:p>
            <a:r>
              <a:t>[D08R] source-codes/backend/domains/test_lab/diagnostics/t2_d08_value_semantics/README.md</a:t>
            </a:r>
          </a:p>
          <a:p>
            <a:r>
              <a:t>[D08M] source-codes/backend/domains/test_lab/diagnostics/t2_d08_value_semantics/manifest.py</a:t>
            </a:r>
          </a:p>
          <a:p>
            <a:r>
              <a:t>[D08X] source-codes/backend/domains/test_lab/diagnostics/t2_d08_value_semantics/runner.py</a:t>
            </a:r>
          </a:p>
          <a:p>
            <a:r>
              <a:t>[D08E] source-codes/backend/domains/test_lab/diagnostics/t2_d08_value_semantics/engine.py</a:t>
            </a:r>
          </a:p>
          <a:p>
            <a:r>
              <a:t>[D11R] source-codes/backend/domains/test_lab/diagnostics/t2_d11_directional_monotonic_consistency/README.md</a:t>
            </a:r>
          </a:p>
          <a:p>
            <a:r>
              <a:t>[D11M] source-codes/backend/domains/test_lab/diagnostics/t2_d11_directional_monotonic_consistency/manifest.py</a:t>
            </a:r>
          </a:p>
          <a:p>
            <a:r>
              <a:t>[D11X] source-codes/backend/domains/test_lab/diagnostics/t2_d11_directional_monotonic_consistency/runner.py</a:t>
            </a:r>
          </a:p>
          <a:p>
            <a:r>
              <a:t>[D11E] source-codes/backend/domains/test_lab/diagnostics/t2_d11_directional_monotonic_consistency/engine.py</a:t>
            </a:r>
          </a:p>
          <a:p>
            <a:r>
              <a:t>[D14R] source-codes/backend/domains/test_lab/diagnostics/t4_d14_population_stability/README.md</a:t>
            </a:r>
          </a:p>
          <a:p>
            <a:r>
              <a:t>[D14M] source-codes/backend/domains/test_lab/diagnostics/t4_d14_population_stability/manifest.py</a:t>
            </a:r>
          </a:p>
          <a:p>
            <a:r>
              <a:t>[D14X] source-codes/backend/domains/test_lab/diagnostics/t4_d14_population_stability/runner.py</a:t>
            </a:r>
          </a:p>
          <a:p>
            <a:r>
              <a:t>[D14E] source-codes/backend/domains/test_lab/diagnostics/t4_d14_population_stability/engine.py</a:t>
            </a:r>
          </a:p>
          <a:p>
            <a:r>
              <a:t>[D02E] source-codes/backend/domains/test_lab/diagnostics/t1_d02_feature_target_separation/adapter.py</a:t>
            </a:r>
          </a:p>
          <a:p>
            <a:r>
              <a:t>[D02C] source-codes/backend/domains/test_lab/diagnostics/t1_d02_feature_target_separation/orchestration.py</a:t>
            </a:r>
          </a:p>
          <a:p>
            <a:r>
              <a:t>[D06T] source-codes/backend/tests/unit/test_lab/diagnostics/t2_d06_row_completeness/test_row_completeness_engine.py</a:t>
            </a:r>
          </a:p>
          <a:p>
            <a:r>
              <a:t>[D08T] source-codes/backend/tests/unit/test_lab/diagnostics/t2_d08_value_semantics/test_value_semantics_engine.py</a:t>
            </a:r>
          </a:p>
          <a:p>
            <a:r>
              <a:t>[D08K] source-codes/backend/knowledge_base/value_semantics_kb_v0_2.yaml</a:t>
            </a:r>
          </a:p>
          <a:p>
            <a:r>
              <a:t>[D11K] source-codes/backend/knowledge_base/pd_directionality_kb_v0_3.yaml</a:t>
            </a:r>
          </a:p>
          <a:p>
            <a:r>
              <a:t>[D11T] source-codes/backend/tests/unit/test_lab/diagnostics/t2_d11_directional_monotonic_consistency/test_directionality_engine.py</a:t>
            </a:r>
          </a:p>
          <a:p>
            <a:r>
              <a:t>[D14T] source-codes/backend/tests/integration/test_lab/diagnostics/t4_d14_population_stability/test_population_stability.py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81</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Trace major claims to their source families (3/3)</a:t>
            </a:r>
          </a:p>
          <a:p>
            <a:endParaRPr/>
          </a:p>
          <a:p>
            <a:r>
              <a:t>Paths are repository-relative. Diagnostic key suffixes: R=README; M=manifest; X=runner; E=engine/adapter; C=classification; T=tests; K=knowledge. For concise navigation, visible paths are shortened; full exact locations are recorded below and in the adjacent validation report. Source matrix groups related claims, while per-slide notes supply the detailed mapping.</a:t>
            </a:r>
          </a:p>
          <a:p>
            <a:endParaRPr/>
          </a:p>
          <a:p>
            <a:r>
              <a:t>SOURCES</a:t>
            </a:r>
          </a:p>
          <a:p>
            <a:r>
              <a:t>[S01] documentation/Presentations/DQ Framework_Analytics and Modeling.xlsx</a:t>
            </a:r>
          </a:p>
          <a:p>
            <a:r>
              <a:t>[S02] documentation/Presentations/MVP_Test Plan_DA.xlsx</a:t>
            </a:r>
          </a:p>
          <a:p>
            <a:r>
              <a:t>[S03] documentation/Presentations/DataQuality_Framework.pptx</a:t>
            </a:r>
          </a:p>
          <a:p>
            <a:r>
              <a:t>[S04] documentation/Presentations/AI and Accelerators_Risk.pptx</a:t>
            </a:r>
          </a:p>
          <a:p>
            <a:r>
              <a:t>[S25] source-codes/backend/dq_tests/registry.py</a:t>
            </a:r>
          </a:p>
          <a:p>
            <a:r>
              <a:t>[S26] source-codes/docs/0.4.0/01-disposition.md</a:t>
            </a:r>
          </a:p>
          <a:p>
            <a:r>
              <a:t>[S27] documentation/product/aegis-labs-product-spec.md</a:t>
            </a:r>
          </a:p>
          <a:p>
            <a:r>
              <a:t>[S28] source-codes/docs/0.4.0/00-framework.md</a:t>
            </a:r>
          </a:p>
          <a:p>
            <a:r>
              <a:t>[S29] source-codes/backend/domains/aar/types.py</a:t>
            </a:r>
          </a:p>
          <a:p>
            <a:r>
              <a:t>[S30] source-codes/backend/domains/aar/repository.py</a:t>
            </a:r>
          </a:p>
          <a:p>
            <a:r>
              <a:t>[S31] source-codes/backend/routers/sourcing.py</a:t>
            </a:r>
          </a:p>
          <a:p>
            <a:r>
              <a:t>[S32] source-codes/ui/src/pages/testlab/ScorePanel.jsx</a:t>
            </a:r>
          </a:p>
          <a:p>
            <a:r>
              <a:t>[S33] source-codes/backend/tests/test_missingness_capability.py</a:t>
            </a:r>
          </a:p>
          <a:p>
            <a:r>
              <a:t>[S34] source-codes/backend/dq_tests/README.md</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82</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Navigate from a presentation section to its evidence</a:t>
            </a:r>
          </a:p>
          <a:p>
            <a:endParaRPr/>
          </a:p>
          <a:p>
            <a:r>
              <a:t>Each slide in the indexed range contains its own source notes. This index is generated from the finished content structure, so the diagnostic sequence and source-family mapping remain aligned.</a:t>
            </a:r>
          </a:p>
          <a:p>
            <a:endParaRPr/>
          </a:p>
          <a:p>
            <a:r>
              <a:t>SOURCES</a:t>
            </a:r>
          </a:p>
          <a:p>
            <a:r>
              <a:t>[S08] source-codes/backend/knowledge_base/dq_framework_data.json — Diagnostic IDs</a:t>
            </a:r>
          </a:p>
          <a:p>
            <a:r>
              <a:t>[S01] documentation/Presentations/DQ Framework_Analytics and Modeling.xlsx — Framework source</a:t>
            </a:r>
          </a:p>
          <a:p>
            <a:r>
              <a:t>[S02] documentation/Presentations/MVP_Test Plan_DA.xlsx — Deferred diagnostic inventory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83</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Navigate from a presentation section to its evidence</a:t>
            </a:r>
          </a:p>
          <a:p>
            <a:endParaRPr/>
          </a:p>
          <a:p>
            <a:r>
              <a:t>Each slide in the indexed range contains its own source notes. This index is generated from the finished content structure, so the diagnostic sequence and source-family mapping remain aligned.</a:t>
            </a:r>
          </a:p>
          <a:p>
            <a:endParaRPr/>
          </a:p>
          <a:p>
            <a:r>
              <a:t>SOURCES</a:t>
            </a:r>
          </a:p>
          <a:p>
            <a:r>
              <a:t>[S08] source-codes/backend/knowledge_base/dq_framework_data.json — Diagnostic IDs</a:t>
            </a:r>
          </a:p>
          <a:p>
            <a:r>
              <a:t>[S01] documentation/Presentations/DQ Framework_Analytics and Modeling.xlsx — Framework source</a:t>
            </a:r>
          </a:p>
          <a:p>
            <a:r>
              <a:t>[S02] documentation/Presentations/MVP_Test Plan_DA.xlsx — Deferred diagnostic inventory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84</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Navigate from a presentation section to its evidence</a:t>
            </a:r>
          </a:p>
          <a:p>
            <a:endParaRPr/>
          </a:p>
          <a:p>
            <a:r>
              <a:t>Each slide in the indexed range contains its own source notes. This index is generated from the finished content structure, so the diagnostic sequence and source-family mapping remain aligned.</a:t>
            </a:r>
          </a:p>
          <a:p>
            <a:endParaRPr/>
          </a:p>
          <a:p>
            <a:r>
              <a:t>SOURCES</a:t>
            </a:r>
          </a:p>
          <a:p>
            <a:r>
              <a:t>[S08] source-codes/backend/knowledge_base/dq_framework_data.json — Diagnostic IDs</a:t>
            </a:r>
          </a:p>
          <a:p>
            <a:r>
              <a:t>[S01] documentation/Presentations/DQ Framework_Analytics and Modeling.xlsx — Framework source</a:t>
            </a:r>
          </a:p>
          <a:p>
            <a:r>
              <a:t>[S02] documentation/Presentations/MVP_Test Plan_DA.xlsx — Deferred diagnostic inventory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85</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Navigate from a presentation section to its evidence</a:t>
            </a:r>
          </a:p>
          <a:p>
            <a:endParaRPr/>
          </a:p>
          <a:p>
            <a:r>
              <a:t>Each slide in the indexed range contains its own source notes. This index is generated from the finished content structure, so the diagnostic sequence and source-family mapping remain aligned.</a:t>
            </a:r>
          </a:p>
          <a:p>
            <a:endParaRPr/>
          </a:p>
          <a:p>
            <a:r>
              <a:t>SOURCES</a:t>
            </a:r>
          </a:p>
          <a:p>
            <a:r>
              <a:t>[S08] source-codes/backend/knowledge_base/dq_framework_data.json — Diagnostic IDs</a:t>
            </a:r>
          </a:p>
          <a:p>
            <a:r>
              <a:t>[S01] documentation/Presentations/DQ Framework_Analytics and Modeling.xlsx — Framework source</a:t>
            </a:r>
          </a:p>
          <a:p>
            <a:r>
              <a:t>[S02] documentation/Presentations/MVP_Test Plan_DA.xlsx — Deferred diagnostic inventory</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86</a:t>
            </a:fld>
            <a:endParaRPr lang="en-IN"/>
          </a:p>
        </p:txBody>
      </p:sp>
    </p:spTree>
    <p:extLst>
      <p:ext uri="{BB962C8B-B14F-4D97-AF65-F5344CB8AC3E}">
        <p14:creationId xmlns:p14="http://schemas.microsoft.com/office/powerpoint/2010/main" val="3517976076"/>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Review the few decisions that affect enterprise adoption</a:t>
            </a:r>
          </a:p>
          <a:p>
            <a:endParaRPr/>
          </a:p>
          <a:p>
            <a:r>
              <a:t>Open owner-validation items: deployed register versus working tree; D04 re-enablement; D08 promotion acceptance; current RCA closure wording and fresh-data remediation acceptance policy; enterprise identity/route permissions; calibration of analytical floors and domain knowledge; full downstream D08 consumption; desired monitoring scope. Deck validation details and any render limitations are recorded in the adjacent markdown report.</a:t>
            </a:r>
          </a:p>
          <a:p>
            <a:endParaRPr/>
          </a:p>
          <a:p>
            <a:r>
              <a:t>SOURCES</a:t>
            </a:r>
          </a:p>
          <a:p>
            <a:r>
              <a:t>[S07] source-codes/TSD.md — Security boundary</a:t>
            </a:r>
          </a:p>
          <a:p>
            <a:r>
              <a:t>[S08] source-codes/backend/knowledge_base/dq_framework_data.json — Current availability</a:t>
            </a:r>
          </a:p>
          <a:p>
            <a:r>
              <a:t>[S15] source-codes/backend/domains/rca/service.py — Approved conclusion boundary</a:t>
            </a:r>
          </a:p>
          <a:p>
            <a:r>
              <a:t>[D06E] source-codes/backend/domains/test_lab/diagnostics/t2_d06_row_completeness/engine.py — Observed-span limitation</a:t>
            </a:r>
          </a:p>
          <a:p>
            <a:r>
              <a:t>[D08R] source-codes/backend/domains/test_lab/diagnostics/t2_d08_value_semantics/README.md — Known boundaries</a:t>
            </a:r>
          </a:p>
          <a:p>
            <a:r>
              <a:t>[D11R] source-codes/backend/domains/test_lab/diagnostics/t2_d11_directional_monotonic_consistency/README.md — MVP defaults</a:t>
            </a:r>
          </a:p>
          <a:p>
            <a:r>
              <a:t>[D14R] source-codes/backend/domains/test_lab/diagnostics/t4_d14_population_stability/README.md — Manual population comparisons</a:t>
            </a:r>
          </a:p>
          <a:p>
            <a:endParaRPr/>
          </a:p>
          <a:p>
            <a:r>
              <a:t>Assessment basis: source working tree, 07 September 2026. Implementation status is based on code/configuration review; not a deployment certification.</a:t>
            </a:r>
          </a:p>
        </p:txBody>
      </p:sp>
      <p:sp>
        <p:nvSpPr>
          <p:cNvPr id="4" name="Slide Number Placeholder 3"/>
          <p:cNvSpPr>
            <a:spLocks noGrp="1"/>
          </p:cNvSpPr>
          <p:nvPr>
            <p:ph type="sldNum" sz="quarter" idx="5"/>
          </p:nvPr>
        </p:nvSpPr>
        <p:spPr/>
        <p:txBody>
          <a:bodyPr/>
          <a:lstStyle/>
          <a:p>
            <a:fld id="{6070524B-625A-43DD-9139-EFC19AAB9059}" type="slidenum">
              <a:rPr lang="en-IN" smtClean="0"/>
              <a:t>87</a:t>
            </a:fld>
            <a:endParaRPr lang="en-IN"/>
          </a:p>
        </p:txBody>
      </p:sp>
    </p:spTree>
    <p:extLst>
      <p:ext uri="{BB962C8B-B14F-4D97-AF65-F5344CB8AC3E}">
        <p14:creationId xmlns:p14="http://schemas.microsoft.com/office/powerpoint/2010/main" val="3517976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4966D-9E49-1932-5A86-A6CB7111AC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303CA9A-636A-57DC-143F-C371A653962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12D917F-AC5F-AF1D-7B3E-48EB96220E9C}"/>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3750C9C5-1474-F364-8645-67CA238B3E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771AD92-21C0-8245-9FC5-BDD5C150CC06}"/>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753135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76169-2CD9-D1C1-11E2-116DFAB8FF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9BE458-1872-5BC7-F244-F782784380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06CA9A-E7FA-7DE2-F462-94B89FBCD07F}"/>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88EF0F37-B572-0EF2-63F2-99A4E19002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03B0A4-1427-626A-C4AE-0F4CCD201815}"/>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788719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F4084-BA4B-74CB-EBB4-AC37F14447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3747E87-AEC1-67FD-1C71-2D3EECB660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A39E57-DE80-8CBD-9662-7CEB7F6F6F7A}"/>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14F997F5-9CD8-92CF-6CCD-2510E35229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90BBD19-9759-ABEE-5638-B4CAB8D9BC1C}"/>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7290281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9BCA8-AEA9-484A-79F5-DF6FDBEA050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FE62680-D470-01FE-DA29-41075373946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3E9518-8C8A-4C0F-0247-F66D8F5B07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41D496B-7A7E-B40E-1C31-869E5EBAFEFF}"/>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6" name="Footer Placeholder 5">
            <a:extLst>
              <a:ext uri="{FF2B5EF4-FFF2-40B4-BE49-F238E27FC236}">
                <a16:creationId xmlns:a16="http://schemas.microsoft.com/office/drawing/2014/main" id="{110C3C5A-AF76-75B1-B923-0B5B43B3CB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E43CFF-C14D-22C1-04B4-0FA592862088}"/>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1533729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CB2B7-83D5-8DF1-D97A-A7EA304B745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BE8E37B-4BE9-4C58-D243-BEAD88472A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162EC9-677F-8729-8FAD-0986AB7093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1484358-82B6-72D1-0D06-681B2A6CA8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3D33B7-920A-E10E-F2F1-127CF3BBC0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15DCC21-F8F9-AE25-32BC-2B1EA50AE82B}"/>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8" name="Footer Placeholder 7">
            <a:extLst>
              <a:ext uri="{FF2B5EF4-FFF2-40B4-BE49-F238E27FC236}">
                <a16:creationId xmlns:a16="http://schemas.microsoft.com/office/drawing/2014/main" id="{E220BB4D-8C22-D98C-2C2B-3B5E39701A0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F4F82B-F428-10D9-3593-ACE133B1217C}"/>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791965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D51CA-F55B-6DB6-7284-21EE64D60C1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84F3874-FA25-E1D5-C9E6-6D6DFD7A8497}"/>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4" name="Footer Placeholder 3">
            <a:extLst>
              <a:ext uri="{FF2B5EF4-FFF2-40B4-BE49-F238E27FC236}">
                <a16:creationId xmlns:a16="http://schemas.microsoft.com/office/drawing/2014/main" id="{1F8883E4-2D04-CAF4-E5BC-62AC9E9695B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C956151-4938-DFDB-BAA1-11598B0863FE}"/>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244576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195A2D-AF60-A226-5B13-60BE943F3CDC}"/>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3" name="Footer Placeholder 2">
            <a:extLst>
              <a:ext uri="{FF2B5EF4-FFF2-40B4-BE49-F238E27FC236}">
                <a16:creationId xmlns:a16="http://schemas.microsoft.com/office/drawing/2014/main" id="{ADAE7D61-9DB6-EF94-02B9-63E9D3C88EB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B59A420-0746-4494-FAB0-9912B1EFD570}"/>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40541280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27EF0-5C60-D483-5301-39A5253F2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F43510-E650-A6D8-5E31-2DA5A18613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6C30D3D-7C49-B9F5-3AEC-C6BFBC368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063FFD-A3EE-F7EB-5CF7-ECB5E0AF00D9}"/>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6" name="Footer Placeholder 5">
            <a:extLst>
              <a:ext uri="{FF2B5EF4-FFF2-40B4-BE49-F238E27FC236}">
                <a16:creationId xmlns:a16="http://schemas.microsoft.com/office/drawing/2014/main" id="{A16361E7-98A8-E1A8-AFF6-4269DCC20F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6AFDC9-70E9-DB7D-04D1-A1AF168E0CCB}"/>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882278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F15A-CC24-DD32-53E0-3485B5F36D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EB9D165-0CCD-7B7F-3991-9A5CAC2C54F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5B5ED30-BEE2-8715-1436-4FE9AC4315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49F66D-3BD2-1E4C-8D62-09C122D8E2E8}"/>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6" name="Footer Placeholder 5">
            <a:extLst>
              <a:ext uri="{FF2B5EF4-FFF2-40B4-BE49-F238E27FC236}">
                <a16:creationId xmlns:a16="http://schemas.microsoft.com/office/drawing/2014/main" id="{03A85FD4-DAF7-0E29-40D0-2D339B3DAD1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37DF562-2FC2-A4C2-A97C-E7A74A6C3ECB}"/>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251388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EBF8A-E1F4-EFB6-FE00-90928F9B2D6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1870753-A3AD-3378-24F5-D40BFC4C53A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9A06E09-D90C-2E3E-5B31-A475087B2175}"/>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D1A1AF67-F125-98DE-CB5E-F50D0B01F4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15F174-594F-0215-89A2-2E5AD1E9D07D}"/>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0702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3B400F0-1B14-5D8D-C4BC-D26F02AA0C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F689DA-50AA-9D8C-32B3-2BFD9778757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3791FF-E1D8-822C-4B8F-BEE942E05EAD}"/>
              </a:ext>
            </a:extLst>
          </p:cNvPr>
          <p:cNvSpPr>
            <a:spLocks noGrp="1"/>
          </p:cNvSpPr>
          <p:nvPr>
            <p:ph type="dt" sz="half" idx="10"/>
          </p:nvPr>
        </p:nvSpPr>
        <p:spPr/>
        <p:txBody>
          <a:body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02E5D092-1458-3A60-4F00-23BE895D28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FE7A3D-2490-B619-59ED-78F98B268A17}"/>
              </a:ext>
            </a:extLst>
          </p:cNvPr>
          <p:cNvSpPr>
            <a:spLocks noGrp="1"/>
          </p:cNvSpPr>
          <p:nvPr>
            <p:ph type="sldNum" sz="quarter" idx="12"/>
          </p:nvPr>
        </p:nvSpPr>
        <p:spPr/>
        <p:txBody>
          <a:bodyPr/>
          <a:lstStyle/>
          <a:p>
            <a:fld id="{672E2321-9154-4AA3-82C0-AEF1CBDAC5C6}" type="slidenum">
              <a:rPr lang="en-IN" smtClean="0"/>
              <a:t>‹#›</a:t>
            </a:fld>
            <a:endParaRPr lang="en-IN"/>
          </a:p>
        </p:txBody>
      </p:sp>
    </p:spTree>
    <p:extLst>
      <p:ext uri="{BB962C8B-B14F-4D97-AF65-F5344CB8AC3E}">
        <p14:creationId xmlns:p14="http://schemas.microsoft.com/office/powerpoint/2010/main" val="2957532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68842F-38DF-A2B3-05E1-70FC5D000E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ED2986-4EBF-D7C6-80D1-0717D7BA1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F6D749-0631-E9DC-C090-75879299A2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A1D9F8E-DEB9-487D-920A-CEF9A3186930}" type="datetimeFigureOut">
              <a:rPr lang="en-IN" smtClean="0"/>
              <a:t>07-09-2026</a:t>
            </a:fld>
            <a:endParaRPr lang="en-IN"/>
          </a:p>
        </p:txBody>
      </p:sp>
      <p:sp>
        <p:nvSpPr>
          <p:cNvPr id="5" name="Footer Placeholder 4">
            <a:extLst>
              <a:ext uri="{FF2B5EF4-FFF2-40B4-BE49-F238E27FC236}">
                <a16:creationId xmlns:a16="http://schemas.microsoft.com/office/drawing/2014/main" id="{4F5BB514-651D-D331-ED69-36A4BCD2DF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190289C-4617-40D3-CBDE-73F3514677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72E2321-9154-4AA3-82C0-AEF1CBDAC5C6}" type="slidenum">
              <a:rPr lang="en-IN" smtClean="0"/>
              <a:t>‹#›</a:t>
            </a:fld>
            <a:endParaRPr lang="en-IN"/>
          </a:p>
        </p:txBody>
      </p:sp>
    </p:spTree>
    <p:extLst>
      <p:ext uri="{BB962C8B-B14F-4D97-AF65-F5344CB8AC3E}">
        <p14:creationId xmlns:p14="http://schemas.microsoft.com/office/powerpoint/2010/main" val="13606635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shape 3"/>
          <p:cNvSpPr/>
          <p:nvPr/>
        </p:nvSpPr>
        <p:spPr>
          <a:xfrm>
            <a:off x="0" y="0"/>
            <a:ext cx="12192000" cy="6858000"/>
          </a:xfrm>
          <a:prstGeom prst="rect">
            <a:avLst/>
          </a:prstGeom>
          <a:solidFill>
            <a:srgbClr val="FFF2DF"/>
          </a:solidFill>
          <a:ln>
            <a:noFill/>
          </a:ln>
        </p:spPr>
      </p:sp>
      <p:sp>
        <p:nvSpPr>
          <p:cNvPr id="4" name="shape 4"/>
          <p:cNvSpPr/>
          <p:nvPr/>
        </p:nvSpPr>
        <p:spPr>
          <a:xfrm>
            <a:off x="8255000" y="0"/>
            <a:ext cx="3937000" cy="6858000"/>
          </a:xfrm>
          <a:prstGeom prst="rect">
            <a:avLst/>
          </a:prstGeom>
          <a:solidFill>
            <a:srgbClr val="282A27"/>
          </a:solidFill>
          <a:ln>
            <a:noFill/>
          </a:ln>
        </p:spPr>
      </p:sp>
      <p:sp>
        <p:nvSpPr>
          <p:cNvPr id="5" name="text 5"/>
          <p:cNvSpPr/>
          <p:nvPr/>
        </p:nvSpPr>
        <p:spPr>
          <a:xfrm>
            <a:off x="558800" y="533400"/>
            <a:ext cx="7175500" cy="3175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6D706B"/>
                </a:solidFill>
                <a:latin typeface="Funnel Sans"/>
              </a:rPr>
              <a:t>ENTERPRISE DATA ASSESSMENT</a:t>
            </a:r>
            <a:endParaRPr lang="en-US" sz="1200"/>
          </a:p>
        </p:txBody>
      </p:sp>
      <p:sp>
        <p:nvSpPr>
          <p:cNvPr id="6" name="text 6"/>
          <p:cNvSpPr/>
          <p:nvPr/>
        </p:nvSpPr>
        <p:spPr>
          <a:xfrm>
            <a:off x="533400" y="1397000"/>
            <a:ext cx="7454900" cy="1866900"/>
          </a:xfrm>
          <a:prstGeom prst="rect">
            <a:avLst/>
          </a:prstGeom>
          <a:noFill/>
          <a:ln>
            <a:noFill/>
          </a:ln>
        </p:spPr>
        <p:txBody>
          <a:bodyPr wrap="none" lIns="0" tIns="0" rIns="0" bIns="0" anchor="t">
            <a:noAutofit/>
          </a:bodyPr>
          <a:lstStyle/>
          <a:p>
            <a:pPr algn="l">
              <a:lnSpc>
                <a:spcPts val="6726"/>
              </a:lnSpc>
              <a:spcAft>
                <a:spcPts val="0"/>
              </a:spcAft>
            </a:pPr>
            <a:r>
              <a:rPr lang="en-US" sz="5900" b="1" dirty="0">
                <a:solidFill>
                  <a:srgbClr val="181C23"/>
                </a:solidFill>
                <a:latin typeface="Funnel Sans"/>
              </a:rPr>
              <a:t>Data</a:t>
            </a:r>
            <a:endParaRPr lang="en-US" sz="5900"/>
          </a:p>
          <a:p>
            <a:pPr algn="l">
              <a:lnSpc>
                <a:spcPts val="6726"/>
              </a:lnSpc>
              <a:spcAft>
                <a:spcPts val="0"/>
              </a:spcAft>
            </a:pPr>
            <a:r>
              <a:rPr lang="en-US" sz="5900" b="1" dirty="0">
                <a:solidFill>
                  <a:srgbClr val="181C23"/>
                </a:solidFill>
                <a:latin typeface="Funnel Sans"/>
              </a:rPr>
              <a:t>Workbench</a:t>
            </a:r>
            <a:endParaRPr lang="en-US" sz="5900"/>
          </a:p>
        </p:txBody>
      </p:sp>
      <p:sp>
        <p:nvSpPr>
          <p:cNvPr id="7" name="text 7"/>
          <p:cNvSpPr/>
          <p:nvPr/>
        </p:nvSpPr>
        <p:spPr>
          <a:xfrm>
            <a:off x="558800" y="3644900"/>
            <a:ext cx="7124700" cy="800100"/>
          </a:xfrm>
          <a:prstGeom prst="rect">
            <a:avLst/>
          </a:prstGeom>
          <a:noFill/>
          <a:ln>
            <a:noFill/>
          </a:ln>
        </p:spPr>
        <p:txBody>
          <a:bodyPr wrap="none" lIns="0" tIns="0" rIns="0" bIns="0" anchor="t">
            <a:noAutofit/>
          </a:bodyPr>
          <a:lstStyle/>
          <a:p>
            <a:pPr algn="l">
              <a:lnSpc>
                <a:spcPts val="2622"/>
              </a:lnSpc>
              <a:spcAft>
                <a:spcPts val="0"/>
              </a:spcAft>
            </a:pPr>
            <a:r>
              <a:rPr lang="en-US" sz="2300" b="0" dirty="0">
                <a:solidFill>
                  <a:srgbClr val="181C23"/>
                </a:solidFill>
                <a:latin typeface="Funnel Sans"/>
              </a:rPr>
              <a:t>Enterprise data diagnostics, issue management,</a:t>
            </a:r>
            <a:endParaRPr lang="en-US" sz="2300"/>
          </a:p>
          <a:p>
            <a:pPr algn="l">
              <a:lnSpc>
                <a:spcPts val="2622"/>
              </a:lnSpc>
              <a:spcAft>
                <a:spcPts val="0"/>
              </a:spcAft>
            </a:pPr>
            <a:r>
              <a:rPr lang="en-US" sz="2300" b="0" dirty="0">
                <a:solidFill>
                  <a:srgbClr val="181C23"/>
                </a:solidFill>
                <a:latin typeface="Funnel Sans"/>
              </a:rPr>
              <a:t>root-cause analysis and remediation</a:t>
            </a:r>
            <a:endParaRPr lang="en-US" sz="2300"/>
          </a:p>
        </p:txBody>
      </p:sp>
      <p:sp>
        <p:nvSpPr>
          <p:cNvPr id="8" name="text 8"/>
          <p:cNvSpPr/>
          <p:nvPr/>
        </p:nvSpPr>
        <p:spPr>
          <a:xfrm>
            <a:off x="558800" y="4838700"/>
            <a:ext cx="7112000" cy="635000"/>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6D706B"/>
                </a:solidFill>
                <a:latin typeface="Funnel Sans"/>
              </a:rPr>
              <a:t>Product framework, operating journey</a:t>
            </a:r>
            <a:endParaRPr lang="en-US" sz="1800"/>
          </a:p>
          <a:p>
            <a:pPr algn="l">
              <a:lnSpc>
                <a:spcPts val="2052"/>
              </a:lnSpc>
              <a:spcAft>
                <a:spcPts val="0"/>
              </a:spcAft>
            </a:pPr>
            <a:r>
              <a:rPr lang="en-US" sz="1800" b="0" dirty="0">
                <a:solidFill>
                  <a:srgbClr val="6D706B"/>
                </a:solidFill>
                <a:latin typeface="Funnel Sans"/>
              </a:rPr>
              <a:t>and diagnostic reference</a:t>
            </a:r>
            <a:endParaRPr lang="en-US" sz="1800"/>
          </a:p>
        </p:txBody>
      </p:sp>
      <p:sp>
        <p:nvSpPr>
          <p:cNvPr id="9" name="shape 9"/>
          <p:cNvSpPr/>
          <p:nvPr/>
        </p:nvSpPr>
        <p:spPr>
          <a:xfrm>
            <a:off x="558800" y="5791200"/>
            <a:ext cx="2730500" cy="317500"/>
          </a:xfrm>
          <a:prstGeom prst="roundRect">
            <a:avLst/>
          </a:prstGeom>
          <a:solidFill>
            <a:srgbClr val="EFEEE9"/>
          </a:solidFill>
          <a:ln>
            <a:noFill/>
          </a:ln>
        </p:spPr>
      </p:sp>
      <p:sp>
        <p:nvSpPr>
          <p:cNvPr id="10" name="text 10"/>
          <p:cNvSpPr/>
          <p:nvPr/>
        </p:nvSpPr>
        <p:spPr>
          <a:xfrm>
            <a:off x="673100" y="5867400"/>
            <a:ext cx="25019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REPOSITORY BASELINE 0.5.2</a:t>
            </a:r>
            <a:endParaRPr lang="en-US" sz="1050"/>
          </a:p>
        </p:txBody>
      </p:sp>
      <p:sp>
        <p:nvSpPr>
          <p:cNvPr id="11" name="text 11"/>
          <p:cNvSpPr/>
          <p:nvPr/>
        </p:nvSpPr>
        <p:spPr>
          <a:xfrm>
            <a:off x="3632200" y="5867400"/>
            <a:ext cx="3619500" cy="2794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6D706B"/>
                </a:solidFill>
                <a:latin typeface="Funnel Sans"/>
              </a:rPr>
              <a:t>07 SEPTEMBER 2026</a:t>
            </a:r>
            <a:endParaRPr lang="en-US" sz="1100"/>
          </a:p>
        </p:txBody>
      </p:sp>
      <p:sp>
        <p:nvSpPr>
          <p:cNvPr id="12" name="shape 12"/>
          <p:cNvSpPr/>
          <p:nvPr/>
        </p:nvSpPr>
        <p:spPr>
          <a:xfrm>
            <a:off x="8661400" y="1282700"/>
            <a:ext cx="63500" cy="127000"/>
          </a:xfrm>
          <a:prstGeom prst="rect">
            <a:avLst/>
          </a:prstGeom>
          <a:solidFill>
            <a:srgbClr val="FF4F59"/>
          </a:solidFill>
          <a:ln>
            <a:noFill/>
          </a:ln>
        </p:spPr>
      </p:sp>
      <p:sp>
        <p:nvSpPr>
          <p:cNvPr id="13" name="shape 13"/>
          <p:cNvSpPr/>
          <p:nvPr/>
        </p:nvSpPr>
        <p:spPr>
          <a:xfrm>
            <a:off x="8775700" y="1155700"/>
            <a:ext cx="63500" cy="254000"/>
          </a:xfrm>
          <a:prstGeom prst="rect">
            <a:avLst/>
          </a:prstGeom>
          <a:solidFill>
            <a:srgbClr val="FF4F59"/>
          </a:solidFill>
          <a:ln>
            <a:noFill/>
          </a:ln>
        </p:spPr>
      </p:sp>
      <p:sp>
        <p:nvSpPr>
          <p:cNvPr id="14" name="shape 14"/>
          <p:cNvSpPr/>
          <p:nvPr/>
        </p:nvSpPr>
        <p:spPr>
          <a:xfrm>
            <a:off x="8890000" y="1066800"/>
            <a:ext cx="63500" cy="342900"/>
          </a:xfrm>
          <a:prstGeom prst="rect">
            <a:avLst/>
          </a:prstGeom>
          <a:solidFill>
            <a:srgbClr val="FF4F59"/>
          </a:solidFill>
          <a:ln>
            <a:noFill/>
          </a:ln>
        </p:spPr>
      </p:sp>
      <p:sp>
        <p:nvSpPr>
          <p:cNvPr id="15" name="text 15"/>
          <p:cNvSpPr/>
          <p:nvPr/>
        </p:nvSpPr>
        <p:spPr>
          <a:xfrm>
            <a:off x="9207500" y="1092200"/>
            <a:ext cx="2616200" cy="3048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FFFFFF"/>
                </a:solidFill>
                <a:latin typeface="Funnel Sans"/>
              </a:rPr>
              <a:t>ASSESS</a:t>
            </a:r>
            <a:endParaRPr lang="en-US" sz="1700"/>
          </a:p>
        </p:txBody>
      </p:sp>
      <p:sp>
        <p:nvSpPr>
          <p:cNvPr id="16" name="text 16"/>
          <p:cNvSpPr/>
          <p:nvPr/>
        </p:nvSpPr>
        <p:spPr>
          <a:xfrm>
            <a:off x="8661400" y="1612900"/>
            <a:ext cx="2984500" cy="622300"/>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FFF2DF"/>
                </a:solidFill>
                <a:latin typeface="Funnel Sans"/>
              </a:rPr>
              <a:t>Govern scope and calculate</a:t>
            </a:r>
            <a:endParaRPr lang="en-US" sz="1800"/>
          </a:p>
          <a:p>
            <a:pPr algn="l">
              <a:lnSpc>
                <a:spcPts val="2052"/>
              </a:lnSpc>
              <a:spcAft>
                <a:spcPts val="0"/>
              </a:spcAft>
            </a:pPr>
            <a:r>
              <a:rPr lang="en-US" sz="1800" b="0" dirty="0">
                <a:solidFill>
                  <a:srgbClr val="FFF2DF"/>
                </a:solidFill>
                <a:latin typeface="Funnel Sans"/>
              </a:rPr>
              <a:t>evidence</a:t>
            </a:r>
            <a:endParaRPr lang="en-US" sz="1800"/>
          </a:p>
        </p:txBody>
      </p:sp>
      <p:sp>
        <p:nvSpPr>
          <p:cNvPr id="17" name="shape 17"/>
          <p:cNvSpPr/>
          <p:nvPr/>
        </p:nvSpPr>
        <p:spPr>
          <a:xfrm>
            <a:off x="8661400" y="2743200"/>
            <a:ext cx="241300" cy="241300"/>
          </a:xfrm>
          <a:prstGeom prst="ellipse">
            <a:avLst/>
          </a:prstGeom>
          <a:noFill/>
          <a:ln w="22860">
            <a:solidFill>
              <a:srgbClr val="FF4F59"/>
            </a:solidFill>
          </a:ln>
        </p:spPr>
      </p:sp>
      <p:cxnSp>
        <p:nvCxnSpPr>
          <p:cNvPr id="18" name="connector 18"/>
          <p:cNvCxnSpPr/>
          <p:nvPr/>
        </p:nvCxnSpPr>
        <p:spPr>
          <a:xfrm>
            <a:off x="8864600" y="29464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19" name="text 19"/>
          <p:cNvSpPr/>
          <p:nvPr/>
        </p:nvSpPr>
        <p:spPr>
          <a:xfrm>
            <a:off x="9207500" y="2768600"/>
            <a:ext cx="2616200" cy="3048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FFFFFF"/>
                </a:solidFill>
                <a:latin typeface="Funnel Sans"/>
              </a:rPr>
              <a:t>EXPLAIN</a:t>
            </a:r>
            <a:endParaRPr lang="en-US" sz="1700"/>
          </a:p>
        </p:txBody>
      </p:sp>
      <p:sp>
        <p:nvSpPr>
          <p:cNvPr id="20" name="text 20"/>
          <p:cNvSpPr/>
          <p:nvPr/>
        </p:nvSpPr>
        <p:spPr>
          <a:xfrm>
            <a:off x="8661400" y="3289300"/>
            <a:ext cx="2984500" cy="622300"/>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FFF2DF"/>
                </a:solidFill>
                <a:latin typeface="Funnel Sans"/>
              </a:rPr>
              <a:t>Review findings and</a:t>
            </a:r>
            <a:endParaRPr lang="en-US" sz="1800"/>
          </a:p>
          <a:p>
            <a:pPr algn="l">
              <a:lnSpc>
                <a:spcPts val="2052"/>
              </a:lnSpc>
              <a:spcAft>
                <a:spcPts val="0"/>
              </a:spcAft>
            </a:pPr>
            <a:r>
              <a:rPr lang="en-US" sz="1800" b="0" dirty="0">
                <a:solidFill>
                  <a:srgbClr val="FFF2DF"/>
                </a:solidFill>
                <a:latin typeface="Funnel Sans"/>
              </a:rPr>
              <a:t>investigate causes</a:t>
            </a:r>
            <a:endParaRPr lang="en-US" sz="1800"/>
          </a:p>
        </p:txBody>
      </p:sp>
      <p:sp>
        <p:nvSpPr>
          <p:cNvPr id="21" name="shape 21"/>
          <p:cNvSpPr/>
          <p:nvPr/>
        </p:nvSpPr>
        <p:spPr>
          <a:xfrm>
            <a:off x="8661400" y="4419600"/>
            <a:ext cx="342900" cy="342900"/>
          </a:xfrm>
          <a:prstGeom prst="ellipse">
            <a:avLst/>
          </a:prstGeom>
          <a:noFill/>
          <a:ln w="19050">
            <a:solidFill>
              <a:srgbClr val="FF4F59"/>
            </a:solidFill>
          </a:ln>
        </p:spPr>
      </p:sp>
      <p:cxnSp>
        <p:nvCxnSpPr>
          <p:cNvPr id="22" name="connector 22"/>
          <p:cNvCxnSpPr/>
          <p:nvPr/>
        </p:nvCxnSpPr>
        <p:spPr>
          <a:xfrm>
            <a:off x="8737600" y="45974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3" name="connector 23"/>
          <p:cNvCxnSpPr/>
          <p:nvPr/>
        </p:nvCxnSpPr>
        <p:spPr>
          <a:xfrm flipV="1">
            <a:off x="8801100" y="45212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4" name="text 24"/>
          <p:cNvSpPr/>
          <p:nvPr/>
        </p:nvSpPr>
        <p:spPr>
          <a:xfrm>
            <a:off x="9207500" y="4445000"/>
            <a:ext cx="2616200" cy="3048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FFFFFF"/>
                </a:solidFill>
                <a:latin typeface="Funnel Sans"/>
              </a:rPr>
              <a:t>ACT</a:t>
            </a:r>
            <a:endParaRPr lang="en-US" sz="1700"/>
          </a:p>
        </p:txBody>
      </p:sp>
      <p:sp>
        <p:nvSpPr>
          <p:cNvPr id="25" name="text 25"/>
          <p:cNvSpPr/>
          <p:nvPr/>
        </p:nvSpPr>
        <p:spPr>
          <a:xfrm>
            <a:off x="8661400" y="4965700"/>
            <a:ext cx="2984500" cy="622300"/>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FFF2DF"/>
                </a:solidFill>
                <a:latin typeface="Funnel Sans"/>
              </a:rPr>
              <a:t>Approve conclusions and</a:t>
            </a:r>
            <a:endParaRPr lang="en-US" sz="1800"/>
          </a:p>
          <a:p>
            <a:pPr algn="l">
              <a:lnSpc>
                <a:spcPts val="2052"/>
              </a:lnSpc>
              <a:spcAft>
                <a:spcPts val="0"/>
              </a:spcAft>
            </a:pPr>
            <a:r>
              <a:rPr lang="en-US" sz="1800" b="0" dirty="0">
                <a:solidFill>
                  <a:srgbClr val="FFF2DF"/>
                </a:solidFill>
                <a:latin typeface="Funnel Sans"/>
              </a:rPr>
              <a:t>track follow-up</a:t>
            </a:r>
            <a:endParaRPr lang="en-US" sz="1800"/>
          </a:p>
        </p:txBody>
      </p:sp>
      <p:cxnSp>
        <p:nvCxnSpPr>
          <p:cNvPr id="26" name="connector 2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text 2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8" name="text 2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01 / 87</a:t>
            </a:r>
            <a:endParaRPr lang="en-US"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01 / PRODUCT</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Turn data-quality signals into reviewable decisions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Data quality (DQ) assessment for analytics and modeling, supported by retained evidence.</a:t>
            </a:r>
            <a:endParaRPr lang="en-US" sz="1500"/>
          </a:p>
        </p:txBody>
      </p:sp>
      <p:sp>
        <p:nvSpPr>
          <p:cNvPr id="6" name="shape 6"/>
          <p:cNvSpPr/>
          <p:nvPr/>
        </p:nvSpPr>
        <p:spPr>
          <a:xfrm>
            <a:off x="508000" y="2222500"/>
            <a:ext cx="3589867" cy="3200400"/>
          </a:xfrm>
          <a:prstGeom prst="rect">
            <a:avLst/>
          </a:prstGeom>
          <a:solidFill>
            <a:srgbClr val="FFFFFF"/>
          </a:solidFill>
          <a:ln w="12700">
            <a:solidFill>
              <a:srgbClr val="DEDCD6"/>
            </a:solidFill>
          </a:ln>
        </p:spPr>
      </p:sp>
      <p:sp>
        <p:nvSpPr>
          <p:cNvPr id="7" name="shape 7"/>
          <p:cNvSpPr/>
          <p:nvPr/>
        </p:nvSpPr>
        <p:spPr>
          <a:xfrm>
            <a:off x="508000" y="2222500"/>
            <a:ext cx="38100" cy="3200400"/>
          </a:xfrm>
          <a:prstGeom prst="rect">
            <a:avLst/>
          </a:prstGeom>
          <a:solidFill>
            <a:srgbClr val="FF4F59"/>
          </a:solidFill>
          <a:ln>
            <a:noFill/>
          </a:ln>
        </p:spPr>
      </p:sp>
      <p:sp>
        <p:nvSpPr>
          <p:cNvPr id="8" name="shape 8"/>
          <p:cNvSpPr/>
          <p:nvPr/>
        </p:nvSpPr>
        <p:spPr>
          <a:xfrm>
            <a:off x="711200" y="2413000"/>
            <a:ext cx="304800" cy="342900"/>
          </a:xfrm>
          <a:prstGeom prst="can">
            <a:avLst/>
          </a:prstGeom>
          <a:noFill/>
          <a:ln w="20320">
            <a:solidFill>
              <a:srgbClr val="FF4F59"/>
            </a:solidFill>
          </a:ln>
        </p:spPr>
      </p:sp>
      <p:sp>
        <p:nvSpPr>
          <p:cNvPr id="9" name="text 9"/>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What it is</a:t>
            </a:r>
            <a:endParaRPr lang="en-US" sz="1900"/>
          </a:p>
        </p:txBody>
      </p:sp>
      <p:sp>
        <p:nvSpPr>
          <p:cNvPr id="10" name="text 10"/>
          <p:cNvSpPr/>
          <p:nvPr/>
        </p:nvSpPr>
        <p:spPr>
          <a:xfrm>
            <a:off x="723900" y="3187700"/>
            <a:ext cx="3158067" cy="2044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workspace to version data,</a:t>
            </a:r>
            <a:endParaRPr lang="en-US" sz="1700"/>
          </a:p>
          <a:p>
            <a:pPr algn="l">
              <a:lnSpc>
                <a:spcPts val="1938"/>
              </a:lnSpc>
              <a:spcAft>
                <a:spcPts val="0"/>
              </a:spcAft>
            </a:pPr>
            <a:r>
              <a:rPr lang="en-US" sz="1700" b="0" dirty="0">
                <a:solidFill>
                  <a:srgbClr val="181C23"/>
                </a:solidFill>
                <a:latin typeface="Funnel Sans"/>
              </a:rPr>
              <a:t>configure diagnostics and</a:t>
            </a:r>
            <a:endParaRPr lang="en-US" sz="1700"/>
          </a:p>
          <a:p>
            <a:pPr algn="l">
              <a:lnSpc>
                <a:spcPts val="1938"/>
              </a:lnSpc>
              <a:spcAft>
                <a:spcPts val="0"/>
              </a:spcAft>
            </a:pPr>
            <a:r>
              <a:rPr lang="en-US" sz="1700" b="0" dirty="0">
                <a:solidFill>
                  <a:srgbClr val="181C23"/>
                </a:solidFill>
                <a:latin typeface="Funnel Sans"/>
              </a:rPr>
              <a:t>investigate findings.</a:t>
            </a:r>
            <a:endParaRPr lang="en-US" sz="1700"/>
          </a:p>
        </p:txBody>
      </p:sp>
      <p:sp>
        <p:nvSpPr>
          <p:cNvPr id="11" name="shape 11"/>
          <p:cNvSpPr/>
          <p:nvPr/>
        </p:nvSpPr>
        <p:spPr>
          <a:xfrm>
            <a:off x="4301067" y="2222500"/>
            <a:ext cx="3589867" cy="3200400"/>
          </a:xfrm>
          <a:prstGeom prst="rect">
            <a:avLst/>
          </a:prstGeom>
          <a:solidFill>
            <a:srgbClr val="FFFFFF"/>
          </a:solidFill>
          <a:ln w="12700">
            <a:solidFill>
              <a:srgbClr val="DEDCD6"/>
            </a:solidFill>
          </a:ln>
        </p:spPr>
      </p:sp>
      <p:sp>
        <p:nvSpPr>
          <p:cNvPr id="12" name="shape 12"/>
          <p:cNvSpPr/>
          <p:nvPr/>
        </p:nvSpPr>
        <p:spPr>
          <a:xfrm>
            <a:off x="4301067" y="2222500"/>
            <a:ext cx="38100" cy="3200400"/>
          </a:xfrm>
          <a:prstGeom prst="rect">
            <a:avLst/>
          </a:prstGeom>
          <a:solidFill>
            <a:srgbClr val="FF4F59"/>
          </a:solidFill>
          <a:ln>
            <a:noFill/>
          </a:ln>
        </p:spPr>
      </p:sp>
      <p:sp>
        <p:nvSpPr>
          <p:cNvPr id="13" name="shape 13"/>
          <p:cNvSpPr/>
          <p:nvPr/>
        </p:nvSpPr>
        <p:spPr>
          <a:xfrm>
            <a:off x="4504267" y="2628900"/>
            <a:ext cx="63500" cy="127000"/>
          </a:xfrm>
          <a:prstGeom prst="rect">
            <a:avLst/>
          </a:prstGeom>
          <a:solidFill>
            <a:srgbClr val="FF4F59"/>
          </a:solidFill>
          <a:ln>
            <a:noFill/>
          </a:ln>
        </p:spPr>
      </p:sp>
      <p:sp>
        <p:nvSpPr>
          <p:cNvPr id="14" name="shape 14"/>
          <p:cNvSpPr/>
          <p:nvPr/>
        </p:nvSpPr>
        <p:spPr>
          <a:xfrm>
            <a:off x="4618567" y="2501900"/>
            <a:ext cx="63500" cy="254000"/>
          </a:xfrm>
          <a:prstGeom prst="rect">
            <a:avLst/>
          </a:prstGeom>
          <a:solidFill>
            <a:srgbClr val="FF4F59"/>
          </a:solidFill>
          <a:ln>
            <a:noFill/>
          </a:ln>
        </p:spPr>
      </p:sp>
      <p:sp>
        <p:nvSpPr>
          <p:cNvPr id="15" name="shape 15"/>
          <p:cNvSpPr/>
          <p:nvPr/>
        </p:nvSpPr>
        <p:spPr>
          <a:xfrm>
            <a:off x="4732867" y="2413000"/>
            <a:ext cx="63500" cy="342900"/>
          </a:xfrm>
          <a:prstGeom prst="rect">
            <a:avLst/>
          </a:prstGeom>
          <a:solidFill>
            <a:srgbClr val="FF4F59"/>
          </a:solidFill>
          <a:ln>
            <a:noFill/>
          </a:ln>
        </p:spPr>
      </p:sp>
      <p:sp>
        <p:nvSpPr>
          <p:cNvPr id="16" name="text 16"/>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How it works</a:t>
            </a:r>
            <a:endParaRPr lang="en-US" sz="1900"/>
          </a:p>
        </p:txBody>
      </p:sp>
      <p:sp>
        <p:nvSpPr>
          <p:cNvPr id="17" name="text 17"/>
          <p:cNvSpPr/>
          <p:nvPr/>
        </p:nvSpPr>
        <p:spPr>
          <a:xfrm>
            <a:off x="4516967" y="3187700"/>
            <a:ext cx="3158067" cy="2044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Governed scope and</a:t>
            </a:r>
            <a:endParaRPr lang="en-US" sz="1700"/>
          </a:p>
          <a:p>
            <a:pPr algn="l">
              <a:lnSpc>
                <a:spcPts val="1938"/>
              </a:lnSpc>
              <a:spcAft>
                <a:spcPts val="0"/>
              </a:spcAft>
            </a:pPr>
            <a:r>
              <a:rPr lang="en-US" sz="1700" b="0" dirty="0">
                <a:solidFill>
                  <a:srgbClr val="181C23"/>
                </a:solidFill>
                <a:latin typeface="Funnel Sans"/>
              </a:rPr>
              <a:t>deterministic analysis, with</a:t>
            </a:r>
            <a:endParaRPr lang="en-US" sz="1700"/>
          </a:p>
          <a:p>
            <a:pPr algn="l">
              <a:lnSpc>
                <a:spcPts val="1938"/>
              </a:lnSpc>
              <a:spcAft>
                <a:spcPts val="0"/>
              </a:spcAft>
            </a:pPr>
            <a:r>
              <a:rPr lang="en-US" sz="1700" b="0" dirty="0">
                <a:solidFill>
                  <a:srgbClr val="181C23"/>
                </a:solidFill>
                <a:latin typeface="Funnel Sans"/>
              </a:rPr>
              <a:t>explicit user decisions at key</a:t>
            </a:r>
            <a:endParaRPr lang="en-US" sz="1700"/>
          </a:p>
          <a:p>
            <a:pPr algn="l">
              <a:lnSpc>
                <a:spcPts val="1938"/>
              </a:lnSpc>
              <a:spcAft>
                <a:spcPts val="0"/>
              </a:spcAft>
            </a:pPr>
            <a:r>
              <a:rPr lang="en-US" sz="1700" b="0" dirty="0">
                <a:solidFill>
                  <a:srgbClr val="181C23"/>
                </a:solidFill>
                <a:latin typeface="Funnel Sans"/>
              </a:rPr>
              <a:t>handoffs.</a:t>
            </a:r>
            <a:endParaRPr lang="en-US" sz="1700"/>
          </a:p>
        </p:txBody>
      </p:sp>
      <p:sp>
        <p:nvSpPr>
          <p:cNvPr id="18" name="shape 18"/>
          <p:cNvSpPr/>
          <p:nvPr/>
        </p:nvSpPr>
        <p:spPr>
          <a:xfrm>
            <a:off x="8094133" y="2222500"/>
            <a:ext cx="3589867" cy="3200400"/>
          </a:xfrm>
          <a:prstGeom prst="rect">
            <a:avLst/>
          </a:prstGeom>
          <a:solidFill>
            <a:srgbClr val="FFFFFF"/>
          </a:solidFill>
          <a:ln w="12700">
            <a:solidFill>
              <a:srgbClr val="DEDCD6"/>
            </a:solidFill>
          </a:ln>
        </p:spPr>
      </p:sp>
      <p:sp>
        <p:nvSpPr>
          <p:cNvPr id="19" name="shape 19"/>
          <p:cNvSpPr/>
          <p:nvPr/>
        </p:nvSpPr>
        <p:spPr>
          <a:xfrm>
            <a:off x="8094133" y="2222500"/>
            <a:ext cx="38100" cy="3200400"/>
          </a:xfrm>
          <a:prstGeom prst="rect">
            <a:avLst/>
          </a:prstGeom>
          <a:solidFill>
            <a:srgbClr val="FF4F59"/>
          </a:solidFill>
          <a:ln>
            <a:noFill/>
          </a:ln>
        </p:spPr>
      </p:sp>
      <p:sp>
        <p:nvSpPr>
          <p:cNvPr id="20" name="shape 20"/>
          <p:cNvSpPr/>
          <p:nvPr/>
        </p:nvSpPr>
        <p:spPr>
          <a:xfrm>
            <a:off x="8297333" y="2413000"/>
            <a:ext cx="342900" cy="342900"/>
          </a:xfrm>
          <a:prstGeom prst="ellipse">
            <a:avLst/>
          </a:prstGeom>
          <a:noFill/>
          <a:ln w="19050">
            <a:solidFill>
              <a:srgbClr val="FF4F59"/>
            </a:solidFill>
          </a:ln>
        </p:spPr>
      </p:sp>
      <p:cxnSp>
        <p:nvCxnSpPr>
          <p:cNvPr id="21" name="connector 21"/>
          <p:cNvCxnSpPr/>
          <p:nvPr/>
        </p:nvCxnSpPr>
        <p:spPr>
          <a:xfrm>
            <a:off x="8373533" y="25908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2" name="connector 22"/>
          <p:cNvCxnSpPr/>
          <p:nvPr/>
        </p:nvCxnSpPr>
        <p:spPr>
          <a:xfrm flipV="1">
            <a:off x="8437033" y="25146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3" name="text 23"/>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What teams gain</a:t>
            </a:r>
            <a:endParaRPr lang="en-US" sz="1900"/>
          </a:p>
        </p:txBody>
      </p:sp>
      <p:sp>
        <p:nvSpPr>
          <p:cNvPr id="24" name="text 24"/>
          <p:cNvSpPr/>
          <p:nvPr/>
        </p:nvSpPr>
        <p:spPr>
          <a:xfrm>
            <a:off x="8310033" y="3187700"/>
            <a:ext cx="3158067" cy="2044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Traceable evidence, consistent</a:t>
            </a:r>
            <a:endParaRPr lang="en-US" sz="1700"/>
          </a:p>
          <a:p>
            <a:pPr algn="l">
              <a:lnSpc>
                <a:spcPts val="1938"/>
              </a:lnSpc>
              <a:spcAft>
                <a:spcPts val="0"/>
              </a:spcAft>
            </a:pPr>
            <a:r>
              <a:rPr lang="en-US" sz="1700" b="0" dirty="0">
                <a:solidFill>
                  <a:srgbClr val="181C23"/>
                </a:solidFill>
                <a:latin typeface="Funnel Sans"/>
              </a:rPr>
              <a:t>review and a recorded path</a:t>
            </a:r>
            <a:endParaRPr lang="en-US" sz="1700"/>
          </a:p>
          <a:p>
            <a:pPr algn="l">
              <a:lnSpc>
                <a:spcPts val="1938"/>
              </a:lnSpc>
              <a:spcAft>
                <a:spcPts val="0"/>
              </a:spcAft>
            </a:pPr>
            <a:r>
              <a:rPr lang="en-US" sz="1700" b="0" dirty="0">
                <a:solidFill>
                  <a:srgbClr val="181C23"/>
                </a:solidFill>
                <a:latin typeface="Funnel Sans"/>
              </a:rPr>
              <a:t>from finding to conclusion.</a:t>
            </a:r>
            <a:endParaRPr lang="en-US" sz="1700"/>
          </a:p>
        </p:txBody>
      </p:sp>
      <p:sp>
        <p:nvSpPr>
          <p:cNvPr id="25" name="shape 25"/>
          <p:cNvSpPr/>
          <p:nvPr/>
        </p:nvSpPr>
        <p:spPr>
          <a:xfrm>
            <a:off x="508000" y="5740400"/>
            <a:ext cx="11176000" cy="546100"/>
          </a:xfrm>
          <a:prstGeom prst="rect">
            <a:avLst/>
          </a:prstGeom>
          <a:solidFill>
            <a:srgbClr val="282A27"/>
          </a:solidFill>
          <a:ln>
            <a:noFill/>
          </a:ln>
        </p:spPr>
      </p:sp>
      <p:sp>
        <p:nvSpPr>
          <p:cNvPr id="26" name="text 26"/>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5 launch-enabled diagnostics • 1 implemented but paused • 3 registered planned workflows</a:t>
            </a:r>
            <a:endParaRPr lang="en-US" sz="1600"/>
          </a:p>
        </p:txBody>
      </p:sp>
      <p:cxnSp>
        <p:nvCxnSpPr>
          <p:cNvPr id="27" name="connector 2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9" name="text 2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02 / 87</a:t>
            </a:r>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01 / PRODUCT</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Expose analytical risks before they become modeling problems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framework assesses whether data is fit for its intended analytical use.</a:t>
            </a:r>
            <a:endParaRPr lang="en-US" sz="1500"/>
          </a:p>
        </p:txBody>
      </p:sp>
      <p:sp>
        <p:nvSpPr>
          <p:cNvPr id="6" name="shape 6"/>
          <p:cNvSpPr/>
          <p:nvPr/>
        </p:nvSpPr>
        <p:spPr>
          <a:xfrm>
            <a:off x="508000" y="2222500"/>
            <a:ext cx="3589867" cy="3200400"/>
          </a:xfrm>
          <a:prstGeom prst="rect">
            <a:avLst/>
          </a:prstGeom>
          <a:solidFill>
            <a:srgbClr val="FFFFFF"/>
          </a:solidFill>
          <a:ln w="12700">
            <a:solidFill>
              <a:srgbClr val="DEDCD6"/>
            </a:solidFill>
          </a:ln>
        </p:spPr>
      </p:sp>
      <p:sp>
        <p:nvSpPr>
          <p:cNvPr id="7" name="shape 7"/>
          <p:cNvSpPr/>
          <p:nvPr/>
        </p:nvSpPr>
        <p:spPr>
          <a:xfrm>
            <a:off x="508000" y="2222500"/>
            <a:ext cx="38100" cy="3200400"/>
          </a:xfrm>
          <a:prstGeom prst="rect">
            <a:avLst/>
          </a:prstGeom>
          <a:solidFill>
            <a:srgbClr val="FF4F59"/>
          </a:solidFill>
          <a:ln>
            <a:noFill/>
          </a:ln>
        </p:spPr>
      </p:sp>
      <p:sp>
        <p:nvSpPr>
          <p:cNvPr id="8" name="shape 8"/>
          <p:cNvSpPr/>
          <p:nvPr/>
        </p:nvSpPr>
        <p:spPr>
          <a:xfrm>
            <a:off x="711200" y="2413000"/>
            <a:ext cx="304800" cy="342900"/>
          </a:xfrm>
          <a:prstGeom prst="can">
            <a:avLst/>
          </a:prstGeom>
          <a:noFill/>
          <a:ln w="20320">
            <a:solidFill>
              <a:srgbClr val="FF4F59"/>
            </a:solidFill>
          </a:ln>
        </p:spPr>
      </p:sp>
      <p:sp>
        <p:nvSpPr>
          <p:cNvPr id="9" name="text 9"/>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Data can look complete</a:t>
            </a:r>
            <a:endParaRPr lang="en-US" sz="1900"/>
          </a:p>
        </p:txBody>
      </p:sp>
      <p:sp>
        <p:nvSpPr>
          <p:cNvPr id="10" name="text 10"/>
          <p:cNvSpPr/>
          <p:nvPr/>
        </p:nvSpPr>
        <p:spPr>
          <a:xfrm>
            <a:off x="723900" y="3187700"/>
            <a:ext cx="3158067" cy="2044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valid file can still contain</a:t>
            </a:r>
            <a:endParaRPr lang="en-US" sz="1700"/>
          </a:p>
          <a:p>
            <a:pPr algn="l">
              <a:lnSpc>
                <a:spcPts val="1938"/>
              </a:lnSpc>
              <a:spcAft>
                <a:spcPts val="0"/>
              </a:spcAft>
            </a:pPr>
            <a:r>
              <a:rPr lang="en-US" sz="1700" b="0" dirty="0">
                <a:solidFill>
                  <a:srgbClr val="181C23"/>
                </a:solidFill>
                <a:latin typeface="Funnel Sans"/>
              </a:rPr>
              <a:t>biased populations, immature</a:t>
            </a:r>
            <a:endParaRPr lang="en-US" sz="1700"/>
          </a:p>
          <a:p>
            <a:pPr algn="l">
              <a:lnSpc>
                <a:spcPts val="1938"/>
              </a:lnSpc>
              <a:spcAft>
                <a:spcPts val="0"/>
              </a:spcAft>
            </a:pPr>
            <a:r>
              <a:rPr lang="en-US" sz="1700" b="0" dirty="0">
                <a:solidFill>
                  <a:srgbClr val="181C23"/>
                </a:solidFill>
                <a:latin typeface="Funnel Sans"/>
              </a:rPr>
              <a:t>outcomes or leaked predictors.</a:t>
            </a:r>
            <a:endParaRPr lang="en-US" sz="1700"/>
          </a:p>
        </p:txBody>
      </p:sp>
      <p:sp>
        <p:nvSpPr>
          <p:cNvPr id="11" name="shape 11"/>
          <p:cNvSpPr/>
          <p:nvPr/>
        </p:nvSpPr>
        <p:spPr>
          <a:xfrm>
            <a:off x="4301067" y="2222500"/>
            <a:ext cx="3589867" cy="3200400"/>
          </a:xfrm>
          <a:prstGeom prst="rect">
            <a:avLst/>
          </a:prstGeom>
          <a:solidFill>
            <a:srgbClr val="FFFFFF"/>
          </a:solidFill>
          <a:ln w="12700">
            <a:solidFill>
              <a:srgbClr val="DEDCD6"/>
            </a:solidFill>
          </a:ln>
        </p:spPr>
      </p:sp>
      <p:sp>
        <p:nvSpPr>
          <p:cNvPr id="12" name="shape 12"/>
          <p:cNvSpPr/>
          <p:nvPr/>
        </p:nvSpPr>
        <p:spPr>
          <a:xfrm>
            <a:off x="4301067" y="2222500"/>
            <a:ext cx="38100" cy="3200400"/>
          </a:xfrm>
          <a:prstGeom prst="rect">
            <a:avLst/>
          </a:prstGeom>
          <a:solidFill>
            <a:srgbClr val="FF4F59"/>
          </a:solidFill>
          <a:ln>
            <a:noFill/>
          </a:ln>
        </p:spPr>
      </p:sp>
      <p:sp>
        <p:nvSpPr>
          <p:cNvPr id="13" name="shape 13"/>
          <p:cNvSpPr/>
          <p:nvPr/>
        </p:nvSpPr>
        <p:spPr>
          <a:xfrm>
            <a:off x="4504267" y="2413000"/>
            <a:ext cx="241300" cy="241300"/>
          </a:xfrm>
          <a:prstGeom prst="ellipse">
            <a:avLst/>
          </a:prstGeom>
          <a:noFill/>
          <a:ln w="22860">
            <a:solidFill>
              <a:srgbClr val="FF4F59"/>
            </a:solidFill>
          </a:ln>
        </p:spPr>
      </p:sp>
      <p:cxnSp>
        <p:nvCxnSpPr>
          <p:cNvPr id="14" name="connector 14"/>
          <p:cNvCxnSpPr/>
          <p:nvPr/>
        </p:nvCxnSpPr>
        <p:spPr>
          <a:xfrm>
            <a:off x="4707467" y="26162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15" name="text 15"/>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Meaning can be</a:t>
            </a:r>
            <a:endParaRPr lang="en-US" sz="1900"/>
          </a:p>
          <a:p>
            <a:pPr algn="l">
              <a:lnSpc>
                <a:spcPts val="2166"/>
              </a:lnSpc>
              <a:spcAft>
                <a:spcPts val="0"/>
              </a:spcAft>
            </a:pPr>
            <a:r>
              <a:rPr lang="en-US" sz="1900" b="1" dirty="0">
                <a:solidFill>
                  <a:srgbClr val="181C23"/>
                </a:solidFill>
                <a:latin typeface="Funnel Sans"/>
              </a:rPr>
              <a:t>unclear</a:t>
            </a:r>
            <a:endParaRPr lang="en-US" sz="1900"/>
          </a:p>
        </p:txBody>
      </p:sp>
      <p:sp>
        <p:nvSpPr>
          <p:cNvPr id="16" name="text 16"/>
          <p:cNvSpPr/>
          <p:nvPr/>
        </p:nvSpPr>
        <p:spPr>
          <a:xfrm>
            <a:off x="4516967" y="3187700"/>
            <a:ext cx="3158067" cy="2044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Sentinels, censoring and</a:t>
            </a:r>
            <a:endParaRPr lang="en-US" sz="1700"/>
          </a:p>
          <a:p>
            <a:pPr algn="l">
              <a:lnSpc>
                <a:spcPts val="1938"/>
              </a:lnSpc>
              <a:spcAft>
                <a:spcPts val="0"/>
              </a:spcAft>
            </a:pPr>
            <a:r>
              <a:rPr lang="en-US" sz="1700" b="0" dirty="0">
                <a:solidFill>
                  <a:srgbClr val="181C23"/>
                </a:solidFill>
                <a:latin typeface="Funnel Sans"/>
              </a:rPr>
              <a:t>conditional fields need</a:t>
            </a:r>
            <a:endParaRPr lang="en-US" sz="1700"/>
          </a:p>
          <a:p>
            <a:pPr algn="l">
              <a:lnSpc>
                <a:spcPts val="1938"/>
              </a:lnSpc>
              <a:spcAft>
                <a:spcPts val="0"/>
              </a:spcAft>
            </a:pPr>
            <a:r>
              <a:rPr lang="en-US" sz="1700" b="0" dirty="0">
                <a:solidFill>
                  <a:srgbClr val="181C23"/>
                </a:solidFill>
                <a:latin typeface="Funnel Sans"/>
              </a:rPr>
              <a:t>business context before a</a:t>
            </a:r>
            <a:endParaRPr lang="en-US" sz="1700"/>
          </a:p>
          <a:p>
            <a:pPr algn="l">
              <a:lnSpc>
                <a:spcPts val="1938"/>
              </a:lnSpc>
              <a:spcAft>
                <a:spcPts val="0"/>
              </a:spcAft>
            </a:pPr>
            <a:r>
              <a:rPr lang="en-US" sz="1700" b="0" dirty="0">
                <a:solidFill>
                  <a:srgbClr val="181C23"/>
                </a:solidFill>
                <a:latin typeface="Funnel Sans"/>
              </a:rPr>
              <a:t>quality decision.</a:t>
            </a:r>
            <a:endParaRPr lang="en-US" sz="1700"/>
          </a:p>
        </p:txBody>
      </p:sp>
      <p:sp>
        <p:nvSpPr>
          <p:cNvPr id="17" name="shape 17"/>
          <p:cNvSpPr/>
          <p:nvPr/>
        </p:nvSpPr>
        <p:spPr>
          <a:xfrm>
            <a:off x="8094133" y="2222500"/>
            <a:ext cx="3589867" cy="3200400"/>
          </a:xfrm>
          <a:prstGeom prst="rect">
            <a:avLst/>
          </a:prstGeom>
          <a:solidFill>
            <a:srgbClr val="FFFFFF"/>
          </a:solidFill>
          <a:ln w="12700">
            <a:solidFill>
              <a:srgbClr val="DEDCD6"/>
            </a:solidFill>
          </a:ln>
        </p:spPr>
      </p:sp>
      <p:sp>
        <p:nvSpPr>
          <p:cNvPr id="18" name="shape 18"/>
          <p:cNvSpPr/>
          <p:nvPr/>
        </p:nvSpPr>
        <p:spPr>
          <a:xfrm>
            <a:off x="8094133" y="2222500"/>
            <a:ext cx="38100" cy="3200400"/>
          </a:xfrm>
          <a:prstGeom prst="rect">
            <a:avLst/>
          </a:prstGeom>
          <a:solidFill>
            <a:srgbClr val="FF4F59"/>
          </a:solidFill>
          <a:ln>
            <a:noFill/>
          </a:ln>
        </p:spPr>
      </p:sp>
      <p:sp>
        <p:nvSpPr>
          <p:cNvPr id="19" name="shape 19"/>
          <p:cNvSpPr/>
          <p:nvPr/>
        </p:nvSpPr>
        <p:spPr>
          <a:xfrm>
            <a:off x="8322733" y="2413000"/>
            <a:ext cx="292100" cy="342900"/>
          </a:xfrm>
          <a:prstGeom prst="rect">
            <a:avLst/>
          </a:prstGeom>
          <a:noFill/>
          <a:ln w="12700">
            <a:solidFill>
              <a:srgbClr val="FF4F59"/>
            </a:solidFill>
          </a:ln>
        </p:spPr>
      </p:sp>
      <p:cxnSp>
        <p:nvCxnSpPr>
          <p:cNvPr id="20" name="connector 20"/>
          <p:cNvCxnSpPr/>
          <p:nvPr/>
        </p:nvCxnSpPr>
        <p:spPr>
          <a:xfrm>
            <a:off x="8386233"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1" name="connector 21"/>
          <p:cNvCxnSpPr/>
          <p:nvPr/>
        </p:nvCxnSpPr>
        <p:spPr>
          <a:xfrm>
            <a:off x="8386233"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2" name="connector 22"/>
          <p:cNvCxnSpPr/>
          <p:nvPr/>
        </p:nvCxnSpPr>
        <p:spPr>
          <a:xfrm>
            <a:off x="8386233"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3" name="text 23"/>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Evidence can fragment</a:t>
            </a:r>
            <a:endParaRPr lang="en-US" sz="1900"/>
          </a:p>
        </p:txBody>
      </p:sp>
      <p:sp>
        <p:nvSpPr>
          <p:cNvPr id="24" name="text 24"/>
          <p:cNvSpPr/>
          <p:nvPr/>
        </p:nvSpPr>
        <p:spPr>
          <a:xfrm>
            <a:off x="8310033" y="3187700"/>
            <a:ext cx="3158067" cy="2044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Repeated manual checks and</a:t>
            </a:r>
            <a:endParaRPr lang="en-US" sz="1700"/>
          </a:p>
          <a:p>
            <a:pPr algn="l">
              <a:lnSpc>
                <a:spcPts val="1938"/>
              </a:lnSpc>
              <a:spcAft>
                <a:spcPts val="0"/>
              </a:spcAft>
            </a:pPr>
            <a:r>
              <a:rPr lang="en-US" sz="1700" b="0" dirty="0">
                <a:solidFill>
                  <a:srgbClr val="181C23"/>
                </a:solidFill>
                <a:latin typeface="Funnel Sans"/>
              </a:rPr>
              <a:t>disconnected issue notes</a:t>
            </a:r>
            <a:endParaRPr lang="en-US" sz="1700"/>
          </a:p>
          <a:p>
            <a:pPr algn="l">
              <a:lnSpc>
                <a:spcPts val="1938"/>
              </a:lnSpc>
              <a:spcAft>
                <a:spcPts val="0"/>
              </a:spcAft>
            </a:pPr>
            <a:r>
              <a:rPr lang="en-US" sz="1700" b="0" dirty="0">
                <a:solidFill>
                  <a:srgbClr val="181C23"/>
                </a:solidFill>
                <a:latin typeface="Funnel Sans"/>
              </a:rPr>
              <a:t>make an investigation hard to</a:t>
            </a:r>
            <a:endParaRPr lang="en-US" sz="1700"/>
          </a:p>
          <a:p>
            <a:pPr algn="l">
              <a:lnSpc>
                <a:spcPts val="1938"/>
              </a:lnSpc>
              <a:spcAft>
                <a:spcPts val="0"/>
              </a:spcAft>
            </a:pPr>
            <a:r>
              <a:rPr lang="en-US" sz="1700" b="0" dirty="0">
                <a:solidFill>
                  <a:srgbClr val="181C23"/>
                </a:solidFill>
                <a:latin typeface="Funnel Sans"/>
              </a:rPr>
              <a:t>reproduce.</a:t>
            </a:r>
            <a:endParaRPr lang="en-US" sz="1700"/>
          </a:p>
        </p:txBody>
      </p:sp>
      <p:sp>
        <p:nvSpPr>
          <p:cNvPr id="25" name="shape 25"/>
          <p:cNvSpPr/>
          <p:nvPr/>
        </p:nvSpPr>
        <p:spPr>
          <a:xfrm>
            <a:off x="508000" y="5740400"/>
            <a:ext cx="11176000" cy="546100"/>
          </a:xfrm>
          <a:prstGeom prst="rect">
            <a:avLst/>
          </a:prstGeom>
          <a:solidFill>
            <a:srgbClr val="282A27"/>
          </a:solidFill>
          <a:ln>
            <a:noFill/>
          </a:ln>
        </p:spPr>
      </p:sp>
      <p:sp>
        <p:nvSpPr>
          <p:cNvPr id="26" name="text 26"/>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The assessment joins data context, analytical evidence and accountable review.</a:t>
            </a:r>
            <a:endParaRPr lang="en-US" sz="1600"/>
          </a:p>
        </p:txBody>
      </p:sp>
      <p:cxnSp>
        <p:nvCxnSpPr>
          <p:cNvPr id="27" name="connector 2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9" name="text 2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03 / 87</a:t>
            </a:r>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01 / PRODUCT</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Build confidence through repeatable assessment and clear</a:t>
            </a:r>
            <a:endParaRPr lang="en-US" sz="2900"/>
          </a:p>
          <a:p>
            <a:pPr algn="l">
              <a:lnSpc>
                <a:spcPts val="3306"/>
              </a:lnSpc>
              <a:spcAft>
                <a:spcPts val="0"/>
              </a:spcAft>
            </a:pPr>
            <a:r>
              <a:rPr lang="en-US" sz="2900" b="1" dirty="0">
                <a:solidFill>
                  <a:srgbClr val="181C23"/>
                </a:solidFill>
                <a:latin typeface="Funnel Sans"/>
              </a:rPr>
              <a:t>ownership</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Intended outcomes are supported by concrete workflow capabilities.</a:t>
            </a:r>
            <a:endParaRPr lang="en-US" sz="1500"/>
          </a:p>
        </p:txBody>
      </p:sp>
      <p:sp>
        <p:nvSpPr>
          <p:cNvPr id="6" name="shape 6"/>
          <p:cNvSpPr/>
          <p:nvPr/>
        </p:nvSpPr>
        <p:spPr>
          <a:xfrm>
            <a:off x="508000" y="2222500"/>
            <a:ext cx="3589867" cy="3200400"/>
          </a:xfrm>
          <a:prstGeom prst="rect">
            <a:avLst/>
          </a:prstGeom>
          <a:solidFill>
            <a:srgbClr val="FFFFFF"/>
          </a:solidFill>
          <a:ln w="12700">
            <a:solidFill>
              <a:srgbClr val="DEDCD6"/>
            </a:solidFill>
          </a:ln>
        </p:spPr>
      </p:sp>
      <p:sp>
        <p:nvSpPr>
          <p:cNvPr id="7" name="shape 7"/>
          <p:cNvSpPr/>
          <p:nvPr/>
        </p:nvSpPr>
        <p:spPr>
          <a:xfrm>
            <a:off x="508000" y="2222500"/>
            <a:ext cx="38100" cy="3200400"/>
          </a:xfrm>
          <a:prstGeom prst="rect">
            <a:avLst/>
          </a:prstGeom>
          <a:solidFill>
            <a:srgbClr val="FF4F59"/>
          </a:solidFill>
          <a:ln>
            <a:noFill/>
          </a:ln>
        </p:spPr>
      </p:sp>
      <p:sp>
        <p:nvSpPr>
          <p:cNvPr id="8" name="shape 8"/>
          <p:cNvSpPr/>
          <p:nvPr/>
        </p:nvSpPr>
        <p:spPr>
          <a:xfrm>
            <a:off x="711200" y="2628900"/>
            <a:ext cx="63500" cy="127000"/>
          </a:xfrm>
          <a:prstGeom prst="rect">
            <a:avLst/>
          </a:prstGeom>
          <a:solidFill>
            <a:srgbClr val="FF4F59"/>
          </a:solidFill>
          <a:ln>
            <a:noFill/>
          </a:ln>
        </p:spPr>
      </p:sp>
      <p:sp>
        <p:nvSpPr>
          <p:cNvPr id="9" name="shape 9"/>
          <p:cNvSpPr/>
          <p:nvPr/>
        </p:nvSpPr>
        <p:spPr>
          <a:xfrm>
            <a:off x="825500" y="2501900"/>
            <a:ext cx="63500" cy="254000"/>
          </a:xfrm>
          <a:prstGeom prst="rect">
            <a:avLst/>
          </a:prstGeom>
          <a:solidFill>
            <a:srgbClr val="FF4F59"/>
          </a:solidFill>
          <a:ln>
            <a:noFill/>
          </a:ln>
        </p:spPr>
      </p:sp>
      <p:sp>
        <p:nvSpPr>
          <p:cNvPr id="10" name="shape 10"/>
          <p:cNvSpPr/>
          <p:nvPr/>
        </p:nvSpPr>
        <p:spPr>
          <a:xfrm>
            <a:off x="939800" y="2413000"/>
            <a:ext cx="63500" cy="342900"/>
          </a:xfrm>
          <a:prstGeom prst="rect">
            <a:avLst/>
          </a:prstGeom>
          <a:solidFill>
            <a:srgbClr val="FF4F59"/>
          </a:solidFill>
          <a:ln>
            <a:noFill/>
          </a:ln>
        </p:spPr>
      </p:sp>
      <p:sp>
        <p:nvSpPr>
          <p:cNvPr id="11" name="text 11"/>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Repeat an assessment</a:t>
            </a:r>
            <a:endParaRPr lang="en-US" sz="1900"/>
          </a:p>
        </p:txBody>
      </p:sp>
      <p:sp>
        <p:nvSpPr>
          <p:cNvPr id="12" name="text 12"/>
          <p:cNvSpPr/>
          <p:nvPr/>
        </p:nvSpPr>
        <p:spPr>
          <a:xfrm>
            <a:off x="723900" y="3187700"/>
            <a:ext cx="3158067" cy="4826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FF4F59"/>
                </a:solidFill>
                <a:latin typeface="Funnel Sans"/>
              </a:rPr>
              <a:t>CONSISTENCY</a:t>
            </a:r>
            <a:endParaRPr lang="en-US" sz="1250"/>
          </a:p>
        </p:txBody>
      </p:sp>
      <p:sp>
        <p:nvSpPr>
          <p:cNvPr id="13" name="text 13"/>
          <p:cNvSpPr/>
          <p:nvPr/>
        </p:nvSpPr>
        <p:spPr>
          <a:xfrm>
            <a:off x="723900" y="3733800"/>
            <a:ext cx="3158067" cy="14986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Use active snapshots, frozen</a:t>
            </a:r>
            <a:endParaRPr lang="en-US" sz="1700"/>
          </a:p>
          <a:p>
            <a:pPr algn="l">
              <a:lnSpc>
                <a:spcPts val="1938"/>
              </a:lnSpc>
              <a:spcAft>
                <a:spcPts val="0"/>
              </a:spcAft>
            </a:pPr>
            <a:r>
              <a:rPr lang="en-US" sz="1700" b="0" dirty="0">
                <a:solidFill>
                  <a:srgbClr val="181C23"/>
                </a:solidFill>
                <a:latin typeface="Funnel Sans"/>
              </a:rPr>
              <a:t>scope, methodology versions</a:t>
            </a:r>
            <a:endParaRPr lang="en-US" sz="1700"/>
          </a:p>
          <a:p>
            <a:pPr algn="l">
              <a:lnSpc>
                <a:spcPts val="1938"/>
              </a:lnSpc>
              <a:spcAft>
                <a:spcPts val="0"/>
              </a:spcAft>
            </a:pPr>
            <a:r>
              <a:rPr lang="en-US" sz="1700" b="0" dirty="0">
                <a:solidFill>
                  <a:srgbClr val="181C23"/>
                </a:solidFill>
                <a:latin typeface="Funnel Sans"/>
              </a:rPr>
              <a:t>and reusable artifacts.</a:t>
            </a:r>
            <a:endParaRPr lang="en-US" sz="1700"/>
          </a:p>
        </p:txBody>
      </p:sp>
      <p:sp>
        <p:nvSpPr>
          <p:cNvPr id="14" name="shape 14"/>
          <p:cNvSpPr/>
          <p:nvPr/>
        </p:nvSpPr>
        <p:spPr>
          <a:xfrm>
            <a:off x="4301067" y="2222500"/>
            <a:ext cx="3589867" cy="3200400"/>
          </a:xfrm>
          <a:prstGeom prst="rect">
            <a:avLst/>
          </a:prstGeom>
          <a:solidFill>
            <a:srgbClr val="FFFFFF"/>
          </a:solidFill>
          <a:ln w="12700">
            <a:solidFill>
              <a:srgbClr val="DEDCD6"/>
            </a:solidFill>
          </a:ln>
        </p:spPr>
      </p:sp>
      <p:sp>
        <p:nvSpPr>
          <p:cNvPr id="15" name="shape 15"/>
          <p:cNvSpPr/>
          <p:nvPr/>
        </p:nvSpPr>
        <p:spPr>
          <a:xfrm>
            <a:off x="4301067" y="2222500"/>
            <a:ext cx="38100" cy="3200400"/>
          </a:xfrm>
          <a:prstGeom prst="rect">
            <a:avLst/>
          </a:prstGeom>
          <a:solidFill>
            <a:srgbClr val="FF4F59"/>
          </a:solidFill>
          <a:ln>
            <a:noFill/>
          </a:ln>
        </p:spPr>
      </p:sp>
      <p:sp>
        <p:nvSpPr>
          <p:cNvPr id="16" name="shape 16"/>
          <p:cNvSpPr/>
          <p:nvPr/>
        </p:nvSpPr>
        <p:spPr>
          <a:xfrm>
            <a:off x="4529667" y="2413000"/>
            <a:ext cx="292100" cy="342900"/>
          </a:xfrm>
          <a:prstGeom prst="rect">
            <a:avLst/>
          </a:prstGeom>
          <a:noFill/>
          <a:ln w="12700">
            <a:solidFill>
              <a:srgbClr val="FF4F59"/>
            </a:solidFill>
          </a:ln>
        </p:spPr>
      </p:sp>
      <p:cxnSp>
        <p:nvCxnSpPr>
          <p:cNvPr id="17" name="connector 17"/>
          <p:cNvCxnSpPr/>
          <p:nvPr/>
        </p:nvCxnSpPr>
        <p:spPr>
          <a:xfrm>
            <a:off x="4593167"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8" name="connector 18"/>
          <p:cNvCxnSpPr/>
          <p:nvPr/>
        </p:nvCxnSpPr>
        <p:spPr>
          <a:xfrm>
            <a:off x="4593167"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9" name="connector 19"/>
          <p:cNvCxnSpPr/>
          <p:nvPr/>
        </p:nvCxnSpPr>
        <p:spPr>
          <a:xfrm>
            <a:off x="4593167"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0" name="text 20"/>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Explain a result</a:t>
            </a:r>
            <a:endParaRPr lang="en-US" sz="1900"/>
          </a:p>
        </p:txBody>
      </p:sp>
      <p:sp>
        <p:nvSpPr>
          <p:cNvPr id="21" name="text 21"/>
          <p:cNvSpPr/>
          <p:nvPr/>
        </p:nvSpPr>
        <p:spPr>
          <a:xfrm>
            <a:off x="4516967" y="3187700"/>
            <a:ext cx="3158067" cy="4826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FF4F59"/>
                </a:solidFill>
                <a:latin typeface="Funnel Sans"/>
              </a:rPr>
              <a:t>TRACEABILITY</a:t>
            </a:r>
            <a:endParaRPr lang="en-US" sz="1250"/>
          </a:p>
        </p:txBody>
      </p:sp>
      <p:sp>
        <p:nvSpPr>
          <p:cNvPr id="22" name="text 22"/>
          <p:cNvSpPr/>
          <p:nvPr/>
        </p:nvSpPr>
        <p:spPr>
          <a:xfrm>
            <a:off x="4516967" y="3733800"/>
            <a:ext cx="3158067" cy="14986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Retain metrics, thresholds,</a:t>
            </a:r>
            <a:endParaRPr lang="en-US" sz="1700"/>
          </a:p>
          <a:p>
            <a:pPr algn="l">
              <a:lnSpc>
                <a:spcPts val="1938"/>
              </a:lnSpc>
              <a:spcAft>
                <a:spcPts val="0"/>
              </a:spcAft>
            </a:pPr>
            <a:r>
              <a:rPr lang="en-US" sz="1700" b="0" dirty="0">
                <a:solidFill>
                  <a:srgbClr val="181C23"/>
                </a:solidFill>
                <a:latin typeface="Funnel Sans"/>
              </a:rPr>
              <a:t>exceptions, findings and user</a:t>
            </a:r>
            <a:endParaRPr lang="en-US" sz="1700"/>
          </a:p>
          <a:p>
            <a:pPr algn="l">
              <a:lnSpc>
                <a:spcPts val="1938"/>
              </a:lnSpc>
              <a:spcAft>
                <a:spcPts val="0"/>
              </a:spcAft>
            </a:pPr>
            <a:r>
              <a:rPr lang="en-US" sz="1700" b="0" dirty="0">
                <a:solidFill>
                  <a:srgbClr val="181C23"/>
                </a:solidFill>
                <a:latin typeface="Funnel Sans"/>
              </a:rPr>
              <a:t>rationale together.</a:t>
            </a:r>
            <a:endParaRPr lang="en-US" sz="1700"/>
          </a:p>
        </p:txBody>
      </p:sp>
      <p:sp>
        <p:nvSpPr>
          <p:cNvPr id="23" name="shape 23"/>
          <p:cNvSpPr/>
          <p:nvPr/>
        </p:nvSpPr>
        <p:spPr>
          <a:xfrm>
            <a:off x="8094133" y="2222500"/>
            <a:ext cx="3589867" cy="3200400"/>
          </a:xfrm>
          <a:prstGeom prst="rect">
            <a:avLst/>
          </a:prstGeom>
          <a:solidFill>
            <a:srgbClr val="FFFFFF"/>
          </a:solidFill>
          <a:ln w="12700">
            <a:solidFill>
              <a:srgbClr val="DEDCD6"/>
            </a:solidFill>
          </a:ln>
        </p:spPr>
      </p:sp>
      <p:sp>
        <p:nvSpPr>
          <p:cNvPr id="24" name="shape 24"/>
          <p:cNvSpPr/>
          <p:nvPr/>
        </p:nvSpPr>
        <p:spPr>
          <a:xfrm>
            <a:off x="8094133" y="2222500"/>
            <a:ext cx="38100" cy="3200400"/>
          </a:xfrm>
          <a:prstGeom prst="rect">
            <a:avLst/>
          </a:prstGeom>
          <a:solidFill>
            <a:srgbClr val="FF4F59"/>
          </a:solidFill>
          <a:ln>
            <a:noFill/>
          </a:ln>
        </p:spPr>
      </p:sp>
      <p:sp>
        <p:nvSpPr>
          <p:cNvPr id="25" name="shape 25"/>
          <p:cNvSpPr/>
          <p:nvPr/>
        </p:nvSpPr>
        <p:spPr>
          <a:xfrm>
            <a:off x="8398933" y="2413000"/>
            <a:ext cx="139700" cy="139700"/>
          </a:xfrm>
          <a:prstGeom prst="ellipse">
            <a:avLst/>
          </a:prstGeom>
          <a:noFill/>
          <a:ln w="20320">
            <a:solidFill>
              <a:srgbClr val="FF4F59"/>
            </a:solidFill>
          </a:ln>
        </p:spPr>
      </p:sp>
      <p:sp>
        <p:nvSpPr>
          <p:cNvPr id="26" name="shape 26"/>
          <p:cNvSpPr/>
          <p:nvPr/>
        </p:nvSpPr>
        <p:spPr>
          <a:xfrm>
            <a:off x="8322733" y="2590800"/>
            <a:ext cx="292100" cy="190500"/>
          </a:xfrm>
          <a:prstGeom prst="arc">
            <a:avLst/>
          </a:prstGeom>
          <a:noFill/>
          <a:ln w="20320">
            <a:solidFill>
              <a:srgbClr val="FF4F59"/>
            </a:solidFill>
          </a:ln>
        </p:spPr>
      </p:sp>
      <p:sp>
        <p:nvSpPr>
          <p:cNvPr id="27" name="text 27"/>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Coordinate follow-up</a:t>
            </a:r>
            <a:endParaRPr lang="en-US" sz="1900"/>
          </a:p>
        </p:txBody>
      </p:sp>
      <p:sp>
        <p:nvSpPr>
          <p:cNvPr id="28" name="text 28"/>
          <p:cNvSpPr/>
          <p:nvPr/>
        </p:nvSpPr>
        <p:spPr>
          <a:xfrm>
            <a:off x="8310033" y="3187700"/>
            <a:ext cx="3158067" cy="4826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FF4F59"/>
                </a:solidFill>
                <a:latin typeface="Funnel Sans"/>
              </a:rPr>
              <a:t>ACCOUNTABILITY</a:t>
            </a:r>
            <a:endParaRPr lang="en-US" sz="1250"/>
          </a:p>
        </p:txBody>
      </p:sp>
      <p:sp>
        <p:nvSpPr>
          <p:cNvPr id="29" name="text 29"/>
          <p:cNvSpPr/>
          <p:nvPr/>
        </p:nvSpPr>
        <p:spPr>
          <a:xfrm>
            <a:off x="8310033" y="3733800"/>
            <a:ext cx="3158067" cy="14986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Approve an RCA conclusion;</a:t>
            </a:r>
            <a:endParaRPr lang="en-US" sz="1700"/>
          </a:p>
          <a:p>
            <a:pPr algn="l">
              <a:lnSpc>
                <a:spcPts val="1938"/>
              </a:lnSpc>
              <a:spcAft>
                <a:spcPts val="0"/>
              </a:spcAft>
            </a:pPr>
            <a:r>
              <a:rPr lang="en-US" sz="1700" b="0" dirty="0">
                <a:solidFill>
                  <a:srgbClr val="181C23"/>
                </a:solidFill>
                <a:latin typeface="Funnel Sans"/>
              </a:rPr>
              <a:t>optionally assign tracked</a:t>
            </a:r>
            <a:endParaRPr lang="en-US" sz="1700"/>
          </a:p>
          <a:p>
            <a:pPr algn="l">
              <a:lnSpc>
                <a:spcPts val="1938"/>
              </a:lnSpc>
              <a:spcAft>
                <a:spcPts val="0"/>
              </a:spcAft>
            </a:pPr>
            <a:r>
              <a:rPr lang="en-US" sz="1700" b="0" dirty="0">
                <a:solidFill>
                  <a:srgbClr val="181C23"/>
                </a:solidFill>
                <a:latin typeface="Funnel Sans"/>
              </a:rPr>
              <a:t>remediation to an owner.</a:t>
            </a:r>
            <a:endParaRPr lang="en-US" sz="1700"/>
          </a:p>
        </p:txBody>
      </p:sp>
      <p:sp>
        <p:nvSpPr>
          <p:cNvPr id="30" name="shape 30"/>
          <p:cNvSpPr/>
          <p:nvPr/>
        </p:nvSpPr>
        <p:spPr>
          <a:xfrm>
            <a:off x="508000" y="5740400"/>
            <a:ext cx="11176000" cy="546100"/>
          </a:xfrm>
          <a:prstGeom prst="rect">
            <a:avLst/>
          </a:prstGeom>
          <a:solidFill>
            <a:srgbClr val="282A27"/>
          </a:solidFill>
          <a:ln>
            <a:noFill/>
          </a:ln>
        </p:spPr>
      </p:sp>
      <p:sp>
        <p:nvSpPr>
          <p:cNvPr id="31" name="text 31"/>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Prioritize fitness for purpose; calibrate enterprise benefit with real operating evidence.</a:t>
            </a:r>
            <a:endParaRPr lang="en-US" sz="1600"/>
          </a:p>
        </p:txBody>
      </p:sp>
      <p:cxnSp>
        <p:nvCxnSpPr>
          <p:cNvPr id="32" name="connector 3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text 3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4" name="text 3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04 / 87</a:t>
            </a:r>
            <a:endParaRPr lang="en-US"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01 / FRAMEWORK</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Use a governed framework across the assessment journey</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Scope, rules and review remain explicit as data moves through the product.</a:t>
            </a:r>
            <a:endParaRPr lang="en-US" sz="1500"/>
          </a:p>
        </p:txBody>
      </p:sp>
      <p:sp>
        <p:nvSpPr>
          <p:cNvPr id="6" name="shape 6"/>
          <p:cNvSpPr/>
          <p:nvPr/>
        </p:nvSpPr>
        <p:spPr>
          <a:xfrm>
            <a:off x="508000" y="2171700"/>
            <a:ext cx="2052320" cy="2108200"/>
          </a:xfrm>
          <a:prstGeom prst="rect">
            <a:avLst/>
          </a:prstGeom>
          <a:solidFill>
            <a:srgbClr val="FFF2DF"/>
          </a:solidFill>
          <a:ln w="12700">
            <a:solidFill>
              <a:srgbClr val="DEDCD6"/>
            </a:solidFill>
          </a:ln>
        </p:spPr>
      </p:sp>
      <p:sp>
        <p:nvSpPr>
          <p:cNvPr id="7" name="text 7"/>
          <p:cNvSpPr/>
          <p:nvPr/>
        </p:nvSpPr>
        <p:spPr>
          <a:xfrm>
            <a:off x="673100" y="23241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8" name="text 8"/>
          <p:cNvSpPr/>
          <p:nvPr/>
        </p:nvSpPr>
        <p:spPr>
          <a:xfrm>
            <a:off x="673100" y="28448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Ingest &amp; profile</a:t>
            </a:r>
            <a:endParaRPr lang="en-US" sz="1800"/>
          </a:p>
        </p:txBody>
      </p:sp>
      <p:sp>
        <p:nvSpPr>
          <p:cNvPr id="9" name="text 9"/>
          <p:cNvSpPr/>
          <p:nvPr/>
        </p:nvSpPr>
        <p:spPr>
          <a:xfrm>
            <a:off x="673100" y="3594100"/>
            <a:ext cx="1722120" cy="546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Review source and</a:t>
            </a:r>
            <a:endParaRPr lang="en-US" sz="1450"/>
          </a:p>
          <a:p>
            <a:pPr algn="l">
              <a:lnSpc>
                <a:spcPts val="1653"/>
              </a:lnSpc>
              <a:spcAft>
                <a:spcPts val="0"/>
              </a:spcAft>
            </a:pPr>
            <a:r>
              <a:rPr lang="en-US" sz="1450" b="0" dirty="0">
                <a:solidFill>
                  <a:srgbClr val="181C23"/>
                </a:solidFill>
                <a:latin typeface="Funnel Sans"/>
              </a:rPr>
              <a:t>context</a:t>
            </a:r>
            <a:endParaRPr lang="en-US" sz="1450"/>
          </a:p>
        </p:txBody>
      </p:sp>
      <p:cxnSp>
        <p:nvCxnSpPr>
          <p:cNvPr id="10" name="connector 10"/>
          <p:cNvCxnSpPr/>
          <p:nvPr/>
        </p:nvCxnSpPr>
        <p:spPr>
          <a:xfrm>
            <a:off x="2585720" y="32258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1" name="shape 11"/>
          <p:cNvSpPr/>
          <p:nvPr/>
        </p:nvSpPr>
        <p:spPr>
          <a:xfrm>
            <a:off x="2788920" y="2171700"/>
            <a:ext cx="2052320" cy="2108200"/>
          </a:xfrm>
          <a:prstGeom prst="rect">
            <a:avLst/>
          </a:prstGeom>
          <a:solidFill>
            <a:srgbClr val="FFF2DF"/>
          </a:solidFill>
          <a:ln w="12700">
            <a:solidFill>
              <a:srgbClr val="DEDCD6"/>
            </a:solidFill>
          </a:ln>
        </p:spPr>
      </p:sp>
      <p:sp>
        <p:nvSpPr>
          <p:cNvPr id="12" name="text 12"/>
          <p:cNvSpPr/>
          <p:nvPr/>
        </p:nvSpPr>
        <p:spPr>
          <a:xfrm>
            <a:off x="2954020" y="23241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3" name="text 13"/>
          <p:cNvSpPr/>
          <p:nvPr/>
        </p:nvSpPr>
        <p:spPr>
          <a:xfrm>
            <a:off x="2954020" y="28448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Configure</a:t>
            </a:r>
            <a:endParaRPr lang="en-US" sz="1800"/>
          </a:p>
          <a:p>
            <a:pPr algn="l">
              <a:lnSpc>
                <a:spcPts val="2052"/>
              </a:lnSpc>
              <a:spcAft>
                <a:spcPts val="0"/>
              </a:spcAft>
            </a:pPr>
            <a:r>
              <a:rPr lang="en-US" sz="1800" b="1" dirty="0">
                <a:solidFill>
                  <a:srgbClr val="181C23"/>
                </a:solidFill>
                <a:latin typeface="Funnel Sans"/>
              </a:rPr>
              <a:t>scope</a:t>
            </a:r>
            <a:endParaRPr lang="en-US" sz="1800"/>
          </a:p>
        </p:txBody>
      </p:sp>
      <p:sp>
        <p:nvSpPr>
          <p:cNvPr id="14" name="text 14"/>
          <p:cNvSpPr/>
          <p:nvPr/>
        </p:nvSpPr>
        <p:spPr>
          <a:xfrm>
            <a:off x="2954020" y="3594100"/>
            <a:ext cx="1722120" cy="546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Confirm roles and</a:t>
            </a:r>
            <a:endParaRPr lang="en-US" sz="1450"/>
          </a:p>
          <a:p>
            <a:pPr algn="l">
              <a:lnSpc>
                <a:spcPts val="1653"/>
              </a:lnSpc>
              <a:spcAft>
                <a:spcPts val="0"/>
              </a:spcAft>
            </a:pPr>
            <a:r>
              <a:rPr lang="en-US" sz="1450" b="0" dirty="0">
                <a:solidFill>
                  <a:srgbClr val="181C23"/>
                </a:solidFill>
                <a:latin typeface="Funnel Sans"/>
              </a:rPr>
              <a:t>rules</a:t>
            </a:r>
            <a:endParaRPr lang="en-US" sz="1450"/>
          </a:p>
        </p:txBody>
      </p:sp>
      <p:cxnSp>
        <p:nvCxnSpPr>
          <p:cNvPr id="15" name="connector 15"/>
          <p:cNvCxnSpPr/>
          <p:nvPr/>
        </p:nvCxnSpPr>
        <p:spPr>
          <a:xfrm>
            <a:off x="4866640" y="32258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5069840" y="2171700"/>
            <a:ext cx="2052320" cy="2108200"/>
          </a:xfrm>
          <a:prstGeom prst="rect">
            <a:avLst/>
          </a:prstGeom>
          <a:solidFill>
            <a:srgbClr val="FFF2DF"/>
          </a:solidFill>
          <a:ln w="12700">
            <a:solidFill>
              <a:srgbClr val="DEDCD6"/>
            </a:solidFill>
          </a:ln>
        </p:spPr>
      </p:sp>
      <p:sp>
        <p:nvSpPr>
          <p:cNvPr id="17" name="text 17"/>
          <p:cNvSpPr/>
          <p:nvPr/>
        </p:nvSpPr>
        <p:spPr>
          <a:xfrm>
            <a:off x="5234940" y="23241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18" name="text 18"/>
          <p:cNvSpPr/>
          <p:nvPr/>
        </p:nvSpPr>
        <p:spPr>
          <a:xfrm>
            <a:off x="5234940" y="28448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Run</a:t>
            </a:r>
            <a:endParaRPr lang="en-US" sz="1800"/>
          </a:p>
          <a:p>
            <a:pPr algn="l">
              <a:lnSpc>
                <a:spcPts val="2052"/>
              </a:lnSpc>
              <a:spcAft>
                <a:spcPts val="0"/>
              </a:spcAft>
            </a:pPr>
            <a:r>
              <a:rPr lang="en-US" sz="1800" b="1" dirty="0">
                <a:solidFill>
                  <a:srgbClr val="181C23"/>
                </a:solidFill>
                <a:latin typeface="Funnel Sans"/>
              </a:rPr>
              <a:t>diagnostics</a:t>
            </a:r>
            <a:endParaRPr lang="en-US" sz="1800"/>
          </a:p>
        </p:txBody>
      </p:sp>
      <p:sp>
        <p:nvSpPr>
          <p:cNvPr id="19" name="text 19"/>
          <p:cNvSpPr/>
          <p:nvPr/>
        </p:nvSpPr>
        <p:spPr>
          <a:xfrm>
            <a:off x="5234940" y="3594100"/>
            <a:ext cx="1722120" cy="546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Calculate retained</a:t>
            </a:r>
            <a:endParaRPr lang="en-US" sz="1450"/>
          </a:p>
          <a:p>
            <a:pPr algn="l">
              <a:lnSpc>
                <a:spcPts val="1653"/>
              </a:lnSpc>
              <a:spcAft>
                <a:spcPts val="0"/>
              </a:spcAft>
            </a:pPr>
            <a:r>
              <a:rPr lang="en-US" sz="1450" b="0" dirty="0">
                <a:solidFill>
                  <a:srgbClr val="181C23"/>
                </a:solidFill>
                <a:latin typeface="Funnel Sans"/>
              </a:rPr>
              <a:t>evidence</a:t>
            </a:r>
            <a:endParaRPr lang="en-US" sz="1450"/>
          </a:p>
        </p:txBody>
      </p:sp>
      <p:cxnSp>
        <p:nvCxnSpPr>
          <p:cNvPr id="20" name="connector 20"/>
          <p:cNvCxnSpPr/>
          <p:nvPr/>
        </p:nvCxnSpPr>
        <p:spPr>
          <a:xfrm>
            <a:off x="7147560" y="32258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7350760" y="2171700"/>
            <a:ext cx="2052320" cy="2108200"/>
          </a:xfrm>
          <a:prstGeom prst="rect">
            <a:avLst/>
          </a:prstGeom>
          <a:solidFill>
            <a:srgbClr val="FFF2DF"/>
          </a:solidFill>
          <a:ln w="12700">
            <a:solidFill>
              <a:srgbClr val="DEDCD6"/>
            </a:solidFill>
          </a:ln>
        </p:spPr>
      </p:sp>
      <p:sp>
        <p:nvSpPr>
          <p:cNvPr id="22" name="text 22"/>
          <p:cNvSpPr/>
          <p:nvPr/>
        </p:nvSpPr>
        <p:spPr>
          <a:xfrm>
            <a:off x="7515860" y="23241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3" name="text 23"/>
          <p:cNvSpPr/>
          <p:nvPr/>
        </p:nvSpPr>
        <p:spPr>
          <a:xfrm>
            <a:off x="7515860" y="28448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 &amp;</a:t>
            </a:r>
            <a:endParaRPr lang="en-US" sz="1800"/>
          </a:p>
          <a:p>
            <a:pPr algn="l">
              <a:lnSpc>
                <a:spcPts val="2052"/>
              </a:lnSpc>
              <a:spcAft>
                <a:spcPts val="0"/>
              </a:spcAft>
            </a:pPr>
            <a:r>
              <a:rPr lang="en-US" sz="1800" b="1" dirty="0">
                <a:solidFill>
                  <a:srgbClr val="181C23"/>
                </a:solidFill>
                <a:latin typeface="Funnel Sans"/>
              </a:rPr>
              <a:t>investigate</a:t>
            </a:r>
            <a:endParaRPr lang="en-US" sz="1800"/>
          </a:p>
        </p:txBody>
      </p:sp>
      <p:sp>
        <p:nvSpPr>
          <p:cNvPr id="24" name="text 24"/>
          <p:cNvSpPr/>
          <p:nvPr/>
        </p:nvSpPr>
        <p:spPr>
          <a:xfrm>
            <a:off x="7515860" y="3594100"/>
            <a:ext cx="1722120" cy="546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Decide findings and</a:t>
            </a:r>
            <a:endParaRPr lang="en-US" sz="1450"/>
          </a:p>
          <a:p>
            <a:pPr algn="l">
              <a:lnSpc>
                <a:spcPts val="1653"/>
              </a:lnSpc>
              <a:spcAft>
                <a:spcPts val="0"/>
              </a:spcAft>
            </a:pPr>
            <a:r>
              <a:rPr lang="en-US" sz="1450" b="0" dirty="0">
                <a:solidFill>
                  <a:srgbClr val="181C23"/>
                </a:solidFill>
                <a:latin typeface="Funnel Sans"/>
              </a:rPr>
              <a:t>RCA</a:t>
            </a:r>
            <a:endParaRPr lang="en-US" sz="1450"/>
          </a:p>
        </p:txBody>
      </p:sp>
      <p:cxnSp>
        <p:nvCxnSpPr>
          <p:cNvPr id="25" name="connector 25"/>
          <p:cNvCxnSpPr/>
          <p:nvPr/>
        </p:nvCxnSpPr>
        <p:spPr>
          <a:xfrm>
            <a:off x="9428480" y="32258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9631680" y="2171700"/>
            <a:ext cx="2052320" cy="2108200"/>
          </a:xfrm>
          <a:prstGeom prst="rect">
            <a:avLst/>
          </a:prstGeom>
          <a:solidFill>
            <a:srgbClr val="FFF2DF"/>
          </a:solidFill>
          <a:ln w="12700">
            <a:solidFill>
              <a:srgbClr val="DEDCD6"/>
            </a:solidFill>
          </a:ln>
        </p:spPr>
      </p:sp>
      <p:sp>
        <p:nvSpPr>
          <p:cNvPr id="27" name="text 27"/>
          <p:cNvSpPr/>
          <p:nvPr/>
        </p:nvSpPr>
        <p:spPr>
          <a:xfrm>
            <a:off x="9796780" y="23241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28" name="text 28"/>
          <p:cNvSpPr/>
          <p:nvPr/>
        </p:nvSpPr>
        <p:spPr>
          <a:xfrm>
            <a:off x="9796780" y="28448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Follow up &amp;</a:t>
            </a:r>
            <a:endParaRPr lang="en-US" sz="1800"/>
          </a:p>
          <a:p>
            <a:pPr algn="l">
              <a:lnSpc>
                <a:spcPts val="2052"/>
              </a:lnSpc>
              <a:spcAft>
                <a:spcPts val="0"/>
              </a:spcAft>
            </a:pPr>
            <a:r>
              <a:rPr lang="en-US" sz="1800" b="1" dirty="0">
                <a:solidFill>
                  <a:srgbClr val="181C23"/>
                </a:solidFill>
                <a:latin typeface="Funnel Sans"/>
              </a:rPr>
              <a:t>reassess</a:t>
            </a:r>
            <a:endParaRPr lang="en-US" sz="1800"/>
          </a:p>
        </p:txBody>
      </p:sp>
      <p:sp>
        <p:nvSpPr>
          <p:cNvPr id="29" name="text 29"/>
          <p:cNvSpPr/>
          <p:nvPr/>
        </p:nvSpPr>
        <p:spPr>
          <a:xfrm>
            <a:off x="9796780" y="3594100"/>
            <a:ext cx="1722120" cy="546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Track work; launch</a:t>
            </a:r>
            <a:endParaRPr lang="en-US" sz="1450"/>
          </a:p>
          <a:p>
            <a:pPr algn="l">
              <a:lnSpc>
                <a:spcPts val="1653"/>
              </a:lnSpc>
              <a:spcAft>
                <a:spcPts val="0"/>
              </a:spcAft>
            </a:pPr>
            <a:r>
              <a:rPr lang="en-US" sz="1450" b="0" dirty="0">
                <a:solidFill>
                  <a:srgbClr val="181C23"/>
                </a:solidFill>
                <a:latin typeface="Funnel Sans"/>
              </a:rPr>
              <a:t>a fresh run</a:t>
            </a:r>
            <a:endParaRPr lang="en-US" sz="1450"/>
          </a:p>
        </p:txBody>
      </p:sp>
      <p:sp>
        <p:nvSpPr>
          <p:cNvPr id="30" name="shape 30"/>
          <p:cNvSpPr/>
          <p:nvPr/>
        </p:nvSpPr>
        <p:spPr>
          <a:xfrm>
            <a:off x="508000" y="4483100"/>
            <a:ext cx="3606800" cy="342900"/>
          </a:xfrm>
          <a:prstGeom prst="rect">
            <a:avLst/>
          </a:prstGeom>
          <a:solidFill>
            <a:srgbClr val="282A27"/>
          </a:solidFill>
          <a:ln>
            <a:noFill/>
          </a:ln>
        </p:spPr>
      </p:sp>
      <p:sp>
        <p:nvSpPr>
          <p:cNvPr id="31" name="text 31"/>
          <p:cNvSpPr/>
          <p:nvPr/>
        </p:nvSpPr>
        <p:spPr>
          <a:xfrm>
            <a:off x="635000" y="4572000"/>
            <a:ext cx="3352800" cy="2286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FFFF"/>
                </a:solidFill>
                <a:latin typeface="Funnel Sans"/>
              </a:rPr>
              <a:t>TEST LAB</a:t>
            </a:r>
            <a:endParaRPr lang="en-US" sz="1100"/>
          </a:p>
        </p:txBody>
      </p:sp>
      <p:sp>
        <p:nvSpPr>
          <p:cNvPr id="32" name="shape 32"/>
          <p:cNvSpPr/>
          <p:nvPr/>
        </p:nvSpPr>
        <p:spPr>
          <a:xfrm>
            <a:off x="508000" y="4826000"/>
            <a:ext cx="3606800" cy="508000"/>
          </a:xfrm>
          <a:prstGeom prst="rect">
            <a:avLst/>
          </a:prstGeom>
          <a:solidFill>
            <a:srgbClr val="FFFFFF"/>
          </a:solidFill>
          <a:ln w="12700">
            <a:solidFill>
              <a:srgbClr val="DEDCD6"/>
            </a:solidFill>
          </a:ln>
        </p:spPr>
      </p:sp>
      <p:sp>
        <p:nvSpPr>
          <p:cNvPr id="33" name="text 33"/>
          <p:cNvSpPr/>
          <p:nvPr/>
        </p:nvSpPr>
        <p:spPr>
          <a:xfrm>
            <a:off x="635000" y="4940300"/>
            <a:ext cx="3352800" cy="355600"/>
          </a:xfrm>
          <a:prstGeom prst="rect">
            <a:avLst/>
          </a:prstGeom>
          <a:noFill/>
          <a:ln>
            <a:noFill/>
          </a:ln>
        </p:spPr>
        <p:txBody>
          <a:bodyPr wrap="none" lIns="0" tIns="0" rIns="0" bIns="0" anchor="t">
            <a:noAutofit/>
          </a:bodyPr>
          <a:lstStyle/>
          <a:p>
            <a:pPr algn="l">
              <a:lnSpc>
                <a:spcPts val="1368"/>
              </a:lnSpc>
              <a:spcAft>
                <a:spcPts val="0"/>
              </a:spcAft>
            </a:pPr>
            <a:r>
              <a:rPr lang="en-US" sz="1200" b="0" dirty="0">
                <a:solidFill>
                  <a:srgbClr val="181C23"/>
                </a:solidFill>
                <a:latin typeface="Funnel Sans"/>
              </a:rPr>
              <a:t>Manifests • engines • findings • reports</a:t>
            </a:r>
            <a:endParaRPr lang="en-US" sz="1200"/>
          </a:p>
        </p:txBody>
      </p:sp>
      <p:sp>
        <p:nvSpPr>
          <p:cNvPr id="34" name="shape 34"/>
          <p:cNvSpPr/>
          <p:nvPr/>
        </p:nvSpPr>
        <p:spPr>
          <a:xfrm>
            <a:off x="4292600" y="4483100"/>
            <a:ext cx="3606800" cy="342900"/>
          </a:xfrm>
          <a:prstGeom prst="rect">
            <a:avLst/>
          </a:prstGeom>
          <a:solidFill>
            <a:srgbClr val="282A27"/>
          </a:solidFill>
          <a:ln>
            <a:noFill/>
          </a:ln>
        </p:spPr>
      </p:sp>
      <p:sp>
        <p:nvSpPr>
          <p:cNvPr id="35" name="text 35"/>
          <p:cNvSpPr/>
          <p:nvPr/>
        </p:nvSpPr>
        <p:spPr>
          <a:xfrm>
            <a:off x="4419600" y="4572000"/>
            <a:ext cx="3352800" cy="2286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FFFF"/>
                </a:solidFill>
                <a:latin typeface="Funnel Sans"/>
              </a:rPr>
              <a:t>ISSUE &amp; RCA</a:t>
            </a:r>
            <a:endParaRPr lang="en-US" sz="1100"/>
          </a:p>
        </p:txBody>
      </p:sp>
      <p:sp>
        <p:nvSpPr>
          <p:cNvPr id="36" name="shape 36"/>
          <p:cNvSpPr/>
          <p:nvPr/>
        </p:nvSpPr>
        <p:spPr>
          <a:xfrm>
            <a:off x="4292600" y="4826000"/>
            <a:ext cx="3606800" cy="508000"/>
          </a:xfrm>
          <a:prstGeom prst="rect">
            <a:avLst/>
          </a:prstGeom>
          <a:solidFill>
            <a:srgbClr val="FFFFFF"/>
          </a:solidFill>
          <a:ln w="12700">
            <a:solidFill>
              <a:srgbClr val="DEDCD6"/>
            </a:solidFill>
          </a:ln>
        </p:spPr>
      </p:sp>
      <p:sp>
        <p:nvSpPr>
          <p:cNvPr id="37" name="text 37"/>
          <p:cNvSpPr/>
          <p:nvPr/>
        </p:nvSpPr>
        <p:spPr>
          <a:xfrm>
            <a:off x="4419600" y="4940300"/>
            <a:ext cx="3352800" cy="355600"/>
          </a:xfrm>
          <a:prstGeom prst="rect">
            <a:avLst/>
          </a:prstGeom>
          <a:noFill/>
          <a:ln>
            <a:noFill/>
          </a:ln>
        </p:spPr>
        <p:txBody>
          <a:bodyPr wrap="none" lIns="0" tIns="0" rIns="0" bIns="0" anchor="t">
            <a:noAutofit/>
          </a:bodyPr>
          <a:lstStyle/>
          <a:p>
            <a:pPr algn="l">
              <a:lnSpc>
                <a:spcPts val="1368"/>
              </a:lnSpc>
              <a:spcAft>
                <a:spcPts val="0"/>
              </a:spcAft>
            </a:pPr>
            <a:r>
              <a:rPr lang="en-US" sz="1200" b="0" dirty="0">
                <a:solidFill>
                  <a:srgbClr val="181C23"/>
                </a:solidFill>
                <a:latin typeface="Funnel Sans"/>
              </a:rPr>
              <a:t>Investigation • evidence • human conclusion</a:t>
            </a:r>
            <a:endParaRPr lang="en-US" sz="1200"/>
          </a:p>
        </p:txBody>
      </p:sp>
      <p:sp>
        <p:nvSpPr>
          <p:cNvPr id="38" name="shape 38"/>
          <p:cNvSpPr/>
          <p:nvPr/>
        </p:nvSpPr>
        <p:spPr>
          <a:xfrm>
            <a:off x="8077200" y="4483100"/>
            <a:ext cx="3606800" cy="342900"/>
          </a:xfrm>
          <a:prstGeom prst="rect">
            <a:avLst/>
          </a:prstGeom>
          <a:solidFill>
            <a:srgbClr val="282A27"/>
          </a:solidFill>
          <a:ln>
            <a:noFill/>
          </a:ln>
        </p:spPr>
      </p:sp>
      <p:sp>
        <p:nvSpPr>
          <p:cNvPr id="39" name="text 39"/>
          <p:cNvSpPr/>
          <p:nvPr/>
        </p:nvSpPr>
        <p:spPr>
          <a:xfrm>
            <a:off x="8204200" y="4572000"/>
            <a:ext cx="3352800" cy="2286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FFFF"/>
                </a:solidFill>
                <a:latin typeface="Funnel Sans"/>
              </a:rPr>
              <a:t>SHARED SERVICES</a:t>
            </a:r>
            <a:endParaRPr lang="en-US" sz="1100"/>
          </a:p>
        </p:txBody>
      </p:sp>
      <p:sp>
        <p:nvSpPr>
          <p:cNvPr id="40" name="shape 40"/>
          <p:cNvSpPr/>
          <p:nvPr/>
        </p:nvSpPr>
        <p:spPr>
          <a:xfrm>
            <a:off x="8077200" y="4826000"/>
            <a:ext cx="3606800" cy="508000"/>
          </a:xfrm>
          <a:prstGeom prst="rect">
            <a:avLst/>
          </a:prstGeom>
          <a:solidFill>
            <a:srgbClr val="FFFFFF"/>
          </a:solidFill>
          <a:ln w="12700">
            <a:solidFill>
              <a:srgbClr val="DEDCD6"/>
            </a:solidFill>
          </a:ln>
        </p:spPr>
      </p:sp>
      <p:sp>
        <p:nvSpPr>
          <p:cNvPr id="41" name="text 41"/>
          <p:cNvSpPr/>
          <p:nvPr/>
        </p:nvSpPr>
        <p:spPr>
          <a:xfrm>
            <a:off x="8204200" y="4940300"/>
            <a:ext cx="3352800" cy="355600"/>
          </a:xfrm>
          <a:prstGeom prst="rect">
            <a:avLst/>
          </a:prstGeom>
          <a:noFill/>
          <a:ln>
            <a:noFill/>
          </a:ln>
        </p:spPr>
        <p:txBody>
          <a:bodyPr wrap="none" lIns="0" tIns="0" rIns="0" bIns="0" anchor="t">
            <a:noAutofit/>
          </a:bodyPr>
          <a:lstStyle/>
          <a:p>
            <a:pPr algn="l">
              <a:lnSpc>
                <a:spcPts val="1368"/>
              </a:lnSpc>
              <a:spcAft>
                <a:spcPts val="0"/>
              </a:spcAft>
            </a:pPr>
            <a:r>
              <a:rPr lang="en-US" sz="1200" b="0" dirty="0">
                <a:solidFill>
                  <a:srgbClr val="181C23"/>
                </a:solidFill>
                <a:latin typeface="Funnel Sans"/>
              </a:rPr>
              <a:t>Assets • knowledge • access • artifacts</a:t>
            </a:r>
            <a:endParaRPr lang="en-US" sz="1200"/>
          </a:p>
        </p:txBody>
      </p:sp>
      <p:sp>
        <p:nvSpPr>
          <p:cNvPr id="42" name="text 42"/>
          <p:cNvSpPr/>
          <p:nvPr/>
        </p:nvSpPr>
        <p:spPr>
          <a:xfrm>
            <a:off x="520700" y="5486400"/>
            <a:ext cx="5588000" cy="254000"/>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6D706B"/>
                </a:solidFill>
                <a:latin typeface="Funnel Sans"/>
              </a:rPr>
              <a:t>Framework &amp; knowledge: dimensions, rules, thresholds</a:t>
            </a:r>
            <a:endParaRPr lang="en-US" sz="1300"/>
          </a:p>
        </p:txBody>
      </p:sp>
      <p:sp>
        <p:nvSpPr>
          <p:cNvPr id="43" name="text 43"/>
          <p:cNvSpPr/>
          <p:nvPr/>
        </p:nvSpPr>
        <p:spPr>
          <a:xfrm>
            <a:off x="6273800" y="5486400"/>
            <a:ext cx="5410200" cy="254000"/>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6D706B"/>
                </a:solidFill>
                <a:latin typeface="Funnel Sans"/>
              </a:rPr>
              <a:t>Deterministic engines: reproducible analytical evidence</a:t>
            </a:r>
            <a:endParaRPr lang="en-US" sz="1300"/>
          </a:p>
        </p:txBody>
      </p:sp>
      <p:sp>
        <p:nvSpPr>
          <p:cNvPr id="44" name="shape 44"/>
          <p:cNvSpPr/>
          <p:nvPr/>
        </p:nvSpPr>
        <p:spPr>
          <a:xfrm>
            <a:off x="508000" y="5867400"/>
            <a:ext cx="11176000" cy="546100"/>
          </a:xfrm>
          <a:prstGeom prst="rect">
            <a:avLst/>
          </a:prstGeom>
          <a:solidFill>
            <a:srgbClr val="282A27"/>
          </a:solidFill>
          <a:ln>
            <a:noFill/>
          </a:ln>
        </p:spPr>
      </p:sp>
      <p:sp>
        <p:nvSpPr>
          <p:cNvPr id="45" name="text 45"/>
          <p:cNvSpPr/>
          <p:nvPr/>
        </p:nvSpPr>
        <p:spPr>
          <a:xfrm>
            <a:off x="698500" y="6007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AI can advise and explain. Humans confirm meaning, findings and conclusions.</a:t>
            </a:r>
            <a:endParaRPr lang="en-US" sz="1600"/>
          </a:p>
        </p:txBody>
      </p:sp>
      <p:cxnSp>
        <p:nvCxnSpPr>
          <p:cNvPr id="46" name="connector 4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text 4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8" name="text 4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05 / 87</a:t>
            </a:r>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01 / FRAMEWORK</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Keep framework coverage distinct from executable coverage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Six themes and eleven assessment areas organize the long-term assessment scope.</a:t>
            </a:r>
            <a:endParaRPr lang="en-US" sz="1500"/>
          </a:p>
        </p:txBody>
      </p:sp>
      <p:sp>
        <p:nvSpPr>
          <p:cNvPr id="6" name="shape 6"/>
          <p:cNvSpPr/>
          <p:nvPr/>
        </p:nvSpPr>
        <p:spPr>
          <a:xfrm>
            <a:off x="508000" y="2108200"/>
            <a:ext cx="3589867" cy="1663700"/>
          </a:xfrm>
          <a:prstGeom prst="rect">
            <a:avLst/>
          </a:prstGeom>
          <a:solidFill>
            <a:srgbClr val="FFFFFF"/>
          </a:solidFill>
          <a:ln w="12700">
            <a:solidFill>
              <a:srgbClr val="DEDCD6"/>
            </a:solidFill>
          </a:ln>
        </p:spPr>
      </p:sp>
      <p:sp>
        <p:nvSpPr>
          <p:cNvPr id="7" name="shape 7"/>
          <p:cNvSpPr/>
          <p:nvPr/>
        </p:nvSpPr>
        <p:spPr>
          <a:xfrm>
            <a:off x="508000" y="2108200"/>
            <a:ext cx="38100" cy="1663700"/>
          </a:xfrm>
          <a:prstGeom prst="rect">
            <a:avLst/>
          </a:prstGeom>
          <a:solidFill>
            <a:srgbClr val="FF4F59"/>
          </a:solidFill>
          <a:ln>
            <a:noFill/>
          </a:ln>
        </p:spPr>
      </p:sp>
      <p:sp>
        <p:nvSpPr>
          <p:cNvPr id="8" name="shape 8"/>
          <p:cNvSpPr/>
          <p:nvPr/>
        </p:nvSpPr>
        <p:spPr>
          <a:xfrm>
            <a:off x="711200" y="2298700"/>
            <a:ext cx="304800" cy="342900"/>
          </a:xfrm>
          <a:prstGeom prst="can">
            <a:avLst/>
          </a:prstGeom>
          <a:noFill/>
          <a:ln w="20320">
            <a:solidFill>
              <a:srgbClr val="FF4F59"/>
            </a:solidFill>
          </a:ln>
        </p:spPr>
      </p:sp>
      <p:sp>
        <p:nvSpPr>
          <p:cNvPr id="9" name="text 9"/>
          <p:cNvSpPr/>
          <p:nvPr/>
        </p:nvSpPr>
        <p:spPr>
          <a:xfrm>
            <a:off x="1193800" y="2311400"/>
            <a:ext cx="2713567" cy="4699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Sample &amp; representation</a:t>
            </a:r>
            <a:endParaRPr lang="en-US" sz="1800"/>
          </a:p>
        </p:txBody>
      </p:sp>
      <p:sp>
        <p:nvSpPr>
          <p:cNvPr id="10" name="text 10"/>
          <p:cNvSpPr/>
          <p:nvPr/>
        </p:nvSpPr>
        <p:spPr>
          <a:xfrm>
            <a:off x="723900" y="29083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Portfolio mix; historical depth;</a:t>
            </a:r>
            <a:endParaRPr lang="en-US" sz="1500"/>
          </a:p>
          <a:p>
            <a:pPr algn="l">
              <a:lnSpc>
                <a:spcPts val="1710"/>
              </a:lnSpc>
              <a:spcAft>
                <a:spcPts val="0"/>
              </a:spcAft>
            </a:pPr>
            <a:r>
              <a:rPr lang="en-US" sz="1500" b="0" dirty="0">
                <a:solidFill>
                  <a:srgbClr val="181C23"/>
                </a:solidFill>
                <a:latin typeface="Funnel Sans"/>
              </a:rPr>
              <a:t>downturn and regime coverage.</a:t>
            </a:r>
            <a:endParaRPr lang="en-US" sz="1500"/>
          </a:p>
        </p:txBody>
      </p:sp>
      <p:sp>
        <p:nvSpPr>
          <p:cNvPr id="11" name="shape 11"/>
          <p:cNvSpPr/>
          <p:nvPr/>
        </p:nvSpPr>
        <p:spPr>
          <a:xfrm>
            <a:off x="4301067" y="2108200"/>
            <a:ext cx="3589867" cy="1663700"/>
          </a:xfrm>
          <a:prstGeom prst="rect">
            <a:avLst/>
          </a:prstGeom>
          <a:solidFill>
            <a:srgbClr val="FFFFFF"/>
          </a:solidFill>
          <a:ln w="12700">
            <a:solidFill>
              <a:srgbClr val="DEDCD6"/>
            </a:solidFill>
          </a:ln>
        </p:spPr>
      </p:sp>
      <p:sp>
        <p:nvSpPr>
          <p:cNvPr id="12" name="shape 12"/>
          <p:cNvSpPr/>
          <p:nvPr/>
        </p:nvSpPr>
        <p:spPr>
          <a:xfrm>
            <a:off x="4301067" y="2108200"/>
            <a:ext cx="38100" cy="1663700"/>
          </a:xfrm>
          <a:prstGeom prst="rect">
            <a:avLst/>
          </a:prstGeom>
          <a:solidFill>
            <a:srgbClr val="FF4F59"/>
          </a:solidFill>
          <a:ln>
            <a:noFill/>
          </a:ln>
        </p:spPr>
      </p:sp>
      <p:sp>
        <p:nvSpPr>
          <p:cNvPr id="13" name="shape 13"/>
          <p:cNvSpPr/>
          <p:nvPr/>
        </p:nvSpPr>
        <p:spPr>
          <a:xfrm>
            <a:off x="4504267" y="2298700"/>
            <a:ext cx="342900" cy="342900"/>
          </a:xfrm>
          <a:prstGeom prst="ellipse">
            <a:avLst/>
          </a:prstGeom>
          <a:noFill/>
          <a:ln w="19050">
            <a:solidFill>
              <a:srgbClr val="FF4F59"/>
            </a:solidFill>
          </a:ln>
        </p:spPr>
      </p:sp>
      <p:cxnSp>
        <p:nvCxnSpPr>
          <p:cNvPr id="14" name="connector 14"/>
          <p:cNvCxnSpPr/>
          <p:nvPr/>
        </p:nvCxnSpPr>
        <p:spPr>
          <a:xfrm>
            <a:off x="4580467" y="24765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5" name="connector 15"/>
          <p:cNvCxnSpPr/>
          <p:nvPr/>
        </p:nvCxnSpPr>
        <p:spPr>
          <a:xfrm flipV="1">
            <a:off x="4643967" y="24003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16" name="text 16"/>
          <p:cNvSpPr/>
          <p:nvPr/>
        </p:nvSpPr>
        <p:spPr>
          <a:xfrm>
            <a:off x="4986867" y="2311400"/>
            <a:ext cx="2713567" cy="4699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Target &amp; outcome</a:t>
            </a:r>
            <a:endParaRPr lang="en-US" sz="1900"/>
          </a:p>
        </p:txBody>
      </p:sp>
      <p:sp>
        <p:nvSpPr>
          <p:cNvPr id="17" name="text 17"/>
          <p:cNvSpPr/>
          <p:nvPr/>
        </p:nvSpPr>
        <p:spPr>
          <a:xfrm>
            <a:off x="4516967" y="29083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Target definition and label</a:t>
            </a:r>
            <a:endParaRPr lang="en-US" sz="1500"/>
          </a:p>
          <a:p>
            <a:pPr algn="l">
              <a:lnSpc>
                <a:spcPts val="1710"/>
              </a:lnSpc>
              <a:spcAft>
                <a:spcPts val="0"/>
              </a:spcAft>
            </a:pPr>
            <a:r>
              <a:rPr lang="en-US" sz="1500" b="0" dirty="0">
                <a:solidFill>
                  <a:srgbClr val="181C23"/>
                </a:solidFill>
                <a:latin typeface="Funnel Sans"/>
              </a:rPr>
              <a:t>consistency.</a:t>
            </a:r>
            <a:endParaRPr lang="en-US" sz="1500"/>
          </a:p>
        </p:txBody>
      </p:sp>
      <p:sp>
        <p:nvSpPr>
          <p:cNvPr id="18" name="shape 18"/>
          <p:cNvSpPr/>
          <p:nvPr/>
        </p:nvSpPr>
        <p:spPr>
          <a:xfrm>
            <a:off x="8094133" y="2108200"/>
            <a:ext cx="3589867" cy="1663700"/>
          </a:xfrm>
          <a:prstGeom prst="rect">
            <a:avLst/>
          </a:prstGeom>
          <a:solidFill>
            <a:srgbClr val="FFFFFF"/>
          </a:solidFill>
          <a:ln w="12700">
            <a:solidFill>
              <a:srgbClr val="DEDCD6"/>
            </a:solidFill>
          </a:ln>
        </p:spPr>
      </p:sp>
      <p:sp>
        <p:nvSpPr>
          <p:cNvPr id="19" name="shape 19"/>
          <p:cNvSpPr/>
          <p:nvPr/>
        </p:nvSpPr>
        <p:spPr>
          <a:xfrm>
            <a:off x="8094133" y="2108200"/>
            <a:ext cx="38100" cy="1663700"/>
          </a:xfrm>
          <a:prstGeom prst="rect">
            <a:avLst/>
          </a:prstGeom>
          <a:solidFill>
            <a:srgbClr val="FF4F59"/>
          </a:solidFill>
          <a:ln>
            <a:noFill/>
          </a:ln>
        </p:spPr>
      </p:sp>
      <p:sp>
        <p:nvSpPr>
          <p:cNvPr id="20" name="shape 20"/>
          <p:cNvSpPr/>
          <p:nvPr/>
        </p:nvSpPr>
        <p:spPr>
          <a:xfrm>
            <a:off x="8297333" y="2514600"/>
            <a:ext cx="63500" cy="127000"/>
          </a:xfrm>
          <a:prstGeom prst="rect">
            <a:avLst/>
          </a:prstGeom>
          <a:solidFill>
            <a:srgbClr val="FF4F59"/>
          </a:solidFill>
          <a:ln>
            <a:noFill/>
          </a:ln>
        </p:spPr>
      </p:sp>
      <p:sp>
        <p:nvSpPr>
          <p:cNvPr id="21" name="shape 21"/>
          <p:cNvSpPr/>
          <p:nvPr/>
        </p:nvSpPr>
        <p:spPr>
          <a:xfrm>
            <a:off x="8411633" y="2387600"/>
            <a:ext cx="63500" cy="254000"/>
          </a:xfrm>
          <a:prstGeom prst="rect">
            <a:avLst/>
          </a:prstGeom>
          <a:solidFill>
            <a:srgbClr val="FF4F59"/>
          </a:solidFill>
          <a:ln>
            <a:noFill/>
          </a:ln>
        </p:spPr>
      </p:sp>
      <p:sp>
        <p:nvSpPr>
          <p:cNvPr id="22" name="shape 22"/>
          <p:cNvSpPr/>
          <p:nvPr/>
        </p:nvSpPr>
        <p:spPr>
          <a:xfrm>
            <a:off x="8525933" y="2298700"/>
            <a:ext cx="63500" cy="342900"/>
          </a:xfrm>
          <a:prstGeom prst="rect">
            <a:avLst/>
          </a:prstGeom>
          <a:solidFill>
            <a:srgbClr val="FF4F59"/>
          </a:solidFill>
          <a:ln>
            <a:noFill/>
          </a:ln>
        </p:spPr>
      </p:sp>
      <p:sp>
        <p:nvSpPr>
          <p:cNvPr id="23" name="text 23"/>
          <p:cNvSpPr/>
          <p:nvPr/>
        </p:nvSpPr>
        <p:spPr>
          <a:xfrm>
            <a:off x="8779933" y="2311400"/>
            <a:ext cx="2713567" cy="4699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Feature quality</a:t>
            </a:r>
            <a:endParaRPr lang="en-US" sz="1900"/>
          </a:p>
        </p:txBody>
      </p:sp>
      <p:sp>
        <p:nvSpPr>
          <p:cNvPr id="24" name="text 24"/>
          <p:cNvSpPr/>
          <p:nvPr/>
        </p:nvSpPr>
        <p:spPr>
          <a:xfrm>
            <a:off x="8310033" y="29083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Missingness; extremes; temporal</a:t>
            </a:r>
            <a:endParaRPr lang="en-US" sz="1500"/>
          </a:p>
          <a:p>
            <a:pPr algn="l">
              <a:lnSpc>
                <a:spcPts val="1710"/>
              </a:lnSpc>
              <a:spcAft>
                <a:spcPts val="0"/>
              </a:spcAft>
            </a:pPr>
            <a:r>
              <a:rPr lang="en-US" sz="1500" b="0" dirty="0">
                <a:solidFill>
                  <a:srgbClr val="181C23"/>
                </a:solidFill>
                <a:latin typeface="Funnel Sans"/>
              </a:rPr>
              <a:t>leakage; behavioral stability.</a:t>
            </a:r>
            <a:endParaRPr lang="en-US" sz="1500"/>
          </a:p>
        </p:txBody>
      </p:sp>
      <p:sp>
        <p:nvSpPr>
          <p:cNvPr id="25" name="shape 25"/>
          <p:cNvSpPr/>
          <p:nvPr/>
        </p:nvSpPr>
        <p:spPr>
          <a:xfrm>
            <a:off x="508000" y="3975100"/>
            <a:ext cx="3589867" cy="1663700"/>
          </a:xfrm>
          <a:prstGeom prst="rect">
            <a:avLst/>
          </a:prstGeom>
          <a:solidFill>
            <a:srgbClr val="FFFFFF"/>
          </a:solidFill>
          <a:ln w="12700">
            <a:solidFill>
              <a:srgbClr val="DEDCD6"/>
            </a:solidFill>
          </a:ln>
        </p:spPr>
      </p:sp>
      <p:sp>
        <p:nvSpPr>
          <p:cNvPr id="26" name="shape 26"/>
          <p:cNvSpPr/>
          <p:nvPr/>
        </p:nvSpPr>
        <p:spPr>
          <a:xfrm>
            <a:off x="508000" y="3975100"/>
            <a:ext cx="38100" cy="1663700"/>
          </a:xfrm>
          <a:prstGeom prst="rect">
            <a:avLst/>
          </a:prstGeom>
          <a:solidFill>
            <a:srgbClr val="FF4F59"/>
          </a:solidFill>
          <a:ln>
            <a:noFill/>
          </a:ln>
        </p:spPr>
      </p:sp>
      <p:sp>
        <p:nvSpPr>
          <p:cNvPr id="27" name="shape 27"/>
          <p:cNvSpPr/>
          <p:nvPr/>
        </p:nvSpPr>
        <p:spPr>
          <a:xfrm>
            <a:off x="711200" y="4381500"/>
            <a:ext cx="63500" cy="127000"/>
          </a:xfrm>
          <a:prstGeom prst="rect">
            <a:avLst/>
          </a:prstGeom>
          <a:solidFill>
            <a:srgbClr val="FF4F59"/>
          </a:solidFill>
          <a:ln>
            <a:noFill/>
          </a:ln>
        </p:spPr>
      </p:sp>
      <p:sp>
        <p:nvSpPr>
          <p:cNvPr id="28" name="shape 28"/>
          <p:cNvSpPr/>
          <p:nvPr/>
        </p:nvSpPr>
        <p:spPr>
          <a:xfrm>
            <a:off x="825500" y="4254500"/>
            <a:ext cx="63500" cy="254000"/>
          </a:xfrm>
          <a:prstGeom prst="rect">
            <a:avLst/>
          </a:prstGeom>
          <a:solidFill>
            <a:srgbClr val="FF4F59"/>
          </a:solidFill>
          <a:ln>
            <a:noFill/>
          </a:ln>
        </p:spPr>
      </p:sp>
      <p:sp>
        <p:nvSpPr>
          <p:cNvPr id="29" name="shape 29"/>
          <p:cNvSpPr/>
          <p:nvPr/>
        </p:nvSpPr>
        <p:spPr>
          <a:xfrm>
            <a:off x="939800" y="4165600"/>
            <a:ext cx="63500" cy="342900"/>
          </a:xfrm>
          <a:prstGeom prst="rect">
            <a:avLst/>
          </a:prstGeom>
          <a:solidFill>
            <a:srgbClr val="FF4F59"/>
          </a:solidFill>
          <a:ln>
            <a:noFill/>
          </a:ln>
        </p:spPr>
      </p:sp>
      <p:sp>
        <p:nvSpPr>
          <p:cNvPr id="30" name="text 30"/>
          <p:cNvSpPr/>
          <p:nvPr/>
        </p:nvSpPr>
        <p:spPr>
          <a:xfrm>
            <a:off x="1193800" y="4178300"/>
            <a:ext cx="2713567" cy="4699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Dataset monitoring</a:t>
            </a:r>
            <a:endParaRPr lang="en-US" sz="1900"/>
          </a:p>
        </p:txBody>
      </p:sp>
      <p:sp>
        <p:nvSpPr>
          <p:cNvPr id="31" name="text 31"/>
          <p:cNvSpPr/>
          <p:nvPr/>
        </p:nvSpPr>
        <p:spPr>
          <a:xfrm>
            <a:off x="723900" y="47752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Dataset drift and degradation over</a:t>
            </a:r>
            <a:endParaRPr lang="en-US" sz="1500"/>
          </a:p>
          <a:p>
            <a:pPr algn="l">
              <a:lnSpc>
                <a:spcPts val="1710"/>
              </a:lnSpc>
              <a:spcAft>
                <a:spcPts val="0"/>
              </a:spcAft>
            </a:pPr>
            <a:r>
              <a:rPr lang="en-US" sz="1500" b="0" dirty="0">
                <a:solidFill>
                  <a:srgbClr val="181C23"/>
                </a:solidFill>
                <a:latin typeface="Funnel Sans"/>
              </a:rPr>
              <a:t>time.</a:t>
            </a:r>
            <a:endParaRPr lang="en-US" sz="1500"/>
          </a:p>
        </p:txBody>
      </p:sp>
      <p:sp>
        <p:nvSpPr>
          <p:cNvPr id="32" name="shape 32"/>
          <p:cNvSpPr/>
          <p:nvPr/>
        </p:nvSpPr>
        <p:spPr>
          <a:xfrm>
            <a:off x="4301067" y="3975100"/>
            <a:ext cx="3589867" cy="1663700"/>
          </a:xfrm>
          <a:prstGeom prst="rect">
            <a:avLst/>
          </a:prstGeom>
          <a:solidFill>
            <a:srgbClr val="FFFFFF"/>
          </a:solidFill>
          <a:ln w="12700">
            <a:solidFill>
              <a:srgbClr val="DEDCD6"/>
            </a:solidFill>
          </a:ln>
        </p:spPr>
      </p:sp>
      <p:sp>
        <p:nvSpPr>
          <p:cNvPr id="33" name="shape 33"/>
          <p:cNvSpPr/>
          <p:nvPr/>
        </p:nvSpPr>
        <p:spPr>
          <a:xfrm>
            <a:off x="4301067" y="3975100"/>
            <a:ext cx="38100" cy="1663700"/>
          </a:xfrm>
          <a:prstGeom prst="rect">
            <a:avLst/>
          </a:prstGeom>
          <a:solidFill>
            <a:srgbClr val="FF4F59"/>
          </a:solidFill>
          <a:ln>
            <a:noFill/>
          </a:ln>
        </p:spPr>
      </p:sp>
      <p:sp>
        <p:nvSpPr>
          <p:cNvPr id="34" name="shape 34"/>
          <p:cNvSpPr/>
          <p:nvPr/>
        </p:nvSpPr>
        <p:spPr>
          <a:xfrm>
            <a:off x="4504267" y="4165600"/>
            <a:ext cx="304800" cy="342900"/>
          </a:xfrm>
          <a:prstGeom prst="can">
            <a:avLst/>
          </a:prstGeom>
          <a:noFill/>
          <a:ln w="20320">
            <a:solidFill>
              <a:srgbClr val="FF4F59"/>
            </a:solidFill>
          </a:ln>
        </p:spPr>
      </p:sp>
      <p:sp>
        <p:nvSpPr>
          <p:cNvPr id="35" name="text 35"/>
          <p:cNvSpPr/>
          <p:nvPr/>
        </p:nvSpPr>
        <p:spPr>
          <a:xfrm>
            <a:off x="4986867" y="4178300"/>
            <a:ext cx="2713567" cy="4699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Pipeline integrity</a:t>
            </a:r>
            <a:endParaRPr lang="en-US" sz="1900"/>
          </a:p>
        </p:txBody>
      </p:sp>
      <p:sp>
        <p:nvSpPr>
          <p:cNvPr id="36" name="text 36"/>
          <p:cNvSpPr/>
          <p:nvPr/>
        </p:nvSpPr>
        <p:spPr>
          <a:xfrm>
            <a:off x="4516967" y="47752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Schema consistency and</a:t>
            </a:r>
            <a:endParaRPr lang="en-US" sz="1500"/>
          </a:p>
          <a:p>
            <a:pPr algn="l">
              <a:lnSpc>
                <a:spcPts val="1710"/>
              </a:lnSpc>
              <a:spcAft>
                <a:spcPts val="0"/>
              </a:spcAft>
            </a:pPr>
            <a:r>
              <a:rPr lang="en-US" sz="1500" b="0" dirty="0">
                <a:solidFill>
                  <a:srgbClr val="181C23"/>
                </a:solidFill>
                <a:latin typeface="Funnel Sans"/>
              </a:rPr>
              <a:t>continuity of delivery.</a:t>
            </a:r>
            <a:endParaRPr lang="en-US" sz="1500"/>
          </a:p>
        </p:txBody>
      </p:sp>
      <p:sp>
        <p:nvSpPr>
          <p:cNvPr id="37" name="shape 37"/>
          <p:cNvSpPr/>
          <p:nvPr/>
        </p:nvSpPr>
        <p:spPr>
          <a:xfrm>
            <a:off x="8094133" y="3975100"/>
            <a:ext cx="3589867" cy="1663700"/>
          </a:xfrm>
          <a:prstGeom prst="rect">
            <a:avLst/>
          </a:prstGeom>
          <a:solidFill>
            <a:srgbClr val="FFFFFF"/>
          </a:solidFill>
          <a:ln w="12700">
            <a:solidFill>
              <a:srgbClr val="DEDCD6"/>
            </a:solidFill>
          </a:ln>
        </p:spPr>
      </p:sp>
      <p:sp>
        <p:nvSpPr>
          <p:cNvPr id="38" name="shape 38"/>
          <p:cNvSpPr/>
          <p:nvPr/>
        </p:nvSpPr>
        <p:spPr>
          <a:xfrm>
            <a:off x="8094133" y="3975100"/>
            <a:ext cx="38100" cy="1663700"/>
          </a:xfrm>
          <a:prstGeom prst="rect">
            <a:avLst/>
          </a:prstGeom>
          <a:solidFill>
            <a:srgbClr val="FF4F59"/>
          </a:solidFill>
          <a:ln>
            <a:noFill/>
          </a:ln>
        </p:spPr>
      </p:sp>
      <p:sp>
        <p:nvSpPr>
          <p:cNvPr id="39" name="shape 39"/>
          <p:cNvSpPr/>
          <p:nvPr/>
        </p:nvSpPr>
        <p:spPr>
          <a:xfrm>
            <a:off x="8322733" y="4165600"/>
            <a:ext cx="292100" cy="342900"/>
          </a:xfrm>
          <a:prstGeom prst="rect">
            <a:avLst/>
          </a:prstGeom>
          <a:noFill/>
          <a:ln w="12700">
            <a:solidFill>
              <a:srgbClr val="FF4F59"/>
            </a:solidFill>
          </a:ln>
        </p:spPr>
      </p:sp>
      <p:cxnSp>
        <p:nvCxnSpPr>
          <p:cNvPr id="40" name="connector 40"/>
          <p:cNvCxnSpPr/>
          <p:nvPr/>
        </p:nvCxnSpPr>
        <p:spPr>
          <a:xfrm>
            <a:off x="8386233" y="42672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41" name="connector 41"/>
          <p:cNvCxnSpPr/>
          <p:nvPr/>
        </p:nvCxnSpPr>
        <p:spPr>
          <a:xfrm>
            <a:off x="8386233" y="43434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42" name="connector 42"/>
          <p:cNvCxnSpPr/>
          <p:nvPr/>
        </p:nvCxnSpPr>
        <p:spPr>
          <a:xfrm>
            <a:off x="8386233" y="44196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43" name="text 43"/>
          <p:cNvSpPr/>
          <p:nvPr/>
        </p:nvSpPr>
        <p:spPr>
          <a:xfrm>
            <a:off x="8779933" y="4178300"/>
            <a:ext cx="2713567" cy="4699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Third-party controls</a:t>
            </a:r>
            <a:endParaRPr lang="en-US" sz="1900"/>
          </a:p>
        </p:txBody>
      </p:sp>
      <p:sp>
        <p:nvSpPr>
          <p:cNvPr id="44" name="text 44"/>
          <p:cNvSpPr/>
          <p:nvPr/>
        </p:nvSpPr>
        <p:spPr>
          <a:xfrm>
            <a:off x="8310033" y="47752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External-data robustness and</a:t>
            </a:r>
            <a:endParaRPr lang="en-US" sz="1500"/>
          </a:p>
          <a:p>
            <a:pPr algn="l">
              <a:lnSpc>
                <a:spcPts val="1710"/>
              </a:lnSpc>
              <a:spcAft>
                <a:spcPts val="0"/>
              </a:spcAft>
            </a:pPr>
            <a:r>
              <a:rPr lang="en-US" sz="1500" b="0" dirty="0">
                <a:solidFill>
                  <a:srgbClr val="181C23"/>
                </a:solidFill>
                <a:latin typeface="Funnel Sans"/>
              </a:rPr>
              <a:t>change control.</a:t>
            </a:r>
            <a:endParaRPr lang="en-US" sz="1500"/>
          </a:p>
        </p:txBody>
      </p:sp>
      <p:sp>
        <p:nvSpPr>
          <p:cNvPr id="45" name="shape 45"/>
          <p:cNvSpPr/>
          <p:nvPr/>
        </p:nvSpPr>
        <p:spPr>
          <a:xfrm>
            <a:off x="508000" y="5740400"/>
            <a:ext cx="11176000" cy="546100"/>
          </a:xfrm>
          <a:prstGeom prst="rect">
            <a:avLst/>
          </a:prstGeom>
          <a:solidFill>
            <a:srgbClr val="282A27"/>
          </a:solidFill>
          <a:ln>
            <a:noFill/>
          </a:ln>
        </p:spPr>
      </p:sp>
      <p:sp>
        <p:nvSpPr>
          <p:cNvPr id="46" name="text 46"/>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Framework coverage includes planned and unimplemented areas; report that scope explicitly.</a:t>
            </a:r>
            <a:endParaRPr lang="en-US" sz="1600"/>
          </a:p>
        </p:txBody>
      </p:sp>
      <p:cxnSp>
        <p:nvCxnSpPr>
          <p:cNvPr id="47" name="connector 4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text 4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9" name="text 4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06 / 87</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01 / PEOPLE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Give each participant a clear purpose and handoff</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Business personas describe responsibilities; authorization roles are shown on the next slide.</a:t>
            </a:r>
            <a:endParaRPr lang="en-US" sz="1500"/>
          </a:p>
        </p:txBody>
      </p:sp>
      <p:sp>
        <p:nvSpPr>
          <p:cNvPr id="6" name="shape 6"/>
          <p:cNvSpPr/>
          <p:nvPr/>
        </p:nvSpPr>
        <p:spPr>
          <a:xfrm>
            <a:off x="508000" y="2108200"/>
            <a:ext cx="3589867" cy="1663700"/>
          </a:xfrm>
          <a:prstGeom prst="rect">
            <a:avLst/>
          </a:prstGeom>
          <a:solidFill>
            <a:srgbClr val="FFFFFF"/>
          </a:solidFill>
          <a:ln w="12700">
            <a:solidFill>
              <a:srgbClr val="DEDCD6"/>
            </a:solidFill>
          </a:ln>
        </p:spPr>
      </p:sp>
      <p:sp>
        <p:nvSpPr>
          <p:cNvPr id="7" name="shape 7"/>
          <p:cNvSpPr/>
          <p:nvPr/>
        </p:nvSpPr>
        <p:spPr>
          <a:xfrm>
            <a:off x="508000" y="2108200"/>
            <a:ext cx="38100" cy="1663700"/>
          </a:xfrm>
          <a:prstGeom prst="rect">
            <a:avLst/>
          </a:prstGeom>
          <a:solidFill>
            <a:srgbClr val="FF4F59"/>
          </a:solidFill>
          <a:ln>
            <a:noFill/>
          </a:ln>
        </p:spPr>
      </p:sp>
      <p:sp>
        <p:nvSpPr>
          <p:cNvPr id="8" name="shape 8"/>
          <p:cNvSpPr/>
          <p:nvPr/>
        </p:nvSpPr>
        <p:spPr>
          <a:xfrm>
            <a:off x="812800" y="2298700"/>
            <a:ext cx="139700" cy="139700"/>
          </a:xfrm>
          <a:prstGeom prst="ellipse">
            <a:avLst/>
          </a:prstGeom>
          <a:noFill/>
          <a:ln w="20320">
            <a:solidFill>
              <a:srgbClr val="FF4F59"/>
            </a:solidFill>
          </a:ln>
        </p:spPr>
      </p:sp>
      <p:sp>
        <p:nvSpPr>
          <p:cNvPr id="9" name="shape 9"/>
          <p:cNvSpPr/>
          <p:nvPr/>
        </p:nvSpPr>
        <p:spPr>
          <a:xfrm>
            <a:off x="736600" y="2476500"/>
            <a:ext cx="292100" cy="190500"/>
          </a:xfrm>
          <a:prstGeom prst="arc">
            <a:avLst/>
          </a:prstGeom>
          <a:noFill/>
          <a:ln w="20320">
            <a:solidFill>
              <a:srgbClr val="FF4F59"/>
            </a:solidFill>
          </a:ln>
        </p:spPr>
      </p:sp>
      <p:sp>
        <p:nvSpPr>
          <p:cNvPr id="10" name="text 10"/>
          <p:cNvSpPr/>
          <p:nvPr/>
        </p:nvSpPr>
        <p:spPr>
          <a:xfrm>
            <a:off x="1193800" y="2311400"/>
            <a:ext cx="2713567" cy="469900"/>
          </a:xfrm>
          <a:prstGeom prst="rect">
            <a:avLst/>
          </a:prstGeom>
          <a:noFill/>
          <a:ln>
            <a:noFill/>
          </a:ln>
        </p:spPr>
        <p:txBody>
          <a:bodyPr wrap="none" lIns="0" tIns="0" rIns="0" bIns="0" anchor="t">
            <a:noAutofit/>
          </a:bodyPr>
          <a:lstStyle/>
          <a:p>
            <a:pPr algn="l">
              <a:lnSpc>
                <a:spcPts val="1995"/>
              </a:lnSpc>
              <a:spcAft>
                <a:spcPts val="0"/>
              </a:spcAft>
            </a:pPr>
            <a:r>
              <a:rPr lang="en-US" sz="1750" b="1" dirty="0">
                <a:solidFill>
                  <a:srgbClr val="181C23"/>
                </a:solidFill>
                <a:latin typeface="Funnel Sans"/>
              </a:rPr>
              <a:t>Sponsor / product owner</a:t>
            </a:r>
            <a:endParaRPr lang="en-US" sz="1750"/>
          </a:p>
        </p:txBody>
      </p:sp>
      <p:sp>
        <p:nvSpPr>
          <p:cNvPr id="11" name="text 11"/>
          <p:cNvSpPr/>
          <p:nvPr/>
        </p:nvSpPr>
        <p:spPr>
          <a:xfrm>
            <a:off x="723900" y="29083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Proposed: set priorities, accept</a:t>
            </a:r>
            <a:endParaRPr lang="en-US" sz="1500"/>
          </a:p>
          <a:p>
            <a:pPr algn="l">
              <a:lnSpc>
                <a:spcPts val="1710"/>
              </a:lnSpc>
              <a:spcAft>
                <a:spcPts val="0"/>
              </a:spcAft>
            </a:pPr>
            <a:r>
              <a:rPr lang="en-US" sz="1500" b="0" dirty="0">
                <a:solidFill>
                  <a:srgbClr val="181C23"/>
                </a:solidFill>
                <a:latin typeface="Funnel Sans"/>
              </a:rPr>
              <a:t>rollout scope and review evidence</a:t>
            </a:r>
            <a:endParaRPr lang="en-US" sz="1500"/>
          </a:p>
          <a:p>
            <a:pPr algn="l">
              <a:lnSpc>
                <a:spcPts val="1710"/>
              </a:lnSpc>
              <a:spcAft>
                <a:spcPts val="0"/>
              </a:spcAft>
            </a:pPr>
            <a:r>
              <a:rPr lang="en-US" sz="1500" b="0" dirty="0">
                <a:solidFill>
                  <a:srgbClr val="181C23"/>
                </a:solidFill>
                <a:latin typeface="Funnel Sans"/>
              </a:rPr>
              <a:t>packs.</a:t>
            </a:r>
            <a:endParaRPr lang="en-US" sz="1500"/>
          </a:p>
        </p:txBody>
      </p:sp>
      <p:sp>
        <p:nvSpPr>
          <p:cNvPr id="12" name="shape 12"/>
          <p:cNvSpPr/>
          <p:nvPr/>
        </p:nvSpPr>
        <p:spPr>
          <a:xfrm>
            <a:off x="4301067" y="2108200"/>
            <a:ext cx="3589867" cy="1663700"/>
          </a:xfrm>
          <a:prstGeom prst="rect">
            <a:avLst/>
          </a:prstGeom>
          <a:solidFill>
            <a:srgbClr val="FFFFFF"/>
          </a:solidFill>
          <a:ln w="12700">
            <a:solidFill>
              <a:srgbClr val="DEDCD6"/>
            </a:solidFill>
          </a:ln>
        </p:spPr>
      </p:sp>
      <p:sp>
        <p:nvSpPr>
          <p:cNvPr id="13" name="shape 13"/>
          <p:cNvSpPr/>
          <p:nvPr/>
        </p:nvSpPr>
        <p:spPr>
          <a:xfrm>
            <a:off x="4301067" y="2108200"/>
            <a:ext cx="38100" cy="1663700"/>
          </a:xfrm>
          <a:prstGeom prst="rect">
            <a:avLst/>
          </a:prstGeom>
          <a:solidFill>
            <a:srgbClr val="FF4F59"/>
          </a:solidFill>
          <a:ln>
            <a:noFill/>
          </a:ln>
        </p:spPr>
      </p:sp>
      <p:sp>
        <p:nvSpPr>
          <p:cNvPr id="14" name="shape 14"/>
          <p:cNvSpPr/>
          <p:nvPr/>
        </p:nvSpPr>
        <p:spPr>
          <a:xfrm>
            <a:off x="4504267" y="2514600"/>
            <a:ext cx="63500" cy="127000"/>
          </a:xfrm>
          <a:prstGeom prst="rect">
            <a:avLst/>
          </a:prstGeom>
          <a:solidFill>
            <a:srgbClr val="FF4F59"/>
          </a:solidFill>
          <a:ln>
            <a:noFill/>
          </a:ln>
        </p:spPr>
      </p:sp>
      <p:sp>
        <p:nvSpPr>
          <p:cNvPr id="15" name="shape 15"/>
          <p:cNvSpPr/>
          <p:nvPr/>
        </p:nvSpPr>
        <p:spPr>
          <a:xfrm>
            <a:off x="4618567" y="2387600"/>
            <a:ext cx="63500" cy="254000"/>
          </a:xfrm>
          <a:prstGeom prst="rect">
            <a:avLst/>
          </a:prstGeom>
          <a:solidFill>
            <a:srgbClr val="FF4F59"/>
          </a:solidFill>
          <a:ln>
            <a:noFill/>
          </a:ln>
        </p:spPr>
      </p:sp>
      <p:sp>
        <p:nvSpPr>
          <p:cNvPr id="16" name="shape 16"/>
          <p:cNvSpPr/>
          <p:nvPr/>
        </p:nvSpPr>
        <p:spPr>
          <a:xfrm>
            <a:off x="4732867" y="2298700"/>
            <a:ext cx="63500" cy="342900"/>
          </a:xfrm>
          <a:prstGeom prst="rect">
            <a:avLst/>
          </a:prstGeom>
          <a:solidFill>
            <a:srgbClr val="FF4F59"/>
          </a:solidFill>
          <a:ln>
            <a:noFill/>
          </a:ln>
        </p:spPr>
      </p:sp>
      <p:sp>
        <p:nvSpPr>
          <p:cNvPr id="17" name="text 17"/>
          <p:cNvSpPr/>
          <p:nvPr/>
        </p:nvSpPr>
        <p:spPr>
          <a:xfrm>
            <a:off x="4986867" y="2311400"/>
            <a:ext cx="2713567" cy="4699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Analytics / model team</a:t>
            </a:r>
            <a:endParaRPr lang="en-US" sz="1900"/>
          </a:p>
        </p:txBody>
      </p:sp>
      <p:sp>
        <p:nvSpPr>
          <p:cNvPr id="18" name="text 18"/>
          <p:cNvSpPr/>
          <p:nvPr/>
        </p:nvSpPr>
        <p:spPr>
          <a:xfrm>
            <a:off x="4516967" y="29083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Select target and scope; interpret</a:t>
            </a:r>
            <a:endParaRPr lang="en-US" sz="1500"/>
          </a:p>
          <a:p>
            <a:pPr algn="l">
              <a:lnSpc>
                <a:spcPts val="1710"/>
              </a:lnSpc>
              <a:spcAft>
                <a:spcPts val="0"/>
              </a:spcAft>
            </a:pPr>
            <a:r>
              <a:rPr lang="en-US" sz="1500" b="0" dirty="0">
                <a:solidFill>
                  <a:srgbClr val="181C23"/>
                </a:solidFill>
                <a:latin typeface="Funnel Sans"/>
              </a:rPr>
              <a:t>separation, drift and context.</a:t>
            </a:r>
            <a:endParaRPr lang="en-US" sz="1500"/>
          </a:p>
        </p:txBody>
      </p:sp>
      <p:sp>
        <p:nvSpPr>
          <p:cNvPr id="19" name="shape 19"/>
          <p:cNvSpPr/>
          <p:nvPr/>
        </p:nvSpPr>
        <p:spPr>
          <a:xfrm>
            <a:off x="8094133" y="2108200"/>
            <a:ext cx="3589867" cy="1663700"/>
          </a:xfrm>
          <a:prstGeom prst="rect">
            <a:avLst/>
          </a:prstGeom>
          <a:solidFill>
            <a:srgbClr val="FFFFFF"/>
          </a:solidFill>
          <a:ln w="12700">
            <a:solidFill>
              <a:srgbClr val="DEDCD6"/>
            </a:solidFill>
          </a:ln>
        </p:spPr>
      </p:sp>
      <p:sp>
        <p:nvSpPr>
          <p:cNvPr id="20" name="shape 20"/>
          <p:cNvSpPr/>
          <p:nvPr/>
        </p:nvSpPr>
        <p:spPr>
          <a:xfrm>
            <a:off x="8094133" y="2108200"/>
            <a:ext cx="38100" cy="1663700"/>
          </a:xfrm>
          <a:prstGeom prst="rect">
            <a:avLst/>
          </a:prstGeom>
          <a:solidFill>
            <a:srgbClr val="FF4F59"/>
          </a:solidFill>
          <a:ln>
            <a:noFill/>
          </a:ln>
        </p:spPr>
      </p:sp>
      <p:sp>
        <p:nvSpPr>
          <p:cNvPr id="21" name="shape 21"/>
          <p:cNvSpPr/>
          <p:nvPr/>
        </p:nvSpPr>
        <p:spPr>
          <a:xfrm>
            <a:off x="8297333" y="2298700"/>
            <a:ext cx="304800" cy="342900"/>
          </a:xfrm>
          <a:prstGeom prst="can">
            <a:avLst/>
          </a:prstGeom>
          <a:noFill/>
          <a:ln w="20320">
            <a:solidFill>
              <a:srgbClr val="FF4F59"/>
            </a:solidFill>
          </a:ln>
        </p:spPr>
      </p:sp>
      <p:sp>
        <p:nvSpPr>
          <p:cNvPr id="22" name="text 22"/>
          <p:cNvSpPr/>
          <p:nvPr/>
        </p:nvSpPr>
        <p:spPr>
          <a:xfrm>
            <a:off x="8779933" y="2311400"/>
            <a:ext cx="2713567" cy="4699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Data team</a:t>
            </a:r>
            <a:endParaRPr lang="en-US" sz="1900"/>
          </a:p>
        </p:txBody>
      </p:sp>
      <p:sp>
        <p:nvSpPr>
          <p:cNvPr id="23" name="text 23"/>
          <p:cNvSpPr/>
          <p:nvPr/>
        </p:nvSpPr>
        <p:spPr>
          <a:xfrm>
            <a:off x="8310033" y="29083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Upload assets; confirm mappings,</a:t>
            </a:r>
            <a:endParaRPr lang="en-US" sz="1500"/>
          </a:p>
          <a:p>
            <a:pPr algn="l">
              <a:lnSpc>
                <a:spcPts val="1710"/>
              </a:lnSpc>
              <a:spcAft>
                <a:spcPts val="0"/>
              </a:spcAft>
            </a:pPr>
            <a:r>
              <a:rPr lang="en-US" sz="1500" b="0" dirty="0">
                <a:solidFill>
                  <a:srgbClr val="181C23"/>
                </a:solidFill>
                <a:latin typeface="Funnel Sans"/>
              </a:rPr>
              <a:t>periods and schema changes.</a:t>
            </a:r>
            <a:endParaRPr lang="en-US" sz="1500"/>
          </a:p>
        </p:txBody>
      </p:sp>
      <p:sp>
        <p:nvSpPr>
          <p:cNvPr id="24" name="shape 24"/>
          <p:cNvSpPr/>
          <p:nvPr/>
        </p:nvSpPr>
        <p:spPr>
          <a:xfrm>
            <a:off x="508000" y="3975100"/>
            <a:ext cx="3589867" cy="1663700"/>
          </a:xfrm>
          <a:prstGeom prst="rect">
            <a:avLst/>
          </a:prstGeom>
          <a:solidFill>
            <a:srgbClr val="FFFFFF"/>
          </a:solidFill>
          <a:ln w="12700">
            <a:solidFill>
              <a:srgbClr val="DEDCD6"/>
            </a:solidFill>
          </a:ln>
        </p:spPr>
      </p:sp>
      <p:sp>
        <p:nvSpPr>
          <p:cNvPr id="25" name="shape 25"/>
          <p:cNvSpPr/>
          <p:nvPr/>
        </p:nvSpPr>
        <p:spPr>
          <a:xfrm>
            <a:off x="508000" y="3975100"/>
            <a:ext cx="38100" cy="1663700"/>
          </a:xfrm>
          <a:prstGeom prst="rect">
            <a:avLst/>
          </a:prstGeom>
          <a:solidFill>
            <a:srgbClr val="FF4F59"/>
          </a:solidFill>
          <a:ln>
            <a:noFill/>
          </a:ln>
        </p:spPr>
      </p:sp>
      <p:sp>
        <p:nvSpPr>
          <p:cNvPr id="26" name="shape 26"/>
          <p:cNvSpPr/>
          <p:nvPr/>
        </p:nvSpPr>
        <p:spPr>
          <a:xfrm>
            <a:off x="711200" y="4165600"/>
            <a:ext cx="241300" cy="241300"/>
          </a:xfrm>
          <a:prstGeom prst="ellipse">
            <a:avLst/>
          </a:prstGeom>
          <a:noFill/>
          <a:ln w="22860">
            <a:solidFill>
              <a:srgbClr val="FF4F59"/>
            </a:solidFill>
          </a:ln>
        </p:spPr>
      </p:sp>
      <p:cxnSp>
        <p:nvCxnSpPr>
          <p:cNvPr id="27" name="connector 27"/>
          <p:cNvCxnSpPr/>
          <p:nvPr/>
        </p:nvCxnSpPr>
        <p:spPr>
          <a:xfrm>
            <a:off x="914400" y="43688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1193800" y="4178300"/>
            <a:ext cx="2713567" cy="469900"/>
          </a:xfrm>
          <a:prstGeom prst="rect">
            <a:avLst/>
          </a:prstGeom>
          <a:noFill/>
          <a:ln>
            <a:noFill/>
          </a:ln>
        </p:spPr>
        <p:txBody>
          <a:bodyPr wrap="none" lIns="0" tIns="0" rIns="0" bIns="0" anchor="t">
            <a:noAutofit/>
          </a:bodyPr>
          <a:lstStyle/>
          <a:p>
            <a:pPr algn="l">
              <a:lnSpc>
                <a:spcPts val="2109"/>
              </a:lnSpc>
              <a:spcAft>
                <a:spcPts val="0"/>
              </a:spcAft>
            </a:pPr>
            <a:r>
              <a:rPr lang="en-US" sz="1850" b="1" dirty="0">
                <a:solidFill>
                  <a:srgbClr val="181C23"/>
                </a:solidFill>
                <a:latin typeface="Funnel Sans"/>
              </a:rPr>
              <a:t>Diagnostic owner / SME</a:t>
            </a:r>
            <a:endParaRPr lang="en-US" sz="1850"/>
          </a:p>
        </p:txBody>
      </p:sp>
      <p:sp>
        <p:nvSpPr>
          <p:cNvPr id="29" name="text 29"/>
          <p:cNvSpPr/>
          <p:nvPr/>
        </p:nvSpPr>
        <p:spPr>
          <a:xfrm>
            <a:off x="723900" y="47752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Proposed ownership: maintain</a:t>
            </a:r>
            <a:endParaRPr lang="en-US" sz="1500"/>
          </a:p>
          <a:p>
            <a:pPr algn="l">
              <a:lnSpc>
                <a:spcPts val="1710"/>
              </a:lnSpc>
              <a:spcAft>
                <a:spcPts val="0"/>
              </a:spcAft>
            </a:pPr>
            <a:r>
              <a:rPr lang="en-US" sz="1500" b="0" dirty="0">
                <a:solidFill>
                  <a:srgbClr val="181C23"/>
                </a:solidFill>
                <a:latin typeface="Funnel Sans"/>
              </a:rPr>
              <a:t>methodology and resolve</a:t>
            </a:r>
            <a:endParaRPr lang="en-US" sz="1500"/>
          </a:p>
          <a:p>
            <a:pPr algn="l">
              <a:lnSpc>
                <a:spcPts val="1710"/>
              </a:lnSpc>
              <a:spcAft>
                <a:spcPts val="0"/>
              </a:spcAft>
            </a:pPr>
            <a:r>
              <a:rPr lang="en-US" sz="1500" b="0" dirty="0">
                <a:solidFill>
                  <a:srgbClr val="181C23"/>
                </a:solidFill>
                <a:latin typeface="Funnel Sans"/>
              </a:rPr>
              <a:t>ambiguous findings.</a:t>
            </a:r>
            <a:endParaRPr lang="en-US" sz="1500"/>
          </a:p>
        </p:txBody>
      </p:sp>
      <p:sp>
        <p:nvSpPr>
          <p:cNvPr id="30" name="shape 30"/>
          <p:cNvSpPr/>
          <p:nvPr/>
        </p:nvSpPr>
        <p:spPr>
          <a:xfrm>
            <a:off x="4301067" y="3975100"/>
            <a:ext cx="3589867" cy="1663700"/>
          </a:xfrm>
          <a:prstGeom prst="rect">
            <a:avLst/>
          </a:prstGeom>
          <a:solidFill>
            <a:srgbClr val="FFFFFF"/>
          </a:solidFill>
          <a:ln w="12700">
            <a:solidFill>
              <a:srgbClr val="DEDCD6"/>
            </a:solidFill>
          </a:ln>
        </p:spPr>
      </p:sp>
      <p:sp>
        <p:nvSpPr>
          <p:cNvPr id="31" name="shape 31"/>
          <p:cNvSpPr/>
          <p:nvPr/>
        </p:nvSpPr>
        <p:spPr>
          <a:xfrm>
            <a:off x="4301067" y="3975100"/>
            <a:ext cx="38100" cy="1663700"/>
          </a:xfrm>
          <a:prstGeom prst="rect">
            <a:avLst/>
          </a:prstGeom>
          <a:solidFill>
            <a:srgbClr val="FF4F59"/>
          </a:solidFill>
          <a:ln>
            <a:noFill/>
          </a:ln>
        </p:spPr>
      </p:sp>
      <p:sp>
        <p:nvSpPr>
          <p:cNvPr id="32" name="shape 32"/>
          <p:cNvSpPr/>
          <p:nvPr/>
        </p:nvSpPr>
        <p:spPr>
          <a:xfrm>
            <a:off x="4529667" y="4165600"/>
            <a:ext cx="292100" cy="342900"/>
          </a:xfrm>
          <a:prstGeom prst="rect">
            <a:avLst/>
          </a:prstGeom>
          <a:noFill/>
          <a:ln w="12700">
            <a:solidFill>
              <a:srgbClr val="FF4F59"/>
            </a:solidFill>
          </a:ln>
        </p:spPr>
      </p:sp>
      <p:cxnSp>
        <p:nvCxnSpPr>
          <p:cNvPr id="33" name="connector 33"/>
          <p:cNvCxnSpPr/>
          <p:nvPr/>
        </p:nvCxnSpPr>
        <p:spPr>
          <a:xfrm>
            <a:off x="4593167" y="42672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34" name="connector 34"/>
          <p:cNvCxnSpPr/>
          <p:nvPr/>
        </p:nvCxnSpPr>
        <p:spPr>
          <a:xfrm>
            <a:off x="4593167" y="43434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35" name="connector 35"/>
          <p:cNvCxnSpPr/>
          <p:nvPr/>
        </p:nvCxnSpPr>
        <p:spPr>
          <a:xfrm>
            <a:off x="4593167" y="44196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36" name="text 36"/>
          <p:cNvSpPr/>
          <p:nvPr/>
        </p:nvSpPr>
        <p:spPr>
          <a:xfrm>
            <a:off x="4986867" y="4178300"/>
            <a:ext cx="2713567" cy="4699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Governance team</a:t>
            </a:r>
            <a:endParaRPr lang="en-US" sz="1900"/>
          </a:p>
        </p:txBody>
      </p:sp>
      <p:sp>
        <p:nvSpPr>
          <p:cNvPr id="37" name="text 37"/>
          <p:cNvSpPr/>
          <p:nvPr/>
        </p:nvSpPr>
        <p:spPr>
          <a:xfrm>
            <a:off x="4516967" y="47752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Edit or review knowledge; approve</a:t>
            </a:r>
            <a:endParaRPr lang="en-US" sz="1500"/>
          </a:p>
          <a:p>
            <a:pPr algn="l">
              <a:lnSpc>
                <a:spcPts val="1710"/>
              </a:lnSpc>
              <a:spcAft>
                <a:spcPts val="0"/>
              </a:spcAft>
            </a:pPr>
            <a:r>
              <a:rPr lang="en-US" sz="1500" b="0" dirty="0">
                <a:solidFill>
                  <a:srgbClr val="181C23"/>
                </a:solidFill>
                <a:latin typeface="Funnel Sans"/>
              </a:rPr>
              <a:t>governed publication.</a:t>
            </a:r>
            <a:endParaRPr lang="en-US" sz="1500"/>
          </a:p>
        </p:txBody>
      </p:sp>
      <p:sp>
        <p:nvSpPr>
          <p:cNvPr id="38" name="shape 38"/>
          <p:cNvSpPr/>
          <p:nvPr/>
        </p:nvSpPr>
        <p:spPr>
          <a:xfrm>
            <a:off x="8094133" y="3975100"/>
            <a:ext cx="3589867" cy="1663700"/>
          </a:xfrm>
          <a:prstGeom prst="rect">
            <a:avLst/>
          </a:prstGeom>
          <a:solidFill>
            <a:srgbClr val="FFFFFF"/>
          </a:solidFill>
          <a:ln w="12700">
            <a:solidFill>
              <a:srgbClr val="DEDCD6"/>
            </a:solidFill>
          </a:ln>
        </p:spPr>
      </p:sp>
      <p:sp>
        <p:nvSpPr>
          <p:cNvPr id="39" name="shape 39"/>
          <p:cNvSpPr/>
          <p:nvPr/>
        </p:nvSpPr>
        <p:spPr>
          <a:xfrm>
            <a:off x="8094133" y="3975100"/>
            <a:ext cx="38100" cy="1663700"/>
          </a:xfrm>
          <a:prstGeom prst="rect">
            <a:avLst/>
          </a:prstGeom>
          <a:solidFill>
            <a:srgbClr val="FF4F59"/>
          </a:solidFill>
          <a:ln>
            <a:noFill/>
          </a:ln>
        </p:spPr>
      </p:sp>
      <p:cxnSp>
        <p:nvCxnSpPr>
          <p:cNvPr id="40" name="connector 40"/>
          <p:cNvCxnSpPr/>
          <p:nvPr/>
        </p:nvCxnSpPr>
        <p:spPr>
          <a:xfrm flipV="1">
            <a:off x="8335433" y="4203700"/>
            <a:ext cx="266700" cy="266700"/>
          </a:xfrm>
          <a:prstGeom prst="line">
            <a:avLst/>
          </a:prstGeom>
          <a:ln w="50800">
            <a:solidFill>
              <a:srgbClr val="FF4F59"/>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8487833" y="4165600"/>
            <a:ext cx="165100" cy="165100"/>
          </a:xfrm>
          <a:prstGeom prst="arc">
            <a:avLst/>
          </a:prstGeom>
          <a:noFill/>
          <a:ln w="25400">
            <a:solidFill>
              <a:srgbClr val="FF4F59"/>
            </a:solidFill>
          </a:ln>
        </p:spPr>
      </p:sp>
      <p:sp>
        <p:nvSpPr>
          <p:cNvPr id="42" name="text 42"/>
          <p:cNvSpPr/>
          <p:nvPr/>
        </p:nvSpPr>
        <p:spPr>
          <a:xfrm>
            <a:off x="8779933" y="4178300"/>
            <a:ext cx="2713567" cy="4699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IT &amp; remediation owners</a:t>
            </a:r>
            <a:endParaRPr lang="en-US" sz="1800"/>
          </a:p>
        </p:txBody>
      </p:sp>
      <p:sp>
        <p:nvSpPr>
          <p:cNvPr id="43" name="text 43"/>
          <p:cNvSpPr/>
          <p:nvPr/>
        </p:nvSpPr>
        <p:spPr>
          <a:xfrm>
            <a:off x="8310033" y="4775200"/>
            <a:ext cx="3158067" cy="6731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Administer users and storage; own</a:t>
            </a:r>
            <a:endParaRPr lang="en-US" sz="1500"/>
          </a:p>
          <a:p>
            <a:pPr algn="l">
              <a:lnSpc>
                <a:spcPts val="1710"/>
              </a:lnSpc>
              <a:spcAft>
                <a:spcPts val="0"/>
              </a:spcAft>
            </a:pPr>
            <a:r>
              <a:rPr lang="en-US" sz="1500" b="0" dirty="0">
                <a:solidFill>
                  <a:srgbClr val="181C23"/>
                </a:solidFill>
                <a:latin typeface="Funnel Sans"/>
              </a:rPr>
              <a:t>assigned follow-up work.</a:t>
            </a:r>
            <a:endParaRPr lang="en-US" sz="1500"/>
          </a:p>
        </p:txBody>
      </p:sp>
      <p:sp>
        <p:nvSpPr>
          <p:cNvPr id="44" name="shape 44"/>
          <p:cNvSpPr/>
          <p:nvPr/>
        </p:nvSpPr>
        <p:spPr>
          <a:xfrm>
            <a:off x="508000" y="5740400"/>
            <a:ext cx="11176000" cy="546100"/>
          </a:xfrm>
          <a:prstGeom prst="rect">
            <a:avLst/>
          </a:prstGeom>
          <a:solidFill>
            <a:srgbClr val="282A27"/>
          </a:solidFill>
          <a:ln>
            <a:noFill/>
          </a:ln>
        </p:spPr>
      </p:sp>
      <p:sp>
        <p:nvSpPr>
          <p:cNvPr id="45" name="text 45"/>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Subject-matter expert (SME): a business or analytical reviewer of meaning and evidence.</a:t>
            </a:r>
            <a:endParaRPr lang="en-US" sz="1600"/>
          </a:p>
        </p:txBody>
      </p:sp>
      <p:cxnSp>
        <p:nvCxnSpPr>
          <p:cNvPr id="46" name="connector 4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text 4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8" name="text 4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07 / 87</a:t>
            </a:r>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01 / ACCESS</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Apply the roles that the product actually enforces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Role-based access control (RBAC) governs administration and Knowledge Base (KB) permissions.</a:t>
            </a:r>
            <a:endParaRPr lang="en-US" sz="1500"/>
          </a:p>
        </p:txBody>
      </p:sp>
      <p:sp>
        <p:nvSpPr>
          <p:cNvPr id="6" name="shape 6"/>
          <p:cNvSpPr/>
          <p:nvPr/>
        </p:nvSpPr>
        <p:spPr>
          <a:xfrm>
            <a:off x="508000" y="2222500"/>
            <a:ext cx="1788160" cy="457200"/>
          </a:xfrm>
          <a:prstGeom prst="rect">
            <a:avLst/>
          </a:prstGeom>
          <a:solidFill>
            <a:srgbClr val="282A27"/>
          </a:solidFill>
          <a:ln>
            <a:noFill/>
          </a:ln>
        </p:spPr>
      </p:sp>
      <p:sp>
        <p:nvSpPr>
          <p:cNvPr id="7" name="text 7"/>
          <p:cNvSpPr/>
          <p:nvPr/>
        </p:nvSpPr>
        <p:spPr>
          <a:xfrm>
            <a:off x="635000" y="2336800"/>
            <a:ext cx="15341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Role</a:t>
            </a:r>
            <a:endParaRPr lang="en-US" sz="1200"/>
          </a:p>
        </p:txBody>
      </p:sp>
      <p:sp>
        <p:nvSpPr>
          <p:cNvPr id="8" name="shape 8"/>
          <p:cNvSpPr/>
          <p:nvPr/>
        </p:nvSpPr>
        <p:spPr>
          <a:xfrm>
            <a:off x="2296160" y="2222500"/>
            <a:ext cx="4693920" cy="457200"/>
          </a:xfrm>
          <a:prstGeom prst="rect">
            <a:avLst/>
          </a:prstGeom>
          <a:solidFill>
            <a:srgbClr val="282A27"/>
          </a:solidFill>
          <a:ln>
            <a:noFill/>
          </a:ln>
        </p:spPr>
      </p:sp>
      <p:sp>
        <p:nvSpPr>
          <p:cNvPr id="9" name="text 9"/>
          <p:cNvSpPr/>
          <p:nvPr/>
        </p:nvSpPr>
        <p:spPr>
          <a:xfrm>
            <a:off x="2423160" y="2336800"/>
            <a:ext cx="44399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Implemented authority</a:t>
            </a:r>
            <a:endParaRPr lang="en-US" sz="1200"/>
          </a:p>
        </p:txBody>
      </p:sp>
      <p:sp>
        <p:nvSpPr>
          <p:cNvPr id="10" name="shape 10"/>
          <p:cNvSpPr/>
          <p:nvPr/>
        </p:nvSpPr>
        <p:spPr>
          <a:xfrm>
            <a:off x="6990080" y="2222500"/>
            <a:ext cx="4693920" cy="457200"/>
          </a:xfrm>
          <a:prstGeom prst="rect">
            <a:avLst/>
          </a:prstGeom>
          <a:solidFill>
            <a:srgbClr val="282A27"/>
          </a:solidFill>
          <a:ln>
            <a:noFill/>
          </a:ln>
        </p:spPr>
      </p:sp>
      <p:sp>
        <p:nvSpPr>
          <p:cNvPr id="11" name="text 11"/>
          <p:cNvSpPr/>
          <p:nvPr/>
        </p:nvSpPr>
        <p:spPr>
          <a:xfrm>
            <a:off x="7117080" y="2336800"/>
            <a:ext cx="44399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Boundary</a:t>
            </a:r>
            <a:endParaRPr lang="en-US" sz="1200"/>
          </a:p>
        </p:txBody>
      </p:sp>
      <p:sp>
        <p:nvSpPr>
          <p:cNvPr id="12" name="shape 12"/>
          <p:cNvSpPr/>
          <p:nvPr/>
        </p:nvSpPr>
        <p:spPr>
          <a:xfrm>
            <a:off x="508000" y="2679700"/>
            <a:ext cx="1788160" cy="669925"/>
          </a:xfrm>
          <a:prstGeom prst="rect">
            <a:avLst/>
          </a:prstGeom>
          <a:solidFill>
            <a:srgbClr val="FFFFFF"/>
          </a:solidFill>
          <a:ln>
            <a:noFill/>
          </a:ln>
        </p:spPr>
      </p:sp>
      <p:sp>
        <p:nvSpPr>
          <p:cNvPr id="13" name="text 13"/>
          <p:cNvSpPr/>
          <p:nvPr/>
        </p:nvSpPr>
        <p:spPr>
          <a:xfrm>
            <a:off x="635000" y="2730500"/>
            <a:ext cx="1534160" cy="568325"/>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user</a:t>
            </a:r>
            <a:endParaRPr lang="en-US" sz="1700"/>
          </a:p>
        </p:txBody>
      </p:sp>
      <p:cxnSp>
        <p:nvCxnSpPr>
          <p:cNvPr id="14" name="connector 14"/>
          <p:cNvCxnSpPr/>
          <p:nvPr/>
        </p:nvCxnSpPr>
        <p:spPr>
          <a:xfrm>
            <a:off x="508000" y="3349625"/>
            <a:ext cx="1788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296160" y="2679700"/>
            <a:ext cx="4693920" cy="669925"/>
          </a:xfrm>
          <a:prstGeom prst="rect">
            <a:avLst/>
          </a:prstGeom>
          <a:solidFill>
            <a:srgbClr val="FFFFFF"/>
          </a:solidFill>
          <a:ln>
            <a:noFill/>
          </a:ln>
        </p:spPr>
      </p:sp>
      <p:sp>
        <p:nvSpPr>
          <p:cNvPr id="16" name="text 16"/>
          <p:cNvSpPr/>
          <p:nvPr/>
        </p:nvSpPr>
        <p:spPr>
          <a:xfrm>
            <a:off x="2423160" y="2730500"/>
            <a:ext cx="4439920" cy="568325"/>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Normal authenticated product access</a:t>
            </a:r>
            <a:endParaRPr lang="en-US" sz="1700"/>
          </a:p>
        </p:txBody>
      </p:sp>
      <p:cxnSp>
        <p:nvCxnSpPr>
          <p:cNvPr id="17" name="connector 17"/>
          <p:cNvCxnSpPr/>
          <p:nvPr/>
        </p:nvCxnSpPr>
        <p:spPr>
          <a:xfrm>
            <a:off x="2296160" y="3349625"/>
            <a:ext cx="46939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6990080" y="2679700"/>
            <a:ext cx="4693920" cy="669925"/>
          </a:xfrm>
          <a:prstGeom prst="rect">
            <a:avLst/>
          </a:prstGeom>
          <a:solidFill>
            <a:srgbClr val="FFFFFF"/>
          </a:solidFill>
          <a:ln>
            <a:noFill/>
          </a:ln>
        </p:spPr>
      </p:sp>
      <p:sp>
        <p:nvSpPr>
          <p:cNvPr id="19" name="text 19"/>
          <p:cNvSpPr/>
          <p:nvPr/>
        </p:nvSpPr>
        <p:spPr>
          <a:xfrm>
            <a:off x="7117080" y="2730500"/>
            <a:ext cx="4439920" cy="568325"/>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 separate diagnostic-owner or</a:t>
            </a:r>
            <a:endParaRPr lang="en-US" sz="1700"/>
          </a:p>
          <a:p>
            <a:pPr algn="l">
              <a:lnSpc>
                <a:spcPts val="1938"/>
              </a:lnSpc>
              <a:spcAft>
                <a:spcPts val="0"/>
              </a:spcAft>
            </a:pPr>
            <a:r>
              <a:rPr lang="en-US" sz="1700" b="0" dirty="0">
                <a:solidFill>
                  <a:srgbClr val="181C23"/>
                </a:solidFill>
                <a:latin typeface="Funnel Sans"/>
              </a:rPr>
              <a:t>remediation role</a:t>
            </a:r>
            <a:endParaRPr lang="en-US" sz="1700"/>
          </a:p>
        </p:txBody>
      </p:sp>
      <p:cxnSp>
        <p:nvCxnSpPr>
          <p:cNvPr id="20" name="connector 20"/>
          <p:cNvCxnSpPr/>
          <p:nvPr/>
        </p:nvCxnSpPr>
        <p:spPr>
          <a:xfrm>
            <a:off x="6990080" y="3349625"/>
            <a:ext cx="46939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349625"/>
            <a:ext cx="1788160" cy="669925"/>
          </a:xfrm>
          <a:prstGeom prst="rect">
            <a:avLst/>
          </a:prstGeom>
          <a:solidFill>
            <a:srgbClr val="EFEEE9"/>
          </a:solidFill>
          <a:ln>
            <a:noFill/>
          </a:ln>
        </p:spPr>
      </p:sp>
      <p:sp>
        <p:nvSpPr>
          <p:cNvPr id="22" name="text 22"/>
          <p:cNvSpPr/>
          <p:nvPr/>
        </p:nvSpPr>
        <p:spPr>
          <a:xfrm>
            <a:off x="635000" y="3400425"/>
            <a:ext cx="1534160" cy="568325"/>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admin</a:t>
            </a:r>
            <a:endParaRPr lang="en-US" sz="1700"/>
          </a:p>
        </p:txBody>
      </p:sp>
      <p:cxnSp>
        <p:nvCxnSpPr>
          <p:cNvPr id="23" name="connector 23"/>
          <p:cNvCxnSpPr/>
          <p:nvPr/>
        </p:nvCxnSpPr>
        <p:spPr>
          <a:xfrm>
            <a:off x="508000" y="4019550"/>
            <a:ext cx="1788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2296160" y="3349625"/>
            <a:ext cx="4693920" cy="669925"/>
          </a:xfrm>
          <a:prstGeom prst="rect">
            <a:avLst/>
          </a:prstGeom>
          <a:solidFill>
            <a:srgbClr val="EFEEE9"/>
          </a:solidFill>
          <a:ln>
            <a:noFill/>
          </a:ln>
        </p:spPr>
      </p:sp>
      <p:sp>
        <p:nvSpPr>
          <p:cNvPr id="25" name="text 25"/>
          <p:cNvSpPr/>
          <p:nvPr/>
        </p:nvSpPr>
        <p:spPr>
          <a:xfrm>
            <a:off x="2423160" y="3400425"/>
            <a:ext cx="4439920" cy="568325"/>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Manage users and administrative actions</a:t>
            </a:r>
            <a:endParaRPr lang="en-US" sz="1700"/>
          </a:p>
        </p:txBody>
      </p:sp>
      <p:cxnSp>
        <p:nvCxnSpPr>
          <p:cNvPr id="26" name="connector 26"/>
          <p:cNvCxnSpPr/>
          <p:nvPr/>
        </p:nvCxnSpPr>
        <p:spPr>
          <a:xfrm>
            <a:off x="2296160" y="4019550"/>
            <a:ext cx="46939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6990080" y="3349625"/>
            <a:ext cx="4693920" cy="669925"/>
          </a:xfrm>
          <a:prstGeom prst="rect">
            <a:avLst/>
          </a:prstGeom>
          <a:solidFill>
            <a:srgbClr val="EFEEE9"/>
          </a:solidFill>
          <a:ln>
            <a:noFill/>
          </a:ln>
        </p:spPr>
      </p:sp>
      <p:sp>
        <p:nvSpPr>
          <p:cNvPr id="28" name="text 28"/>
          <p:cNvSpPr/>
          <p:nvPr/>
        </p:nvSpPr>
        <p:spPr>
          <a:xfrm>
            <a:off x="7117080" y="3400425"/>
            <a:ext cx="4439920" cy="568325"/>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Does not inherit KB publication rights</a:t>
            </a:r>
            <a:endParaRPr lang="en-US" sz="1700"/>
          </a:p>
        </p:txBody>
      </p:sp>
      <p:cxnSp>
        <p:nvCxnSpPr>
          <p:cNvPr id="29" name="connector 29"/>
          <p:cNvCxnSpPr/>
          <p:nvPr/>
        </p:nvCxnSpPr>
        <p:spPr>
          <a:xfrm>
            <a:off x="6990080" y="4019550"/>
            <a:ext cx="46939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019550"/>
            <a:ext cx="1788160" cy="669925"/>
          </a:xfrm>
          <a:prstGeom prst="rect">
            <a:avLst/>
          </a:prstGeom>
          <a:solidFill>
            <a:srgbClr val="FFFFFF"/>
          </a:solidFill>
          <a:ln>
            <a:noFill/>
          </a:ln>
        </p:spPr>
      </p:sp>
      <p:sp>
        <p:nvSpPr>
          <p:cNvPr id="31" name="text 31"/>
          <p:cNvSpPr/>
          <p:nvPr/>
        </p:nvSpPr>
        <p:spPr>
          <a:xfrm>
            <a:off x="635000" y="4070350"/>
            <a:ext cx="1534160" cy="568325"/>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kb_editor</a:t>
            </a:r>
            <a:endParaRPr lang="en-US" sz="1700"/>
          </a:p>
        </p:txBody>
      </p:sp>
      <p:cxnSp>
        <p:nvCxnSpPr>
          <p:cNvPr id="32" name="connector 32"/>
          <p:cNvCxnSpPr/>
          <p:nvPr/>
        </p:nvCxnSpPr>
        <p:spPr>
          <a:xfrm>
            <a:off x="508000" y="4689475"/>
            <a:ext cx="1788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296160" y="4019550"/>
            <a:ext cx="4693920" cy="669925"/>
          </a:xfrm>
          <a:prstGeom prst="rect">
            <a:avLst/>
          </a:prstGeom>
          <a:solidFill>
            <a:srgbClr val="FFFFFF"/>
          </a:solidFill>
          <a:ln>
            <a:noFill/>
          </a:ln>
        </p:spPr>
      </p:sp>
      <p:sp>
        <p:nvSpPr>
          <p:cNvPr id="34" name="text 34"/>
          <p:cNvSpPr/>
          <p:nvPr/>
        </p:nvSpPr>
        <p:spPr>
          <a:xfrm>
            <a:off x="2423160" y="4070350"/>
            <a:ext cx="4439920" cy="568325"/>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Upload and prepare knowledge drafts</a:t>
            </a:r>
            <a:endParaRPr lang="en-US" sz="1700"/>
          </a:p>
        </p:txBody>
      </p:sp>
      <p:cxnSp>
        <p:nvCxnSpPr>
          <p:cNvPr id="35" name="connector 35"/>
          <p:cNvCxnSpPr/>
          <p:nvPr/>
        </p:nvCxnSpPr>
        <p:spPr>
          <a:xfrm>
            <a:off x="2296160" y="4689475"/>
            <a:ext cx="46939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6990080" y="4019550"/>
            <a:ext cx="4693920" cy="669925"/>
          </a:xfrm>
          <a:prstGeom prst="rect">
            <a:avLst/>
          </a:prstGeom>
          <a:solidFill>
            <a:srgbClr val="FFFFFF"/>
          </a:solidFill>
          <a:ln>
            <a:noFill/>
          </a:ln>
        </p:spPr>
      </p:sp>
      <p:sp>
        <p:nvSpPr>
          <p:cNvPr id="37" name="text 37"/>
          <p:cNvSpPr/>
          <p:nvPr/>
        </p:nvSpPr>
        <p:spPr>
          <a:xfrm>
            <a:off x="7117080" y="4070350"/>
            <a:ext cx="4439920" cy="568325"/>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Publication requires reviewer authority</a:t>
            </a:r>
            <a:endParaRPr lang="en-US" sz="1700"/>
          </a:p>
        </p:txBody>
      </p:sp>
      <p:cxnSp>
        <p:nvCxnSpPr>
          <p:cNvPr id="38" name="connector 38"/>
          <p:cNvCxnSpPr/>
          <p:nvPr/>
        </p:nvCxnSpPr>
        <p:spPr>
          <a:xfrm>
            <a:off x="6990080" y="4689475"/>
            <a:ext cx="46939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689475"/>
            <a:ext cx="1788160" cy="669925"/>
          </a:xfrm>
          <a:prstGeom prst="rect">
            <a:avLst/>
          </a:prstGeom>
          <a:solidFill>
            <a:srgbClr val="EFEEE9"/>
          </a:solidFill>
          <a:ln>
            <a:noFill/>
          </a:ln>
        </p:spPr>
      </p:sp>
      <p:sp>
        <p:nvSpPr>
          <p:cNvPr id="40" name="text 40"/>
          <p:cNvSpPr/>
          <p:nvPr/>
        </p:nvSpPr>
        <p:spPr>
          <a:xfrm>
            <a:off x="635000" y="4740275"/>
            <a:ext cx="1534160" cy="568325"/>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kb_reviewer</a:t>
            </a:r>
            <a:endParaRPr lang="en-US" sz="1700"/>
          </a:p>
        </p:txBody>
      </p:sp>
      <p:cxnSp>
        <p:nvCxnSpPr>
          <p:cNvPr id="41" name="connector 41"/>
          <p:cNvCxnSpPr/>
          <p:nvPr/>
        </p:nvCxnSpPr>
        <p:spPr>
          <a:xfrm>
            <a:off x="508000" y="5359400"/>
            <a:ext cx="1788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2296160" y="4689475"/>
            <a:ext cx="4693920" cy="669925"/>
          </a:xfrm>
          <a:prstGeom prst="rect">
            <a:avLst/>
          </a:prstGeom>
          <a:solidFill>
            <a:srgbClr val="EFEEE9"/>
          </a:solidFill>
          <a:ln>
            <a:noFill/>
          </a:ln>
        </p:spPr>
      </p:sp>
      <p:sp>
        <p:nvSpPr>
          <p:cNvPr id="43" name="text 43"/>
          <p:cNvSpPr/>
          <p:nvPr/>
        </p:nvSpPr>
        <p:spPr>
          <a:xfrm>
            <a:off x="2423160" y="4740275"/>
            <a:ext cx="4439920" cy="568325"/>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Publish or archive governed knowledge</a:t>
            </a:r>
            <a:endParaRPr lang="en-US" sz="1700"/>
          </a:p>
        </p:txBody>
      </p:sp>
      <p:cxnSp>
        <p:nvCxnSpPr>
          <p:cNvPr id="44" name="connector 44"/>
          <p:cNvCxnSpPr/>
          <p:nvPr/>
        </p:nvCxnSpPr>
        <p:spPr>
          <a:xfrm>
            <a:off x="2296160" y="5359400"/>
            <a:ext cx="46939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6990080" y="4689475"/>
            <a:ext cx="4693920" cy="669925"/>
          </a:xfrm>
          <a:prstGeom prst="rect">
            <a:avLst/>
          </a:prstGeom>
          <a:solidFill>
            <a:srgbClr val="EFEEE9"/>
          </a:solidFill>
          <a:ln>
            <a:noFill/>
          </a:ln>
        </p:spPr>
      </p:sp>
      <p:sp>
        <p:nvSpPr>
          <p:cNvPr id="46" name="text 46"/>
          <p:cNvSpPr/>
          <p:nvPr/>
        </p:nvSpPr>
        <p:spPr>
          <a:xfrm>
            <a:off x="7117080" y="4740275"/>
            <a:ext cx="4439920" cy="568325"/>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Model output cannot publish directly</a:t>
            </a:r>
            <a:endParaRPr lang="en-US" sz="1700"/>
          </a:p>
        </p:txBody>
      </p:sp>
      <p:cxnSp>
        <p:nvCxnSpPr>
          <p:cNvPr id="47" name="connector 47"/>
          <p:cNvCxnSpPr/>
          <p:nvPr/>
        </p:nvCxnSpPr>
        <p:spPr>
          <a:xfrm>
            <a:off x="6990080" y="5359400"/>
            <a:ext cx="46939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5740400"/>
            <a:ext cx="11176000" cy="546100"/>
          </a:xfrm>
          <a:prstGeom prst="rect">
            <a:avLst/>
          </a:prstGeom>
          <a:solidFill>
            <a:srgbClr val="282A27"/>
          </a:solidFill>
          <a:ln>
            <a:noFill/>
          </a:ln>
        </p:spPr>
      </p:sp>
      <p:sp>
        <p:nvSpPr>
          <p:cNvPr id="49" name="text 49"/>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To be validated: enterprise identity, full route coverage and finer-grained asset access.</a:t>
            </a:r>
            <a:endParaRPr lang="en-US" sz="1600"/>
          </a:p>
        </p:txBody>
      </p:sp>
      <p:cxnSp>
        <p:nvCxnSpPr>
          <p:cNvPr id="50" name="connector 5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text 5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52" name="text 5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08 / 87</a:t>
            </a:r>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JOURNEY</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Follow the evidence from source data to an approved</a:t>
            </a:r>
            <a:endParaRPr lang="en-US" sz="2900"/>
          </a:p>
          <a:p>
            <a:pPr algn="l">
              <a:lnSpc>
                <a:spcPts val="3306"/>
              </a:lnSpc>
              <a:spcAft>
                <a:spcPts val="0"/>
              </a:spcAft>
            </a:pPr>
            <a:r>
              <a:rPr lang="en-US" sz="2900" b="1" dirty="0">
                <a:solidFill>
                  <a:srgbClr val="181C23"/>
                </a:solidFill>
                <a:latin typeface="Funnel Sans"/>
              </a:rPr>
              <a:t>conclusion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primary product journey ends with an investigation outcome; follow-up remains visible.</a:t>
            </a:r>
            <a:endParaRPr lang="en-US" sz="1500"/>
          </a:p>
        </p:txBody>
      </p:sp>
      <p:sp>
        <p:nvSpPr>
          <p:cNvPr id="6" name="shape 6"/>
          <p:cNvSpPr/>
          <p:nvPr/>
        </p:nvSpPr>
        <p:spPr>
          <a:xfrm>
            <a:off x="508000" y="2222500"/>
            <a:ext cx="2052320" cy="2286000"/>
          </a:xfrm>
          <a:prstGeom prst="rect">
            <a:avLst/>
          </a:prstGeom>
          <a:solidFill>
            <a:srgbClr val="FFF2DF"/>
          </a:solidFill>
          <a:ln w="12700">
            <a:solidFill>
              <a:srgbClr val="DEDCD6"/>
            </a:solidFill>
          </a:ln>
        </p:spPr>
      </p:sp>
      <p:sp>
        <p:nvSpPr>
          <p:cNvPr id="7" name="text 7"/>
          <p:cNvSpPr/>
          <p:nvPr/>
        </p:nvSpPr>
        <p:spPr>
          <a:xfrm>
            <a:off x="673100" y="23749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8" name="text 8"/>
          <p:cNvSpPr/>
          <p:nvPr/>
        </p:nvSpPr>
        <p:spPr>
          <a:xfrm>
            <a:off x="673100" y="28956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Source</a:t>
            </a:r>
            <a:endParaRPr lang="en-US" sz="1800"/>
          </a:p>
        </p:txBody>
      </p:sp>
      <p:sp>
        <p:nvSpPr>
          <p:cNvPr id="9" name="text 9"/>
          <p:cNvSpPr/>
          <p:nvPr/>
        </p:nvSpPr>
        <p:spPr>
          <a:xfrm>
            <a:off x="673100" y="3644900"/>
            <a:ext cx="1722120" cy="7239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Upload, profile,</a:t>
            </a:r>
            <a:endParaRPr lang="en-US" sz="1450"/>
          </a:p>
          <a:p>
            <a:pPr algn="l">
              <a:lnSpc>
                <a:spcPts val="1653"/>
              </a:lnSpc>
              <a:spcAft>
                <a:spcPts val="0"/>
              </a:spcAft>
            </a:pPr>
            <a:r>
              <a:rPr lang="en-US" sz="1450" b="0" dirty="0">
                <a:solidFill>
                  <a:srgbClr val="181C23"/>
                </a:solidFill>
                <a:latin typeface="Funnel Sans"/>
              </a:rPr>
              <a:t>confirm</a:t>
            </a:r>
            <a:endParaRPr lang="en-US" sz="1450"/>
          </a:p>
        </p:txBody>
      </p:sp>
      <p:cxnSp>
        <p:nvCxnSpPr>
          <p:cNvPr id="10" name="connector 10"/>
          <p:cNvCxnSpPr/>
          <p:nvPr/>
        </p:nvCxnSpPr>
        <p:spPr>
          <a:xfrm>
            <a:off x="2585720" y="33655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1" name="shape 11"/>
          <p:cNvSpPr/>
          <p:nvPr/>
        </p:nvSpPr>
        <p:spPr>
          <a:xfrm>
            <a:off x="2788920" y="2222500"/>
            <a:ext cx="2052320" cy="2286000"/>
          </a:xfrm>
          <a:prstGeom prst="rect">
            <a:avLst/>
          </a:prstGeom>
          <a:solidFill>
            <a:srgbClr val="FFF2DF"/>
          </a:solidFill>
          <a:ln w="12700">
            <a:solidFill>
              <a:srgbClr val="DEDCD6"/>
            </a:solidFill>
          </a:ln>
        </p:spPr>
      </p:sp>
      <p:sp>
        <p:nvSpPr>
          <p:cNvPr id="12" name="text 12"/>
          <p:cNvSpPr/>
          <p:nvPr/>
        </p:nvSpPr>
        <p:spPr>
          <a:xfrm>
            <a:off x="2954020" y="23749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3" name="text 13"/>
          <p:cNvSpPr/>
          <p:nvPr/>
        </p:nvSpPr>
        <p:spPr>
          <a:xfrm>
            <a:off x="2954020" y="28956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Assess</a:t>
            </a:r>
            <a:endParaRPr lang="en-US" sz="1800"/>
          </a:p>
        </p:txBody>
      </p:sp>
      <p:sp>
        <p:nvSpPr>
          <p:cNvPr id="14" name="text 14"/>
          <p:cNvSpPr/>
          <p:nvPr/>
        </p:nvSpPr>
        <p:spPr>
          <a:xfrm>
            <a:off x="2954020" y="3644900"/>
            <a:ext cx="1722120" cy="7239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Scope, freeze,</a:t>
            </a:r>
            <a:endParaRPr lang="en-US" sz="1450"/>
          </a:p>
          <a:p>
            <a:pPr algn="l">
              <a:lnSpc>
                <a:spcPts val="1653"/>
              </a:lnSpc>
              <a:spcAft>
                <a:spcPts val="0"/>
              </a:spcAft>
            </a:pPr>
            <a:r>
              <a:rPr lang="en-US" sz="1450" b="0" dirty="0">
                <a:solidFill>
                  <a:srgbClr val="181C23"/>
                </a:solidFill>
                <a:latin typeface="Funnel Sans"/>
              </a:rPr>
              <a:t>execute</a:t>
            </a:r>
            <a:endParaRPr lang="en-US" sz="1450"/>
          </a:p>
        </p:txBody>
      </p:sp>
      <p:cxnSp>
        <p:nvCxnSpPr>
          <p:cNvPr id="15" name="connector 15"/>
          <p:cNvCxnSpPr/>
          <p:nvPr/>
        </p:nvCxnSpPr>
        <p:spPr>
          <a:xfrm>
            <a:off x="4866640" y="33655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5069840" y="2222500"/>
            <a:ext cx="2052320" cy="2286000"/>
          </a:xfrm>
          <a:prstGeom prst="rect">
            <a:avLst/>
          </a:prstGeom>
          <a:solidFill>
            <a:srgbClr val="FFF2DF"/>
          </a:solidFill>
          <a:ln w="12700">
            <a:solidFill>
              <a:srgbClr val="DEDCD6"/>
            </a:solidFill>
          </a:ln>
        </p:spPr>
      </p:sp>
      <p:sp>
        <p:nvSpPr>
          <p:cNvPr id="17" name="text 17"/>
          <p:cNvSpPr/>
          <p:nvPr/>
        </p:nvSpPr>
        <p:spPr>
          <a:xfrm>
            <a:off x="5234940" y="23749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18" name="text 18"/>
          <p:cNvSpPr/>
          <p:nvPr/>
        </p:nvSpPr>
        <p:spPr>
          <a:xfrm>
            <a:off x="5234940" y="28956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a:t>
            </a:r>
            <a:endParaRPr lang="en-US" sz="1800"/>
          </a:p>
        </p:txBody>
      </p:sp>
      <p:sp>
        <p:nvSpPr>
          <p:cNvPr id="19" name="text 19"/>
          <p:cNvSpPr/>
          <p:nvPr/>
        </p:nvSpPr>
        <p:spPr>
          <a:xfrm>
            <a:off x="5234940" y="3644900"/>
            <a:ext cx="1722120" cy="7239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Findings and</a:t>
            </a:r>
            <a:endParaRPr lang="en-US" sz="1450"/>
          </a:p>
          <a:p>
            <a:pPr algn="l">
              <a:lnSpc>
                <a:spcPts val="1653"/>
              </a:lnSpc>
              <a:spcAft>
                <a:spcPts val="0"/>
              </a:spcAft>
            </a:pPr>
            <a:r>
              <a:rPr lang="en-US" sz="1450" b="0" dirty="0">
                <a:solidFill>
                  <a:srgbClr val="181C23"/>
                </a:solidFill>
                <a:latin typeface="Funnel Sans"/>
              </a:rPr>
              <a:t>dispositions</a:t>
            </a:r>
            <a:endParaRPr lang="en-US" sz="1450"/>
          </a:p>
        </p:txBody>
      </p:sp>
      <p:cxnSp>
        <p:nvCxnSpPr>
          <p:cNvPr id="20" name="connector 20"/>
          <p:cNvCxnSpPr/>
          <p:nvPr/>
        </p:nvCxnSpPr>
        <p:spPr>
          <a:xfrm>
            <a:off x="7147560" y="33655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7350760" y="2222500"/>
            <a:ext cx="2052320" cy="2286000"/>
          </a:xfrm>
          <a:prstGeom prst="rect">
            <a:avLst/>
          </a:prstGeom>
          <a:solidFill>
            <a:srgbClr val="FFF2DF"/>
          </a:solidFill>
          <a:ln w="12700">
            <a:solidFill>
              <a:srgbClr val="DEDCD6"/>
            </a:solidFill>
          </a:ln>
        </p:spPr>
      </p:sp>
      <p:sp>
        <p:nvSpPr>
          <p:cNvPr id="22" name="text 22"/>
          <p:cNvSpPr/>
          <p:nvPr/>
        </p:nvSpPr>
        <p:spPr>
          <a:xfrm>
            <a:off x="7515860" y="23749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3" name="text 23"/>
          <p:cNvSpPr/>
          <p:nvPr/>
        </p:nvSpPr>
        <p:spPr>
          <a:xfrm>
            <a:off x="7515860" y="28956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Investigate</a:t>
            </a:r>
            <a:endParaRPr lang="en-US" sz="1800"/>
          </a:p>
        </p:txBody>
      </p:sp>
      <p:sp>
        <p:nvSpPr>
          <p:cNvPr id="24" name="text 24"/>
          <p:cNvSpPr/>
          <p:nvPr/>
        </p:nvSpPr>
        <p:spPr>
          <a:xfrm>
            <a:off x="7515860" y="3644900"/>
            <a:ext cx="1722120" cy="7239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Evidence,</a:t>
            </a:r>
            <a:endParaRPr lang="en-US" sz="1450"/>
          </a:p>
          <a:p>
            <a:pPr algn="l">
              <a:lnSpc>
                <a:spcPts val="1653"/>
              </a:lnSpc>
              <a:spcAft>
                <a:spcPts val="0"/>
              </a:spcAft>
            </a:pPr>
            <a:r>
              <a:rPr lang="en-US" sz="1450" b="0" dirty="0">
                <a:solidFill>
                  <a:srgbClr val="181C23"/>
                </a:solidFill>
                <a:latin typeface="Funnel Sans"/>
              </a:rPr>
              <a:t>hypotheses,</a:t>
            </a:r>
            <a:endParaRPr lang="en-US" sz="1450"/>
          </a:p>
          <a:p>
            <a:pPr algn="l">
              <a:lnSpc>
                <a:spcPts val="1653"/>
              </a:lnSpc>
              <a:spcAft>
                <a:spcPts val="0"/>
              </a:spcAft>
            </a:pPr>
            <a:r>
              <a:rPr lang="en-US" sz="1450" b="0" dirty="0">
                <a:solidFill>
                  <a:srgbClr val="181C23"/>
                </a:solidFill>
                <a:latin typeface="Funnel Sans"/>
              </a:rPr>
              <a:t>challenge</a:t>
            </a:r>
            <a:endParaRPr lang="en-US" sz="1450"/>
          </a:p>
        </p:txBody>
      </p:sp>
      <p:cxnSp>
        <p:nvCxnSpPr>
          <p:cNvPr id="25" name="connector 25"/>
          <p:cNvCxnSpPr/>
          <p:nvPr/>
        </p:nvCxnSpPr>
        <p:spPr>
          <a:xfrm>
            <a:off x="9428480" y="33655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9631680" y="2222500"/>
            <a:ext cx="2052320" cy="2286000"/>
          </a:xfrm>
          <a:prstGeom prst="rect">
            <a:avLst/>
          </a:prstGeom>
          <a:solidFill>
            <a:srgbClr val="FFF2DF"/>
          </a:solidFill>
          <a:ln w="12700">
            <a:solidFill>
              <a:srgbClr val="DEDCD6"/>
            </a:solidFill>
          </a:ln>
        </p:spPr>
      </p:sp>
      <p:sp>
        <p:nvSpPr>
          <p:cNvPr id="27" name="text 27"/>
          <p:cNvSpPr/>
          <p:nvPr/>
        </p:nvSpPr>
        <p:spPr>
          <a:xfrm>
            <a:off x="9796780" y="23749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28" name="text 28"/>
          <p:cNvSpPr/>
          <p:nvPr/>
        </p:nvSpPr>
        <p:spPr>
          <a:xfrm>
            <a:off x="9796780" y="28956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Conclude</a:t>
            </a:r>
            <a:endParaRPr lang="en-US" sz="1800"/>
          </a:p>
        </p:txBody>
      </p:sp>
      <p:sp>
        <p:nvSpPr>
          <p:cNvPr id="29" name="text 29"/>
          <p:cNvSpPr/>
          <p:nvPr/>
        </p:nvSpPr>
        <p:spPr>
          <a:xfrm>
            <a:off x="9796780" y="3644900"/>
            <a:ext cx="1722120" cy="7239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Approve cause or</a:t>
            </a:r>
            <a:endParaRPr lang="en-US" sz="1450"/>
          </a:p>
          <a:p>
            <a:pPr algn="l">
              <a:lnSpc>
                <a:spcPts val="1653"/>
              </a:lnSpc>
              <a:spcAft>
                <a:spcPts val="0"/>
              </a:spcAft>
            </a:pPr>
            <a:r>
              <a:rPr lang="en-US" sz="1450" b="0" dirty="0">
                <a:solidFill>
                  <a:srgbClr val="181C23"/>
                </a:solidFill>
                <a:latin typeface="Funnel Sans"/>
              </a:rPr>
              <a:t>unresolved</a:t>
            </a:r>
            <a:endParaRPr lang="en-US" sz="1450"/>
          </a:p>
        </p:txBody>
      </p:sp>
      <p:sp>
        <p:nvSpPr>
          <p:cNvPr id="30" name="shape 30"/>
          <p:cNvSpPr/>
          <p:nvPr/>
        </p:nvSpPr>
        <p:spPr>
          <a:xfrm>
            <a:off x="508000" y="4775200"/>
            <a:ext cx="5473700" cy="787400"/>
          </a:xfrm>
          <a:prstGeom prst="rect">
            <a:avLst/>
          </a:prstGeom>
          <a:solidFill>
            <a:srgbClr val="FFFFFF"/>
          </a:solidFill>
          <a:ln w="12700">
            <a:solidFill>
              <a:srgbClr val="DEDCD6"/>
            </a:solidFill>
          </a:ln>
        </p:spPr>
      </p:sp>
      <p:sp>
        <p:nvSpPr>
          <p:cNvPr id="31" name="text 31"/>
          <p:cNvSpPr/>
          <p:nvPr/>
        </p:nvSpPr>
        <p:spPr>
          <a:xfrm>
            <a:off x="711200" y="4902200"/>
            <a:ext cx="50546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Optional tracked remediation</a:t>
            </a:r>
            <a:endParaRPr lang="en-US" sz="1800"/>
          </a:p>
        </p:txBody>
      </p:sp>
      <p:sp>
        <p:nvSpPr>
          <p:cNvPr id="32" name="text 32"/>
          <p:cNvSpPr/>
          <p:nvPr/>
        </p:nvSpPr>
        <p:spPr>
          <a:xfrm>
            <a:off x="711200" y="5245100"/>
            <a:ext cx="5054600" cy="2540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6D706B"/>
                </a:solidFill>
                <a:latin typeface="Funnel Sans"/>
              </a:rPr>
              <a:t>Owner • priority • target date • tracked status</a:t>
            </a:r>
            <a:endParaRPr lang="en-US" sz="1300"/>
          </a:p>
        </p:txBody>
      </p:sp>
      <p:sp>
        <p:nvSpPr>
          <p:cNvPr id="33" name="shape 33"/>
          <p:cNvSpPr/>
          <p:nvPr/>
        </p:nvSpPr>
        <p:spPr>
          <a:xfrm>
            <a:off x="6210300" y="4775200"/>
            <a:ext cx="5473700" cy="787400"/>
          </a:xfrm>
          <a:prstGeom prst="rect">
            <a:avLst/>
          </a:prstGeom>
          <a:solidFill>
            <a:srgbClr val="FFFFFF"/>
          </a:solidFill>
          <a:ln w="12700">
            <a:solidFill>
              <a:srgbClr val="DEDCD6"/>
            </a:solidFill>
          </a:ln>
        </p:spPr>
      </p:sp>
      <p:sp>
        <p:nvSpPr>
          <p:cNvPr id="34" name="text 34"/>
          <p:cNvSpPr/>
          <p:nvPr/>
        </p:nvSpPr>
        <p:spPr>
          <a:xfrm>
            <a:off x="6413500" y="4902200"/>
            <a:ext cx="50419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Manual reassessment</a:t>
            </a:r>
            <a:endParaRPr lang="en-US" sz="1800"/>
          </a:p>
        </p:txBody>
      </p:sp>
      <p:sp>
        <p:nvSpPr>
          <p:cNvPr id="35" name="text 35"/>
          <p:cNvSpPr/>
          <p:nvPr/>
        </p:nvSpPr>
        <p:spPr>
          <a:xfrm>
            <a:off x="6413500" y="5245100"/>
            <a:ext cx="5041900" cy="2540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6D706B"/>
                </a:solidFill>
                <a:latin typeface="Funnel Sans"/>
              </a:rPr>
              <a:t>Correct data → upload/review → run diagnostics</a:t>
            </a:r>
            <a:endParaRPr lang="en-US" sz="1300"/>
          </a:p>
        </p:txBody>
      </p:sp>
      <p:sp>
        <p:nvSpPr>
          <p:cNvPr id="36" name="shape 36"/>
          <p:cNvSpPr/>
          <p:nvPr/>
        </p:nvSpPr>
        <p:spPr>
          <a:xfrm>
            <a:off x="508000" y="5740400"/>
            <a:ext cx="11176000" cy="546100"/>
          </a:xfrm>
          <a:prstGeom prst="rect">
            <a:avLst/>
          </a:prstGeom>
          <a:solidFill>
            <a:srgbClr val="282A27"/>
          </a:solidFill>
          <a:ln>
            <a:noFill/>
          </a:ln>
        </p:spPr>
      </p:sp>
      <p:sp>
        <p:nvSpPr>
          <p:cNvPr id="37" name="text 3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RCA closure records an accepted investigation outcome; it does not certify remediation.</a:t>
            </a:r>
            <a:endParaRPr lang="en-US" sz="1600"/>
          </a:p>
        </p:txBody>
      </p:sp>
      <p:cxnSp>
        <p:nvCxnSpPr>
          <p:cNvPr id="38" name="connector 3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text 3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0" name="text 4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09 / 87</a:t>
            </a:r>
            <a:endParaRPr lang="en-US"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JOURNEY • 1–4</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Prepare an active snapshot and make the run scope explicit</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Each gate produces an artifact that the next stage can reference.</a:t>
            </a:r>
            <a:endParaRPr lang="en-US" sz="1500"/>
          </a:p>
        </p:txBody>
      </p:sp>
      <p:sp>
        <p:nvSpPr>
          <p:cNvPr id="6" name="shape 6"/>
          <p:cNvSpPr/>
          <p:nvPr/>
        </p:nvSpPr>
        <p:spPr>
          <a:xfrm>
            <a:off x="508000" y="2197100"/>
            <a:ext cx="2458720" cy="457200"/>
          </a:xfrm>
          <a:prstGeom prst="rect">
            <a:avLst/>
          </a:prstGeom>
          <a:solidFill>
            <a:srgbClr val="282A27"/>
          </a:solidFill>
          <a:ln>
            <a:noFill/>
          </a:ln>
        </p:spPr>
      </p:sp>
      <p:sp>
        <p:nvSpPr>
          <p:cNvPr id="7" name="text 7"/>
          <p:cNvSpPr/>
          <p:nvPr/>
        </p:nvSpPr>
        <p:spPr>
          <a:xfrm>
            <a:off x="635000" y="2311400"/>
            <a:ext cx="22047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Stage / persona</a:t>
            </a:r>
            <a:endParaRPr lang="en-US" sz="1200"/>
          </a:p>
        </p:txBody>
      </p:sp>
      <p:sp>
        <p:nvSpPr>
          <p:cNvPr id="8" name="shape 8"/>
          <p:cNvSpPr/>
          <p:nvPr/>
        </p:nvSpPr>
        <p:spPr>
          <a:xfrm>
            <a:off x="2966720" y="2197100"/>
            <a:ext cx="4470400" cy="457200"/>
          </a:xfrm>
          <a:prstGeom prst="rect">
            <a:avLst/>
          </a:prstGeom>
          <a:solidFill>
            <a:srgbClr val="282A27"/>
          </a:solidFill>
          <a:ln>
            <a:noFill/>
          </a:ln>
        </p:spPr>
      </p:sp>
      <p:sp>
        <p:nvSpPr>
          <p:cNvPr id="9" name="text 9"/>
          <p:cNvSpPr/>
          <p:nvPr/>
        </p:nvSpPr>
        <p:spPr>
          <a:xfrm>
            <a:off x="3093720" y="2311400"/>
            <a:ext cx="42164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Input → system action</a:t>
            </a:r>
            <a:endParaRPr lang="en-US" sz="1200"/>
          </a:p>
        </p:txBody>
      </p:sp>
      <p:sp>
        <p:nvSpPr>
          <p:cNvPr id="10" name="shape 10"/>
          <p:cNvSpPr/>
          <p:nvPr/>
        </p:nvSpPr>
        <p:spPr>
          <a:xfrm>
            <a:off x="7437120" y="2197100"/>
            <a:ext cx="4246880" cy="457200"/>
          </a:xfrm>
          <a:prstGeom prst="rect">
            <a:avLst/>
          </a:prstGeom>
          <a:solidFill>
            <a:srgbClr val="282A27"/>
          </a:solidFill>
          <a:ln>
            <a:noFill/>
          </a:ln>
        </p:spPr>
      </p:sp>
      <p:sp>
        <p:nvSpPr>
          <p:cNvPr id="11" name="text 11"/>
          <p:cNvSpPr/>
          <p:nvPr/>
        </p:nvSpPr>
        <p:spPr>
          <a:xfrm>
            <a:off x="7564120" y="2311400"/>
            <a:ext cx="39928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Output / control</a:t>
            </a:r>
            <a:endParaRPr lang="en-US" sz="1200"/>
          </a:p>
        </p:txBody>
      </p:sp>
      <p:sp>
        <p:nvSpPr>
          <p:cNvPr id="12" name="shape 12"/>
          <p:cNvSpPr/>
          <p:nvPr/>
        </p:nvSpPr>
        <p:spPr>
          <a:xfrm>
            <a:off x="508000" y="2654300"/>
            <a:ext cx="2458720" cy="749300"/>
          </a:xfrm>
          <a:prstGeom prst="rect">
            <a:avLst/>
          </a:prstGeom>
          <a:solidFill>
            <a:srgbClr val="FFFFFF"/>
          </a:solidFill>
          <a:ln>
            <a:noFill/>
          </a:ln>
        </p:spPr>
      </p:sp>
      <p:sp>
        <p:nvSpPr>
          <p:cNvPr id="13" name="text 13"/>
          <p:cNvSpPr/>
          <p:nvPr/>
        </p:nvSpPr>
        <p:spPr>
          <a:xfrm>
            <a:off x="635000" y="2705100"/>
            <a:ext cx="2204720" cy="6477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1 Ingest</a:t>
            </a:r>
            <a:endParaRPr lang="en-US" sz="1600"/>
          </a:p>
          <a:p>
            <a:pPr algn="l">
              <a:lnSpc>
                <a:spcPts val="1824"/>
              </a:lnSpc>
              <a:spcAft>
                <a:spcPts val="0"/>
              </a:spcAft>
            </a:pPr>
            <a:r>
              <a:rPr lang="en-US" sz="1600" b="1" dirty="0">
                <a:solidFill>
                  <a:srgbClr val="181C23"/>
                </a:solidFill>
                <a:latin typeface="Funnel Sans"/>
              </a:rPr>
              <a:t>Data team</a:t>
            </a:r>
            <a:endParaRPr lang="en-US" sz="1600"/>
          </a:p>
        </p:txBody>
      </p:sp>
      <p:cxnSp>
        <p:nvCxnSpPr>
          <p:cNvPr id="14" name="connector 14"/>
          <p:cNvCxnSpPr/>
          <p:nvPr/>
        </p:nvCxnSpPr>
        <p:spPr>
          <a:xfrm>
            <a:off x="508000" y="3403600"/>
            <a:ext cx="2458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966720" y="2654300"/>
            <a:ext cx="4470400" cy="749300"/>
          </a:xfrm>
          <a:prstGeom prst="rect">
            <a:avLst/>
          </a:prstGeom>
          <a:solidFill>
            <a:srgbClr val="FFFFFF"/>
          </a:solidFill>
          <a:ln>
            <a:noFill/>
          </a:ln>
        </p:spPr>
      </p:sp>
      <p:sp>
        <p:nvSpPr>
          <p:cNvPr id="16" name="text 16"/>
          <p:cNvSpPr/>
          <p:nvPr/>
        </p:nvSpPr>
        <p:spPr>
          <a:xfrm>
            <a:off x="3093720" y="2705100"/>
            <a:ext cx="4216400" cy="6477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CSV, Excel or SQLite → stage and profile</a:t>
            </a:r>
            <a:endParaRPr lang="en-US" sz="1600"/>
          </a:p>
        </p:txBody>
      </p:sp>
      <p:cxnSp>
        <p:nvCxnSpPr>
          <p:cNvPr id="17" name="connector 17"/>
          <p:cNvCxnSpPr/>
          <p:nvPr/>
        </p:nvCxnSpPr>
        <p:spPr>
          <a:xfrm>
            <a:off x="2966720" y="3403600"/>
            <a:ext cx="4470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7437120" y="2654300"/>
            <a:ext cx="4246880" cy="749300"/>
          </a:xfrm>
          <a:prstGeom prst="rect">
            <a:avLst/>
          </a:prstGeom>
          <a:solidFill>
            <a:srgbClr val="FFFFFF"/>
          </a:solidFill>
          <a:ln>
            <a:noFill/>
          </a:ln>
        </p:spPr>
      </p:sp>
      <p:sp>
        <p:nvSpPr>
          <p:cNvPr id="19" name="text 19"/>
          <p:cNvSpPr/>
          <p:nvPr/>
        </p:nvSpPr>
        <p:spPr>
          <a:xfrm>
            <a:off x="7564120" y="2705100"/>
            <a:ext cx="3992880" cy="6477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Profile evidence; user reviews source</a:t>
            </a:r>
            <a:endParaRPr lang="en-US" sz="1600"/>
          </a:p>
        </p:txBody>
      </p:sp>
      <p:cxnSp>
        <p:nvCxnSpPr>
          <p:cNvPr id="20" name="connector 20"/>
          <p:cNvCxnSpPr/>
          <p:nvPr/>
        </p:nvCxnSpPr>
        <p:spPr>
          <a:xfrm>
            <a:off x="7437120" y="34036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403600"/>
            <a:ext cx="2458720" cy="749300"/>
          </a:xfrm>
          <a:prstGeom prst="rect">
            <a:avLst/>
          </a:prstGeom>
          <a:solidFill>
            <a:srgbClr val="EFEEE9"/>
          </a:solidFill>
          <a:ln>
            <a:noFill/>
          </a:ln>
        </p:spPr>
      </p:sp>
      <p:sp>
        <p:nvSpPr>
          <p:cNvPr id="22" name="text 22"/>
          <p:cNvSpPr/>
          <p:nvPr/>
        </p:nvSpPr>
        <p:spPr>
          <a:xfrm>
            <a:off x="635000" y="3454400"/>
            <a:ext cx="2204720" cy="6477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2 Prepare</a:t>
            </a:r>
            <a:endParaRPr lang="en-US" sz="1600"/>
          </a:p>
          <a:p>
            <a:pPr algn="l">
              <a:lnSpc>
                <a:spcPts val="1824"/>
              </a:lnSpc>
              <a:spcAft>
                <a:spcPts val="0"/>
              </a:spcAft>
            </a:pPr>
            <a:r>
              <a:rPr lang="en-US" sz="1600" b="1" dirty="0">
                <a:solidFill>
                  <a:srgbClr val="181C23"/>
                </a:solidFill>
                <a:latin typeface="Funnel Sans"/>
              </a:rPr>
              <a:t>Data team</a:t>
            </a:r>
            <a:endParaRPr lang="en-US" sz="1600"/>
          </a:p>
        </p:txBody>
      </p:sp>
      <p:cxnSp>
        <p:nvCxnSpPr>
          <p:cNvPr id="23" name="connector 23"/>
          <p:cNvCxnSpPr/>
          <p:nvPr/>
        </p:nvCxnSpPr>
        <p:spPr>
          <a:xfrm>
            <a:off x="508000" y="4152900"/>
            <a:ext cx="2458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2966720" y="3403600"/>
            <a:ext cx="4470400" cy="749300"/>
          </a:xfrm>
          <a:prstGeom prst="rect">
            <a:avLst/>
          </a:prstGeom>
          <a:solidFill>
            <a:srgbClr val="EFEEE9"/>
          </a:solidFill>
          <a:ln>
            <a:noFill/>
          </a:ln>
        </p:spPr>
      </p:sp>
      <p:sp>
        <p:nvSpPr>
          <p:cNvPr id="25" name="text 25"/>
          <p:cNvSpPr/>
          <p:nvPr/>
        </p:nvSpPr>
        <p:spPr>
          <a:xfrm>
            <a:off x="3093720" y="3454400"/>
            <a:ext cx="4216400" cy="6477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Mappings, target, periods → validate and</a:t>
            </a:r>
            <a:endParaRPr lang="en-US" sz="1600"/>
          </a:p>
          <a:p>
            <a:pPr algn="l">
              <a:lnSpc>
                <a:spcPts val="1824"/>
              </a:lnSpc>
              <a:spcAft>
                <a:spcPts val="0"/>
              </a:spcAft>
            </a:pPr>
            <a:r>
              <a:rPr lang="en-US" sz="1600" b="0" dirty="0">
                <a:solidFill>
                  <a:srgbClr val="181C23"/>
                </a:solidFill>
                <a:latin typeface="Funnel Sans"/>
              </a:rPr>
              <a:t>commit</a:t>
            </a:r>
            <a:endParaRPr lang="en-US" sz="1600"/>
          </a:p>
        </p:txBody>
      </p:sp>
      <p:cxnSp>
        <p:nvCxnSpPr>
          <p:cNvPr id="26" name="connector 26"/>
          <p:cNvCxnSpPr/>
          <p:nvPr/>
        </p:nvCxnSpPr>
        <p:spPr>
          <a:xfrm>
            <a:off x="2966720" y="4152900"/>
            <a:ext cx="4470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7437120" y="3403600"/>
            <a:ext cx="4246880" cy="749300"/>
          </a:xfrm>
          <a:prstGeom prst="rect">
            <a:avLst/>
          </a:prstGeom>
          <a:solidFill>
            <a:srgbClr val="EFEEE9"/>
          </a:solidFill>
          <a:ln>
            <a:noFill/>
          </a:ln>
        </p:spPr>
      </p:sp>
      <p:sp>
        <p:nvSpPr>
          <p:cNvPr id="28" name="text 28"/>
          <p:cNvSpPr/>
          <p:nvPr/>
        </p:nvSpPr>
        <p:spPr>
          <a:xfrm>
            <a:off x="7564120" y="3454400"/>
            <a:ext cx="3992880" cy="6477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Ready active snapshot; commit gate</a:t>
            </a:r>
            <a:endParaRPr lang="en-US" sz="1600"/>
          </a:p>
        </p:txBody>
      </p:sp>
      <p:cxnSp>
        <p:nvCxnSpPr>
          <p:cNvPr id="29" name="connector 29"/>
          <p:cNvCxnSpPr/>
          <p:nvPr/>
        </p:nvCxnSpPr>
        <p:spPr>
          <a:xfrm>
            <a:off x="7437120" y="41529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152900"/>
            <a:ext cx="2458720" cy="749300"/>
          </a:xfrm>
          <a:prstGeom prst="rect">
            <a:avLst/>
          </a:prstGeom>
          <a:solidFill>
            <a:srgbClr val="FFFFFF"/>
          </a:solidFill>
          <a:ln>
            <a:noFill/>
          </a:ln>
        </p:spPr>
      </p:sp>
      <p:sp>
        <p:nvSpPr>
          <p:cNvPr id="31" name="text 31"/>
          <p:cNvSpPr/>
          <p:nvPr/>
        </p:nvSpPr>
        <p:spPr>
          <a:xfrm>
            <a:off x="635000" y="4203700"/>
            <a:ext cx="2204720" cy="6477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3 Configure</a:t>
            </a:r>
            <a:endParaRPr lang="en-US" sz="1600"/>
          </a:p>
          <a:p>
            <a:pPr algn="l">
              <a:lnSpc>
                <a:spcPts val="1824"/>
              </a:lnSpc>
              <a:spcAft>
                <a:spcPts val="0"/>
              </a:spcAft>
            </a:pPr>
            <a:r>
              <a:rPr lang="en-US" sz="1600" b="1" dirty="0">
                <a:solidFill>
                  <a:srgbClr val="181C23"/>
                </a:solidFill>
                <a:latin typeface="Funnel Sans"/>
              </a:rPr>
              <a:t>Analyst / SME</a:t>
            </a:r>
            <a:endParaRPr lang="en-US" sz="1600"/>
          </a:p>
        </p:txBody>
      </p:sp>
      <p:cxnSp>
        <p:nvCxnSpPr>
          <p:cNvPr id="32" name="connector 32"/>
          <p:cNvCxnSpPr/>
          <p:nvPr/>
        </p:nvCxnSpPr>
        <p:spPr>
          <a:xfrm>
            <a:off x="508000" y="4902200"/>
            <a:ext cx="2458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966720" y="4152900"/>
            <a:ext cx="4470400" cy="749300"/>
          </a:xfrm>
          <a:prstGeom prst="rect">
            <a:avLst/>
          </a:prstGeom>
          <a:solidFill>
            <a:srgbClr val="FFFFFF"/>
          </a:solidFill>
          <a:ln>
            <a:noFill/>
          </a:ln>
        </p:spPr>
      </p:sp>
      <p:sp>
        <p:nvSpPr>
          <p:cNvPr id="34" name="text 34"/>
          <p:cNvSpPr/>
          <p:nvPr/>
        </p:nvSpPr>
        <p:spPr>
          <a:xfrm>
            <a:off x="3093720" y="4203700"/>
            <a:ext cx="4216400" cy="6477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Snapshot + diagnostic → resolve scope</a:t>
            </a:r>
            <a:endParaRPr lang="en-US" sz="1600"/>
          </a:p>
        </p:txBody>
      </p:sp>
      <p:cxnSp>
        <p:nvCxnSpPr>
          <p:cNvPr id="35" name="connector 35"/>
          <p:cNvCxnSpPr/>
          <p:nvPr/>
        </p:nvCxnSpPr>
        <p:spPr>
          <a:xfrm>
            <a:off x="2966720" y="4902200"/>
            <a:ext cx="4470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7437120" y="4152900"/>
            <a:ext cx="4246880" cy="749300"/>
          </a:xfrm>
          <a:prstGeom prst="rect">
            <a:avLst/>
          </a:prstGeom>
          <a:solidFill>
            <a:srgbClr val="FFFFFF"/>
          </a:solidFill>
          <a:ln>
            <a:noFill/>
          </a:ln>
        </p:spPr>
      </p:sp>
      <p:sp>
        <p:nvSpPr>
          <p:cNvPr id="37" name="text 37"/>
          <p:cNvSpPr/>
          <p:nvPr/>
        </p:nvSpPr>
        <p:spPr>
          <a:xfrm>
            <a:off x="7564120" y="4203700"/>
            <a:ext cx="3992880" cy="6477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Working manifest; confirm roles and</a:t>
            </a:r>
            <a:endParaRPr lang="en-US" sz="1600"/>
          </a:p>
          <a:p>
            <a:pPr algn="l">
              <a:lnSpc>
                <a:spcPts val="1824"/>
              </a:lnSpc>
              <a:spcAft>
                <a:spcPts val="0"/>
              </a:spcAft>
            </a:pPr>
            <a:r>
              <a:rPr lang="en-US" sz="1600" b="0" dirty="0">
                <a:solidFill>
                  <a:srgbClr val="181C23"/>
                </a:solidFill>
                <a:latin typeface="Funnel Sans"/>
              </a:rPr>
              <a:t>thresholds</a:t>
            </a:r>
            <a:endParaRPr lang="en-US" sz="1600"/>
          </a:p>
        </p:txBody>
      </p:sp>
      <p:cxnSp>
        <p:nvCxnSpPr>
          <p:cNvPr id="38" name="connector 38"/>
          <p:cNvCxnSpPr/>
          <p:nvPr/>
        </p:nvCxnSpPr>
        <p:spPr>
          <a:xfrm>
            <a:off x="7437120" y="49022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902200"/>
            <a:ext cx="2458720" cy="749300"/>
          </a:xfrm>
          <a:prstGeom prst="rect">
            <a:avLst/>
          </a:prstGeom>
          <a:solidFill>
            <a:srgbClr val="EFEEE9"/>
          </a:solidFill>
          <a:ln>
            <a:noFill/>
          </a:ln>
        </p:spPr>
      </p:sp>
      <p:sp>
        <p:nvSpPr>
          <p:cNvPr id="40" name="text 40"/>
          <p:cNvSpPr/>
          <p:nvPr/>
        </p:nvSpPr>
        <p:spPr>
          <a:xfrm>
            <a:off x="635000" y="4953000"/>
            <a:ext cx="2204720" cy="6477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4 Execute</a:t>
            </a:r>
            <a:endParaRPr lang="en-US" sz="1600"/>
          </a:p>
          <a:p>
            <a:pPr algn="l">
              <a:lnSpc>
                <a:spcPts val="1824"/>
              </a:lnSpc>
              <a:spcAft>
                <a:spcPts val="0"/>
              </a:spcAft>
            </a:pPr>
            <a:r>
              <a:rPr lang="en-US" sz="1600" b="1" dirty="0">
                <a:solidFill>
                  <a:srgbClr val="181C23"/>
                </a:solidFill>
                <a:latin typeface="Funnel Sans"/>
              </a:rPr>
              <a:t>Analyst</a:t>
            </a:r>
            <a:endParaRPr lang="en-US" sz="1600"/>
          </a:p>
        </p:txBody>
      </p:sp>
      <p:cxnSp>
        <p:nvCxnSpPr>
          <p:cNvPr id="41" name="connector 41"/>
          <p:cNvCxnSpPr/>
          <p:nvPr/>
        </p:nvCxnSpPr>
        <p:spPr>
          <a:xfrm>
            <a:off x="508000" y="5651500"/>
            <a:ext cx="2458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2966720" y="4902200"/>
            <a:ext cx="4470400" cy="749300"/>
          </a:xfrm>
          <a:prstGeom prst="rect">
            <a:avLst/>
          </a:prstGeom>
          <a:solidFill>
            <a:srgbClr val="EFEEE9"/>
          </a:solidFill>
          <a:ln>
            <a:noFill/>
          </a:ln>
        </p:spPr>
      </p:sp>
      <p:sp>
        <p:nvSpPr>
          <p:cNvPr id="43" name="text 43"/>
          <p:cNvSpPr/>
          <p:nvPr/>
        </p:nvSpPr>
        <p:spPr>
          <a:xfrm>
            <a:off x="3093720" y="4953000"/>
            <a:ext cx="4216400" cy="6477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Confirmed manifest → freeze and run</a:t>
            </a:r>
            <a:endParaRPr lang="en-US" sz="1600"/>
          </a:p>
        </p:txBody>
      </p:sp>
      <p:cxnSp>
        <p:nvCxnSpPr>
          <p:cNvPr id="44" name="connector 44"/>
          <p:cNvCxnSpPr/>
          <p:nvPr/>
        </p:nvCxnSpPr>
        <p:spPr>
          <a:xfrm>
            <a:off x="2966720" y="5651500"/>
            <a:ext cx="4470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7437120" y="4902200"/>
            <a:ext cx="4246880" cy="749300"/>
          </a:xfrm>
          <a:prstGeom prst="rect">
            <a:avLst/>
          </a:prstGeom>
          <a:solidFill>
            <a:srgbClr val="EFEEE9"/>
          </a:solidFill>
          <a:ln>
            <a:noFill/>
          </a:ln>
        </p:spPr>
      </p:sp>
      <p:sp>
        <p:nvSpPr>
          <p:cNvPr id="46" name="text 46"/>
          <p:cNvSpPr/>
          <p:nvPr/>
        </p:nvSpPr>
        <p:spPr>
          <a:xfrm>
            <a:off x="7564120" y="4953000"/>
            <a:ext cx="3992880" cy="6477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Immutable manifest; progress and run</a:t>
            </a:r>
            <a:endParaRPr lang="en-US" sz="1600"/>
          </a:p>
          <a:p>
            <a:pPr algn="l">
              <a:lnSpc>
                <a:spcPts val="1824"/>
              </a:lnSpc>
              <a:spcAft>
                <a:spcPts val="0"/>
              </a:spcAft>
            </a:pPr>
            <a:r>
              <a:rPr lang="en-US" sz="1600" b="0" dirty="0">
                <a:solidFill>
                  <a:srgbClr val="181C23"/>
                </a:solidFill>
                <a:latin typeface="Funnel Sans"/>
              </a:rPr>
              <a:t>result</a:t>
            </a:r>
            <a:endParaRPr lang="en-US" sz="1600"/>
          </a:p>
        </p:txBody>
      </p:sp>
      <p:cxnSp>
        <p:nvCxnSpPr>
          <p:cNvPr id="47" name="connector 47"/>
          <p:cNvCxnSpPr/>
          <p:nvPr/>
        </p:nvCxnSpPr>
        <p:spPr>
          <a:xfrm>
            <a:off x="7437120" y="56515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5740400"/>
            <a:ext cx="11176000" cy="546100"/>
          </a:xfrm>
          <a:prstGeom prst="rect">
            <a:avLst/>
          </a:prstGeom>
          <a:solidFill>
            <a:srgbClr val="282A27"/>
          </a:solidFill>
          <a:ln>
            <a:noFill/>
          </a:ln>
        </p:spPr>
      </p:sp>
      <p:sp>
        <p:nvSpPr>
          <p:cNvPr id="49" name="text 49"/>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Only ready, active snapshots are offered for Test Lab execution.</a:t>
            </a:r>
            <a:endParaRPr lang="en-US" sz="1600"/>
          </a:p>
        </p:txBody>
      </p:sp>
      <p:cxnSp>
        <p:nvCxnSpPr>
          <p:cNvPr id="50" name="connector 5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text 5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52" name="text 5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10 / 87</a:t>
            </a:r>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JOURNEY • 5–8</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Turn calculation outputs into owned investigations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A finding becomes an issue through the diagnostic’s specific disposition rule.</a:t>
            </a:r>
            <a:endParaRPr lang="en-US" sz="1500"/>
          </a:p>
        </p:txBody>
      </p:sp>
      <p:sp>
        <p:nvSpPr>
          <p:cNvPr id="6" name="shape 6"/>
          <p:cNvSpPr/>
          <p:nvPr/>
        </p:nvSpPr>
        <p:spPr>
          <a:xfrm>
            <a:off x="508000" y="2197100"/>
            <a:ext cx="2458720" cy="457200"/>
          </a:xfrm>
          <a:prstGeom prst="rect">
            <a:avLst/>
          </a:prstGeom>
          <a:solidFill>
            <a:srgbClr val="282A27"/>
          </a:solidFill>
          <a:ln>
            <a:noFill/>
          </a:ln>
        </p:spPr>
      </p:sp>
      <p:sp>
        <p:nvSpPr>
          <p:cNvPr id="7" name="text 7"/>
          <p:cNvSpPr/>
          <p:nvPr/>
        </p:nvSpPr>
        <p:spPr>
          <a:xfrm>
            <a:off x="635000" y="2311400"/>
            <a:ext cx="22047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Stage / persona</a:t>
            </a:r>
            <a:endParaRPr lang="en-US" sz="1200"/>
          </a:p>
        </p:txBody>
      </p:sp>
      <p:sp>
        <p:nvSpPr>
          <p:cNvPr id="8" name="shape 8"/>
          <p:cNvSpPr/>
          <p:nvPr/>
        </p:nvSpPr>
        <p:spPr>
          <a:xfrm>
            <a:off x="2966720" y="2197100"/>
            <a:ext cx="4470400" cy="457200"/>
          </a:xfrm>
          <a:prstGeom prst="rect">
            <a:avLst/>
          </a:prstGeom>
          <a:solidFill>
            <a:srgbClr val="282A27"/>
          </a:solidFill>
          <a:ln>
            <a:noFill/>
          </a:ln>
        </p:spPr>
      </p:sp>
      <p:sp>
        <p:nvSpPr>
          <p:cNvPr id="9" name="text 9"/>
          <p:cNvSpPr/>
          <p:nvPr/>
        </p:nvSpPr>
        <p:spPr>
          <a:xfrm>
            <a:off x="3093720" y="2311400"/>
            <a:ext cx="42164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Input → system action</a:t>
            </a:r>
            <a:endParaRPr lang="en-US" sz="1200"/>
          </a:p>
        </p:txBody>
      </p:sp>
      <p:sp>
        <p:nvSpPr>
          <p:cNvPr id="10" name="shape 10"/>
          <p:cNvSpPr/>
          <p:nvPr/>
        </p:nvSpPr>
        <p:spPr>
          <a:xfrm>
            <a:off x="7437120" y="2197100"/>
            <a:ext cx="4246880" cy="457200"/>
          </a:xfrm>
          <a:prstGeom prst="rect">
            <a:avLst/>
          </a:prstGeom>
          <a:solidFill>
            <a:srgbClr val="282A27"/>
          </a:solidFill>
          <a:ln>
            <a:noFill/>
          </a:ln>
        </p:spPr>
      </p:sp>
      <p:sp>
        <p:nvSpPr>
          <p:cNvPr id="11" name="text 11"/>
          <p:cNvSpPr/>
          <p:nvPr/>
        </p:nvSpPr>
        <p:spPr>
          <a:xfrm>
            <a:off x="7564120" y="2311400"/>
            <a:ext cx="39928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Output / control</a:t>
            </a:r>
            <a:endParaRPr lang="en-US" sz="1200"/>
          </a:p>
        </p:txBody>
      </p:sp>
      <p:sp>
        <p:nvSpPr>
          <p:cNvPr id="12" name="shape 12"/>
          <p:cNvSpPr/>
          <p:nvPr/>
        </p:nvSpPr>
        <p:spPr>
          <a:xfrm>
            <a:off x="508000" y="2654300"/>
            <a:ext cx="2458720" cy="749300"/>
          </a:xfrm>
          <a:prstGeom prst="rect">
            <a:avLst/>
          </a:prstGeom>
          <a:solidFill>
            <a:srgbClr val="FFFFFF"/>
          </a:solidFill>
          <a:ln>
            <a:noFill/>
          </a:ln>
        </p:spPr>
      </p:sp>
      <p:sp>
        <p:nvSpPr>
          <p:cNvPr id="13" name="text 13"/>
          <p:cNvSpPr/>
          <p:nvPr/>
        </p:nvSpPr>
        <p:spPr>
          <a:xfrm>
            <a:off x="635000" y="2705100"/>
            <a:ext cx="2204720" cy="64770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5 Analyze</a:t>
            </a:r>
            <a:endParaRPr lang="en-US" sz="1550"/>
          </a:p>
          <a:p>
            <a:pPr algn="l">
              <a:lnSpc>
                <a:spcPts val="1767"/>
              </a:lnSpc>
              <a:spcAft>
                <a:spcPts val="0"/>
              </a:spcAft>
            </a:pPr>
            <a:r>
              <a:rPr lang="en-US" sz="1550" b="1" dirty="0">
                <a:solidFill>
                  <a:srgbClr val="181C23"/>
                </a:solidFill>
                <a:latin typeface="Funnel Sans"/>
              </a:rPr>
              <a:t>Analyst / SME</a:t>
            </a:r>
            <a:endParaRPr lang="en-US" sz="1550"/>
          </a:p>
        </p:txBody>
      </p:sp>
      <p:cxnSp>
        <p:nvCxnSpPr>
          <p:cNvPr id="14" name="connector 14"/>
          <p:cNvCxnSpPr/>
          <p:nvPr/>
        </p:nvCxnSpPr>
        <p:spPr>
          <a:xfrm>
            <a:off x="508000" y="3403600"/>
            <a:ext cx="2458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966720" y="2654300"/>
            <a:ext cx="4470400" cy="749300"/>
          </a:xfrm>
          <a:prstGeom prst="rect">
            <a:avLst/>
          </a:prstGeom>
          <a:solidFill>
            <a:srgbClr val="FFFFFF"/>
          </a:solidFill>
          <a:ln>
            <a:noFill/>
          </a:ln>
        </p:spPr>
      </p:sp>
      <p:sp>
        <p:nvSpPr>
          <p:cNvPr id="16" name="text 16"/>
          <p:cNvSpPr/>
          <p:nvPr/>
        </p:nvSpPr>
        <p:spPr>
          <a:xfrm>
            <a:off x="3093720" y="2705100"/>
            <a:ext cx="4216400" cy="6477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Run results → calculate and retain evidence</a:t>
            </a:r>
            <a:endParaRPr lang="en-US" sz="1550"/>
          </a:p>
        </p:txBody>
      </p:sp>
      <p:cxnSp>
        <p:nvCxnSpPr>
          <p:cNvPr id="17" name="connector 17"/>
          <p:cNvCxnSpPr/>
          <p:nvPr/>
        </p:nvCxnSpPr>
        <p:spPr>
          <a:xfrm>
            <a:off x="2966720" y="3403600"/>
            <a:ext cx="4470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7437120" y="2654300"/>
            <a:ext cx="4246880" cy="749300"/>
          </a:xfrm>
          <a:prstGeom prst="rect">
            <a:avLst/>
          </a:prstGeom>
          <a:solidFill>
            <a:srgbClr val="FFFFFF"/>
          </a:solidFill>
          <a:ln>
            <a:noFill/>
          </a:ln>
        </p:spPr>
      </p:sp>
      <p:sp>
        <p:nvSpPr>
          <p:cNvPr id="19" name="text 19"/>
          <p:cNvSpPr/>
          <p:nvPr/>
        </p:nvSpPr>
        <p:spPr>
          <a:xfrm>
            <a:off x="7564120" y="2705100"/>
            <a:ext cx="3992880" cy="6477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Metrics, charts and reports; scope</a:t>
            </a:r>
            <a:endParaRPr lang="en-US" sz="1550"/>
          </a:p>
          <a:p>
            <a:pPr algn="l">
              <a:lnSpc>
                <a:spcPts val="1767"/>
              </a:lnSpc>
              <a:spcAft>
                <a:spcPts val="0"/>
              </a:spcAft>
            </a:pPr>
            <a:r>
              <a:rPr lang="en-US" sz="1550" b="0" dirty="0">
                <a:solidFill>
                  <a:srgbClr val="181C23"/>
                </a:solidFill>
                <a:latin typeface="Funnel Sans"/>
              </a:rPr>
              <a:t>disclosed</a:t>
            </a:r>
            <a:endParaRPr lang="en-US" sz="1550"/>
          </a:p>
        </p:txBody>
      </p:sp>
      <p:cxnSp>
        <p:nvCxnSpPr>
          <p:cNvPr id="20" name="connector 20"/>
          <p:cNvCxnSpPr/>
          <p:nvPr/>
        </p:nvCxnSpPr>
        <p:spPr>
          <a:xfrm>
            <a:off x="7437120" y="34036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403600"/>
            <a:ext cx="2458720" cy="749300"/>
          </a:xfrm>
          <a:prstGeom prst="rect">
            <a:avLst/>
          </a:prstGeom>
          <a:solidFill>
            <a:srgbClr val="EFEEE9"/>
          </a:solidFill>
          <a:ln>
            <a:noFill/>
          </a:ln>
        </p:spPr>
      </p:sp>
      <p:sp>
        <p:nvSpPr>
          <p:cNvPr id="22" name="text 22"/>
          <p:cNvSpPr/>
          <p:nvPr/>
        </p:nvSpPr>
        <p:spPr>
          <a:xfrm>
            <a:off x="635000" y="3454400"/>
            <a:ext cx="2204720" cy="64770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6 Create issue</a:t>
            </a:r>
            <a:endParaRPr lang="en-US" sz="1550"/>
          </a:p>
          <a:p>
            <a:pPr algn="l">
              <a:lnSpc>
                <a:spcPts val="1767"/>
              </a:lnSpc>
              <a:spcAft>
                <a:spcPts val="0"/>
              </a:spcAft>
            </a:pPr>
            <a:r>
              <a:rPr lang="en-US" sz="1550" b="1" dirty="0">
                <a:solidFill>
                  <a:srgbClr val="181C23"/>
                </a:solidFill>
                <a:latin typeface="Funnel Sans"/>
              </a:rPr>
              <a:t>Finding reviewer</a:t>
            </a:r>
            <a:endParaRPr lang="en-US" sz="1550"/>
          </a:p>
        </p:txBody>
      </p:sp>
      <p:cxnSp>
        <p:nvCxnSpPr>
          <p:cNvPr id="23" name="connector 23"/>
          <p:cNvCxnSpPr/>
          <p:nvPr/>
        </p:nvCxnSpPr>
        <p:spPr>
          <a:xfrm>
            <a:off x="508000" y="4152900"/>
            <a:ext cx="2458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2966720" y="3403600"/>
            <a:ext cx="4470400" cy="749300"/>
          </a:xfrm>
          <a:prstGeom prst="rect">
            <a:avLst/>
          </a:prstGeom>
          <a:solidFill>
            <a:srgbClr val="EFEEE9"/>
          </a:solidFill>
          <a:ln>
            <a:noFill/>
          </a:ln>
        </p:spPr>
      </p:sp>
      <p:sp>
        <p:nvSpPr>
          <p:cNvPr id="25" name="text 25"/>
          <p:cNvSpPr/>
          <p:nvPr/>
        </p:nvSpPr>
        <p:spPr>
          <a:xfrm>
            <a:off x="3093720" y="3454400"/>
            <a:ext cx="4216400" cy="6477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Finding + rationale → confirm or dismiss</a:t>
            </a:r>
            <a:endParaRPr lang="en-US" sz="1550"/>
          </a:p>
        </p:txBody>
      </p:sp>
      <p:cxnSp>
        <p:nvCxnSpPr>
          <p:cNvPr id="26" name="connector 26"/>
          <p:cNvCxnSpPr/>
          <p:nvPr/>
        </p:nvCxnSpPr>
        <p:spPr>
          <a:xfrm>
            <a:off x="2966720" y="4152900"/>
            <a:ext cx="4470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7437120" y="3403600"/>
            <a:ext cx="4246880" cy="749300"/>
          </a:xfrm>
          <a:prstGeom prst="rect">
            <a:avLst/>
          </a:prstGeom>
          <a:solidFill>
            <a:srgbClr val="EFEEE9"/>
          </a:solidFill>
          <a:ln>
            <a:noFill/>
          </a:ln>
        </p:spPr>
      </p:sp>
      <p:sp>
        <p:nvSpPr>
          <p:cNvPr id="28" name="text 28"/>
          <p:cNvSpPr/>
          <p:nvPr/>
        </p:nvSpPr>
        <p:spPr>
          <a:xfrm>
            <a:off x="7564120" y="3454400"/>
            <a:ext cx="3992880" cy="6477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Linked issue when confirmed; human gate</a:t>
            </a:r>
            <a:endParaRPr lang="en-US" sz="1550"/>
          </a:p>
        </p:txBody>
      </p:sp>
      <p:cxnSp>
        <p:nvCxnSpPr>
          <p:cNvPr id="29" name="connector 29"/>
          <p:cNvCxnSpPr/>
          <p:nvPr/>
        </p:nvCxnSpPr>
        <p:spPr>
          <a:xfrm>
            <a:off x="7437120" y="41529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152900"/>
            <a:ext cx="2458720" cy="749300"/>
          </a:xfrm>
          <a:prstGeom prst="rect">
            <a:avLst/>
          </a:prstGeom>
          <a:solidFill>
            <a:srgbClr val="FFFFFF"/>
          </a:solidFill>
          <a:ln>
            <a:noFill/>
          </a:ln>
        </p:spPr>
      </p:sp>
      <p:sp>
        <p:nvSpPr>
          <p:cNvPr id="31" name="text 31"/>
          <p:cNvSpPr/>
          <p:nvPr/>
        </p:nvSpPr>
        <p:spPr>
          <a:xfrm>
            <a:off x="635000" y="4203700"/>
            <a:ext cx="2204720" cy="64770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7 Assign / prioritize</a:t>
            </a:r>
            <a:endParaRPr lang="en-US" sz="1550"/>
          </a:p>
          <a:p>
            <a:pPr algn="l">
              <a:lnSpc>
                <a:spcPts val="1767"/>
              </a:lnSpc>
              <a:spcAft>
                <a:spcPts val="0"/>
              </a:spcAft>
            </a:pPr>
            <a:r>
              <a:rPr lang="en-US" sz="1550" b="1" dirty="0">
                <a:solidFill>
                  <a:srgbClr val="181C23"/>
                </a:solidFill>
                <a:latin typeface="Funnel Sans"/>
              </a:rPr>
              <a:t>Issue or action owner</a:t>
            </a:r>
            <a:endParaRPr lang="en-US" sz="1550"/>
          </a:p>
        </p:txBody>
      </p:sp>
      <p:cxnSp>
        <p:nvCxnSpPr>
          <p:cNvPr id="32" name="connector 32"/>
          <p:cNvCxnSpPr/>
          <p:nvPr/>
        </p:nvCxnSpPr>
        <p:spPr>
          <a:xfrm>
            <a:off x="508000" y="4902200"/>
            <a:ext cx="2458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966720" y="4152900"/>
            <a:ext cx="4470400" cy="749300"/>
          </a:xfrm>
          <a:prstGeom prst="rect">
            <a:avLst/>
          </a:prstGeom>
          <a:solidFill>
            <a:srgbClr val="FFFFFF"/>
          </a:solidFill>
          <a:ln>
            <a:noFill/>
          </a:ln>
        </p:spPr>
      </p:sp>
      <p:sp>
        <p:nvSpPr>
          <p:cNvPr id="34" name="text 34"/>
          <p:cNvSpPr/>
          <p:nvPr/>
        </p:nvSpPr>
        <p:spPr>
          <a:xfrm>
            <a:off x="3093720" y="4203700"/>
            <a:ext cx="4216400" cy="6477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Reviewed issue → optional tracked work</a:t>
            </a:r>
            <a:endParaRPr lang="en-US" sz="1550"/>
          </a:p>
        </p:txBody>
      </p:sp>
      <p:cxnSp>
        <p:nvCxnSpPr>
          <p:cNvPr id="35" name="connector 35"/>
          <p:cNvCxnSpPr/>
          <p:nvPr/>
        </p:nvCxnSpPr>
        <p:spPr>
          <a:xfrm>
            <a:off x="2966720" y="4902200"/>
            <a:ext cx="4470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7437120" y="4152900"/>
            <a:ext cx="4246880" cy="749300"/>
          </a:xfrm>
          <a:prstGeom prst="rect">
            <a:avLst/>
          </a:prstGeom>
          <a:solidFill>
            <a:srgbClr val="FFFFFF"/>
          </a:solidFill>
          <a:ln>
            <a:noFill/>
          </a:ln>
        </p:spPr>
      </p:sp>
      <p:sp>
        <p:nvSpPr>
          <p:cNvPr id="37" name="text 37"/>
          <p:cNvSpPr/>
          <p:nvPr/>
        </p:nvSpPr>
        <p:spPr>
          <a:xfrm>
            <a:off x="7564120" y="4203700"/>
            <a:ext cx="3992880" cy="6477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Owner, priority, target date; recorded by</a:t>
            </a:r>
            <a:endParaRPr lang="en-US" sz="1550"/>
          </a:p>
          <a:p>
            <a:pPr algn="l">
              <a:lnSpc>
                <a:spcPts val="1767"/>
              </a:lnSpc>
              <a:spcAft>
                <a:spcPts val="0"/>
              </a:spcAft>
            </a:pPr>
            <a:r>
              <a:rPr lang="en-US" sz="1550" b="0" dirty="0">
                <a:solidFill>
                  <a:srgbClr val="181C23"/>
                </a:solidFill>
                <a:latin typeface="Funnel Sans"/>
              </a:rPr>
              <a:t>user</a:t>
            </a:r>
            <a:endParaRPr lang="en-US" sz="1550"/>
          </a:p>
        </p:txBody>
      </p:sp>
      <p:cxnSp>
        <p:nvCxnSpPr>
          <p:cNvPr id="38" name="connector 38"/>
          <p:cNvCxnSpPr/>
          <p:nvPr/>
        </p:nvCxnSpPr>
        <p:spPr>
          <a:xfrm>
            <a:off x="7437120" y="49022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902200"/>
            <a:ext cx="2458720" cy="749300"/>
          </a:xfrm>
          <a:prstGeom prst="rect">
            <a:avLst/>
          </a:prstGeom>
          <a:solidFill>
            <a:srgbClr val="EFEEE9"/>
          </a:solidFill>
          <a:ln>
            <a:noFill/>
          </a:ln>
        </p:spPr>
      </p:sp>
      <p:sp>
        <p:nvSpPr>
          <p:cNvPr id="40" name="text 40"/>
          <p:cNvSpPr/>
          <p:nvPr/>
        </p:nvSpPr>
        <p:spPr>
          <a:xfrm>
            <a:off x="635000" y="4953000"/>
            <a:ext cx="2204720" cy="64770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8 Investigate</a:t>
            </a:r>
            <a:endParaRPr lang="en-US" sz="1550"/>
          </a:p>
          <a:p>
            <a:pPr algn="l">
              <a:lnSpc>
                <a:spcPts val="1767"/>
              </a:lnSpc>
              <a:spcAft>
                <a:spcPts val="0"/>
              </a:spcAft>
            </a:pPr>
            <a:r>
              <a:rPr lang="en-US" sz="1550" b="1" dirty="0">
                <a:solidFill>
                  <a:srgbClr val="181C23"/>
                </a:solidFill>
                <a:latin typeface="Funnel Sans"/>
              </a:rPr>
              <a:t>Analyst / SME</a:t>
            </a:r>
            <a:endParaRPr lang="en-US" sz="1550"/>
          </a:p>
        </p:txBody>
      </p:sp>
      <p:cxnSp>
        <p:nvCxnSpPr>
          <p:cNvPr id="41" name="connector 41"/>
          <p:cNvCxnSpPr/>
          <p:nvPr/>
        </p:nvCxnSpPr>
        <p:spPr>
          <a:xfrm>
            <a:off x="508000" y="5651500"/>
            <a:ext cx="2458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2966720" y="4902200"/>
            <a:ext cx="4470400" cy="749300"/>
          </a:xfrm>
          <a:prstGeom prst="rect">
            <a:avLst/>
          </a:prstGeom>
          <a:solidFill>
            <a:srgbClr val="EFEEE9"/>
          </a:solidFill>
          <a:ln>
            <a:noFill/>
          </a:ln>
        </p:spPr>
      </p:sp>
      <p:sp>
        <p:nvSpPr>
          <p:cNvPr id="43" name="text 43"/>
          <p:cNvSpPr/>
          <p:nvPr/>
        </p:nvSpPr>
        <p:spPr>
          <a:xfrm>
            <a:off x="3093720" y="4953000"/>
            <a:ext cx="4216400" cy="6477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Issue evidence → looks, hypotheses,</a:t>
            </a:r>
            <a:endParaRPr lang="en-US" sz="1550"/>
          </a:p>
          <a:p>
            <a:pPr algn="l">
              <a:lnSpc>
                <a:spcPts val="1767"/>
              </a:lnSpc>
              <a:spcAft>
                <a:spcPts val="0"/>
              </a:spcAft>
            </a:pPr>
            <a:r>
              <a:rPr lang="en-US" sz="1550" b="0" dirty="0">
                <a:solidFill>
                  <a:srgbClr val="181C23"/>
                </a:solidFill>
                <a:latin typeface="Funnel Sans"/>
              </a:rPr>
              <a:t>challenge</a:t>
            </a:r>
            <a:endParaRPr lang="en-US" sz="1550"/>
          </a:p>
        </p:txBody>
      </p:sp>
      <p:cxnSp>
        <p:nvCxnSpPr>
          <p:cNvPr id="44" name="connector 44"/>
          <p:cNvCxnSpPr/>
          <p:nvPr/>
        </p:nvCxnSpPr>
        <p:spPr>
          <a:xfrm>
            <a:off x="2966720" y="5651500"/>
            <a:ext cx="4470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7437120" y="4902200"/>
            <a:ext cx="4246880" cy="749300"/>
          </a:xfrm>
          <a:prstGeom prst="rect">
            <a:avLst/>
          </a:prstGeom>
          <a:solidFill>
            <a:srgbClr val="EFEEE9"/>
          </a:solidFill>
          <a:ln>
            <a:noFill/>
          </a:ln>
        </p:spPr>
      </p:sp>
      <p:sp>
        <p:nvSpPr>
          <p:cNvPr id="46" name="text 46"/>
          <p:cNvSpPr/>
          <p:nvPr/>
        </p:nvSpPr>
        <p:spPr>
          <a:xfrm>
            <a:off x="7564120" y="4953000"/>
            <a:ext cx="3992880" cy="6477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Evidence-backed proposed conclusion;</a:t>
            </a:r>
            <a:endParaRPr lang="en-US" sz="1550"/>
          </a:p>
          <a:p>
            <a:pPr algn="l">
              <a:lnSpc>
                <a:spcPts val="1767"/>
              </a:lnSpc>
              <a:spcAft>
                <a:spcPts val="0"/>
              </a:spcAft>
            </a:pPr>
            <a:r>
              <a:rPr lang="en-US" sz="1550" b="0" dirty="0">
                <a:solidFill>
                  <a:srgbClr val="181C23"/>
                </a:solidFill>
                <a:latin typeface="Funnel Sans"/>
              </a:rPr>
              <a:t>user review</a:t>
            </a:r>
            <a:endParaRPr lang="en-US" sz="1550"/>
          </a:p>
        </p:txBody>
      </p:sp>
      <p:cxnSp>
        <p:nvCxnSpPr>
          <p:cNvPr id="47" name="connector 47"/>
          <p:cNvCxnSpPr/>
          <p:nvPr/>
        </p:nvCxnSpPr>
        <p:spPr>
          <a:xfrm>
            <a:off x="7437120" y="56515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5740400"/>
            <a:ext cx="11176000" cy="546100"/>
          </a:xfrm>
          <a:prstGeom prst="rect">
            <a:avLst/>
          </a:prstGeom>
          <a:solidFill>
            <a:srgbClr val="282A27"/>
          </a:solidFill>
          <a:ln>
            <a:noFill/>
          </a:ln>
        </p:spPr>
      </p:sp>
      <p:sp>
        <p:nvSpPr>
          <p:cNvPr id="49" name="text 49"/>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Exception: paused D04 code auto-opens deterministic VIOLATION findings when executed.</a:t>
            </a:r>
            <a:endParaRPr lang="en-US" sz="1600"/>
          </a:p>
        </p:txBody>
      </p:sp>
      <p:cxnSp>
        <p:nvCxnSpPr>
          <p:cNvPr id="50" name="connector 5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text 5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52" name="text 5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11 / 87</a:t>
            </a:r>
            <a:endParaRPr lang="en-US"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JOURNEY • 9–11</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Track remediation without overstating the closure control</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Current capabilities support follow-up; corrected-data validation remains a separate activity.</a:t>
            </a:r>
            <a:endParaRPr lang="en-US" sz="1500"/>
          </a:p>
        </p:txBody>
      </p:sp>
      <p:sp>
        <p:nvSpPr>
          <p:cNvPr id="6" name="shape 6"/>
          <p:cNvSpPr/>
          <p:nvPr/>
        </p:nvSpPr>
        <p:spPr>
          <a:xfrm>
            <a:off x="508000" y="2273300"/>
            <a:ext cx="2794000" cy="457200"/>
          </a:xfrm>
          <a:prstGeom prst="rect">
            <a:avLst/>
          </a:prstGeom>
          <a:solidFill>
            <a:srgbClr val="282A27"/>
          </a:solidFill>
          <a:ln>
            <a:noFill/>
          </a:ln>
        </p:spPr>
      </p:sp>
      <p:sp>
        <p:nvSpPr>
          <p:cNvPr id="7" name="text 7"/>
          <p:cNvSpPr/>
          <p:nvPr/>
        </p:nvSpPr>
        <p:spPr>
          <a:xfrm>
            <a:off x="635000" y="2387600"/>
            <a:ext cx="25400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Stage / persona</a:t>
            </a:r>
            <a:endParaRPr lang="en-US" sz="1200"/>
          </a:p>
        </p:txBody>
      </p:sp>
      <p:sp>
        <p:nvSpPr>
          <p:cNvPr id="8" name="shape 8"/>
          <p:cNvSpPr/>
          <p:nvPr/>
        </p:nvSpPr>
        <p:spPr>
          <a:xfrm>
            <a:off x="3302000" y="2273300"/>
            <a:ext cx="4246880" cy="457200"/>
          </a:xfrm>
          <a:prstGeom prst="rect">
            <a:avLst/>
          </a:prstGeom>
          <a:solidFill>
            <a:srgbClr val="282A27"/>
          </a:solidFill>
          <a:ln>
            <a:noFill/>
          </a:ln>
        </p:spPr>
      </p:sp>
      <p:sp>
        <p:nvSpPr>
          <p:cNvPr id="9" name="text 9"/>
          <p:cNvSpPr/>
          <p:nvPr/>
        </p:nvSpPr>
        <p:spPr>
          <a:xfrm>
            <a:off x="3429000" y="2387600"/>
            <a:ext cx="39928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Available action</a:t>
            </a:r>
            <a:endParaRPr lang="en-US" sz="1200"/>
          </a:p>
        </p:txBody>
      </p:sp>
      <p:sp>
        <p:nvSpPr>
          <p:cNvPr id="10" name="shape 10"/>
          <p:cNvSpPr/>
          <p:nvPr/>
        </p:nvSpPr>
        <p:spPr>
          <a:xfrm>
            <a:off x="7548880" y="2273300"/>
            <a:ext cx="4135120" cy="457200"/>
          </a:xfrm>
          <a:prstGeom prst="rect">
            <a:avLst/>
          </a:prstGeom>
          <a:solidFill>
            <a:srgbClr val="282A27"/>
          </a:solidFill>
          <a:ln>
            <a:noFill/>
          </a:ln>
        </p:spPr>
      </p:sp>
      <p:sp>
        <p:nvSpPr>
          <p:cNvPr id="11" name="text 11"/>
          <p:cNvSpPr/>
          <p:nvPr/>
        </p:nvSpPr>
        <p:spPr>
          <a:xfrm>
            <a:off x="7675880" y="2387600"/>
            <a:ext cx="38811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Artifact / control</a:t>
            </a:r>
            <a:endParaRPr lang="en-US" sz="1200"/>
          </a:p>
        </p:txBody>
      </p:sp>
      <p:sp>
        <p:nvSpPr>
          <p:cNvPr id="12" name="shape 12"/>
          <p:cNvSpPr/>
          <p:nvPr/>
        </p:nvSpPr>
        <p:spPr>
          <a:xfrm>
            <a:off x="508000" y="2730500"/>
            <a:ext cx="2794000" cy="842433"/>
          </a:xfrm>
          <a:prstGeom prst="rect">
            <a:avLst/>
          </a:prstGeom>
          <a:solidFill>
            <a:srgbClr val="FFFFFF"/>
          </a:solidFill>
          <a:ln>
            <a:noFill/>
          </a:ln>
        </p:spPr>
      </p:sp>
      <p:sp>
        <p:nvSpPr>
          <p:cNvPr id="13" name="text 13"/>
          <p:cNvSpPr/>
          <p:nvPr/>
        </p:nvSpPr>
        <p:spPr>
          <a:xfrm>
            <a:off x="635000" y="2781300"/>
            <a:ext cx="2540000" cy="740833"/>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9 Remediate</a:t>
            </a:r>
            <a:endParaRPr lang="en-US" sz="1700"/>
          </a:p>
          <a:p>
            <a:pPr algn="l">
              <a:lnSpc>
                <a:spcPts val="1938"/>
              </a:lnSpc>
              <a:spcAft>
                <a:spcPts val="0"/>
              </a:spcAft>
            </a:pPr>
            <a:r>
              <a:rPr lang="en-US" sz="1700" b="1" dirty="0">
                <a:solidFill>
                  <a:srgbClr val="181C23"/>
                </a:solidFill>
                <a:latin typeface="Funnel Sans"/>
              </a:rPr>
              <a:t>Assigned owner</a:t>
            </a:r>
            <a:endParaRPr lang="en-US" sz="1700"/>
          </a:p>
        </p:txBody>
      </p:sp>
      <p:cxnSp>
        <p:nvCxnSpPr>
          <p:cNvPr id="14" name="connector 14"/>
          <p:cNvCxnSpPr/>
          <p:nvPr/>
        </p:nvCxnSpPr>
        <p:spPr>
          <a:xfrm>
            <a:off x="508000" y="3572933"/>
            <a:ext cx="27940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3302000" y="2730500"/>
            <a:ext cx="4246880" cy="842433"/>
          </a:xfrm>
          <a:prstGeom prst="rect">
            <a:avLst/>
          </a:prstGeom>
          <a:solidFill>
            <a:srgbClr val="FFFFFF"/>
          </a:solidFill>
          <a:ln>
            <a:noFill/>
          </a:ln>
        </p:spPr>
      </p:sp>
      <p:sp>
        <p:nvSpPr>
          <p:cNvPr id="16" name="text 16"/>
          <p:cNvSpPr/>
          <p:nvPr/>
        </p:nvSpPr>
        <p:spPr>
          <a:xfrm>
            <a:off x="3429000" y="2781300"/>
            <a:ext cx="3992880" cy="740833"/>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Create tracked work; apply source fix</a:t>
            </a:r>
            <a:endParaRPr lang="en-US" sz="1700"/>
          </a:p>
          <a:p>
            <a:pPr algn="l">
              <a:lnSpc>
                <a:spcPts val="1938"/>
              </a:lnSpc>
              <a:spcAft>
                <a:spcPts val="0"/>
              </a:spcAft>
            </a:pPr>
            <a:r>
              <a:rPr lang="en-US" sz="1700" b="0" dirty="0">
                <a:solidFill>
                  <a:srgbClr val="181C23"/>
                </a:solidFill>
                <a:latin typeface="Funnel Sans"/>
              </a:rPr>
              <a:t>externally</a:t>
            </a:r>
            <a:endParaRPr lang="en-US" sz="1700"/>
          </a:p>
        </p:txBody>
      </p:sp>
      <p:cxnSp>
        <p:nvCxnSpPr>
          <p:cNvPr id="17" name="connector 17"/>
          <p:cNvCxnSpPr/>
          <p:nvPr/>
        </p:nvCxnSpPr>
        <p:spPr>
          <a:xfrm>
            <a:off x="3302000" y="3572933"/>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7548880" y="2730500"/>
            <a:ext cx="4135120" cy="842433"/>
          </a:xfrm>
          <a:prstGeom prst="rect">
            <a:avLst/>
          </a:prstGeom>
          <a:solidFill>
            <a:srgbClr val="FFFFFF"/>
          </a:solidFill>
          <a:ln>
            <a:noFill/>
          </a:ln>
        </p:spPr>
      </p:sp>
      <p:sp>
        <p:nvSpPr>
          <p:cNvPr id="19" name="text 19"/>
          <p:cNvSpPr/>
          <p:nvPr/>
        </p:nvSpPr>
        <p:spPr>
          <a:xfrm>
            <a:off x="7675880" y="2781300"/>
            <a:ext cx="3881120" cy="740833"/>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Tracked record implemented; source</a:t>
            </a:r>
            <a:endParaRPr lang="en-US" sz="1700"/>
          </a:p>
          <a:p>
            <a:pPr algn="l">
              <a:lnSpc>
                <a:spcPts val="1938"/>
              </a:lnSpc>
              <a:spcAft>
                <a:spcPts val="0"/>
              </a:spcAft>
            </a:pPr>
            <a:r>
              <a:rPr lang="en-US" sz="1700" b="0" dirty="0">
                <a:solidFill>
                  <a:srgbClr val="181C23"/>
                </a:solidFill>
                <a:latin typeface="Funnel Sans"/>
              </a:rPr>
              <a:t>change manual</a:t>
            </a:r>
            <a:endParaRPr lang="en-US" sz="1700"/>
          </a:p>
        </p:txBody>
      </p:sp>
      <p:cxnSp>
        <p:nvCxnSpPr>
          <p:cNvPr id="20" name="connector 20"/>
          <p:cNvCxnSpPr/>
          <p:nvPr/>
        </p:nvCxnSpPr>
        <p:spPr>
          <a:xfrm>
            <a:off x="7548880" y="3572933"/>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572933"/>
            <a:ext cx="2794000" cy="842433"/>
          </a:xfrm>
          <a:prstGeom prst="rect">
            <a:avLst/>
          </a:prstGeom>
          <a:solidFill>
            <a:srgbClr val="EFEEE9"/>
          </a:solidFill>
          <a:ln>
            <a:noFill/>
          </a:ln>
        </p:spPr>
      </p:sp>
      <p:sp>
        <p:nvSpPr>
          <p:cNvPr id="22" name="text 22"/>
          <p:cNvSpPr/>
          <p:nvPr/>
        </p:nvSpPr>
        <p:spPr>
          <a:xfrm>
            <a:off x="635000" y="3623733"/>
            <a:ext cx="2540000" cy="740833"/>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10 Validate</a:t>
            </a:r>
            <a:endParaRPr lang="en-US" sz="1700"/>
          </a:p>
          <a:p>
            <a:pPr algn="l">
              <a:lnSpc>
                <a:spcPts val="1938"/>
              </a:lnSpc>
              <a:spcAft>
                <a:spcPts val="0"/>
              </a:spcAft>
            </a:pPr>
            <a:r>
              <a:rPr lang="en-US" sz="1700" b="1" dirty="0">
                <a:solidFill>
                  <a:srgbClr val="181C23"/>
                </a:solidFill>
                <a:latin typeface="Funnel Sans"/>
              </a:rPr>
              <a:t>Data + analytics teams</a:t>
            </a:r>
            <a:endParaRPr lang="en-US" sz="1700"/>
          </a:p>
        </p:txBody>
      </p:sp>
      <p:cxnSp>
        <p:nvCxnSpPr>
          <p:cNvPr id="23" name="connector 23"/>
          <p:cNvCxnSpPr/>
          <p:nvPr/>
        </p:nvCxnSpPr>
        <p:spPr>
          <a:xfrm>
            <a:off x="508000" y="4415367"/>
            <a:ext cx="27940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3302000" y="3572933"/>
            <a:ext cx="4246880" cy="842433"/>
          </a:xfrm>
          <a:prstGeom prst="rect">
            <a:avLst/>
          </a:prstGeom>
          <a:solidFill>
            <a:srgbClr val="EFEEE9"/>
          </a:solidFill>
          <a:ln>
            <a:noFill/>
          </a:ln>
        </p:spPr>
      </p:sp>
      <p:sp>
        <p:nvSpPr>
          <p:cNvPr id="25" name="text 25"/>
          <p:cNvSpPr/>
          <p:nvPr/>
        </p:nvSpPr>
        <p:spPr>
          <a:xfrm>
            <a:off x="3429000" y="3623733"/>
            <a:ext cx="3992880" cy="740833"/>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Review a new upload and launch a new</a:t>
            </a:r>
            <a:endParaRPr lang="en-US" sz="1700"/>
          </a:p>
          <a:p>
            <a:pPr algn="l">
              <a:lnSpc>
                <a:spcPts val="1938"/>
              </a:lnSpc>
              <a:spcAft>
                <a:spcPts val="0"/>
              </a:spcAft>
            </a:pPr>
            <a:r>
              <a:rPr lang="en-US" sz="1700" b="0" dirty="0">
                <a:solidFill>
                  <a:srgbClr val="181C23"/>
                </a:solidFill>
                <a:latin typeface="Funnel Sans"/>
              </a:rPr>
              <a:t>diagnostic</a:t>
            </a:r>
            <a:endParaRPr lang="en-US" sz="1700"/>
          </a:p>
        </p:txBody>
      </p:sp>
      <p:cxnSp>
        <p:nvCxnSpPr>
          <p:cNvPr id="26" name="connector 26"/>
          <p:cNvCxnSpPr/>
          <p:nvPr/>
        </p:nvCxnSpPr>
        <p:spPr>
          <a:xfrm>
            <a:off x="3302000" y="4415367"/>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7548880" y="3572933"/>
            <a:ext cx="4135120" cy="842433"/>
          </a:xfrm>
          <a:prstGeom prst="rect">
            <a:avLst/>
          </a:prstGeom>
          <a:solidFill>
            <a:srgbClr val="EFEEE9"/>
          </a:solidFill>
          <a:ln>
            <a:noFill/>
          </a:ln>
        </p:spPr>
      </p:sp>
      <p:sp>
        <p:nvSpPr>
          <p:cNvPr id="28" name="text 28"/>
          <p:cNvSpPr/>
          <p:nvPr/>
        </p:nvSpPr>
        <p:spPr>
          <a:xfrm>
            <a:off x="7675880" y="3623733"/>
            <a:ext cx="3881120" cy="740833"/>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New snapshot/run evidence; manual</a:t>
            </a:r>
            <a:endParaRPr lang="en-US" sz="1700"/>
          </a:p>
          <a:p>
            <a:pPr algn="l">
              <a:lnSpc>
                <a:spcPts val="1938"/>
              </a:lnSpc>
              <a:spcAft>
                <a:spcPts val="0"/>
              </a:spcAft>
            </a:pPr>
            <a:r>
              <a:rPr lang="en-US" sz="1700" b="0" dirty="0">
                <a:solidFill>
                  <a:srgbClr val="181C23"/>
                </a:solidFill>
                <a:latin typeface="Funnel Sans"/>
              </a:rPr>
              <a:t>reassessment</a:t>
            </a:r>
            <a:endParaRPr lang="en-US" sz="1700"/>
          </a:p>
        </p:txBody>
      </p:sp>
      <p:cxnSp>
        <p:nvCxnSpPr>
          <p:cNvPr id="29" name="connector 29"/>
          <p:cNvCxnSpPr/>
          <p:nvPr/>
        </p:nvCxnSpPr>
        <p:spPr>
          <a:xfrm>
            <a:off x="7548880" y="4415367"/>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415367"/>
            <a:ext cx="2794000" cy="842433"/>
          </a:xfrm>
          <a:prstGeom prst="rect">
            <a:avLst/>
          </a:prstGeom>
          <a:solidFill>
            <a:srgbClr val="FFFFFF"/>
          </a:solidFill>
          <a:ln>
            <a:noFill/>
          </a:ln>
        </p:spPr>
      </p:sp>
      <p:sp>
        <p:nvSpPr>
          <p:cNvPr id="31" name="text 31"/>
          <p:cNvSpPr/>
          <p:nvPr/>
        </p:nvSpPr>
        <p:spPr>
          <a:xfrm>
            <a:off x="635000" y="4466167"/>
            <a:ext cx="2540000" cy="740833"/>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11 Close / report</a:t>
            </a:r>
            <a:endParaRPr lang="en-US" sz="1700"/>
          </a:p>
          <a:p>
            <a:pPr algn="l">
              <a:lnSpc>
                <a:spcPts val="1938"/>
              </a:lnSpc>
              <a:spcAft>
                <a:spcPts val="0"/>
              </a:spcAft>
            </a:pPr>
            <a:r>
              <a:rPr lang="en-US" sz="1700" b="1" dirty="0">
                <a:solidFill>
                  <a:srgbClr val="181C23"/>
                </a:solidFill>
                <a:latin typeface="Funnel Sans"/>
              </a:rPr>
              <a:t>RCA reviewer</a:t>
            </a:r>
            <a:endParaRPr lang="en-US" sz="1700"/>
          </a:p>
        </p:txBody>
      </p:sp>
      <p:cxnSp>
        <p:nvCxnSpPr>
          <p:cNvPr id="32" name="connector 32"/>
          <p:cNvCxnSpPr/>
          <p:nvPr/>
        </p:nvCxnSpPr>
        <p:spPr>
          <a:xfrm>
            <a:off x="508000" y="5257800"/>
            <a:ext cx="27940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3302000" y="4415367"/>
            <a:ext cx="4246880" cy="842433"/>
          </a:xfrm>
          <a:prstGeom prst="rect">
            <a:avLst/>
          </a:prstGeom>
          <a:solidFill>
            <a:srgbClr val="FFFFFF"/>
          </a:solidFill>
          <a:ln>
            <a:noFill/>
          </a:ln>
        </p:spPr>
      </p:sp>
      <p:sp>
        <p:nvSpPr>
          <p:cNvPr id="34" name="text 34"/>
          <p:cNvSpPr/>
          <p:nvPr/>
        </p:nvSpPr>
        <p:spPr>
          <a:xfrm>
            <a:off x="3429000" y="4466167"/>
            <a:ext cx="3992880" cy="740833"/>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Approve identified or unresolved</a:t>
            </a:r>
            <a:endParaRPr lang="en-US" sz="1700"/>
          </a:p>
          <a:p>
            <a:pPr algn="l">
              <a:lnSpc>
                <a:spcPts val="1938"/>
              </a:lnSpc>
              <a:spcAft>
                <a:spcPts val="0"/>
              </a:spcAft>
            </a:pPr>
            <a:r>
              <a:rPr lang="en-US" sz="1700" b="0" dirty="0">
                <a:solidFill>
                  <a:srgbClr val="181C23"/>
                </a:solidFill>
                <a:latin typeface="Funnel Sans"/>
              </a:rPr>
              <a:t>conclusion</a:t>
            </a:r>
            <a:endParaRPr lang="en-US" sz="1700"/>
          </a:p>
        </p:txBody>
      </p:sp>
      <p:cxnSp>
        <p:nvCxnSpPr>
          <p:cNvPr id="35" name="connector 35"/>
          <p:cNvCxnSpPr/>
          <p:nvPr/>
        </p:nvCxnSpPr>
        <p:spPr>
          <a:xfrm>
            <a:off x="3302000" y="52578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7548880" y="4415367"/>
            <a:ext cx="4135120" cy="842433"/>
          </a:xfrm>
          <a:prstGeom prst="rect">
            <a:avLst/>
          </a:prstGeom>
          <a:solidFill>
            <a:srgbClr val="FFFFFF"/>
          </a:solidFill>
          <a:ln>
            <a:noFill/>
          </a:ln>
        </p:spPr>
      </p:sp>
      <p:sp>
        <p:nvSpPr>
          <p:cNvPr id="37" name="text 37"/>
          <p:cNvSpPr/>
          <p:nvPr/>
        </p:nvSpPr>
        <p:spPr>
          <a:xfrm>
            <a:off x="7675880" y="4466167"/>
            <a:ext cx="3881120" cy="740833"/>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RCA and managed issue close with</a:t>
            </a:r>
            <a:endParaRPr lang="en-US" sz="1700"/>
          </a:p>
          <a:p>
            <a:pPr algn="l">
              <a:lnSpc>
                <a:spcPts val="1938"/>
              </a:lnSpc>
              <a:spcAft>
                <a:spcPts val="0"/>
              </a:spcAft>
            </a:pPr>
            <a:r>
              <a:rPr lang="en-US" sz="1700" b="0" dirty="0">
                <a:solidFill>
                  <a:srgbClr val="181C23"/>
                </a:solidFill>
                <a:latin typeface="Funnel Sans"/>
              </a:rPr>
              <a:t>rationale</a:t>
            </a:r>
            <a:endParaRPr lang="en-US" sz="1700"/>
          </a:p>
        </p:txBody>
      </p:sp>
      <p:cxnSp>
        <p:nvCxnSpPr>
          <p:cNvPr id="38" name="connector 38"/>
          <p:cNvCxnSpPr/>
          <p:nvPr/>
        </p:nvCxnSpPr>
        <p:spPr>
          <a:xfrm>
            <a:off x="7548880" y="525780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5740400"/>
            <a:ext cx="11176000" cy="546100"/>
          </a:xfrm>
          <a:prstGeom prst="rect">
            <a:avLst/>
          </a:prstGeom>
          <a:solidFill>
            <a:srgbClr val="282A27"/>
          </a:solidFill>
          <a:ln>
            <a:noFill/>
          </a:ln>
        </p:spPr>
      </p:sp>
      <p:sp>
        <p:nvSpPr>
          <p:cNvPr id="40" name="text 40"/>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Proposed enterprise gate: require fresh retest evidence before declaring remediation complete.</a:t>
            </a:r>
            <a:endParaRPr lang="en-US" sz="1600"/>
          </a:p>
        </p:txBody>
      </p:sp>
      <p:cxnSp>
        <p:nvCxnSpPr>
          <p:cNvPr id="41" name="connector 41"/>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text 42"/>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3" name="text 43"/>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12 / 87</a:t>
            </a:r>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LIFECYCLE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Keep run state, finding review and issue state separate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A completed execution is different from an accepted finding or a closed investigation.</a:t>
            </a:r>
            <a:endParaRPr lang="en-US" sz="1500"/>
          </a:p>
        </p:txBody>
      </p:sp>
      <p:sp>
        <p:nvSpPr>
          <p:cNvPr id="6" name="text 6"/>
          <p:cNvSpPr/>
          <p:nvPr/>
        </p:nvSpPr>
        <p:spPr>
          <a:xfrm>
            <a:off x="508000" y="2463800"/>
            <a:ext cx="1333500" cy="342900"/>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FF4F59"/>
                </a:solidFill>
                <a:latin typeface="Funnel Sans"/>
              </a:rPr>
              <a:t>RUN</a:t>
            </a:r>
            <a:endParaRPr lang="en-US" sz="1300"/>
          </a:p>
        </p:txBody>
      </p:sp>
      <p:sp>
        <p:nvSpPr>
          <p:cNvPr id="7" name="shape 7"/>
          <p:cNvSpPr/>
          <p:nvPr/>
        </p:nvSpPr>
        <p:spPr>
          <a:xfrm>
            <a:off x="1993900" y="2247900"/>
            <a:ext cx="2895600" cy="482600"/>
          </a:xfrm>
          <a:prstGeom prst="rect">
            <a:avLst/>
          </a:prstGeom>
          <a:solidFill>
            <a:srgbClr val="FFFFFF"/>
          </a:solidFill>
          <a:ln w="12700">
            <a:solidFill>
              <a:srgbClr val="DEDCD6"/>
            </a:solidFill>
          </a:ln>
        </p:spPr>
      </p:sp>
      <p:sp>
        <p:nvSpPr>
          <p:cNvPr id="8" name="text 8"/>
          <p:cNvSpPr/>
          <p:nvPr/>
        </p:nvSpPr>
        <p:spPr>
          <a:xfrm>
            <a:off x="2120900" y="23749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draft</a:t>
            </a:r>
            <a:endParaRPr lang="en-US" sz="1700"/>
          </a:p>
        </p:txBody>
      </p:sp>
      <p:cxnSp>
        <p:nvCxnSpPr>
          <p:cNvPr id="9" name="connector 9"/>
          <p:cNvCxnSpPr/>
          <p:nvPr/>
        </p:nvCxnSpPr>
        <p:spPr>
          <a:xfrm>
            <a:off x="4902200" y="2489200"/>
            <a:ext cx="165100" cy="0"/>
          </a:xfrm>
          <a:prstGeom prst="line">
            <a:avLst/>
          </a:prstGeom>
          <a:ln w="1905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0" name="shape 10"/>
          <p:cNvSpPr/>
          <p:nvPr/>
        </p:nvSpPr>
        <p:spPr>
          <a:xfrm>
            <a:off x="5130800" y="2247900"/>
            <a:ext cx="2895600" cy="482600"/>
          </a:xfrm>
          <a:prstGeom prst="rect">
            <a:avLst/>
          </a:prstGeom>
          <a:solidFill>
            <a:srgbClr val="FFFFFF"/>
          </a:solidFill>
          <a:ln w="12700">
            <a:solidFill>
              <a:srgbClr val="DEDCD6"/>
            </a:solidFill>
          </a:ln>
        </p:spPr>
      </p:sp>
      <p:sp>
        <p:nvSpPr>
          <p:cNvPr id="11" name="text 11"/>
          <p:cNvSpPr/>
          <p:nvPr/>
        </p:nvSpPr>
        <p:spPr>
          <a:xfrm>
            <a:off x="5257800" y="23749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running</a:t>
            </a:r>
            <a:endParaRPr lang="en-US" sz="1700"/>
          </a:p>
        </p:txBody>
      </p:sp>
      <p:cxnSp>
        <p:nvCxnSpPr>
          <p:cNvPr id="12" name="connector 12"/>
          <p:cNvCxnSpPr/>
          <p:nvPr/>
        </p:nvCxnSpPr>
        <p:spPr>
          <a:xfrm>
            <a:off x="8039100" y="2489200"/>
            <a:ext cx="165100" cy="0"/>
          </a:xfrm>
          <a:prstGeom prst="line">
            <a:avLst/>
          </a:prstGeom>
          <a:ln w="1905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8267700" y="2247900"/>
            <a:ext cx="2895600" cy="482600"/>
          </a:xfrm>
          <a:prstGeom prst="rect">
            <a:avLst/>
          </a:prstGeom>
          <a:solidFill>
            <a:srgbClr val="FFFFFF"/>
          </a:solidFill>
          <a:ln w="12700">
            <a:solidFill>
              <a:srgbClr val="DEDCD6"/>
            </a:solidFill>
          </a:ln>
        </p:spPr>
      </p:sp>
      <p:sp>
        <p:nvSpPr>
          <p:cNvPr id="14" name="text 14"/>
          <p:cNvSpPr/>
          <p:nvPr/>
        </p:nvSpPr>
        <p:spPr>
          <a:xfrm>
            <a:off x="8394700" y="23749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done / failed</a:t>
            </a:r>
            <a:endParaRPr lang="en-US" sz="1700"/>
          </a:p>
        </p:txBody>
      </p:sp>
      <p:sp>
        <p:nvSpPr>
          <p:cNvPr id="15" name="text 15"/>
          <p:cNvSpPr/>
          <p:nvPr/>
        </p:nvSpPr>
        <p:spPr>
          <a:xfrm>
            <a:off x="1993900" y="2832100"/>
            <a:ext cx="9118600" cy="3048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6D706B"/>
                </a:solidFill>
                <a:latin typeface="Funnel Sans"/>
              </a:rPr>
              <a:t>A draft may be discarded. Frozen history is retained.</a:t>
            </a:r>
            <a:endParaRPr lang="en-US" sz="1300"/>
          </a:p>
        </p:txBody>
      </p:sp>
      <p:sp>
        <p:nvSpPr>
          <p:cNvPr id="16" name="text 16"/>
          <p:cNvSpPr/>
          <p:nvPr/>
        </p:nvSpPr>
        <p:spPr>
          <a:xfrm>
            <a:off x="508000" y="3556000"/>
            <a:ext cx="1333500" cy="342900"/>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FF4F59"/>
                </a:solidFill>
                <a:latin typeface="Funnel Sans"/>
              </a:rPr>
              <a:t>FINDING</a:t>
            </a:r>
            <a:endParaRPr lang="en-US" sz="1300"/>
          </a:p>
        </p:txBody>
      </p:sp>
      <p:sp>
        <p:nvSpPr>
          <p:cNvPr id="17" name="shape 17"/>
          <p:cNvSpPr/>
          <p:nvPr/>
        </p:nvSpPr>
        <p:spPr>
          <a:xfrm>
            <a:off x="1993900" y="3340100"/>
            <a:ext cx="2895600" cy="482600"/>
          </a:xfrm>
          <a:prstGeom prst="rect">
            <a:avLst/>
          </a:prstGeom>
          <a:solidFill>
            <a:srgbClr val="FFFFFF"/>
          </a:solidFill>
          <a:ln w="12700">
            <a:solidFill>
              <a:srgbClr val="DEDCD6"/>
            </a:solidFill>
          </a:ln>
        </p:spPr>
      </p:sp>
      <p:sp>
        <p:nvSpPr>
          <p:cNvPr id="18" name="text 18"/>
          <p:cNvSpPr/>
          <p:nvPr/>
        </p:nvSpPr>
        <p:spPr>
          <a:xfrm>
            <a:off x="2120900" y="34671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open</a:t>
            </a:r>
            <a:endParaRPr lang="en-US" sz="1700"/>
          </a:p>
        </p:txBody>
      </p:sp>
      <p:cxnSp>
        <p:nvCxnSpPr>
          <p:cNvPr id="19" name="connector 19"/>
          <p:cNvCxnSpPr/>
          <p:nvPr/>
        </p:nvCxnSpPr>
        <p:spPr>
          <a:xfrm>
            <a:off x="4902200" y="3581400"/>
            <a:ext cx="165100" cy="0"/>
          </a:xfrm>
          <a:prstGeom prst="line">
            <a:avLst/>
          </a:prstGeom>
          <a:ln w="1905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5130800" y="3340100"/>
            <a:ext cx="2895600" cy="482600"/>
          </a:xfrm>
          <a:prstGeom prst="rect">
            <a:avLst/>
          </a:prstGeom>
          <a:solidFill>
            <a:srgbClr val="FFFFFF"/>
          </a:solidFill>
          <a:ln w="12700">
            <a:solidFill>
              <a:srgbClr val="DEDCD6"/>
            </a:solidFill>
          </a:ln>
        </p:spPr>
      </p:sp>
      <p:sp>
        <p:nvSpPr>
          <p:cNvPr id="21" name="text 21"/>
          <p:cNvSpPr/>
          <p:nvPr/>
        </p:nvSpPr>
        <p:spPr>
          <a:xfrm>
            <a:off x="5257800" y="34671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confirmed / dismissed</a:t>
            </a:r>
            <a:endParaRPr lang="en-US" sz="1700"/>
          </a:p>
        </p:txBody>
      </p:sp>
      <p:cxnSp>
        <p:nvCxnSpPr>
          <p:cNvPr id="22" name="connector 22"/>
          <p:cNvCxnSpPr/>
          <p:nvPr/>
        </p:nvCxnSpPr>
        <p:spPr>
          <a:xfrm>
            <a:off x="8039100" y="3581400"/>
            <a:ext cx="165100" cy="0"/>
          </a:xfrm>
          <a:prstGeom prst="line">
            <a:avLst/>
          </a:prstGeom>
          <a:ln w="1905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8267700" y="3340100"/>
            <a:ext cx="2895600" cy="482600"/>
          </a:xfrm>
          <a:prstGeom prst="rect">
            <a:avLst/>
          </a:prstGeom>
          <a:solidFill>
            <a:srgbClr val="FFFFFF"/>
          </a:solidFill>
          <a:ln w="12700">
            <a:solidFill>
              <a:srgbClr val="DEDCD6"/>
            </a:solidFill>
          </a:ln>
        </p:spPr>
      </p:sp>
      <p:sp>
        <p:nvSpPr>
          <p:cNvPr id="24" name="text 24"/>
          <p:cNvSpPr/>
          <p:nvPr/>
        </p:nvSpPr>
        <p:spPr>
          <a:xfrm>
            <a:off x="8394700" y="34671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linked issue</a:t>
            </a:r>
            <a:endParaRPr lang="en-US" sz="1700"/>
          </a:p>
        </p:txBody>
      </p:sp>
      <p:sp>
        <p:nvSpPr>
          <p:cNvPr id="25" name="text 25"/>
          <p:cNvSpPr/>
          <p:nvPr/>
        </p:nvSpPr>
        <p:spPr>
          <a:xfrm>
            <a:off x="1993900" y="3924300"/>
            <a:ext cx="9118600" cy="3048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6D706B"/>
                </a:solidFill>
                <a:latin typeface="Funnel Sans"/>
              </a:rPr>
              <a:t>A review decision remains separate from the calculated result.</a:t>
            </a:r>
            <a:endParaRPr lang="en-US" sz="1300"/>
          </a:p>
        </p:txBody>
      </p:sp>
      <p:sp>
        <p:nvSpPr>
          <p:cNvPr id="26" name="text 26"/>
          <p:cNvSpPr/>
          <p:nvPr/>
        </p:nvSpPr>
        <p:spPr>
          <a:xfrm>
            <a:off x="508000" y="4648200"/>
            <a:ext cx="1333500" cy="342900"/>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FF4F59"/>
                </a:solidFill>
                <a:latin typeface="Funnel Sans"/>
              </a:rPr>
              <a:t>ISSUE</a:t>
            </a:r>
            <a:endParaRPr lang="en-US" sz="1300"/>
          </a:p>
        </p:txBody>
      </p:sp>
      <p:sp>
        <p:nvSpPr>
          <p:cNvPr id="27" name="shape 27"/>
          <p:cNvSpPr/>
          <p:nvPr/>
        </p:nvSpPr>
        <p:spPr>
          <a:xfrm>
            <a:off x="1993900" y="4432300"/>
            <a:ext cx="2895600" cy="482600"/>
          </a:xfrm>
          <a:prstGeom prst="rect">
            <a:avLst/>
          </a:prstGeom>
          <a:solidFill>
            <a:srgbClr val="FFFFFF"/>
          </a:solidFill>
          <a:ln w="12700">
            <a:solidFill>
              <a:srgbClr val="DEDCD6"/>
            </a:solidFill>
          </a:ln>
        </p:spPr>
      </p:sp>
      <p:sp>
        <p:nvSpPr>
          <p:cNvPr id="28" name="text 28"/>
          <p:cNvSpPr/>
          <p:nvPr/>
        </p:nvSpPr>
        <p:spPr>
          <a:xfrm>
            <a:off x="2120900" y="45593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Open</a:t>
            </a:r>
            <a:endParaRPr lang="en-US" sz="1700"/>
          </a:p>
        </p:txBody>
      </p:sp>
      <p:cxnSp>
        <p:nvCxnSpPr>
          <p:cNvPr id="29" name="connector 29"/>
          <p:cNvCxnSpPr/>
          <p:nvPr/>
        </p:nvCxnSpPr>
        <p:spPr>
          <a:xfrm>
            <a:off x="4902200" y="4673600"/>
            <a:ext cx="165100" cy="0"/>
          </a:xfrm>
          <a:prstGeom prst="line">
            <a:avLst/>
          </a:prstGeom>
          <a:ln w="1905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130800" y="4432300"/>
            <a:ext cx="2895600" cy="482600"/>
          </a:xfrm>
          <a:prstGeom prst="rect">
            <a:avLst/>
          </a:prstGeom>
          <a:solidFill>
            <a:srgbClr val="FFFFFF"/>
          </a:solidFill>
          <a:ln w="12700">
            <a:solidFill>
              <a:srgbClr val="DEDCD6"/>
            </a:solidFill>
          </a:ln>
        </p:spPr>
      </p:sp>
      <p:sp>
        <p:nvSpPr>
          <p:cNvPr id="31" name="text 31"/>
          <p:cNvSpPr/>
          <p:nvPr/>
        </p:nvSpPr>
        <p:spPr>
          <a:xfrm>
            <a:off x="5257800" y="45593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In RCA / Escalated</a:t>
            </a:r>
            <a:endParaRPr lang="en-US" sz="1700"/>
          </a:p>
        </p:txBody>
      </p:sp>
      <p:cxnSp>
        <p:nvCxnSpPr>
          <p:cNvPr id="32" name="connector 32"/>
          <p:cNvCxnSpPr/>
          <p:nvPr/>
        </p:nvCxnSpPr>
        <p:spPr>
          <a:xfrm>
            <a:off x="8039100" y="4673600"/>
            <a:ext cx="165100" cy="0"/>
          </a:xfrm>
          <a:prstGeom prst="line">
            <a:avLst/>
          </a:prstGeom>
          <a:ln w="1905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8267700" y="4432300"/>
            <a:ext cx="2895600" cy="482600"/>
          </a:xfrm>
          <a:prstGeom prst="rect">
            <a:avLst/>
          </a:prstGeom>
          <a:solidFill>
            <a:srgbClr val="FFFFFF"/>
          </a:solidFill>
          <a:ln w="12700">
            <a:solidFill>
              <a:srgbClr val="DEDCD6"/>
            </a:solidFill>
          </a:ln>
        </p:spPr>
      </p:sp>
      <p:sp>
        <p:nvSpPr>
          <p:cNvPr id="34" name="text 34"/>
          <p:cNvSpPr/>
          <p:nvPr/>
        </p:nvSpPr>
        <p:spPr>
          <a:xfrm>
            <a:off x="8394700" y="4559300"/>
            <a:ext cx="2641600" cy="3175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Closed</a:t>
            </a:r>
            <a:endParaRPr lang="en-US" sz="1700"/>
          </a:p>
        </p:txBody>
      </p:sp>
      <p:sp>
        <p:nvSpPr>
          <p:cNvPr id="35" name="text 35"/>
          <p:cNvSpPr/>
          <p:nvPr/>
        </p:nvSpPr>
        <p:spPr>
          <a:xfrm>
            <a:off x="1993900" y="5016500"/>
            <a:ext cx="9118600" cy="3048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6D706B"/>
                </a:solidFill>
                <a:latin typeface="Funnel Sans"/>
              </a:rPr>
              <a:t>Closure records rationale or an approved RCA conclusion.</a:t>
            </a:r>
            <a:endParaRPr lang="en-US" sz="1300"/>
          </a:p>
        </p:txBody>
      </p:sp>
      <p:sp>
        <p:nvSpPr>
          <p:cNvPr id="36" name="shape 36"/>
          <p:cNvSpPr/>
          <p:nvPr/>
        </p:nvSpPr>
        <p:spPr>
          <a:xfrm>
            <a:off x="508000" y="5740400"/>
            <a:ext cx="11176000" cy="546100"/>
          </a:xfrm>
          <a:prstGeom prst="rect">
            <a:avLst/>
          </a:prstGeom>
          <a:solidFill>
            <a:srgbClr val="282A27"/>
          </a:solidFill>
          <a:ln>
            <a:noFill/>
          </a:ln>
        </p:spPr>
      </p:sp>
      <p:sp>
        <p:nvSpPr>
          <p:cNvPr id="37" name="text 3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No result is silently rewritten by a later disposition, fix handoff or new upload.</a:t>
            </a:r>
            <a:endParaRPr lang="en-US" sz="1600"/>
          </a:p>
        </p:txBody>
      </p:sp>
      <p:cxnSp>
        <p:nvCxnSpPr>
          <p:cNvPr id="38" name="connector 3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text 3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0" name="text 4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13 / 87</a:t>
            </a:r>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REVIEW</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Distinguish evidence, findings and issues in every handoff</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Use the same terms across diagnostics, analytics and remediation.</a:t>
            </a:r>
            <a:endParaRPr lang="en-US" sz="1500"/>
          </a:p>
        </p:txBody>
      </p:sp>
      <p:sp>
        <p:nvSpPr>
          <p:cNvPr id="6" name="shape 6"/>
          <p:cNvSpPr/>
          <p:nvPr/>
        </p:nvSpPr>
        <p:spPr>
          <a:xfrm>
            <a:off x="508000" y="2222500"/>
            <a:ext cx="3589867" cy="3200400"/>
          </a:xfrm>
          <a:prstGeom prst="rect">
            <a:avLst/>
          </a:prstGeom>
          <a:solidFill>
            <a:srgbClr val="FFFFFF"/>
          </a:solidFill>
          <a:ln w="12700">
            <a:solidFill>
              <a:srgbClr val="DEDCD6"/>
            </a:solidFill>
          </a:ln>
        </p:spPr>
      </p:sp>
      <p:sp>
        <p:nvSpPr>
          <p:cNvPr id="7" name="shape 7"/>
          <p:cNvSpPr/>
          <p:nvPr/>
        </p:nvSpPr>
        <p:spPr>
          <a:xfrm>
            <a:off x="508000" y="2222500"/>
            <a:ext cx="38100" cy="3200400"/>
          </a:xfrm>
          <a:prstGeom prst="rect">
            <a:avLst/>
          </a:prstGeom>
          <a:solidFill>
            <a:srgbClr val="FF4F59"/>
          </a:solidFill>
          <a:ln>
            <a:noFill/>
          </a:ln>
        </p:spPr>
      </p:sp>
      <p:sp>
        <p:nvSpPr>
          <p:cNvPr id="8" name="shape 8"/>
          <p:cNvSpPr/>
          <p:nvPr/>
        </p:nvSpPr>
        <p:spPr>
          <a:xfrm>
            <a:off x="736600" y="2413000"/>
            <a:ext cx="292100" cy="342900"/>
          </a:xfrm>
          <a:prstGeom prst="rect">
            <a:avLst/>
          </a:prstGeom>
          <a:noFill/>
          <a:ln w="12700">
            <a:solidFill>
              <a:srgbClr val="FF4F59"/>
            </a:solidFill>
          </a:ln>
        </p:spPr>
      </p:sp>
      <p:cxnSp>
        <p:nvCxnSpPr>
          <p:cNvPr id="9" name="connector 9"/>
          <p:cNvCxnSpPr/>
          <p:nvPr/>
        </p:nvCxnSpPr>
        <p:spPr>
          <a:xfrm>
            <a:off x="800100"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0" name="connector 10"/>
          <p:cNvCxnSpPr/>
          <p:nvPr/>
        </p:nvCxnSpPr>
        <p:spPr>
          <a:xfrm>
            <a:off x="800100"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1" name="connector 11"/>
          <p:cNvCxnSpPr/>
          <p:nvPr/>
        </p:nvCxnSpPr>
        <p:spPr>
          <a:xfrm>
            <a:off x="800100"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12" name="text 12"/>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Evidence</a:t>
            </a:r>
            <a:endParaRPr lang="en-US" sz="1900"/>
          </a:p>
        </p:txBody>
      </p:sp>
      <p:sp>
        <p:nvSpPr>
          <p:cNvPr id="13" name="text 13"/>
          <p:cNvSpPr/>
          <p:nvPr/>
        </p:nvSpPr>
        <p:spPr>
          <a:xfrm>
            <a:off x="723900" y="3187700"/>
            <a:ext cx="3158067" cy="4826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FF4F59"/>
                </a:solidFill>
                <a:latin typeface="Funnel Sans"/>
              </a:rPr>
              <a:t>WHAT WAS OBSERVED</a:t>
            </a:r>
            <a:endParaRPr lang="en-US" sz="1250"/>
          </a:p>
        </p:txBody>
      </p:sp>
      <p:sp>
        <p:nvSpPr>
          <p:cNvPr id="14" name="text 14"/>
          <p:cNvSpPr/>
          <p:nvPr/>
        </p:nvSpPr>
        <p:spPr>
          <a:xfrm>
            <a:off x="723900" y="3733800"/>
            <a:ext cx="3158067" cy="14986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Measured outputs and</a:t>
            </a:r>
            <a:endParaRPr lang="en-US" sz="1700"/>
          </a:p>
          <a:p>
            <a:pPr algn="l">
              <a:lnSpc>
                <a:spcPts val="1938"/>
              </a:lnSpc>
              <a:spcAft>
                <a:spcPts val="0"/>
              </a:spcAft>
            </a:pPr>
            <a:r>
              <a:rPr lang="en-US" sz="1700" b="0" dirty="0">
                <a:solidFill>
                  <a:srgbClr val="181C23"/>
                </a:solidFill>
                <a:latin typeface="Funnel Sans"/>
              </a:rPr>
              <a:t>provenance: snapshot,</a:t>
            </a:r>
            <a:endParaRPr lang="en-US" sz="1700"/>
          </a:p>
          <a:p>
            <a:pPr algn="l">
              <a:lnSpc>
                <a:spcPts val="1938"/>
              </a:lnSpc>
              <a:spcAft>
                <a:spcPts val="0"/>
              </a:spcAft>
            </a:pPr>
            <a:r>
              <a:rPr lang="en-US" sz="1700" b="0" dirty="0">
                <a:solidFill>
                  <a:srgbClr val="181C23"/>
                </a:solidFill>
                <a:latin typeface="Funnel Sans"/>
              </a:rPr>
              <a:t>manifest, thresholds, charts</a:t>
            </a:r>
            <a:endParaRPr lang="en-US" sz="1700"/>
          </a:p>
          <a:p>
            <a:pPr algn="l">
              <a:lnSpc>
                <a:spcPts val="1938"/>
              </a:lnSpc>
              <a:spcAft>
                <a:spcPts val="0"/>
              </a:spcAft>
            </a:pPr>
            <a:r>
              <a:rPr lang="en-US" sz="1700" b="0" dirty="0">
                <a:solidFill>
                  <a:srgbClr val="181C23"/>
                </a:solidFill>
                <a:latin typeface="Funnel Sans"/>
              </a:rPr>
              <a:t>and artifacts.</a:t>
            </a:r>
            <a:endParaRPr lang="en-US" sz="1700"/>
          </a:p>
        </p:txBody>
      </p:sp>
      <p:sp>
        <p:nvSpPr>
          <p:cNvPr id="15" name="shape 15"/>
          <p:cNvSpPr/>
          <p:nvPr/>
        </p:nvSpPr>
        <p:spPr>
          <a:xfrm>
            <a:off x="4301067" y="2222500"/>
            <a:ext cx="3589867" cy="3200400"/>
          </a:xfrm>
          <a:prstGeom prst="rect">
            <a:avLst/>
          </a:prstGeom>
          <a:solidFill>
            <a:srgbClr val="FFFFFF"/>
          </a:solidFill>
          <a:ln w="12700">
            <a:solidFill>
              <a:srgbClr val="DEDCD6"/>
            </a:solidFill>
          </a:ln>
        </p:spPr>
      </p:sp>
      <p:sp>
        <p:nvSpPr>
          <p:cNvPr id="16" name="shape 16"/>
          <p:cNvSpPr/>
          <p:nvPr/>
        </p:nvSpPr>
        <p:spPr>
          <a:xfrm>
            <a:off x="4301067" y="2222500"/>
            <a:ext cx="38100" cy="3200400"/>
          </a:xfrm>
          <a:prstGeom prst="rect">
            <a:avLst/>
          </a:prstGeom>
          <a:solidFill>
            <a:srgbClr val="FF4F59"/>
          </a:solidFill>
          <a:ln>
            <a:noFill/>
          </a:ln>
        </p:spPr>
      </p:sp>
      <p:sp>
        <p:nvSpPr>
          <p:cNvPr id="17" name="shape 17"/>
          <p:cNvSpPr/>
          <p:nvPr/>
        </p:nvSpPr>
        <p:spPr>
          <a:xfrm>
            <a:off x="4504267" y="2413000"/>
            <a:ext cx="241300" cy="241300"/>
          </a:xfrm>
          <a:prstGeom prst="ellipse">
            <a:avLst/>
          </a:prstGeom>
          <a:noFill/>
          <a:ln w="22860">
            <a:solidFill>
              <a:srgbClr val="FF4F59"/>
            </a:solidFill>
          </a:ln>
        </p:spPr>
      </p:sp>
      <p:cxnSp>
        <p:nvCxnSpPr>
          <p:cNvPr id="18" name="connector 18"/>
          <p:cNvCxnSpPr/>
          <p:nvPr/>
        </p:nvCxnSpPr>
        <p:spPr>
          <a:xfrm>
            <a:off x="4707467" y="26162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19" name="text 19"/>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Finding</a:t>
            </a:r>
            <a:endParaRPr lang="en-US" sz="1900"/>
          </a:p>
        </p:txBody>
      </p:sp>
      <p:sp>
        <p:nvSpPr>
          <p:cNvPr id="20" name="text 20"/>
          <p:cNvSpPr/>
          <p:nvPr/>
        </p:nvSpPr>
        <p:spPr>
          <a:xfrm>
            <a:off x="4516967" y="3187700"/>
            <a:ext cx="3158067" cy="4826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FF4F59"/>
                </a:solidFill>
                <a:latin typeface="Funnel Sans"/>
              </a:rPr>
              <a:t>WHAT NEEDS REVIEW</a:t>
            </a:r>
            <a:endParaRPr lang="en-US" sz="1250"/>
          </a:p>
        </p:txBody>
      </p:sp>
      <p:sp>
        <p:nvSpPr>
          <p:cNvPr id="21" name="text 21"/>
          <p:cNvSpPr/>
          <p:nvPr/>
        </p:nvSpPr>
        <p:spPr>
          <a:xfrm>
            <a:off x="4516967" y="3733800"/>
            <a:ext cx="3158067" cy="14986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rule outcome or contextual</a:t>
            </a:r>
            <a:endParaRPr lang="en-US" sz="1700"/>
          </a:p>
          <a:p>
            <a:pPr algn="l">
              <a:lnSpc>
                <a:spcPts val="1938"/>
              </a:lnSpc>
              <a:spcAft>
                <a:spcPts val="0"/>
              </a:spcAft>
            </a:pPr>
            <a:r>
              <a:rPr lang="en-US" sz="1700" b="0" dirty="0">
                <a:solidFill>
                  <a:srgbClr val="181C23"/>
                </a:solidFill>
                <a:latin typeface="Funnel Sans"/>
              </a:rPr>
              <a:t>review prompt, linked to the</a:t>
            </a:r>
            <a:endParaRPr lang="en-US" sz="1700"/>
          </a:p>
          <a:p>
            <a:pPr algn="l">
              <a:lnSpc>
                <a:spcPts val="1938"/>
              </a:lnSpc>
              <a:spcAft>
                <a:spcPts val="0"/>
              </a:spcAft>
            </a:pPr>
            <a:r>
              <a:rPr lang="en-US" sz="1700" b="0" dirty="0">
                <a:solidFill>
                  <a:srgbClr val="181C23"/>
                </a:solidFill>
                <a:latin typeface="Funnel Sans"/>
              </a:rPr>
              <a:t>evidence that produced it.</a:t>
            </a:r>
            <a:endParaRPr lang="en-US" sz="1700"/>
          </a:p>
        </p:txBody>
      </p:sp>
      <p:sp>
        <p:nvSpPr>
          <p:cNvPr id="22" name="shape 22"/>
          <p:cNvSpPr/>
          <p:nvPr/>
        </p:nvSpPr>
        <p:spPr>
          <a:xfrm>
            <a:off x="8094133" y="2222500"/>
            <a:ext cx="3589867" cy="3200400"/>
          </a:xfrm>
          <a:prstGeom prst="rect">
            <a:avLst/>
          </a:prstGeom>
          <a:solidFill>
            <a:srgbClr val="FFFFFF"/>
          </a:solidFill>
          <a:ln w="12700">
            <a:solidFill>
              <a:srgbClr val="DEDCD6"/>
            </a:solidFill>
          </a:ln>
        </p:spPr>
      </p:sp>
      <p:sp>
        <p:nvSpPr>
          <p:cNvPr id="23" name="shape 23"/>
          <p:cNvSpPr/>
          <p:nvPr/>
        </p:nvSpPr>
        <p:spPr>
          <a:xfrm>
            <a:off x="8094133" y="2222500"/>
            <a:ext cx="38100" cy="3200400"/>
          </a:xfrm>
          <a:prstGeom prst="rect">
            <a:avLst/>
          </a:prstGeom>
          <a:solidFill>
            <a:srgbClr val="FF4F59"/>
          </a:solidFill>
          <a:ln>
            <a:noFill/>
          </a:ln>
        </p:spPr>
      </p:sp>
      <p:sp>
        <p:nvSpPr>
          <p:cNvPr id="24" name="shape 24"/>
          <p:cNvSpPr/>
          <p:nvPr/>
        </p:nvSpPr>
        <p:spPr>
          <a:xfrm>
            <a:off x="8297333" y="2413000"/>
            <a:ext cx="342900" cy="342900"/>
          </a:xfrm>
          <a:prstGeom prst="hexagon">
            <a:avLst/>
          </a:prstGeom>
          <a:noFill/>
          <a:ln w="21590">
            <a:solidFill>
              <a:srgbClr val="FF4F59"/>
            </a:solidFill>
          </a:ln>
        </p:spPr>
      </p:sp>
      <p:sp>
        <p:nvSpPr>
          <p:cNvPr id="25" name="text 25"/>
          <p:cNvSpPr/>
          <p:nvPr/>
        </p:nvSpPr>
        <p:spPr>
          <a:xfrm>
            <a:off x="8411633" y="24511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6" name="text 26"/>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Issue</a:t>
            </a:r>
            <a:endParaRPr lang="en-US" sz="1900"/>
          </a:p>
        </p:txBody>
      </p:sp>
      <p:sp>
        <p:nvSpPr>
          <p:cNvPr id="27" name="text 27"/>
          <p:cNvSpPr/>
          <p:nvPr/>
        </p:nvSpPr>
        <p:spPr>
          <a:xfrm>
            <a:off x="8310033" y="3187700"/>
            <a:ext cx="3158067" cy="482600"/>
          </a:xfrm>
          <a:prstGeom prst="rect">
            <a:avLst/>
          </a:prstGeom>
          <a:noFill/>
          <a:ln>
            <a:noFill/>
          </a:ln>
        </p:spPr>
        <p:txBody>
          <a:bodyPr wrap="none" lIns="0" tIns="0" rIns="0" bIns="0" anchor="t">
            <a:noAutofit/>
          </a:bodyPr>
          <a:lstStyle/>
          <a:p>
            <a:pPr algn="l">
              <a:lnSpc>
                <a:spcPts val="1425"/>
              </a:lnSpc>
              <a:spcAft>
                <a:spcPts val="0"/>
              </a:spcAft>
            </a:pPr>
            <a:r>
              <a:rPr lang="en-US" sz="1250" b="1" dirty="0">
                <a:solidFill>
                  <a:srgbClr val="FF4F59"/>
                </a:solidFill>
                <a:latin typeface="Funnel Sans"/>
              </a:rPr>
              <a:t>WHAT IS BEING INVESTIGATED</a:t>
            </a:r>
            <a:endParaRPr lang="en-US" sz="1250"/>
          </a:p>
        </p:txBody>
      </p:sp>
      <p:sp>
        <p:nvSpPr>
          <p:cNvPr id="28" name="text 28"/>
          <p:cNvSpPr/>
          <p:nvPr/>
        </p:nvSpPr>
        <p:spPr>
          <a:xfrm>
            <a:off x="8310033" y="3733800"/>
            <a:ext cx="3158067" cy="14986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managed record after the</a:t>
            </a:r>
            <a:endParaRPr lang="en-US" sz="1700"/>
          </a:p>
          <a:p>
            <a:pPr algn="l">
              <a:lnSpc>
                <a:spcPts val="1938"/>
              </a:lnSpc>
              <a:spcAft>
                <a:spcPts val="0"/>
              </a:spcAft>
            </a:pPr>
            <a:r>
              <a:rPr lang="en-US" sz="1700" b="0" dirty="0">
                <a:solidFill>
                  <a:srgbClr val="181C23"/>
                </a:solidFill>
                <a:latin typeface="Funnel Sans"/>
              </a:rPr>
              <a:t>required creation gate, with a</a:t>
            </a:r>
            <a:endParaRPr lang="en-US" sz="1700"/>
          </a:p>
          <a:p>
            <a:pPr algn="l">
              <a:lnSpc>
                <a:spcPts val="1938"/>
              </a:lnSpc>
              <a:spcAft>
                <a:spcPts val="0"/>
              </a:spcAft>
            </a:pPr>
            <a:r>
              <a:rPr lang="en-US" sz="1700" b="0" dirty="0">
                <a:solidFill>
                  <a:srgbClr val="181C23"/>
                </a:solidFill>
                <a:latin typeface="Funnel Sans"/>
              </a:rPr>
              <a:t>route into root-cause analysis.</a:t>
            </a:r>
            <a:endParaRPr lang="en-US" sz="1700"/>
          </a:p>
        </p:txBody>
      </p:sp>
      <p:sp>
        <p:nvSpPr>
          <p:cNvPr id="29" name="shape 29"/>
          <p:cNvSpPr/>
          <p:nvPr/>
        </p:nvSpPr>
        <p:spPr>
          <a:xfrm>
            <a:off x="508000" y="5740400"/>
            <a:ext cx="11176000" cy="546100"/>
          </a:xfrm>
          <a:prstGeom prst="rect">
            <a:avLst/>
          </a:prstGeom>
          <a:solidFill>
            <a:srgbClr val="282A27"/>
          </a:solidFill>
          <a:ln>
            <a:noFill/>
          </a:ln>
        </p:spPr>
      </p:sp>
      <p:sp>
        <p:nvSpPr>
          <p:cNvPr id="30" name="text 30"/>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Statistical flags are review prompts. A flagged association is not proof of a data defect.</a:t>
            </a:r>
            <a:endParaRPr lang="en-US" sz="1600"/>
          </a:p>
        </p:txBody>
      </p:sp>
      <p:cxnSp>
        <p:nvCxnSpPr>
          <p:cNvPr id="31" name="connector 31"/>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text 32"/>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3" name="text 33"/>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14 / 87</a:t>
            </a:r>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ROOT-CAUSE ANALYSIS</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Approve a conclusion with its supporting and limiting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visible RCA journey is Intake → Investigate → Conclusion approval.</a:t>
            </a:r>
            <a:endParaRPr lang="en-US" sz="1500"/>
          </a:p>
        </p:txBody>
      </p:sp>
      <p:sp>
        <p:nvSpPr>
          <p:cNvPr id="6" name="shape 6"/>
          <p:cNvSpPr/>
          <p:nvPr/>
        </p:nvSpPr>
        <p:spPr>
          <a:xfrm>
            <a:off x="508000" y="2273300"/>
            <a:ext cx="2622550" cy="2235200"/>
          </a:xfrm>
          <a:prstGeom prst="rect">
            <a:avLst/>
          </a:prstGeom>
          <a:solidFill>
            <a:srgbClr val="FFF2DF"/>
          </a:solidFill>
          <a:ln w="12700">
            <a:solidFill>
              <a:srgbClr val="DEDCD6"/>
            </a:solidFill>
          </a:ln>
        </p:spPr>
      </p:sp>
      <p:sp>
        <p:nvSpPr>
          <p:cNvPr id="7" name="text 7"/>
          <p:cNvSpPr/>
          <p:nvPr/>
        </p:nvSpPr>
        <p:spPr>
          <a:xfrm>
            <a:off x="67310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8" name="text 8"/>
          <p:cNvSpPr/>
          <p:nvPr/>
        </p:nvSpPr>
        <p:spPr>
          <a:xfrm>
            <a:off x="673100" y="2946400"/>
            <a:ext cx="229235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Intake</a:t>
            </a:r>
            <a:endParaRPr lang="en-US" sz="1800"/>
          </a:p>
        </p:txBody>
      </p:sp>
      <p:sp>
        <p:nvSpPr>
          <p:cNvPr id="9" name="text 9"/>
          <p:cNvSpPr/>
          <p:nvPr/>
        </p:nvSpPr>
        <p:spPr>
          <a:xfrm>
            <a:off x="673100" y="3695700"/>
            <a:ext cx="2292350" cy="673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Review source finding and</a:t>
            </a:r>
            <a:endParaRPr lang="en-US" sz="1450"/>
          </a:p>
          <a:p>
            <a:pPr algn="l">
              <a:lnSpc>
                <a:spcPts val="1653"/>
              </a:lnSpc>
              <a:spcAft>
                <a:spcPts val="0"/>
              </a:spcAft>
            </a:pPr>
            <a:r>
              <a:rPr lang="en-US" sz="1450" b="0" dirty="0">
                <a:solidFill>
                  <a:srgbClr val="181C23"/>
                </a:solidFill>
                <a:latin typeface="Funnel Sans"/>
              </a:rPr>
              <a:t>scope</a:t>
            </a:r>
            <a:endParaRPr lang="en-US" sz="1450"/>
          </a:p>
        </p:txBody>
      </p:sp>
      <p:cxnSp>
        <p:nvCxnSpPr>
          <p:cNvPr id="10" name="connector 10"/>
          <p:cNvCxnSpPr/>
          <p:nvPr/>
        </p:nvCxnSpPr>
        <p:spPr>
          <a:xfrm>
            <a:off x="3155950" y="33909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1" name="shape 11"/>
          <p:cNvSpPr/>
          <p:nvPr/>
        </p:nvSpPr>
        <p:spPr>
          <a:xfrm>
            <a:off x="3359150" y="2273300"/>
            <a:ext cx="2622550" cy="2235200"/>
          </a:xfrm>
          <a:prstGeom prst="rect">
            <a:avLst/>
          </a:prstGeom>
          <a:solidFill>
            <a:srgbClr val="FFF2DF"/>
          </a:solidFill>
          <a:ln w="12700">
            <a:solidFill>
              <a:srgbClr val="DEDCD6"/>
            </a:solidFill>
          </a:ln>
        </p:spPr>
      </p:sp>
      <p:sp>
        <p:nvSpPr>
          <p:cNvPr id="12" name="text 12"/>
          <p:cNvSpPr/>
          <p:nvPr/>
        </p:nvSpPr>
        <p:spPr>
          <a:xfrm>
            <a:off x="352425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3" name="text 13"/>
          <p:cNvSpPr/>
          <p:nvPr/>
        </p:nvSpPr>
        <p:spPr>
          <a:xfrm>
            <a:off x="3524250" y="2946400"/>
            <a:ext cx="229235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Investigate</a:t>
            </a:r>
            <a:endParaRPr lang="en-US" sz="1800"/>
          </a:p>
        </p:txBody>
      </p:sp>
      <p:sp>
        <p:nvSpPr>
          <p:cNvPr id="14" name="text 14"/>
          <p:cNvSpPr/>
          <p:nvPr/>
        </p:nvSpPr>
        <p:spPr>
          <a:xfrm>
            <a:off x="3524250" y="3695700"/>
            <a:ext cx="2292350" cy="673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Run looks; assess</a:t>
            </a:r>
            <a:endParaRPr lang="en-US" sz="1450"/>
          </a:p>
          <a:p>
            <a:pPr algn="l">
              <a:lnSpc>
                <a:spcPts val="1653"/>
              </a:lnSpc>
              <a:spcAft>
                <a:spcPts val="0"/>
              </a:spcAft>
            </a:pPr>
            <a:r>
              <a:rPr lang="en-US" sz="1450" b="0" dirty="0">
                <a:solidFill>
                  <a:srgbClr val="181C23"/>
                </a:solidFill>
                <a:latin typeface="Funnel Sans"/>
              </a:rPr>
              <a:t>hypotheses</a:t>
            </a:r>
            <a:endParaRPr lang="en-US" sz="1450"/>
          </a:p>
        </p:txBody>
      </p:sp>
      <p:cxnSp>
        <p:nvCxnSpPr>
          <p:cNvPr id="15" name="connector 15"/>
          <p:cNvCxnSpPr/>
          <p:nvPr/>
        </p:nvCxnSpPr>
        <p:spPr>
          <a:xfrm>
            <a:off x="6007100" y="33909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6210300" y="2273300"/>
            <a:ext cx="2622550" cy="2235200"/>
          </a:xfrm>
          <a:prstGeom prst="rect">
            <a:avLst/>
          </a:prstGeom>
          <a:solidFill>
            <a:srgbClr val="FFF2DF"/>
          </a:solidFill>
          <a:ln w="12700">
            <a:solidFill>
              <a:srgbClr val="DEDCD6"/>
            </a:solidFill>
          </a:ln>
        </p:spPr>
      </p:sp>
      <p:sp>
        <p:nvSpPr>
          <p:cNvPr id="17" name="text 17"/>
          <p:cNvSpPr/>
          <p:nvPr/>
        </p:nvSpPr>
        <p:spPr>
          <a:xfrm>
            <a:off x="637540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18" name="text 18"/>
          <p:cNvSpPr/>
          <p:nvPr/>
        </p:nvSpPr>
        <p:spPr>
          <a:xfrm>
            <a:off x="6375400" y="2946400"/>
            <a:ext cx="229235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Challenge</a:t>
            </a:r>
            <a:endParaRPr lang="en-US" sz="1800"/>
          </a:p>
        </p:txBody>
      </p:sp>
      <p:sp>
        <p:nvSpPr>
          <p:cNvPr id="19" name="text 19"/>
          <p:cNvSpPr/>
          <p:nvPr/>
        </p:nvSpPr>
        <p:spPr>
          <a:xfrm>
            <a:off x="6375400" y="3695700"/>
            <a:ext cx="2292350" cy="673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Consider alternatives and</a:t>
            </a:r>
            <a:endParaRPr lang="en-US" sz="1450"/>
          </a:p>
          <a:p>
            <a:pPr algn="l">
              <a:lnSpc>
                <a:spcPts val="1653"/>
              </a:lnSpc>
              <a:spcAft>
                <a:spcPts val="0"/>
              </a:spcAft>
            </a:pPr>
            <a:r>
              <a:rPr lang="en-US" sz="1450" b="0" dirty="0">
                <a:solidFill>
                  <a:srgbClr val="181C23"/>
                </a:solidFill>
                <a:latin typeface="Funnel Sans"/>
              </a:rPr>
              <a:t>limits</a:t>
            </a:r>
            <a:endParaRPr lang="en-US" sz="1450"/>
          </a:p>
        </p:txBody>
      </p:sp>
      <p:cxnSp>
        <p:nvCxnSpPr>
          <p:cNvPr id="20" name="connector 20"/>
          <p:cNvCxnSpPr/>
          <p:nvPr/>
        </p:nvCxnSpPr>
        <p:spPr>
          <a:xfrm>
            <a:off x="8858250" y="33909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9061450" y="2273300"/>
            <a:ext cx="2622550" cy="2235200"/>
          </a:xfrm>
          <a:prstGeom prst="rect">
            <a:avLst/>
          </a:prstGeom>
          <a:solidFill>
            <a:srgbClr val="FFF2DF"/>
          </a:solidFill>
          <a:ln w="12700">
            <a:solidFill>
              <a:srgbClr val="DEDCD6"/>
            </a:solidFill>
          </a:ln>
        </p:spPr>
      </p:sp>
      <p:sp>
        <p:nvSpPr>
          <p:cNvPr id="22" name="text 22"/>
          <p:cNvSpPr/>
          <p:nvPr/>
        </p:nvSpPr>
        <p:spPr>
          <a:xfrm>
            <a:off x="922655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3" name="text 23"/>
          <p:cNvSpPr/>
          <p:nvPr/>
        </p:nvSpPr>
        <p:spPr>
          <a:xfrm>
            <a:off x="9226550" y="2946400"/>
            <a:ext cx="229235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Approve conclusion</a:t>
            </a:r>
            <a:endParaRPr lang="en-US" sz="1800"/>
          </a:p>
        </p:txBody>
      </p:sp>
      <p:sp>
        <p:nvSpPr>
          <p:cNvPr id="24" name="text 24"/>
          <p:cNvSpPr/>
          <p:nvPr/>
        </p:nvSpPr>
        <p:spPr>
          <a:xfrm>
            <a:off x="9226550" y="3695700"/>
            <a:ext cx="2292350" cy="673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Identify cause or record</a:t>
            </a:r>
            <a:endParaRPr lang="en-US" sz="1450"/>
          </a:p>
          <a:p>
            <a:pPr algn="l">
              <a:lnSpc>
                <a:spcPts val="1653"/>
              </a:lnSpc>
              <a:spcAft>
                <a:spcPts val="0"/>
              </a:spcAft>
            </a:pPr>
            <a:r>
              <a:rPr lang="en-US" sz="1450" b="0" dirty="0">
                <a:solidFill>
                  <a:srgbClr val="181C23"/>
                </a:solidFill>
                <a:latin typeface="Funnel Sans"/>
              </a:rPr>
              <a:t>unresolved</a:t>
            </a:r>
            <a:endParaRPr lang="en-US" sz="1450"/>
          </a:p>
        </p:txBody>
      </p:sp>
      <p:sp>
        <p:nvSpPr>
          <p:cNvPr id="25" name="shape 25"/>
          <p:cNvSpPr/>
          <p:nvPr/>
        </p:nvSpPr>
        <p:spPr>
          <a:xfrm>
            <a:off x="508000" y="4737100"/>
            <a:ext cx="5486400" cy="876300"/>
          </a:xfrm>
          <a:prstGeom prst="rect">
            <a:avLst/>
          </a:prstGeom>
          <a:solidFill>
            <a:srgbClr val="FFFFFF"/>
          </a:solidFill>
          <a:ln w="12700">
            <a:solidFill>
              <a:srgbClr val="DEDCD6"/>
            </a:solidFill>
          </a:ln>
        </p:spPr>
      </p:sp>
      <p:sp>
        <p:nvSpPr>
          <p:cNvPr id="26" name="shape 26"/>
          <p:cNvSpPr/>
          <p:nvPr/>
        </p:nvSpPr>
        <p:spPr>
          <a:xfrm>
            <a:off x="508000" y="4737100"/>
            <a:ext cx="38100" cy="876300"/>
          </a:xfrm>
          <a:prstGeom prst="rect">
            <a:avLst/>
          </a:prstGeom>
          <a:solidFill>
            <a:srgbClr val="FF4F59"/>
          </a:solidFill>
          <a:ln>
            <a:noFill/>
          </a:ln>
        </p:spPr>
      </p:sp>
      <p:sp>
        <p:nvSpPr>
          <p:cNvPr id="27" name="text 27"/>
          <p:cNvSpPr/>
          <p:nvPr/>
        </p:nvSpPr>
        <p:spPr>
          <a:xfrm>
            <a:off x="698500" y="48514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Approval evidence</a:t>
            </a:r>
            <a:endParaRPr lang="en-US" sz="1600"/>
          </a:p>
        </p:txBody>
      </p:sp>
      <p:sp>
        <p:nvSpPr>
          <p:cNvPr id="28" name="text 28"/>
          <p:cNvSpPr/>
          <p:nvPr/>
        </p:nvSpPr>
        <p:spPr>
          <a:xfrm>
            <a:off x="698500" y="5181600"/>
            <a:ext cx="5105400" cy="3556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6D706B"/>
                </a:solidFill>
                <a:latin typeface="Funnel Sans"/>
              </a:rPr>
              <a:t>Cause or unresolved rationale; evidence references; alternatives; limits;</a:t>
            </a:r>
            <a:endParaRPr lang="en-US" sz="1150"/>
          </a:p>
          <a:p>
            <a:pPr algn="l">
              <a:lnSpc>
                <a:spcPts val="1311"/>
              </a:lnSpc>
              <a:spcAft>
                <a:spcPts val="0"/>
              </a:spcAft>
            </a:pPr>
            <a:r>
              <a:rPr lang="en-US" sz="1150" b="0" dirty="0">
                <a:solidFill>
                  <a:srgbClr val="6D706B"/>
                </a:solidFill>
                <a:latin typeface="Funnel Sans"/>
              </a:rPr>
              <a:t>related failures.</a:t>
            </a:r>
            <a:endParaRPr lang="en-US" sz="1150"/>
          </a:p>
        </p:txBody>
      </p:sp>
      <p:sp>
        <p:nvSpPr>
          <p:cNvPr id="29" name="shape 29"/>
          <p:cNvSpPr/>
          <p:nvPr/>
        </p:nvSpPr>
        <p:spPr>
          <a:xfrm>
            <a:off x="6197600" y="4737100"/>
            <a:ext cx="5486400" cy="876300"/>
          </a:xfrm>
          <a:prstGeom prst="rect">
            <a:avLst/>
          </a:prstGeom>
          <a:solidFill>
            <a:srgbClr val="FFFFFF"/>
          </a:solidFill>
          <a:ln w="12700">
            <a:solidFill>
              <a:srgbClr val="DEDCD6"/>
            </a:solidFill>
          </a:ln>
        </p:spPr>
      </p:sp>
      <p:sp>
        <p:nvSpPr>
          <p:cNvPr id="30" name="shape 30"/>
          <p:cNvSpPr/>
          <p:nvPr/>
        </p:nvSpPr>
        <p:spPr>
          <a:xfrm>
            <a:off x="6197600" y="4737100"/>
            <a:ext cx="38100" cy="876300"/>
          </a:xfrm>
          <a:prstGeom prst="rect">
            <a:avLst/>
          </a:prstGeom>
          <a:solidFill>
            <a:srgbClr val="FF4F59"/>
          </a:solidFill>
          <a:ln>
            <a:noFill/>
          </a:ln>
        </p:spPr>
      </p:sp>
      <p:sp>
        <p:nvSpPr>
          <p:cNvPr id="31" name="text 31"/>
          <p:cNvSpPr/>
          <p:nvPr/>
        </p:nvSpPr>
        <p:spPr>
          <a:xfrm>
            <a:off x="6388100" y="48514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Optional handoffs</a:t>
            </a:r>
            <a:endParaRPr lang="en-US" sz="1600"/>
          </a:p>
        </p:txBody>
      </p:sp>
      <p:sp>
        <p:nvSpPr>
          <p:cNvPr id="32" name="text 32"/>
          <p:cNvSpPr/>
          <p:nvPr/>
        </p:nvSpPr>
        <p:spPr>
          <a:xfrm>
            <a:off x="6388100" y="5181600"/>
            <a:ext cx="5105400" cy="3556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6D706B"/>
                </a:solidFill>
                <a:latin typeface="Funnel Sans"/>
              </a:rPr>
              <a:t>Create tracked remediation. Propose reusable knowledge only when a</a:t>
            </a:r>
            <a:endParaRPr lang="en-US" sz="1150"/>
          </a:p>
          <a:p>
            <a:pPr algn="l">
              <a:lnSpc>
                <a:spcPts val="1311"/>
              </a:lnSpc>
              <a:spcAft>
                <a:spcPts val="0"/>
              </a:spcAft>
            </a:pPr>
            <a:r>
              <a:rPr lang="en-US" sz="1150" b="0" dirty="0">
                <a:solidFill>
                  <a:srgbClr val="6D706B"/>
                </a:solidFill>
                <a:latin typeface="Funnel Sans"/>
              </a:rPr>
              <a:t>cause is identified.</a:t>
            </a:r>
            <a:endParaRPr lang="en-US" sz="1150"/>
          </a:p>
        </p:txBody>
      </p:sp>
      <p:sp>
        <p:nvSpPr>
          <p:cNvPr id="33" name="shape 33"/>
          <p:cNvSpPr/>
          <p:nvPr/>
        </p:nvSpPr>
        <p:spPr>
          <a:xfrm>
            <a:off x="508000" y="5740400"/>
            <a:ext cx="11176000" cy="546100"/>
          </a:xfrm>
          <a:prstGeom prst="rect">
            <a:avLst/>
          </a:prstGeom>
          <a:solidFill>
            <a:srgbClr val="282A27"/>
          </a:solidFill>
          <a:ln>
            <a:noFill/>
          </a:ln>
        </p:spPr>
      </p:sp>
      <p:sp>
        <p:nvSpPr>
          <p:cNvPr id="34" name="text 34"/>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A reviewer may return the conclusion to investigation with a recorded reason.</a:t>
            </a:r>
            <a:endParaRPr lang="en-US" sz="1600"/>
          </a:p>
        </p:txBody>
      </p:sp>
      <p:cxnSp>
        <p:nvCxnSpPr>
          <p:cNvPr id="35" name="connector 35"/>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text 36"/>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7" name="text 37"/>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15 / 87</a:t>
            </a:r>
            <a:endParaRPr lang="en-US"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KNOWLEDGE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Govern knowledge before it becomes reusable authority</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Knowledge Base (KB) lifecycle and diagnostic reasoning have distinct decision gates.</a:t>
            </a:r>
            <a:endParaRPr lang="en-US" sz="1500"/>
          </a:p>
        </p:txBody>
      </p:sp>
      <p:sp>
        <p:nvSpPr>
          <p:cNvPr id="6" name="shape 6"/>
          <p:cNvSpPr/>
          <p:nvPr/>
        </p:nvSpPr>
        <p:spPr>
          <a:xfrm>
            <a:off x="508000" y="2247900"/>
            <a:ext cx="2622550" cy="2336800"/>
          </a:xfrm>
          <a:prstGeom prst="rect">
            <a:avLst/>
          </a:prstGeom>
          <a:solidFill>
            <a:srgbClr val="FFF2DF"/>
          </a:solidFill>
          <a:ln w="12700">
            <a:solidFill>
              <a:srgbClr val="DEDCD6"/>
            </a:solidFill>
          </a:ln>
        </p:spPr>
      </p:sp>
      <p:sp>
        <p:nvSpPr>
          <p:cNvPr id="7" name="text 7"/>
          <p:cNvSpPr/>
          <p:nvPr/>
        </p:nvSpPr>
        <p:spPr>
          <a:xfrm>
            <a:off x="67310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8" name="text 8"/>
          <p:cNvSpPr/>
          <p:nvPr/>
        </p:nvSpPr>
        <p:spPr>
          <a:xfrm>
            <a:off x="673100" y="2921000"/>
            <a:ext cx="229235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Draft</a:t>
            </a:r>
            <a:endParaRPr lang="en-US" sz="1800"/>
          </a:p>
        </p:txBody>
      </p:sp>
      <p:sp>
        <p:nvSpPr>
          <p:cNvPr id="9" name="text 9"/>
          <p:cNvSpPr/>
          <p:nvPr/>
        </p:nvSpPr>
        <p:spPr>
          <a:xfrm>
            <a:off x="673100" y="3670300"/>
            <a:ext cx="2292350" cy="7747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Upload or propose</a:t>
            </a:r>
            <a:endParaRPr lang="en-US" sz="1450"/>
          </a:p>
          <a:p>
            <a:pPr algn="l">
              <a:lnSpc>
                <a:spcPts val="1653"/>
              </a:lnSpc>
              <a:spcAft>
                <a:spcPts val="0"/>
              </a:spcAft>
            </a:pPr>
            <a:r>
              <a:rPr lang="en-US" sz="1450" b="0" dirty="0">
                <a:solidFill>
                  <a:srgbClr val="181C23"/>
                </a:solidFill>
                <a:latin typeface="Funnel Sans"/>
              </a:rPr>
              <a:t>knowledge</a:t>
            </a:r>
            <a:endParaRPr lang="en-US" sz="1450"/>
          </a:p>
        </p:txBody>
      </p:sp>
      <p:cxnSp>
        <p:nvCxnSpPr>
          <p:cNvPr id="10" name="connector 10"/>
          <p:cNvCxnSpPr/>
          <p:nvPr/>
        </p:nvCxnSpPr>
        <p:spPr>
          <a:xfrm>
            <a:off x="3155950" y="34163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1" name="shape 11"/>
          <p:cNvSpPr/>
          <p:nvPr/>
        </p:nvSpPr>
        <p:spPr>
          <a:xfrm>
            <a:off x="3359150" y="2247900"/>
            <a:ext cx="2622550" cy="2336800"/>
          </a:xfrm>
          <a:prstGeom prst="rect">
            <a:avLst/>
          </a:prstGeom>
          <a:solidFill>
            <a:srgbClr val="FFF2DF"/>
          </a:solidFill>
          <a:ln w="12700">
            <a:solidFill>
              <a:srgbClr val="DEDCD6"/>
            </a:solidFill>
          </a:ln>
        </p:spPr>
      </p:sp>
      <p:sp>
        <p:nvSpPr>
          <p:cNvPr id="12" name="text 12"/>
          <p:cNvSpPr/>
          <p:nvPr/>
        </p:nvSpPr>
        <p:spPr>
          <a:xfrm>
            <a:off x="352425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3" name="text 13"/>
          <p:cNvSpPr/>
          <p:nvPr/>
        </p:nvSpPr>
        <p:spPr>
          <a:xfrm>
            <a:off x="3524250" y="2921000"/>
            <a:ext cx="229235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a:t>
            </a:r>
            <a:endParaRPr lang="en-US" sz="1800"/>
          </a:p>
        </p:txBody>
      </p:sp>
      <p:sp>
        <p:nvSpPr>
          <p:cNvPr id="14" name="text 14"/>
          <p:cNvSpPr/>
          <p:nvPr/>
        </p:nvSpPr>
        <p:spPr>
          <a:xfrm>
            <a:off x="3524250" y="3670300"/>
            <a:ext cx="2292350" cy="7747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Inspect rules, scope and</a:t>
            </a:r>
            <a:endParaRPr lang="en-US" sz="1450"/>
          </a:p>
          <a:p>
            <a:pPr algn="l">
              <a:lnSpc>
                <a:spcPts val="1653"/>
              </a:lnSpc>
              <a:spcAft>
                <a:spcPts val="0"/>
              </a:spcAft>
            </a:pPr>
            <a:r>
              <a:rPr lang="en-US" sz="1450" b="0" dirty="0">
                <a:solidFill>
                  <a:srgbClr val="181C23"/>
                </a:solidFill>
                <a:latin typeface="Funnel Sans"/>
              </a:rPr>
              <a:t>evidence</a:t>
            </a:r>
            <a:endParaRPr lang="en-US" sz="1450"/>
          </a:p>
        </p:txBody>
      </p:sp>
      <p:cxnSp>
        <p:nvCxnSpPr>
          <p:cNvPr id="15" name="connector 15"/>
          <p:cNvCxnSpPr/>
          <p:nvPr/>
        </p:nvCxnSpPr>
        <p:spPr>
          <a:xfrm>
            <a:off x="6007100" y="34163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6210300" y="2247900"/>
            <a:ext cx="2622550" cy="2336800"/>
          </a:xfrm>
          <a:prstGeom prst="rect">
            <a:avLst/>
          </a:prstGeom>
          <a:solidFill>
            <a:srgbClr val="FFF2DF"/>
          </a:solidFill>
          <a:ln w="12700">
            <a:solidFill>
              <a:srgbClr val="DEDCD6"/>
            </a:solidFill>
          </a:ln>
        </p:spPr>
      </p:sp>
      <p:sp>
        <p:nvSpPr>
          <p:cNvPr id="17" name="text 17"/>
          <p:cNvSpPr/>
          <p:nvPr/>
        </p:nvSpPr>
        <p:spPr>
          <a:xfrm>
            <a:off x="637540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18" name="text 18"/>
          <p:cNvSpPr/>
          <p:nvPr/>
        </p:nvSpPr>
        <p:spPr>
          <a:xfrm>
            <a:off x="6375400" y="2921000"/>
            <a:ext cx="229235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Publish</a:t>
            </a:r>
            <a:endParaRPr lang="en-US" sz="1800"/>
          </a:p>
        </p:txBody>
      </p:sp>
      <p:sp>
        <p:nvSpPr>
          <p:cNvPr id="19" name="text 19"/>
          <p:cNvSpPr/>
          <p:nvPr/>
        </p:nvSpPr>
        <p:spPr>
          <a:xfrm>
            <a:off x="6375400" y="3670300"/>
            <a:ext cx="2292350" cy="7747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Authorized reviewer acts</a:t>
            </a:r>
            <a:endParaRPr lang="en-US" sz="1450"/>
          </a:p>
        </p:txBody>
      </p:sp>
      <p:cxnSp>
        <p:nvCxnSpPr>
          <p:cNvPr id="20" name="connector 20"/>
          <p:cNvCxnSpPr/>
          <p:nvPr/>
        </p:nvCxnSpPr>
        <p:spPr>
          <a:xfrm>
            <a:off x="8858250" y="34163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9061450" y="2247900"/>
            <a:ext cx="2622550" cy="2336800"/>
          </a:xfrm>
          <a:prstGeom prst="rect">
            <a:avLst/>
          </a:prstGeom>
          <a:solidFill>
            <a:srgbClr val="FFF2DF"/>
          </a:solidFill>
          <a:ln w="12700">
            <a:solidFill>
              <a:srgbClr val="DEDCD6"/>
            </a:solidFill>
          </a:ln>
        </p:spPr>
      </p:sp>
      <p:sp>
        <p:nvSpPr>
          <p:cNvPr id="22" name="text 22"/>
          <p:cNvSpPr/>
          <p:nvPr/>
        </p:nvSpPr>
        <p:spPr>
          <a:xfrm>
            <a:off x="922655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3" name="text 23"/>
          <p:cNvSpPr/>
          <p:nvPr/>
        </p:nvSpPr>
        <p:spPr>
          <a:xfrm>
            <a:off x="9226550" y="2921000"/>
            <a:ext cx="229235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Use &amp; maintain</a:t>
            </a:r>
            <a:endParaRPr lang="en-US" sz="1800"/>
          </a:p>
        </p:txBody>
      </p:sp>
      <p:sp>
        <p:nvSpPr>
          <p:cNvPr id="24" name="text 24"/>
          <p:cNvSpPr/>
          <p:nvPr/>
        </p:nvSpPr>
        <p:spPr>
          <a:xfrm>
            <a:off x="9226550" y="3670300"/>
            <a:ext cx="2292350" cy="7747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Version, challenge or</a:t>
            </a:r>
            <a:endParaRPr lang="en-US" sz="1450"/>
          </a:p>
          <a:p>
            <a:pPr algn="l">
              <a:lnSpc>
                <a:spcPts val="1653"/>
              </a:lnSpc>
              <a:spcAft>
                <a:spcPts val="0"/>
              </a:spcAft>
            </a:pPr>
            <a:r>
              <a:rPr lang="en-US" sz="1450" b="0" dirty="0">
                <a:solidFill>
                  <a:srgbClr val="181C23"/>
                </a:solidFill>
                <a:latin typeface="Funnel Sans"/>
              </a:rPr>
              <a:t>archive</a:t>
            </a:r>
            <a:endParaRPr lang="en-US" sz="1450"/>
          </a:p>
        </p:txBody>
      </p:sp>
      <p:sp>
        <p:nvSpPr>
          <p:cNvPr id="25" name="shape 25"/>
          <p:cNvSpPr/>
          <p:nvPr/>
        </p:nvSpPr>
        <p:spPr>
          <a:xfrm>
            <a:off x="508000" y="4787900"/>
            <a:ext cx="5486400" cy="863600"/>
          </a:xfrm>
          <a:prstGeom prst="rect">
            <a:avLst/>
          </a:prstGeom>
          <a:solidFill>
            <a:srgbClr val="FFFFFF"/>
          </a:solidFill>
          <a:ln w="12700">
            <a:solidFill>
              <a:srgbClr val="DEDCD6"/>
            </a:solidFill>
          </a:ln>
        </p:spPr>
      </p:sp>
      <p:sp>
        <p:nvSpPr>
          <p:cNvPr id="26" name="shape 26"/>
          <p:cNvSpPr/>
          <p:nvPr/>
        </p:nvSpPr>
        <p:spPr>
          <a:xfrm>
            <a:off x="508000" y="4787900"/>
            <a:ext cx="38100" cy="863600"/>
          </a:xfrm>
          <a:prstGeom prst="rect">
            <a:avLst/>
          </a:prstGeom>
          <a:solidFill>
            <a:srgbClr val="FF4F59"/>
          </a:solidFill>
          <a:ln>
            <a:noFill/>
          </a:ln>
        </p:spPr>
      </p:sp>
      <p:sp>
        <p:nvSpPr>
          <p:cNvPr id="27" name="text 27"/>
          <p:cNvSpPr/>
          <p:nvPr/>
        </p:nvSpPr>
        <p:spPr>
          <a:xfrm>
            <a:off x="698500" y="49022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Human control</a:t>
            </a:r>
            <a:endParaRPr lang="en-US" sz="1600"/>
          </a:p>
        </p:txBody>
      </p:sp>
      <p:sp>
        <p:nvSpPr>
          <p:cNvPr id="28" name="text 28"/>
          <p:cNvSpPr/>
          <p:nvPr/>
        </p:nvSpPr>
        <p:spPr>
          <a:xfrm>
            <a:off x="698500" y="5232400"/>
            <a:ext cx="5105400" cy="3429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6D706B"/>
                </a:solidFill>
                <a:latin typeface="Funnel Sans"/>
              </a:rPr>
              <a:t>Editors prepare; reviewers publish. AI advice requires the applicable</a:t>
            </a:r>
            <a:endParaRPr lang="en-US" sz="1150"/>
          </a:p>
          <a:p>
            <a:pPr algn="l">
              <a:lnSpc>
                <a:spcPts val="1311"/>
              </a:lnSpc>
              <a:spcAft>
                <a:spcPts val="0"/>
              </a:spcAft>
            </a:pPr>
            <a:r>
              <a:rPr lang="en-US" sz="1150" b="0" dirty="0">
                <a:solidFill>
                  <a:srgbClr val="6D706B"/>
                </a:solidFill>
                <a:latin typeface="Funnel Sans"/>
              </a:rPr>
              <a:t>human gate.</a:t>
            </a:r>
            <a:endParaRPr lang="en-US" sz="1150"/>
          </a:p>
        </p:txBody>
      </p:sp>
      <p:sp>
        <p:nvSpPr>
          <p:cNvPr id="29" name="shape 29"/>
          <p:cNvSpPr/>
          <p:nvPr/>
        </p:nvSpPr>
        <p:spPr>
          <a:xfrm>
            <a:off x="6197600" y="4787900"/>
            <a:ext cx="5486400" cy="863600"/>
          </a:xfrm>
          <a:prstGeom prst="rect">
            <a:avLst/>
          </a:prstGeom>
          <a:solidFill>
            <a:srgbClr val="FFFFFF"/>
          </a:solidFill>
          <a:ln w="12700">
            <a:solidFill>
              <a:srgbClr val="DEDCD6"/>
            </a:solidFill>
          </a:ln>
        </p:spPr>
      </p:sp>
      <p:sp>
        <p:nvSpPr>
          <p:cNvPr id="30" name="shape 30"/>
          <p:cNvSpPr/>
          <p:nvPr/>
        </p:nvSpPr>
        <p:spPr>
          <a:xfrm>
            <a:off x="6197600" y="4787900"/>
            <a:ext cx="38100" cy="863600"/>
          </a:xfrm>
          <a:prstGeom prst="rect">
            <a:avLst/>
          </a:prstGeom>
          <a:solidFill>
            <a:srgbClr val="FF4F59"/>
          </a:solidFill>
          <a:ln>
            <a:noFill/>
          </a:ln>
        </p:spPr>
      </p:sp>
      <p:sp>
        <p:nvSpPr>
          <p:cNvPr id="31" name="text 31"/>
          <p:cNvSpPr/>
          <p:nvPr/>
        </p:nvSpPr>
        <p:spPr>
          <a:xfrm>
            <a:off x="6388100" y="49022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Versioned application</a:t>
            </a:r>
            <a:endParaRPr lang="en-US" sz="1600"/>
          </a:p>
        </p:txBody>
      </p:sp>
      <p:sp>
        <p:nvSpPr>
          <p:cNvPr id="32" name="text 32"/>
          <p:cNvSpPr/>
          <p:nvPr/>
        </p:nvSpPr>
        <p:spPr>
          <a:xfrm>
            <a:off x="6388100" y="5232400"/>
            <a:ext cx="5105400" cy="342900"/>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6D706B"/>
                </a:solidFill>
                <a:latin typeface="Funnel Sans"/>
              </a:rPr>
              <a:t>Runs retain the rules, terminology and decisions used at the time of</a:t>
            </a:r>
            <a:endParaRPr lang="en-US" sz="1150"/>
          </a:p>
          <a:p>
            <a:pPr algn="l">
              <a:lnSpc>
                <a:spcPts val="1311"/>
              </a:lnSpc>
              <a:spcAft>
                <a:spcPts val="0"/>
              </a:spcAft>
            </a:pPr>
            <a:r>
              <a:rPr lang="en-US" sz="1150" b="0" dirty="0">
                <a:solidFill>
                  <a:srgbClr val="6D706B"/>
                </a:solidFill>
                <a:latin typeface="Funnel Sans"/>
              </a:rPr>
              <a:t>execution.</a:t>
            </a:r>
            <a:endParaRPr lang="en-US" sz="1150"/>
          </a:p>
        </p:txBody>
      </p:sp>
      <p:sp>
        <p:nvSpPr>
          <p:cNvPr id="33" name="shape 33"/>
          <p:cNvSpPr/>
          <p:nvPr/>
        </p:nvSpPr>
        <p:spPr>
          <a:xfrm>
            <a:off x="508000" y="5740400"/>
            <a:ext cx="11176000" cy="546100"/>
          </a:xfrm>
          <a:prstGeom prst="rect">
            <a:avLst/>
          </a:prstGeom>
          <a:solidFill>
            <a:srgbClr val="282A27"/>
          </a:solidFill>
          <a:ln>
            <a:noFill/>
          </a:ln>
        </p:spPr>
      </p:sp>
      <p:sp>
        <p:nvSpPr>
          <p:cNvPr id="34" name="text 34"/>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D11 proposal publication and incorporation into a future packaged KB release are separate.</a:t>
            </a:r>
            <a:endParaRPr lang="en-US" sz="1600"/>
          </a:p>
        </p:txBody>
      </p:sp>
      <p:cxnSp>
        <p:nvCxnSpPr>
          <p:cNvPr id="35" name="connector 35"/>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text 36"/>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7" name="text 37"/>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16 / 87</a:t>
            </a:r>
            <a:endParaRPr 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TRACEABILITY</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Retain the chain from snapshot to decision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Analysis Artifact Repository (AAR) stores governed analytical evidence.</a:t>
            </a:r>
            <a:endParaRPr lang="en-US" sz="1500"/>
          </a:p>
        </p:txBody>
      </p:sp>
      <p:sp>
        <p:nvSpPr>
          <p:cNvPr id="6" name="shape 6"/>
          <p:cNvSpPr/>
          <p:nvPr/>
        </p:nvSpPr>
        <p:spPr>
          <a:xfrm>
            <a:off x="508000" y="2311400"/>
            <a:ext cx="2052320" cy="2362200"/>
          </a:xfrm>
          <a:prstGeom prst="rect">
            <a:avLst/>
          </a:prstGeom>
          <a:solidFill>
            <a:srgbClr val="FFF2DF"/>
          </a:solidFill>
          <a:ln w="12700">
            <a:solidFill>
              <a:srgbClr val="DEDCD6"/>
            </a:solidFill>
          </a:ln>
        </p:spPr>
      </p:sp>
      <p:sp>
        <p:nvSpPr>
          <p:cNvPr id="7" name="text 7"/>
          <p:cNvSpPr/>
          <p:nvPr/>
        </p:nvSpPr>
        <p:spPr>
          <a:xfrm>
            <a:off x="673100" y="24638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8" name="text 8"/>
          <p:cNvSpPr/>
          <p:nvPr/>
        </p:nvSpPr>
        <p:spPr>
          <a:xfrm>
            <a:off x="673100" y="29845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Asset /</a:t>
            </a:r>
            <a:endParaRPr lang="en-US" sz="1800"/>
          </a:p>
          <a:p>
            <a:pPr algn="l">
              <a:lnSpc>
                <a:spcPts val="2052"/>
              </a:lnSpc>
              <a:spcAft>
                <a:spcPts val="0"/>
              </a:spcAft>
            </a:pPr>
            <a:r>
              <a:rPr lang="en-US" sz="1800" b="1" dirty="0">
                <a:solidFill>
                  <a:srgbClr val="181C23"/>
                </a:solidFill>
                <a:latin typeface="Funnel Sans"/>
              </a:rPr>
              <a:t>snapshot</a:t>
            </a:r>
            <a:endParaRPr lang="en-US" sz="1800"/>
          </a:p>
        </p:txBody>
      </p:sp>
      <p:sp>
        <p:nvSpPr>
          <p:cNvPr id="9" name="text 9"/>
          <p:cNvSpPr/>
          <p:nvPr/>
        </p:nvSpPr>
        <p:spPr>
          <a:xfrm>
            <a:off x="673100" y="3733800"/>
            <a:ext cx="1722120" cy="800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Source version and</a:t>
            </a:r>
            <a:endParaRPr lang="en-US" sz="1450"/>
          </a:p>
          <a:p>
            <a:pPr algn="l">
              <a:lnSpc>
                <a:spcPts val="1653"/>
              </a:lnSpc>
              <a:spcAft>
                <a:spcPts val="0"/>
              </a:spcAft>
            </a:pPr>
            <a:r>
              <a:rPr lang="en-US" sz="1450" b="0" dirty="0">
                <a:solidFill>
                  <a:srgbClr val="181C23"/>
                </a:solidFill>
                <a:latin typeface="Funnel Sans"/>
              </a:rPr>
              <a:t>profile</a:t>
            </a:r>
            <a:endParaRPr lang="en-US" sz="1450"/>
          </a:p>
        </p:txBody>
      </p:sp>
      <p:cxnSp>
        <p:nvCxnSpPr>
          <p:cNvPr id="10" name="connector 10"/>
          <p:cNvCxnSpPr/>
          <p:nvPr/>
        </p:nvCxnSpPr>
        <p:spPr>
          <a:xfrm>
            <a:off x="2585720" y="34925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1" name="shape 11"/>
          <p:cNvSpPr/>
          <p:nvPr/>
        </p:nvSpPr>
        <p:spPr>
          <a:xfrm>
            <a:off x="2788920" y="2311400"/>
            <a:ext cx="2052320" cy="2362200"/>
          </a:xfrm>
          <a:prstGeom prst="rect">
            <a:avLst/>
          </a:prstGeom>
          <a:solidFill>
            <a:srgbClr val="FFF2DF"/>
          </a:solidFill>
          <a:ln w="12700">
            <a:solidFill>
              <a:srgbClr val="DEDCD6"/>
            </a:solidFill>
          </a:ln>
        </p:spPr>
      </p:sp>
      <p:sp>
        <p:nvSpPr>
          <p:cNvPr id="12" name="text 12"/>
          <p:cNvSpPr/>
          <p:nvPr/>
        </p:nvSpPr>
        <p:spPr>
          <a:xfrm>
            <a:off x="2954020" y="24638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3" name="text 13"/>
          <p:cNvSpPr/>
          <p:nvPr/>
        </p:nvSpPr>
        <p:spPr>
          <a:xfrm>
            <a:off x="2954020" y="29845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Frozen</a:t>
            </a:r>
            <a:endParaRPr lang="en-US" sz="1800"/>
          </a:p>
          <a:p>
            <a:pPr algn="l">
              <a:lnSpc>
                <a:spcPts val="2052"/>
              </a:lnSpc>
              <a:spcAft>
                <a:spcPts val="0"/>
              </a:spcAft>
            </a:pPr>
            <a:r>
              <a:rPr lang="en-US" sz="1800" b="1" dirty="0">
                <a:solidFill>
                  <a:srgbClr val="181C23"/>
                </a:solidFill>
                <a:latin typeface="Funnel Sans"/>
              </a:rPr>
              <a:t>manifest</a:t>
            </a:r>
            <a:endParaRPr lang="en-US" sz="1800"/>
          </a:p>
        </p:txBody>
      </p:sp>
      <p:sp>
        <p:nvSpPr>
          <p:cNvPr id="14" name="text 14"/>
          <p:cNvSpPr/>
          <p:nvPr/>
        </p:nvSpPr>
        <p:spPr>
          <a:xfrm>
            <a:off x="2954020" y="3733800"/>
            <a:ext cx="1722120" cy="800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Scope, rules,</a:t>
            </a:r>
            <a:endParaRPr lang="en-US" sz="1450"/>
          </a:p>
          <a:p>
            <a:pPr algn="l">
              <a:lnSpc>
                <a:spcPts val="1653"/>
              </a:lnSpc>
              <a:spcAft>
                <a:spcPts val="0"/>
              </a:spcAft>
            </a:pPr>
            <a:r>
              <a:rPr lang="en-US" sz="1450" b="0" dirty="0">
                <a:solidFill>
                  <a:srgbClr val="181C23"/>
                </a:solidFill>
                <a:latin typeface="Funnel Sans"/>
              </a:rPr>
              <a:t>parameters</a:t>
            </a:r>
            <a:endParaRPr lang="en-US" sz="1450"/>
          </a:p>
        </p:txBody>
      </p:sp>
      <p:cxnSp>
        <p:nvCxnSpPr>
          <p:cNvPr id="15" name="connector 15"/>
          <p:cNvCxnSpPr/>
          <p:nvPr/>
        </p:nvCxnSpPr>
        <p:spPr>
          <a:xfrm>
            <a:off x="4866640" y="34925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5069840" y="2311400"/>
            <a:ext cx="2052320" cy="2362200"/>
          </a:xfrm>
          <a:prstGeom prst="rect">
            <a:avLst/>
          </a:prstGeom>
          <a:solidFill>
            <a:srgbClr val="FFF2DF"/>
          </a:solidFill>
          <a:ln w="12700">
            <a:solidFill>
              <a:srgbClr val="DEDCD6"/>
            </a:solidFill>
          </a:ln>
        </p:spPr>
      </p:sp>
      <p:sp>
        <p:nvSpPr>
          <p:cNvPr id="17" name="text 17"/>
          <p:cNvSpPr/>
          <p:nvPr/>
        </p:nvSpPr>
        <p:spPr>
          <a:xfrm>
            <a:off x="5234940" y="24638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18" name="text 18"/>
          <p:cNvSpPr/>
          <p:nvPr/>
        </p:nvSpPr>
        <p:spPr>
          <a:xfrm>
            <a:off x="5234940" y="29845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Analytical</a:t>
            </a:r>
            <a:endParaRPr lang="en-US" sz="1800"/>
          </a:p>
          <a:p>
            <a:pPr algn="l">
              <a:lnSpc>
                <a:spcPts val="2052"/>
              </a:lnSpc>
              <a:spcAft>
                <a:spcPts val="0"/>
              </a:spcAft>
            </a:pPr>
            <a:r>
              <a:rPr lang="en-US" sz="1800" b="1" dirty="0">
                <a:solidFill>
                  <a:srgbClr val="181C23"/>
                </a:solidFill>
                <a:latin typeface="Funnel Sans"/>
              </a:rPr>
              <a:t>artifacts</a:t>
            </a:r>
            <a:endParaRPr lang="en-US" sz="1800"/>
          </a:p>
        </p:txBody>
      </p:sp>
      <p:sp>
        <p:nvSpPr>
          <p:cNvPr id="19" name="text 19"/>
          <p:cNvSpPr/>
          <p:nvPr/>
        </p:nvSpPr>
        <p:spPr>
          <a:xfrm>
            <a:off x="5234940" y="3733800"/>
            <a:ext cx="1722120" cy="800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Metrics, payloads</a:t>
            </a:r>
            <a:endParaRPr lang="en-US" sz="1450"/>
          </a:p>
          <a:p>
            <a:pPr algn="l">
              <a:lnSpc>
                <a:spcPts val="1653"/>
              </a:lnSpc>
              <a:spcAft>
                <a:spcPts val="0"/>
              </a:spcAft>
            </a:pPr>
            <a:r>
              <a:rPr lang="en-US" sz="1450" b="0" dirty="0">
                <a:solidFill>
                  <a:srgbClr val="181C23"/>
                </a:solidFill>
                <a:latin typeface="Funnel Sans"/>
              </a:rPr>
              <a:t>and lineage</a:t>
            </a:r>
            <a:endParaRPr lang="en-US" sz="1450"/>
          </a:p>
        </p:txBody>
      </p:sp>
      <p:cxnSp>
        <p:nvCxnSpPr>
          <p:cNvPr id="20" name="connector 20"/>
          <p:cNvCxnSpPr/>
          <p:nvPr/>
        </p:nvCxnSpPr>
        <p:spPr>
          <a:xfrm>
            <a:off x="7147560" y="34925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7350760" y="2311400"/>
            <a:ext cx="2052320" cy="2362200"/>
          </a:xfrm>
          <a:prstGeom prst="rect">
            <a:avLst/>
          </a:prstGeom>
          <a:solidFill>
            <a:srgbClr val="FFF2DF"/>
          </a:solidFill>
          <a:ln w="12700">
            <a:solidFill>
              <a:srgbClr val="DEDCD6"/>
            </a:solidFill>
          </a:ln>
        </p:spPr>
      </p:sp>
      <p:sp>
        <p:nvSpPr>
          <p:cNvPr id="22" name="text 22"/>
          <p:cNvSpPr/>
          <p:nvPr/>
        </p:nvSpPr>
        <p:spPr>
          <a:xfrm>
            <a:off x="7515860" y="24638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3" name="text 23"/>
          <p:cNvSpPr/>
          <p:nvPr/>
        </p:nvSpPr>
        <p:spPr>
          <a:xfrm>
            <a:off x="7515860" y="29845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Finding / issue</a:t>
            </a:r>
            <a:endParaRPr lang="en-US" sz="1800"/>
          </a:p>
        </p:txBody>
      </p:sp>
      <p:sp>
        <p:nvSpPr>
          <p:cNvPr id="24" name="text 24"/>
          <p:cNvSpPr/>
          <p:nvPr/>
        </p:nvSpPr>
        <p:spPr>
          <a:xfrm>
            <a:off x="7515860" y="3733800"/>
            <a:ext cx="1722120" cy="800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Rationale and</a:t>
            </a:r>
            <a:endParaRPr lang="en-US" sz="1450"/>
          </a:p>
          <a:p>
            <a:pPr algn="l">
              <a:lnSpc>
                <a:spcPts val="1653"/>
              </a:lnSpc>
              <a:spcAft>
                <a:spcPts val="0"/>
              </a:spcAft>
            </a:pPr>
            <a:r>
              <a:rPr lang="en-US" sz="1450" b="0" dirty="0">
                <a:solidFill>
                  <a:srgbClr val="181C23"/>
                </a:solidFill>
                <a:latin typeface="Funnel Sans"/>
              </a:rPr>
              <a:t>linked evidence</a:t>
            </a:r>
            <a:endParaRPr lang="en-US" sz="1450"/>
          </a:p>
        </p:txBody>
      </p:sp>
      <p:cxnSp>
        <p:nvCxnSpPr>
          <p:cNvPr id="25" name="connector 25"/>
          <p:cNvCxnSpPr/>
          <p:nvPr/>
        </p:nvCxnSpPr>
        <p:spPr>
          <a:xfrm>
            <a:off x="9428480" y="34925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9631680" y="2311400"/>
            <a:ext cx="2052320" cy="2362200"/>
          </a:xfrm>
          <a:prstGeom prst="rect">
            <a:avLst/>
          </a:prstGeom>
          <a:solidFill>
            <a:srgbClr val="FFF2DF"/>
          </a:solidFill>
          <a:ln w="12700">
            <a:solidFill>
              <a:srgbClr val="DEDCD6"/>
            </a:solidFill>
          </a:ln>
        </p:spPr>
      </p:sp>
      <p:sp>
        <p:nvSpPr>
          <p:cNvPr id="27" name="text 27"/>
          <p:cNvSpPr/>
          <p:nvPr/>
        </p:nvSpPr>
        <p:spPr>
          <a:xfrm>
            <a:off x="9796780" y="24638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28" name="text 28"/>
          <p:cNvSpPr/>
          <p:nvPr/>
        </p:nvSpPr>
        <p:spPr>
          <a:xfrm>
            <a:off x="9796780" y="29845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RCA record</a:t>
            </a:r>
            <a:endParaRPr lang="en-US" sz="1800"/>
          </a:p>
        </p:txBody>
      </p:sp>
      <p:sp>
        <p:nvSpPr>
          <p:cNvPr id="29" name="text 29"/>
          <p:cNvSpPr/>
          <p:nvPr/>
        </p:nvSpPr>
        <p:spPr>
          <a:xfrm>
            <a:off x="9796780" y="3733800"/>
            <a:ext cx="1722120" cy="8001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Evidence and</a:t>
            </a:r>
            <a:endParaRPr lang="en-US" sz="1450"/>
          </a:p>
          <a:p>
            <a:pPr algn="l">
              <a:lnSpc>
                <a:spcPts val="1653"/>
              </a:lnSpc>
              <a:spcAft>
                <a:spcPts val="0"/>
              </a:spcAft>
            </a:pPr>
            <a:r>
              <a:rPr lang="en-US" sz="1450" b="0" dirty="0">
                <a:solidFill>
                  <a:srgbClr val="181C23"/>
                </a:solidFill>
                <a:latin typeface="Funnel Sans"/>
              </a:rPr>
              <a:t>approved</a:t>
            </a:r>
            <a:endParaRPr lang="en-US" sz="1450"/>
          </a:p>
          <a:p>
            <a:pPr algn="l">
              <a:lnSpc>
                <a:spcPts val="1653"/>
              </a:lnSpc>
              <a:spcAft>
                <a:spcPts val="0"/>
              </a:spcAft>
            </a:pPr>
            <a:r>
              <a:rPr lang="en-US" sz="1450" b="0" dirty="0">
                <a:solidFill>
                  <a:srgbClr val="181C23"/>
                </a:solidFill>
                <a:latin typeface="Funnel Sans"/>
              </a:rPr>
              <a:t>conclusion</a:t>
            </a:r>
            <a:endParaRPr lang="en-US" sz="1450"/>
          </a:p>
        </p:txBody>
      </p:sp>
      <p:sp>
        <p:nvSpPr>
          <p:cNvPr id="30" name="text 30"/>
          <p:cNvSpPr/>
          <p:nvPr/>
        </p:nvSpPr>
        <p:spPr>
          <a:xfrm>
            <a:off x="520700" y="4953000"/>
            <a:ext cx="3187700" cy="33020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FF4F59"/>
                </a:solidFill>
                <a:latin typeface="Funnel Sans"/>
              </a:rPr>
              <a:t>Captured across the chain</a:t>
            </a:r>
            <a:endParaRPr lang="en-US" sz="1700"/>
          </a:p>
        </p:txBody>
      </p:sp>
      <p:sp>
        <p:nvSpPr>
          <p:cNvPr id="31" name="text 31"/>
          <p:cNvSpPr/>
          <p:nvPr/>
        </p:nvSpPr>
        <p:spPr>
          <a:xfrm>
            <a:off x="3721100" y="4953000"/>
            <a:ext cx="7950200" cy="5461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Actor • timestamp • snapshot ID • rule/KB version • methodology • hashes •</a:t>
            </a:r>
            <a:endParaRPr lang="en-US" sz="1700"/>
          </a:p>
          <a:p>
            <a:pPr algn="l">
              <a:lnSpc>
                <a:spcPts val="1938"/>
              </a:lnSpc>
              <a:spcAft>
                <a:spcPts val="0"/>
              </a:spcAft>
            </a:pPr>
            <a:r>
              <a:rPr lang="en-US" sz="1700" b="0" dirty="0">
                <a:solidFill>
                  <a:srgbClr val="181C23"/>
                </a:solidFill>
                <a:latin typeface="Funnel Sans"/>
              </a:rPr>
              <a:t>source references</a:t>
            </a:r>
            <a:endParaRPr lang="en-US" sz="1700"/>
          </a:p>
        </p:txBody>
      </p:sp>
      <p:sp>
        <p:nvSpPr>
          <p:cNvPr id="32" name="shape 32"/>
          <p:cNvSpPr/>
          <p:nvPr/>
        </p:nvSpPr>
        <p:spPr>
          <a:xfrm>
            <a:off x="508000" y="5740400"/>
            <a:ext cx="11176000" cy="546100"/>
          </a:xfrm>
          <a:prstGeom prst="rect">
            <a:avLst/>
          </a:prstGeom>
          <a:solidFill>
            <a:srgbClr val="282A27"/>
          </a:solidFill>
          <a:ln>
            <a:noFill/>
          </a:ln>
        </p:spPr>
      </p:sp>
      <p:sp>
        <p:nvSpPr>
          <p:cNvPr id="33" name="text 3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Reporting must disclose what ran, what did not run and where evidence is limited.</a:t>
            </a:r>
            <a:endParaRPr lang="en-US" sz="1600"/>
          </a:p>
        </p:txBody>
      </p:sp>
      <p:cxnSp>
        <p:nvCxnSpPr>
          <p:cNvPr id="34" name="connector 3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text 3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6" name="text 3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17 / 87</a:t>
            </a:r>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02 / PLATFORM</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Separate the user workflow from the execution and evidence</a:t>
            </a:r>
            <a:endParaRPr lang="en-US" sz="2900"/>
          </a:p>
          <a:p>
            <a:pPr algn="l">
              <a:lnSpc>
                <a:spcPts val="3306"/>
              </a:lnSpc>
              <a:spcAft>
                <a:spcPts val="0"/>
              </a:spcAft>
            </a:pPr>
            <a:r>
              <a:rPr lang="en-US" sz="2900" b="1" dirty="0">
                <a:solidFill>
                  <a:srgbClr val="181C23"/>
                </a:solidFill>
                <a:latin typeface="Funnel Sans"/>
              </a:rPr>
              <a:t>services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Implementation architecture supports the operating model without implying deployment certification.</a:t>
            </a:r>
            <a:endParaRPr lang="en-US" sz="1500"/>
          </a:p>
        </p:txBody>
      </p:sp>
      <p:sp>
        <p:nvSpPr>
          <p:cNvPr id="6" name="shape 6"/>
          <p:cNvSpPr/>
          <p:nvPr/>
        </p:nvSpPr>
        <p:spPr>
          <a:xfrm>
            <a:off x="508000" y="2247900"/>
            <a:ext cx="11176000" cy="838200"/>
          </a:xfrm>
          <a:prstGeom prst="rect">
            <a:avLst/>
          </a:prstGeom>
          <a:solidFill>
            <a:srgbClr val="FFFFFF"/>
          </a:solidFill>
          <a:ln w="12700">
            <a:solidFill>
              <a:srgbClr val="DEDCD6"/>
            </a:solidFill>
          </a:ln>
        </p:spPr>
      </p:sp>
      <p:sp>
        <p:nvSpPr>
          <p:cNvPr id="7" name="shape 7"/>
          <p:cNvSpPr/>
          <p:nvPr/>
        </p:nvSpPr>
        <p:spPr>
          <a:xfrm>
            <a:off x="508000" y="2247900"/>
            <a:ext cx="2501900" cy="838200"/>
          </a:xfrm>
          <a:prstGeom prst="rect">
            <a:avLst/>
          </a:prstGeom>
          <a:solidFill>
            <a:srgbClr val="FFF2DF"/>
          </a:solidFill>
          <a:ln>
            <a:noFill/>
          </a:ln>
        </p:spPr>
      </p:sp>
      <p:sp>
        <p:nvSpPr>
          <p:cNvPr id="8" name="text 8"/>
          <p:cNvSpPr/>
          <p:nvPr/>
        </p:nvSpPr>
        <p:spPr>
          <a:xfrm>
            <a:off x="660400" y="2463800"/>
            <a:ext cx="2209800" cy="495300"/>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USER WORKSPACE</a:t>
            </a:r>
            <a:endParaRPr lang="en-US" sz="1400"/>
          </a:p>
        </p:txBody>
      </p:sp>
      <p:sp>
        <p:nvSpPr>
          <p:cNvPr id="9" name="text 9"/>
          <p:cNvSpPr/>
          <p:nvPr/>
        </p:nvSpPr>
        <p:spPr>
          <a:xfrm>
            <a:off x="3187700" y="2451100"/>
            <a:ext cx="8267700" cy="584200"/>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Data Sourcing • Test Lab • Issue Management • Knowledge Base • Admin</a:t>
            </a:r>
            <a:endParaRPr lang="en-US" sz="1800"/>
          </a:p>
        </p:txBody>
      </p:sp>
      <p:cxnSp>
        <p:nvCxnSpPr>
          <p:cNvPr id="10" name="connector 10"/>
          <p:cNvCxnSpPr/>
          <p:nvPr/>
        </p:nvCxnSpPr>
        <p:spPr>
          <a:xfrm>
            <a:off x="6096000" y="3086100"/>
            <a:ext cx="0" cy="19050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1" name="shape 11"/>
          <p:cNvSpPr/>
          <p:nvPr/>
        </p:nvSpPr>
        <p:spPr>
          <a:xfrm>
            <a:off x="508000" y="3340100"/>
            <a:ext cx="11176000" cy="838200"/>
          </a:xfrm>
          <a:prstGeom prst="rect">
            <a:avLst/>
          </a:prstGeom>
          <a:solidFill>
            <a:srgbClr val="FFFFFF"/>
          </a:solidFill>
          <a:ln w="12700">
            <a:solidFill>
              <a:srgbClr val="DEDCD6"/>
            </a:solidFill>
          </a:ln>
        </p:spPr>
      </p:sp>
      <p:sp>
        <p:nvSpPr>
          <p:cNvPr id="12" name="shape 12"/>
          <p:cNvSpPr/>
          <p:nvPr/>
        </p:nvSpPr>
        <p:spPr>
          <a:xfrm>
            <a:off x="508000" y="3340100"/>
            <a:ext cx="2501900" cy="838200"/>
          </a:xfrm>
          <a:prstGeom prst="rect">
            <a:avLst/>
          </a:prstGeom>
          <a:solidFill>
            <a:srgbClr val="FFF2DF"/>
          </a:solidFill>
          <a:ln>
            <a:noFill/>
          </a:ln>
        </p:spPr>
      </p:sp>
      <p:sp>
        <p:nvSpPr>
          <p:cNvPr id="13" name="text 13"/>
          <p:cNvSpPr/>
          <p:nvPr/>
        </p:nvSpPr>
        <p:spPr>
          <a:xfrm>
            <a:off x="660400" y="3556000"/>
            <a:ext cx="2209800" cy="495300"/>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APPLICATION SERVICES</a:t>
            </a:r>
            <a:endParaRPr lang="en-US" sz="1400"/>
          </a:p>
        </p:txBody>
      </p:sp>
      <p:sp>
        <p:nvSpPr>
          <p:cNvPr id="14" name="text 14"/>
          <p:cNvSpPr/>
          <p:nvPr/>
        </p:nvSpPr>
        <p:spPr>
          <a:xfrm>
            <a:off x="3187700" y="3543300"/>
            <a:ext cx="8267700" cy="584200"/>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Asset/version control • Diagnostics • RCA • Authentication • Reporting</a:t>
            </a:r>
            <a:endParaRPr lang="en-US" sz="1800"/>
          </a:p>
        </p:txBody>
      </p:sp>
      <p:cxnSp>
        <p:nvCxnSpPr>
          <p:cNvPr id="15" name="connector 15"/>
          <p:cNvCxnSpPr/>
          <p:nvPr/>
        </p:nvCxnSpPr>
        <p:spPr>
          <a:xfrm>
            <a:off x="6096000" y="4178300"/>
            <a:ext cx="0" cy="19050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508000" y="4432300"/>
            <a:ext cx="11176000" cy="838200"/>
          </a:xfrm>
          <a:prstGeom prst="rect">
            <a:avLst/>
          </a:prstGeom>
          <a:solidFill>
            <a:srgbClr val="FFFFFF"/>
          </a:solidFill>
          <a:ln w="12700">
            <a:solidFill>
              <a:srgbClr val="DEDCD6"/>
            </a:solidFill>
          </a:ln>
        </p:spPr>
      </p:sp>
      <p:sp>
        <p:nvSpPr>
          <p:cNvPr id="17" name="shape 17"/>
          <p:cNvSpPr/>
          <p:nvPr/>
        </p:nvSpPr>
        <p:spPr>
          <a:xfrm>
            <a:off x="508000" y="4432300"/>
            <a:ext cx="2501900" cy="838200"/>
          </a:xfrm>
          <a:prstGeom prst="rect">
            <a:avLst/>
          </a:prstGeom>
          <a:solidFill>
            <a:srgbClr val="FFF2DF"/>
          </a:solidFill>
          <a:ln>
            <a:noFill/>
          </a:ln>
        </p:spPr>
      </p:sp>
      <p:sp>
        <p:nvSpPr>
          <p:cNvPr id="18" name="text 18"/>
          <p:cNvSpPr/>
          <p:nvPr/>
        </p:nvSpPr>
        <p:spPr>
          <a:xfrm>
            <a:off x="660400" y="4648200"/>
            <a:ext cx="2209800" cy="495300"/>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EXECUTION &amp;</a:t>
            </a:r>
            <a:endParaRPr lang="en-US" sz="1400"/>
          </a:p>
          <a:p>
            <a:pPr algn="l">
              <a:lnSpc>
                <a:spcPts val="1596"/>
              </a:lnSpc>
              <a:spcAft>
                <a:spcPts val="0"/>
              </a:spcAft>
            </a:pPr>
            <a:r>
              <a:rPr lang="en-US" sz="1400" b="1" dirty="0">
                <a:solidFill>
                  <a:srgbClr val="181C23"/>
                </a:solidFill>
                <a:latin typeface="Funnel Sans"/>
              </a:rPr>
              <a:t>PERSISTENCE</a:t>
            </a:r>
            <a:endParaRPr lang="en-US" sz="1400"/>
          </a:p>
        </p:txBody>
      </p:sp>
      <p:sp>
        <p:nvSpPr>
          <p:cNvPr id="19" name="text 19"/>
          <p:cNvSpPr/>
          <p:nvPr/>
        </p:nvSpPr>
        <p:spPr>
          <a:xfrm>
            <a:off x="3187700" y="4635500"/>
            <a:ext cx="8267700" cy="584200"/>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Deterministic Python engines • SQLite state • Upload storage • AAR artifacts</a:t>
            </a:r>
            <a:endParaRPr lang="en-US" sz="1800"/>
          </a:p>
        </p:txBody>
      </p:sp>
      <p:sp>
        <p:nvSpPr>
          <p:cNvPr id="20" name="shape 20"/>
          <p:cNvSpPr/>
          <p:nvPr/>
        </p:nvSpPr>
        <p:spPr>
          <a:xfrm>
            <a:off x="508000" y="5740400"/>
            <a:ext cx="11176000" cy="546100"/>
          </a:xfrm>
          <a:prstGeom prst="rect">
            <a:avLst/>
          </a:prstGeom>
          <a:solidFill>
            <a:srgbClr val="282A27"/>
          </a:solidFill>
          <a:ln>
            <a:noFill/>
          </a:ln>
        </p:spPr>
      </p:sp>
      <p:sp>
        <p:nvSpPr>
          <p:cNvPr id="21" name="text 21"/>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AI services are configured separately; deterministic calculations retain the verdict boundary.</a:t>
            </a:r>
            <a:endParaRPr lang="en-US" sz="1600"/>
          </a:p>
        </p:txBody>
      </p:sp>
      <p:cxnSp>
        <p:nvCxnSpPr>
          <p:cNvPr id="22" name="connector 2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text 2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4" name="text 2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18 / 87</a:t>
            </a:r>
            <a:endParaRPr 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03 / DIAGNOSTIC CATALOG</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See which diagnostic implementations can be launched</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Implementation status and register availability are intentionally separate.</a:t>
            </a:r>
            <a:endParaRPr lang="en-US" sz="1500"/>
          </a:p>
        </p:txBody>
      </p:sp>
      <p:sp>
        <p:nvSpPr>
          <p:cNvPr id="6" name="shape 6"/>
          <p:cNvSpPr/>
          <p:nvPr/>
        </p:nvSpPr>
        <p:spPr>
          <a:xfrm>
            <a:off x="508000" y="2146300"/>
            <a:ext cx="3129280" cy="457200"/>
          </a:xfrm>
          <a:prstGeom prst="rect">
            <a:avLst/>
          </a:prstGeom>
          <a:solidFill>
            <a:srgbClr val="282A27"/>
          </a:solidFill>
          <a:ln>
            <a:noFill/>
          </a:ln>
        </p:spPr>
      </p:sp>
      <p:sp>
        <p:nvSpPr>
          <p:cNvPr id="7" name="text 7"/>
          <p:cNvSpPr/>
          <p:nvPr/>
        </p:nvSpPr>
        <p:spPr>
          <a:xfrm>
            <a:off x="635000" y="2260600"/>
            <a:ext cx="28752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ID / diagnostic</a:t>
            </a:r>
            <a:endParaRPr lang="en-US" sz="1200"/>
          </a:p>
        </p:txBody>
      </p:sp>
      <p:sp>
        <p:nvSpPr>
          <p:cNvPr id="8" name="shape 8"/>
          <p:cNvSpPr/>
          <p:nvPr/>
        </p:nvSpPr>
        <p:spPr>
          <a:xfrm>
            <a:off x="3637280" y="2146300"/>
            <a:ext cx="2570480" cy="457200"/>
          </a:xfrm>
          <a:prstGeom prst="rect">
            <a:avLst/>
          </a:prstGeom>
          <a:solidFill>
            <a:srgbClr val="282A27"/>
          </a:solidFill>
          <a:ln>
            <a:noFill/>
          </a:ln>
        </p:spPr>
      </p:sp>
      <p:sp>
        <p:nvSpPr>
          <p:cNvPr id="9" name="text 9"/>
          <p:cNvSpPr/>
          <p:nvPr/>
        </p:nvSpPr>
        <p:spPr>
          <a:xfrm>
            <a:off x="3764280" y="2260600"/>
            <a:ext cx="23164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Purpose</a:t>
            </a:r>
            <a:endParaRPr lang="en-US" sz="1200"/>
          </a:p>
        </p:txBody>
      </p:sp>
      <p:sp>
        <p:nvSpPr>
          <p:cNvPr id="10" name="shape 10"/>
          <p:cNvSpPr/>
          <p:nvPr/>
        </p:nvSpPr>
        <p:spPr>
          <a:xfrm>
            <a:off x="6207760" y="2146300"/>
            <a:ext cx="3241040" cy="457200"/>
          </a:xfrm>
          <a:prstGeom prst="rect">
            <a:avLst/>
          </a:prstGeom>
          <a:solidFill>
            <a:srgbClr val="282A27"/>
          </a:solidFill>
          <a:ln>
            <a:noFill/>
          </a:ln>
        </p:spPr>
      </p:sp>
      <p:sp>
        <p:nvSpPr>
          <p:cNvPr id="11" name="text 11"/>
          <p:cNvSpPr/>
          <p:nvPr/>
        </p:nvSpPr>
        <p:spPr>
          <a:xfrm>
            <a:off x="6334760" y="2260600"/>
            <a:ext cx="29870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Input → main output</a:t>
            </a:r>
            <a:endParaRPr lang="en-US" sz="1200"/>
          </a:p>
        </p:txBody>
      </p:sp>
      <p:sp>
        <p:nvSpPr>
          <p:cNvPr id="12" name="shape 12"/>
          <p:cNvSpPr/>
          <p:nvPr/>
        </p:nvSpPr>
        <p:spPr>
          <a:xfrm>
            <a:off x="9448800" y="2146300"/>
            <a:ext cx="2235200" cy="457200"/>
          </a:xfrm>
          <a:prstGeom prst="rect">
            <a:avLst/>
          </a:prstGeom>
          <a:solidFill>
            <a:srgbClr val="282A27"/>
          </a:solidFill>
          <a:ln>
            <a:noFill/>
          </a:ln>
        </p:spPr>
      </p:sp>
      <p:sp>
        <p:nvSpPr>
          <p:cNvPr id="13" name="text 13"/>
          <p:cNvSpPr/>
          <p:nvPr/>
        </p:nvSpPr>
        <p:spPr>
          <a:xfrm>
            <a:off x="9575800" y="2260600"/>
            <a:ext cx="19812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Status / source</a:t>
            </a:r>
            <a:endParaRPr lang="en-US" sz="1200"/>
          </a:p>
        </p:txBody>
      </p:sp>
      <p:sp>
        <p:nvSpPr>
          <p:cNvPr id="14" name="shape 14"/>
          <p:cNvSpPr/>
          <p:nvPr/>
        </p:nvSpPr>
        <p:spPr>
          <a:xfrm>
            <a:off x="508000" y="2603500"/>
            <a:ext cx="3129280" cy="522817"/>
          </a:xfrm>
          <a:prstGeom prst="rect">
            <a:avLst/>
          </a:prstGeom>
          <a:solidFill>
            <a:srgbClr val="FFFFFF"/>
          </a:solidFill>
          <a:ln>
            <a:noFill/>
          </a:ln>
        </p:spPr>
      </p:sp>
      <p:sp>
        <p:nvSpPr>
          <p:cNvPr id="15" name="text 15"/>
          <p:cNvSpPr/>
          <p:nvPr/>
        </p:nvSpPr>
        <p:spPr>
          <a:xfrm>
            <a:off x="635000" y="2654300"/>
            <a:ext cx="2875280" cy="42121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T1-D02 Target separation</a:t>
            </a:r>
            <a:endParaRPr lang="en-US" sz="1400"/>
          </a:p>
        </p:txBody>
      </p:sp>
      <p:cxnSp>
        <p:nvCxnSpPr>
          <p:cNvPr id="16" name="connector 16"/>
          <p:cNvCxnSpPr/>
          <p:nvPr/>
        </p:nvCxnSpPr>
        <p:spPr>
          <a:xfrm>
            <a:off x="508000" y="3126317"/>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7" name="shape 17"/>
          <p:cNvSpPr/>
          <p:nvPr/>
        </p:nvSpPr>
        <p:spPr>
          <a:xfrm>
            <a:off x="3637280" y="2603500"/>
            <a:ext cx="2570480" cy="522817"/>
          </a:xfrm>
          <a:prstGeom prst="rect">
            <a:avLst/>
          </a:prstGeom>
          <a:solidFill>
            <a:srgbClr val="FFFFFF"/>
          </a:solidFill>
          <a:ln>
            <a:noFill/>
          </a:ln>
        </p:spPr>
      </p:sp>
      <p:sp>
        <p:nvSpPr>
          <p:cNvPr id="18" name="text 18"/>
          <p:cNvSpPr/>
          <p:nvPr/>
        </p:nvSpPr>
        <p:spPr>
          <a:xfrm>
            <a:off x="3764280" y="2654300"/>
            <a:ext cx="231648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Review feature–target</a:t>
            </a:r>
            <a:endParaRPr lang="en-US" sz="1400"/>
          </a:p>
          <a:p>
            <a:pPr algn="l">
              <a:lnSpc>
                <a:spcPts val="1596"/>
              </a:lnSpc>
              <a:spcAft>
                <a:spcPts val="0"/>
              </a:spcAft>
            </a:pPr>
            <a:r>
              <a:rPr lang="en-US" sz="1400" b="0" dirty="0">
                <a:solidFill>
                  <a:srgbClr val="181C23"/>
                </a:solidFill>
                <a:latin typeface="Funnel Sans"/>
              </a:rPr>
              <a:t>separation</a:t>
            </a:r>
            <a:endParaRPr lang="en-US" sz="1400"/>
          </a:p>
        </p:txBody>
      </p:sp>
      <p:cxnSp>
        <p:nvCxnSpPr>
          <p:cNvPr id="19" name="connector 19"/>
          <p:cNvCxnSpPr/>
          <p:nvPr/>
        </p:nvCxnSpPr>
        <p:spPr>
          <a:xfrm>
            <a:off x="3637280" y="3126317"/>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6207760" y="2603500"/>
            <a:ext cx="3241040" cy="522817"/>
          </a:xfrm>
          <a:prstGeom prst="rect">
            <a:avLst/>
          </a:prstGeom>
          <a:solidFill>
            <a:srgbClr val="FFFFFF"/>
          </a:solidFill>
          <a:ln>
            <a:noFill/>
          </a:ln>
        </p:spPr>
      </p:sp>
      <p:sp>
        <p:nvSpPr>
          <p:cNvPr id="21" name="text 21"/>
          <p:cNvSpPr/>
          <p:nvPr/>
        </p:nvSpPr>
        <p:spPr>
          <a:xfrm>
            <a:off x="6334760" y="2654300"/>
            <a:ext cx="298704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Features + target → AUC / IV</a:t>
            </a:r>
            <a:endParaRPr lang="en-US" sz="1400"/>
          </a:p>
          <a:p>
            <a:pPr algn="l">
              <a:lnSpc>
                <a:spcPts val="1596"/>
              </a:lnSpc>
              <a:spcAft>
                <a:spcPts val="0"/>
              </a:spcAft>
            </a:pPr>
            <a:r>
              <a:rPr lang="en-US" sz="1400" b="0" dirty="0">
                <a:solidFill>
                  <a:srgbClr val="181C23"/>
                </a:solidFill>
                <a:latin typeface="Funnel Sans"/>
              </a:rPr>
              <a:t>evidence</a:t>
            </a:r>
            <a:endParaRPr lang="en-US" sz="1400"/>
          </a:p>
        </p:txBody>
      </p:sp>
      <p:cxnSp>
        <p:nvCxnSpPr>
          <p:cNvPr id="22" name="connector 22"/>
          <p:cNvCxnSpPr/>
          <p:nvPr/>
        </p:nvCxnSpPr>
        <p:spPr>
          <a:xfrm>
            <a:off x="6207760" y="3126317"/>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9448800" y="2603500"/>
            <a:ext cx="2235200" cy="522817"/>
          </a:xfrm>
          <a:prstGeom prst="rect">
            <a:avLst/>
          </a:prstGeom>
          <a:solidFill>
            <a:srgbClr val="FFFFFF"/>
          </a:solidFill>
          <a:ln>
            <a:noFill/>
          </a:ln>
        </p:spPr>
      </p:sp>
      <p:sp>
        <p:nvSpPr>
          <p:cNvPr id="24" name="text 24"/>
          <p:cNvSpPr/>
          <p:nvPr/>
        </p:nvSpPr>
        <p:spPr>
          <a:xfrm>
            <a:off x="9575800" y="2654300"/>
            <a:ext cx="198120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 • enabled</a:t>
            </a:r>
            <a:endParaRPr lang="en-US" sz="1400"/>
          </a:p>
          <a:p>
            <a:pPr algn="l">
              <a:lnSpc>
                <a:spcPts val="1596"/>
              </a:lnSpc>
              <a:spcAft>
                <a:spcPts val="0"/>
              </a:spcAft>
            </a:pPr>
            <a:r>
              <a:rPr lang="en-US" sz="1400" b="0" dirty="0">
                <a:solidFill>
                  <a:srgbClr val="181C23"/>
                </a:solidFill>
                <a:latin typeface="Funnel Sans"/>
              </a:rPr>
              <a:t>D02R</a:t>
            </a:r>
            <a:endParaRPr lang="en-US" sz="1400"/>
          </a:p>
        </p:txBody>
      </p:sp>
      <p:cxnSp>
        <p:nvCxnSpPr>
          <p:cNvPr id="25" name="connector 25"/>
          <p:cNvCxnSpPr/>
          <p:nvPr/>
        </p:nvCxnSpPr>
        <p:spPr>
          <a:xfrm>
            <a:off x="9448800" y="3126317"/>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508000" y="3126317"/>
            <a:ext cx="3129280" cy="522817"/>
          </a:xfrm>
          <a:prstGeom prst="rect">
            <a:avLst/>
          </a:prstGeom>
          <a:solidFill>
            <a:srgbClr val="EFEEE9"/>
          </a:solidFill>
          <a:ln>
            <a:noFill/>
          </a:ln>
        </p:spPr>
      </p:sp>
      <p:sp>
        <p:nvSpPr>
          <p:cNvPr id="27" name="text 27"/>
          <p:cNvSpPr/>
          <p:nvPr/>
        </p:nvSpPr>
        <p:spPr>
          <a:xfrm>
            <a:off x="635000" y="3177117"/>
            <a:ext cx="2875280" cy="42121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T2-D04 Cross-field rule</a:t>
            </a:r>
            <a:endParaRPr lang="en-US" sz="1400"/>
          </a:p>
        </p:txBody>
      </p:sp>
      <p:cxnSp>
        <p:nvCxnSpPr>
          <p:cNvPr id="28" name="connector 28"/>
          <p:cNvCxnSpPr/>
          <p:nvPr/>
        </p:nvCxnSpPr>
        <p:spPr>
          <a:xfrm>
            <a:off x="508000" y="3649133"/>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shape 29"/>
          <p:cNvSpPr/>
          <p:nvPr/>
        </p:nvSpPr>
        <p:spPr>
          <a:xfrm>
            <a:off x="3637280" y="3126317"/>
            <a:ext cx="2570480" cy="522817"/>
          </a:xfrm>
          <a:prstGeom prst="rect">
            <a:avLst/>
          </a:prstGeom>
          <a:solidFill>
            <a:srgbClr val="EFEEE9"/>
          </a:solidFill>
          <a:ln>
            <a:noFill/>
          </a:ln>
        </p:spPr>
      </p:sp>
      <p:sp>
        <p:nvSpPr>
          <p:cNvPr id="30" name="text 30"/>
          <p:cNvSpPr/>
          <p:nvPr/>
        </p:nvSpPr>
        <p:spPr>
          <a:xfrm>
            <a:off x="3764280" y="3177117"/>
            <a:ext cx="231648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Check governed business</a:t>
            </a:r>
            <a:endParaRPr lang="en-US" sz="1400"/>
          </a:p>
          <a:p>
            <a:pPr algn="l">
              <a:lnSpc>
                <a:spcPts val="1596"/>
              </a:lnSpc>
              <a:spcAft>
                <a:spcPts val="0"/>
              </a:spcAft>
            </a:pPr>
            <a:r>
              <a:rPr lang="en-US" sz="1400" b="0" dirty="0">
                <a:solidFill>
                  <a:srgbClr val="181C23"/>
                </a:solidFill>
                <a:latin typeface="Funnel Sans"/>
              </a:rPr>
              <a:t>rules</a:t>
            </a:r>
            <a:endParaRPr lang="en-US" sz="1400"/>
          </a:p>
        </p:txBody>
      </p:sp>
      <p:cxnSp>
        <p:nvCxnSpPr>
          <p:cNvPr id="31" name="connector 31"/>
          <p:cNvCxnSpPr/>
          <p:nvPr/>
        </p:nvCxnSpPr>
        <p:spPr>
          <a:xfrm>
            <a:off x="3637280" y="3649133"/>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6207760" y="3126317"/>
            <a:ext cx="3241040" cy="522817"/>
          </a:xfrm>
          <a:prstGeom prst="rect">
            <a:avLst/>
          </a:prstGeom>
          <a:solidFill>
            <a:srgbClr val="EFEEE9"/>
          </a:solidFill>
          <a:ln>
            <a:noFill/>
          </a:ln>
        </p:spPr>
      </p:sp>
      <p:sp>
        <p:nvSpPr>
          <p:cNvPr id="33" name="text 33"/>
          <p:cNvSpPr/>
          <p:nvPr/>
        </p:nvSpPr>
        <p:spPr>
          <a:xfrm>
            <a:off x="6334760" y="3177117"/>
            <a:ext cx="298704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Rows + KB rules → verdicts</a:t>
            </a:r>
            <a:endParaRPr lang="en-US" sz="1400"/>
          </a:p>
        </p:txBody>
      </p:sp>
      <p:cxnSp>
        <p:nvCxnSpPr>
          <p:cNvPr id="34" name="connector 34"/>
          <p:cNvCxnSpPr/>
          <p:nvPr/>
        </p:nvCxnSpPr>
        <p:spPr>
          <a:xfrm>
            <a:off x="6207760" y="3649133"/>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shape 35"/>
          <p:cNvSpPr/>
          <p:nvPr/>
        </p:nvSpPr>
        <p:spPr>
          <a:xfrm>
            <a:off x="9448800" y="3126317"/>
            <a:ext cx="2235200" cy="522817"/>
          </a:xfrm>
          <a:prstGeom prst="rect">
            <a:avLst/>
          </a:prstGeom>
          <a:solidFill>
            <a:srgbClr val="EFEEE9"/>
          </a:solidFill>
          <a:ln>
            <a:noFill/>
          </a:ln>
        </p:spPr>
      </p:sp>
      <p:sp>
        <p:nvSpPr>
          <p:cNvPr id="36" name="text 36"/>
          <p:cNvSpPr/>
          <p:nvPr/>
        </p:nvSpPr>
        <p:spPr>
          <a:xfrm>
            <a:off x="9575800" y="3177117"/>
            <a:ext cx="198120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 • paused</a:t>
            </a:r>
            <a:endParaRPr lang="en-US" sz="1400"/>
          </a:p>
          <a:p>
            <a:pPr algn="l">
              <a:lnSpc>
                <a:spcPts val="1596"/>
              </a:lnSpc>
              <a:spcAft>
                <a:spcPts val="0"/>
              </a:spcAft>
            </a:pPr>
            <a:r>
              <a:rPr lang="en-US" sz="1400" b="0" dirty="0">
                <a:solidFill>
                  <a:srgbClr val="181C23"/>
                </a:solidFill>
                <a:latin typeface="Funnel Sans"/>
              </a:rPr>
              <a:t>D04R</a:t>
            </a:r>
            <a:endParaRPr lang="en-US" sz="1400"/>
          </a:p>
        </p:txBody>
      </p:sp>
      <p:cxnSp>
        <p:nvCxnSpPr>
          <p:cNvPr id="37" name="connector 37"/>
          <p:cNvCxnSpPr/>
          <p:nvPr/>
        </p:nvCxnSpPr>
        <p:spPr>
          <a:xfrm>
            <a:off x="9448800" y="3649133"/>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508000" y="3649133"/>
            <a:ext cx="3129280" cy="522817"/>
          </a:xfrm>
          <a:prstGeom prst="rect">
            <a:avLst/>
          </a:prstGeom>
          <a:solidFill>
            <a:srgbClr val="FFFFFF"/>
          </a:solidFill>
          <a:ln>
            <a:noFill/>
          </a:ln>
        </p:spPr>
      </p:sp>
      <p:sp>
        <p:nvSpPr>
          <p:cNvPr id="39" name="text 39"/>
          <p:cNvSpPr/>
          <p:nvPr/>
        </p:nvSpPr>
        <p:spPr>
          <a:xfrm>
            <a:off x="635000" y="3699933"/>
            <a:ext cx="2875280" cy="42121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T2-D06 Row completeness</a:t>
            </a:r>
            <a:endParaRPr lang="en-US" sz="1400"/>
          </a:p>
        </p:txBody>
      </p:sp>
      <p:cxnSp>
        <p:nvCxnSpPr>
          <p:cNvPr id="40" name="connector 40"/>
          <p:cNvCxnSpPr/>
          <p:nvPr/>
        </p:nvCxnSpPr>
        <p:spPr>
          <a:xfrm>
            <a:off x="508000" y="417195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3637280" y="3649133"/>
            <a:ext cx="2570480" cy="522817"/>
          </a:xfrm>
          <a:prstGeom prst="rect">
            <a:avLst/>
          </a:prstGeom>
          <a:solidFill>
            <a:srgbClr val="FFFFFF"/>
          </a:solidFill>
          <a:ln>
            <a:noFill/>
          </a:ln>
        </p:spPr>
      </p:sp>
      <p:sp>
        <p:nvSpPr>
          <p:cNvPr id="42" name="text 42"/>
          <p:cNvSpPr/>
          <p:nvPr/>
        </p:nvSpPr>
        <p:spPr>
          <a:xfrm>
            <a:off x="3764280" y="3699933"/>
            <a:ext cx="231648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Find panel continuity gaps</a:t>
            </a:r>
            <a:endParaRPr lang="en-US" sz="1400"/>
          </a:p>
        </p:txBody>
      </p:sp>
      <p:cxnSp>
        <p:nvCxnSpPr>
          <p:cNvPr id="43" name="connector 43"/>
          <p:cNvCxnSpPr/>
          <p:nvPr/>
        </p:nvCxnSpPr>
        <p:spPr>
          <a:xfrm>
            <a:off x="3637280" y="417195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4" name="shape 44"/>
          <p:cNvSpPr/>
          <p:nvPr/>
        </p:nvSpPr>
        <p:spPr>
          <a:xfrm>
            <a:off x="6207760" y="3649133"/>
            <a:ext cx="3241040" cy="522817"/>
          </a:xfrm>
          <a:prstGeom prst="rect">
            <a:avLst/>
          </a:prstGeom>
          <a:solidFill>
            <a:srgbClr val="FFFFFF"/>
          </a:solidFill>
          <a:ln>
            <a:noFill/>
          </a:ln>
        </p:spPr>
      </p:sp>
      <p:sp>
        <p:nvSpPr>
          <p:cNvPr id="45" name="text 45"/>
          <p:cNvSpPr/>
          <p:nvPr/>
        </p:nvSpPr>
        <p:spPr>
          <a:xfrm>
            <a:off x="6334760" y="3699933"/>
            <a:ext cx="298704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Facility × period → gap evidence</a:t>
            </a:r>
            <a:endParaRPr lang="en-US" sz="1400"/>
          </a:p>
        </p:txBody>
      </p:sp>
      <p:cxnSp>
        <p:nvCxnSpPr>
          <p:cNvPr id="46" name="connector 46"/>
          <p:cNvCxnSpPr/>
          <p:nvPr/>
        </p:nvCxnSpPr>
        <p:spPr>
          <a:xfrm>
            <a:off x="6207760" y="417195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shape 47"/>
          <p:cNvSpPr/>
          <p:nvPr/>
        </p:nvSpPr>
        <p:spPr>
          <a:xfrm>
            <a:off x="9448800" y="3649133"/>
            <a:ext cx="2235200" cy="522817"/>
          </a:xfrm>
          <a:prstGeom prst="rect">
            <a:avLst/>
          </a:prstGeom>
          <a:solidFill>
            <a:srgbClr val="FFFFFF"/>
          </a:solidFill>
          <a:ln>
            <a:noFill/>
          </a:ln>
        </p:spPr>
      </p:sp>
      <p:sp>
        <p:nvSpPr>
          <p:cNvPr id="48" name="text 48"/>
          <p:cNvSpPr/>
          <p:nvPr/>
        </p:nvSpPr>
        <p:spPr>
          <a:xfrm>
            <a:off x="9575800" y="3699933"/>
            <a:ext cx="198120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 • enabled</a:t>
            </a:r>
            <a:endParaRPr lang="en-US" sz="1400"/>
          </a:p>
          <a:p>
            <a:pPr algn="l">
              <a:lnSpc>
                <a:spcPts val="1596"/>
              </a:lnSpc>
              <a:spcAft>
                <a:spcPts val="0"/>
              </a:spcAft>
            </a:pPr>
            <a:r>
              <a:rPr lang="en-US" sz="1400" b="0" dirty="0">
                <a:solidFill>
                  <a:srgbClr val="181C23"/>
                </a:solidFill>
                <a:latin typeface="Funnel Sans"/>
              </a:rPr>
              <a:t>D06R</a:t>
            </a:r>
            <a:endParaRPr lang="en-US" sz="1400"/>
          </a:p>
        </p:txBody>
      </p:sp>
      <p:cxnSp>
        <p:nvCxnSpPr>
          <p:cNvPr id="49" name="connector 49"/>
          <p:cNvCxnSpPr/>
          <p:nvPr/>
        </p:nvCxnSpPr>
        <p:spPr>
          <a:xfrm>
            <a:off x="9448800" y="417195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0" name="shape 50"/>
          <p:cNvSpPr/>
          <p:nvPr/>
        </p:nvSpPr>
        <p:spPr>
          <a:xfrm>
            <a:off x="508000" y="4171950"/>
            <a:ext cx="3129280" cy="522817"/>
          </a:xfrm>
          <a:prstGeom prst="rect">
            <a:avLst/>
          </a:prstGeom>
          <a:solidFill>
            <a:srgbClr val="EFEEE9"/>
          </a:solidFill>
          <a:ln>
            <a:noFill/>
          </a:ln>
        </p:spPr>
      </p:sp>
      <p:sp>
        <p:nvSpPr>
          <p:cNvPr id="51" name="text 51"/>
          <p:cNvSpPr/>
          <p:nvPr/>
        </p:nvSpPr>
        <p:spPr>
          <a:xfrm>
            <a:off x="635000" y="4222750"/>
            <a:ext cx="2875280" cy="42121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T2-D08 Value semantics</a:t>
            </a:r>
            <a:endParaRPr lang="en-US" sz="1400"/>
          </a:p>
        </p:txBody>
      </p:sp>
      <p:cxnSp>
        <p:nvCxnSpPr>
          <p:cNvPr id="52" name="connector 52"/>
          <p:cNvCxnSpPr/>
          <p:nvPr/>
        </p:nvCxnSpPr>
        <p:spPr>
          <a:xfrm>
            <a:off x="508000" y="4694767"/>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3" name="shape 53"/>
          <p:cNvSpPr/>
          <p:nvPr/>
        </p:nvSpPr>
        <p:spPr>
          <a:xfrm>
            <a:off x="3637280" y="4171950"/>
            <a:ext cx="2570480" cy="522817"/>
          </a:xfrm>
          <a:prstGeom prst="rect">
            <a:avLst/>
          </a:prstGeom>
          <a:solidFill>
            <a:srgbClr val="EFEEE9"/>
          </a:solidFill>
          <a:ln>
            <a:noFill/>
          </a:ln>
        </p:spPr>
      </p:sp>
      <p:sp>
        <p:nvSpPr>
          <p:cNvPr id="54" name="text 54"/>
          <p:cNvSpPr/>
          <p:nvPr/>
        </p:nvSpPr>
        <p:spPr>
          <a:xfrm>
            <a:off x="3764280" y="4222750"/>
            <a:ext cx="231648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Explain exceptional values</a:t>
            </a:r>
            <a:endParaRPr lang="en-US" sz="1400"/>
          </a:p>
        </p:txBody>
      </p:sp>
      <p:cxnSp>
        <p:nvCxnSpPr>
          <p:cNvPr id="55" name="connector 55"/>
          <p:cNvCxnSpPr/>
          <p:nvPr/>
        </p:nvCxnSpPr>
        <p:spPr>
          <a:xfrm>
            <a:off x="3637280" y="4694767"/>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6" name="shape 56"/>
          <p:cNvSpPr/>
          <p:nvPr/>
        </p:nvSpPr>
        <p:spPr>
          <a:xfrm>
            <a:off x="6207760" y="4171950"/>
            <a:ext cx="3241040" cy="522817"/>
          </a:xfrm>
          <a:prstGeom prst="rect">
            <a:avLst/>
          </a:prstGeom>
          <a:solidFill>
            <a:srgbClr val="EFEEE9"/>
          </a:solidFill>
          <a:ln>
            <a:noFill/>
          </a:ln>
        </p:spPr>
      </p:sp>
      <p:sp>
        <p:nvSpPr>
          <p:cNvPr id="57" name="text 57"/>
          <p:cNvSpPr/>
          <p:nvPr/>
        </p:nvSpPr>
        <p:spPr>
          <a:xfrm>
            <a:off x="6334760" y="4222750"/>
            <a:ext cx="298704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Fields + roles → tags and coverage</a:t>
            </a:r>
            <a:endParaRPr lang="en-US" sz="1400"/>
          </a:p>
        </p:txBody>
      </p:sp>
      <p:cxnSp>
        <p:nvCxnSpPr>
          <p:cNvPr id="58" name="connector 58"/>
          <p:cNvCxnSpPr/>
          <p:nvPr/>
        </p:nvCxnSpPr>
        <p:spPr>
          <a:xfrm>
            <a:off x="6207760" y="4694767"/>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9" name="shape 59"/>
          <p:cNvSpPr/>
          <p:nvPr/>
        </p:nvSpPr>
        <p:spPr>
          <a:xfrm>
            <a:off x="9448800" y="4171950"/>
            <a:ext cx="2235200" cy="522817"/>
          </a:xfrm>
          <a:prstGeom prst="rect">
            <a:avLst/>
          </a:prstGeom>
          <a:solidFill>
            <a:srgbClr val="EFEEE9"/>
          </a:solidFill>
          <a:ln>
            <a:noFill/>
          </a:ln>
        </p:spPr>
      </p:sp>
      <p:sp>
        <p:nvSpPr>
          <p:cNvPr id="60" name="text 60"/>
          <p:cNvSpPr/>
          <p:nvPr/>
        </p:nvSpPr>
        <p:spPr>
          <a:xfrm>
            <a:off x="9575800" y="4222750"/>
            <a:ext cx="198120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 • enabled</a:t>
            </a:r>
            <a:endParaRPr lang="en-US" sz="1400"/>
          </a:p>
          <a:p>
            <a:pPr algn="l">
              <a:lnSpc>
                <a:spcPts val="1596"/>
              </a:lnSpc>
              <a:spcAft>
                <a:spcPts val="0"/>
              </a:spcAft>
            </a:pPr>
            <a:r>
              <a:rPr lang="en-US" sz="1400" b="0" dirty="0">
                <a:solidFill>
                  <a:srgbClr val="181C23"/>
                </a:solidFill>
                <a:latin typeface="Funnel Sans"/>
              </a:rPr>
              <a:t>D08R</a:t>
            </a:r>
            <a:endParaRPr lang="en-US" sz="1400"/>
          </a:p>
        </p:txBody>
      </p:sp>
      <p:cxnSp>
        <p:nvCxnSpPr>
          <p:cNvPr id="61" name="connector 61"/>
          <p:cNvCxnSpPr/>
          <p:nvPr/>
        </p:nvCxnSpPr>
        <p:spPr>
          <a:xfrm>
            <a:off x="9448800" y="4694767"/>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2" name="shape 62"/>
          <p:cNvSpPr/>
          <p:nvPr/>
        </p:nvSpPr>
        <p:spPr>
          <a:xfrm>
            <a:off x="508000" y="4694767"/>
            <a:ext cx="3129280" cy="522817"/>
          </a:xfrm>
          <a:prstGeom prst="rect">
            <a:avLst/>
          </a:prstGeom>
          <a:solidFill>
            <a:srgbClr val="FFFFFF"/>
          </a:solidFill>
          <a:ln>
            <a:noFill/>
          </a:ln>
        </p:spPr>
      </p:sp>
      <p:sp>
        <p:nvSpPr>
          <p:cNvPr id="63" name="text 63"/>
          <p:cNvSpPr/>
          <p:nvPr/>
        </p:nvSpPr>
        <p:spPr>
          <a:xfrm>
            <a:off x="635000" y="4745567"/>
            <a:ext cx="2875280" cy="42121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T2-D11 Directional consistency</a:t>
            </a:r>
            <a:endParaRPr lang="en-US" sz="1400"/>
          </a:p>
        </p:txBody>
      </p:sp>
      <p:cxnSp>
        <p:nvCxnSpPr>
          <p:cNvPr id="64" name="connector 64"/>
          <p:cNvCxnSpPr/>
          <p:nvPr/>
        </p:nvCxnSpPr>
        <p:spPr>
          <a:xfrm>
            <a:off x="508000" y="5217583"/>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5" name="shape 65"/>
          <p:cNvSpPr/>
          <p:nvPr/>
        </p:nvSpPr>
        <p:spPr>
          <a:xfrm>
            <a:off x="3637280" y="4694767"/>
            <a:ext cx="2570480" cy="522817"/>
          </a:xfrm>
          <a:prstGeom prst="rect">
            <a:avLst/>
          </a:prstGeom>
          <a:solidFill>
            <a:srgbClr val="FFFFFF"/>
          </a:solidFill>
          <a:ln>
            <a:noFill/>
          </a:ln>
        </p:spPr>
      </p:sp>
      <p:sp>
        <p:nvSpPr>
          <p:cNvPr id="66" name="text 66"/>
          <p:cNvSpPr/>
          <p:nvPr/>
        </p:nvSpPr>
        <p:spPr>
          <a:xfrm>
            <a:off x="3764280" y="4745567"/>
            <a:ext cx="231648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Compare expected /</a:t>
            </a:r>
            <a:endParaRPr lang="en-US" sz="1400"/>
          </a:p>
          <a:p>
            <a:pPr algn="l">
              <a:lnSpc>
                <a:spcPts val="1596"/>
              </a:lnSpc>
              <a:spcAft>
                <a:spcPts val="0"/>
              </a:spcAft>
            </a:pPr>
            <a:r>
              <a:rPr lang="en-US" sz="1400" b="0" dirty="0">
                <a:solidFill>
                  <a:srgbClr val="181C23"/>
                </a:solidFill>
                <a:latin typeface="Funnel Sans"/>
              </a:rPr>
              <a:t>observed direction</a:t>
            </a:r>
            <a:endParaRPr lang="en-US" sz="1400"/>
          </a:p>
        </p:txBody>
      </p:sp>
      <p:cxnSp>
        <p:nvCxnSpPr>
          <p:cNvPr id="67" name="connector 67"/>
          <p:cNvCxnSpPr/>
          <p:nvPr/>
        </p:nvCxnSpPr>
        <p:spPr>
          <a:xfrm>
            <a:off x="3637280" y="5217583"/>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8" name="shape 68"/>
          <p:cNvSpPr/>
          <p:nvPr/>
        </p:nvSpPr>
        <p:spPr>
          <a:xfrm>
            <a:off x="6207760" y="4694767"/>
            <a:ext cx="3241040" cy="522817"/>
          </a:xfrm>
          <a:prstGeom prst="rect">
            <a:avLst/>
          </a:prstGeom>
          <a:solidFill>
            <a:srgbClr val="FFFFFF"/>
          </a:solidFill>
          <a:ln>
            <a:noFill/>
          </a:ln>
        </p:spPr>
      </p:sp>
      <p:sp>
        <p:nvSpPr>
          <p:cNvPr id="69" name="text 69"/>
          <p:cNvSpPr/>
          <p:nvPr/>
        </p:nvSpPr>
        <p:spPr>
          <a:xfrm>
            <a:off x="6334760" y="4745567"/>
            <a:ext cx="298704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Numeric features + reference →</a:t>
            </a:r>
            <a:endParaRPr lang="en-US" sz="1400"/>
          </a:p>
          <a:p>
            <a:pPr algn="l">
              <a:lnSpc>
                <a:spcPts val="1596"/>
              </a:lnSpc>
              <a:spcAft>
                <a:spcPts val="0"/>
              </a:spcAft>
            </a:pPr>
            <a:r>
              <a:rPr lang="en-US" sz="1400" b="0" dirty="0">
                <a:solidFill>
                  <a:srgbClr val="181C23"/>
                </a:solidFill>
                <a:latin typeface="Funnel Sans"/>
              </a:rPr>
              <a:t>evidence</a:t>
            </a:r>
            <a:endParaRPr lang="en-US" sz="1400"/>
          </a:p>
        </p:txBody>
      </p:sp>
      <p:cxnSp>
        <p:nvCxnSpPr>
          <p:cNvPr id="70" name="connector 70"/>
          <p:cNvCxnSpPr/>
          <p:nvPr/>
        </p:nvCxnSpPr>
        <p:spPr>
          <a:xfrm>
            <a:off x="6207760" y="5217583"/>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1" name="shape 71"/>
          <p:cNvSpPr/>
          <p:nvPr/>
        </p:nvSpPr>
        <p:spPr>
          <a:xfrm>
            <a:off x="9448800" y="4694767"/>
            <a:ext cx="2235200" cy="522817"/>
          </a:xfrm>
          <a:prstGeom prst="rect">
            <a:avLst/>
          </a:prstGeom>
          <a:solidFill>
            <a:srgbClr val="FFFFFF"/>
          </a:solidFill>
          <a:ln>
            <a:noFill/>
          </a:ln>
        </p:spPr>
      </p:sp>
      <p:sp>
        <p:nvSpPr>
          <p:cNvPr id="72" name="text 72"/>
          <p:cNvSpPr/>
          <p:nvPr/>
        </p:nvSpPr>
        <p:spPr>
          <a:xfrm>
            <a:off x="9575800" y="4745567"/>
            <a:ext cx="198120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 • enabled</a:t>
            </a:r>
            <a:endParaRPr lang="en-US" sz="1400"/>
          </a:p>
          <a:p>
            <a:pPr algn="l">
              <a:lnSpc>
                <a:spcPts val="1596"/>
              </a:lnSpc>
              <a:spcAft>
                <a:spcPts val="0"/>
              </a:spcAft>
            </a:pPr>
            <a:r>
              <a:rPr lang="en-US" sz="1400" b="0" dirty="0">
                <a:solidFill>
                  <a:srgbClr val="181C23"/>
                </a:solidFill>
                <a:latin typeface="Funnel Sans"/>
              </a:rPr>
              <a:t>D11R</a:t>
            </a:r>
            <a:endParaRPr lang="en-US" sz="1400"/>
          </a:p>
        </p:txBody>
      </p:sp>
      <p:cxnSp>
        <p:nvCxnSpPr>
          <p:cNvPr id="73" name="connector 73"/>
          <p:cNvCxnSpPr/>
          <p:nvPr/>
        </p:nvCxnSpPr>
        <p:spPr>
          <a:xfrm>
            <a:off x="9448800" y="5217583"/>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4" name="shape 74"/>
          <p:cNvSpPr/>
          <p:nvPr/>
        </p:nvSpPr>
        <p:spPr>
          <a:xfrm>
            <a:off x="508000" y="5217583"/>
            <a:ext cx="3129280" cy="522817"/>
          </a:xfrm>
          <a:prstGeom prst="rect">
            <a:avLst/>
          </a:prstGeom>
          <a:solidFill>
            <a:srgbClr val="EFEEE9"/>
          </a:solidFill>
          <a:ln>
            <a:noFill/>
          </a:ln>
        </p:spPr>
      </p:sp>
      <p:sp>
        <p:nvSpPr>
          <p:cNvPr id="75" name="text 75"/>
          <p:cNvSpPr/>
          <p:nvPr/>
        </p:nvSpPr>
        <p:spPr>
          <a:xfrm>
            <a:off x="635000" y="5268383"/>
            <a:ext cx="2875280" cy="42121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T4-D14 Population Stability Index</a:t>
            </a:r>
            <a:endParaRPr lang="en-US" sz="1400"/>
          </a:p>
          <a:p>
            <a:pPr algn="l">
              <a:lnSpc>
                <a:spcPts val="1596"/>
              </a:lnSpc>
              <a:spcAft>
                <a:spcPts val="0"/>
              </a:spcAft>
            </a:pPr>
            <a:r>
              <a:rPr lang="en-US" sz="1400" b="1" dirty="0">
                <a:solidFill>
                  <a:srgbClr val="181C23"/>
                </a:solidFill>
                <a:latin typeface="Funnel Sans"/>
              </a:rPr>
              <a:t>(PSI)</a:t>
            </a:r>
            <a:endParaRPr lang="en-US" sz="1400"/>
          </a:p>
        </p:txBody>
      </p:sp>
      <p:cxnSp>
        <p:nvCxnSpPr>
          <p:cNvPr id="76" name="connector 76"/>
          <p:cNvCxnSpPr/>
          <p:nvPr/>
        </p:nvCxnSpPr>
        <p:spPr>
          <a:xfrm>
            <a:off x="508000" y="57404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7" name="shape 77"/>
          <p:cNvSpPr/>
          <p:nvPr/>
        </p:nvSpPr>
        <p:spPr>
          <a:xfrm>
            <a:off x="3637280" y="5217583"/>
            <a:ext cx="2570480" cy="522817"/>
          </a:xfrm>
          <a:prstGeom prst="rect">
            <a:avLst/>
          </a:prstGeom>
          <a:solidFill>
            <a:srgbClr val="EFEEE9"/>
          </a:solidFill>
          <a:ln>
            <a:noFill/>
          </a:ln>
        </p:spPr>
      </p:sp>
      <p:sp>
        <p:nvSpPr>
          <p:cNvPr id="78" name="text 78"/>
          <p:cNvSpPr/>
          <p:nvPr/>
        </p:nvSpPr>
        <p:spPr>
          <a:xfrm>
            <a:off x="3764280" y="5268383"/>
            <a:ext cx="231648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Compare two populations</a:t>
            </a:r>
            <a:endParaRPr lang="en-US" sz="1400"/>
          </a:p>
        </p:txBody>
      </p:sp>
      <p:cxnSp>
        <p:nvCxnSpPr>
          <p:cNvPr id="79" name="connector 79"/>
          <p:cNvCxnSpPr/>
          <p:nvPr/>
        </p:nvCxnSpPr>
        <p:spPr>
          <a:xfrm>
            <a:off x="3637280" y="574040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80" name="shape 80"/>
          <p:cNvSpPr/>
          <p:nvPr/>
        </p:nvSpPr>
        <p:spPr>
          <a:xfrm>
            <a:off x="6207760" y="5217583"/>
            <a:ext cx="3241040" cy="522817"/>
          </a:xfrm>
          <a:prstGeom prst="rect">
            <a:avLst/>
          </a:prstGeom>
          <a:solidFill>
            <a:srgbClr val="EFEEE9"/>
          </a:solidFill>
          <a:ln>
            <a:noFill/>
          </a:ln>
        </p:spPr>
      </p:sp>
      <p:sp>
        <p:nvSpPr>
          <p:cNvPr id="81" name="text 81"/>
          <p:cNvSpPr/>
          <p:nvPr/>
        </p:nvSpPr>
        <p:spPr>
          <a:xfrm>
            <a:off x="6334760" y="5268383"/>
            <a:ext cx="298704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Baseline + Current → PSI report</a:t>
            </a:r>
            <a:endParaRPr lang="en-US" sz="1400"/>
          </a:p>
        </p:txBody>
      </p:sp>
      <p:cxnSp>
        <p:nvCxnSpPr>
          <p:cNvPr id="82" name="connector 82"/>
          <p:cNvCxnSpPr/>
          <p:nvPr/>
        </p:nvCxnSpPr>
        <p:spPr>
          <a:xfrm>
            <a:off x="6207760" y="574040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83" name="shape 83"/>
          <p:cNvSpPr/>
          <p:nvPr/>
        </p:nvSpPr>
        <p:spPr>
          <a:xfrm>
            <a:off x="9448800" y="5217583"/>
            <a:ext cx="2235200" cy="522817"/>
          </a:xfrm>
          <a:prstGeom prst="rect">
            <a:avLst/>
          </a:prstGeom>
          <a:solidFill>
            <a:srgbClr val="EFEEE9"/>
          </a:solidFill>
          <a:ln>
            <a:noFill/>
          </a:ln>
        </p:spPr>
      </p:sp>
      <p:sp>
        <p:nvSpPr>
          <p:cNvPr id="84" name="text 84"/>
          <p:cNvSpPr/>
          <p:nvPr/>
        </p:nvSpPr>
        <p:spPr>
          <a:xfrm>
            <a:off x="9575800" y="5268383"/>
            <a:ext cx="1981200" cy="42121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 • enabled</a:t>
            </a:r>
            <a:endParaRPr lang="en-US" sz="1400"/>
          </a:p>
          <a:p>
            <a:pPr algn="l">
              <a:lnSpc>
                <a:spcPts val="1596"/>
              </a:lnSpc>
              <a:spcAft>
                <a:spcPts val="0"/>
              </a:spcAft>
            </a:pPr>
            <a:r>
              <a:rPr lang="en-US" sz="1400" b="0" dirty="0">
                <a:solidFill>
                  <a:srgbClr val="181C23"/>
                </a:solidFill>
                <a:latin typeface="Funnel Sans"/>
              </a:rPr>
              <a:t>D14R</a:t>
            </a:r>
            <a:endParaRPr lang="en-US" sz="1400"/>
          </a:p>
        </p:txBody>
      </p:sp>
      <p:cxnSp>
        <p:nvCxnSpPr>
          <p:cNvPr id="85" name="connector 85"/>
          <p:cNvCxnSpPr/>
          <p:nvPr/>
        </p:nvCxnSpPr>
        <p:spPr>
          <a:xfrm>
            <a:off x="9448800" y="574040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86" name="text 86"/>
          <p:cNvSpPr/>
          <p:nvPr/>
        </p:nvSpPr>
        <p:spPr>
          <a:xfrm>
            <a:off x="520700" y="5867400"/>
            <a:ext cx="11163300" cy="4953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6D706B"/>
                </a:solidFill>
                <a:latin typeface="Funnel Sans"/>
              </a:rPr>
              <a:t>Primary users: analytics/model teams and SME reviewers; data teams prepare scope.</a:t>
            </a:r>
            <a:endParaRPr lang="en-US" sz="1300"/>
          </a:p>
          <a:p>
            <a:pPr algn="l">
              <a:lnSpc>
                <a:spcPts val="1482"/>
              </a:lnSpc>
              <a:spcAft>
                <a:spcPts val="0"/>
              </a:spcAft>
            </a:pPr>
            <a:r>
              <a:rPr lang="en-US" sz="1300" b="0" dirty="0">
                <a:solidFill>
                  <a:srgbClr val="6D706B"/>
                </a:solidFill>
                <a:latin typeface="Funnel Sans"/>
              </a:rPr>
              <a:t>AUC: area under the receiver operating characteristic curve. IV: Information Value.</a:t>
            </a:r>
            <a:endParaRPr lang="en-US" sz="1300"/>
          </a:p>
        </p:txBody>
      </p:sp>
      <p:cxnSp>
        <p:nvCxnSpPr>
          <p:cNvPr id="87" name="connector 8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88" name="text 8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89" name="text 8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19 / 87</a:t>
            </a:r>
            <a:endParaRPr 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03 / DIAGNOSTIC CATALOG</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Keep planned workflows and supporting analytics visible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All nine registered entries are represented; supporting investigations sit beside the register.</a:t>
            </a:r>
            <a:endParaRPr lang="en-US" sz="1500"/>
          </a:p>
        </p:txBody>
      </p:sp>
      <p:sp>
        <p:nvSpPr>
          <p:cNvPr id="6" name="shape 6"/>
          <p:cNvSpPr/>
          <p:nvPr/>
        </p:nvSpPr>
        <p:spPr>
          <a:xfrm>
            <a:off x="508000" y="2171700"/>
            <a:ext cx="3017520" cy="457200"/>
          </a:xfrm>
          <a:prstGeom prst="rect">
            <a:avLst/>
          </a:prstGeom>
          <a:solidFill>
            <a:srgbClr val="282A27"/>
          </a:solidFill>
          <a:ln>
            <a:noFill/>
          </a:ln>
        </p:spPr>
      </p:sp>
      <p:sp>
        <p:nvSpPr>
          <p:cNvPr id="7" name="text 7"/>
          <p:cNvSpPr/>
          <p:nvPr/>
        </p:nvSpPr>
        <p:spPr>
          <a:xfrm>
            <a:off x="635000" y="2286000"/>
            <a:ext cx="27635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Entry</a:t>
            </a:r>
            <a:endParaRPr lang="en-US" sz="1200"/>
          </a:p>
        </p:txBody>
      </p:sp>
      <p:sp>
        <p:nvSpPr>
          <p:cNvPr id="8" name="shape 8"/>
          <p:cNvSpPr/>
          <p:nvPr/>
        </p:nvSpPr>
        <p:spPr>
          <a:xfrm>
            <a:off x="3525520" y="2171700"/>
            <a:ext cx="3017520" cy="457200"/>
          </a:xfrm>
          <a:prstGeom prst="rect">
            <a:avLst/>
          </a:prstGeom>
          <a:solidFill>
            <a:srgbClr val="282A27"/>
          </a:solidFill>
          <a:ln>
            <a:noFill/>
          </a:ln>
        </p:spPr>
      </p:sp>
      <p:sp>
        <p:nvSpPr>
          <p:cNvPr id="9" name="text 9"/>
          <p:cNvSpPr/>
          <p:nvPr/>
        </p:nvSpPr>
        <p:spPr>
          <a:xfrm>
            <a:off x="3652520" y="2286000"/>
            <a:ext cx="27635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Purpose / primary user</a:t>
            </a:r>
            <a:endParaRPr lang="en-US" sz="1200"/>
          </a:p>
        </p:txBody>
      </p:sp>
      <p:sp>
        <p:nvSpPr>
          <p:cNvPr id="10" name="shape 10"/>
          <p:cNvSpPr/>
          <p:nvPr/>
        </p:nvSpPr>
        <p:spPr>
          <a:xfrm>
            <a:off x="6543040" y="2171700"/>
            <a:ext cx="3017520" cy="457200"/>
          </a:xfrm>
          <a:prstGeom prst="rect">
            <a:avLst/>
          </a:prstGeom>
          <a:solidFill>
            <a:srgbClr val="282A27"/>
          </a:solidFill>
          <a:ln>
            <a:noFill/>
          </a:ln>
        </p:spPr>
      </p:sp>
      <p:sp>
        <p:nvSpPr>
          <p:cNvPr id="11" name="text 11"/>
          <p:cNvSpPr/>
          <p:nvPr/>
        </p:nvSpPr>
        <p:spPr>
          <a:xfrm>
            <a:off x="6670040" y="2286000"/>
            <a:ext cx="27635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Input → output</a:t>
            </a:r>
            <a:endParaRPr lang="en-US" sz="1200"/>
          </a:p>
        </p:txBody>
      </p:sp>
      <p:sp>
        <p:nvSpPr>
          <p:cNvPr id="12" name="shape 12"/>
          <p:cNvSpPr/>
          <p:nvPr/>
        </p:nvSpPr>
        <p:spPr>
          <a:xfrm>
            <a:off x="9560560" y="2171700"/>
            <a:ext cx="2123440" cy="457200"/>
          </a:xfrm>
          <a:prstGeom prst="rect">
            <a:avLst/>
          </a:prstGeom>
          <a:solidFill>
            <a:srgbClr val="282A27"/>
          </a:solidFill>
          <a:ln>
            <a:noFill/>
          </a:ln>
        </p:spPr>
      </p:sp>
      <p:sp>
        <p:nvSpPr>
          <p:cNvPr id="13" name="text 13"/>
          <p:cNvSpPr/>
          <p:nvPr/>
        </p:nvSpPr>
        <p:spPr>
          <a:xfrm>
            <a:off x="9687560" y="2286000"/>
            <a:ext cx="18694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Status / source</a:t>
            </a:r>
            <a:endParaRPr lang="en-US" sz="1200"/>
          </a:p>
        </p:txBody>
      </p:sp>
      <p:sp>
        <p:nvSpPr>
          <p:cNvPr id="14" name="shape 14"/>
          <p:cNvSpPr/>
          <p:nvPr/>
        </p:nvSpPr>
        <p:spPr>
          <a:xfrm>
            <a:off x="508000" y="2628900"/>
            <a:ext cx="3017520" cy="733425"/>
          </a:xfrm>
          <a:prstGeom prst="rect">
            <a:avLst/>
          </a:prstGeom>
          <a:solidFill>
            <a:srgbClr val="FFFFFF"/>
          </a:solidFill>
          <a:ln>
            <a:noFill/>
          </a:ln>
        </p:spPr>
      </p:sp>
      <p:sp>
        <p:nvSpPr>
          <p:cNvPr id="15" name="text 15"/>
          <p:cNvSpPr/>
          <p:nvPr/>
        </p:nvSpPr>
        <p:spPr>
          <a:xfrm>
            <a:off x="635000" y="2679700"/>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T3-D12 Label consistency</a:t>
            </a:r>
            <a:endParaRPr lang="en-US" sz="1500"/>
          </a:p>
        </p:txBody>
      </p:sp>
      <p:cxnSp>
        <p:nvCxnSpPr>
          <p:cNvPr id="16" name="connector 16"/>
          <p:cNvCxnSpPr/>
          <p:nvPr/>
        </p:nvCxnSpPr>
        <p:spPr>
          <a:xfrm>
            <a:off x="508000" y="3362325"/>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7" name="shape 17"/>
          <p:cNvSpPr/>
          <p:nvPr/>
        </p:nvSpPr>
        <p:spPr>
          <a:xfrm>
            <a:off x="3525520" y="2628900"/>
            <a:ext cx="3017520" cy="733425"/>
          </a:xfrm>
          <a:prstGeom prst="rect">
            <a:avLst/>
          </a:prstGeom>
          <a:solidFill>
            <a:srgbClr val="FFFFFF"/>
          </a:solidFill>
          <a:ln>
            <a:noFill/>
          </a:ln>
        </p:spPr>
      </p:sp>
      <p:sp>
        <p:nvSpPr>
          <p:cNvPr id="18" name="text 18"/>
          <p:cNvSpPr/>
          <p:nvPr/>
        </p:nvSpPr>
        <p:spPr>
          <a:xfrm>
            <a:off x="3652520" y="2679700"/>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Reconcile labels / data + SME</a:t>
            </a:r>
            <a:endParaRPr lang="en-US" sz="1500"/>
          </a:p>
        </p:txBody>
      </p:sp>
      <p:cxnSp>
        <p:nvCxnSpPr>
          <p:cNvPr id="19" name="connector 19"/>
          <p:cNvCxnSpPr/>
          <p:nvPr/>
        </p:nvCxnSpPr>
        <p:spPr>
          <a:xfrm>
            <a:off x="3525520" y="3362325"/>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6543040" y="2628900"/>
            <a:ext cx="3017520" cy="733425"/>
          </a:xfrm>
          <a:prstGeom prst="rect">
            <a:avLst/>
          </a:prstGeom>
          <a:solidFill>
            <a:srgbClr val="FFFFFF"/>
          </a:solidFill>
          <a:ln>
            <a:noFill/>
          </a:ln>
        </p:spPr>
      </p:sp>
      <p:sp>
        <p:nvSpPr>
          <p:cNvPr id="21" name="text 21"/>
          <p:cNvSpPr/>
          <p:nvPr/>
        </p:nvSpPr>
        <p:spPr>
          <a:xfrm>
            <a:off x="6670040" y="2679700"/>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Labels + process rules →</a:t>
            </a:r>
            <a:endParaRPr lang="en-US" sz="1500"/>
          </a:p>
          <a:p>
            <a:pPr algn="l">
              <a:lnSpc>
                <a:spcPts val="1710"/>
              </a:lnSpc>
              <a:spcAft>
                <a:spcPts val="0"/>
              </a:spcAft>
            </a:pPr>
            <a:r>
              <a:rPr lang="en-US" sz="1500" b="0" dirty="0">
                <a:solidFill>
                  <a:srgbClr val="181C23"/>
                </a:solidFill>
                <a:latin typeface="Funnel Sans"/>
              </a:rPr>
              <a:t>violations</a:t>
            </a:r>
            <a:endParaRPr lang="en-US" sz="1500"/>
          </a:p>
        </p:txBody>
      </p:sp>
      <p:cxnSp>
        <p:nvCxnSpPr>
          <p:cNvPr id="22" name="connector 22"/>
          <p:cNvCxnSpPr/>
          <p:nvPr/>
        </p:nvCxnSpPr>
        <p:spPr>
          <a:xfrm>
            <a:off x="6543040" y="3362325"/>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9560560" y="2628900"/>
            <a:ext cx="2123440" cy="733425"/>
          </a:xfrm>
          <a:prstGeom prst="rect">
            <a:avLst/>
          </a:prstGeom>
          <a:solidFill>
            <a:srgbClr val="FFFFFF"/>
          </a:solidFill>
          <a:ln>
            <a:noFill/>
          </a:ln>
        </p:spPr>
      </p:sp>
      <p:sp>
        <p:nvSpPr>
          <p:cNvPr id="24" name="text 24"/>
          <p:cNvSpPr/>
          <p:nvPr/>
        </p:nvSpPr>
        <p:spPr>
          <a:xfrm>
            <a:off x="9687560" y="2679700"/>
            <a:ext cx="186944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Planned; pending</a:t>
            </a:r>
            <a:endParaRPr lang="en-US" sz="1500"/>
          </a:p>
          <a:p>
            <a:pPr algn="l">
              <a:lnSpc>
                <a:spcPts val="1710"/>
              </a:lnSpc>
              <a:spcAft>
                <a:spcPts val="0"/>
              </a:spcAft>
            </a:pPr>
            <a:r>
              <a:rPr lang="en-US" sz="1500" b="0" dirty="0">
                <a:solidFill>
                  <a:srgbClr val="181C23"/>
                </a:solidFill>
                <a:latin typeface="Funnel Sans"/>
              </a:rPr>
              <a:t>S08, S02 row 13</a:t>
            </a:r>
            <a:endParaRPr lang="en-US" sz="1500"/>
          </a:p>
        </p:txBody>
      </p:sp>
      <p:cxnSp>
        <p:nvCxnSpPr>
          <p:cNvPr id="25" name="connector 25"/>
          <p:cNvCxnSpPr/>
          <p:nvPr/>
        </p:nvCxnSpPr>
        <p:spPr>
          <a:xfrm>
            <a:off x="9560560" y="3362325"/>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508000" y="3362325"/>
            <a:ext cx="3017520" cy="733425"/>
          </a:xfrm>
          <a:prstGeom prst="rect">
            <a:avLst/>
          </a:prstGeom>
          <a:solidFill>
            <a:srgbClr val="EFEEE9"/>
          </a:solidFill>
          <a:ln>
            <a:noFill/>
          </a:ln>
        </p:spPr>
      </p:sp>
      <p:sp>
        <p:nvSpPr>
          <p:cNvPr id="27" name="text 27"/>
          <p:cNvSpPr/>
          <p:nvPr/>
        </p:nvSpPr>
        <p:spPr>
          <a:xfrm>
            <a:off x="635000" y="3413125"/>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T5-D17 Maturity by vintage</a:t>
            </a:r>
            <a:endParaRPr lang="en-US" sz="1500"/>
          </a:p>
        </p:txBody>
      </p:sp>
      <p:cxnSp>
        <p:nvCxnSpPr>
          <p:cNvPr id="28" name="connector 28"/>
          <p:cNvCxnSpPr/>
          <p:nvPr/>
        </p:nvCxnSpPr>
        <p:spPr>
          <a:xfrm>
            <a:off x="508000" y="409575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shape 29"/>
          <p:cNvSpPr/>
          <p:nvPr/>
        </p:nvSpPr>
        <p:spPr>
          <a:xfrm>
            <a:off x="3525520" y="3362325"/>
            <a:ext cx="3017520" cy="733425"/>
          </a:xfrm>
          <a:prstGeom prst="rect">
            <a:avLst/>
          </a:prstGeom>
          <a:solidFill>
            <a:srgbClr val="EFEEE9"/>
          </a:solidFill>
          <a:ln>
            <a:noFill/>
          </a:ln>
        </p:spPr>
      </p:sp>
      <p:sp>
        <p:nvSpPr>
          <p:cNvPr id="30" name="text 30"/>
          <p:cNvSpPr/>
          <p:nvPr/>
        </p:nvSpPr>
        <p:spPr>
          <a:xfrm>
            <a:off x="3652520" y="3413125"/>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Review resolved outcomes /</a:t>
            </a:r>
            <a:endParaRPr lang="en-US" sz="1500"/>
          </a:p>
          <a:p>
            <a:pPr algn="l">
              <a:lnSpc>
                <a:spcPts val="1710"/>
              </a:lnSpc>
              <a:spcAft>
                <a:spcPts val="0"/>
              </a:spcAft>
            </a:pPr>
            <a:r>
              <a:rPr lang="en-US" sz="1500" b="0" dirty="0">
                <a:solidFill>
                  <a:srgbClr val="181C23"/>
                </a:solidFill>
                <a:latin typeface="Funnel Sans"/>
              </a:rPr>
              <a:t>model team</a:t>
            </a:r>
            <a:endParaRPr lang="en-US" sz="1500"/>
          </a:p>
        </p:txBody>
      </p:sp>
      <p:cxnSp>
        <p:nvCxnSpPr>
          <p:cNvPr id="31" name="connector 31"/>
          <p:cNvCxnSpPr/>
          <p:nvPr/>
        </p:nvCxnSpPr>
        <p:spPr>
          <a:xfrm>
            <a:off x="3525520" y="409575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6543040" y="3362325"/>
            <a:ext cx="3017520" cy="733425"/>
          </a:xfrm>
          <a:prstGeom prst="rect">
            <a:avLst/>
          </a:prstGeom>
          <a:solidFill>
            <a:srgbClr val="EFEEE9"/>
          </a:solidFill>
          <a:ln>
            <a:noFill/>
          </a:ln>
        </p:spPr>
      </p:sp>
      <p:sp>
        <p:nvSpPr>
          <p:cNvPr id="33" name="text 33"/>
          <p:cNvSpPr/>
          <p:nvPr/>
        </p:nvSpPr>
        <p:spPr>
          <a:xfrm>
            <a:off x="6670040" y="3413125"/>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Vintage + outcome state →</a:t>
            </a:r>
            <a:endParaRPr lang="en-US" sz="1500"/>
          </a:p>
          <a:p>
            <a:pPr algn="l">
              <a:lnSpc>
                <a:spcPts val="1710"/>
              </a:lnSpc>
              <a:spcAft>
                <a:spcPts val="0"/>
              </a:spcAft>
            </a:pPr>
            <a:r>
              <a:rPr lang="en-US" sz="1500" b="0" dirty="0">
                <a:solidFill>
                  <a:srgbClr val="181C23"/>
                </a:solidFill>
                <a:latin typeface="Funnel Sans"/>
              </a:rPr>
              <a:t>resolved share</a:t>
            </a:r>
            <a:endParaRPr lang="en-US" sz="1500"/>
          </a:p>
        </p:txBody>
      </p:sp>
      <p:cxnSp>
        <p:nvCxnSpPr>
          <p:cNvPr id="34" name="connector 34"/>
          <p:cNvCxnSpPr/>
          <p:nvPr/>
        </p:nvCxnSpPr>
        <p:spPr>
          <a:xfrm>
            <a:off x="6543040" y="409575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shape 35"/>
          <p:cNvSpPr/>
          <p:nvPr/>
        </p:nvSpPr>
        <p:spPr>
          <a:xfrm>
            <a:off x="9560560" y="3362325"/>
            <a:ext cx="2123440" cy="733425"/>
          </a:xfrm>
          <a:prstGeom prst="rect">
            <a:avLst/>
          </a:prstGeom>
          <a:solidFill>
            <a:srgbClr val="EFEEE9"/>
          </a:solidFill>
          <a:ln>
            <a:noFill/>
          </a:ln>
        </p:spPr>
      </p:sp>
      <p:sp>
        <p:nvSpPr>
          <p:cNvPr id="36" name="text 36"/>
          <p:cNvSpPr/>
          <p:nvPr/>
        </p:nvSpPr>
        <p:spPr>
          <a:xfrm>
            <a:off x="9687560" y="3413125"/>
            <a:ext cx="186944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Planned; pending</a:t>
            </a:r>
            <a:endParaRPr lang="en-US" sz="1500"/>
          </a:p>
          <a:p>
            <a:pPr algn="l">
              <a:lnSpc>
                <a:spcPts val="1710"/>
              </a:lnSpc>
              <a:spcAft>
                <a:spcPts val="0"/>
              </a:spcAft>
            </a:pPr>
            <a:r>
              <a:rPr lang="en-US" sz="1500" b="0" dirty="0">
                <a:solidFill>
                  <a:srgbClr val="181C23"/>
                </a:solidFill>
                <a:latin typeface="Funnel Sans"/>
              </a:rPr>
              <a:t>S08, S02 row 18</a:t>
            </a:r>
            <a:endParaRPr lang="en-US" sz="1500"/>
          </a:p>
        </p:txBody>
      </p:sp>
      <p:cxnSp>
        <p:nvCxnSpPr>
          <p:cNvPr id="37" name="connector 37"/>
          <p:cNvCxnSpPr/>
          <p:nvPr/>
        </p:nvCxnSpPr>
        <p:spPr>
          <a:xfrm>
            <a:off x="9560560" y="409575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508000" y="4095750"/>
            <a:ext cx="3017520" cy="733425"/>
          </a:xfrm>
          <a:prstGeom prst="rect">
            <a:avLst/>
          </a:prstGeom>
          <a:solidFill>
            <a:srgbClr val="FFFFFF"/>
          </a:solidFill>
          <a:ln>
            <a:noFill/>
          </a:ln>
        </p:spPr>
      </p:sp>
      <p:sp>
        <p:nvSpPr>
          <p:cNvPr id="39" name="text 39"/>
          <p:cNvSpPr/>
          <p:nvPr/>
        </p:nvSpPr>
        <p:spPr>
          <a:xfrm>
            <a:off x="635000" y="4146550"/>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T6-D20 AI-proposal workflow</a:t>
            </a:r>
            <a:endParaRPr lang="en-US" sz="1500"/>
          </a:p>
        </p:txBody>
      </p:sp>
      <p:cxnSp>
        <p:nvCxnSpPr>
          <p:cNvPr id="40" name="connector 40"/>
          <p:cNvCxnSpPr/>
          <p:nvPr/>
        </p:nvCxnSpPr>
        <p:spPr>
          <a:xfrm>
            <a:off x="508000" y="4829175"/>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3525520" y="4095750"/>
            <a:ext cx="3017520" cy="733425"/>
          </a:xfrm>
          <a:prstGeom prst="rect">
            <a:avLst/>
          </a:prstGeom>
          <a:solidFill>
            <a:srgbClr val="FFFFFF"/>
          </a:solidFill>
          <a:ln>
            <a:noFill/>
          </a:ln>
        </p:spPr>
      </p:sp>
      <p:sp>
        <p:nvSpPr>
          <p:cNvPr id="42" name="text 42"/>
          <p:cNvSpPr/>
          <p:nvPr/>
        </p:nvSpPr>
        <p:spPr>
          <a:xfrm>
            <a:off x="3652520" y="4146550"/>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Grow governed relationships /</a:t>
            </a:r>
            <a:endParaRPr lang="en-US" sz="1500"/>
          </a:p>
          <a:p>
            <a:pPr algn="l">
              <a:lnSpc>
                <a:spcPts val="1710"/>
              </a:lnSpc>
              <a:spcAft>
                <a:spcPts val="0"/>
              </a:spcAft>
            </a:pPr>
            <a:r>
              <a:rPr lang="en-US" sz="1500" b="0" dirty="0">
                <a:solidFill>
                  <a:srgbClr val="181C23"/>
                </a:solidFill>
                <a:latin typeface="Funnel Sans"/>
              </a:rPr>
              <a:t>SME</a:t>
            </a:r>
            <a:endParaRPr lang="en-US" sz="1500"/>
          </a:p>
        </p:txBody>
      </p:sp>
      <p:cxnSp>
        <p:nvCxnSpPr>
          <p:cNvPr id="43" name="connector 43"/>
          <p:cNvCxnSpPr/>
          <p:nvPr/>
        </p:nvCxnSpPr>
        <p:spPr>
          <a:xfrm>
            <a:off x="3525520" y="4829175"/>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4" name="shape 44"/>
          <p:cNvSpPr/>
          <p:nvPr/>
        </p:nvSpPr>
        <p:spPr>
          <a:xfrm>
            <a:off x="6543040" y="4095750"/>
            <a:ext cx="3017520" cy="733425"/>
          </a:xfrm>
          <a:prstGeom prst="rect">
            <a:avLst/>
          </a:prstGeom>
          <a:solidFill>
            <a:srgbClr val="FFFFFF"/>
          </a:solidFill>
          <a:ln>
            <a:noFill/>
          </a:ln>
        </p:spPr>
      </p:sp>
      <p:sp>
        <p:nvSpPr>
          <p:cNvPr id="45" name="text 45"/>
          <p:cNvSpPr/>
          <p:nvPr/>
        </p:nvSpPr>
        <p:spPr>
          <a:xfrm>
            <a:off x="6670040" y="4146550"/>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Profiles + KB → reviewed</a:t>
            </a:r>
            <a:endParaRPr lang="en-US" sz="1500"/>
          </a:p>
          <a:p>
            <a:pPr algn="l">
              <a:lnSpc>
                <a:spcPts val="1710"/>
              </a:lnSpc>
              <a:spcAft>
                <a:spcPts val="0"/>
              </a:spcAft>
            </a:pPr>
            <a:r>
              <a:rPr lang="en-US" sz="1500" b="0" dirty="0">
                <a:solidFill>
                  <a:srgbClr val="181C23"/>
                </a:solidFill>
                <a:latin typeface="Funnel Sans"/>
              </a:rPr>
              <a:t>proposals</a:t>
            </a:r>
            <a:endParaRPr lang="en-US" sz="1500"/>
          </a:p>
        </p:txBody>
      </p:sp>
      <p:cxnSp>
        <p:nvCxnSpPr>
          <p:cNvPr id="46" name="connector 46"/>
          <p:cNvCxnSpPr/>
          <p:nvPr/>
        </p:nvCxnSpPr>
        <p:spPr>
          <a:xfrm>
            <a:off x="6543040" y="4829175"/>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shape 47"/>
          <p:cNvSpPr/>
          <p:nvPr/>
        </p:nvSpPr>
        <p:spPr>
          <a:xfrm>
            <a:off x="9560560" y="4095750"/>
            <a:ext cx="2123440" cy="733425"/>
          </a:xfrm>
          <a:prstGeom prst="rect">
            <a:avLst/>
          </a:prstGeom>
          <a:solidFill>
            <a:srgbClr val="FFFFFF"/>
          </a:solidFill>
          <a:ln>
            <a:noFill/>
          </a:ln>
        </p:spPr>
      </p:sp>
      <p:sp>
        <p:nvSpPr>
          <p:cNvPr id="48" name="text 48"/>
          <p:cNvSpPr/>
          <p:nvPr/>
        </p:nvSpPr>
        <p:spPr>
          <a:xfrm>
            <a:off x="9687560" y="4146550"/>
            <a:ext cx="186944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Planned; pending</a:t>
            </a:r>
            <a:endParaRPr lang="en-US" sz="1500"/>
          </a:p>
          <a:p>
            <a:pPr algn="l">
              <a:lnSpc>
                <a:spcPts val="1710"/>
              </a:lnSpc>
              <a:spcAft>
                <a:spcPts val="0"/>
              </a:spcAft>
            </a:pPr>
            <a:r>
              <a:rPr lang="en-US" sz="1500" b="0" dirty="0">
                <a:solidFill>
                  <a:srgbClr val="181C23"/>
                </a:solidFill>
                <a:latin typeface="Funnel Sans"/>
              </a:rPr>
              <a:t>S08, S02 row 21</a:t>
            </a:r>
            <a:endParaRPr lang="en-US" sz="1500"/>
          </a:p>
        </p:txBody>
      </p:sp>
      <p:cxnSp>
        <p:nvCxnSpPr>
          <p:cNvPr id="49" name="connector 49"/>
          <p:cNvCxnSpPr/>
          <p:nvPr/>
        </p:nvCxnSpPr>
        <p:spPr>
          <a:xfrm>
            <a:off x="9560560" y="4829175"/>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0" name="shape 50"/>
          <p:cNvSpPr/>
          <p:nvPr/>
        </p:nvSpPr>
        <p:spPr>
          <a:xfrm>
            <a:off x="508000" y="4829175"/>
            <a:ext cx="3017520" cy="733425"/>
          </a:xfrm>
          <a:prstGeom prst="rect">
            <a:avLst/>
          </a:prstGeom>
          <a:solidFill>
            <a:srgbClr val="EFEEE9"/>
          </a:solidFill>
          <a:ln>
            <a:noFill/>
          </a:ln>
        </p:spPr>
      </p:sp>
      <p:sp>
        <p:nvSpPr>
          <p:cNvPr id="51" name="text 51"/>
          <p:cNvSpPr/>
          <p:nvPr/>
        </p:nvSpPr>
        <p:spPr>
          <a:xfrm>
            <a:off x="635000" y="4879975"/>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SUP-MISS Missingness</a:t>
            </a:r>
            <a:endParaRPr lang="en-US" sz="1500"/>
          </a:p>
          <a:p>
            <a:pPr algn="l">
              <a:lnSpc>
                <a:spcPts val="1710"/>
              </a:lnSpc>
              <a:spcAft>
                <a:spcPts val="0"/>
              </a:spcAft>
            </a:pPr>
            <a:r>
              <a:rPr lang="en-US" sz="1500" b="1" dirty="0">
                <a:solidFill>
                  <a:srgbClr val="181C23"/>
                </a:solidFill>
                <a:latin typeface="Funnel Sans"/>
              </a:rPr>
              <a:t>Mechanism</a:t>
            </a:r>
            <a:endParaRPr lang="en-US" sz="1500"/>
          </a:p>
        </p:txBody>
      </p:sp>
      <p:cxnSp>
        <p:nvCxnSpPr>
          <p:cNvPr id="52" name="connector 52"/>
          <p:cNvCxnSpPr/>
          <p:nvPr/>
        </p:nvCxnSpPr>
        <p:spPr>
          <a:xfrm>
            <a:off x="508000" y="55626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3" name="shape 53"/>
          <p:cNvSpPr/>
          <p:nvPr/>
        </p:nvSpPr>
        <p:spPr>
          <a:xfrm>
            <a:off x="3525520" y="4829175"/>
            <a:ext cx="3017520" cy="733425"/>
          </a:xfrm>
          <a:prstGeom prst="rect">
            <a:avLst/>
          </a:prstGeom>
          <a:solidFill>
            <a:srgbClr val="EFEEE9"/>
          </a:solidFill>
          <a:ln>
            <a:noFill/>
          </a:ln>
        </p:spPr>
      </p:sp>
      <p:sp>
        <p:nvSpPr>
          <p:cNvPr id="54" name="text 54"/>
          <p:cNvSpPr/>
          <p:nvPr/>
        </p:nvSpPr>
        <p:spPr>
          <a:xfrm>
            <a:off x="3652520" y="4879975"/>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Explain missingness / analytics</a:t>
            </a:r>
            <a:endParaRPr lang="en-US" sz="1500"/>
          </a:p>
        </p:txBody>
      </p:sp>
      <p:cxnSp>
        <p:nvCxnSpPr>
          <p:cNvPr id="55" name="connector 55"/>
          <p:cNvCxnSpPr/>
          <p:nvPr/>
        </p:nvCxnSpPr>
        <p:spPr>
          <a:xfrm>
            <a:off x="3525520" y="55626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6" name="shape 56"/>
          <p:cNvSpPr/>
          <p:nvPr/>
        </p:nvSpPr>
        <p:spPr>
          <a:xfrm>
            <a:off x="6543040" y="4829175"/>
            <a:ext cx="3017520" cy="733425"/>
          </a:xfrm>
          <a:prstGeom prst="rect">
            <a:avLst/>
          </a:prstGeom>
          <a:solidFill>
            <a:srgbClr val="EFEEE9"/>
          </a:solidFill>
          <a:ln>
            <a:noFill/>
          </a:ln>
        </p:spPr>
      </p:sp>
      <p:sp>
        <p:nvSpPr>
          <p:cNvPr id="57" name="text 57"/>
          <p:cNvSpPr/>
          <p:nvPr/>
        </p:nvSpPr>
        <p:spPr>
          <a:xfrm>
            <a:off x="6670040" y="4879975"/>
            <a:ext cx="2763520" cy="6318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Table + masks → descriptive</a:t>
            </a:r>
            <a:endParaRPr lang="en-US" sz="1500"/>
          </a:p>
          <a:p>
            <a:pPr algn="l">
              <a:lnSpc>
                <a:spcPts val="1710"/>
              </a:lnSpc>
              <a:spcAft>
                <a:spcPts val="0"/>
              </a:spcAft>
            </a:pPr>
            <a:r>
              <a:rPr lang="en-US" sz="1500" b="0" dirty="0">
                <a:solidFill>
                  <a:srgbClr val="181C23"/>
                </a:solidFill>
                <a:latin typeface="Funnel Sans"/>
              </a:rPr>
              <a:t>report</a:t>
            </a:r>
            <a:endParaRPr lang="en-US" sz="1500"/>
          </a:p>
        </p:txBody>
      </p:sp>
      <p:cxnSp>
        <p:nvCxnSpPr>
          <p:cNvPr id="58" name="connector 58"/>
          <p:cNvCxnSpPr/>
          <p:nvPr/>
        </p:nvCxnSpPr>
        <p:spPr>
          <a:xfrm>
            <a:off x="6543040" y="55626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9" name="shape 59"/>
          <p:cNvSpPr/>
          <p:nvPr/>
        </p:nvSpPr>
        <p:spPr>
          <a:xfrm>
            <a:off x="9560560" y="4829175"/>
            <a:ext cx="2123440" cy="733425"/>
          </a:xfrm>
          <a:prstGeom prst="rect">
            <a:avLst/>
          </a:prstGeom>
          <a:solidFill>
            <a:srgbClr val="EFEEE9"/>
          </a:solidFill>
          <a:ln>
            <a:noFill/>
          </a:ln>
        </p:spPr>
      </p:sp>
      <p:sp>
        <p:nvSpPr>
          <p:cNvPr id="60" name="text 60"/>
          <p:cNvSpPr/>
          <p:nvPr/>
        </p:nvSpPr>
        <p:spPr>
          <a:xfrm>
            <a:off x="9687560" y="4879975"/>
            <a:ext cx="1869440" cy="631825"/>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a:t>
            </a:r>
            <a:endParaRPr lang="en-US" sz="1400"/>
          </a:p>
          <a:p>
            <a:pPr algn="l">
              <a:lnSpc>
                <a:spcPts val="1596"/>
              </a:lnSpc>
              <a:spcAft>
                <a:spcPts val="0"/>
              </a:spcAft>
            </a:pPr>
            <a:r>
              <a:rPr lang="en-US" sz="1400" b="0" dirty="0">
                <a:solidFill>
                  <a:srgbClr val="181C23"/>
                </a:solidFill>
                <a:latin typeface="Funnel Sans"/>
              </a:rPr>
              <a:t>supporting</a:t>
            </a:r>
            <a:endParaRPr lang="en-US" sz="1400"/>
          </a:p>
          <a:p>
            <a:pPr algn="l">
              <a:lnSpc>
                <a:spcPts val="1596"/>
              </a:lnSpc>
              <a:spcAft>
                <a:spcPts val="0"/>
              </a:spcAft>
            </a:pPr>
            <a:r>
              <a:rPr lang="en-US" sz="1400" b="0" dirty="0">
                <a:solidFill>
                  <a:srgbClr val="181C23"/>
                </a:solidFill>
                <a:latin typeface="Funnel Sans"/>
              </a:rPr>
              <a:t>S23, S24</a:t>
            </a:r>
            <a:endParaRPr lang="en-US" sz="1400"/>
          </a:p>
        </p:txBody>
      </p:sp>
      <p:cxnSp>
        <p:nvCxnSpPr>
          <p:cNvPr id="61" name="connector 61"/>
          <p:cNvCxnSpPr/>
          <p:nvPr/>
        </p:nvCxnSpPr>
        <p:spPr>
          <a:xfrm>
            <a:off x="9560560" y="556260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2" name="shape 62"/>
          <p:cNvSpPr/>
          <p:nvPr/>
        </p:nvSpPr>
        <p:spPr>
          <a:xfrm>
            <a:off x="508000" y="5740400"/>
            <a:ext cx="11176000" cy="546100"/>
          </a:xfrm>
          <a:prstGeom prst="rect">
            <a:avLst/>
          </a:prstGeom>
          <a:solidFill>
            <a:srgbClr val="282A27"/>
          </a:solidFill>
          <a:ln>
            <a:noFill/>
          </a:ln>
        </p:spPr>
      </p:sp>
      <p:sp>
        <p:nvSpPr>
          <p:cNvPr id="63" name="text 6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Legend: Implemented = code exists; Planned = documented; Referenced = specification incomplete.</a:t>
            </a:r>
            <a:endParaRPr lang="en-US" sz="1600"/>
          </a:p>
        </p:txBody>
      </p:sp>
      <p:cxnSp>
        <p:nvCxnSpPr>
          <p:cNvPr id="64" name="connector 6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65" name="text 6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66" name="text 6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20 / 87</a:t>
            </a:r>
            <a:endParaRPr 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03 / DIAGNOSTIC CATALOG</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Retain deferred diagnostics without implying availability</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These eleven workbook diagnostics are planned and absent from the current register.</a:t>
            </a:r>
            <a:endParaRPr lang="en-US" sz="1500"/>
          </a:p>
        </p:txBody>
      </p:sp>
      <p:sp>
        <p:nvSpPr>
          <p:cNvPr id="6" name="shape 6"/>
          <p:cNvSpPr/>
          <p:nvPr/>
        </p:nvSpPr>
        <p:spPr>
          <a:xfrm>
            <a:off x="508000" y="2146300"/>
            <a:ext cx="3352800" cy="457200"/>
          </a:xfrm>
          <a:prstGeom prst="rect">
            <a:avLst/>
          </a:prstGeom>
          <a:solidFill>
            <a:srgbClr val="282A27"/>
          </a:solidFill>
          <a:ln>
            <a:noFill/>
          </a:ln>
        </p:spPr>
      </p:sp>
      <p:sp>
        <p:nvSpPr>
          <p:cNvPr id="7" name="text 7"/>
          <p:cNvSpPr/>
          <p:nvPr/>
        </p:nvSpPr>
        <p:spPr>
          <a:xfrm>
            <a:off x="635000" y="2260600"/>
            <a:ext cx="3098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ID / diagnostic</a:t>
            </a:r>
            <a:endParaRPr lang="en-US" sz="1200"/>
          </a:p>
        </p:txBody>
      </p:sp>
      <p:sp>
        <p:nvSpPr>
          <p:cNvPr id="8" name="shape 8"/>
          <p:cNvSpPr/>
          <p:nvPr/>
        </p:nvSpPr>
        <p:spPr>
          <a:xfrm>
            <a:off x="3860800" y="2146300"/>
            <a:ext cx="3241040" cy="457200"/>
          </a:xfrm>
          <a:prstGeom prst="rect">
            <a:avLst/>
          </a:prstGeom>
          <a:solidFill>
            <a:srgbClr val="282A27"/>
          </a:solidFill>
          <a:ln>
            <a:noFill/>
          </a:ln>
        </p:spPr>
      </p:sp>
      <p:sp>
        <p:nvSpPr>
          <p:cNvPr id="9" name="text 9"/>
          <p:cNvSpPr/>
          <p:nvPr/>
        </p:nvSpPr>
        <p:spPr>
          <a:xfrm>
            <a:off x="3987800" y="2260600"/>
            <a:ext cx="29870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One-line purpose</a:t>
            </a:r>
            <a:endParaRPr lang="en-US" sz="1200"/>
          </a:p>
        </p:txBody>
      </p:sp>
      <p:sp>
        <p:nvSpPr>
          <p:cNvPr id="10" name="shape 10"/>
          <p:cNvSpPr/>
          <p:nvPr/>
        </p:nvSpPr>
        <p:spPr>
          <a:xfrm>
            <a:off x="7101840" y="2146300"/>
            <a:ext cx="2570480" cy="457200"/>
          </a:xfrm>
          <a:prstGeom prst="rect">
            <a:avLst/>
          </a:prstGeom>
          <a:solidFill>
            <a:srgbClr val="282A27"/>
          </a:solidFill>
          <a:ln>
            <a:noFill/>
          </a:ln>
        </p:spPr>
      </p:sp>
      <p:sp>
        <p:nvSpPr>
          <p:cNvPr id="11" name="text 11"/>
          <p:cNvSpPr/>
          <p:nvPr/>
        </p:nvSpPr>
        <p:spPr>
          <a:xfrm>
            <a:off x="7228840" y="2260600"/>
            <a:ext cx="23164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User / input</a:t>
            </a:r>
            <a:endParaRPr lang="en-US" sz="1200"/>
          </a:p>
        </p:txBody>
      </p:sp>
      <p:sp>
        <p:nvSpPr>
          <p:cNvPr id="12" name="shape 12"/>
          <p:cNvSpPr/>
          <p:nvPr/>
        </p:nvSpPr>
        <p:spPr>
          <a:xfrm>
            <a:off x="9672320" y="2146300"/>
            <a:ext cx="2011680" cy="457200"/>
          </a:xfrm>
          <a:prstGeom prst="rect">
            <a:avLst/>
          </a:prstGeom>
          <a:solidFill>
            <a:srgbClr val="282A27"/>
          </a:solidFill>
          <a:ln>
            <a:noFill/>
          </a:ln>
        </p:spPr>
      </p:sp>
      <p:sp>
        <p:nvSpPr>
          <p:cNvPr id="13" name="text 13"/>
          <p:cNvSpPr/>
          <p:nvPr/>
        </p:nvSpPr>
        <p:spPr>
          <a:xfrm>
            <a:off x="9799320" y="2260600"/>
            <a:ext cx="17576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Output / source</a:t>
            </a:r>
            <a:endParaRPr lang="en-US" sz="1200"/>
          </a:p>
        </p:txBody>
      </p:sp>
      <p:sp>
        <p:nvSpPr>
          <p:cNvPr id="14" name="shape 14"/>
          <p:cNvSpPr/>
          <p:nvPr/>
        </p:nvSpPr>
        <p:spPr>
          <a:xfrm>
            <a:off x="508000" y="2603500"/>
            <a:ext cx="3352800" cy="522817"/>
          </a:xfrm>
          <a:prstGeom prst="rect">
            <a:avLst/>
          </a:prstGeom>
          <a:solidFill>
            <a:srgbClr val="FFFFFF"/>
          </a:solidFill>
          <a:ln>
            <a:noFill/>
          </a:ln>
        </p:spPr>
      </p:sp>
      <p:sp>
        <p:nvSpPr>
          <p:cNvPr id="15" name="text 15"/>
          <p:cNvSpPr/>
          <p:nvPr/>
        </p:nvSpPr>
        <p:spPr>
          <a:xfrm>
            <a:off x="635000" y="2654300"/>
            <a:ext cx="3098800" cy="421217"/>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T1-D01 Post-outcome field /</a:t>
            </a:r>
            <a:endParaRPr lang="en-US" sz="1350"/>
          </a:p>
          <a:p>
            <a:pPr algn="l">
              <a:lnSpc>
                <a:spcPts val="1539"/>
              </a:lnSpc>
              <a:spcAft>
                <a:spcPts val="0"/>
              </a:spcAft>
            </a:pPr>
            <a:r>
              <a:rPr lang="en-US" sz="1350" b="1" dirty="0">
                <a:solidFill>
                  <a:srgbClr val="181C23"/>
                </a:solidFill>
                <a:latin typeface="Funnel Sans"/>
              </a:rPr>
              <a:t>look-ahead present</a:t>
            </a:r>
            <a:endParaRPr lang="en-US" sz="1350"/>
          </a:p>
        </p:txBody>
      </p:sp>
      <p:cxnSp>
        <p:nvCxnSpPr>
          <p:cNvPr id="16" name="connector 16"/>
          <p:cNvCxnSpPr/>
          <p:nvPr/>
        </p:nvCxnSpPr>
        <p:spPr>
          <a:xfrm>
            <a:off x="508000" y="3126317"/>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7" name="shape 17"/>
          <p:cNvSpPr/>
          <p:nvPr/>
        </p:nvSpPr>
        <p:spPr>
          <a:xfrm>
            <a:off x="3860800" y="2603500"/>
            <a:ext cx="3241040" cy="522817"/>
          </a:xfrm>
          <a:prstGeom prst="rect">
            <a:avLst/>
          </a:prstGeom>
          <a:solidFill>
            <a:srgbClr val="FFFFFF"/>
          </a:solidFill>
          <a:ln>
            <a:noFill/>
          </a:ln>
        </p:spPr>
      </p:sp>
      <p:sp>
        <p:nvSpPr>
          <p:cNvPr id="18" name="text 18"/>
          <p:cNvSpPr/>
          <p:nvPr/>
        </p:nvSpPr>
        <p:spPr>
          <a:xfrm>
            <a:off x="3987800" y="2654300"/>
            <a:ext cx="298704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Find information available after</a:t>
            </a:r>
            <a:endParaRPr lang="en-US" sz="1350"/>
          </a:p>
          <a:p>
            <a:pPr algn="l">
              <a:lnSpc>
                <a:spcPts val="1539"/>
              </a:lnSpc>
              <a:spcAft>
                <a:spcPts val="0"/>
              </a:spcAft>
            </a:pPr>
            <a:r>
              <a:rPr lang="en-US" sz="1350" b="0" dirty="0">
                <a:solidFill>
                  <a:srgbClr val="181C23"/>
                </a:solidFill>
                <a:latin typeface="Funnel Sans"/>
              </a:rPr>
              <a:t>outcome.</a:t>
            </a:r>
            <a:endParaRPr lang="en-US" sz="1350"/>
          </a:p>
        </p:txBody>
      </p:sp>
      <p:cxnSp>
        <p:nvCxnSpPr>
          <p:cNvPr id="19" name="connector 19"/>
          <p:cNvCxnSpPr/>
          <p:nvPr/>
        </p:nvCxnSpPr>
        <p:spPr>
          <a:xfrm>
            <a:off x="3860800" y="3126317"/>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7101840" y="2603500"/>
            <a:ext cx="2570480" cy="522817"/>
          </a:xfrm>
          <a:prstGeom prst="rect">
            <a:avLst/>
          </a:prstGeom>
          <a:solidFill>
            <a:srgbClr val="FFFFFF"/>
          </a:solidFill>
          <a:ln>
            <a:noFill/>
          </a:ln>
        </p:spPr>
      </p:sp>
      <p:sp>
        <p:nvSpPr>
          <p:cNvPr id="21" name="text 21"/>
          <p:cNvSpPr/>
          <p:nvPr/>
        </p:nvSpPr>
        <p:spPr>
          <a:xfrm>
            <a:off x="7228840" y="2654300"/>
            <a:ext cx="23164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Features + availability dates</a:t>
            </a:r>
            <a:endParaRPr lang="en-US" sz="1350"/>
          </a:p>
        </p:txBody>
      </p:sp>
      <p:cxnSp>
        <p:nvCxnSpPr>
          <p:cNvPr id="22" name="connector 22"/>
          <p:cNvCxnSpPr/>
          <p:nvPr/>
        </p:nvCxnSpPr>
        <p:spPr>
          <a:xfrm>
            <a:off x="7101840" y="3126317"/>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9672320" y="2603500"/>
            <a:ext cx="2011680" cy="522817"/>
          </a:xfrm>
          <a:prstGeom prst="rect">
            <a:avLst/>
          </a:prstGeom>
          <a:solidFill>
            <a:srgbClr val="FFFFFF"/>
          </a:solidFill>
          <a:ln>
            <a:noFill/>
          </a:ln>
        </p:spPr>
      </p:sp>
      <p:sp>
        <p:nvSpPr>
          <p:cNvPr id="24" name="text 24"/>
          <p:cNvSpPr/>
          <p:nvPr/>
        </p:nvSpPr>
        <p:spPr>
          <a:xfrm>
            <a:off x="9799320" y="2654300"/>
            <a:ext cx="17576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Availability flags</a:t>
            </a:r>
            <a:endParaRPr lang="en-US" sz="1350"/>
          </a:p>
          <a:p>
            <a:pPr algn="l">
              <a:lnSpc>
                <a:spcPts val="1539"/>
              </a:lnSpc>
              <a:spcAft>
                <a:spcPts val="0"/>
              </a:spcAft>
            </a:pPr>
            <a:r>
              <a:rPr lang="en-US" sz="1350" b="0" dirty="0">
                <a:solidFill>
                  <a:srgbClr val="181C23"/>
                </a:solidFill>
                <a:latin typeface="Funnel Sans"/>
              </a:rPr>
              <a:t>S02 row 2</a:t>
            </a:r>
            <a:endParaRPr lang="en-US" sz="1350"/>
          </a:p>
        </p:txBody>
      </p:sp>
      <p:cxnSp>
        <p:nvCxnSpPr>
          <p:cNvPr id="25" name="connector 25"/>
          <p:cNvCxnSpPr/>
          <p:nvPr/>
        </p:nvCxnSpPr>
        <p:spPr>
          <a:xfrm>
            <a:off x="9672320" y="3126317"/>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508000" y="3126317"/>
            <a:ext cx="3352800" cy="522817"/>
          </a:xfrm>
          <a:prstGeom prst="rect">
            <a:avLst/>
          </a:prstGeom>
          <a:solidFill>
            <a:srgbClr val="EFEEE9"/>
          </a:solidFill>
          <a:ln>
            <a:noFill/>
          </a:ln>
        </p:spPr>
      </p:sp>
      <p:sp>
        <p:nvSpPr>
          <p:cNvPr id="27" name="text 27"/>
          <p:cNvSpPr/>
          <p:nvPr/>
        </p:nvSpPr>
        <p:spPr>
          <a:xfrm>
            <a:off x="635000" y="3177117"/>
            <a:ext cx="3098800" cy="421217"/>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T1-D03 Categorical leakage</a:t>
            </a:r>
            <a:endParaRPr lang="en-US" sz="1350"/>
          </a:p>
          <a:p>
            <a:pPr algn="l">
              <a:lnSpc>
                <a:spcPts val="1539"/>
              </a:lnSpc>
              <a:spcAft>
                <a:spcPts val="0"/>
              </a:spcAft>
            </a:pPr>
            <a:r>
              <a:rPr lang="en-US" sz="1350" b="1" dirty="0">
                <a:solidFill>
                  <a:srgbClr val="181C23"/>
                </a:solidFill>
                <a:latin typeface="Funnel Sans"/>
              </a:rPr>
              <a:t>(association strength / purity)</a:t>
            </a:r>
            <a:endParaRPr lang="en-US" sz="1350"/>
          </a:p>
        </p:txBody>
      </p:sp>
      <p:cxnSp>
        <p:nvCxnSpPr>
          <p:cNvPr id="28" name="connector 28"/>
          <p:cNvCxnSpPr/>
          <p:nvPr/>
        </p:nvCxnSpPr>
        <p:spPr>
          <a:xfrm>
            <a:off x="508000" y="3649133"/>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shape 29"/>
          <p:cNvSpPr/>
          <p:nvPr/>
        </p:nvSpPr>
        <p:spPr>
          <a:xfrm>
            <a:off x="3860800" y="3126317"/>
            <a:ext cx="3241040" cy="522817"/>
          </a:xfrm>
          <a:prstGeom prst="rect">
            <a:avLst/>
          </a:prstGeom>
          <a:solidFill>
            <a:srgbClr val="EFEEE9"/>
          </a:solidFill>
          <a:ln>
            <a:noFill/>
          </a:ln>
        </p:spPr>
      </p:sp>
      <p:sp>
        <p:nvSpPr>
          <p:cNvPr id="30" name="text 30"/>
          <p:cNvSpPr/>
          <p:nvPr/>
        </p:nvSpPr>
        <p:spPr>
          <a:xfrm>
            <a:off x="3987800" y="3177117"/>
            <a:ext cx="298704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Find categories that almost reveal</a:t>
            </a:r>
            <a:endParaRPr lang="en-US" sz="1350"/>
          </a:p>
          <a:p>
            <a:pPr algn="l">
              <a:lnSpc>
                <a:spcPts val="1539"/>
              </a:lnSpc>
              <a:spcAft>
                <a:spcPts val="0"/>
              </a:spcAft>
            </a:pPr>
            <a:r>
              <a:rPr lang="en-US" sz="1350" b="0" dirty="0">
                <a:solidFill>
                  <a:srgbClr val="181C23"/>
                </a:solidFill>
                <a:latin typeface="Funnel Sans"/>
              </a:rPr>
              <a:t>target.</a:t>
            </a:r>
            <a:endParaRPr lang="en-US" sz="1350"/>
          </a:p>
        </p:txBody>
      </p:sp>
      <p:cxnSp>
        <p:nvCxnSpPr>
          <p:cNvPr id="31" name="connector 31"/>
          <p:cNvCxnSpPr/>
          <p:nvPr/>
        </p:nvCxnSpPr>
        <p:spPr>
          <a:xfrm>
            <a:off x="3860800" y="3649133"/>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7101840" y="3126317"/>
            <a:ext cx="2570480" cy="522817"/>
          </a:xfrm>
          <a:prstGeom prst="rect">
            <a:avLst/>
          </a:prstGeom>
          <a:solidFill>
            <a:srgbClr val="EFEEE9"/>
          </a:solidFill>
          <a:ln>
            <a:noFill/>
          </a:ln>
        </p:spPr>
      </p:sp>
      <p:sp>
        <p:nvSpPr>
          <p:cNvPr id="33" name="text 33"/>
          <p:cNvSpPr/>
          <p:nvPr/>
        </p:nvSpPr>
        <p:spPr>
          <a:xfrm>
            <a:off x="7228840" y="3177117"/>
            <a:ext cx="23164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Categories + target</a:t>
            </a:r>
            <a:endParaRPr lang="en-US" sz="1350"/>
          </a:p>
        </p:txBody>
      </p:sp>
      <p:cxnSp>
        <p:nvCxnSpPr>
          <p:cNvPr id="34" name="connector 34"/>
          <p:cNvCxnSpPr/>
          <p:nvPr/>
        </p:nvCxnSpPr>
        <p:spPr>
          <a:xfrm>
            <a:off x="7101840" y="3649133"/>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shape 35"/>
          <p:cNvSpPr/>
          <p:nvPr/>
        </p:nvSpPr>
        <p:spPr>
          <a:xfrm>
            <a:off x="9672320" y="3126317"/>
            <a:ext cx="2011680" cy="522817"/>
          </a:xfrm>
          <a:prstGeom prst="rect">
            <a:avLst/>
          </a:prstGeom>
          <a:solidFill>
            <a:srgbClr val="EFEEE9"/>
          </a:solidFill>
          <a:ln>
            <a:noFill/>
          </a:ln>
        </p:spPr>
      </p:sp>
      <p:sp>
        <p:nvSpPr>
          <p:cNvPr id="36" name="text 36"/>
          <p:cNvSpPr/>
          <p:nvPr/>
        </p:nvSpPr>
        <p:spPr>
          <a:xfrm>
            <a:off x="9799320" y="3177117"/>
            <a:ext cx="17576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Purity / association</a:t>
            </a:r>
            <a:endParaRPr lang="en-US" sz="1350"/>
          </a:p>
          <a:p>
            <a:pPr algn="l">
              <a:lnSpc>
                <a:spcPts val="1539"/>
              </a:lnSpc>
              <a:spcAft>
                <a:spcPts val="0"/>
              </a:spcAft>
            </a:pPr>
            <a:r>
              <a:rPr lang="en-US" sz="1350" b="0" dirty="0">
                <a:solidFill>
                  <a:srgbClr val="181C23"/>
                </a:solidFill>
                <a:latin typeface="Funnel Sans"/>
              </a:rPr>
              <a:t>S02 row 4</a:t>
            </a:r>
            <a:endParaRPr lang="en-US" sz="1350"/>
          </a:p>
        </p:txBody>
      </p:sp>
      <p:cxnSp>
        <p:nvCxnSpPr>
          <p:cNvPr id="37" name="connector 37"/>
          <p:cNvCxnSpPr/>
          <p:nvPr/>
        </p:nvCxnSpPr>
        <p:spPr>
          <a:xfrm>
            <a:off x="9672320" y="3649133"/>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508000" y="3649133"/>
            <a:ext cx="3352800" cy="522817"/>
          </a:xfrm>
          <a:prstGeom prst="rect">
            <a:avLst/>
          </a:prstGeom>
          <a:solidFill>
            <a:srgbClr val="FFFFFF"/>
          </a:solidFill>
          <a:ln>
            <a:noFill/>
          </a:ln>
        </p:spPr>
      </p:sp>
      <p:sp>
        <p:nvSpPr>
          <p:cNvPr id="39" name="text 39"/>
          <p:cNvSpPr/>
          <p:nvPr/>
        </p:nvSpPr>
        <p:spPr>
          <a:xfrm>
            <a:off x="635000" y="3699933"/>
            <a:ext cx="3098800" cy="421217"/>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T2-D05 Derivation identity</a:t>
            </a:r>
            <a:endParaRPr lang="en-US" sz="1350"/>
          </a:p>
        </p:txBody>
      </p:sp>
      <p:cxnSp>
        <p:nvCxnSpPr>
          <p:cNvPr id="40" name="connector 40"/>
          <p:cNvCxnSpPr/>
          <p:nvPr/>
        </p:nvCxnSpPr>
        <p:spPr>
          <a:xfrm>
            <a:off x="508000" y="417195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3860800" y="3649133"/>
            <a:ext cx="3241040" cy="522817"/>
          </a:xfrm>
          <a:prstGeom prst="rect">
            <a:avLst/>
          </a:prstGeom>
          <a:solidFill>
            <a:srgbClr val="FFFFFF"/>
          </a:solidFill>
          <a:ln>
            <a:noFill/>
          </a:ln>
        </p:spPr>
      </p:sp>
      <p:sp>
        <p:nvSpPr>
          <p:cNvPr id="42" name="text 42"/>
          <p:cNvSpPr/>
          <p:nvPr/>
        </p:nvSpPr>
        <p:spPr>
          <a:xfrm>
            <a:off x="3987800" y="3699933"/>
            <a:ext cx="298704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Check a derived field against its</a:t>
            </a:r>
            <a:endParaRPr lang="en-US" sz="1350"/>
          </a:p>
          <a:p>
            <a:pPr algn="l">
              <a:lnSpc>
                <a:spcPts val="1539"/>
              </a:lnSpc>
              <a:spcAft>
                <a:spcPts val="0"/>
              </a:spcAft>
            </a:pPr>
            <a:r>
              <a:rPr lang="en-US" sz="1350" b="0" dirty="0">
                <a:solidFill>
                  <a:srgbClr val="181C23"/>
                </a:solidFill>
                <a:latin typeface="Funnel Sans"/>
              </a:rPr>
              <a:t>formula.</a:t>
            </a:r>
            <a:endParaRPr lang="en-US" sz="1350"/>
          </a:p>
        </p:txBody>
      </p:sp>
      <p:cxnSp>
        <p:nvCxnSpPr>
          <p:cNvPr id="43" name="connector 43"/>
          <p:cNvCxnSpPr/>
          <p:nvPr/>
        </p:nvCxnSpPr>
        <p:spPr>
          <a:xfrm>
            <a:off x="3860800" y="417195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4" name="shape 44"/>
          <p:cNvSpPr/>
          <p:nvPr/>
        </p:nvSpPr>
        <p:spPr>
          <a:xfrm>
            <a:off x="7101840" y="3649133"/>
            <a:ext cx="2570480" cy="522817"/>
          </a:xfrm>
          <a:prstGeom prst="rect">
            <a:avLst/>
          </a:prstGeom>
          <a:solidFill>
            <a:srgbClr val="FFFFFF"/>
          </a:solidFill>
          <a:ln>
            <a:noFill/>
          </a:ln>
        </p:spPr>
      </p:sp>
      <p:sp>
        <p:nvSpPr>
          <p:cNvPr id="45" name="text 45"/>
          <p:cNvSpPr/>
          <p:nvPr/>
        </p:nvSpPr>
        <p:spPr>
          <a:xfrm>
            <a:off x="7228840" y="3699933"/>
            <a:ext cx="23164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Recorded / derived fields</a:t>
            </a:r>
            <a:endParaRPr lang="en-US" sz="1350"/>
          </a:p>
        </p:txBody>
      </p:sp>
      <p:cxnSp>
        <p:nvCxnSpPr>
          <p:cNvPr id="46" name="connector 46"/>
          <p:cNvCxnSpPr/>
          <p:nvPr/>
        </p:nvCxnSpPr>
        <p:spPr>
          <a:xfrm>
            <a:off x="7101840" y="417195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shape 47"/>
          <p:cNvSpPr/>
          <p:nvPr/>
        </p:nvSpPr>
        <p:spPr>
          <a:xfrm>
            <a:off x="9672320" y="3649133"/>
            <a:ext cx="2011680" cy="522817"/>
          </a:xfrm>
          <a:prstGeom prst="rect">
            <a:avLst/>
          </a:prstGeom>
          <a:solidFill>
            <a:srgbClr val="FFFFFF"/>
          </a:solidFill>
          <a:ln>
            <a:noFill/>
          </a:ln>
        </p:spPr>
      </p:sp>
      <p:sp>
        <p:nvSpPr>
          <p:cNvPr id="48" name="text 48"/>
          <p:cNvSpPr/>
          <p:nvPr/>
        </p:nvSpPr>
        <p:spPr>
          <a:xfrm>
            <a:off x="9799320" y="3699933"/>
            <a:ext cx="17576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Formula discrepancy</a:t>
            </a:r>
            <a:endParaRPr lang="en-US" sz="1350"/>
          </a:p>
          <a:p>
            <a:pPr algn="l">
              <a:lnSpc>
                <a:spcPts val="1539"/>
              </a:lnSpc>
              <a:spcAft>
                <a:spcPts val="0"/>
              </a:spcAft>
            </a:pPr>
            <a:r>
              <a:rPr lang="en-US" sz="1350" b="0" dirty="0">
                <a:solidFill>
                  <a:srgbClr val="181C23"/>
                </a:solidFill>
                <a:latin typeface="Funnel Sans"/>
              </a:rPr>
              <a:t>S02 row 6</a:t>
            </a:r>
            <a:endParaRPr lang="en-US" sz="1350"/>
          </a:p>
        </p:txBody>
      </p:sp>
      <p:cxnSp>
        <p:nvCxnSpPr>
          <p:cNvPr id="49" name="connector 49"/>
          <p:cNvCxnSpPr/>
          <p:nvPr/>
        </p:nvCxnSpPr>
        <p:spPr>
          <a:xfrm>
            <a:off x="9672320" y="4171950"/>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0" name="shape 50"/>
          <p:cNvSpPr/>
          <p:nvPr/>
        </p:nvSpPr>
        <p:spPr>
          <a:xfrm>
            <a:off x="508000" y="4171950"/>
            <a:ext cx="3352800" cy="522817"/>
          </a:xfrm>
          <a:prstGeom prst="rect">
            <a:avLst/>
          </a:prstGeom>
          <a:solidFill>
            <a:srgbClr val="EFEEE9"/>
          </a:solidFill>
          <a:ln>
            <a:noFill/>
          </a:ln>
        </p:spPr>
      </p:sp>
      <p:sp>
        <p:nvSpPr>
          <p:cNvPr id="51" name="text 51"/>
          <p:cNvSpPr/>
          <p:nvPr/>
        </p:nvSpPr>
        <p:spPr>
          <a:xfrm>
            <a:off x="635000" y="4222750"/>
            <a:ext cx="3098800" cy="421217"/>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T2-D07 Disguised-missing / staleness</a:t>
            </a:r>
            <a:endParaRPr lang="en-US" sz="1350"/>
          </a:p>
        </p:txBody>
      </p:sp>
      <p:cxnSp>
        <p:nvCxnSpPr>
          <p:cNvPr id="52" name="connector 52"/>
          <p:cNvCxnSpPr/>
          <p:nvPr/>
        </p:nvCxnSpPr>
        <p:spPr>
          <a:xfrm>
            <a:off x="508000" y="4694767"/>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3" name="shape 53"/>
          <p:cNvSpPr/>
          <p:nvPr/>
        </p:nvSpPr>
        <p:spPr>
          <a:xfrm>
            <a:off x="3860800" y="4171950"/>
            <a:ext cx="3241040" cy="522817"/>
          </a:xfrm>
          <a:prstGeom prst="rect">
            <a:avLst/>
          </a:prstGeom>
          <a:solidFill>
            <a:srgbClr val="EFEEE9"/>
          </a:solidFill>
          <a:ln>
            <a:noFill/>
          </a:ln>
        </p:spPr>
      </p:sp>
      <p:sp>
        <p:nvSpPr>
          <p:cNvPr id="54" name="text 54"/>
          <p:cNvSpPr/>
          <p:nvPr/>
        </p:nvSpPr>
        <p:spPr>
          <a:xfrm>
            <a:off x="3987800" y="4222750"/>
            <a:ext cx="298704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Detect frozen or sentinel values.</a:t>
            </a:r>
            <a:endParaRPr lang="en-US" sz="1350"/>
          </a:p>
        </p:txBody>
      </p:sp>
      <p:cxnSp>
        <p:nvCxnSpPr>
          <p:cNvPr id="55" name="connector 55"/>
          <p:cNvCxnSpPr/>
          <p:nvPr/>
        </p:nvCxnSpPr>
        <p:spPr>
          <a:xfrm>
            <a:off x="3860800" y="4694767"/>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6" name="shape 56"/>
          <p:cNvSpPr/>
          <p:nvPr/>
        </p:nvSpPr>
        <p:spPr>
          <a:xfrm>
            <a:off x="7101840" y="4171950"/>
            <a:ext cx="2570480" cy="522817"/>
          </a:xfrm>
          <a:prstGeom prst="rect">
            <a:avLst/>
          </a:prstGeom>
          <a:solidFill>
            <a:srgbClr val="EFEEE9"/>
          </a:solidFill>
          <a:ln>
            <a:noFill/>
          </a:ln>
        </p:spPr>
      </p:sp>
      <p:sp>
        <p:nvSpPr>
          <p:cNvPr id="57" name="text 57"/>
          <p:cNvSpPr/>
          <p:nvPr/>
        </p:nvSpPr>
        <p:spPr>
          <a:xfrm>
            <a:off x="7228840" y="4222750"/>
            <a:ext cx="23164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Panel fields + sentinels</a:t>
            </a:r>
            <a:endParaRPr lang="en-US" sz="1350"/>
          </a:p>
        </p:txBody>
      </p:sp>
      <p:cxnSp>
        <p:nvCxnSpPr>
          <p:cNvPr id="58" name="connector 58"/>
          <p:cNvCxnSpPr/>
          <p:nvPr/>
        </p:nvCxnSpPr>
        <p:spPr>
          <a:xfrm>
            <a:off x="7101840" y="4694767"/>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9" name="shape 59"/>
          <p:cNvSpPr/>
          <p:nvPr/>
        </p:nvSpPr>
        <p:spPr>
          <a:xfrm>
            <a:off x="9672320" y="4171950"/>
            <a:ext cx="2011680" cy="522817"/>
          </a:xfrm>
          <a:prstGeom prst="rect">
            <a:avLst/>
          </a:prstGeom>
          <a:solidFill>
            <a:srgbClr val="EFEEE9"/>
          </a:solidFill>
          <a:ln>
            <a:noFill/>
          </a:ln>
        </p:spPr>
      </p:sp>
      <p:sp>
        <p:nvSpPr>
          <p:cNvPr id="60" name="text 60"/>
          <p:cNvSpPr/>
          <p:nvPr/>
        </p:nvSpPr>
        <p:spPr>
          <a:xfrm>
            <a:off x="9799320" y="4222750"/>
            <a:ext cx="1757680" cy="421217"/>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Frozen / sentinel flags</a:t>
            </a:r>
            <a:endParaRPr lang="en-US" sz="1300"/>
          </a:p>
          <a:p>
            <a:pPr algn="l">
              <a:lnSpc>
                <a:spcPts val="1482"/>
              </a:lnSpc>
              <a:spcAft>
                <a:spcPts val="0"/>
              </a:spcAft>
            </a:pPr>
            <a:r>
              <a:rPr lang="en-US" sz="1300" b="0" dirty="0">
                <a:solidFill>
                  <a:srgbClr val="181C23"/>
                </a:solidFill>
                <a:latin typeface="Funnel Sans"/>
              </a:rPr>
              <a:t>S02 row 8</a:t>
            </a:r>
            <a:endParaRPr lang="en-US" sz="1300"/>
          </a:p>
        </p:txBody>
      </p:sp>
      <p:cxnSp>
        <p:nvCxnSpPr>
          <p:cNvPr id="61" name="connector 61"/>
          <p:cNvCxnSpPr/>
          <p:nvPr/>
        </p:nvCxnSpPr>
        <p:spPr>
          <a:xfrm>
            <a:off x="9672320" y="4694767"/>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2" name="shape 62"/>
          <p:cNvSpPr/>
          <p:nvPr/>
        </p:nvSpPr>
        <p:spPr>
          <a:xfrm>
            <a:off x="508000" y="4694767"/>
            <a:ext cx="3352800" cy="522817"/>
          </a:xfrm>
          <a:prstGeom prst="rect">
            <a:avLst/>
          </a:prstGeom>
          <a:solidFill>
            <a:srgbClr val="FFFFFF"/>
          </a:solidFill>
          <a:ln>
            <a:noFill/>
          </a:ln>
        </p:spPr>
      </p:sp>
      <p:sp>
        <p:nvSpPr>
          <p:cNvPr id="63" name="text 63"/>
          <p:cNvSpPr/>
          <p:nvPr/>
        </p:nvSpPr>
        <p:spPr>
          <a:xfrm>
            <a:off x="635000" y="4745567"/>
            <a:ext cx="3098800" cy="421217"/>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T2-D09 Statistical outlier (robust-Z)</a:t>
            </a:r>
            <a:endParaRPr lang="en-US" sz="1350"/>
          </a:p>
        </p:txBody>
      </p:sp>
      <p:cxnSp>
        <p:nvCxnSpPr>
          <p:cNvPr id="64" name="connector 64"/>
          <p:cNvCxnSpPr/>
          <p:nvPr/>
        </p:nvCxnSpPr>
        <p:spPr>
          <a:xfrm>
            <a:off x="508000" y="5217583"/>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5" name="shape 65"/>
          <p:cNvSpPr/>
          <p:nvPr/>
        </p:nvSpPr>
        <p:spPr>
          <a:xfrm>
            <a:off x="3860800" y="4694767"/>
            <a:ext cx="3241040" cy="522817"/>
          </a:xfrm>
          <a:prstGeom prst="rect">
            <a:avLst/>
          </a:prstGeom>
          <a:solidFill>
            <a:srgbClr val="FFFFFF"/>
          </a:solidFill>
          <a:ln>
            <a:noFill/>
          </a:ln>
        </p:spPr>
      </p:sp>
      <p:sp>
        <p:nvSpPr>
          <p:cNvPr id="66" name="text 66"/>
          <p:cNvSpPr/>
          <p:nvPr/>
        </p:nvSpPr>
        <p:spPr>
          <a:xfrm>
            <a:off x="3987800" y="4745567"/>
            <a:ext cx="298704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Flag improbable numeric extremes.</a:t>
            </a:r>
            <a:endParaRPr lang="en-US" sz="1350"/>
          </a:p>
        </p:txBody>
      </p:sp>
      <p:cxnSp>
        <p:nvCxnSpPr>
          <p:cNvPr id="67" name="connector 67"/>
          <p:cNvCxnSpPr/>
          <p:nvPr/>
        </p:nvCxnSpPr>
        <p:spPr>
          <a:xfrm>
            <a:off x="3860800" y="5217583"/>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8" name="shape 68"/>
          <p:cNvSpPr/>
          <p:nvPr/>
        </p:nvSpPr>
        <p:spPr>
          <a:xfrm>
            <a:off x="7101840" y="4694767"/>
            <a:ext cx="2570480" cy="522817"/>
          </a:xfrm>
          <a:prstGeom prst="rect">
            <a:avLst/>
          </a:prstGeom>
          <a:solidFill>
            <a:srgbClr val="FFFFFF"/>
          </a:solidFill>
          <a:ln>
            <a:noFill/>
          </a:ln>
        </p:spPr>
      </p:sp>
      <p:sp>
        <p:nvSpPr>
          <p:cNvPr id="69" name="text 69"/>
          <p:cNvSpPr/>
          <p:nvPr/>
        </p:nvSpPr>
        <p:spPr>
          <a:xfrm>
            <a:off x="7228840" y="4745567"/>
            <a:ext cx="23164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Material numeric fields</a:t>
            </a:r>
            <a:endParaRPr lang="en-US" sz="1350"/>
          </a:p>
        </p:txBody>
      </p:sp>
      <p:cxnSp>
        <p:nvCxnSpPr>
          <p:cNvPr id="70" name="connector 70"/>
          <p:cNvCxnSpPr/>
          <p:nvPr/>
        </p:nvCxnSpPr>
        <p:spPr>
          <a:xfrm>
            <a:off x="7101840" y="5217583"/>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1" name="shape 71"/>
          <p:cNvSpPr/>
          <p:nvPr/>
        </p:nvSpPr>
        <p:spPr>
          <a:xfrm>
            <a:off x="9672320" y="4694767"/>
            <a:ext cx="2011680" cy="522817"/>
          </a:xfrm>
          <a:prstGeom prst="rect">
            <a:avLst/>
          </a:prstGeom>
          <a:solidFill>
            <a:srgbClr val="FFFFFF"/>
          </a:solidFill>
          <a:ln>
            <a:noFill/>
          </a:ln>
        </p:spPr>
      </p:sp>
      <p:sp>
        <p:nvSpPr>
          <p:cNvPr id="72" name="text 72"/>
          <p:cNvSpPr/>
          <p:nvPr/>
        </p:nvSpPr>
        <p:spPr>
          <a:xfrm>
            <a:off x="9799320" y="4745567"/>
            <a:ext cx="17576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Robust-Z candidates</a:t>
            </a:r>
            <a:endParaRPr lang="en-US" sz="1350"/>
          </a:p>
          <a:p>
            <a:pPr algn="l">
              <a:lnSpc>
                <a:spcPts val="1539"/>
              </a:lnSpc>
              <a:spcAft>
                <a:spcPts val="0"/>
              </a:spcAft>
            </a:pPr>
            <a:r>
              <a:rPr lang="en-US" sz="1350" b="0" dirty="0">
                <a:solidFill>
                  <a:srgbClr val="181C23"/>
                </a:solidFill>
                <a:latin typeface="Funnel Sans"/>
              </a:rPr>
              <a:t>S02 row 10</a:t>
            </a:r>
            <a:endParaRPr lang="en-US" sz="1350"/>
          </a:p>
        </p:txBody>
      </p:sp>
      <p:cxnSp>
        <p:nvCxnSpPr>
          <p:cNvPr id="73" name="connector 73"/>
          <p:cNvCxnSpPr/>
          <p:nvPr/>
        </p:nvCxnSpPr>
        <p:spPr>
          <a:xfrm>
            <a:off x="9672320" y="5217583"/>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4" name="shape 74"/>
          <p:cNvSpPr/>
          <p:nvPr/>
        </p:nvSpPr>
        <p:spPr>
          <a:xfrm>
            <a:off x="508000" y="5217583"/>
            <a:ext cx="3352800" cy="522817"/>
          </a:xfrm>
          <a:prstGeom prst="rect">
            <a:avLst/>
          </a:prstGeom>
          <a:solidFill>
            <a:srgbClr val="EFEEE9"/>
          </a:solidFill>
          <a:ln>
            <a:noFill/>
          </a:ln>
        </p:spPr>
      </p:sp>
      <p:sp>
        <p:nvSpPr>
          <p:cNvPr id="75" name="text 75"/>
          <p:cNvSpPr/>
          <p:nvPr/>
        </p:nvSpPr>
        <p:spPr>
          <a:xfrm>
            <a:off x="635000" y="5268383"/>
            <a:ext cx="3098800" cy="421217"/>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T2-D10 Boundary / pile-up detection</a:t>
            </a:r>
            <a:endParaRPr lang="en-US" sz="1350"/>
          </a:p>
        </p:txBody>
      </p:sp>
      <p:cxnSp>
        <p:nvCxnSpPr>
          <p:cNvPr id="76" name="connector 76"/>
          <p:cNvCxnSpPr/>
          <p:nvPr/>
        </p:nvCxnSpPr>
        <p:spPr>
          <a:xfrm>
            <a:off x="508000" y="574040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7" name="shape 77"/>
          <p:cNvSpPr/>
          <p:nvPr/>
        </p:nvSpPr>
        <p:spPr>
          <a:xfrm>
            <a:off x="3860800" y="5217583"/>
            <a:ext cx="3241040" cy="522817"/>
          </a:xfrm>
          <a:prstGeom prst="rect">
            <a:avLst/>
          </a:prstGeom>
          <a:solidFill>
            <a:srgbClr val="EFEEE9"/>
          </a:solidFill>
          <a:ln>
            <a:noFill/>
          </a:ln>
        </p:spPr>
      </p:sp>
      <p:sp>
        <p:nvSpPr>
          <p:cNvPr id="78" name="text 78"/>
          <p:cNvSpPr/>
          <p:nvPr/>
        </p:nvSpPr>
        <p:spPr>
          <a:xfrm>
            <a:off x="3987800" y="5268383"/>
            <a:ext cx="298704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Measure mass at declared bounds.</a:t>
            </a:r>
            <a:endParaRPr lang="en-US" sz="1350"/>
          </a:p>
        </p:txBody>
      </p:sp>
      <p:cxnSp>
        <p:nvCxnSpPr>
          <p:cNvPr id="79" name="connector 79"/>
          <p:cNvCxnSpPr/>
          <p:nvPr/>
        </p:nvCxnSpPr>
        <p:spPr>
          <a:xfrm>
            <a:off x="3860800" y="574040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80" name="shape 80"/>
          <p:cNvSpPr/>
          <p:nvPr/>
        </p:nvSpPr>
        <p:spPr>
          <a:xfrm>
            <a:off x="7101840" y="5217583"/>
            <a:ext cx="2570480" cy="522817"/>
          </a:xfrm>
          <a:prstGeom prst="rect">
            <a:avLst/>
          </a:prstGeom>
          <a:solidFill>
            <a:srgbClr val="EFEEE9"/>
          </a:solidFill>
          <a:ln>
            <a:noFill/>
          </a:ln>
        </p:spPr>
      </p:sp>
      <p:sp>
        <p:nvSpPr>
          <p:cNvPr id="81" name="text 81"/>
          <p:cNvSpPr/>
          <p:nvPr/>
        </p:nvSpPr>
        <p:spPr>
          <a:xfrm>
            <a:off x="7228840" y="5268383"/>
            <a:ext cx="23164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Bounded numeric field</a:t>
            </a:r>
            <a:endParaRPr lang="en-US" sz="1350"/>
          </a:p>
        </p:txBody>
      </p:sp>
      <p:cxnSp>
        <p:nvCxnSpPr>
          <p:cNvPr id="82" name="connector 82"/>
          <p:cNvCxnSpPr/>
          <p:nvPr/>
        </p:nvCxnSpPr>
        <p:spPr>
          <a:xfrm>
            <a:off x="7101840" y="574040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83" name="shape 83"/>
          <p:cNvSpPr/>
          <p:nvPr/>
        </p:nvSpPr>
        <p:spPr>
          <a:xfrm>
            <a:off x="9672320" y="5217583"/>
            <a:ext cx="2011680" cy="522817"/>
          </a:xfrm>
          <a:prstGeom prst="rect">
            <a:avLst/>
          </a:prstGeom>
          <a:solidFill>
            <a:srgbClr val="EFEEE9"/>
          </a:solidFill>
          <a:ln>
            <a:noFill/>
          </a:ln>
        </p:spPr>
      </p:sp>
      <p:sp>
        <p:nvSpPr>
          <p:cNvPr id="84" name="text 84"/>
          <p:cNvSpPr/>
          <p:nvPr/>
        </p:nvSpPr>
        <p:spPr>
          <a:xfrm>
            <a:off x="9799320" y="5268383"/>
            <a:ext cx="1757680" cy="42121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Boundary share</a:t>
            </a:r>
            <a:endParaRPr lang="en-US" sz="1350"/>
          </a:p>
          <a:p>
            <a:pPr algn="l">
              <a:lnSpc>
                <a:spcPts val="1539"/>
              </a:lnSpc>
              <a:spcAft>
                <a:spcPts val="0"/>
              </a:spcAft>
            </a:pPr>
            <a:r>
              <a:rPr lang="en-US" sz="1350" b="0" dirty="0">
                <a:solidFill>
                  <a:srgbClr val="181C23"/>
                </a:solidFill>
                <a:latin typeface="Funnel Sans"/>
              </a:rPr>
              <a:t>S02 row 11</a:t>
            </a:r>
            <a:endParaRPr lang="en-US" sz="1350"/>
          </a:p>
        </p:txBody>
      </p:sp>
      <p:cxnSp>
        <p:nvCxnSpPr>
          <p:cNvPr id="85" name="connector 85"/>
          <p:cNvCxnSpPr/>
          <p:nvPr/>
        </p:nvCxnSpPr>
        <p:spPr>
          <a:xfrm>
            <a:off x="9672320" y="5740400"/>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86" name="shape 86"/>
          <p:cNvSpPr/>
          <p:nvPr/>
        </p:nvSpPr>
        <p:spPr>
          <a:xfrm>
            <a:off x="508000" y="5740400"/>
            <a:ext cx="11176000" cy="546100"/>
          </a:xfrm>
          <a:prstGeom prst="rect">
            <a:avLst/>
          </a:prstGeom>
          <a:solidFill>
            <a:srgbClr val="282A27"/>
          </a:solidFill>
          <a:ln>
            <a:noFill/>
          </a:ln>
        </p:spPr>
      </p:sp>
      <p:sp>
        <p:nvSpPr>
          <p:cNvPr id="87" name="text 8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Planned • not registered • no current launch, automatic issue creation or diagnostic report.</a:t>
            </a:r>
            <a:endParaRPr lang="en-US" sz="1600"/>
          </a:p>
        </p:txBody>
      </p:sp>
      <p:cxnSp>
        <p:nvCxnSpPr>
          <p:cNvPr id="88" name="connector 8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89" name="text 8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90" name="text 9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21 / 87</a:t>
            </a:r>
            <a:endParaRPr 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03 / DIAGNOSTIC CATALOG</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Retain deferred diagnostics without implying availability</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These eleven workbook diagnostics are planned and absent from the current register.</a:t>
            </a:r>
            <a:endParaRPr lang="en-US" sz="1500"/>
          </a:p>
        </p:txBody>
      </p:sp>
      <p:sp>
        <p:nvSpPr>
          <p:cNvPr id="6" name="shape 6"/>
          <p:cNvSpPr/>
          <p:nvPr/>
        </p:nvSpPr>
        <p:spPr>
          <a:xfrm>
            <a:off x="508000" y="2146300"/>
            <a:ext cx="3352800" cy="457200"/>
          </a:xfrm>
          <a:prstGeom prst="rect">
            <a:avLst/>
          </a:prstGeom>
          <a:solidFill>
            <a:srgbClr val="282A27"/>
          </a:solidFill>
          <a:ln>
            <a:noFill/>
          </a:ln>
        </p:spPr>
      </p:sp>
      <p:sp>
        <p:nvSpPr>
          <p:cNvPr id="7" name="text 7"/>
          <p:cNvSpPr/>
          <p:nvPr/>
        </p:nvSpPr>
        <p:spPr>
          <a:xfrm>
            <a:off x="635000" y="2260600"/>
            <a:ext cx="3098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ID / diagnostic</a:t>
            </a:r>
            <a:endParaRPr lang="en-US" sz="1200"/>
          </a:p>
        </p:txBody>
      </p:sp>
      <p:sp>
        <p:nvSpPr>
          <p:cNvPr id="8" name="shape 8"/>
          <p:cNvSpPr/>
          <p:nvPr/>
        </p:nvSpPr>
        <p:spPr>
          <a:xfrm>
            <a:off x="3860800" y="2146300"/>
            <a:ext cx="3241040" cy="457200"/>
          </a:xfrm>
          <a:prstGeom prst="rect">
            <a:avLst/>
          </a:prstGeom>
          <a:solidFill>
            <a:srgbClr val="282A27"/>
          </a:solidFill>
          <a:ln>
            <a:noFill/>
          </a:ln>
        </p:spPr>
      </p:sp>
      <p:sp>
        <p:nvSpPr>
          <p:cNvPr id="9" name="text 9"/>
          <p:cNvSpPr/>
          <p:nvPr/>
        </p:nvSpPr>
        <p:spPr>
          <a:xfrm>
            <a:off x="3987800" y="2260600"/>
            <a:ext cx="29870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One-line purpose</a:t>
            </a:r>
            <a:endParaRPr lang="en-US" sz="1200"/>
          </a:p>
        </p:txBody>
      </p:sp>
      <p:sp>
        <p:nvSpPr>
          <p:cNvPr id="10" name="shape 10"/>
          <p:cNvSpPr/>
          <p:nvPr/>
        </p:nvSpPr>
        <p:spPr>
          <a:xfrm>
            <a:off x="7101840" y="2146300"/>
            <a:ext cx="2570480" cy="457200"/>
          </a:xfrm>
          <a:prstGeom prst="rect">
            <a:avLst/>
          </a:prstGeom>
          <a:solidFill>
            <a:srgbClr val="282A27"/>
          </a:solidFill>
          <a:ln>
            <a:noFill/>
          </a:ln>
        </p:spPr>
      </p:sp>
      <p:sp>
        <p:nvSpPr>
          <p:cNvPr id="11" name="text 11"/>
          <p:cNvSpPr/>
          <p:nvPr/>
        </p:nvSpPr>
        <p:spPr>
          <a:xfrm>
            <a:off x="7228840" y="2260600"/>
            <a:ext cx="23164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User / input</a:t>
            </a:r>
            <a:endParaRPr lang="en-US" sz="1200"/>
          </a:p>
        </p:txBody>
      </p:sp>
      <p:sp>
        <p:nvSpPr>
          <p:cNvPr id="12" name="shape 12"/>
          <p:cNvSpPr/>
          <p:nvPr/>
        </p:nvSpPr>
        <p:spPr>
          <a:xfrm>
            <a:off x="9672320" y="2146300"/>
            <a:ext cx="2011680" cy="457200"/>
          </a:xfrm>
          <a:prstGeom prst="rect">
            <a:avLst/>
          </a:prstGeom>
          <a:solidFill>
            <a:srgbClr val="282A27"/>
          </a:solidFill>
          <a:ln>
            <a:noFill/>
          </a:ln>
        </p:spPr>
      </p:sp>
      <p:sp>
        <p:nvSpPr>
          <p:cNvPr id="13" name="text 13"/>
          <p:cNvSpPr/>
          <p:nvPr/>
        </p:nvSpPr>
        <p:spPr>
          <a:xfrm>
            <a:off x="9799320" y="2260600"/>
            <a:ext cx="17576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Output / source</a:t>
            </a:r>
            <a:endParaRPr lang="en-US" sz="1200"/>
          </a:p>
        </p:txBody>
      </p:sp>
      <p:sp>
        <p:nvSpPr>
          <p:cNvPr id="14" name="shape 14"/>
          <p:cNvSpPr/>
          <p:nvPr/>
        </p:nvSpPr>
        <p:spPr>
          <a:xfrm>
            <a:off x="508000" y="2603500"/>
            <a:ext cx="3352800" cy="627380"/>
          </a:xfrm>
          <a:prstGeom prst="rect">
            <a:avLst/>
          </a:prstGeom>
          <a:solidFill>
            <a:srgbClr val="FFFFFF"/>
          </a:solidFill>
          <a:ln>
            <a:noFill/>
          </a:ln>
        </p:spPr>
      </p:sp>
      <p:sp>
        <p:nvSpPr>
          <p:cNvPr id="15" name="text 15"/>
          <p:cNvSpPr/>
          <p:nvPr/>
        </p:nvSpPr>
        <p:spPr>
          <a:xfrm>
            <a:off x="635000" y="2654300"/>
            <a:ext cx="3098800" cy="525780"/>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T3-D13 Target-rate break</a:t>
            </a:r>
            <a:endParaRPr lang="en-US" sz="1350"/>
          </a:p>
          <a:p>
            <a:pPr algn="l">
              <a:lnSpc>
                <a:spcPts val="1539"/>
              </a:lnSpc>
              <a:spcAft>
                <a:spcPts val="0"/>
              </a:spcAft>
            </a:pPr>
            <a:r>
              <a:rPr lang="en-US" sz="1350" b="1" dirty="0">
                <a:solidFill>
                  <a:srgbClr val="181C23"/>
                </a:solidFill>
                <a:latin typeface="Funnel Sans"/>
              </a:rPr>
              <a:t>(change-point)</a:t>
            </a:r>
            <a:endParaRPr lang="en-US" sz="1350"/>
          </a:p>
        </p:txBody>
      </p:sp>
      <p:cxnSp>
        <p:nvCxnSpPr>
          <p:cNvPr id="16" name="connector 16"/>
          <p:cNvCxnSpPr/>
          <p:nvPr/>
        </p:nvCxnSpPr>
        <p:spPr>
          <a:xfrm>
            <a:off x="508000" y="323088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7" name="shape 17"/>
          <p:cNvSpPr/>
          <p:nvPr/>
        </p:nvSpPr>
        <p:spPr>
          <a:xfrm>
            <a:off x="3860800" y="2603500"/>
            <a:ext cx="3241040" cy="627380"/>
          </a:xfrm>
          <a:prstGeom prst="rect">
            <a:avLst/>
          </a:prstGeom>
          <a:solidFill>
            <a:srgbClr val="FFFFFF"/>
          </a:solidFill>
          <a:ln>
            <a:noFill/>
          </a:ln>
        </p:spPr>
      </p:sp>
      <p:sp>
        <p:nvSpPr>
          <p:cNvPr id="18" name="text 18"/>
          <p:cNvSpPr/>
          <p:nvPr/>
        </p:nvSpPr>
        <p:spPr>
          <a:xfrm>
            <a:off x="3987800" y="2654300"/>
            <a:ext cx="298704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Find structural target-rate shifts.</a:t>
            </a:r>
            <a:endParaRPr lang="en-US" sz="1350"/>
          </a:p>
        </p:txBody>
      </p:sp>
      <p:cxnSp>
        <p:nvCxnSpPr>
          <p:cNvPr id="19" name="connector 19"/>
          <p:cNvCxnSpPr/>
          <p:nvPr/>
        </p:nvCxnSpPr>
        <p:spPr>
          <a:xfrm>
            <a:off x="3860800" y="323088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7101840" y="2603500"/>
            <a:ext cx="2570480" cy="627380"/>
          </a:xfrm>
          <a:prstGeom prst="rect">
            <a:avLst/>
          </a:prstGeom>
          <a:solidFill>
            <a:srgbClr val="FFFFFF"/>
          </a:solidFill>
          <a:ln>
            <a:noFill/>
          </a:ln>
        </p:spPr>
      </p:sp>
      <p:sp>
        <p:nvSpPr>
          <p:cNvPr id="21" name="text 21"/>
          <p:cNvSpPr/>
          <p:nvPr/>
        </p:nvSpPr>
        <p:spPr>
          <a:xfrm>
            <a:off x="7228840" y="2654300"/>
            <a:ext cx="231648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Target + dated definitions</a:t>
            </a:r>
            <a:endParaRPr lang="en-US" sz="1350"/>
          </a:p>
        </p:txBody>
      </p:sp>
      <p:cxnSp>
        <p:nvCxnSpPr>
          <p:cNvPr id="22" name="connector 22"/>
          <p:cNvCxnSpPr/>
          <p:nvPr/>
        </p:nvCxnSpPr>
        <p:spPr>
          <a:xfrm>
            <a:off x="7101840" y="323088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9672320" y="2603500"/>
            <a:ext cx="2011680" cy="627380"/>
          </a:xfrm>
          <a:prstGeom prst="rect">
            <a:avLst/>
          </a:prstGeom>
          <a:solidFill>
            <a:srgbClr val="FFFFFF"/>
          </a:solidFill>
          <a:ln>
            <a:noFill/>
          </a:ln>
        </p:spPr>
      </p:sp>
      <p:sp>
        <p:nvSpPr>
          <p:cNvPr id="24" name="text 24"/>
          <p:cNvSpPr/>
          <p:nvPr/>
        </p:nvSpPr>
        <p:spPr>
          <a:xfrm>
            <a:off x="9799320" y="2654300"/>
            <a:ext cx="1757680" cy="52578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Change-point evidence</a:t>
            </a:r>
            <a:endParaRPr lang="en-US" sz="1250"/>
          </a:p>
          <a:p>
            <a:pPr algn="l">
              <a:lnSpc>
                <a:spcPts val="1425"/>
              </a:lnSpc>
              <a:spcAft>
                <a:spcPts val="0"/>
              </a:spcAft>
            </a:pPr>
            <a:r>
              <a:rPr lang="en-US" sz="1250" b="0" dirty="0">
                <a:solidFill>
                  <a:srgbClr val="181C23"/>
                </a:solidFill>
                <a:latin typeface="Funnel Sans"/>
              </a:rPr>
              <a:t>S02 row 14</a:t>
            </a:r>
            <a:endParaRPr lang="en-US" sz="1250"/>
          </a:p>
        </p:txBody>
      </p:sp>
      <p:cxnSp>
        <p:nvCxnSpPr>
          <p:cNvPr id="25" name="connector 25"/>
          <p:cNvCxnSpPr/>
          <p:nvPr/>
        </p:nvCxnSpPr>
        <p:spPr>
          <a:xfrm>
            <a:off x="9672320" y="3230880"/>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508000" y="3230880"/>
            <a:ext cx="3352800" cy="627380"/>
          </a:xfrm>
          <a:prstGeom prst="rect">
            <a:avLst/>
          </a:prstGeom>
          <a:solidFill>
            <a:srgbClr val="EFEEE9"/>
          </a:solidFill>
          <a:ln>
            <a:noFill/>
          </a:ln>
        </p:spPr>
      </p:sp>
      <p:sp>
        <p:nvSpPr>
          <p:cNvPr id="27" name="text 27"/>
          <p:cNvSpPr/>
          <p:nvPr/>
        </p:nvSpPr>
        <p:spPr>
          <a:xfrm>
            <a:off x="635000" y="3281680"/>
            <a:ext cx="3098800" cy="525780"/>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T4-D15 KS distance</a:t>
            </a:r>
            <a:endParaRPr lang="en-US" sz="1350"/>
          </a:p>
        </p:txBody>
      </p:sp>
      <p:cxnSp>
        <p:nvCxnSpPr>
          <p:cNvPr id="28" name="connector 28"/>
          <p:cNvCxnSpPr/>
          <p:nvPr/>
        </p:nvCxnSpPr>
        <p:spPr>
          <a:xfrm>
            <a:off x="508000" y="385826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shape 29"/>
          <p:cNvSpPr/>
          <p:nvPr/>
        </p:nvSpPr>
        <p:spPr>
          <a:xfrm>
            <a:off x="3860800" y="3230880"/>
            <a:ext cx="3241040" cy="627380"/>
          </a:xfrm>
          <a:prstGeom prst="rect">
            <a:avLst/>
          </a:prstGeom>
          <a:solidFill>
            <a:srgbClr val="EFEEE9"/>
          </a:solidFill>
          <a:ln>
            <a:noFill/>
          </a:ln>
        </p:spPr>
      </p:sp>
      <p:sp>
        <p:nvSpPr>
          <p:cNvPr id="30" name="text 30"/>
          <p:cNvSpPr/>
          <p:nvPr/>
        </p:nvSpPr>
        <p:spPr>
          <a:xfrm>
            <a:off x="3987800" y="3281680"/>
            <a:ext cx="298704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Measure distance from reference.</a:t>
            </a:r>
            <a:endParaRPr lang="en-US" sz="1350"/>
          </a:p>
        </p:txBody>
      </p:sp>
      <p:cxnSp>
        <p:nvCxnSpPr>
          <p:cNvPr id="31" name="connector 31"/>
          <p:cNvCxnSpPr/>
          <p:nvPr/>
        </p:nvCxnSpPr>
        <p:spPr>
          <a:xfrm>
            <a:off x="3860800" y="385826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7101840" y="3230880"/>
            <a:ext cx="2570480" cy="627380"/>
          </a:xfrm>
          <a:prstGeom prst="rect">
            <a:avLst/>
          </a:prstGeom>
          <a:solidFill>
            <a:srgbClr val="EFEEE9"/>
          </a:solidFill>
          <a:ln>
            <a:noFill/>
          </a:ln>
        </p:spPr>
      </p:sp>
      <p:sp>
        <p:nvSpPr>
          <p:cNvPr id="33" name="text 33"/>
          <p:cNvSpPr/>
          <p:nvPr/>
        </p:nvSpPr>
        <p:spPr>
          <a:xfrm>
            <a:off x="7228840" y="3281680"/>
            <a:ext cx="231648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Sample + reference</a:t>
            </a:r>
            <a:endParaRPr lang="en-US" sz="1350"/>
          </a:p>
        </p:txBody>
      </p:sp>
      <p:cxnSp>
        <p:nvCxnSpPr>
          <p:cNvPr id="34" name="connector 34"/>
          <p:cNvCxnSpPr/>
          <p:nvPr/>
        </p:nvCxnSpPr>
        <p:spPr>
          <a:xfrm>
            <a:off x="7101840" y="385826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shape 35"/>
          <p:cNvSpPr/>
          <p:nvPr/>
        </p:nvSpPr>
        <p:spPr>
          <a:xfrm>
            <a:off x="9672320" y="3230880"/>
            <a:ext cx="2011680" cy="627380"/>
          </a:xfrm>
          <a:prstGeom prst="rect">
            <a:avLst/>
          </a:prstGeom>
          <a:solidFill>
            <a:srgbClr val="EFEEE9"/>
          </a:solidFill>
          <a:ln>
            <a:noFill/>
          </a:ln>
        </p:spPr>
      </p:sp>
      <p:sp>
        <p:nvSpPr>
          <p:cNvPr id="36" name="text 36"/>
          <p:cNvSpPr/>
          <p:nvPr/>
        </p:nvSpPr>
        <p:spPr>
          <a:xfrm>
            <a:off x="9799320" y="3281680"/>
            <a:ext cx="175768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KS distance</a:t>
            </a:r>
            <a:endParaRPr lang="en-US" sz="1350"/>
          </a:p>
          <a:p>
            <a:pPr algn="l">
              <a:lnSpc>
                <a:spcPts val="1539"/>
              </a:lnSpc>
              <a:spcAft>
                <a:spcPts val="0"/>
              </a:spcAft>
            </a:pPr>
            <a:r>
              <a:rPr lang="en-US" sz="1350" b="0" dirty="0">
                <a:solidFill>
                  <a:srgbClr val="181C23"/>
                </a:solidFill>
                <a:latin typeface="Funnel Sans"/>
              </a:rPr>
              <a:t>S02 row 16</a:t>
            </a:r>
            <a:endParaRPr lang="en-US" sz="1350"/>
          </a:p>
        </p:txBody>
      </p:sp>
      <p:cxnSp>
        <p:nvCxnSpPr>
          <p:cNvPr id="37" name="connector 37"/>
          <p:cNvCxnSpPr/>
          <p:nvPr/>
        </p:nvCxnSpPr>
        <p:spPr>
          <a:xfrm>
            <a:off x="9672320" y="3858260"/>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508000" y="3858260"/>
            <a:ext cx="3352800" cy="627380"/>
          </a:xfrm>
          <a:prstGeom prst="rect">
            <a:avLst/>
          </a:prstGeom>
          <a:solidFill>
            <a:srgbClr val="FFFFFF"/>
          </a:solidFill>
          <a:ln>
            <a:noFill/>
          </a:ln>
        </p:spPr>
      </p:sp>
      <p:sp>
        <p:nvSpPr>
          <p:cNvPr id="39" name="text 39"/>
          <p:cNvSpPr/>
          <p:nvPr/>
        </p:nvSpPr>
        <p:spPr>
          <a:xfrm>
            <a:off x="635000" y="3909060"/>
            <a:ext cx="3098800" cy="525780"/>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T4-D16 Segment coverage</a:t>
            </a:r>
            <a:endParaRPr lang="en-US" sz="1350"/>
          </a:p>
        </p:txBody>
      </p:sp>
      <p:cxnSp>
        <p:nvCxnSpPr>
          <p:cNvPr id="40" name="connector 40"/>
          <p:cNvCxnSpPr/>
          <p:nvPr/>
        </p:nvCxnSpPr>
        <p:spPr>
          <a:xfrm>
            <a:off x="508000" y="448564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3860800" y="3858260"/>
            <a:ext cx="3241040" cy="627380"/>
          </a:xfrm>
          <a:prstGeom prst="rect">
            <a:avLst/>
          </a:prstGeom>
          <a:solidFill>
            <a:srgbClr val="FFFFFF"/>
          </a:solidFill>
          <a:ln>
            <a:noFill/>
          </a:ln>
        </p:spPr>
      </p:sp>
      <p:sp>
        <p:nvSpPr>
          <p:cNvPr id="42" name="text 42"/>
          <p:cNvSpPr/>
          <p:nvPr/>
        </p:nvSpPr>
        <p:spPr>
          <a:xfrm>
            <a:off x="3987800" y="3909060"/>
            <a:ext cx="298704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Find absent or thin segments.</a:t>
            </a:r>
            <a:endParaRPr lang="en-US" sz="1350"/>
          </a:p>
        </p:txBody>
      </p:sp>
      <p:cxnSp>
        <p:nvCxnSpPr>
          <p:cNvPr id="43" name="connector 43"/>
          <p:cNvCxnSpPr/>
          <p:nvPr/>
        </p:nvCxnSpPr>
        <p:spPr>
          <a:xfrm>
            <a:off x="3860800" y="448564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4" name="shape 44"/>
          <p:cNvSpPr/>
          <p:nvPr/>
        </p:nvSpPr>
        <p:spPr>
          <a:xfrm>
            <a:off x="7101840" y="3858260"/>
            <a:ext cx="2570480" cy="627380"/>
          </a:xfrm>
          <a:prstGeom prst="rect">
            <a:avLst/>
          </a:prstGeom>
          <a:solidFill>
            <a:srgbClr val="FFFFFF"/>
          </a:solidFill>
          <a:ln>
            <a:noFill/>
          </a:ln>
        </p:spPr>
      </p:sp>
      <p:sp>
        <p:nvSpPr>
          <p:cNvPr id="45" name="text 45"/>
          <p:cNvSpPr/>
          <p:nvPr/>
        </p:nvSpPr>
        <p:spPr>
          <a:xfrm>
            <a:off x="7228840" y="3909060"/>
            <a:ext cx="2316480" cy="52578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Analytics + SME</a:t>
            </a:r>
            <a:endParaRPr lang="en-US" sz="1250"/>
          </a:p>
          <a:p>
            <a:pPr algn="l">
              <a:lnSpc>
                <a:spcPts val="1425"/>
              </a:lnSpc>
              <a:spcAft>
                <a:spcPts val="0"/>
              </a:spcAft>
            </a:pPr>
            <a:r>
              <a:rPr lang="en-US" sz="1250" b="0" dirty="0">
                <a:solidFill>
                  <a:srgbClr val="181C23"/>
                </a:solidFill>
                <a:latin typeface="Funnel Sans"/>
              </a:rPr>
              <a:t>Sample + reference segments</a:t>
            </a:r>
            <a:endParaRPr lang="en-US" sz="1250"/>
          </a:p>
        </p:txBody>
      </p:sp>
      <p:cxnSp>
        <p:nvCxnSpPr>
          <p:cNvPr id="46" name="connector 46"/>
          <p:cNvCxnSpPr/>
          <p:nvPr/>
        </p:nvCxnSpPr>
        <p:spPr>
          <a:xfrm>
            <a:off x="7101840" y="448564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shape 47"/>
          <p:cNvSpPr/>
          <p:nvPr/>
        </p:nvSpPr>
        <p:spPr>
          <a:xfrm>
            <a:off x="9672320" y="3858260"/>
            <a:ext cx="2011680" cy="627380"/>
          </a:xfrm>
          <a:prstGeom prst="rect">
            <a:avLst/>
          </a:prstGeom>
          <a:solidFill>
            <a:srgbClr val="FFFFFF"/>
          </a:solidFill>
          <a:ln>
            <a:noFill/>
          </a:ln>
        </p:spPr>
      </p:sp>
      <p:sp>
        <p:nvSpPr>
          <p:cNvPr id="48" name="text 48"/>
          <p:cNvSpPr/>
          <p:nvPr/>
        </p:nvSpPr>
        <p:spPr>
          <a:xfrm>
            <a:off x="9799320" y="3909060"/>
            <a:ext cx="1757680" cy="52578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Absent / thin segments</a:t>
            </a:r>
            <a:endParaRPr lang="en-US" sz="1250"/>
          </a:p>
          <a:p>
            <a:pPr algn="l">
              <a:lnSpc>
                <a:spcPts val="1425"/>
              </a:lnSpc>
              <a:spcAft>
                <a:spcPts val="0"/>
              </a:spcAft>
            </a:pPr>
            <a:r>
              <a:rPr lang="en-US" sz="1250" b="0" dirty="0">
                <a:solidFill>
                  <a:srgbClr val="181C23"/>
                </a:solidFill>
                <a:latin typeface="Funnel Sans"/>
              </a:rPr>
              <a:t>S02 row 17</a:t>
            </a:r>
            <a:endParaRPr lang="en-US" sz="1250"/>
          </a:p>
        </p:txBody>
      </p:sp>
      <p:cxnSp>
        <p:nvCxnSpPr>
          <p:cNvPr id="49" name="connector 49"/>
          <p:cNvCxnSpPr/>
          <p:nvPr/>
        </p:nvCxnSpPr>
        <p:spPr>
          <a:xfrm>
            <a:off x="9672320" y="4485640"/>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0" name="shape 50"/>
          <p:cNvSpPr/>
          <p:nvPr/>
        </p:nvSpPr>
        <p:spPr>
          <a:xfrm>
            <a:off x="508000" y="4485640"/>
            <a:ext cx="3352800" cy="627380"/>
          </a:xfrm>
          <a:prstGeom prst="rect">
            <a:avLst/>
          </a:prstGeom>
          <a:solidFill>
            <a:srgbClr val="EFEEE9"/>
          </a:solidFill>
          <a:ln>
            <a:noFill/>
          </a:ln>
        </p:spPr>
      </p:sp>
      <p:sp>
        <p:nvSpPr>
          <p:cNvPr id="51" name="text 51"/>
          <p:cNvSpPr/>
          <p:nvPr/>
        </p:nvSpPr>
        <p:spPr>
          <a:xfrm>
            <a:off x="635000" y="4536440"/>
            <a:ext cx="3098800" cy="525780"/>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T5-D18 Resolved-only vs all</a:t>
            </a:r>
            <a:endParaRPr lang="en-US" sz="1350"/>
          </a:p>
          <a:p>
            <a:pPr algn="l">
              <a:lnSpc>
                <a:spcPts val="1539"/>
              </a:lnSpc>
              <a:spcAft>
                <a:spcPts val="0"/>
              </a:spcAft>
            </a:pPr>
            <a:r>
              <a:rPr lang="en-US" sz="1350" b="1" dirty="0">
                <a:solidFill>
                  <a:srgbClr val="181C23"/>
                </a:solidFill>
                <a:latin typeface="Funnel Sans"/>
              </a:rPr>
              <a:t>differential</a:t>
            </a:r>
            <a:endParaRPr lang="en-US" sz="1350"/>
          </a:p>
        </p:txBody>
      </p:sp>
      <p:cxnSp>
        <p:nvCxnSpPr>
          <p:cNvPr id="52" name="connector 52"/>
          <p:cNvCxnSpPr/>
          <p:nvPr/>
        </p:nvCxnSpPr>
        <p:spPr>
          <a:xfrm>
            <a:off x="508000" y="511302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3" name="shape 53"/>
          <p:cNvSpPr/>
          <p:nvPr/>
        </p:nvSpPr>
        <p:spPr>
          <a:xfrm>
            <a:off x="3860800" y="4485640"/>
            <a:ext cx="3241040" cy="627380"/>
          </a:xfrm>
          <a:prstGeom prst="rect">
            <a:avLst/>
          </a:prstGeom>
          <a:solidFill>
            <a:srgbClr val="EFEEE9"/>
          </a:solidFill>
          <a:ln>
            <a:noFill/>
          </a:ln>
        </p:spPr>
      </p:sp>
      <p:sp>
        <p:nvSpPr>
          <p:cNvPr id="54" name="text 54"/>
          <p:cNvSpPr/>
          <p:nvPr/>
        </p:nvSpPr>
        <p:spPr>
          <a:xfrm>
            <a:off x="3987800" y="4536440"/>
            <a:ext cx="298704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Compare resolved-only vs all</a:t>
            </a:r>
            <a:endParaRPr lang="en-US" sz="1350"/>
          </a:p>
          <a:p>
            <a:pPr algn="l">
              <a:lnSpc>
                <a:spcPts val="1539"/>
              </a:lnSpc>
              <a:spcAft>
                <a:spcPts val="0"/>
              </a:spcAft>
            </a:pPr>
            <a:r>
              <a:rPr lang="en-US" sz="1350" b="0" dirty="0">
                <a:solidFill>
                  <a:srgbClr val="181C23"/>
                </a:solidFill>
                <a:latin typeface="Funnel Sans"/>
              </a:rPr>
              <a:t>estimates.</a:t>
            </a:r>
            <a:endParaRPr lang="en-US" sz="1350"/>
          </a:p>
        </p:txBody>
      </p:sp>
      <p:cxnSp>
        <p:nvCxnSpPr>
          <p:cNvPr id="55" name="connector 55"/>
          <p:cNvCxnSpPr/>
          <p:nvPr/>
        </p:nvCxnSpPr>
        <p:spPr>
          <a:xfrm>
            <a:off x="3860800" y="511302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6" name="shape 56"/>
          <p:cNvSpPr/>
          <p:nvPr/>
        </p:nvSpPr>
        <p:spPr>
          <a:xfrm>
            <a:off x="7101840" y="4485640"/>
            <a:ext cx="2570480" cy="627380"/>
          </a:xfrm>
          <a:prstGeom prst="rect">
            <a:avLst/>
          </a:prstGeom>
          <a:solidFill>
            <a:srgbClr val="EFEEE9"/>
          </a:solidFill>
          <a:ln>
            <a:noFill/>
          </a:ln>
        </p:spPr>
      </p:sp>
      <p:sp>
        <p:nvSpPr>
          <p:cNvPr id="57" name="text 57"/>
          <p:cNvSpPr/>
          <p:nvPr/>
        </p:nvSpPr>
        <p:spPr>
          <a:xfrm>
            <a:off x="7228840" y="4536440"/>
            <a:ext cx="231648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Resolved / full outcomes</a:t>
            </a:r>
            <a:endParaRPr lang="en-US" sz="1350"/>
          </a:p>
        </p:txBody>
      </p:sp>
      <p:cxnSp>
        <p:nvCxnSpPr>
          <p:cNvPr id="58" name="connector 58"/>
          <p:cNvCxnSpPr/>
          <p:nvPr/>
        </p:nvCxnSpPr>
        <p:spPr>
          <a:xfrm>
            <a:off x="7101840" y="511302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9" name="shape 59"/>
          <p:cNvSpPr/>
          <p:nvPr/>
        </p:nvSpPr>
        <p:spPr>
          <a:xfrm>
            <a:off x="9672320" y="4485640"/>
            <a:ext cx="2011680" cy="627380"/>
          </a:xfrm>
          <a:prstGeom prst="rect">
            <a:avLst/>
          </a:prstGeom>
          <a:solidFill>
            <a:srgbClr val="EFEEE9"/>
          </a:solidFill>
          <a:ln>
            <a:noFill/>
          </a:ln>
        </p:spPr>
      </p:sp>
      <p:sp>
        <p:nvSpPr>
          <p:cNvPr id="60" name="text 60"/>
          <p:cNvSpPr/>
          <p:nvPr/>
        </p:nvSpPr>
        <p:spPr>
          <a:xfrm>
            <a:off x="9799320" y="4536440"/>
            <a:ext cx="175768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Estimate differential</a:t>
            </a:r>
            <a:endParaRPr lang="en-US" sz="1350"/>
          </a:p>
          <a:p>
            <a:pPr algn="l">
              <a:lnSpc>
                <a:spcPts val="1539"/>
              </a:lnSpc>
              <a:spcAft>
                <a:spcPts val="0"/>
              </a:spcAft>
            </a:pPr>
            <a:r>
              <a:rPr lang="en-US" sz="1350" b="0" dirty="0">
                <a:solidFill>
                  <a:srgbClr val="181C23"/>
                </a:solidFill>
                <a:latin typeface="Funnel Sans"/>
              </a:rPr>
              <a:t>S02 row 19</a:t>
            </a:r>
            <a:endParaRPr lang="en-US" sz="1350"/>
          </a:p>
        </p:txBody>
      </p:sp>
      <p:cxnSp>
        <p:nvCxnSpPr>
          <p:cNvPr id="61" name="connector 61"/>
          <p:cNvCxnSpPr/>
          <p:nvPr/>
        </p:nvCxnSpPr>
        <p:spPr>
          <a:xfrm>
            <a:off x="9672320" y="5113020"/>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2" name="shape 62"/>
          <p:cNvSpPr/>
          <p:nvPr/>
        </p:nvSpPr>
        <p:spPr>
          <a:xfrm>
            <a:off x="508000" y="5113020"/>
            <a:ext cx="3352800" cy="627380"/>
          </a:xfrm>
          <a:prstGeom prst="rect">
            <a:avLst/>
          </a:prstGeom>
          <a:solidFill>
            <a:srgbClr val="FFFFFF"/>
          </a:solidFill>
          <a:ln>
            <a:noFill/>
          </a:ln>
        </p:spPr>
      </p:sp>
      <p:sp>
        <p:nvSpPr>
          <p:cNvPr id="63" name="text 63"/>
          <p:cNvSpPr/>
          <p:nvPr/>
        </p:nvSpPr>
        <p:spPr>
          <a:xfrm>
            <a:off x="635000" y="5163820"/>
            <a:ext cx="3098800" cy="525780"/>
          </a:xfrm>
          <a:prstGeom prst="rect">
            <a:avLst/>
          </a:prstGeom>
          <a:noFill/>
          <a:ln>
            <a:noFill/>
          </a:ln>
        </p:spPr>
        <p:txBody>
          <a:bodyPr wrap="none" lIns="0" tIns="0" rIns="0" bIns="0" anchor="t">
            <a:noAutofit/>
          </a:bodyPr>
          <a:lstStyle/>
          <a:p>
            <a:pPr algn="l">
              <a:lnSpc>
                <a:spcPts val="1539"/>
              </a:lnSpc>
              <a:spcAft>
                <a:spcPts val="0"/>
              </a:spcAft>
            </a:pPr>
            <a:r>
              <a:rPr lang="en-US" sz="1350" b="1" dirty="0">
                <a:solidFill>
                  <a:srgbClr val="181C23"/>
                </a:solidFill>
                <a:latin typeface="Funnel Sans"/>
              </a:rPr>
              <a:t>T5-D19 Seasoning / maturity profile</a:t>
            </a:r>
            <a:endParaRPr lang="en-US" sz="1350"/>
          </a:p>
        </p:txBody>
      </p:sp>
      <p:cxnSp>
        <p:nvCxnSpPr>
          <p:cNvPr id="64" name="connector 64"/>
          <p:cNvCxnSpPr/>
          <p:nvPr/>
        </p:nvCxnSpPr>
        <p:spPr>
          <a:xfrm>
            <a:off x="508000" y="574040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5" name="shape 65"/>
          <p:cNvSpPr/>
          <p:nvPr/>
        </p:nvSpPr>
        <p:spPr>
          <a:xfrm>
            <a:off x="3860800" y="5113020"/>
            <a:ext cx="3241040" cy="627380"/>
          </a:xfrm>
          <a:prstGeom prst="rect">
            <a:avLst/>
          </a:prstGeom>
          <a:solidFill>
            <a:srgbClr val="FFFFFF"/>
          </a:solidFill>
          <a:ln>
            <a:noFill/>
          </a:ln>
        </p:spPr>
      </p:sp>
      <p:sp>
        <p:nvSpPr>
          <p:cNvPr id="66" name="text 66"/>
          <p:cNvSpPr/>
          <p:nvPr/>
        </p:nvSpPr>
        <p:spPr>
          <a:xfrm>
            <a:off x="3987800" y="5163820"/>
            <a:ext cx="298704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Assess outcome seasoning.</a:t>
            </a:r>
            <a:endParaRPr lang="en-US" sz="1350"/>
          </a:p>
        </p:txBody>
      </p:sp>
      <p:cxnSp>
        <p:nvCxnSpPr>
          <p:cNvPr id="67" name="connector 67"/>
          <p:cNvCxnSpPr/>
          <p:nvPr/>
        </p:nvCxnSpPr>
        <p:spPr>
          <a:xfrm>
            <a:off x="3860800" y="574040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8" name="shape 68"/>
          <p:cNvSpPr/>
          <p:nvPr/>
        </p:nvSpPr>
        <p:spPr>
          <a:xfrm>
            <a:off x="7101840" y="5113020"/>
            <a:ext cx="2570480" cy="627380"/>
          </a:xfrm>
          <a:prstGeom prst="rect">
            <a:avLst/>
          </a:prstGeom>
          <a:solidFill>
            <a:srgbClr val="FFFFFF"/>
          </a:solidFill>
          <a:ln>
            <a:noFill/>
          </a:ln>
        </p:spPr>
      </p:sp>
      <p:sp>
        <p:nvSpPr>
          <p:cNvPr id="69" name="text 69"/>
          <p:cNvSpPr/>
          <p:nvPr/>
        </p:nvSpPr>
        <p:spPr>
          <a:xfrm>
            <a:off x="7228840" y="5163820"/>
            <a:ext cx="231648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Analytics + SME</a:t>
            </a:r>
            <a:endParaRPr lang="en-US" sz="1350"/>
          </a:p>
          <a:p>
            <a:pPr algn="l">
              <a:lnSpc>
                <a:spcPts val="1539"/>
              </a:lnSpc>
              <a:spcAft>
                <a:spcPts val="0"/>
              </a:spcAft>
            </a:pPr>
            <a:r>
              <a:rPr lang="en-US" sz="1350" b="0" dirty="0">
                <a:solidFill>
                  <a:srgbClr val="181C23"/>
                </a:solidFill>
                <a:latin typeface="Funnel Sans"/>
              </a:rPr>
              <a:t>Vintage + age + outcome</a:t>
            </a:r>
            <a:endParaRPr lang="en-US" sz="1350"/>
          </a:p>
        </p:txBody>
      </p:sp>
      <p:cxnSp>
        <p:nvCxnSpPr>
          <p:cNvPr id="70" name="connector 70"/>
          <p:cNvCxnSpPr/>
          <p:nvPr/>
        </p:nvCxnSpPr>
        <p:spPr>
          <a:xfrm>
            <a:off x="7101840" y="5740400"/>
            <a:ext cx="25704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1" name="shape 71"/>
          <p:cNvSpPr/>
          <p:nvPr/>
        </p:nvSpPr>
        <p:spPr>
          <a:xfrm>
            <a:off x="9672320" y="5113020"/>
            <a:ext cx="2011680" cy="627380"/>
          </a:xfrm>
          <a:prstGeom prst="rect">
            <a:avLst/>
          </a:prstGeom>
          <a:solidFill>
            <a:srgbClr val="FFFFFF"/>
          </a:solidFill>
          <a:ln>
            <a:noFill/>
          </a:ln>
        </p:spPr>
      </p:sp>
      <p:sp>
        <p:nvSpPr>
          <p:cNvPr id="72" name="text 72"/>
          <p:cNvSpPr/>
          <p:nvPr/>
        </p:nvSpPr>
        <p:spPr>
          <a:xfrm>
            <a:off x="9799320" y="5163820"/>
            <a:ext cx="1757680" cy="525780"/>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Maturity curve</a:t>
            </a:r>
            <a:endParaRPr lang="en-US" sz="1350"/>
          </a:p>
          <a:p>
            <a:pPr algn="l">
              <a:lnSpc>
                <a:spcPts val="1539"/>
              </a:lnSpc>
              <a:spcAft>
                <a:spcPts val="0"/>
              </a:spcAft>
            </a:pPr>
            <a:r>
              <a:rPr lang="en-US" sz="1350" b="0" dirty="0">
                <a:solidFill>
                  <a:srgbClr val="181C23"/>
                </a:solidFill>
                <a:latin typeface="Funnel Sans"/>
              </a:rPr>
              <a:t>S02 row 20</a:t>
            </a:r>
            <a:endParaRPr lang="en-US" sz="1350"/>
          </a:p>
        </p:txBody>
      </p:sp>
      <p:cxnSp>
        <p:nvCxnSpPr>
          <p:cNvPr id="73" name="connector 73"/>
          <p:cNvCxnSpPr/>
          <p:nvPr/>
        </p:nvCxnSpPr>
        <p:spPr>
          <a:xfrm>
            <a:off x="9672320" y="5740400"/>
            <a:ext cx="2011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4" name="shape 74"/>
          <p:cNvSpPr/>
          <p:nvPr/>
        </p:nvSpPr>
        <p:spPr>
          <a:xfrm>
            <a:off x="508000" y="5740400"/>
            <a:ext cx="11176000" cy="546100"/>
          </a:xfrm>
          <a:prstGeom prst="rect">
            <a:avLst/>
          </a:prstGeom>
          <a:solidFill>
            <a:srgbClr val="282A27"/>
          </a:solidFill>
          <a:ln>
            <a:noFill/>
          </a:ln>
        </p:spPr>
      </p:sp>
      <p:sp>
        <p:nvSpPr>
          <p:cNvPr id="75" name="text 75"/>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Planned • not registered • no current launch, automatic issue creation or diagnostic report.</a:t>
            </a:r>
            <a:endParaRPr lang="en-US" sz="1600"/>
          </a:p>
        </p:txBody>
      </p:sp>
      <p:cxnSp>
        <p:nvCxnSpPr>
          <p:cNvPr id="76" name="connector 7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77" name="text 7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8" name="text 7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22 / 87</a:t>
            </a:r>
            <a:endParaRPr lang="en-US"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03 / EXTENDED CATALOG</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Make broader framework references explicit</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These references extend the framework; they are not additional executable register rows.</a:t>
            </a:r>
            <a:endParaRPr lang="en-US" sz="1500"/>
          </a:p>
        </p:txBody>
      </p:sp>
      <p:sp>
        <p:nvSpPr>
          <p:cNvPr id="6" name="shape 6"/>
          <p:cNvSpPr/>
          <p:nvPr/>
        </p:nvSpPr>
        <p:spPr>
          <a:xfrm>
            <a:off x="508000" y="2222500"/>
            <a:ext cx="3129280" cy="457200"/>
          </a:xfrm>
          <a:prstGeom prst="rect">
            <a:avLst/>
          </a:prstGeom>
          <a:solidFill>
            <a:srgbClr val="282A27"/>
          </a:solidFill>
          <a:ln>
            <a:noFill/>
          </a:ln>
        </p:spPr>
      </p:sp>
      <p:sp>
        <p:nvSpPr>
          <p:cNvPr id="7" name="text 7"/>
          <p:cNvSpPr/>
          <p:nvPr/>
        </p:nvSpPr>
        <p:spPr>
          <a:xfrm>
            <a:off x="635000" y="2336800"/>
            <a:ext cx="28752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Reference / purpose</a:t>
            </a:r>
            <a:endParaRPr lang="en-US" sz="1200"/>
          </a:p>
        </p:txBody>
      </p:sp>
      <p:sp>
        <p:nvSpPr>
          <p:cNvPr id="8" name="shape 8"/>
          <p:cNvSpPr/>
          <p:nvPr/>
        </p:nvSpPr>
        <p:spPr>
          <a:xfrm>
            <a:off x="3637280" y="2222500"/>
            <a:ext cx="2682240" cy="457200"/>
          </a:xfrm>
          <a:prstGeom prst="rect">
            <a:avLst/>
          </a:prstGeom>
          <a:solidFill>
            <a:srgbClr val="282A27"/>
          </a:solidFill>
          <a:ln>
            <a:noFill/>
          </a:ln>
        </p:spPr>
      </p:sp>
      <p:sp>
        <p:nvSpPr>
          <p:cNvPr id="9" name="text 9"/>
          <p:cNvSpPr/>
          <p:nvPr/>
        </p:nvSpPr>
        <p:spPr>
          <a:xfrm>
            <a:off x="3764280" y="2336800"/>
            <a:ext cx="24282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Input</a:t>
            </a:r>
            <a:endParaRPr lang="en-US" sz="1200"/>
          </a:p>
        </p:txBody>
      </p:sp>
      <p:sp>
        <p:nvSpPr>
          <p:cNvPr id="10" name="shape 10"/>
          <p:cNvSpPr/>
          <p:nvPr/>
        </p:nvSpPr>
        <p:spPr>
          <a:xfrm>
            <a:off x="6319520" y="2222500"/>
            <a:ext cx="2346960" cy="457200"/>
          </a:xfrm>
          <a:prstGeom prst="rect">
            <a:avLst/>
          </a:prstGeom>
          <a:solidFill>
            <a:srgbClr val="282A27"/>
          </a:solidFill>
          <a:ln>
            <a:noFill/>
          </a:ln>
        </p:spPr>
      </p:sp>
      <p:sp>
        <p:nvSpPr>
          <p:cNvPr id="11" name="text 11"/>
          <p:cNvSpPr/>
          <p:nvPr/>
        </p:nvSpPr>
        <p:spPr>
          <a:xfrm>
            <a:off x="6446520" y="2336800"/>
            <a:ext cx="20929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Intended output</a:t>
            </a:r>
            <a:endParaRPr lang="en-US" sz="1200"/>
          </a:p>
        </p:txBody>
      </p:sp>
      <p:sp>
        <p:nvSpPr>
          <p:cNvPr id="12" name="shape 12"/>
          <p:cNvSpPr/>
          <p:nvPr/>
        </p:nvSpPr>
        <p:spPr>
          <a:xfrm>
            <a:off x="8666480" y="2222500"/>
            <a:ext cx="3017520" cy="457200"/>
          </a:xfrm>
          <a:prstGeom prst="rect">
            <a:avLst/>
          </a:prstGeom>
          <a:solidFill>
            <a:srgbClr val="282A27"/>
          </a:solidFill>
          <a:ln>
            <a:noFill/>
          </a:ln>
        </p:spPr>
      </p:sp>
      <p:sp>
        <p:nvSpPr>
          <p:cNvPr id="13" name="text 13"/>
          <p:cNvSpPr/>
          <p:nvPr/>
        </p:nvSpPr>
        <p:spPr>
          <a:xfrm>
            <a:off x="8793480" y="2336800"/>
            <a:ext cx="27635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Status</a:t>
            </a:r>
            <a:endParaRPr lang="en-US" sz="1200"/>
          </a:p>
        </p:txBody>
      </p:sp>
      <p:sp>
        <p:nvSpPr>
          <p:cNvPr id="14" name="shape 14"/>
          <p:cNvSpPr/>
          <p:nvPr/>
        </p:nvSpPr>
        <p:spPr>
          <a:xfrm>
            <a:off x="508000" y="2679700"/>
            <a:ext cx="3129280" cy="746125"/>
          </a:xfrm>
          <a:prstGeom prst="rect">
            <a:avLst/>
          </a:prstGeom>
          <a:solidFill>
            <a:srgbClr val="FFFFFF"/>
          </a:solidFill>
          <a:ln>
            <a:noFill/>
          </a:ln>
        </p:spPr>
      </p:sp>
      <p:sp>
        <p:nvSpPr>
          <p:cNvPr id="15" name="text 15"/>
          <p:cNvSpPr/>
          <p:nvPr/>
        </p:nvSpPr>
        <p:spPr>
          <a:xfrm>
            <a:off x="635000" y="2730500"/>
            <a:ext cx="2875280" cy="644525"/>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R01 Formal MCAR / MNAR</a:t>
            </a:r>
            <a:endParaRPr lang="en-US" sz="1500"/>
          </a:p>
          <a:p>
            <a:pPr algn="l">
              <a:lnSpc>
                <a:spcPts val="1710"/>
              </a:lnSpc>
              <a:spcAft>
                <a:spcPts val="0"/>
              </a:spcAft>
            </a:pPr>
            <a:r>
              <a:rPr lang="en-US" sz="1500" b="1" dirty="0">
                <a:solidFill>
                  <a:srgbClr val="181C23"/>
                </a:solidFill>
                <a:latin typeface="Funnel Sans"/>
              </a:rPr>
              <a:t>testing</a:t>
            </a:r>
            <a:endParaRPr lang="en-US" sz="1500"/>
          </a:p>
        </p:txBody>
      </p:sp>
      <p:cxnSp>
        <p:nvCxnSpPr>
          <p:cNvPr id="16" name="connector 16"/>
          <p:cNvCxnSpPr/>
          <p:nvPr/>
        </p:nvCxnSpPr>
        <p:spPr>
          <a:xfrm>
            <a:off x="508000" y="3425825"/>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7" name="shape 17"/>
          <p:cNvSpPr/>
          <p:nvPr/>
        </p:nvSpPr>
        <p:spPr>
          <a:xfrm>
            <a:off x="3637280" y="2679700"/>
            <a:ext cx="2682240" cy="746125"/>
          </a:xfrm>
          <a:prstGeom prst="rect">
            <a:avLst/>
          </a:prstGeom>
          <a:solidFill>
            <a:srgbClr val="FFFFFF"/>
          </a:solidFill>
          <a:ln>
            <a:noFill/>
          </a:ln>
        </p:spPr>
      </p:sp>
      <p:sp>
        <p:nvSpPr>
          <p:cNvPr id="18" name="text 18"/>
          <p:cNvSpPr/>
          <p:nvPr/>
        </p:nvSpPr>
        <p:spPr>
          <a:xfrm>
            <a:off x="3764280" y="2730500"/>
            <a:ext cx="2428240" cy="6445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Numeric missingness,</a:t>
            </a:r>
            <a:endParaRPr lang="en-US" sz="1500"/>
          </a:p>
          <a:p>
            <a:pPr algn="l">
              <a:lnSpc>
                <a:spcPts val="1710"/>
              </a:lnSpc>
              <a:spcAft>
                <a:spcPts val="0"/>
              </a:spcAft>
            </a:pPr>
            <a:r>
              <a:rPr lang="en-US" sz="1500" b="0" dirty="0">
                <a:solidFill>
                  <a:srgbClr val="181C23"/>
                </a:solidFill>
                <a:latin typeface="Funnel Sans"/>
              </a:rPr>
              <a:t>target and semantics</a:t>
            </a:r>
            <a:endParaRPr lang="en-US" sz="1500"/>
          </a:p>
        </p:txBody>
      </p:sp>
      <p:cxnSp>
        <p:nvCxnSpPr>
          <p:cNvPr id="19" name="connector 19"/>
          <p:cNvCxnSpPr/>
          <p:nvPr/>
        </p:nvCxnSpPr>
        <p:spPr>
          <a:xfrm>
            <a:off x="3637280" y="3425825"/>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6319520" y="2679700"/>
            <a:ext cx="2346960" cy="746125"/>
          </a:xfrm>
          <a:prstGeom prst="rect">
            <a:avLst/>
          </a:prstGeom>
          <a:solidFill>
            <a:srgbClr val="FFFFFF"/>
          </a:solidFill>
          <a:ln>
            <a:noFill/>
          </a:ln>
        </p:spPr>
      </p:sp>
      <p:sp>
        <p:nvSpPr>
          <p:cNvPr id="21" name="text 21"/>
          <p:cNvSpPr/>
          <p:nvPr/>
        </p:nvSpPr>
        <p:spPr>
          <a:xfrm>
            <a:off x="6446520" y="2730500"/>
            <a:ext cx="2092960" cy="6445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Formal mechanism</a:t>
            </a:r>
            <a:endParaRPr lang="en-US" sz="1500"/>
          </a:p>
          <a:p>
            <a:pPr algn="l">
              <a:lnSpc>
                <a:spcPts val="1710"/>
              </a:lnSpc>
              <a:spcAft>
                <a:spcPts val="0"/>
              </a:spcAft>
            </a:pPr>
            <a:r>
              <a:rPr lang="en-US" sz="1500" b="0" dirty="0">
                <a:solidFill>
                  <a:srgbClr val="181C23"/>
                </a:solidFill>
                <a:latin typeface="Funnel Sans"/>
              </a:rPr>
              <a:t>assessment</a:t>
            </a:r>
            <a:endParaRPr lang="en-US" sz="1500"/>
          </a:p>
        </p:txBody>
      </p:sp>
      <p:cxnSp>
        <p:nvCxnSpPr>
          <p:cNvPr id="22" name="connector 22"/>
          <p:cNvCxnSpPr/>
          <p:nvPr/>
        </p:nvCxnSpPr>
        <p:spPr>
          <a:xfrm>
            <a:off x="6319520" y="3425825"/>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8666480" y="2679700"/>
            <a:ext cx="3017520" cy="746125"/>
          </a:xfrm>
          <a:prstGeom prst="rect">
            <a:avLst/>
          </a:prstGeom>
          <a:solidFill>
            <a:srgbClr val="FFFFFF"/>
          </a:solidFill>
          <a:ln>
            <a:noFill/>
          </a:ln>
        </p:spPr>
      </p:sp>
      <p:sp>
        <p:nvSpPr>
          <p:cNvPr id="24" name="text 24"/>
          <p:cNvSpPr/>
          <p:nvPr/>
        </p:nvSpPr>
        <p:spPr>
          <a:xfrm>
            <a:off x="8793480" y="2730500"/>
            <a:ext cx="2763520" cy="644525"/>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Planned / deferred; descriptive</a:t>
            </a:r>
            <a:endParaRPr lang="en-US" sz="1450"/>
          </a:p>
          <a:p>
            <a:pPr algn="l">
              <a:lnSpc>
                <a:spcPts val="1653"/>
              </a:lnSpc>
              <a:spcAft>
                <a:spcPts val="0"/>
              </a:spcAft>
            </a:pPr>
            <a:r>
              <a:rPr lang="en-US" sz="1450" b="0" dirty="0">
                <a:solidFill>
                  <a:srgbClr val="181C23"/>
                </a:solidFill>
                <a:latin typeface="Funnel Sans"/>
              </a:rPr>
              <a:t>supporting analysis is available</a:t>
            </a:r>
            <a:endParaRPr lang="en-US" sz="1450"/>
          </a:p>
        </p:txBody>
      </p:sp>
      <p:cxnSp>
        <p:nvCxnSpPr>
          <p:cNvPr id="25" name="connector 25"/>
          <p:cNvCxnSpPr/>
          <p:nvPr/>
        </p:nvCxnSpPr>
        <p:spPr>
          <a:xfrm>
            <a:off x="8666480" y="3425825"/>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508000" y="3425825"/>
            <a:ext cx="3129280" cy="746125"/>
          </a:xfrm>
          <a:prstGeom prst="rect">
            <a:avLst/>
          </a:prstGeom>
          <a:solidFill>
            <a:srgbClr val="EFEEE9"/>
          </a:solidFill>
          <a:ln>
            <a:noFill/>
          </a:ln>
        </p:spPr>
      </p:sp>
      <p:sp>
        <p:nvSpPr>
          <p:cNvPr id="27" name="text 27"/>
          <p:cNvSpPr/>
          <p:nvPr/>
        </p:nvSpPr>
        <p:spPr>
          <a:xfrm>
            <a:off x="635000" y="3476625"/>
            <a:ext cx="2875280" cy="644525"/>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R02 Downturn / regime</a:t>
            </a:r>
            <a:endParaRPr lang="en-US" sz="1500"/>
          </a:p>
          <a:p>
            <a:pPr algn="l">
              <a:lnSpc>
                <a:spcPts val="1710"/>
              </a:lnSpc>
              <a:spcAft>
                <a:spcPts val="0"/>
              </a:spcAft>
            </a:pPr>
            <a:r>
              <a:rPr lang="en-US" sz="1500" b="1" dirty="0">
                <a:solidFill>
                  <a:srgbClr val="181C23"/>
                </a:solidFill>
                <a:latin typeface="Funnel Sans"/>
              </a:rPr>
              <a:t>identification</a:t>
            </a:r>
            <a:endParaRPr lang="en-US" sz="1500"/>
          </a:p>
        </p:txBody>
      </p:sp>
      <p:cxnSp>
        <p:nvCxnSpPr>
          <p:cNvPr id="28" name="connector 28"/>
          <p:cNvCxnSpPr/>
          <p:nvPr/>
        </p:nvCxnSpPr>
        <p:spPr>
          <a:xfrm>
            <a:off x="508000" y="417195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shape 29"/>
          <p:cNvSpPr/>
          <p:nvPr/>
        </p:nvSpPr>
        <p:spPr>
          <a:xfrm>
            <a:off x="3637280" y="3425825"/>
            <a:ext cx="2682240" cy="746125"/>
          </a:xfrm>
          <a:prstGeom prst="rect">
            <a:avLst/>
          </a:prstGeom>
          <a:solidFill>
            <a:srgbClr val="EFEEE9"/>
          </a:solidFill>
          <a:ln>
            <a:noFill/>
          </a:ln>
        </p:spPr>
      </p:sp>
      <p:sp>
        <p:nvSpPr>
          <p:cNvPr id="30" name="text 30"/>
          <p:cNvSpPr/>
          <p:nvPr/>
        </p:nvSpPr>
        <p:spPr>
          <a:xfrm>
            <a:off x="3764280" y="3476625"/>
            <a:ext cx="2428240" cy="6445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Macro/outcome history</a:t>
            </a:r>
            <a:endParaRPr lang="en-US" sz="1500"/>
          </a:p>
          <a:p>
            <a:pPr algn="l">
              <a:lnSpc>
                <a:spcPts val="1710"/>
              </a:lnSpc>
              <a:spcAft>
                <a:spcPts val="0"/>
              </a:spcAft>
            </a:pPr>
            <a:r>
              <a:rPr lang="en-US" sz="1500" b="0" dirty="0">
                <a:solidFill>
                  <a:srgbClr val="181C23"/>
                </a:solidFill>
                <a:latin typeface="Funnel Sans"/>
              </a:rPr>
              <a:t>and stress context</a:t>
            </a:r>
            <a:endParaRPr lang="en-US" sz="1500"/>
          </a:p>
        </p:txBody>
      </p:sp>
      <p:cxnSp>
        <p:nvCxnSpPr>
          <p:cNvPr id="31" name="connector 31"/>
          <p:cNvCxnSpPr/>
          <p:nvPr/>
        </p:nvCxnSpPr>
        <p:spPr>
          <a:xfrm>
            <a:off x="3637280" y="4171950"/>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6319520" y="3425825"/>
            <a:ext cx="2346960" cy="746125"/>
          </a:xfrm>
          <a:prstGeom prst="rect">
            <a:avLst/>
          </a:prstGeom>
          <a:solidFill>
            <a:srgbClr val="EFEEE9"/>
          </a:solidFill>
          <a:ln>
            <a:noFill/>
          </a:ln>
        </p:spPr>
      </p:sp>
      <p:sp>
        <p:nvSpPr>
          <p:cNvPr id="33" name="text 33"/>
          <p:cNvSpPr/>
          <p:nvPr/>
        </p:nvSpPr>
        <p:spPr>
          <a:xfrm>
            <a:off x="6446520" y="3476625"/>
            <a:ext cx="2092960" cy="644525"/>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Regime and</a:t>
            </a:r>
            <a:endParaRPr lang="en-US" sz="1450"/>
          </a:p>
          <a:p>
            <a:pPr algn="l">
              <a:lnSpc>
                <a:spcPts val="1653"/>
              </a:lnSpc>
              <a:spcAft>
                <a:spcPts val="0"/>
              </a:spcAft>
            </a:pPr>
            <a:r>
              <a:rPr lang="en-US" sz="1450" b="0" dirty="0">
                <a:solidFill>
                  <a:srgbClr val="181C23"/>
                </a:solidFill>
                <a:latin typeface="Funnel Sans"/>
              </a:rPr>
              <a:t>stress-coverage</a:t>
            </a:r>
            <a:endParaRPr lang="en-US" sz="1450"/>
          </a:p>
          <a:p>
            <a:pPr algn="l">
              <a:lnSpc>
                <a:spcPts val="1653"/>
              </a:lnSpc>
              <a:spcAft>
                <a:spcPts val="0"/>
              </a:spcAft>
            </a:pPr>
            <a:r>
              <a:rPr lang="en-US" sz="1450" b="0" dirty="0">
                <a:solidFill>
                  <a:srgbClr val="181C23"/>
                </a:solidFill>
                <a:latin typeface="Funnel Sans"/>
              </a:rPr>
              <a:t>evidence</a:t>
            </a:r>
            <a:endParaRPr lang="en-US" sz="1450"/>
          </a:p>
        </p:txBody>
      </p:sp>
      <p:cxnSp>
        <p:nvCxnSpPr>
          <p:cNvPr id="34" name="connector 34"/>
          <p:cNvCxnSpPr/>
          <p:nvPr/>
        </p:nvCxnSpPr>
        <p:spPr>
          <a:xfrm>
            <a:off x="6319520" y="417195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shape 35"/>
          <p:cNvSpPr/>
          <p:nvPr/>
        </p:nvSpPr>
        <p:spPr>
          <a:xfrm>
            <a:off x="8666480" y="3425825"/>
            <a:ext cx="3017520" cy="746125"/>
          </a:xfrm>
          <a:prstGeom prst="rect">
            <a:avLst/>
          </a:prstGeom>
          <a:solidFill>
            <a:srgbClr val="EFEEE9"/>
          </a:solidFill>
          <a:ln>
            <a:noFill/>
          </a:ln>
        </p:spPr>
      </p:sp>
      <p:sp>
        <p:nvSpPr>
          <p:cNvPr id="36" name="text 36"/>
          <p:cNvSpPr/>
          <p:nvPr/>
        </p:nvSpPr>
        <p:spPr>
          <a:xfrm>
            <a:off x="8793480" y="3476625"/>
            <a:ext cx="2763520" cy="6445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Referenced; no sufficient</a:t>
            </a:r>
            <a:endParaRPr lang="en-US" sz="1500"/>
          </a:p>
          <a:p>
            <a:pPr algn="l">
              <a:lnSpc>
                <a:spcPts val="1710"/>
              </a:lnSpc>
              <a:spcAft>
                <a:spcPts val="0"/>
              </a:spcAft>
            </a:pPr>
            <a:r>
              <a:rPr lang="en-US" sz="1500" b="0" dirty="0">
                <a:solidFill>
                  <a:srgbClr val="181C23"/>
                </a:solidFill>
                <a:latin typeface="Funnel Sans"/>
              </a:rPr>
              <a:t>implementation contract</a:t>
            </a:r>
            <a:endParaRPr lang="en-US" sz="1500"/>
          </a:p>
        </p:txBody>
      </p:sp>
      <p:cxnSp>
        <p:nvCxnSpPr>
          <p:cNvPr id="37" name="connector 37"/>
          <p:cNvCxnSpPr/>
          <p:nvPr/>
        </p:nvCxnSpPr>
        <p:spPr>
          <a:xfrm>
            <a:off x="8666480" y="417195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508000" y="4171950"/>
            <a:ext cx="3129280" cy="746125"/>
          </a:xfrm>
          <a:prstGeom prst="rect">
            <a:avLst/>
          </a:prstGeom>
          <a:solidFill>
            <a:srgbClr val="FFFFFF"/>
          </a:solidFill>
          <a:ln>
            <a:noFill/>
          </a:ln>
        </p:spPr>
      </p:sp>
      <p:sp>
        <p:nvSpPr>
          <p:cNvPr id="39" name="text 39"/>
          <p:cNvSpPr/>
          <p:nvPr/>
        </p:nvSpPr>
        <p:spPr>
          <a:xfrm>
            <a:off x="635000" y="4222750"/>
            <a:ext cx="2875280" cy="644525"/>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R03 Feature drift over vintages</a:t>
            </a:r>
            <a:endParaRPr lang="en-US" sz="1500"/>
          </a:p>
        </p:txBody>
      </p:sp>
      <p:cxnSp>
        <p:nvCxnSpPr>
          <p:cNvPr id="40" name="connector 40"/>
          <p:cNvCxnSpPr/>
          <p:nvPr/>
        </p:nvCxnSpPr>
        <p:spPr>
          <a:xfrm>
            <a:off x="508000" y="4918075"/>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3637280" y="4171950"/>
            <a:ext cx="2682240" cy="746125"/>
          </a:xfrm>
          <a:prstGeom prst="rect">
            <a:avLst/>
          </a:prstGeom>
          <a:solidFill>
            <a:srgbClr val="FFFFFF"/>
          </a:solidFill>
          <a:ln>
            <a:noFill/>
          </a:ln>
        </p:spPr>
      </p:sp>
      <p:sp>
        <p:nvSpPr>
          <p:cNvPr id="42" name="text 42"/>
          <p:cNvSpPr/>
          <p:nvPr/>
        </p:nvSpPr>
        <p:spPr>
          <a:xfrm>
            <a:off x="3764280" y="4222750"/>
            <a:ext cx="2428240" cy="6445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Dated snapshots and</a:t>
            </a:r>
            <a:endParaRPr lang="en-US" sz="1500"/>
          </a:p>
          <a:p>
            <a:pPr algn="l">
              <a:lnSpc>
                <a:spcPts val="1710"/>
              </a:lnSpc>
              <a:spcAft>
                <a:spcPts val="0"/>
              </a:spcAft>
            </a:pPr>
            <a:r>
              <a:rPr lang="en-US" sz="1500" b="0" dirty="0">
                <a:solidFill>
                  <a:srgbClr val="181C23"/>
                </a:solidFill>
                <a:latin typeface="Funnel Sans"/>
              </a:rPr>
              <a:t>training baseline</a:t>
            </a:r>
            <a:endParaRPr lang="en-US" sz="1500"/>
          </a:p>
        </p:txBody>
      </p:sp>
      <p:cxnSp>
        <p:nvCxnSpPr>
          <p:cNvPr id="43" name="connector 43"/>
          <p:cNvCxnSpPr/>
          <p:nvPr/>
        </p:nvCxnSpPr>
        <p:spPr>
          <a:xfrm>
            <a:off x="3637280" y="4918075"/>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4" name="shape 44"/>
          <p:cNvSpPr/>
          <p:nvPr/>
        </p:nvSpPr>
        <p:spPr>
          <a:xfrm>
            <a:off x="6319520" y="4171950"/>
            <a:ext cx="2346960" cy="746125"/>
          </a:xfrm>
          <a:prstGeom prst="rect">
            <a:avLst/>
          </a:prstGeom>
          <a:solidFill>
            <a:srgbClr val="FFFFFF"/>
          </a:solidFill>
          <a:ln>
            <a:noFill/>
          </a:ln>
        </p:spPr>
      </p:sp>
      <p:sp>
        <p:nvSpPr>
          <p:cNvPr id="45" name="text 45"/>
          <p:cNvSpPr/>
          <p:nvPr/>
        </p:nvSpPr>
        <p:spPr>
          <a:xfrm>
            <a:off x="6446520" y="4222750"/>
            <a:ext cx="2092960" cy="6445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Feature drift over time</a:t>
            </a:r>
            <a:endParaRPr lang="en-US" sz="1500"/>
          </a:p>
        </p:txBody>
      </p:sp>
      <p:cxnSp>
        <p:nvCxnSpPr>
          <p:cNvPr id="46" name="connector 46"/>
          <p:cNvCxnSpPr/>
          <p:nvPr/>
        </p:nvCxnSpPr>
        <p:spPr>
          <a:xfrm>
            <a:off x="6319520" y="4918075"/>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shape 47"/>
          <p:cNvSpPr/>
          <p:nvPr/>
        </p:nvSpPr>
        <p:spPr>
          <a:xfrm>
            <a:off x="8666480" y="4171950"/>
            <a:ext cx="3017520" cy="746125"/>
          </a:xfrm>
          <a:prstGeom prst="rect">
            <a:avLst/>
          </a:prstGeom>
          <a:solidFill>
            <a:srgbClr val="FFFFFF"/>
          </a:solidFill>
          <a:ln>
            <a:noFill/>
          </a:ln>
        </p:spPr>
      </p:sp>
      <p:sp>
        <p:nvSpPr>
          <p:cNvPr id="48" name="text 48"/>
          <p:cNvSpPr/>
          <p:nvPr/>
        </p:nvSpPr>
        <p:spPr>
          <a:xfrm>
            <a:off x="8793480" y="4222750"/>
            <a:ext cx="2763520" cy="644525"/>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Partially implemented:</a:t>
            </a:r>
            <a:endParaRPr lang="en-US" sz="1450"/>
          </a:p>
          <a:p>
            <a:pPr algn="l">
              <a:lnSpc>
                <a:spcPts val="1653"/>
              </a:lnSpc>
              <a:spcAft>
                <a:spcPts val="0"/>
              </a:spcAft>
            </a:pPr>
            <a:r>
              <a:rPr lang="en-US" sz="1450" b="0" dirty="0">
                <a:solidFill>
                  <a:srgbClr val="181C23"/>
                </a:solidFill>
                <a:latin typeface="Funnel Sans"/>
              </a:rPr>
              <a:t>two-snapshot PSI; monitoring</a:t>
            </a:r>
            <a:endParaRPr lang="en-US" sz="1450"/>
          </a:p>
          <a:p>
            <a:pPr algn="l">
              <a:lnSpc>
                <a:spcPts val="1653"/>
              </a:lnSpc>
              <a:spcAft>
                <a:spcPts val="0"/>
              </a:spcAft>
            </a:pPr>
            <a:r>
              <a:rPr lang="en-US" sz="1450" b="0" dirty="0">
                <a:solidFill>
                  <a:srgbClr val="181C23"/>
                </a:solidFill>
                <a:latin typeface="Funnel Sans"/>
              </a:rPr>
              <a:t>workflow planned</a:t>
            </a:r>
            <a:endParaRPr lang="en-US" sz="1450"/>
          </a:p>
        </p:txBody>
      </p:sp>
      <p:cxnSp>
        <p:nvCxnSpPr>
          <p:cNvPr id="49" name="connector 49"/>
          <p:cNvCxnSpPr/>
          <p:nvPr/>
        </p:nvCxnSpPr>
        <p:spPr>
          <a:xfrm>
            <a:off x="8666480" y="4918075"/>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0" name="shape 50"/>
          <p:cNvSpPr/>
          <p:nvPr/>
        </p:nvSpPr>
        <p:spPr>
          <a:xfrm>
            <a:off x="508000" y="4918075"/>
            <a:ext cx="3129280" cy="746125"/>
          </a:xfrm>
          <a:prstGeom prst="rect">
            <a:avLst/>
          </a:prstGeom>
          <a:solidFill>
            <a:srgbClr val="EFEEE9"/>
          </a:solidFill>
          <a:ln>
            <a:noFill/>
          </a:ln>
        </p:spPr>
      </p:sp>
      <p:sp>
        <p:nvSpPr>
          <p:cNvPr id="51" name="text 51"/>
          <p:cNvSpPr/>
          <p:nvPr/>
        </p:nvSpPr>
        <p:spPr>
          <a:xfrm>
            <a:off x="635000" y="4968875"/>
            <a:ext cx="2875280" cy="644525"/>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R04 Delivery drift /</a:t>
            </a:r>
            <a:endParaRPr lang="en-US" sz="1500"/>
          </a:p>
          <a:p>
            <a:pPr algn="l">
              <a:lnSpc>
                <a:spcPts val="1710"/>
              </a:lnSpc>
              <a:spcAft>
                <a:spcPts val="0"/>
              </a:spcAft>
            </a:pPr>
            <a:r>
              <a:rPr lang="en-US" sz="1500" b="1" dirty="0">
                <a:solidFill>
                  <a:srgbClr val="181C23"/>
                </a:solidFill>
                <a:latin typeface="Funnel Sans"/>
              </a:rPr>
              <a:t>degradation</a:t>
            </a:r>
            <a:endParaRPr lang="en-US" sz="1500"/>
          </a:p>
        </p:txBody>
      </p:sp>
      <p:cxnSp>
        <p:nvCxnSpPr>
          <p:cNvPr id="52" name="connector 52"/>
          <p:cNvCxnSpPr/>
          <p:nvPr/>
        </p:nvCxnSpPr>
        <p:spPr>
          <a:xfrm>
            <a:off x="508000" y="56642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3" name="shape 53"/>
          <p:cNvSpPr/>
          <p:nvPr/>
        </p:nvSpPr>
        <p:spPr>
          <a:xfrm>
            <a:off x="3637280" y="4918075"/>
            <a:ext cx="2682240" cy="746125"/>
          </a:xfrm>
          <a:prstGeom prst="rect">
            <a:avLst/>
          </a:prstGeom>
          <a:solidFill>
            <a:srgbClr val="EFEEE9"/>
          </a:solidFill>
          <a:ln>
            <a:noFill/>
          </a:ln>
        </p:spPr>
      </p:sp>
      <p:sp>
        <p:nvSpPr>
          <p:cNvPr id="54" name="text 54"/>
          <p:cNvSpPr/>
          <p:nvPr/>
        </p:nvSpPr>
        <p:spPr>
          <a:xfrm>
            <a:off x="3764280" y="4968875"/>
            <a:ext cx="2428240" cy="6445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Prior loads, schema,</a:t>
            </a:r>
            <a:endParaRPr lang="en-US" sz="1500"/>
          </a:p>
          <a:p>
            <a:pPr algn="l">
              <a:lnSpc>
                <a:spcPts val="1710"/>
              </a:lnSpc>
              <a:spcAft>
                <a:spcPts val="0"/>
              </a:spcAft>
            </a:pPr>
            <a:r>
              <a:rPr lang="en-US" sz="1500" b="0" dirty="0">
                <a:solidFill>
                  <a:srgbClr val="181C23"/>
                </a:solidFill>
                <a:latin typeface="Funnel Sans"/>
              </a:rPr>
              <a:t>volume and null profiles</a:t>
            </a:r>
            <a:endParaRPr lang="en-US" sz="1500"/>
          </a:p>
        </p:txBody>
      </p:sp>
      <p:cxnSp>
        <p:nvCxnSpPr>
          <p:cNvPr id="55" name="connector 55"/>
          <p:cNvCxnSpPr/>
          <p:nvPr/>
        </p:nvCxnSpPr>
        <p:spPr>
          <a:xfrm>
            <a:off x="3637280" y="5664200"/>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6" name="shape 56"/>
          <p:cNvSpPr/>
          <p:nvPr/>
        </p:nvSpPr>
        <p:spPr>
          <a:xfrm>
            <a:off x="6319520" y="4918075"/>
            <a:ext cx="2346960" cy="746125"/>
          </a:xfrm>
          <a:prstGeom prst="rect">
            <a:avLst/>
          </a:prstGeom>
          <a:solidFill>
            <a:srgbClr val="EFEEE9"/>
          </a:solidFill>
          <a:ln>
            <a:noFill/>
          </a:ln>
        </p:spPr>
      </p:sp>
      <p:sp>
        <p:nvSpPr>
          <p:cNvPr id="57" name="text 57"/>
          <p:cNvSpPr/>
          <p:nvPr/>
        </p:nvSpPr>
        <p:spPr>
          <a:xfrm>
            <a:off x="6446520" y="4968875"/>
            <a:ext cx="2092960" cy="644525"/>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Load-to-load</a:t>
            </a:r>
            <a:endParaRPr lang="en-US" sz="1500"/>
          </a:p>
          <a:p>
            <a:pPr algn="l">
              <a:lnSpc>
                <a:spcPts val="1710"/>
              </a:lnSpc>
              <a:spcAft>
                <a:spcPts val="0"/>
              </a:spcAft>
            </a:pPr>
            <a:r>
              <a:rPr lang="en-US" sz="1500" b="0" dirty="0">
                <a:solidFill>
                  <a:srgbClr val="181C23"/>
                </a:solidFill>
                <a:latin typeface="Funnel Sans"/>
              </a:rPr>
              <a:t>degradation signals</a:t>
            </a:r>
            <a:endParaRPr lang="en-US" sz="1500"/>
          </a:p>
        </p:txBody>
      </p:sp>
      <p:cxnSp>
        <p:nvCxnSpPr>
          <p:cNvPr id="58" name="connector 58"/>
          <p:cNvCxnSpPr/>
          <p:nvPr/>
        </p:nvCxnSpPr>
        <p:spPr>
          <a:xfrm>
            <a:off x="6319520" y="566420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9" name="shape 59"/>
          <p:cNvSpPr/>
          <p:nvPr/>
        </p:nvSpPr>
        <p:spPr>
          <a:xfrm>
            <a:off x="8666480" y="4918075"/>
            <a:ext cx="3017520" cy="746125"/>
          </a:xfrm>
          <a:prstGeom prst="rect">
            <a:avLst/>
          </a:prstGeom>
          <a:solidFill>
            <a:srgbClr val="EFEEE9"/>
          </a:solidFill>
          <a:ln>
            <a:noFill/>
          </a:ln>
        </p:spPr>
      </p:sp>
      <p:sp>
        <p:nvSpPr>
          <p:cNvPr id="60" name="text 60"/>
          <p:cNvSpPr/>
          <p:nvPr/>
        </p:nvSpPr>
        <p:spPr>
          <a:xfrm>
            <a:off x="8793480" y="4968875"/>
            <a:ext cx="2763520" cy="644525"/>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Partially implemented:</a:t>
            </a:r>
            <a:endParaRPr lang="en-US" sz="1450"/>
          </a:p>
          <a:p>
            <a:pPr algn="l">
              <a:lnSpc>
                <a:spcPts val="1653"/>
              </a:lnSpc>
              <a:spcAft>
                <a:spcPts val="0"/>
              </a:spcAft>
            </a:pPr>
            <a:r>
              <a:rPr lang="en-US" sz="1450" b="0" dirty="0">
                <a:solidFill>
                  <a:srgbClr val="181C23"/>
                </a:solidFill>
                <a:latin typeface="Funnel Sans"/>
              </a:rPr>
              <a:t>version/profile comparison; full</a:t>
            </a:r>
            <a:endParaRPr lang="en-US" sz="1450"/>
          </a:p>
          <a:p>
            <a:pPr algn="l">
              <a:lnSpc>
                <a:spcPts val="1653"/>
              </a:lnSpc>
              <a:spcAft>
                <a:spcPts val="0"/>
              </a:spcAft>
            </a:pPr>
            <a:r>
              <a:rPr lang="en-US" sz="1450" b="0" dirty="0">
                <a:solidFill>
                  <a:srgbClr val="181C23"/>
                </a:solidFill>
                <a:latin typeface="Funnel Sans"/>
              </a:rPr>
              <a:t>monitoring planned</a:t>
            </a:r>
            <a:endParaRPr lang="en-US" sz="1450"/>
          </a:p>
        </p:txBody>
      </p:sp>
      <p:cxnSp>
        <p:nvCxnSpPr>
          <p:cNvPr id="61" name="connector 61"/>
          <p:cNvCxnSpPr/>
          <p:nvPr/>
        </p:nvCxnSpPr>
        <p:spPr>
          <a:xfrm>
            <a:off x="8666480" y="56642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2" name="shape 62"/>
          <p:cNvSpPr/>
          <p:nvPr/>
        </p:nvSpPr>
        <p:spPr>
          <a:xfrm>
            <a:off x="508000" y="5740400"/>
            <a:ext cx="11176000" cy="546100"/>
          </a:xfrm>
          <a:prstGeom prst="rect">
            <a:avLst/>
          </a:prstGeom>
          <a:solidFill>
            <a:srgbClr val="282A27"/>
          </a:solidFill>
          <a:ln>
            <a:noFill/>
          </a:ln>
        </p:spPr>
      </p:sp>
      <p:sp>
        <p:nvSpPr>
          <p:cNvPr id="63" name="text 6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MCAR: missing completely at random. MNAR: missing not at random. Both require cautious interpretation.</a:t>
            </a:r>
            <a:endParaRPr lang="en-US" sz="1600"/>
          </a:p>
        </p:txBody>
      </p:sp>
      <p:cxnSp>
        <p:nvCxnSpPr>
          <p:cNvPr id="64" name="connector 6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65" name="text 6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66" name="text 6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23 / 87</a:t>
            </a:r>
            <a:endParaRPr lang="en-US"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03 / EXTENDED CATALOG</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Make broader framework references explicit</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These references extend the framework; they are not additional executable register rows.</a:t>
            </a:r>
            <a:endParaRPr lang="en-US" sz="1500"/>
          </a:p>
        </p:txBody>
      </p:sp>
      <p:sp>
        <p:nvSpPr>
          <p:cNvPr id="6" name="shape 6"/>
          <p:cNvSpPr/>
          <p:nvPr/>
        </p:nvSpPr>
        <p:spPr>
          <a:xfrm>
            <a:off x="508000" y="2222500"/>
            <a:ext cx="3129280" cy="457200"/>
          </a:xfrm>
          <a:prstGeom prst="rect">
            <a:avLst/>
          </a:prstGeom>
          <a:solidFill>
            <a:srgbClr val="282A27"/>
          </a:solidFill>
          <a:ln>
            <a:noFill/>
          </a:ln>
        </p:spPr>
      </p:sp>
      <p:sp>
        <p:nvSpPr>
          <p:cNvPr id="7" name="text 7"/>
          <p:cNvSpPr/>
          <p:nvPr/>
        </p:nvSpPr>
        <p:spPr>
          <a:xfrm>
            <a:off x="635000" y="2336800"/>
            <a:ext cx="28752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Reference / purpose</a:t>
            </a:r>
            <a:endParaRPr lang="en-US" sz="1200"/>
          </a:p>
        </p:txBody>
      </p:sp>
      <p:sp>
        <p:nvSpPr>
          <p:cNvPr id="8" name="shape 8"/>
          <p:cNvSpPr/>
          <p:nvPr/>
        </p:nvSpPr>
        <p:spPr>
          <a:xfrm>
            <a:off x="3637280" y="2222500"/>
            <a:ext cx="2682240" cy="457200"/>
          </a:xfrm>
          <a:prstGeom prst="rect">
            <a:avLst/>
          </a:prstGeom>
          <a:solidFill>
            <a:srgbClr val="282A27"/>
          </a:solidFill>
          <a:ln>
            <a:noFill/>
          </a:ln>
        </p:spPr>
      </p:sp>
      <p:sp>
        <p:nvSpPr>
          <p:cNvPr id="9" name="text 9"/>
          <p:cNvSpPr/>
          <p:nvPr/>
        </p:nvSpPr>
        <p:spPr>
          <a:xfrm>
            <a:off x="3764280" y="2336800"/>
            <a:ext cx="24282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Input</a:t>
            </a:r>
            <a:endParaRPr lang="en-US" sz="1200"/>
          </a:p>
        </p:txBody>
      </p:sp>
      <p:sp>
        <p:nvSpPr>
          <p:cNvPr id="10" name="shape 10"/>
          <p:cNvSpPr/>
          <p:nvPr/>
        </p:nvSpPr>
        <p:spPr>
          <a:xfrm>
            <a:off x="6319520" y="2222500"/>
            <a:ext cx="2346960" cy="457200"/>
          </a:xfrm>
          <a:prstGeom prst="rect">
            <a:avLst/>
          </a:prstGeom>
          <a:solidFill>
            <a:srgbClr val="282A27"/>
          </a:solidFill>
          <a:ln>
            <a:noFill/>
          </a:ln>
        </p:spPr>
      </p:sp>
      <p:sp>
        <p:nvSpPr>
          <p:cNvPr id="11" name="text 11"/>
          <p:cNvSpPr/>
          <p:nvPr/>
        </p:nvSpPr>
        <p:spPr>
          <a:xfrm>
            <a:off x="6446520" y="2336800"/>
            <a:ext cx="20929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Intended output</a:t>
            </a:r>
            <a:endParaRPr lang="en-US" sz="1200"/>
          </a:p>
        </p:txBody>
      </p:sp>
      <p:sp>
        <p:nvSpPr>
          <p:cNvPr id="12" name="shape 12"/>
          <p:cNvSpPr/>
          <p:nvPr/>
        </p:nvSpPr>
        <p:spPr>
          <a:xfrm>
            <a:off x="8666480" y="2222500"/>
            <a:ext cx="3017520" cy="457200"/>
          </a:xfrm>
          <a:prstGeom prst="rect">
            <a:avLst/>
          </a:prstGeom>
          <a:solidFill>
            <a:srgbClr val="282A27"/>
          </a:solidFill>
          <a:ln>
            <a:noFill/>
          </a:ln>
        </p:spPr>
      </p:sp>
      <p:sp>
        <p:nvSpPr>
          <p:cNvPr id="13" name="text 13"/>
          <p:cNvSpPr/>
          <p:nvPr/>
        </p:nvSpPr>
        <p:spPr>
          <a:xfrm>
            <a:off x="8793480" y="2336800"/>
            <a:ext cx="27635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Status</a:t>
            </a:r>
            <a:endParaRPr lang="en-US" sz="1200"/>
          </a:p>
        </p:txBody>
      </p:sp>
      <p:sp>
        <p:nvSpPr>
          <p:cNvPr id="14" name="shape 14"/>
          <p:cNvSpPr/>
          <p:nvPr/>
        </p:nvSpPr>
        <p:spPr>
          <a:xfrm>
            <a:off x="508000" y="2679700"/>
            <a:ext cx="3129280" cy="596900"/>
          </a:xfrm>
          <a:prstGeom prst="rect">
            <a:avLst/>
          </a:prstGeom>
          <a:solidFill>
            <a:srgbClr val="FFFFFF"/>
          </a:solidFill>
          <a:ln>
            <a:noFill/>
          </a:ln>
        </p:spPr>
      </p:sp>
      <p:sp>
        <p:nvSpPr>
          <p:cNvPr id="15" name="text 15"/>
          <p:cNvSpPr/>
          <p:nvPr/>
        </p:nvSpPr>
        <p:spPr>
          <a:xfrm>
            <a:off x="635000" y="2730500"/>
            <a:ext cx="2875280" cy="495300"/>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R05 Survival / Kaplan–Meier</a:t>
            </a:r>
            <a:endParaRPr lang="en-US" sz="1500"/>
          </a:p>
          <a:p>
            <a:pPr algn="l">
              <a:lnSpc>
                <a:spcPts val="1710"/>
              </a:lnSpc>
              <a:spcAft>
                <a:spcPts val="0"/>
              </a:spcAft>
            </a:pPr>
            <a:r>
              <a:rPr lang="en-US" sz="1500" b="1" dirty="0">
                <a:solidFill>
                  <a:srgbClr val="181C23"/>
                </a:solidFill>
                <a:latin typeface="Funnel Sans"/>
              </a:rPr>
              <a:t>analysis</a:t>
            </a:r>
            <a:endParaRPr lang="en-US" sz="1500"/>
          </a:p>
        </p:txBody>
      </p:sp>
      <p:cxnSp>
        <p:nvCxnSpPr>
          <p:cNvPr id="16" name="connector 16"/>
          <p:cNvCxnSpPr/>
          <p:nvPr/>
        </p:nvCxnSpPr>
        <p:spPr>
          <a:xfrm>
            <a:off x="508000" y="32766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7" name="shape 17"/>
          <p:cNvSpPr/>
          <p:nvPr/>
        </p:nvSpPr>
        <p:spPr>
          <a:xfrm>
            <a:off x="3637280" y="2679700"/>
            <a:ext cx="2682240" cy="596900"/>
          </a:xfrm>
          <a:prstGeom prst="rect">
            <a:avLst/>
          </a:prstGeom>
          <a:solidFill>
            <a:srgbClr val="FFFFFF"/>
          </a:solidFill>
          <a:ln>
            <a:noFill/>
          </a:ln>
        </p:spPr>
      </p:sp>
      <p:sp>
        <p:nvSpPr>
          <p:cNvPr id="18" name="text 18"/>
          <p:cNvSpPr/>
          <p:nvPr/>
        </p:nvSpPr>
        <p:spPr>
          <a:xfrm>
            <a:off x="3764280" y="2730500"/>
            <a:ext cx="242824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Observed durations and</a:t>
            </a:r>
            <a:endParaRPr lang="en-US" sz="1500"/>
          </a:p>
          <a:p>
            <a:pPr algn="l">
              <a:lnSpc>
                <a:spcPts val="1710"/>
              </a:lnSpc>
              <a:spcAft>
                <a:spcPts val="0"/>
              </a:spcAft>
            </a:pPr>
            <a:r>
              <a:rPr lang="en-US" sz="1500" b="0" dirty="0">
                <a:solidFill>
                  <a:srgbClr val="181C23"/>
                </a:solidFill>
                <a:latin typeface="Funnel Sans"/>
              </a:rPr>
              <a:t>event/censor flags</a:t>
            </a:r>
            <a:endParaRPr lang="en-US" sz="1500"/>
          </a:p>
        </p:txBody>
      </p:sp>
      <p:cxnSp>
        <p:nvCxnSpPr>
          <p:cNvPr id="19" name="connector 19"/>
          <p:cNvCxnSpPr/>
          <p:nvPr/>
        </p:nvCxnSpPr>
        <p:spPr>
          <a:xfrm>
            <a:off x="3637280" y="3276600"/>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6319520" y="2679700"/>
            <a:ext cx="2346960" cy="596900"/>
          </a:xfrm>
          <a:prstGeom prst="rect">
            <a:avLst/>
          </a:prstGeom>
          <a:solidFill>
            <a:srgbClr val="FFFFFF"/>
          </a:solidFill>
          <a:ln>
            <a:noFill/>
          </a:ln>
        </p:spPr>
      </p:sp>
      <p:sp>
        <p:nvSpPr>
          <p:cNvPr id="21" name="text 21"/>
          <p:cNvSpPr/>
          <p:nvPr/>
        </p:nvSpPr>
        <p:spPr>
          <a:xfrm>
            <a:off x="6446520" y="2730500"/>
            <a:ext cx="209296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Survival and window</a:t>
            </a:r>
            <a:endParaRPr lang="en-US" sz="1500"/>
          </a:p>
          <a:p>
            <a:pPr algn="l">
              <a:lnSpc>
                <a:spcPts val="1710"/>
              </a:lnSpc>
              <a:spcAft>
                <a:spcPts val="0"/>
              </a:spcAft>
            </a:pPr>
            <a:r>
              <a:rPr lang="en-US" sz="1500" b="0" dirty="0">
                <a:solidFill>
                  <a:srgbClr val="181C23"/>
                </a:solidFill>
                <a:latin typeface="Funnel Sans"/>
              </a:rPr>
              <a:t>analysis</a:t>
            </a:r>
            <a:endParaRPr lang="en-US" sz="1500"/>
          </a:p>
        </p:txBody>
      </p:sp>
      <p:cxnSp>
        <p:nvCxnSpPr>
          <p:cNvPr id="22" name="connector 22"/>
          <p:cNvCxnSpPr/>
          <p:nvPr/>
        </p:nvCxnSpPr>
        <p:spPr>
          <a:xfrm>
            <a:off x="6319520" y="327660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8666480" y="2679700"/>
            <a:ext cx="3017520" cy="596900"/>
          </a:xfrm>
          <a:prstGeom prst="rect">
            <a:avLst/>
          </a:prstGeom>
          <a:solidFill>
            <a:srgbClr val="FFFFFF"/>
          </a:solidFill>
          <a:ln>
            <a:noFill/>
          </a:ln>
        </p:spPr>
      </p:sp>
      <p:sp>
        <p:nvSpPr>
          <p:cNvPr id="24" name="text 24"/>
          <p:cNvSpPr/>
          <p:nvPr/>
        </p:nvSpPr>
        <p:spPr>
          <a:xfrm>
            <a:off x="8793480" y="2730500"/>
            <a:ext cx="276352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Referenced; not registered or</a:t>
            </a:r>
            <a:endParaRPr lang="en-US" sz="1500"/>
          </a:p>
          <a:p>
            <a:pPr algn="l">
              <a:lnSpc>
                <a:spcPts val="1710"/>
              </a:lnSpc>
              <a:spcAft>
                <a:spcPts val="0"/>
              </a:spcAft>
            </a:pPr>
            <a:r>
              <a:rPr lang="en-US" sz="1500" b="0" dirty="0">
                <a:solidFill>
                  <a:srgbClr val="181C23"/>
                </a:solidFill>
                <a:latin typeface="Funnel Sans"/>
              </a:rPr>
              <a:t>implemented as a diagnostic</a:t>
            </a:r>
            <a:endParaRPr lang="en-US" sz="1500"/>
          </a:p>
        </p:txBody>
      </p:sp>
      <p:cxnSp>
        <p:nvCxnSpPr>
          <p:cNvPr id="25" name="connector 25"/>
          <p:cNvCxnSpPr/>
          <p:nvPr/>
        </p:nvCxnSpPr>
        <p:spPr>
          <a:xfrm>
            <a:off x="8666480" y="32766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508000" y="3276600"/>
            <a:ext cx="3129280" cy="596900"/>
          </a:xfrm>
          <a:prstGeom prst="rect">
            <a:avLst/>
          </a:prstGeom>
          <a:solidFill>
            <a:srgbClr val="EFEEE9"/>
          </a:solidFill>
          <a:ln>
            <a:noFill/>
          </a:ln>
        </p:spPr>
      </p:sp>
      <p:sp>
        <p:nvSpPr>
          <p:cNvPr id="27" name="text 27"/>
          <p:cNvSpPr/>
          <p:nvPr/>
        </p:nvSpPr>
        <p:spPr>
          <a:xfrm>
            <a:off x="635000" y="3327400"/>
            <a:ext cx="2875280" cy="495300"/>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R06 Portfolio migration /</a:t>
            </a:r>
            <a:endParaRPr lang="en-US" sz="1500"/>
          </a:p>
          <a:p>
            <a:pPr algn="l">
              <a:lnSpc>
                <a:spcPts val="1710"/>
              </a:lnSpc>
              <a:spcAft>
                <a:spcPts val="0"/>
              </a:spcAft>
            </a:pPr>
            <a:r>
              <a:rPr lang="en-US" sz="1500" b="1" dirty="0">
                <a:solidFill>
                  <a:srgbClr val="181C23"/>
                </a:solidFill>
                <a:latin typeface="Funnel Sans"/>
              </a:rPr>
              <a:t>acceptance funnel</a:t>
            </a:r>
            <a:endParaRPr lang="en-US" sz="1500"/>
          </a:p>
        </p:txBody>
      </p:sp>
      <p:cxnSp>
        <p:nvCxnSpPr>
          <p:cNvPr id="28" name="connector 28"/>
          <p:cNvCxnSpPr/>
          <p:nvPr/>
        </p:nvCxnSpPr>
        <p:spPr>
          <a:xfrm>
            <a:off x="508000" y="38735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shape 29"/>
          <p:cNvSpPr/>
          <p:nvPr/>
        </p:nvSpPr>
        <p:spPr>
          <a:xfrm>
            <a:off x="3637280" y="3276600"/>
            <a:ext cx="2682240" cy="596900"/>
          </a:xfrm>
          <a:prstGeom prst="rect">
            <a:avLst/>
          </a:prstGeom>
          <a:solidFill>
            <a:srgbClr val="EFEEE9"/>
          </a:solidFill>
          <a:ln>
            <a:noFill/>
          </a:ln>
        </p:spPr>
      </p:sp>
      <p:sp>
        <p:nvSpPr>
          <p:cNvPr id="30" name="text 30"/>
          <p:cNvSpPr/>
          <p:nvPr/>
        </p:nvSpPr>
        <p:spPr>
          <a:xfrm>
            <a:off x="3764280" y="3327400"/>
            <a:ext cx="242824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Population states and</a:t>
            </a:r>
            <a:endParaRPr lang="en-US" sz="1500"/>
          </a:p>
          <a:p>
            <a:pPr algn="l">
              <a:lnSpc>
                <a:spcPts val="1710"/>
              </a:lnSpc>
              <a:spcAft>
                <a:spcPts val="0"/>
              </a:spcAft>
            </a:pPr>
            <a:r>
              <a:rPr lang="en-US" sz="1500" b="0" dirty="0">
                <a:solidFill>
                  <a:srgbClr val="181C23"/>
                </a:solidFill>
                <a:latin typeface="Funnel Sans"/>
              </a:rPr>
              <a:t>selection history</a:t>
            </a:r>
            <a:endParaRPr lang="en-US" sz="1500"/>
          </a:p>
        </p:txBody>
      </p:sp>
      <p:cxnSp>
        <p:nvCxnSpPr>
          <p:cNvPr id="31" name="connector 31"/>
          <p:cNvCxnSpPr/>
          <p:nvPr/>
        </p:nvCxnSpPr>
        <p:spPr>
          <a:xfrm>
            <a:off x="3637280" y="3873500"/>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6319520" y="3276600"/>
            <a:ext cx="2346960" cy="596900"/>
          </a:xfrm>
          <a:prstGeom prst="rect">
            <a:avLst/>
          </a:prstGeom>
          <a:solidFill>
            <a:srgbClr val="EFEEE9"/>
          </a:solidFill>
          <a:ln>
            <a:noFill/>
          </a:ln>
        </p:spPr>
      </p:sp>
      <p:sp>
        <p:nvSpPr>
          <p:cNvPr id="33" name="text 33"/>
          <p:cNvSpPr/>
          <p:nvPr/>
        </p:nvSpPr>
        <p:spPr>
          <a:xfrm>
            <a:off x="6446520" y="3327400"/>
            <a:ext cx="209296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Selection-bias</a:t>
            </a:r>
            <a:endParaRPr lang="en-US" sz="1500"/>
          </a:p>
          <a:p>
            <a:pPr algn="l">
              <a:lnSpc>
                <a:spcPts val="1710"/>
              </a:lnSpc>
              <a:spcAft>
                <a:spcPts val="0"/>
              </a:spcAft>
            </a:pPr>
            <a:r>
              <a:rPr lang="en-US" sz="1500" b="0" dirty="0">
                <a:solidFill>
                  <a:srgbClr val="181C23"/>
                </a:solidFill>
                <a:latin typeface="Funnel Sans"/>
              </a:rPr>
              <a:t>evidence</a:t>
            </a:r>
            <a:endParaRPr lang="en-US" sz="1500"/>
          </a:p>
        </p:txBody>
      </p:sp>
      <p:cxnSp>
        <p:nvCxnSpPr>
          <p:cNvPr id="34" name="connector 34"/>
          <p:cNvCxnSpPr/>
          <p:nvPr/>
        </p:nvCxnSpPr>
        <p:spPr>
          <a:xfrm>
            <a:off x="6319520" y="387350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shape 35"/>
          <p:cNvSpPr/>
          <p:nvPr/>
        </p:nvSpPr>
        <p:spPr>
          <a:xfrm>
            <a:off x="8666480" y="3276600"/>
            <a:ext cx="3017520" cy="596900"/>
          </a:xfrm>
          <a:prstGeom prst="rect">
            <a:avLst/>
          </a:prstGeom>
          <a:solidFill>
            <a:srgbClr val="EFEEE9"/>
          </a:solidFill>
          <a:ln>
            <a:noFill/>
          </a:ln>
        </p:spPr>
      </p:sp>
      <p:sp>
        <p:nvSpPr>
          <p:cNvPr id="36" name="text 36"/>
          <p:cNvSpPr/>
          <p:nvPr/>
        </p:nvSpPr>
        <p:spPr>
          <a:xfrm>
            <a:off x="8793480" y="3327400"/>
            <a:ext cx="276352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Referenced; insufficient</a:t>
            </a:r>
            <a:endParaRPr lang="en-US" sz="1500"/>
          </a:p>
          <a:p>
            <a:pPr algn="l">
              <a:lnSpc>
                <a:spcPts val="1710"/>
              </a:lnSpc>
              <a:spcAft>
                <a:spcPts val="0"/>
              </a:spcAft>
            </a:pPr>
            <a:r>
              <a:rPr lang="en-US" sz="1500" b="0" dirty="0">
                <a:solidFill>
                  <a:srgbClr val="181C23"/>
                </a:solidFill>
                <a:latin typeface="Funnel Sans"/>
              </a:rPr>
              <a:t>method and workflow detail</a:t>
            </a:r>
            <a:endParaRPr lang="en-US" sz="1500"/>
          </a:p>
        </p:txBody>
      </p:sp>
      <p:cxnSp>
        <p:nvCxnSpPr>
          <p:cNvPr id="37" name="connector 37"/>
          <p:cNvCxnSpPr/>
          <p:nvPr/>
        </p:nvCxnSpPr>
        <p:spPr>
          <a:xfrm>
            <a:off x="8666480" y="38735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508000" y="3873500"/>
            <a:ext cx="3129280" cy="596900"/>
          </a:xfrm>
          <a:prstGeom prst="rect">
            <a:avLst/>
          </a:prstGeom>
          <a:solidFill>
            <a:srgbClr val="FFFFFF"/>
          </a:solidFill>
          <a:ln>
            <a:noFill/>
          </a:ln>
        </p:spPr>
      </p:sp>
      <p:sp>
        <p:nvSpPr>
          <p:cNvPr id="39" name="text 39"/>
          <p:cNvSpPr/>
          <p:nvPr/>
        </p:nvSpPr>
        <p:spPr>
          <a:xfrm>
            <a:off x="635000" y="3924300"/>
            <a:ext cx="2875280" cy="495300"/>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R07 Tail / cluster investigation</a:t>
            </a:r>
            <a:endParaRPr lang="en-US" sz="1500"/>
          </a:p>
        </p:txBody>
      </p:sp>
      <p:cxnSp>
        <p:nvCxnSpPr>
          <p:cNvPr id="40" name="connector 40"/>
          <p:cNvCxnSpPr/>
          <p:nvPr/>
        </p:nvCxnSpPr>
        <p:spPr>
          <a:xfrm>
            <a:off x="508000" y="44704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3637280" y="3873500"/>
            <a:ext cx="2682240" cy="596900"/>
          </a:xfrm>
          <a:prstGeom prst="rect">
            <a:avLst/>
          </a:prstGeom>
          <a:solidFill>
            <a:srgbClr val="FFFFFF"/>
          </a:solidFill>
          <a:ln>
            <a:noFill/>
          </a:ln>
        </p:spPr>
      </p:sp>
      <p:sp>
        <p:nvSpPr>
          <p:cNvPr id="42" name="text 42"/>
          <p:cNvSpPr/>
          <p:nvPr/>
        </p:nvSpPr>
        <p:spPr>
          <a:xfrm>
            <a:off x="3764280" y="3924300"/>
            <a:ext cx="242824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Material numeric fields</a:t>
            </a:r>
            <a:endParaRPr lang="en-US" sz="1500"/>
          </a:p>
          <a:p>
            <a:pPr algn="l">
              <a:lnSpc>
                <a:spcPts val="1710"/>
              </a:lnSpc>
              <a:spcAft>
                <a:spcPts val="0"/>
              </a:spcAft>
            </a:pPr>
            <a:r>
              <a:rPr lang="en-US" sz="1500" b="0" dirty="0">
                <a:solidFill>
                  <a:srgbClr val="181C23"/>
                </a:solidFill>
                <a:latin typeface="Funnel Sans"/>
              </a:rPr>
              <a:t>and context</a:t>
            </a:r>
            <a:endParaRPr lang="en-US" sz="1500"/>
          </a:p>
        </p:txBody>
      </p:sp>
      <p:cxnSp>
        <p:nvCxnSpPr>
          <p:cNvPr id="43" name="connector 43"/>
          <p:cNvCxnSpPr/>
          <p:nvPr/>
        </p:nvCxnSpPr>
        <p:spPr>
          <a:xfrm>
            <a:off x="3637280" y="4470400"/>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4" name="shape 44"/>
          <p:cNvSpPr/>
          <p:nvPr/>
        </p:nvSpPr>
        <p:spPr>
          <a:xfrm>
            <a:off x="6319520" y="3873500"/>
            <a:ext cx="2346960" cy="596900"/>
          </a:xfrm>
          <a:prstGeom prst="rect">
            <a:avLst/>
          </a:prstGeom>
          <a:solidFill>
            <a:srgbClr val="FFFFFF"/>
          </a:solidFill>
          <a:ln>
            <a:noFill/>
          </a:ln>
        </p:spPr>
      </p:sp>
      <p:sp>
        <p:nvSpPr>
          <p:cNvPr id="45" name="text 45"/>
          <p:cNvSpPr/>
          <p:nvPr/>
        </p:nvSpPr>
        <p:spPr>
          <a:xfrm>
            <a:off x="6446520" y="3924300"/>
            <a:ext cx="209296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Extreme-value</a:t>
            </a:r>
            <a:endParaRPr lang="en-US" sz="1500"/>
          </a:p>
          <a:p>
            <a:pPr algn="l">
              <a:lnSpc>
                <a:spcPts val="1710"/>
              </a:lnSpc>
              <a:spcAft>
                <a:spcPts val="0"/>
              </a:spcAft>
            </a:pPr>
            <a:r>
              <a:rPr lang="en-US" sz="1500" b="0" dirty="0">
                <a:solidFill>
                  <a:srgbClr val="181C23"/>
                </a:solidFill>
                <a:latin typeface="Funnel Sans"/>
              </a:rPr>
              <a:t>behavior evidence</a:t>
            </a:r>
            <a:endParaRPr lang="en-US" sz="1500"/>
          </a:p>
        </p:txBody>
      </p:sp>
      <p:cxnSp>
        <p:nvCxnSpPr>
          <p:cNvPr id="46" name="connector 46"/>
          <p:cNvCxnSpPr/>
          <p:nvPr/>
        </p:nvCxnSpPr>
        <p:spPr>
          <a:xfrm>
            <a:off x="6319520" y="447040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shape 47"/>
          <p:cNvSpPr/>
          <p:nvPr/>
        </p:nvSpPr>
        <p:spPr>
          <a:xfrm>
            <a:off x="8666480" y="3873500"/>
            <a:ext cx="3017520" cy="596900"/>
          </a:xfrm>
          <a:prstGeom prst="rect">
            <a:avLst/>
          </a:prstGeom>
          <a:solidFill>
            <a:srgbClr val="FFFFFF"/>
          </a:solidFill>
          <a:ln>
            <a:noFill/>
          </a:ln>
        </p:spPr>
      </p:sp>
      <p:sp>
        <p:nvSpPr>
          <p:cNvPr id="48" name="text 48"/>
          <p:cNvSpPr/>
          <p:nvPr/>
        </p:nvSpPr>
        <p:spPr>
          <a:xfrm>
            <a:off x="8793480" y="3924300"/>
            <a:ext cx="276352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Referenced; legacy tail test</a:t>
            </a:r>
            <a:endParaRPr lang="en-US" sz="1500"/>
          </a:p>
          <a:p>
            <a:pPr algn="l">
              <a:lnSpc>
                <a:spcPts val="1710"/>
              </a:lnSpc>
              <a:spcAft>
                <a:spcPts val="0"/>
              </a:spcAft>
            </a:pPr>
            <a:r>
              <a:rPr lang="en-US" sz="1500" b="0" dirty="0">
                <a:solidFill>
                  <a:srgbClr val="181C23"/>
                </a:solidFill>
                <a:latin typeface="Funnel Sans"/>
              </a:rPr>
              <a:t>retired</a:t>
            </a:r>
            <a:endParaRPr lang="en-US" sz="1500"/>
          </a:p>
        </p:txBody>
      </p:sp>
      <p:cxnSp>
        <p:nvCxnSpPr>
          <p:cNvPr id="49" name="connector 49"/>
          <p:cNvCxnSpPr/>
          <p:nvPr/>
        </p:nvCxnSpPr>
        <p:spPr>
          <a:xfrm>
            <a:off x="8666480" y="44704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0" name="shape 50"/>
          <p:cNvSpPr/>
          <p:nvPr/>
        </p:nvSpPr>
        <p:spPr>
          <a:xfrm>
            <a:off x="508000" y="4470400"/>
            <a:ext cx="3129280" cy="596900"/>
          </a:xfrm>
          <a:prstGeom prst="rect">
            <a:avLst/>
          </a:prstGeom>
          <a:solidFill>
            <a:srgbClr val="EFEEE9"/>
          </a:solidFill>
          <a:ln>
            <a:noFill/>
          </a:ln>
        </p:spPr>
      </p:sp>
      <p:sp>
        <p:nvSpPr>
          <p:cNvPr id="51" name="text 51"/>
          <p:cNvSpPr/>
          <p:nvPr/>
        </p:nvSpPr>
        <p:spPr>
          <a:xfrm>
            <a:off x="635000" y="4521200"/>
            <a:ext cx="2875280" cy="495300"/>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R08 Snapshot / timestamp</a:t>
            </a:r>
            <a:endParaRPr lang="en-US" sz="1500"/>
          </a:p>
          <a:p>
            <a:pPr algn="l">
              <a:lnSpc>
                <a:spcPts val="1710"/>
              </a:lnSpc>
              <a:spcAft>
                <a:spcPts val="0"/>
              </a:spcAft>
            </a:pPr>
            <a:r>
              <a:rPr lang="en-US" sz="1500" b="1" dirty="0">
                <a:solidFill>
                  <a:srgbClr val="181C23"/>
                </a:solidFill>
                <a:latin typeface="Funnel Sans"/>
              </a:rPr>
              <a:t>lineage checks</a:t>
            </a:r>
            <a:endParaRPr lang="en-US" sz="1500"/>
          </a:p>
        </p:txBody>
      </p:sp>
      <p:cxnSp>
        <p:nvCxnSpPr>
          <p:cNvPr id="52" name="connector 52"/>
          <p:cNvCxnSpPr/>
          <p:nvPr/>
        </p:nvCxnSpPr>
        <p:spPr>
          <a:xfrm>
            <a:off x="508000" y="50673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3" name="shape 53"/>
          <p:cNvSpPr/>
          <p:nvPr/>
        </p:nvSpPr>
        <p:spPr>
          <a:xfrm>
            <a:off x="3637280" y="4470400"/>
            <a:ext cx="2682240" cy="596900"/>
          </a:xfrm>
          <a:prstGeom prst="rect">
            <a:avLst/>
          </a:prstGeom>
          <a:solidFill>
            <a:srgbClr val="EFEEE9"/>
          </a:solidFill>
          <a:ln>
            <a:noFill/>
          </a:ln>
        </p:spPr>
      </p:sp>
      <p:sp>
        <p:nvSpPr>
          <p:cNvPr id="54" name="text 54"/>
          <p:cNvSpPr/>
          <p:nvPr/>
        </p:nvSpPr>
        <p:spPr>
          <a:xfrm>
            <a:off x="3764280" y="4521200"/>
            <a:ext cx="242824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As-of dates, events and</a:t>
            </a:r>
            <a:endParaRPr lang="en-US" sz="1500"/>
          </a:p>
          <a:p>
            <a:pPr algn="l">
              <a:lnSpc>
                <a:spcPts val="1710"/>
              </a:lnSpc>
              <a:spcAft>
                <a:spcPts val="0"/>
              </a:spcAft>
            </a:pPr>
            <a:r>
              <a:rPr lang="en-US" sz="1500" b="0" dirty="0">
                <a:solidFill>
                  <a:srgbClr val="181C23"/>
                </a:solidFill>
                <a:latin typeface="Funnel Sans"/>
              </a:rPr>
              <a:t>transformations</a:t>
            </a:r>
            <a:endParaRPr lang="en-US" sz="1500"/>
          </a:p>
        </p:txBody>
      </p:sp>
      <p:cxnSp>
        <p:nvCxnSpPr>
          <p:cNvPr id="55" name="connector 55"/>
          <p:cNvCxnSpPr/>
          <p:nvPr/>
        </p:nvCxnSpPr>
        <p:spPr>
          <a:xfrm>
            <a:off x="3637280" y="5067300"/>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6" name="shape 56"/>
          <p:cNvSpPr/>
          <p:nvPr/>
        </p:nvSpPr>
        <p:spPr>
          <a:xfrm>
            <a:off x="6319520" y="4470400"/>
            <a:ext cx="2346960" cy="596900"/>
          </a:xfrm>
          <a:prstGeom prst="rect">
            <a:avLst/>
          </a:prstGeom>
          <a:solidFill>
            <a:srgbClr val="EFEEE9"/>
          </a:solidFill>
          <a:ln>
            <a:noFill/>
          </a:ln>
        </p:spPr>
      </p:sp>
      <p:sp>
        <p:nvSpPr>
          <p:cNvPr id="57" name="text 57"/>
          <p:cNvSpPr/>
          <p:nvPr/>
        </p:nvSpPr>
        <p:spPr>
          <a:xfrm>
            <a:off x="6446520" y="4521200"/>
            <a:ext cx="209296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Temporal integrity</a:t>
            </a:r>
            <a:endParaRPr lang="en-US" sz="1500"/>
          </a:p>
          <a:p>
            <a:pPr algn="l">
              <a:lnSpc>
                <a:spcPts val="1710"/>
              </a:lnSpc>
              <a:spcAft>
                <a:spcPts val="0"/>
              </a:spcAft>
            </a:pPr>
            <a:r>
              <a:rPr lang="en-US" sz="1500" b="0" dirty="0">
                <a:solidFill>
                  <a:srgbClr val="181C23"/>
                </a:solidFill>
                <a:latin typeface="Funnel Sans"/>
              </a:rPr>
              <a:t>evidence</a:t>
            </a:r>
            <a:endParaRPr lang="en-US" sz="1500"/>
          </a:p>
        </p:txBody>
      </p:sp>
      <p:cxnSp>
        <p:nvCxnSpPr>
          <p:cNvPr id="58" name="connector 58"/>
          <p:cNvCxnSpPr/>
          <p:nvPr/>
        </p:nvCxnSpPr>
        <p:spPr>
          <a:xfrm>
            <a:off x="6319520" y="506730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9" name="shape 59"/>
          <p:cNvSpPr/>
          <p:nvPr/>
        </p:nvSpPr>
        <p:spPr>
          <a:xfrm>
            <a:off x="8666480" y="4470400"/>
            <a:ext cx="3017520" cy="596900"/>
          </a:xfrm>
          <a:prstGeom prst="rect">
            <a:avLst/>
          </a:prstGeom>
          <a:solidFill>
            <a:srgbClr val="EFEEE9"/>
          </a:solidFill>
          <a:ln>
            <a:noFill/>
          </a:ln>
        </p:spPr>
      </p:sp>
      <p:sp>
        <p:nvSpPr>
          <p:cNvPr id="60" name="text 60"/>
          <p:cNvSpPr/>
          <p:nvPr/>
        </p:nvSpPr>
        <p:spPr>
          <a:xfrm>
            <a:off x="8793480" y="4521200"/>
            <a:ext cx="276352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Referenced; overlaps deferred</a:t>
            </a:r>
            <a:endParaRPr lang="en-US" sz="1500"/>
          </a:p>
          <a:p>
            <a:pPr algn="l">
              <a:lnSpc>
                <a:spcPts val="1710"/>
              </a:lnSpc>
              <a:spcAft>
                <a:spcPts val="0"/>
              </a:spcAft>
            </a:pPr>
            <a:r>
              <a:rPr lang="en-US" sz="1500" b="0" dirty="0">
                <a:solidFill>
                  <a:srgbClr val="181C23"/>
                </a:solidFill>
                <a:latin typeface="Funnel Sans"/>
              </a:rPr>
              <a:t>D01, no separate executor</a:t>
            </a:r>
            <a:endParaRPr lang="en-US" sz="1500"/>
          </a:p>
        </p:txBody>
      </p:sp>
      <p:cxnSp>
        <p:nvCxnSpPr>
          <p:cNvPr id="61" name="connector 61"/>
          <p:cNvCxnSpPr/>
          <p:nvPr/>
        </p:nvCxnSpPr>
        <p:spPr>
          <a:xfrm>
            <a:off x="8666480" y="50673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2" name="shape 62"/>
          <p:cNvSpPr/>
          <p:nvPr/>
        </p:nvSpPr>
        <p:spPr>
          <a:xfrm>
            <a:off x="508000" y="5067300"/>
            <a:ext cx="3129280" cy="596900"/>
          </a:xfrm>
          <a:prstGeom prst="rect">
            <a:avLst/>
          </a:prstGeom>
          <a:solidFill>
            <a:srgbClr val="FFFFFF"/>
          </a:solidFill>
          <a:ln>
            <a:noFill/>
          </a:ln>
        </p:spPr>
      </p:sp>
      <p:sp>
        <p:nvSpPr>
          <p:cNvPr id="63" name="text 63"/>
          <p:cNvSpPr/>
          <p:nvPr/>
        </p:nvSpPr>
        <p:spPr>
          <a:xfrm>
            <a:off x="635000" y="5118100"/>
            <a:ext cx="2875280" cy="495300"/>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R09 Data latency / feed</a:t>
            </a:r>
            <a:endParaRPr lang="en-US" sz="1500"/>
          </a:p>
          <a:p>
            <a:pPr algn="l">
              <a:lnSpc>
                <a:spcPts val="1710"/>
              </a:lnSpc>
              <a:spcAft>
                <a:spcPts val="0"/>
              </a:spcAft>
            </a:pPr>
            <a:r>
              <a:rPr lang="en-US" sz="1500" b="1" dirty="0">
                <a:solidFill>
                  <a:srgbClr val="181C23"/>
                </a:solidFill>
                <a:latin typeface="Funnel Sans"/>
              </a:rPr>
              <a:t>monitoring</a:t>
            </a:r>
            <a:endParaRPr lang="en-US" sz="1500"/>
          </a:p>
        </p:txBody>
      </p:sp>
      <p:cxnSp>
        <p:nvCxnSpPr>
          <p:cNvPr id="64" name="connector 64"/>
          <p:cNvCxnSpPr/>
          <p:nvPr/>
        </p:nvCxnSpPr>
        <p:spPr>
          <a:xfrm>
            <a:off x="508000" y="56642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5" name="shape 65"/>
          <p:cNvSpPr/>
          <p:nvPr/>
        </p:nvSpPr>
        <p:spPr>
          <a:xfrm>
            <a:off x="3637280" y="5067300"/>
            <a:ext cx="2682240" cy="596900"/>
          </a:xfrm>
          <a:prstGeom prst="rect">
            <a:avLst/>
          </a:prstGeom>
          <a:solidFill>
            <a:srgbClr val="FFFFFF"/>
          </a:solidFill>
          <a:ln>
            <a:noFill/>
          </a:ln>
        </p:spPr>
      </p:sp>
      <p:sp>
        <p:nvSpPr>
          <p:cNvPr id="66" name="text 66"/>
          <p:cNvSpPr/>
          <p:nvPr/>
        </p:nvSpPr>
        <p:spPr>
          <a:xfrm>
            <a:off x="3764280" y="5118100"/>
            <a:ext cx="242824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Arrival times, feed</a:t>
            </a:r>
            <a:endParaRPr lang="en-US" sz="1500"/>
          </a:p>
          <a:p>
            <a:pPr algn="l">
              <a:lnSpc>
                <a:spcPts val="1710"/>
              </a:lnSpc>
              <a:spcAft>
                <a:spcPts val="0"/>
              </a:spcAft>
            </a:pPr>
            <a:r>
              <a:rPr lang="en-US" sz="1500" b="0" dirty="0">
                <a:solidFill>
                  <a:srgbClr val="181C23"/>
                </a:solidFill>
                <a:latin typeface="Funnel Sans"/>
              </a:rPr>
              <a:t>expectations and changes</a:t>
            </a:r>
            <a:endParaRPr lang="en-US" sz="1500"/>
          </a:p>
        </p:txBody>
      </p:sp>
      <p:cxnSp>
        <p:nvCxnSpPr>
          <p:cNvPr id="67" name="connector 67"/>
          <p:cNvCxnSpPr/>
          <p:nvPr/>
        </p:nvCxnSpPr>
        <p:spPr>
          <a:xfrm>
            <a:off x="3637280" y="5664200"/>
            <a:ext cx="2682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8" name="shape 68"/>
          <p:cNvSpPr/>
          <p:nvPr/>
        </p:nvSpPr>
        <p:spPr>
          <a:xfrm>
            <a:off x="6319520" y="5067300"/>
            <a:ext cx="2346960" cy="596900"/>
          </a:xfrm>
          <a:prstGeom prst="rect">
            <a:avLst/>
          </a:prstGeom>
          <a:solidFill>
            <a:srgbClr val="FFFFFF"/>
          </a:solidFill>
          <a:ln>
            <a:noFill/>
          </a:ln>
        </p:spPr>
      </p:sp>
      <p:sp>
        <p:nvSpPr>
          <p:cNvPr id="69" name="text 69"/>
          <p:cNvSpPr/>
          <p:nvPr/>
        </p:nvSpPr>
        <p:spPr>
          <a:xfrm>
            <a:off x="6446520" y="5118100"/>
            <a:ext cx="209296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Pipeline timing and</a:t>
            </a:r>
            <a:endParaRPr lang="en-US" sz="1500"/>
          </a:p>
          <a:p>
            <a:pPr algn="l">
              <a:lnSpc>
                <a:spcPts val="1710"/>
              </a:lnSpc>
              <a:spcAft>
                <a:spcPts val="0"/>
              </a:spcAft>
            </a:pPr>
            <a:r>
              <a:rPr lang="en-US" sz="1500" b="0" dirty="0">
                <a:solidFill>
                  <a:srgbClr val="181C23"/>
                </a:solidFill>
                <a:latin typeface="Funnel Sans"/>
              </a:rPr>
              <a:t>control evidence</a:t>
            </a:r>
            <a:endParaRPr lang="en-US" sz="1500"/>
          </a:p>
        </p:txBody>
      </p:sp>
      <p:cxnSp>
        <p:nvCxnSpPr>
          <p:cNvPr id="70" name="connector 70"/>
          <p:cNvCxnSpPr/>
          <p:nvPr/>
        </p:nvCxnSpPr>
        <p:spPr>
          <a:xfrm>
            <a:off x="6319520" y="566420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1" name="shape 71"/>
          <p:cNvSpPr/>
          <p:nvPr/>
        </p:nvSpPr>
        <p:spPr>
          <a:xfrm>
            <a:off x="8666480" y="5067300"/>
            <a:ext cx="3017520" cy="596900"/>
          </a:xfrm>
          <a:prstGeom prst="rect">
            <a:avLst/>
          </a:prstGeom>
          <a:solidFill>
            <a:srgbClr val="FFFFFF"/>
          </a:solidFill>
          <a:ln>
            <a:noFill/>
          </a:ln>
        </p:spPr>
      </p:sp>
      <p:sp>
        <p:nvSpPr>
          <p:cNvPr id="72" name="text 72"/>
          <p:cNvSpPr/>
          <p:nvPr/>
        </p:nvSpPr>
        <p:spPr>
          <a:xfrm>
            <a:off x="8793480" y="5118100"/>
            <a:ext cx="2763520" cy="4953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Referenced; no current</a:t>
            </a:r>
            <a:endParaRPr lang="en-US" sz="1500"/>
          </a:p>
          <a:p>
            <a:pPr algn="l">
              <a:lnSpc>
                <a:spcPts val="1710"/>
              </a:lnSpc>
              <a:spcAft>
                <a:spcPts val="0"/>
              </a:spcAft>
            </a:pPr>
            <a:r>
              <a:rPr lang="en-US" sz="1500" b="0" dirty="0">
                <a:solidFill>
                  <a:srgbClr val="181C23"/>
                </a:solidFill>
                <a:latin typeface="Funnel Sans"/>
              </a:rPr>
              <a:t>monitored-alert workflow</a:t>
            </a:r>
            <a:endParaRPr lang="en-US" sz="1500"/>
          </a:p>
        </p:txBody>
      </p:sp>
      <p:cxnSp>
        <p:nvCxnSpPr>
          <p:cNvPr id="73" name="connector 73"/>
          <p:cNvCxnSpPr/>
          <p:nvPr/>
        </p:nvCxnSpPr>
        <p:spPr>
          <a:xfrm>
            <a:off x="8666480" y="5664200"/>
            <a:ext cx="30175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4" name="shape 74"/>
          <p:cNvSpPr/>
          <p:nvPr/>
        </p:nvSpPr>
        <p:spPr>
          <a:xfrm>
            <a:off x="508000" y="5740400"/>
            <a:ext cx="11176000" cy="546100"/>
          </a:xfrm>
          <a:prstGeom prst="rect">
            <a:avLst/>
          </a:prstGeom>
          <a:solidFill>
            <a:srgbClr val="282A27"/>
          </a:solidFill>
          <a:ln>
            <a:noFill/>
          </a:ln>
        </p:spPr>
      </p:sp>
      <p:sp>
        <p:nvSpPr>
          <p:cNvPr id="75" name="text 75"/>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MCAR: missing completely at random. MNAR: missing not at random. Both require cautious interpretation.</a:t>
            </a:r>
            <a:endParaRPr lang="en-US" sz="1600"/>
          </a:p>
        </p:txBody>
      </p:sp>
      <p:cxnSp>
        <p:nvCxnSpPr>
          <p:cNvPr id="76" name="connector 7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77" name="text 7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8" name="text 7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24 / 87</a:t>
            </a:r>
            <a:endParaRPr lang="en-US"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03 / HISTORICAL CATALOG</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Account for the retired fourteen-test library</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historical README describes an older product; its registry is empty in current code.</a:t>
            </a:r>
            <a:endParaRPr lang="en-US" sz="1500"/>
          </a:p>
        </p:txBody>
      </p:sp>
      <p:sp>
        <p:nvSpPr>
          <p:cNvPr id="6" name="shape 6"/>
          <p:cNvSpPr/>
          <p:nvPr/>
        </p:nvSpPr>
        <p:spPr>
          <a:xfrm>
            <a:off x="508000" y="2209800"/>
            <a:ext cx="4135120" cy="457200"/>
          </a:xfrm>
          <a:prstGeom prst="rect">
            <a:avLst/>
          </a:prstGeom>
          <a:solidFill>
            <a:srgbClr val="282A27"/>
          </a:solidFill>
          <a:ln>
            <a:noFill/>
          </a:ln>
        </p:spPr>
      </p:sp>
      <p:sp>
        <p:nvSpPr>
          <p:cNvPr id="7" name="text 7"/>
          <p:cNvSpPr/>
          <p:nvPr/>
        </p:nvSpPr>
        <p:spPr>
          <a:xfrm>
            <a:off x="635000" y="2324100"/>
            <a:ext cx="38811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Historical diagnostic</a:t>
            </a:r>
            <a:endParaRPr lang="en-US" sz="1200"/>
          </a:p>
        </p:txBody>
      </p:sp>
      <p:sp>
        <p:nvSpPr>
          <p:cNvPr id="8" name="shape 8"/>
          <p:cNvSpPr/>
          <p:nvPr/>
        </p:nvSpPr>
        <p:spPr>
          <a:xfrm>
            <a:off x="4643120" y="2209800"/>
            <a:ext cx="3464560" cy="457200"/>
          </a:xfrm>
          <a:prstGeom prst="rect">
            <a:avLst/>
          </a:prstGeom>
          <a:solidFill>
            <a:srgbClr val="282A27"/>
          </a:solidFill>
          <a:ln>
            <a:noFill/>
          </a:ln>
        </p:spPr>
      </p:sp>
      <p:sp>
        <p:nvSpPr>
          <p:cNvPr id="9" name="text 9"/>
          <p:cNvSpPr/>
          <p:nvPr/>
        </p:nvSpPr>
        <p:spPr>
          <a:xfrm>
            <a:off x="4770120" y="2324100"/>
            <a:ext cx="32105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Current location / successor</a:t>
            </a:r>
            <a:endParaRPr lang="en-US" sz="1200"/>
          </a:p>
        </p:txBody>
      </p:sp>
      <p:sp>
        <p:nvSpPr>
          <p:cNvPr id="10" name="shape 10"/>
          <p:cNvSpPr/>
          <p:nvPr/>
        </p:nvSpPr>
        <p:spPr>
          <a:xfrm>
            <a:off x="8107680" y="2209800"/>
            <a:ext cx="3576320" cy="457200"/>
          </a:xfrm>
          <a:prstGeom prst="rect">
            <a:avLst/>
          </a:prstGeom>
          <a:solidFill>
            <a:srgbClr val="282A27"/>
          </a:solidFill>
          <a:ln>
            <a:noFill/>
          </a:ln>
        </p:spPr>
      </p:sp>
      <p:sp>
        <p:nvSpPr>
          <p:cNvPr id="11" name="text 11"/>
          <p:cNvSpPr/>
          <p:nvPr/>
        </p:nvSpPr>
        <p:spPr>
          <a:xfrm>
            <a:off x="8234680" y="2324100"/>
            <a:ext cx="33223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Current disposition</a:t>
            </a:r>
            <a:endParaRPr lang="en-US" sz="1200"/>
          </a:p>
        </p:txBody>
      </p:sp>
      <p:sp>
        <p:nvSpPr>
          <p:cNvPr id="12" name="shape 12"/>
          <p:cNvSpPr/>
          <p:nvPr/>
        </p:nvSpPr>
        <p:spPr>
          <a:xfrm>
            <a:off x="508000" y="2667000"/>
            <a:ext cx="4135120" cy="439057"/>
          </a:xfrm>
          <a:prstGeom prst="rect">
            <a:avLst/>
          </a:prstGeom>
          <a:solidFill>
            <a:srgbClr val="FFFFFF"/>
          </a:solidFill>
          <a:ln>
            <a:noFill/>
          </a:ln>
        </p:spPr>
      </p:sp>
      <p:sp>
        <p:nvSpPr>
          <p:cNvPr id="13" name="text 13"/>
          <p:cNvSpPr/>
          <p:nvPr/>
        </p:nvSpPr>
        <p:spPr>
          <a:xfrm>
            <a:off x="635000" y="2717800"/>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PSI</a:t>
            </a:r>
            <a:endParaRPr lang="en-US" sz="1400"/>
          </a:p>
        </p:txBody>
      </p:sp>
      <p:cxnSp>
        <p:nvCxnSpPr>
          <p:cNvPr id="14" name="connector 14"/>
          <p:cNvCxnSpPr/>
          <p:nvPr/>
        </p:nvCxnSpPr>
        <p:spPr>
          <a:xfrm>
            <a:off x="508000" y="3106057"/>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4643120" y="2667000"/>
            <a:ext cx="3464560" cy="439057"/>
          </a:xfrm>
          <a:prstGeom prst="rect">
            <a:avLst/>
          </a:prstGeom>
          <a:solidFill>
            <a:srgbClr val="FFFFFF"/>
          </a:solidFill>
          <a:ln>
            <a:noFill/>
          </a:ln>
        </p:spPr>
      </p:sp>
      <p:sp>
        <p:nvSpPr>
          <p:cNvPr id="16" name="text 16"/>
          <p:cNvSpPr/>
          <p:nvPr/>
        </p:nvSpPr>
        <p:spPr>
          <a:xfrm>
            <a:off x="4770120" y="2717800"/>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Replaced by current D14</a:t>
            </a:r>
            <a:endParaRPr lang="en-US" sz="1400"/>
          </a:p>
        </p:txBody>
      </p:sp>
      <p:cxnSp>
        <p:nvCxnSpPr>
          <p:cNvPr id="17" name="connector 17"/>
          <p:cNvCxnSpPr/>
          <p:nvPr/>
        </p:nvCxnSpPr>
        <p:spPr>
          <a:xfrm>
            <a:off x="4643120" y="3106057"/>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8107680" y="2667000"/>
            <a:ext cx="3576320" cy="439057"/>
          </a:xfrm>
          <a:prstGeom prst="rect">
            <a:avLst/>
          </a:prstGeom>
          <a:solidFill>
            <a:srgbClr val="FFFFFF"/>
          </a:solidFill>
          <a:ln>
            <a:noFill/>
          </a:ln>
        </p:spPr>
      </p:sp>
      <p:sp>
        <p:nvSpPr>
          <p:cNvPr id="19" name="text 19"/>
          <p:cNvSpPr/>
          <p:nvPr/>
        </p:nvSpPr>
        <p:spPr>
          <a:xfrm>
            <a:off x="8234680" y="2717800"/>
            <a:ext cx="3322320" cy="337457"/>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Implemented successor; historical registry</a:t>
            </a:r>
            <a:endParaRPr lang="en-US" sz="1150"/>
          </a:p>
          <a:p>
            <a:pPr algn="l">
              <a:lnSpc>
                <a:spcPts val="1311"/>
              </a:lnSpc>
              <a:spcAft>
                <a:spcPts val="0"/>
              </a:spcAft>
            </a:pPr>
            <a:r>
              <a:rPr lang="en-US" sz="1150" b="0" dirty="0">
                <a:solidFill>
                  <a:srgbClr val="181C23"/>
                </a:solidFill>
                <a:latin typeface="Funnel Sans"/>
              </a:rPr>
              <a:t>retired</a:t>
            </a:r>
            <a:endParaRPr lang="en-US" sz="1150"/>
          </a:p>
        </p:txBody>
      </p:sp>
      <p:cxnSp>
        <p:nvCxnSpPr>
          <p:cNvPr id="20" name="connector 20"/>
          <p:cNvCxnSpPr/>
          <p:nvPr/>
        </p:nvCxnSpPr>
        <p:spPr>
          <a:xfrm>
            <a:off x="8107680" y="3106057"/>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106057"/>
            <a:ext cx="4135120" cy="439057"/>
          </a:xfrm>
          <a:prstGeom prst="rect">
            <a:avLst/>
          </a:prstGeom>
          <a:solidFill>
            <a:srgbClr val="EFEEE9"/>
          </a:solidFill>
          <a:ln>
            <a:noFill/>
          </a:ln>
        </p:spPr>
      </p:sp>
      <p:sp>
        <p:nvSpPr>
          <p:cNvPr id="22" name="text 22"/>
          <p:cNvSpPr/>
          <p:nvPr/>
        </p:nvSpPr>
        <p:spPr>
          <a:xfrm>
            <a:off x="635000" y="3156857"/>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Leakage detection (single-feature AUC)</a:t>
            </a:r>
            <a:endParaRPr lang="en-US" sz="1400"/>
          </a:p>
        </p:txBody>
      </p:sp>
      <p:cxnSp>
        <p:nvCxnSpPr>
          <p:cNvPr id="23" name="connector 23"/>
          <p:cNvCxnSpPr/>
          <p:nvPr/>
        </p:nvCxnSpPr>
        <p:spPr>
          <a:xfrm>
            <a:off x="508000" y="3545114"/>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4643120" y="3106057"/>
            <a:ext cx="3464560" cy="439057"/>
          </a:xfrm>
          <a:prstGeom prst="rect">
            <a:avLst/>
          </a:prstGeom>
          <a:solidFill>
            <a:srgbClr val="EFEEE9"/>
          </a:solidFill>
          <a:ln>
            <a:noFill/>
          </a:ln>
        </p:spPr>
      </p:sp>
      <p:sp>
        <p:nvSpPr>
          <p:cNvPr id="25" name="text 25"/>
          <p:cNvSpPr/>
          <p:nvPr/>
        </p:nvSpPr>
        <p:spPr>
          <a:xfrm>
            <a:off x="4770120" y="3156857"/>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Replaced by D02</a:t>
            </a:r>
            <a:endParaRPr lang="en-US" sz="1400"/>
          </a:p>
        </p:txBody>
      </p:sp>
      <p:cxnSp>
        <p:nvCxnSpPr>
          <p:cNvPr id="26" name="connector 26"/>
          <p:cNvCxnSpPr/>
          <p:nvPr/>
        </p:nvCxnSpPr>
        <p:spPr>
          <a:xfrm>
            <a:off x="4643120" y="3545114"/>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8107680" y="3106057"/>
            <a:ext cx="3576320" cy="439057"/>
          </a:xfrm>
          <a:prstGeom prst="rect">
            <a:avLst/>
          </a:prstGeom>
          <a:solidFill>
            <a:srgbClr val="EFEEE9"/>
          </a:solidFill>
          <a:ln>
            <a:noFill/>
          </a:ln>
        </p:spPr>
      </p:sp>
      <p:sp>
        <p:nvSpPr>
          <p:cNvPr id="28" name="text 28"/>
          <p:cNvSpPr/>
          <p:nvPr/>
        </p:nvSpPr>
        <p:spPr>
          <a:xfrm>
            <a:off x="8234680" y="3156857"/>
            <a:ext cx="3322320" cy="337457"/>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Implemented successor; historical registry</a:t>
            </a:r>
            <a:endParaRPr lang="en-US" sz="1150"/>
          </a:p>
          <a:p>
            <a:pPr algn="l">
              <a:lnSpc>
                <a:spcPts val="1311"/>
              </a:lnSpc>
              <a:spcAft>
                <a:spcPts val="0"/>
              </a:spcAft>
            </a:pPr>
            <a:r>
              <a:rPr lang="en-US" sz="1150" b="0" dirty="0">
                <a:solidFill>
                  <a:srgbClr val="181C23"/>
                </a:solidFill>
                <a:latin typeface="Funnel Sans"/>
              </a:rPr>
              <a:t>retired</a:t>
            </a:r>
            <a:endParaRPr lang="en-US" sz="1150"/>
          </a:p>
        </p:txBody>
      </p:sp>
      <p:cxnSp>
        <p:nvCxnSpPr>
          <p:cNvPr id="29" name="connector 29"/>
          <p:cNvCxnSpPr/>
          <p:nvPr/>
        </p:nvCxnSpPr>
        <p:spPr>
          <a:xfrm>
            <a:off x="8107680" y="3545114"/>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545114"/>
            <a:ext cx="4135120" cy="439057"/>
          </a:xfrm>
          <a:prstGeom prst="rect">
            <a:avLst/>
          </a:prstGeom>
          <a:solidFill>
            <a:srgbClr val="FFFFFF"/>
          </a:solidFill>
          <a:ln>
            <a:noFill/>
          </a:ln>
        </p:spPr>
      </p:sp>
      <p:sp>
        <p:nvSpPr>
          <p:cNvPr id="31" name="text 31"/>
          <p:cNvSpPr/>
          <p:nvPr/>
        </p:nvSpPr>
        <p:spPr>
          <a:xfrm>
            <a:off x="635000" y="3595914"/>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Plausibility rule check</a:t>
            </a:r>
            <a:endParaRPr lang="en-US" sz="1400"/>
          </a:p>
        </p:txBody>
      </p:sp>
      <p:cxnSp>
        <p:nvCxnSpPr>
          <p:cNvPr id="32" name="connector 32"/>
          <p:cNvCxnSpPr/>
          <p:nvPr/>
        </p:nvCxnSpPr>
        <p:spPr>
          <a:xfrm>
            <a:off x="508000" y="3984171"/>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4643120" y="3545114"/>
            <a:ext cx="3464560" cy="439057"/>
          </a:xfrm>
          <a:prstGeom prst="rect">
            <a:avLst/>
          </a:prstGeom>
          <a:solidFill>
            <a:srgbClr val="FFFFFF"/>
          </a:solidFill>
          <a:ln>
            <a:noFill/>
          </a:ln>
        </p:spPr>
      </p:sp>
      <p:sp>
        <p:nvSpPr>
          <p:cNvPr id="34" name="text 34"/>
          <p:cNvSpPr/>
          <p:nvPr/>
        </p:nvSpPr>
        <p:spPr>
          <a:xfrm>
            <a:off x="4770120" y="3595914"/>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Absorbed into D04 KB rules</a:t>
            </a:r>
            <a:endParaRPr lang="en-US" sz="1400"/>
          </a:p>
        </p:txBody>
      </p:sp>
      <p:cxnSp>
        <p:nvCxnSpPr>
          <p:cNvPr id="35" name="connector 35"/>
          <p:cNvCxnSpPr/>
          <p:nvPr/>
        </p:nvCxnSpPr>
        <p:spPr>
          <a:xfrm>
            <a:off x="4643120" y="3984171"/>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8107680" y="3545114"/>
            <a:ext cx="3576320" cy="439057"/>
          </a:xfrm>
          <a:prstGeom prst="rect">
            <a:avLst/>
          </a:prstGeom>
          <a:solidFill>
            <a:srgbClr val="FFFFFF"/>
          </a:solidFill>
          <a:ln>
            <a:noFill/>
          </a:ln>
        </p:spPr>
      </p:sp>
      <p:sp>
        <p:nvSpPr>
          <p:cNvPr id="37" name="text 37"/>
          <p:cNvSpPr/>
          <p:nvPr/>
        </p:nvSpPr>
        <p:spPr>
          <a:xfrm>
            <a:off x="8234680" y="3595914"/>
            <a:ext cx="332232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 successor paused</a:t>
            </a:r>
            <a:endParaRPr lang="en-US" sz="1400"/>
          </a:p>
        </p:txBody>
      </p:sp>
      <p:cxnSp>
        <p:nvCxnSpPr>
          <p:cNvPr id="38" name="connector 38"/>
          <p:cNvCxnSpPr/>
          <p:nvPr/>
        </p:nvCxnSpPr>
        <p:spPr>
          <a:xfrm>
            <a:off x="8107680" y="3984171"/>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3984171"/>
            <a:ext cx="4135120" cy="439057"/>
          </a:xfrm>
          <a:prstGeom prst="rect">
            <a:avLst/>
          </a:prstGeom>
          <a:solidFill>
            <a:srgbClr val="EFEEE9"/>
          </a:solidFill>
          <a:ln>
            <a:noFill/>
          </a:ln>
        </p:spPr>
      </p:sp>
      <p:sp>
        <p:nvSpPr>
          <p:cNvPr id="40" name="text 40"/>
          <p:cNvSpPr/>
          <p:nvPr/>
        </p:nvSpPr>
        <p:spPr>
          <a:xfrm>
            <a:off x="635000" y="4034971"/>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Date-ordering / event-sequence</a:t>
            </a:r>
            <a:endParaRPr lang="en-US" sz="1400"/>
          </a:p>
        </p:txBody>
      </p:sp>
      <p:cxnSp>
        <p:nvCxnSpPr>
          <p:cNvPr id="41" name="connector 41"/>
          <p:cNvCxnSpPr/>
          <p:nvPr/>
        </p:nvCxnSpPr>
        <p:spPr>
          <a:xfrm>
            <a:off x="508000" y="4423229"/>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4643120" y="3984171"/>
            <a:ext cx="3464560" cy="439057"/>
          </a:xfrm>
          <a:prstGeom prst="rect">
            <a:avLst/>
          </a:prstGeom>
          <a:solidFill>
            <a:srgbClr val="EFEEE9"/>
          </a:solidFill>
          <a:ln>
            <a:noFill/>
          </a:ln>
        </p:spPr>
      </p:sp>
      <p:sp>
        <p:nvSpPr>
          <p:cNvPr id="43" name="text 43"/>
          <p:cNvSpPr/>
          <p:nvPr/>
        </p:nvSpPr>
        <p:spPr>
          <a:xfrm>
            <a:off x="4770120" y="4034971"/>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Absorbed into D04 KB rules</a:t>
            </a:r>
            <a:endParaRPr lang="en-US" sz="1400"/>
          </a:p>
        </p:txBody>
      </p:sp>
      <p:cxnSp>
        <p:nvCxnSpPr>
          <p:cNvPr id="44" name="connector 44"/>
          <p:cNvCxnSpPr/>
          <p:nvPr/>
        </p:nvCxnSpPr>
        <p:spPr>
          <a:xfrm>
            <a:off x="4643120" y="4423229"/>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8107680" y="3984171"/>
            <a:ext cx="3576320" cy="439057"/>
          </a:xfrm>
          <a:prstGeom prst="rect">
            <a:avLst/>
          </a:prstGeom>
          <a:solidFill>
            <a:srgbClr val="EFEEE9"/>
          </a:solidFill>
          <a:ln>
            <a:noFill/>
          </a:ln>
        </p:spPr>
      </p:sp>
      <p:sp>
        <p:nvSpPr>
          <p:cNvPr id="46" name="text 46"/>
          <p:cNvSpPr/>
          <p:nvPr/>
        </p:nvSpPr>
        <p:spPr>
          <a:xfrm>
            <a:off x="8234680" y="4034971"/>
            <a:ext cx="332232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Implemented successor paused</a:t>
            </a:r>
            <a:endParaRPr lang="en-US" sz="1400"/>
          </a:p>
        </p:txBody>
      </p:sp>
      <p:cxnSp>
        <p:nvCxnSpPr>
          <p:cNvPr id="47" name="connector 47"/>
          <p:cNvCxnSpPr/>
          <p:nvPr/>
        </p:nvCxnSpPr>
        <p:spPr>
          <a:xfrm>
            <a:off x="8107680" y="4423229"/>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4423229"/>
            <a:ext cx="4135120" cy="439057"/>
          </a:xfrm>
          <a:prstGeom prst="rect">
            <a:avLst/>
          </a:prstGeom>
          <a:solidFill>
            <a:srgbClr val="FFFFFF"/>
          </a:solidFill>
          <a:ln>
            <a:noFill/>
          </a:ln>
        </p:spPr>
      </p:sp>
      <p:sp>
        <p:nvSpPr>
          <p:cNvPr id="49" name="text 49"/>
          <p:cNvSpPr/>
          <p:nvPr/>
        </p:nvSpPr>
        <p:spPr>
          <a:xfrm>
            <a:off x="635000" y="4474029"/>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Completeness / missing-rate profile</a:t>
            </a:r>
            <a:endParaRPr lang="en-US" sz="1400"/>
          </a:p>
        </p:txBody>
      </p:sp>
      <p:cxnSp>
        <p:nvCxnSpPr>
          <p:cNvPr id="50" name="connector 50"/>
          <p:cNvCxnSpPr/>
          <p:nvPr/>
        </p:nvCxnSpPr>
        <p:spPr>
          <a:xfrm>
            <a:off x="508000" y="4862286"/>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4643120" y="4423229"/>
            <a:ext cx="3464560" cy="439057"/>
          </a:xfrm>
          <a:prstGeom prst="rect">
            <a:avLst/>
          </a:prstGeom>
          <a:solidFill>
            <a:srgbClr val="FFFFFF"/>
          </a:solidFill>
          <a:ln>
            <a:noFill/>
          </a:ln>
        </p:spPr>
      </p:sp>
      <p:sp>
        <p:nvSpPr>
          <p:cNvPr id="52" name="text 52"/>
          <p:cNvSpPr/>
          <p:nvPr/>
        </p:nvSpPr>
        <p:spPr>
          <a:xfrm>
            <a:off x="4770120" y="4474029"/>
            <a:ext cx="3210560" cy="337457"/>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Profiling input; different D06 panel method</a:t>
            </a:r>
            <a:endParaRPr lang="en-US" sz="1250"/>
          </a:p>
        </p:txBody>
      </p:sp>
      <p:cxnSp>
        <p:nvCxnSpPr>
          <p:cNvPr id="53" name="connector 53"/>
          <p:cNvCxnSpPr/>
          <p:nvPr/>
        </p:nvCxnSpPr>
        <p:spPr>
          <a:xfrm>
            <a:off x="4643120" y="4862286"/>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8107680" y="4423229"/>
            <a:ext cx="3576320" cy="439057"/>
          </a:xfrm>
          <a:prstGeom prst="rect">
            <a:avLst/>
          </a:prstGeom>
          <a:solidFill>
            <a:srgbClr val="FFFFFF"/>
          </a:solidFill>
          <a:ln>
            <a:noFill/>
          </a:ln>
        </p:spPr>
      </p:sp>
      <p:sp>
        <p:nvSpPr>
          <p:cNvPr id="55" name="text 55"/>
          <p:cNvSpPr/>
          <p:nvPr/>
        </p:nvSpPr>
        <p:spPr>
          <a:xfrm>
            <a:off x="8234680" y="4474029"/>
            <a:ext cx="3322320" cy="337457"/>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Implemented profiling; legacy diagnostic retired</a:t>
            </a:r>
            <a:endParaRPr lang="en-US" sz="1150"/>
          </a:p>
        </p:txBody>
      </p:sp>
      <p:cxnSp>
        <p:nvCxnSpPr>
          <p:cNvPr id="56" name="connector 56"/>
          <p:cNvCxnSpPr/>
          <p:nvPr/>
        </p:nvCxnSpPr>
        <p:spPr>
          <a:xfrm>
            <a:off x="8107680" y="4862286"/>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4862286"/>
            <a:ext cx="4135120" cy="439057"/>
          </a:xfrm>
          <a:prstGeom prst="rect">
            <a:avLst/>
          </a:prstGeom>
          <a:solidFill>
            <a:srgbClr val="EFEEE9"/>
          </a:solidFill>
          <a:ln>
            <a:noFill/>
          </a:ln>
        </p:spPr>
      </p:sp>
      <p:sp>
        <p:nvSpPr>
          <p:cNvPr id="58" name="text 58"/>
          <p:cNvSpPr/>
          <p:nvPr/>
        </p:nvSpPr>
        <p:spPr>
          <a:xfrm>
            <a:off x="635000" y="4913086"/>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Post-outcome field inventory</a:t>
            </a:r>
            <a:endParaRPr lang="en-US" sz="1400"/>
          </a:p>
        </p:txBody>
      </p:sp>
      <p:cxnSp>
        <p:nvCxnSpPr>
          <p:cNvPr id="59" name="connector 59"/>
          <p:cNvCxnSpPr/>
          <p:nvPr/>
        </p:nvCxnSpPr>
        <p:spPr>
          <a:xfrm>
            <a:off x="508000" y="5301343"/>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shape 60"/>
          <p:cNvSpPr/>
          <p:nvPr/>
        </p:nvSpPr>
        <p:spPr>
          <a:xfrm>
            <a:off x="4643120" y="4862286"/>
            <a:ext cx="3464560" cy="439057"/>
          </a:xfrm>
          <a:prstGeom prst="rect">
            <a:avLst/>
          </a:prstGeom>
          <a:solidFill>
            <a:srgbClr val="EFEEE9"/>
          </a:solidFill>
          <a:ln>
            <a:noFill/>
          </a:ln>
        </p:spPr>
      </p:sp>
      <p:sp>
        <p:nvSpPr>
          <p:cNvPr id="61" name="text 61"/>
          <p:cNvSpPr/>
          <p:nvPr/>
        </p:nvSpPr>
        <p:spPr>
          <a:xfrm>
            <a:off x="4770120" y="4913086"/>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Deferred D01</a:t>
            </a:r>
            <a:endParaRPr lang="en-US" sz="1400"/>
          </a:p>
        </p:txBody>
      </p:sp>
      <p:cxnSp>
        <p:nvCxnSpPr>
          <p:cNvPr id="62" name="connector 62"/>
          <p:cNvCxnSpPr/>
          <p:nvPr/>
        </p:nvCxnSpPr>
        <p:spPr>
          <a:xfrm>
            <a:off x="4643120" y="5301343"/>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shape 63"/>
          <p:cNvSpPr/>
          <p:nvPr/>
        </p:nvSpPr>
        <p:spPr>
          <a:xfrm>
            <a:off x="8107680" y="4862286"/>
            <a:ext cx="3576320" cy="439057"/>
          </a:xfrm>
          <a:prstGeom prst="rect">
            <a:avLst/>
          </a:prstGeom>
          <a:solidFill>
            <a:srgbClr val="EFEEE9"/>
          </a:solidFill>
          <a:ln>
            <a:noFill/>
          </a:ln>
        </p:spPr>
      </p:sp>
      <p:sp>
        <p:nvSpPr>
          <p:cNvPr id="64" name="text 64"/>
          <p:cNvSpPr/>
          <p:nvPr/>
        </p:nvSpPr>
        <p:spPr>
          <a:xfrm>
            <a:off x="8234680" y="4913086"/>
            <a:ext cx="332232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Planned successor; retired legacy test</a:t>
            </a:r>
            <a:endParaRPr lang="en-US" sz="1400"/>
          </a:p>
        </p:txBody>
      </p:sp>
      <p:cxnSp>
        <p:nvCxnSpPr>
          <p:cNvPr id="65" name="connector 65"/>
          <p:cNvCxnSpPr/>
          <p:nvPr/>
        </p:nvCxnSpPr>
        <p:spPr>
          <a:xfrm>
            <a:off x="8107680" y="5301343"/>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shape 66"/>
          <p:cNvSpPr/>
          <p:nvPr/>
        </p:nvSpPr>
        <p:spPr>
          <a:xfrm>
            <a:off x="508000" y="5301343"/>
            <a:ext cx="4135120" cy="439057"/>
          </a:xfrm>
          <a:prstGeom prst="rect">
            <a:avLst/>
          </a:prstGeom>
          <a:solidFill>
            <a:srgbClr val="FFFFFF"/>
          </a:solidFill>
          <a:ln>
            <a:noFill/>
          </a:ln>
        </p:spPr>
      </p:sp>
      <p:sp>
        <p:nvSpPr>
          <p:cNvPr id="67" name="text 67"/>
          <p:cNvSpPr/>
          <p:nvPr/>
        </p:nvSpPr>
        <p:spPr>
          <a:xfrm>
            <a:off x="635000" y="5352143"/>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Maturity profile analysis</a:t>
            </a:r>
            <a:endParaRPr lang="en-US" sz="1400"/>
          </a:p>
        </p:txBody>
      </p:sp>
      <p:cxnSp>
        <p:nvCxnSpPr>
          <p:cNvPr id="68" name="connector 68"/>
          <p:cNvCxnSpPr/>
          <p:nvPr/>
        </p:nvCxnSpPr>
        <p:spPr>
          <a:xfrm>
            <a:off x="508000" y="574040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9" name="shape 69"/>
          <p:cNvSpPr/>
          <p:nvPr/>
        </p:nvSpPr>
        <p:spPr>
          <a:xfrm>
            <a:off x="4643120" y="5301343"/>
            <a:ext cx="3464560" cy="439057"/>
          </a:xfrm>
          <a:prstGeom prst="rect">
            <a:avLst/>
          </a:prstGeom>
          <a:solidFill>
            <a:srgbClr val="FFFFFF"/>
          </a:solidFill>
          <a:ln>
            <a:noFill/>
          </a:ln>
        </p:spPr>
      </p:sp>
      <p:sp>
        <p:nvSpPr>
          <p:cNvPr id="70" name="text 70"/>
          <p:cNvSpPr/>
          <p:nvPr/>
        </p:nvSpPr>
        <p:spPr>
          <a:xfrm>
            <a:off x="4770120" y="5352143"/>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Deferred D19</a:t>
            </a:r>
            <a:endParaRPr lang="en-US" sz="1400"/>
          </a:p>
        </p:txBody>
      </p:sp>
      <p:cxnSp>
        <p:nvCxnSpPr>
          <p:cNvPr id="71" name="connector 71"/>
          <p:cNvCxnSpPr/>
          <p:nvPr/>
        </p:nvCxnSpPr>
        <p:spPr>
          <a:xfrm>
            <a:off x="4643120" y="5740400"/>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2" name="shape 72"/>
          <p:cNvSpPr/>
          <p:nvPr/>
        </p:nvSpPr>
        <p:spPr>
          <a:xfrm>
            <a:off x="8107680" y="5301343"/>
            <a:ext cx="3576320" cy="439057"/>
          </a:xfrm>
          <a:prstGeom prst="rect">
            <a:avLst/>
          </a:prstGeom>
          <a:solidFill>
            <a:srgbClr val="FFFFFF"/>
          </a:solidFill>
          <a:ln>
            <a:noFill/>
          </a:ln>
        </p:spPr>
      </p:sp>
      <p:sp>
        <p:nvSpPr>
          <p:cNvPr id="73" name="text 73"/>
          <p:cNvSpPr/>
          <p:nvPr/>
        </p:nvSpPr>
        <p:spPr>
          <a:xfrm>
            <a:off x="8234680" y="5352143"/>
            <a:ext cx="332232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Planned successor; retired legacy test</a:t>
            </a:r>
            <a:endParaRPr lang="en-US" sz="1400"/>
          </a:p>
        </p:txBody>
      </p:sp>
      <p:cxnSp>
        <p:nvCxnSpPr>
          <p:cNvPr id="74" name="connector 74"/>
          <p:cNvCxnSpPr/>
          <p:nvPr/>
        </p:nvCxnSpPr>
        <p:spPr>
          <a:xfrm>
            <a:off x="8107680" y="5740400"/>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5" name="shape 75"/>
          <p:cNvSpPr/>
          <p:nvPr/>
        </p:nvSpPr>
        <p:spPr>
          <a:xfrm>
            <a:off x="508000" y="5740400"/>
            <a:ext cx="11176000" cy="546100"/>
          </a:xfrm>
          <a:prstGeom prst="rect">
            <a:avLst/>
          </a:prstGeom>
          <a:solidFill>
            <a:srgbClr val="282A27"/>
          </a:solidFill>
          <a:ln>
            <a:noFill/>
          </a:ln>
        </p:spPr>
      </p:sp>
      <p:sp>
        <p:nvSpPr>
          <p:cNvPr id="76" name="text 76"/>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Retired catalog entries have no current launch. Current successors are covered in dedicated sections.</a:t>
            </a:r>
            <a:endParaRPr lang="en-US" sz="1600"/>
          </a:p>
        </p:txBody>
      </p:sp>
      <p:cxnSp>
        <p:nvCxnSpPr>
          <p:cNvPr id="77" name="connector 7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78" name="text 7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9" name="text 7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25 / 87</a:t>
            </a:r>
            <a:endParaRPr 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03 / HISTORICAL CATALOG</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Account for the retired fourteen-test library</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historical README describes an older product; its registry is empty in current code.</a:t>
            </a:r>
            <a:endParaRPr lang="en-US" sz="1500"/>
          </a:p>
        </p:txBody>
      </p:sp>
      <p:sp>
        <p:nvSpPr>
          <p:cNvPr id="6" name="shape 6"/>
          <p:cNvSpPr/>
          <p:nvPr/>
        </p:nvSpPr>
        <p:spPr>
          <a:xfrm>
            <a:off x="508000" y="2209800"/>
            <a:ext cx="4135120" cy="457200"/>
          </a:xfrm>
          <a:prstGeom prst="rect">
            <a:avLst/>
          </a:prstGeom>
          <a:solidFill>
            <a:srgbClr val="282A27"/>
          </a:solidFill>
          <a:ln>
            <a:noFill/>
          </a:ln>
        </p:spPr>
      </p:sp>
      <p:sp>
        <p:nvSpPr>
          <p:cNvPr id="7" name="text 7"/>
          <p:cNvSpPr/>
          <p:nvPr/>
        </p:nvSpPr>
        <p:spPr>
          <a:xfrm>
            <a:off x="635000" y="2324100"/>
            <a:ext cx="38811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Historical diagnostic</a:t>
            </a:r>
            <a:endParaRPr lang="en-US" sz="1200"/>
          </a:p>
        </p:txBody>
      </p:sp>
      <p:sp>
        <p:nvSpPr>
          <p:cNvPr id="8" name="shape 8"/>
          <p:cNvSpPr/>
          <p:nvPr/>
        </p:nvSpPr>
        <p:spPr>
          <a:xfrm>
            <a:off x="4643120" y="2209800"/>
            <a:ext cx="3464560" cy="457200"/>
          </a:xfrm>
          <a:prstGeom prst="rect">
            <a:avLst/>
          </a:prstGeom>
          <a:solidFill>
            <a:srgbClr val="282A27"/>
          </a:solidFill>
          <a:ln>
            <a:noFill/>
          </a:ln>
        </p:spPr>
      </p:sp>
      <p:sp>
        <p:nvSpPr>
          <p:cNvPr id="9" name="text 9"/>
          <p:cNvSpPr/>
          <p:nvPr/>
        </p:nvSpPr>
        <p:spPr>
          <a:xfrm>
            <a:off x="4770120" y="2324100"/>
            <a:ext cx="32105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Current location / successor</a:t>
            </a:r>
            <a:endParaRPr lang="en-US" sz="1200"/>
          </a:p>
        </p:txBody>
      </p:sp>
      <p:sp>
        <p:nvSpPr>
          <p:cNvPr id="10" name="shape 10"/>
          <p:cNvSpPr/>
          <p:nvPr/>
        </p:nvSpPr>
        <p:spPr>
          <a:xfrm>
            <a:off x="8107680" y="2209800"/>
            <a:ext cx="3576320" cy="457200"/>
          </a:xfrm>
          <a:prstGeom prst="rect">
            <a:avLst/>
          </a:prstGeom>
          <a:solidFill>
            <a:srgbClr val="282A27"/>
          </a:solidFill>
          <a:ln>
            <a:noFill/>
          </a:ln>
        </p:spPr>
      </p:sp>
      <p:sp>
        <p:nvSpPr>
          <p:cNvPr id="11" name="text 11"/>
          <p:cNvSpPr/>
          <p:nvPr/>
        </p:nvSpPr>
        <p:spPr>
          <a:xfrm>
            <a:off x="8234680" y="2324100"/>
            <a:ext cx="33223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Current disposition</a:t>
            </a:r>
            <a:endParaRPr lang="en-US" sz="1200"/>
          </a:p>
        </p:txBody>
      </p:sp>
      <p:sp>
        <p:nvSpPr>
          <p:cNvPr id="12" name="shape 12"/>
          <p:cNvSpPr/>
          <p:nvPr/>
        </p:nvSpPr>
        <p:spPr>
          <a:xfrm>
            <a:off x="508000" y="2667000"/>
            <a:ext cx="4135120" cy="439057"/>
          </a:xfrm>
          <a:prstGeom prst="rect">
            <a:avLst/>
          </a:prstGeom>
          <a:solidFill>
            <a:srgbClr val="FFFFFF"/>
          </a:solidFill>
          <a:ln>
            <a:noFill/>
          </a:ln>
        </p:spPr>
      </p:sp>
      <p:sp>
        <p:nvSpPr>
          <p:cNvPr id="13" name="text 13"/>
          <p:cNvSpPr/>
          <p:nvPr/>
        </p:nvSpPr>
        <p:spPr>
          <a:xfrm>
            <a:off x="635000" y="2717800"/>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MCAR test (Little’s)</a:t>
            </a:r>
            <a:endParaRPr lang="en-US" sz="1400"/>
          </a:p>
        </p:txBody>
      </p:sp>
      <p:cxnSp>
        <p:nvCxnSpPr>
          <p:cNvPr id="14" name="connector 14"/>
          <p:cNvCxnSpPr/>
          <p:nvPr/>
        </p:nvCxnSpPr>
        <p:spPr>
          <a:xfrm>
            <a:off x="508000" y="3106057"/>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4643120" y="2667000"/>
            <a:ext cx="3464560" cy="439057"/>
          </a:xfrm>
          <a:prstGeom prst="rect">
            <a:avLst/>
          </a:prstGeom>
          <a:solidFill>
            <a:srgbClr val="FFFFFF"/>
          </a:solidFill>
          <a:ln>
            <a:noFill/>
          </a:ln>
        </p:spPr>
      </p:sp>
      <p:sp>
        <p:nvSpPr>
          <p:cNvPr id="16" name="text 16"/>
          <p:cNvSpPr/>
          <p:nvPr/>
        </p:nvSpPr>
        <p:spPr>
          <a:xfrm>
            <a:off x="4770120" y="2717800"/>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Formal mechanism test deferred</a:t>
            </a:r>
            <a:endParaRPr lang="en-US" sz="1400"/>
          </a:p>
        </p:txBody>
      </p:sp>
      <p:cxnSp>
        <p:nvCxnSpPr>
          <p:cNvPr id="17" name="connector 17"/>
          <p:cNvCxnSpPr/>
          <p:nvPr/>
        </p:nvCxnSpPr>
        <p:spPr>
          <a:xfrm>
            <a:off x="4643120" y="3106057"/>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8107680" y="2667000"/>
            <a:ext cx="3576320" cy="439057"/>
          </a:xfrm>
          <a:prstGeom prst="rect">
            <a:avLst/>
          </a:prstGeom>
          <a:solidFill>
            <a:srgbClr val="FFFFFF"/>
          </a:solidFill>
          <a:ln>
            <a:noFill/>
          </a:ln>
        </p:spPr>
      </p:sp>
      <p:sp>
        <p:nvSpPr>
          <p:cNvPr id="19" name="text 19"/>
          <p:cNvSpPr/>
          <p:nvPr/>
        </p:nvSpPr>
        <p:spPr>
          <a:xfrm>
            <a:off x="8234680" y="2717800"/>
            <a:ext cx="3322320" cy="337457"/>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181C23"/>
                </a:solidFill>
                <a:latin typeface="Funnel Sans"/>
              </a:rPr>
              <a:t>Planned; supporting missingness is distinct</a:t>
            </a:r>
            <a:endParaRPr lang="en-US" sz="1250"/>
          </a:p>
        </p:txBody>
      </p:sp>
      <p:cxnSp>
        <p:nvCxnSpPr>
          <p:cNvPr id="20" name="connector 20"/>
          <p:cNvCxnSpPr/>
          <p:nvPr/>
        </p:nvCxnSpPr>
        <p:spPr>
          <a:xfrm>
            <a:off x="8107680" y="3106057"/>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106057"/>
            <a:ext cx="4135120" cy="439057"/>
          </a:xfrm>
          <a:prstGeom prst="rect">
            <a:avLst/>
          </a:prstGeom>
          <a:solidFill>
            <a:srgbClr val="EFEEE9"/>
          </a:solidFill>
          <a:ln>
            <a:noFill/>
          </a:ln>
        </p:spPr>
      </p:sp>
      <p:sp>
        <p:nvSpPr>
          <p:cNvPr id="22" name="text 22"/>
          <p:cNvSpPr/>
          <p:nvPr/>
        </p:nvSpPr>
        <p:spPr>
          <a:xfrm>
            <a:off x="635000" y="3156857"/>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Missingness-vs-target (MNAR)</a:t>
            </a:r>
            <a:endParaRPr lang="en-US" sz="1400"/>
          </a:p>
        </p:txBody>
      </p:sp>
      <p:cxnSp>
        <p:nvCxnSpPr>
          <p:cNvPr id="23" name="connector 23"/>
          <p:cNvCxnSpPr/>
          <p:nvPr/>
        </p:nvCxnSpPr>
        <p:spPr>
          <a:xfrm>
            <a:off x="508000" y="3545114"/>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4643120" y="3106057"/>
            <a:ext cx="3464560" cy="439057"/>
          </a:xfrm>
          <a:prstGeom prst="rect">
            <a:avLst/>
          </a:prstGeom>
          <a:solidFill>
            <a:srgbClr val="EFEEE9"/>
          </a:solidFill>
          <a:ln>
            <a:noFill/>
          </a:ln>
        </p:spPr>
      </p:sp>
      <p:sp>
        <p:nvSpPr>
          <p:cNvPr id="25" name="text 25"/>
          <p:cNvSpPr/>
          <p:nvPr/>
        </p:nvSpPr>
        <p:spPr>
          <a:xfrm>
            <a:off x="4770120" y="3156857"/>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Formal mechanism inference deferred</a:t>
            </a:r>
            <a:endParaRPr lang="en-US" sz="1400"/>
          </a:p>
        </p:txBody>
      </p:sp>
      <p:cxnSp>
        <p:nvCxnSpPr>
          <p:cNvPr id="26" name="connector 26"/>
          <p:cNvCxnSpPr/>
          <p:nvPr/>
        </p:nvCxnSpPr>
        <p:spPr>
          <a:xfrm>
            <a:off x="4643120" y="3545114"/>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8107680" y="3106057"/>
            <a:ext cx="3576320" cy="439057"/>
          </a:xfrm>
          <a:prstGeom prst="rect">
            <a:avLst/>
          </a:prstGeom>
          <a:solidFill>
            <a:srgbClr val="EFEEE9"/>
          </a:solidFill>
          <a:ln>
            <a:noFill/>
          </a:ln>
        </p:spPr>
      </p:sp>
      <p:sp>
        <p:nvSpPr>
          <p:cNvPr id="28" name="text 28"/>
          <p:cNvSpPr/>
          <p:nvPr/>
        </p:nvSpPr>
        <p:spPr>
          <a:xfrm>
            <a:off x="8234680" y="3156857"/>
            <a:ext cx="3322320" cy="337457"/>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Planned; association is not proof of MNAR</a:t>
            </a:r>
            <a:endParaRPr lang="en-US" sz="1300"/>
          </a:p>
        </p:txBody>
      </p:sp>
      <p:cxnSp>
        <p:nvCxnSpPr>
          <p:cNvPr id="29" name="connector 29"/>
          <p:cNvCxnSpPr/>
          <p:nvPr/>
        </p:nvCxnSpPr>
        <p:spPr>
          <a:xfrm>
            <a:off x="8107680" y="3545114"/>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545114"/>
            <a:ext cx="4135120" cy="439057"/>
          </a:xfrm>
          <a:prstGeom prst="rect">
            <a:avLst/>
          </a:prstGeom>
          <a:solidFill>
            <a:srgbClr val="FFFFFF"/>
          </a:solidFill>
          <a:ln>
            <a:noFill/>
          </a:ln>
        </p:spPr>
      </p:sp>
      <p:sp>
        <p:nvSpPr>
          <p:cNvPr id="31" name="text 31"/>
          <p:cNvSpPr/>
          <p:nvPr/>
        </p:nvSpPr>
        <p:spPr>
          <a:xfrm>
            <a:off x="635000" y="3595914"/>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Robust z-score outlier (MAD)</a:t>
            </a:r>
            <a:endParaRPr lang="en-US" sz="1400"/>
          </a:p>
        </p:txBody>
      </p:sp>
      <p:cxnSp>
        <p:nvCxnSpPr>
          <p:cNvPr id="32" name="connector 32"/>
          <p:cNvCxnSpPr/>
          <p:nvPr/>
        </p:nvCxnSpPr>
        <p:spPr>
          <a:xfrm>
            <a:off x="508000" y="3984171"/>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4643120" y="3545114"/>
            <a:ext cx="3464560" cy="439057"/>
          </a:xfrm>
          <a:prstGeom prst="rect">
            <a:avLst/>
          </a:prstGeom>
          <a:solidFill>
            <a:srgbClr val="FFFFFF"/>
          </a:solidFill>
          <a:ln>
            <a:noFill/>
          </a:ln>
        </p:spPr>
      </p:sp>
      <p:sp>
        <p:nvSpPr>
          <p:cNvPr id="34" name="text 34"/>
          <p:cNvSpPr/>
          <p:nvPr/>
        </p:nvSpPr>
        <p:spPr>
          <a:xfrm>
            <a:off x="4770120" y="3595914"/>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Deferred D09</a:t>
            </a:r>
            <a:endParaRPr lang="en-US" sz="1400"/>
          </a:p>
        </p:txBody>
      </p:sp>
      <p:cxnSp>
        <p:nvCxnSpPr>
          <p:cNvPr id="35" name="connector 35"/>
          <p:cNvCxnSpPr/>
          <p:nvPr/>
        </p:nvCxnSpPr>
        <p:spPr>
          <a:xfrm>
            <a:off x="4643120" y="3984171"/>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8107680" y="3545114"/>
            <a:ext cx="3576320" cy="439057"/>
          </a:xfrm>
          <a:prstGeom prst="rect">
            <a:avLst/>
          </a:prstGeom>
          <a:solidFill>
            <a:srgbClr val="FFFFFF"/>
          </a:solidFill>
          <a:ln>
            <a:noFill/>
          </a:ln>
        </p:spPr>
      </p:sp>
      <p:sp>
        <p:nvSpPr>
          <p:cNvPr id="37" name="text 37"/>
          <p:cNvSpPr/>
          <p:nvPr/>
        </p:nvSpPr>
        <p:spPr>
          <a:xfrm>
            <a:off x="8234680" y="3595914"/>
            <a:ext cx="332232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Planned successor; retired legacy test</a:t>
            </a:r>
            <a:endParaRPr lang="en-US" sz="1400"/>
          </a:p>
        </p:txBody>
      </p:sp>
      <p:cxnSp>
        <p:nvCxnSpPr>
          <p:cNvPr id="38" name="connector 38"/>
          <p:cNvCxnSpPr/>
          <p:nvPr/>
        </p:nvCxnSpPr>
        <p:spPr>
          <a:xfrm>
            <a:off x="8107680" y="3984171"/>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3984171"/>
            <a:ext cx="4135120" cy="439057"/>
          </a:xfrm>
          <a:prstGeom prst="rect">
            <a:avLst/>
          </a:prstGeom>
          <a:solidFill>
            <a:srgbClr val="EFEEE9"/>
          </a:solidFill>
          <a:ln>
            <a:noFill/>
          </a:ln>
        </p:spPr>
      </p:sp>
      <p:sp>
        <p:nvSpPr>
          <p:cNvPr id="40" name="text 40"/>
          <p:cNvSpPr/>
          <p:nvPr/>
        </p:nvSpPr>
        <p:spPr>
          <a:xfrm>
            <a:off x="635000" y="4034971"/>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Key uniqueness check</a:t>
            </a:r>
            <a:endParaRPr lang="en-US" sz="1400"/>
          </a:p>
        </p:txBody>
      </p:sp>
      <p:cxnSp>
        <p:nvCxnSpPr>
          <p:cNvPr id="41" name="connector 41"/>
          <p:cNvCxnSpPr/>
          <p:nvPr/>
        </p:nvCxnSpPr>
        <p:spPr>
          <a:xfrm>
            <a:off x="508000" y="4423229"/>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4643120" y="3984171"/>
            <a:ext cx="3464560" cy="439057"/>
          </a:xfrm>
          <a:prstGeom prst="rect">
            <a:avLst/>
          </a:prstGeom>
          <a:solidFill>
            <a:srgbClr val="EFEEE9"/>
          </a:solidFill>
          <a:ln>
            <a:noFill/>
          </a:ln>
        </p:spPr>
      </p:sp>
      <p:sp>
        <p:nvSpPr>
          <p:cNvPr id="43" name="text 43"/>
          <p:cNvSpPr/>
          <p:nvPr/>
        </p:nvSpPr>
        <p:spPr>
          <a:xfrm>
            <a:off x="4770120" y="4034971"/>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Profiling precondition</a:t>
            </a:r>
            <a:endParaRPr lang="en-US" sz="1400"/>
          </a:p>
        </p:txBody>
      </p:sp>
      <p:cxnSp>
        <p:nvCxnSpPr>
          <p:cNvPr id="44" name="connector 44"/>
          <p:cNvCxnSpPr/>
          <p:nvPr/>
        </p:nvCxnSpPr>
        <p:spPr>
          <a:xfrm>
            <a:off x="4643120" y="4423229"/>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8107680" y="3984171"/>
            <a:ext cx="3576320" cy="439057"/>
          </a:xfrm>
          <a:prstGeom prst="rect">
            <a:avLst/>
          </a:prstGeom>
          <a:solidFill>
            <a:srgbClr val="EFEEE9"/>
          </a:solidFill>
          <a:ln>
            <a:noFill/>
          </a:ln>
        </p:spPr>
      </p:sp>
      <p:sp>
        <p:nvSpPr>
          <p:cNvPr id="46" name="text 46"/>
          <p:cNvSpPr/>
          <p:nvPr/>
        </p:nvSpPr>
        <p:spPr>
          <a:xfrm>
            <a:off x="8234680" y="4034971"/>
            <a:ext cx="3322320" cy="337457"/>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Implemented precondition; no standalone</a:t>
            </a:r>
            <a:endParaRPr lang="en-US" sz="1150"/>
          </a:p>
          <a:p>
            <a:pPr algn="l">
              <a:lnSpc>
                <a:spcPts val="1311"/>
              </a:lnSpc>
              <a:spcAft>
                <a:spcPts val="0"/>
              </a:spcAft>
            </a:pPr>
            <a:r>
              <a:rPr lang="en-US" sz="1150" b="0" dirty="0">
                <a:solidFill>
                  <a:srgbClr val="181C23"/>
                </a:solidFill>
                <a:latin typeface="Funnel Sans"/>
              </a:rPr>
              <a:t>diagnostic</a:t>
            </a:r>
            <a:endParaRPr lang="en-US" sz="1150"/>
          </a:p>
        </p:txBody>
      </p:sp>
      <p:cxnSp>
        <p:nvCxnSpPr>
          <p:cNvPr id="47" name="connector 47"/>
          <p:cNvCxnSpPr/>
          <p:nvPr/>
        </p:nvCxnSpPr>
        <p:spPr>
          <a:xfrm>
            <a:off x="8107680" y="4423229"/>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4423229"/>
            <a:ext cx="4135120" cy="439057"/>
          </a:xfrm>
          <a:prstGeom prst="rect">
            <a:avLst/>
          </a:prstGeom>
          <a:solidFill>
            <a:srgbClr val="FFFFFF"/>
          </a:solidFill>
          <a:ln>
            <a:noFill/>
          </a:ln>
        </p:spPr>
      </p:sp>
      <p:sp>
        <p:nvSpPr>
          <p:cNvPr id="49" name="text 49"/>
          <p:cNvSpPr/>
          <p:nvPr/>
        </p:nvSpPr>
        <p:spPr>
          <a:xfrm>
            <a:off x="635000" y="4474029"/>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Tail analysis</a:t>
            </a:r>
            <a:endParaRPr lang="en-US" sz="1400"/>
          </a:p>
        </p:txBody>
      </p:sp>
      <p:cxnSp>
        <p:nvCxnSpPr>
          <p:cNvPr id="50" name="connector 50"/>
          <p:cNvCxnSpPr/>
          <p:nvPr/>
        </p:nvCxnSpPr>
        <p:spPr>
          <a:xfrm>
            <a:off x="508000" y="4862286"/>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4643120" y="4423229"/>
            <a:ext cx="3464560" cy="439057"/>
          </a:xfrm>
          <a:prstGeom prst="rect">
            <a:avLst/>
          </a:prstGeom>
          <a:solidFill>
            <a:srgbClr val="FFFFFF"/>
          </a:solidFill>
          <a:ln>
            <a:noFill/>
          </a:ln>
        </p:spPr>
      </p:sp>
      <p:sp>
        <p:nvSpPr>
          <p:cNvPr id="52" name="text 52"/>
          <p:cNvSpPr/>
          <p:nvPr/>
        </p:nvSpPr>
        <p:spPr>
          <a:xfrm>
            <a:off x="4770120" y="4474029"/>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Legacy test deleted</a:t>
            </a:r>
            <a:endParaRPr lang="en-US" sz="1400"/>
          </a:p>
        </p:txBody>
      </p:sp>
      <p:cxnSp>
        <p:nvCxnSpPr>
          <p:cNvPr id="53" name="connector 53"/>
          <p:cNvCxnSpPr/>
          <p:nvPr/>
        </p:nvCxnSpPr>
        <p:spPr>
          <a:xfrm>
            <a:off x="4643120" y="4862286"/>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8107680" y="4423229"/>
            <a:ext cx="3576320" cy="439057"/>
          </a:xfrm>
          <a:prstGeom prst="rect">
            <a:avLst/>
          </a:prstGeom>
          <a:solidFill>
            <a:srgbClr val="FFFFFF"/>
          </a:solidFill>
          <a:ln>
            <a:noFill/>
          </a:ln>
        </p:spPr>
      </p:sp>
      <p:sp>
        <p:nvSpPr>
          <p:cNvPr id="55" name="text 55"/>
          <p:cNvSpPr/>
          <p:nvPr/>
        </p:nvSpPr>
        <p:spPr>
          <a:xfrm>
            <a:off x="8234680" y="4474029"/>
            <a:ext cx="3322320" cy="337457"/>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Referenced history; no current executor</a:t>
            </a:r>
            <a:endParaRPr lang="en-US" sz="1350"/>
          </a:p>
        </p:txBody>
      </p:sp>
      <p:cxnSp>
        <p:nvCxnSpPr>
          <p:cNvPr id="56" name="connector 56"/>
          <p:cNvCxnSpPr/>
          <p:nvPr/>
        </p:nvCxnSpPr>
        <p:spPr>
          <a:xfrm>
            <a:off x="8107680" y="4862286"/>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4862286"/>
            <a:ext cx="4135120" cy="439057"/>
          </a:xfrm>
          <a:prstGeom prst="rect">
            <a:avLst/>
          </a:prstGeom>
          <a:solidFill>
            <a:srgbClr val="EFEEE9"/>
          </a:solidFill>
          <a:ln>
            <a:noFill/>
          </a:ln>
        </p:spPr>
      </p:sp>
      <p:sp>
        <p:nvSpPr>
          <p:cNvPr id="58" name="text 58"/>
          <p:cNvSpPr/>
          <p:nvPr/>
        </p:nvSpPr>
        <p:spPr>
          <a:xfrm>
            <a:off x="635000" y="4913086"/>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Correlation stability analysis</a:t>
            </a:r>
            <a:endParaRPr lang="en-US" sz="1400"/>
          </a:p>
        </p:txBody>
      </p:sp>
      <p:cxnSp>
        <p:nvCxnSpPr>
          <p:cNvPr id="59" name="connector 59"/>
          <p:cNvCxnSpPr/>
          <p:nvPr/>
        </p:nvCxnSpPr>
        <p:spPr>
          <a:xfrm>
            <a:off x="508000" y="5301343"/>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shape 60"/>
          <p:cNvSpPr/>
          <p:nvPr/>
        </p:nvSpPr>
        <p:spPr>
          <a:xfrm>
            <a:off x="4643120" y="4862286"/>
            <a:ext cx="3464560" cy="439057"/>
          </a:xfrm>
          <a:prstGeom prst="rect">
            <a:avLst/>
          </a:prstGeom>
          <a:solidFill>
            <a:srgbClr val="EFEEE9"/>
          </a:solidFill>
          <a:ln>
            <a:noFill/>
          </a:ln>
        </p:spPr>
      </p:sp>
      <p:sp>
        <p:nvSpPr>
          <p:cNvPr id="61" name="text 61"/>
          <p:cNvSpPr/>
          <p:nvPr/>
        </p:nvSpPr>
        <p:spPr>
          <a:xfrm>
            <a:off x="4770120" y="4913086"/>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Legacy test deleted</a:t>
            </a:r>
            <a:endParaRPr lang="en-US" sz="1400"/>
          </a:p>
        </p:txBody>
      </p:sp>
      <p:cxnSp>
        <p:nvCxnSpPr>
          <p:cNvPr id="62" name="connector 62"/>
          <p:cNvCxnSpPr/>
          <p:nvPr/>
        </p:nvCxnSpPr>
        <p:spPr>
          <a:xfrm>
            <a:off x="4643120" y="5301343"/>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shape 63"/>
          <p:cNvSpPr/>
          <p:nvPr/>
        </p:nvSpPr>
        <p:spPr>
          <a:xfrm>
            <a:off x="8107680" y="4862286"/>
            <a:ext cx="3576320" cy="439057"/>
          </a:xfrm>
          <a:prstGeom prst="rect">
            <a:avLst/>
          </a:prstGeom>
          <a:solidFill>
            <a:srgbClr val="EFEEE9"/>
          </a:solidFill>
          <a:ln>
            <a:noFill/>
          </a:ln>
        </p:spPr>
      </p:sp>
      <p:sp>
        <p:nvSpPr>
          <p:cNvPr id="64" name="text 64"/>
          <p:cNvSpPr/>
          <p:nvPr/>
        </p:nvSpPr>
        <p:spPr>
          <a:xfrm>
            <a:off x="8234680" y="4913086"/>
            <a:ext cx="3322320" cy="337457"/>
          </a:xfrm>
          <a:prstGeom prst="rect">
            <a:avLst/>
          </a:prstGeom>
          <a:noFill/>
          <a:ln>
            <a:noFill/>
          </a:ln>
        </p:spPr>
        <p:txBody>
          <a:bodyPr wrap="none" lIns="0" tIns="0" rIns="0" bIns="0" anchor="t">
            <a:noAutofit/>
          </a:bodyPr>
          <a:lstStyle/>
          <a:p>
            <a:pPr algn="l">
              <a:lnSpc>
                <a:spcPts val="1368"/>
              </a:lnSpc>
              <a:spcAft>
                <a:spcPts val="0"/>
              </a:spcAft>
            </a:pPr>
            <a:r>
              <a:rPr lang="en-US" sz="1200" b="0" dirty="0">
                <a:solidFill>
                  <a:srgbClr val="181C23"/>
                </a:solidFill>
                <a:latin typeface="Funnel Sans"/>
              </a:rPr>
              <a:t>Referenced history; D11 is a different method</a:t>
            </a:r>
            <a:endParaRPr lang="en-US" sz="1200"/>
          </a:p>
        </p:txBody>
      </p:sp>
      <p:cxnSp>
        <p:nvCxnSpPr>
          <p:cNvPr id="65" name="connector 65"/>
          <p:cNvCxnSpPr/>
          <p:nvPr/>
        </p:nvCxnSpPr>
        <p:spPr>
          <a:xfrm>
            <a:off x="8107680" y="5301343"/>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shape 66"/>
          <p:cNvSpPr/>
          <p:nvPr/>
        </p:nvSpPr>
        <p:spPr>
          <a:xfrm>
            <a:off x="508000" y="5301343"/>
            <a:ext cx="4135120" cy="439057"/>
          </a:xfrm>
          <a:prstGeom prst="rect">
            <a:avLst/>
          </a:prstGeom>
          <a:solidFill>
            <a:srgbClr val="FFFFFF"/>
          </a:solidFill>
          <a:ln>
            <a:noFill/>
          </a:ln>
        </p:spPr>
      </p:sp>
      <p:sp>
        <p:nvSpPr>
          <p:cNvPr id="67" name="text 67"/>
          <p:cNvSpPr/>
          <p:nvPr/>
        </p:nvSpPr>
        <p:spPr>
          <a:xfrm>
            <a:off x="635000" y="5352143"/>
            <a:ext cx="3881120" cy="33745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Drift decomposition</a:t>
            </a:r>
            <a:endParaRPr lang="en-US" sz="1400"/>
          </a:p>
        </p:txBody>
      </p:sp>
      <p:cxnSp>
        <p:nvCxnSpPr>
          <p:cNvPr id="68" name="connector 68"/>
          <p:cNvCxnSpPr/>
          <p:nvPr/>
        </p:nvCxnSpPr>
        <p:spPr>
          <a:xfrm>
            <a:off x="508000" y="574040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9" name="shape 69"/>
          <p:cNvSpPr/>
          <p:nvPr/>
        </p:nvSpPr>
        <p:spPr>
          <a:xfrm>
            <a:off x="4643120" y="5301343"/>
            <a:ext cx="3464560" cy="439057"/>
          </a:xfrm>
          <a:prstGeom prst="rect">
            <a:avLst/>
          </a:prstGeom>
          <a:solidFill>
            <a:srgbClr val="FFFFFF"/>
          </a:solidFill>
          <a:ln>
            <a:noFill/>
          </a:ln>
        </p:spPr>
      </p:sp>
      <p:sp>
        <p:nvSpPr>
          <p:cNvPr id="70" name="text 70"/>
          <p:cNvSpPr/>
          <p:nvPr/>
        </p:nvSpPr>
        <p:spPr>
          <a:xfrm>
            <a:off x="4770120" y="5352143"/>
            <a:ext cx="3210560" cy="33745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Legacy test deleted</a:t>
            </a:r>
            <a:endParaRPr lang="en-US" sz="1400"/>
          </a:p>
        </p:txBody>
      </p:sp>
      <p:cxnSp>
        <p:nvCxnSpPr>
          <p:cNvPr id="71" name="connector 71"/>
          <p:cNvCxnSpPr/>
          <p:nvPr/>
        </p:nvCxnSpPr>
        <p:spPr>
          <a:xfrm>
            <a:off x="4643120" y="5740400"/>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2" name="shape 72"/>
          <p:cNvSpPr/>
          <p:nvPr/>
        </p:nvSpPr>
        <p:spPr>
          <a:xfrm>
            <a:off x="8107680" y="5301343"/>
            <a:ext cx="3576320" cy="439057"/>
          </a:xfrm>
          <a:prstGeom prst="rect">
            <a:avLst/>
          </a:prstGeom>
          <a:solidFill>
            <a:srgbClr val="FFFFFF"/>
          </a:solidFill>
          <a:ln>
            <a:noFill/>
          </a:ln>
        </p:spPr>
      </p:sp>
      <p:sp>
        <p:nvSpPr>
          <p:cNvPr id="73" name="text 73"/>
          <p:cNvSpPr/>
          <p:nvPr/>
        </p:nvSpPr>
        <p:spPr>
          <a:xfrm>
            <a:off x="8234680" y="5352143"/>
            <a:ext cx="3322320" cy="337457"/>
          </a:xfrm>
          <a:prstGeom prst="rect">
            <a:avLst/>
          </a:prstGeom>
          <a:noFill/>
          <a:ln>
            <a:noFill/>
          </a:ln>
        </p:spPr>
        <p:txBody>
          <a:bodyPr wrap="none" lIns="0" tIns="0" rIns="0" bIns="0" anchor="t">
            <a:noAutofit/>
          </a:bodyPr>
          <a:lstStyle/>
          <a:p>
            <a:pPr algn="l">
              <a:lnSpc>
                <a:spcPts val="1311"/>
              </a:lnSpc>
              <a:spcAft>
                <a:spcPts val="0"/>
              </a:spcAft>
            </a:pPr>
            <a:r>
              <a:rPr lang="en-US" sz="1150" b="0" dirty="0">
                <a:solidFill>
                  <a:srgbClr val="181C23"/>
                </a:solidFill>
                <a:latin typeface="Funnel Sans"/>
              </a:rPr>
              <a:t>Referenced history; full Plan B workflow absent</a:t>
            </a:r>
            <a:endParaRPr lang="en-US" sz="1150"/>
          </a:p>
        </p:txBody>
      </p:sp>
      <p:cxnSp>
        <p:nvCxnSpPr>
          <p:cNvPr id="74" name="connector 74"/>
          <p:cNvCxnSpPr/>
          <p:nvPr/>
        </p:nvCxnSpPr>
        <p:spPr>
          <a:xfrm>
            <a:off x="8107680" y="5740400"/>
            <a:ext cx="35763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5" name="shape 75"/>
          <p:cNvSpPr/>
          <p:nvPr/>
        </p:nvSpPr>
        <p:spPr>
          <a:xfrm>
            <a:off x="508000" y="5740400"/>
            <a:ext cx="11176000" cy="546100"/>
          </a:xfrm>
          <a:prstGeom prst="rect">
            <a:avLst/>
          </a:prstGeom>
          <a:solidFill>
            <a:srgbClr val="282A27"/>
          </a:solidFill>
          <a:ln>
            <a:noFill/>
          </a:ln>
        </p:spPr>
      </p:sp>
      <p:sp>
        <p:nvSpPr>
          <p:cNvPr id="76" name="text 76"/>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Retired catalog entries have no current launch. Current successors are covered in dedicated sections.</a:t>
            </a:r>
            <a:endParaRPr lang="en-US" sz="1600"/>
          </a:p>
        </p:txBody>
      </p:sp>
      <p:cxnSp>
        <p:nvCxnSpPr>
          <p:cNvPr id="77" name="connector 7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78" name="text 7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9" name="text 7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26 / 87</a:t>
            </a:r>
            <a:endParaRPr lang="en-US"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T1-D02 • A / PURPOSE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Spot features whose target separation deserves review</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Single-feature target separation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3589867" cy="3073400"/>
          </a:xfrm>
          <a:prstGeom prst="rect">
            <a:avLst/>
          </a:prstGeom>
          <a:solidFill>
            <a:srgbClr val="FFFFFF"/>
          </a:solidFill>
          <a:ln w="12700">
            <a:solidFill>
              <a:srgbClr val="DEDCD6"/>
            </a:solidFill>
          </a:ln>
        </p:spPr>
      </p:sp>
      <p:sp>
        <p:nvSpPr>
          <p:cNvPr id="9" name="shape 9"/>
          <p:cNvSpPr/>
          <p:nvPr/>
        </p:nvSpPr>
        <p:spPr>
          <a:xfrm>
            <a:off x="508000" y="2247900"/>
            <a:ext cx="38100" cy="3073400"/>
          </a:xfrm>
          <a:prstGeom prst="rect">
            <a:avLst/>
          </a:prstGeom>
          <a:solidFill>
            <a:srgbClr val="FF4F59"/>
          </a:solidFill>
          <a:ln>
            <a:noFill/>
          </a:ln>
        </p:spPr>
      </p:sp>
      <p:sp>
        <p:nvSpPr>
          <p:cNvPr id="10" name="shape 10"/>
          <p:cNvSpPr/>
          <p:nvPr/>
        </p:nvSpPr>
        <p:spPr>
          <a:xfrm>
            <a:off x="711200" y="2438400"/>
            <a:ext cx="342900" cy="342900"/>
          </a:xfrm>
          <a:prstGeom prst="hexagon">
            <a:avLst/>
          </a:prstGeom>
          <a:noFill/>
          <a:ln w="21590">
            <a:solidFill>
              <a:srgbClr val="FF4F59"/>
            </a:solidFill>
          </a:ln>
        </p:spPr>
      </p:sp>
      <p:sp>
        <p:nvSpPr>
          <p:cNvPr id="11" name="text 11"/>
          <p:cNvSpPr/>
          <p:nvPr/>
        </p:nvSpPr>
        <p:spPr>
          <a:xfrm>
            <a:off x="825500"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12" name="text 12"/>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Problem</a:t>
            </a:r>
            <a:endParaRPr lang="en-US" sz="1900"/>
          </a:p>
        </p:txBody>
      </p:sp>
      <p:sp>
        <p:nvSpPr>
          <p:cNvPr id="13" name="text 13"/>
          <p:cNvSpPr/>
          <p:nvPr/>
        </p:nvSpPr>
        <p:spPr>
          <a:xfrm>
            <a:off x="723900"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feature can look implausibly</a:t>
            </a:r>
            <a:endParaRPr lang="en-US" sz="1700"/>
          </a:p>
          <a:p>
            <a:pPr algn="l">
              <a:lnSpc>
                <a:spcPts val="1938"/>
              </a:lnSpc>
              <a:spcAft>
                <a:spcPts val="0"/>
              </a:spcAft>
            </a:pPr>
            <a:r>
              <a:rPr lang="en-US" sz="1700" b="0" dirty="0">
                <a:solidFill>
                  <a:srgbClr val="181C23"/>
                </a:solidFill>
                <a:latin typeface="Funnel Sans"/>
              </a:rPr>
              <a:t>predictive, or separate the</a:t>
            </a:r>
            <a:endParaRPr lang="en-US" sz="1700"/>
          </a:p>
          <a:p>
            <a:pPr algn="l">
              <a:lnSpc>
                <a:spcPts val="1938"/>
              </a:lnSpc>
              <a:spcAft>
                <a:spcPts val="0"/>
              </a:spcAft>
            </a:pPr>
            <a:r>
              <a:rPr lang="en-US" sz="1700" b="0" dirty="0">
                <a:solidFill>
                  <a:srgbClr val="181C23"/>
                </a:solidFill>
                <a:latin typeface="Funnel Sans"/>
              </a:rPr>
              <a:t>target poorly on its own.</a:t>
            </a:r>
            <a:endParaRPr lang="en-US" sz="1700"/>
          </a:p>
        </p:txBody>
      </p:sp>
      <p:sp>
        <p:nvSpPr>
          <p:cNvPr id="14" name="shape 14"/>
          <p:cNvSpPr/>
          <p:nvPr/>
        </p:nvSpPr>
        <p:spPr>
          <a:xfrm>
            <a:off x="4301067" y="2247900"/>
            <a:ext cx="3589867" cy="3073400"/>
          </a:xfrm>
          <a:prstGeom prst="rect">
            <a:avLst/>
          </a:prstGeom>
          <a:solidFill>
            <a:srgbClr val="FFFFFF"/>
          </a:solidFill>
          <a:ln w="12700">
            <a:solidFill>
              <a:srgbClr val="DEDCD6"/>
            </a:solidFill>
          </a:ln>
        </p:spPr>
      </p:sp>
      <p:sp>
        <p:nvSpPr>
          <p:cNvPr id="15" name="shape 15"/>
          <p:cNvSpPr/>
          <p:nvPr/>
        </p:nvSpPr>
        <p:spPr>
          <a:xfrm>
            <a:off x="4301067" y="2247900"/>
            <a:ext cx="38100" cy="3073400"/>
          </a:xfrm>
          <a:prstGeom prst="rect">
            <a:avLst/>
          </a:prstGeom>
          <a:solidFill>
            <a:srgbClr val="FF4F59"/>
          </a:solidFill>
          <a:ln>
            <a:noFill/>
          </a:ln>
        </p:spPr>
      </p:sp>
      <p:sp>
        <p:nvSpPr>
          <p:cNvPr id="16" name="shape 16"/>
          <p:cNvSpPr/>
          <p:nvPr/>
        </p:nvSpPr>
        <p:spPr>
          <a:xfrm>
            <a:off x="4605867" y="2438400"/>
            <a:ext cx="139700" cy="139700"/>
          </a:xfrm>
          <a:prstGeom prst="ellipse">
            <a:avLst/>
          </a:prstGeom>
          <a:noFill/>
          <a:ln w="20320">
            <a:solidFill>
              <a:srgbClr val="FF4F59"/>
            </a:solidFill>
          </a:ln>
        </p:spPr>
      </p:sp>
      <p:sp>
        <p:nvSpPr>
          <p:cNvPr id="17" name="shape 17"/>
          <p:cNvSpPr/>
          <p:nvPr/>
        </p:nvSpPr>
        <p:spPr>
          <a:xfrm>
            <a:off x="4529667" y="2616200"/>
            <a:ext cx="292100" cy="190500"/>
          </a:xfrm>
          <a:prstGeom prst="arc">
            <a:avLst/>
          </a:prstGeom>
          <a:noFill/>
          <a:ln w="20320">
            <a:solidFill>
              <a:srgbClr val="FF4F59"/>
            </a:solid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Primary users</a:t>
            </a:r>
            <a:endParaRPr lang="en-US" sz="1900"/>
          </a:p>
        </p:txBody>
      </p:sp>
      <p:sp>
        <p:nvSpPr>
          <p:cNvPr id="19" name="text 19"/>
          <p:cNvSpPr/>
          <p:nvPr/>
        </p:nvSpPr>
        <p:spPr>
          <a:xfrm>
            <a:off x="4516967"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Analytics and</a:t>
            </a:r>
            <a:endParaRPr lang="en-US" sz="1700"/>
          </a:p>
          <a:p>
            <a:pPr algn="l">
              <a:lnSpc>
                <a:spcPts val="1938"/>
              </a:lnSpc>
              <a:spcAft>
                <a:spcPts val="0"/>
              </a:spcAft>
            </a:pPr>
            <a:r>
              <a:rPr lang="en-US" sz="1700" b="0" dirty="0">
                <a:solidFill>
                  <a:srgbClr val="181C23"/>
                </a:solidFill>
                <a:latin typeface="Funnel Sans"/>
              </a:rPr>
              <a:t>model-development teams,</a:t>
            </a:r>
            <a:endParaRPr lang="en-US" sz="1700"/>
          </a:p>
          <a:p>
            <a:pPr algn="l">
              <a:lnSpc>
                <a:spcPts val="1938"/>
              </a:lnSpc>
              <a:spcAft>
                <a:spcPts val="0"/>
              </a:spcAft>
            </a:pPr>
            <a:r>
              <a:rPr lang="en-US" sz="1700" b="0" dirty="0">
                <a:solidFill>
                  <a:srgbClr val="181C23"/>
                </a:solidFill>
                <a:latin typeface="Funnel Sans"/>
              </a:rPr>
              <a:t>supported by an SME reviewer.</a:t>
            </a:r>
            <a:endParaRPr lang="en-US" sz="1700"/>
          </a:p>
        </p:txBody>
      </p:sp>
      <p:sp>
        <p:nvSpPr>
          <p:cNvPr id="20" name="shape 20"/>
          <p:cNvSpPr/>
          <p:nvPr/>
        </p:nvSpPr>
        <p:spPr>
          <a:xfrm>
            <a:off x="8094133" y="2247900"/>
            <a:ext cx="3589867" cy="3073400"/>
          </a:xfrm>
          <a:prstGeom prst="rect">
            <a:avLst/>
          </a:prstGeom>
          <a:solidFill>
            <a:srgbClr val="FFFFFF"/>
          </a:solidFill>
          <a:ln w="12700">
            <a:solidFill>
              <a:srgbClr val="DEDCD6"/>
            </a:solidFill>
          </a:ln>
        </p:spPr>
      </p:sp>
      <p:sp>
        <p:nvSpPr>
          <p:cNvPr id="21" name="shape 21"/>
          <p:cNvSpPr/>
          <p:nvPr/>
        </p:nvSpPr>
        <p:spPr>
          <a:xfrm>
            <a:off x="8094133" y="2247900"/>
            <a:ext cx="38100" cy="3073400"/>
          </a:xfrm>
          <a:prstGeom prst="rect">
            <a:avLst/>
          </a:prstGeom>
          <a:solidFill>
            <a:srgbClr val="FF4F59"/>
          </a:solidFill>
          <a:ln>
            <a:noFill/>
          </a:ln>
        </p:spPr>
      </p:sp>
      <p:sp>
        <p:nvSpPr>
          <p:cNvPr id="22" name="shape 22"/>
          <p:cNvSpPr/>
          <p:nvPr/>
        </p:nvSpPr>
        <p:spPr>
          <a:xfrm>
            <a:off x="8297333" y="2438400"/>
            <a:ext cx="304800" cy="342900"/>
          </a:xfrm>
          <a:prstGeom prst="can">
            <a:avLst/>
          </a:prstGeom>
          <a:noFill/>
          <a:ln w="20320">
            <a:solidFill>
              <a:srgbClr val="FF4F59"/>
            </a:solidFill>
          </a:ln>
        </p:spPr>
      </p:sp>
      <p:sp>
        <p:nvSpPr>
          <p:cNvPr id="23" name="text 23"/>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When to use it</a:t>
            </a:r>
            <a:endParaRPr lang="en-US" sz="1900"/>
          </a:p>
        </p:txBody>
      </p:sp>
      <p:sp>
        <p:nvSpPr>
          <p:cNvPr id="24" name="text 24"/>
          <p:cNvSpPr/>
          <p:nvPr/>
        </p:nvSpPr>
        <p:spPr>
          <a:xfrm>
            <a:off x="8310033"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ready model dataset with a</a:t>
            </a:r>
            <a:endParaRPr lang="en-US" sz="1700"/>
          </a:p>
          <a:p>
            <a:pPr algn="l">
              <a:lnSpc>
                <a:spcPts val="1938"/>
              </a:lnSpc>
              <a:spcAft>
                <a:spcPts val="0"/>
              </a:spcAft>
            </a:pPr>
            <a:r>
              <a:rPr lang="en-US" sz="1700" b="0" dirty="0">
                <a:solidFill>
                  <a:srgbClr val="181C23"/>
                </a:solidFill>
                <a:latin typeface="Funnel Sans"/>
              </a:rPr>
              <a:t>confirmed target and eligible</a:t>
            </a:r>
            <a:endParaRPr lang="en-US" sz="1700"/>
          </a:p>
          <a:p>
            <a:pPr algn="l">
              <a:lnSpc>
                <a:spcPts val="1938"/>
              </a:lnSpc>
              <a:spcAft>
                <a:spcPts val="0"/>
              </a:spcAft>
            </a:pPr>
            <a:r>
              <a:rPr lang="en-US" sz="1700" b="0" dirty="0">
                <a:solidFill>
                  <a:srgbClr val="181C23"/>
                </a:solidFill>
                <a:latin typeface="Funnel Sans"/>
              </a:rPr>
              <a:t>independent variables.</a:t>
            </a:r>
            <a:endParaRPr lang="en-US" sz="1700"/>
          </a:p>
        </p:txBody>
      </p:sp>
      <p:sp>
        <p:nvSpPr>
          <p:cNvPr id="25" name="shape 25"/>
          <p:cNvSpPr/>
          <p:nvPr/>
        </p:nvSpPr>
        <p:spPr>
          <a:xfrm>
            <a:off x="508000" y="5626100"/>
            <a:ext cx="11176000" cy="546100"/>
          </a:xfrm>
          <a:prstGeom prst="rect">
            <a:avLst/>
          </a:prstGeom>
          <a:solidFill>
            <a:srgbClr val="282A27"/>
          </a:solidFill>
          <a:ln>
            <a:noFill/>
          </a:ln>
        </p:spPr>
      </p:sp>
      <p:sp>
        <p:nvSpPr>
          <p:cNvPr id="26" name="text 26"/>
          <p:cNvSpPr/>
          <p:nvPr/>
        </p:nvSpPr>
        <p:spPr>
          <a:xfrm>
            <a:off x="698500" y="57658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Feature-level separation categories and candidate findings with retained statistical and binning evidence.</a:t>
            </a:r>
            <a:endParaRPr lang="en-US" sz="1600"/>
          </a:p>
        </p:txBody>
      </p:sp>
      <p:cxnSp>
        <p:nvCxnSpPr>
          <p:cNvPr id="27" name="connector 2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9" name="text 2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27 / 87</a:t>
            </a:r>
            <a:endParaRPr lang="en-US" sz="1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T1-D02 • B / APPROACH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Follow the governed processing path</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Single-feature target separation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text 8"/>
          <p:cNvSpPr/>
          <p:nvPr/>
        </p:nvSpPr>
        <p:spPr>
          <a:xfrm>
            <a:off x="520700" y="2108200"/>
            <a:ext cx="990600" cy="2794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4F59"/>
                </a:solidFill>
                <a:latin typeface="Funnel Sans"/>
              </a:rPr>
              <a:t>INPUTS</a:t>
            </a:r>
            <a:endParaRPr lang="en-US" sz="1100"/>
          </a:p>
        </p:txBody>
      </p:sp>
      <p:sp>
        <p:nvSpPr>
          <p:cNvPr id="9" name="text 9"/>
          <p:cNvSpPr/>
          <p:nvPr/>
        </p:nvSpPr>
        <p:spPr>
          <a:xfrm>
            <a:off x="1574800" y="2082800"/>
            <a:ext cx="10096500" cy="6096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One ready table; governed target type/event class; selected features; binning constraints and thresholds.</a:t>
            </a:r>
            <a:endParaRPr lang="en-US" sz="1600"/>
          </a:p>
        </p:txBody>
      </p:sp>
      <p:sp>
        <p:nvSpPr>
          <p:cNvPr id="10" name="shape 10"/>
          <p:cNvSpPr/>
          <p:nvPr/>
        </p:nvSpPr>
        <p:spPr>
          <a:xfrm>
            <a:off x="508000" y="2832100"/>
            <a:ext cx="2052320" cy="2374900"/>
          </a:xfrm>
          <a:prstGeom prst="rect">
            <a:avLst/>
          </a:prstGeom>
          <a:solidFill>
            <a:srgbClr val="FFF2DF"/>
          </a:solidFill>
          <a:ln w="12700">
            <a:solidFill>
              <a:srgbClr val="DEDCD6"/>
            </a:solidFill>
          </a:ln>
        </p:spPr>
      </p:sp>
      <p:sp>
        <p:nvSpPr>
          <p:cNvPr id="11" name="text 11"/>
          <p:cNvSpPr/>
          <p:nvPr/>
        </p:nvSpPr>
        <p:spPr>
          <a:xfrm>
            <a:off x="67310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2" name="text 12"/>
          <p:cNvSpPr/>
          <p:nvPr/>
        </p:nvSpPr>
        <p:spPr>
          <a:xfrm>
            <a:off x="67310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Resolve target</a:t>
            </a:r>
            <a:endParaRPr lang="en-US" sz="1800"/>
          </a:p>
        </p:txBody>
      </p:sp>
      <p:sp>
        <p:nvSpPr>
          <p:cNvPr id="13" name="text 13"/>
          <p:cNvSpPr/>
          <p:nvPr/>
        </p:nvSpPr>
        <p:spPr>
          <a:xfrm>
            <a:off x="67310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Confirm target</a:t>
            </a:r>
            <a:endParaRPr lang="en-US" sz="1450"/>
          </a:p>
          <a:p>
            <a:pPr algn="l">
              <a:lnSpc>
                <a:spcPts val="1653"/>
              </a:lnSpc>
              <a:spcAft>
                <a:spcPts val="0"/>
              </a:spcAft>
            </a:pPr>
            <a:r>
              <a:rPr lang="en-US" sz="1450" b="0" dirty="0">
                <a:solidFill>
                  <a:srgbClr val="181C23"/>
                </a:solidFill>
                <a:latin typeface="Funnel Sans"/>
              </a:rPr>
              <a:t>route and feature</a:t>
            </a:r>
            <a:endParaRPr lang="en-US" sz="1450"/>
          </a:p>
          <a:p>
            <a:pPr algn="l">
              <a:lnSpc>
                <a:spcPts val="1653"/>
              </a:lnSpc>
              <a:spcAft>
                <a:spcPts val="0"/>
              </a:spcAft>
            </a:pPr>
            <a:r>
              <a:rPr lang="en-US" sz="1450" b="0" dirty="0">
                <a:solidFill>
                  <a:srgbClr val="181C23"/>
                </a:solidFill>
                <a:latin typeface="Funnel Sans"/>
              </a:rPr>
              <a:t>eligibility</a:t>
            </a:r>
            <a:endParaRPr lang="en-US" sz="1450"/>
          </a:p>
        </p:txBody>
      </p:sp>
      <p:cxnSp>
        <p:nvCxnSpPr>
          <p:cNvPr id="14" name="connector 14"/>
          <p:cNvCxnSpPr/>
          <p:nvPr/>
        </p:nvCxnSpPr>
        <p:spPr>
          <a:xfrm>
            <a:off x="258572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88920" y="2832100"/>
            <a:ext cx="2052320" cy="2374900"/>
          </a:xfrm>
          <a:prstGeom prst="rect">
            <a:avLst/>
          </a:prstGeom>
          <a:solidFill>
            <a:srgbClr val="FFF2DF"/>
          </a:solidFill>
          <a:ln w="12700">
            <a:solidFill>
              <a:srgbClr val="DEDCD6"/>
            </a:solidFill>
          </a:ln>
        </p:spPr>
      </p:sp>
      <p:sp>
        <p:nvSpPr>
          <p:cNvPr id="16" name="text 16"/>
          <p:cNvSpPr/>
          <p:nvPr/>
        </p:nvSpPr>
        <p:spPr>
          <a:xfrm>
            <a:off x="295402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7" name="text 17"/>
          <p:cNvSpPr/>
          <p:nvPr/>
        </p:nvSpPr>
        <p:spPr>
          <a:xfrm>
            <a:off x="295402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Calculate ROC</a:t>
            </a:r>
            <a:endParaRPr lang="en-US" sz="1800"/>
          </a:p>
        </p:txBody>
      </p:sp>
      <p:sp>
        <p:nvSpPr>
          <p:cNvPr id="18" name="text 18"/>
          <p:cNvSpPr/>
          <p:nvPr/>
        </p:nvSpPr>
        <p:spPr>
          <a:xfrm>
            <a:off x="295402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Receiver operating</a:t>
            </a:r>
            <a:endParaRPr lang="en-US" sz="1450"/>
          </a:p>
          <a:p>
            <a:pPr algn="l">
              <a:lnSpc>
                <a:spcPts val="1653"/>
              </a:lnSpc>
              <a:spcAft>
                <a:spcPts val="0"/>
              </a:spcAft>
            </a:pPr>
            <a:r>
              <a:rPr lang="en-US" sz="1450" b="0" dirty="0">
                <a:solidFill>
                  <a:srgbClr val="181C23"/>
                </a:solidFill>
                <a:latin typeface="Funnel Sans"/>
              </a:rPr>
              <a:t>characteristic</a:t>
            </a:r>
            <a:endParaRPr lang="en-US" sz="1450"/>
          </a:p>
          <a:p>
            <a:pPr algn="l">
              <a:lnSpc>
                <a:spcPts val="1653"/>
              </a:lnSpc>
              <a:spcAft>
                <a:spcPts val="0"/>
              </a:spcAft>
            </a:pPr>
            <a:r>
              <a:rPr lang="en-US" sz="1450" b="0" dirty="0">
                <a:solidFill>
                  <a:srgbClr val="181C23"/>
                </a:solidFill>
                <a:latin typeface="Funnel Sans"/>
              </a:rPr>
              <a:t>evidence</a:t>
            </a:r>
            <a:endParaRPr lang="en-US" sz="1450"/>
          </a:p>
        </p:txBody>
      </p:sp>
      <p:cxnSp>
        <p:nvCxnSpPr>
          <p:cNvPr id="19" name="connector 19"/>
          <p:cNvCxnSpPr/>
          <p:nvPr/>
        </p:nvCxnSpPr>
        <p:spPr>
          <a:xfrm>
            <a:off x="486664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5069840" y="2832100"/>
            <a:ext cx="2052320" cy="2374900"/>
          </a:xfrm>
          <a:prstGeom prst="rect">
            <a:avLst/>
          </a:prstGeom>
          <a:solidFill>
            <a:srgbClr val="FFF2DF"/>
          </a:solidFill>
          <a:ln w="12700">
            <a:solidFill>
              <a:srgbClr val="DEDCD6"/>
            </a:solidFill>
          </a:ln>
        </p:spPr>
      </p:sp>
      <p:sp>
        <p:nvSpPr>
          <p:cNvPr id="21" name="text 21"/>
          <p:cNvSpPr/>
          <p:nvPr/>
        </p:nvSpPr>
        <p:spPr>
          <a:xfrm>
            <a:off x="523494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2" name="text 22"/>
          <p:cNvSpPr/>
          <p:nvPr/>
        </p:nvSpPr>
        <p:spPr>
          <a:xfrm>
            <a:off x="523494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Build bins</a:t>
            </a:r>
            <a:endParaRPr lang="en-US" sz="1800"/>
          </a:p>
        </p:txBody>
      </p:sp>
      <p:sp>
        <p:nvSpPr>
          <p:cNvPr id="23" name="text 23"/>
          <p:cNvSpPr/>
          <p:nvPr/>
        </p:nvSpPr>
        <p:spPr>
          <a:xfrm>
            <a:off x="523494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Generate fine /</a:t>
            </a:r>
            <a:endParaRPr lang="en-US" sz="1450"/>
          </a:p>
          <a:p>
            <a:pPr algn="l">
              <a:lnSpc>
                <a:spcPts val="1653"/>
              </a:lnSpc>
              <a:spcAft>
                <a:spcPts val="0"/>
              </a:spcAft>
            </a:pPr>
            <a:r>
              <a:rPr lang="en-US" sz="1450" b="0" dirty="0">
                <a:solidFill>
                  <a:srgbClr val="181C23"/>
                </a:solidFill>
                <a:latin typeface="Funnel Sans"/>
              </a:rPr>
              <a:t>coarse bins and IV</a:t>
            </a:r>
            <a:endParaRPr lang="en-US" sz="1450"/>
          </a:p>
        </p:txBody>
      </p:sp>
      <p:cxnSp>
        <p:nvCxnSpPr>
          <p:cNvPr id="24" name="connector 24"/>
          <p:cNvCxnSpPr/>
          <p:nvPr/>
        </p:nvCxnSpPr>
        <p:spPr>
          <a:xfrm>
            <a:off x="714756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7350760" y="2832100"/>
            <a:ext cx="2052320" cy="2374900"/>
          </a:xfrm>
          <a:prstGeom prst="rect">
            <a:avLst/>
          </a:prstGeom>
          <a:solidFill>
            <a:srgbClr val="FFF2DF"/>
          </a:solidFill>
          <a:ln w="12700">
            <a:solidFill>
              <a:srgbClr val="DEDCD6"/>
            </a:solidFill>
          </a:ln>
        </p:spPr>
      </p:sp>
      <p:sp>
        <p:nvSpPr>
          <p:cNvPr id="26" name="text 26"/>
          <p:cNvSpPr/>
          <p:nvPr/>
        </p:nvSpPr>
        <p:spPr>
          <a:xfrm>
            <a:off x="751586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7" name="text 27"/>
          <p:cNvSpPr/>
          <p:nvPr/>
        </p:nvSpPr>
        <p:spPr>
          <a:xfrm>
            <a:off x="751586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Classify</a:t>
            </a:r>
            <a:endParaRPr lang="en-US" sz="1800"/>
          </a:p>
        </p:txBody>
      </p:sp>
      <p:sp>
        <p:nvSpPr>
          <p:cNvPr id="28" name="text 28"/>
          <p:cNvSpPr/>
          <p:nvPr/>
        </p:nvSpPr>
        <p:spPr>
          <a:xfrm>
            <a:off x="751586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Apply category</a:t>
            </a:r>
            <a:endParaRPr lang="en-US" sz="1450"/>
          </a:p>
          <a:p>
            <a:pPr algn="l">
              <a:lnSpc>
                <a:spcPts val="1653"/>
              </a:lnSpc>
              <a:spcAft>
                <a:spcPts val="0"/>
              </a:spcAft>
            </a:pPr>
            <a:r>
              <a:rPr lang="en-US" sz="1450" b="0" dirty="0">
                <a:solidFill>
                  <a:srgbClr val="181C23"/>
                </a:solidFill>
                <a:latin typeface="Funnel Sans"/>
              </a:rPr>
              <a:t>precedence and</a:t>
            </a:r>
            <a:endParaRPr lang="en-US" sz="1450"/>
          </a:p>
          <a:p>
            <a:pPr algn="l">
              <a:lnSpc>
                <a:spcPts val="1653"/>
              </a:lnSpc>
              <a:spcAft>
                <a:spcPts val="0"/>
              </a:spcAft>
            </a:pPr>
            <a:r>
              <a:rPr lang="en-US" sz="1450" b="0" dirty="0">
                <a:solidFill>
                  <a:srgbClr val="181C23"/>
                </a:solidFill>
                <a:latin typeface="Funnel Sans"/>
              </a:rPr>
              <a:t>candidate rules</a:t>
            </a:r>
            <a:endParaRPr lang="en-US" sz="1450"/>
          </a:p>
        </p:txBody>
      </p:sp>
      <p:cxnSp>
        <p:nvCxnSpPr>
          <p:cNvPr id="29" name="connector 29"/>
          <p:cNvCxnSpPr/>
          <p:nvPr/>
        </p:nvCxnSpPr>
        <p:spPr>
          <a:xfrm>
            <a:off x="942848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9631680" y="2832100"/>
            <a:ext cx="2052320" cy="2374900"/>
          </a:xfrm>
          <a:prstGeom prst="rect">
            <a:avLst/>
          </a:prstGeom>
          <a:solidFill>
            <a:srgbClr val="FFF2DF"/>
          </a:solidFill>
          <a:ln w="12700">
            <a:solidFill>
              <a:srgbClr val="DEDCD6"/>
            </a:solidFill>
          </a:ln>
        </p:spPr>
      </p:sp>
      <p:sp>
        <p:nvSpPr>
          <p:cNvPr id="31" name="text 31"/>
          <p:cNvSpPr/>
          <p:nvPr/>
        </p:nvSpPr>
        <p:spPr>
          <a:xfrm>
            <a:off x="979678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2" name="text 32"/>
          <p:cNvSpPr/>
          <p:nvPr/>
        </p:nvSpPr>
        <p:spPr>
          <a:xfrm>
            <a:off x="979678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Retain</a:t>
            </a:r>
            <a:endParaRPr lang="en-US" sz="1800"/>
          </a:p>
          <a:p>
            <a:pPr algn="l">
              <a:lnSpc>
                <a:spcPts val="2052"/>
              </a:lnSpc>
              <a:spcAft>
                <a:spcPts val="0"/>
              </a:spcAft>
            </a:pPr>
            <a:r>
              <a:rPr lang="en-US" sz="1800" b="1" dirty="0">
                <a:solidFill>
                  <a:srgbClr val="181C23"/>
                </a:solidFill>
                <a:latin typeface="Funnel Sans"/>
              </a:rPr>
              <a:t>evidence</a:t>
            </a:r>
            <a:endParaRPr lang="en-US" sz="1800"/>
          </a:p>
        </p:txBody>
      </p:sp>
      <p:sp>
        <p:nvSpPr>
          <p:cNvPr id="33" name="text 33"/>
          <p:cNvSpPr/>
          <p:nvPr/>
        </p:nvSpPr>
        <p:spPr>
          <a:xfrm>
            <a:off x="979678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Persist feature</a:t>
            </a:r>
            <a:endParaRPr lang="en-US" sz="1450"/>
          </a:p>
          <a:p>
            <a:pPr algn="l">
              <a:lnSpc>
                <a:spcPts val="1653"/>
              </a:lnSpc>
              <a:spcAft>
                <a:spcPts val="0"/>
              </a:spcAft>
            </a:pPr>
            <a:r>
              <a:rPr lang="en-US" sz="1450" b="0" dirty="0">
                <a:solidFill>
                  <a:srgbClr val="181C23"/>
                </a:solidFill>
                <a:latin typeface="Funnel Sans"/>
              </a:rPr>
              <a:t>artifacts and report</a:t>
            </a:r>
            <a:endParaRPr lang="en-US" sz="1450"/>
          </a:p>
        </p:txBody>
      </p:sp>
      <p:sp>
        <p:nvSpPr>
          <p:cNvPr id="34" name="shape 34"/>
          <p:cNvSpPr/>
          <p:nvPr/>
        </p:nvSpPr>
        <p:spPr>
          <a:xfrm>
            <a:off x="508000" y="5562600"/>
            <a:ext cx="11176000" cy="546100"/>
          </a:xfrm>
          <a:prstGeom prst="rect">
            <a:avLst/>
          </a:prstGeom>
          <a:solidFill>
            <a:srgbClr val="282A27"/>
          </a:solidFill>
          <a:ln>
            <a:noFill/>
          </a:ln>
        </p:spPr>
      </p:sp>
      <p:sp>
        <p:nvSpPr>
          <p:cNvPr id="35" name="text 35"/>
          <p:cNvSpPr/>
          <p:nvPr/>
        </p:nvSpPr>
        <p:spPr>
          <a:xfrm>
            <a:off x="698500" y="57023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Uses shared binning and AAR. Confirmed target is required; no AI adjudication component.</a:t>
            </a:r>
            <a:endParaRPr lang="en-US" sz="1600"/>
          </a:p>
        </p:txBody>
      </p:sp>
      <p:cxnSp>
        <p:nvCxnSpPr>
          <p:cNvPr id="36" name="connector 3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text 3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8" name="text 3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28 / 87</a:t>
            </a:r>
            <a:endParaRPr lang="en-US" sz="1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T1-D02 • C / EVIDENCE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Read the metrics alongside scope and limitations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Single-feature target separation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22500"/>
            <a:ext cx="3589867" cy="3238500"/>
          </a:xfrm>
          <a:prstGeom prst="rect">
            <a:avLst/>
          </a:prstGeom>
          <a:solidFill>
            <a:srgbClr val="FFFFFF"/>
          </a:solidFill>
          <a:ln w="12700">
            <a:solidFill>
              <a:srgbClr val="DEDCD6"/>
            </a:solidFill>
          </a:ln>
        </p:spPr>
      </p:sp>
      <p:sp>
        <p:nvSpPr>
          <p:cNvPr id="9" name="shape 9"/>
          <p:cNvSpPr/>
          <p:nvPr/>
        </p:nvSpPr>
        <p:spPr>
          <a:xfrm>
            <a:off x="508000" y="2222500"/>
            <a:ext cx="38100" cy="3238500"/>
          </a:xfrm>
          <a:prstGeom prst="rect">
            <a:avLst/>
          </a:prstGeom>
          <a:solidFill>
            <a:srgbClr val="FF4F59"/>
          </a:solidFill>
          <a:ln>
            <a:noFill/>
          </a:ln>
        </p:spPr>
      </p:sp>
      <p:sp>
        <p:nvSpPr>
          <p:cNvPr id="10" name="shape 10"/>
          <p:cNvSpPr/>
          <p:nvPr/>
        </p:nvSpPr>
        <p:spPr>
          <a:xfrm>
            <a:off x="711200" y="2628900"/>
            <a:ext cx="63500" cy="127000"/>
          </a:xfrm>
          <a:prstGeom prst="rect">
            <a:avLst/>
          </a:prstGeom>
          <a:solidFill>
            <a:srgbClr val="FF4F59"/>
          </a:solidFill>
          <a:ln>
            <a:noFill/>
          </a:ln>
        </p:spPr>
      </p:sp>
      <p:sp>
        <p:nvSpPr>
          <p:cNvPr id="11" name="shape 11"/>
          <p:cNvSpPr/>
          <p:nvPr/>
        </p:nvSpPr>
        <p:spPr>
          <a:xfrm>
            <a:off x="825500" y="2501900"/>
            <a:ext cx="63500" cy="254000"/>
          </a:xfrm>
          <a:prstGeom prst="rect">
            <a:avLst/>
          </a:prstGeom>
          <a:solidFill>
            <a:srgbClr val="FF4F59"/>
          </a:solidFill>
          <a:ln>
            <a:noFill/>
          </a:ln>
        </p:spPr>
      </p:sp>
      <p:sp>
        <p:nvSpPr>
          <p:cNvPr id="12" name="shape 12"/>
          <p:cNvSpPr/>
          <p:nvPr/>
        </p:nvSpPr>
        <p:spPr>
          <a:xfrm>
            <a:off x="939800" y="2413000"/>
            <a:ext cx="63500" cy="342900"/>
          </a:xfrm>
          <a:prstGeom prst="rect">
            <a:avLst/>
          </a:prstGeom>
          <a:solidFill>
            <a:srgbClr val="FF4F59"/>
          </a:solidFill>
          <a:ln>
            <a:noFill/>
          </a:ln>
        </p:spPr>
      </p:sp>
      <p:sp>
        <p:nvSpPr>
          <p:cNvPr id="13" name="text 13"/>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ROC / AUC / Gini</a:t>
            </a:r>
            <a:endParaRPr lang="en-US" sz="1900"/>
          </a:p>
        </p:txBody>
      </p:sp>
      <p:sp>
        <p:nvSpPr>
          <p:cNvPr id="14" name="text 14"/>
          <p:cNvSpPr/>
          <p:nvPr/>
        </p:nvSpPr>
        <p:spPr>
          <a:xfrm>
            <a:off x="723900"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Receiver operating</a:t>
            </a:r>
            <a:endParaRPr lang="en-US" sz="1700"/>
          </a:p>
          <a:p>
            <a:pPr algn="l">
              <a:lnSpc>
                <a:spcPts val="1938"/>
              </a:lnSpc>
              <a:spcAft>
                <a:spcPts val="0"/>
              </a:spcAft>
            </a:pPr>
            <a:r>
              <a:rPr lang="en-US" sz="1700" b="0" dirty="0">
                <a:solidFill>
                  <a:srgbClr val="181C23"/>
                </a:solidFill>
                <a:latin typeface="Funnel Sans"/>
              </a:rPr>
              <a:t>characteristic (ROC), area</a:t>
            </a:r>
            <a:endParaRPr lang="en-US" sz="1700"/>
          </a:p>
          <a:p>
            <a:pPr algn="l">
              <a:lnSpc>
                <a:spcPts val="1938"/>
              </a:lnSpc>
              <a:spcAft>
                <a:spcPts val="0"/>
              </a:spcAft>
            </a:pPr>
            <a:r>
              <a:rPr lang="en-US" sz="1700" b="0" dirty="0">
                <a:solidFill>
                  <a:srgbClr val="181C23"/>
                </a:solidFill>
                <a:latin typeface="Funnel Sans"/>
              </a:rPr>
              <a:t>under the curve (AUC) and Gini</a:t>
            </a:r>
            <a:endParaRPr lang="en-US" sz="1700"/>
          </a:p>
          <a:p>
            <a:pPr algn="l">
              <a:lnSpc>
                <a:spcPts val="1938"/>
              </a:lnSpc>
              <a:spcAft>
                <a:spcPts val="0"/>
              </a:spcAft>
            </a:pPr>
            <a:r>
              <a:rPr lang="en-US" sz="1700" b="0" dirty="0">
                <a:solidFill>
                  <a:srgbClr val="181C23"/>
                </a:solidFill>
                <a:latin typeface="Funnel Sans"/>
              </a:rPr>
              <a:t>quantify univariate separation.</a:t>
            </a:r>
            <a:endParaRPr lang="en-US" sz="1700"/>
          </a:p>
        </p:txBody>
      </p:sp>
      <p:sp>
        <p:nvSpPr>
          <p:cNvPr id="15" name="shape 15"/>
          <p:cNvSpPr/>
          <p:nvPr/>
        </p:nvSpPr>
        <p:spPr>
          <a:xfrm>
            <a:off x="4301067" y="2222500"/>
            <a:ext cx="3589867" cy="3238500"/>
          </a:xfrm>
          <a:prstGeom prst="rect">
            <a:avLst/>
          </a:prstGeom>
          <a:solidFill>
            <a:srgbClr val="FFFFFF"/>
          </a:solidFill>
          <a:ln w="12700">
            <a:solidFill>
              <a:srgbClr val="DEDCD6"/>
            </a:solidFill>
          </a:ln>
        </p:spPr>
      </p:sp>
      <p:sp>
        <p:nvSpPr>
          <p:cNvPr id="16" name="shape 16"/>
          <p:cNvSpPr/>
          <p:nvPr/>
        </p:nvSpPr>
        <p:spPr>
          <a:xfrm>
            <a:off x="4301067" y="2222500"/>
            <a:ext cx="38100" cy="3238500"/>
          </a:xfrm>
          <a:prstGeom prst="rect">
            <a:avLst/>
          </a:prstGeom>
          <a:solidFill>
            <a:srgbClr val="FF4F59"/>
          </a:solidFill>
          <a:ln>
            <a:noFill/>
          </a:ln>
        </p:spPr>
      </p:sp>
      <p:sp>
        <p:nvSpPr>
          <p:cNvPr id="17" name="shape 17"/>
          <p:cNvSpPr/>
          <p:nvPr/>
        </p:nvSpPr>
        <p:spPr>
          <a:xfrm>
            <a:off x="4529667" y="2413000"/>
            <a:ext cx="292100" cy="342900"/>
          </a:xfrm>
          <a:prstGeom prst="rect">
            <a:avLst/>
          </a:prstGeom>
          <a:noFill/>
          <a:ln w="12700">
            <a:solidFill>
              <a:srgbClr val="FF4F59"/>
            </a:solidFill>
          </a:ln>
        </p:spPr>
      </p:sp>
      <p:cxnSp>
        <p:nvCxnSpPr>
          <p:cNvPr id="18" name="connector 18"/>
          <p:cNvCxnSpPr/>
          <p:nvPr/>
        </p:nvCxnSpPr>
        <p:spPr>
          <a:xfrm>
            <a:off x="4593167"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9" name="connector 19"/>
          <p:cNvCxnSpPr/>
          <p:nvPr/>
        </p:nvCxnSpPr>
        <p:spPr>
          <a:xfrm>
            <a:off x="4593167"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0" name="connector 20"/>
          <p:cNvCxnSpPr/>
          <p:nvPr/>
        </p:nvCxnSpPr>
        <p:spPr>
          <a:xfrm>
            <a:off x="4593167"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1" name="text 21"/>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WOE / IV and bins</a:t>
            </a:r>
            <a:endParaRPr lang="en-US" sz="1900"/>
          </a:p>
        </p:txBody>
      </p:sp>
      <p:sp>
        <p:nvSpPr>
          <p:cNvPr id="22" name="text 22"/>
          <p:cNvSpPr/>
          <p:nvPr/>
        </p:nvSpPr>
        <p:spPr>
          <a:xfrm>
            <a:off x="4516967"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Weight of evidence (WOE),</a:t>
            </a:r>
            <a:endParaRPr lang="en-US" sz="1700"/>
          </a:p>
          <a:p>
            <a:pPr algn="l">
              <a:lnSpc>
                <a:spcPts val="1938"/>
              </a:lnSpc>
              <a:spcAft>
                <a:spcPts val="0"/>
              </a:spcAft>
            </a:pPr>
            <a:r>
              <a:rPr lang="en-US" sz="1700" b="0" dirty="0">
                <a:solidFill>
                  <a:srgbClr val="181C23"/>
                </a:solidFill>
                <a:latin typeface="Funnel Sans"/>
              </a:rPr>
              <a:t>Information Value (IV),</a:t>
            </a:r>
            <a:endParaRPr lang="en-US" sz="1700"/>
          </a:p>
          <a:p>
            <a:pPr algn="l">
              <a:lnSpc>
                <a:spcPts val="1938"/>
              </a:lnSpc>
              <a:spcAft>
                <a:spcPts val="0"/>
              </a:spcAft>
            </a:pPr>
            <a:r>
              <a:rPr lang="en-US" sz="1700" b="0" dirty="0">
                <a:solidFill>
                  <a:srgbClr val="181C23"/>
                </a:solidFill>
                <a:latin typeface="Funnel Sans"/>
              </a:rPr>
              <a:t>fine/coarse definitions, counts</a:t>
            </a:r>
            <a:endParaRPr lang="en-US" sz="1700"/>
          </a:p>
          <a:p>
            <a:pPr algn="l">
              <a:lnSpc>
                <a:spcPts val="1938"/>
              </a:lnSpc>
              <a:spcAft>
                <a:spcPts val="0"/>
              </a:spcAft>
            </a:pPr>
            <a:r>
              <a:rPr lang="en-US" sz="1700" b="0" dirty="0">
                <a:solidFill>
                  <a:srgbClr val="181C23"/>
                </a:solidFill>
                <a:latin typeface="Funnel Sans"/>
              </a:rPr>
              <a:t>and optimizer warnings.</a:t>
            </a:r>
            <a:endParaRPr lang="en-US" sz="1700"/>
          </a:p>
        </p:txBody>
      </p:sp>
      <p:sp>
        <p:nvSpPr>
          <p:cNvPr id="23" name="shape 23"/>
          <p:cNvSpPr/>
          <p:nvPr/>
        </p:nvSpPr>
        <p:spPr>
          <a:xfrm>
            <a:off x="8094133" y="2222500"/>
            <a:ext cx="3589867" cy="3238500"/>
          </a:xfrm>
          <a:prstGeom prst="rect">
            <a:avLst/>
          </a:prstGeom>
          <a:solidFill>
            <a:srgbClr val="FFFFFF"/>
          </a:solidFill>
          <a:ln w="12700">
            <a:solidFill>
              <a:srgbClr val="DEDCD6"/>
            </a:solidFill>
          </a:ln>
        </p:spPr>
      </p:sp>
      <p:sp>
        <p:nvSpPr>
          <p:cNvPr id="24" name="shape 24"/>
          <p:cNvSpPr/>
          <p:nvPr/>
        </p:nvSpPr>
        <p:spPr>
          <a:xfrm>
            <a:off x="8094133" y="2222500"/>
            <a:ext cx="38100" cy="3238500"/>
          </a:xfrm>
          <a:prstGeom prst="rect">
            <a:avLst/>
          </a:prstGeom>
          <a:solidFill>
            <a:srgbClr val="FF4F59"/>
          </a:solidFill>
          <a:ln>
            <a:noFill/>
          </a:ln>
        </p:spPr>
      </p:sp>
      <p:sp>
        <p:nvSpPr>
          <p:cNvPr id="25" name="shape 25"/>
          <p:cNvSpPr/>
          <p:nvPr/>
        </p:nvSpPr>
        <p:spPr>
          <a:xfrm>
            <a:off x="8297333" y="2413000"/>
            <a:ext cx="342900" cy="342900"/>
          </a:xfrm>
          <a:prstGeom prst="ellipse">
            <a:avLst/>
          </a:prstGeom>
          <a:noFill/>
          <a:ln w="19050">
            <a:solidFill>
              <a:srgbClr val="FF4F59"/>
            </a:solidFill>
          </a:ln>
        </p:spPr>
      </p:sp>
      <p:cxnSp>
        <p:nvCxnSpPr>
          <p:cNvPr id="26" name="connector 26"/>
          <p:cNvCxnSpPr/>
          <p:nvPr/>
        </p:nvCxnSpPr>
        <p:spPr>
          <a:xfrm>
            <a:off x="8373533" y="25908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7" name="connector 27"/>
          <p:cNvCxnSpPr/>
          <p:nvPr/>
        </p:nvCxnSpPr>
        <p:spPr>
          <a:xfrm flipV="1">
            <a:off x="8437033" y="25146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Governed report</a:t>
            </a:r>
            <a:endParaRPr lang="en-US" sz="1900"/>
          </a:p>
        </p:txBody>
      </p:sp>
      <p:sp>
        <p:nvSpPr>
          <p:cNvPr id="29" name="text 29"/>
          <p:cNvSpPr/>
          <p:nvPr/>
        </p:nvSpPr>
        <p:spPr>
          <a:xfrm>
            <a:off x="8310033"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Feature metrics, category</a:t>
            </a:r>
            <a:endParaRPr lang="en-US" sz="1700"/>
          </a:p>
          <a:p>
            <a:pPr algn="l">
              <a:lnSpc>
                <a:spcPts val="1938"/>
              </a:lnSpc>
              <a:spcAft>
                <a:spcPts val="0"/>
              </a:spcAft>
            </a:pPr>
            <a:r>
              <a:rPr lang="en-US" sz="1700" b="0" dirty="0">
                <a:solidFill>
                  <a:srgbClr val="181C23"/>
                </a:solidFill>
                <a:latin typeface="Funnel Sans"/>
              </a:rPr>
              <a:t>rationale, candidate reasons,</a:t>
            </a:r>
            <a:endParaRPr lang="en-US" sz="1700"/>
          </a:p>
          <a:p>
            <a:pPr algn="l">
              <a:lnSpc>
                <a:spcPts val="1938"/>
              </a:lnSpc>
              <a:spcAft>
                <a:spcPts val="0"/>
              </a:spcAft>
            </a:pPr>
            <a:r>
              <a:rPr lang="en-US" sz="1700" b="0" dirty="0">
                <a:solidFill>
                  <a:srgbClr val="181C23"/>
                </a:solidFill>
                <a:latin typeface="Funnel Sans"/>
              </a:rPr>
              <a:t>dispositions and linked source</a:t>
            </a:r>
            <a:endParaRPr lang="en-US" sz="1700"/>
          </a:p>
          <a:p>
            <a:pPr algn="l">
              <a:lnSpc>
                <a:spcPts val="1938"/>
              </a:lnSpc>
              <a:spcAft>
                <a:spcPts val="0"/>
              </a:spcAft>
            </a:pPr>
            <a:r>
              <a:rPr lang="en-US" sz="1700" b="0" dirty="0">
                <a:solidFill>
                  <a:srgbClr val="181C23"/>
                </a:solidFill>
                <a:latin typeface="Funnel Sans"/>
              </a:rPr>
              <a:t>artifacts.</a:t>
            </a:r>
            <a:endParaRPr lang="en-US" sz="1700"/>
          </a:p>
        </p:txBody>
      </p:sp>
      <p:sp>
        <p:nvSpPr>
          <p:cNvPr id="30" name="shape 30"/>
          <p:cNvSpPr/>
          <p:nvPr/>
        </p:nvSpPr>
        <p:spPr>
          <a:xfrm>
            <a:off x="508000" y="5651500"/>
            <a:ext cx="11176000" cy="546100"/>
          </a:xfrm>
          <a:prstGeom prst="rect">
            <a:avLst/>
          </a:prstGeom>
          <a:solidFill>
            <a:srgbClr val="282A27"/>
          </a:solidFill>
          <a:ln>
            <a:noFill/>
          </a:ln>
        </p:spPr>
      </p:sp>
      <p:sp>
        <p:nvSpPr>
          <p:cNvPr id="31" name="text 31"/>
          <p:cNvSpPr/>
          <p:nvPr/>
        </p:nvSpPr>
        <p:spPr>
          <a:xfrm>
            <a:off x="698500" y="57912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Category precedence: Suspicious → Strong → Medium → Weak. Categories do not prove leakage.</a:t>
            </a:r>
            <a:endParaRPr lang="en-US" sz="1600"/>
          </a:p>
        </p:txBody>
      </p:sp>
      <p:cxnSp>
        <p:nvCxnSpPr>
          <p:cNvPr id="32" name="connector 3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text 3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4" name="text 3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29 / 87</a:t>
            </a:r>
            <a:endParaRPr lang="en-US" sz="1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T1-D02 • D / LAUNCH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Confirm the scope, launch once and review final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Single-feature target separation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2052320" cy="2311400"/>
          </a:xfrm>
          <a:prstGeom prst="rect">
            <a:avLst/>
          </a:prstGeom>
          <a:solidFill>
            <a:srgbClr val="FFF2DF"/>
          </a:solidFill>
          <a:ln w="12700">
            <a:solidFill>
              <a:srgbClr val="DEDCD6"/>
            </a:solidFill>
          </a:ln>
        </p:spPr>
      </p:sp>
      <p:sp>
        <p:nvSpPr>
          <p:cNvPr id="9" name="text 9"/>
          <p:cNvSpPr/>
          <p:nvPr/>
        </p:nvSpPr>
        <p:spPr>
          <a:xfrm>
            <a:off x="67310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0" name="text 10"/>
          <p:cNvSpPr/>
          <p:nvPr/>
        </p:nvSpPr>
        <p:spPr>
          <a:xfrm>
            <a:off x="67310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Choose</a:t>
            </a:r>
            <a:endParaRPr lang="en-US" sz="1800"/>
          </a:p>
          <a:p>
            <a:pPr algn="l">
              <a:lnSpc>
                <a:spcPts val="2052"/>
              </a:lnSpc>
              <a:spcAft>
                <a:spcPts val="0"/>
              </a:spcAft>
            </a:pPr>
            <a:r>
              <a:rPr lang="en-US" sz="1800" b="1" dirty="0">
                <a:solidFill>
                  <a:srgbClr val="181C23"/>
                </a:solidFill>
                <a:latin typeface="Funnel Sans"/>
              </a:rPr>
              <a:t>snapshot</a:t>
            </a:r>
            <a:endParaRPr lang="en-US" sz="1800"/>
          </a:p>
        </p:txBody>
      </p:sp>
      <p:sp>
        <p:nvSpPr>
          <p:cNvPr id="11" name="text 11"/>
          <p:cNvSpPr/>
          <p:nvPr/>
        </p:nvSpPr>
        <p:spPr>
          <a:xfrm>
            <a:off x="67310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Analyst selects the</a:t>
            </a:r>
            <a:endParaRPr lang="en-US" sz="1450"/>
          </a:p>
          <a:p>
            <a:pPr algn="l">
              <a:lnSpc>
                <a:spcPts val="1653"/>
              </a:lnSpc>
              <a:spcAft>
                <a:spcPts val="0"/>
              </a:spcAft>
            </a:pPr>
            <a:r>
              <a:rPr lang="en-US" sz="1450" b="0" dirty="0">
                <a:solidFill>
                  <a:srgbClr val="181C23"/>
                </a:solidFill>
                <a:latin typeface="Funnel Sans"/>
              </a:rPr>
              <a:t>ready active asset</a:t>
            </a:r>
            <a:endParaRPr lang="en-US" sz="1450"/>
          </a:p>
        </p:txBody>
      </p:sp>
      <p:cxnSp>
        <p:nvCxnSpPr>
          <p:cNvPr id="12" name="connector 12"/>
          <p:cNvCxnSpPr/>
          <p:nvPr/>
        </p:nvCxnSpPr>
        <p:spPr>
          <a:xfrm>
            <a:off x="258572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2788920" y="2247900"/>
            <a:ext cx="2052320" cy="2311400"/>
          </a:xfrm>
          <a:prstGeom prst="rect">
            <a:avLst/>
          </a:prstGeom>
          <a:solidFill>
            <a:srgbClr val="FFF2DF"/>
          </a:solidFill>
          <a:ln w="12700">
            <a:solidFill>
              <a:srgbClr val="DEDCD6"/>
            </a:solidFill>
          </a:ln>
        </p:spPr>
      </p:sp>
      <p:sp>
        <p:nvSpPr>
          <p:cNvPr id="14" name="text 14"/>
          <p:cNvSpPr/>
          <p:nvPr/>
        </p:nvSpPr>
        <p:spPr>
          <a:xfrm>
            <a:off x="295402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5" name="text 15"/>
          <p:cNvSpPr/>
          <p:nvPr/>
        </p:nvSpPr>
        <p:spPr>
          <a:xfrm>
            <a:off x="295402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Confirm scope</a:t>
            </a:r>
            <a:endParaRPr lang="en-US" sz="1800"/>
          </a:p>
        </p:txBody>
      </p:sp>
      <p:sp>
        <p:nvSpPr>
          <p:cNvPr id="16" name="text 16"/>
          <p:cNvSpPr/>
          <p:nvPr/>
        </p:nvSpPr>
        <p:spPr>
          <a:xfrm>
            <a:off x="295402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Review target,</a:t>
            </a:r>
            <a:endParaRPr lang="en-US" sz="1450"/>
          </a:p>
          <a:p>
            <a:pPr algn="l">
              <a:lnSpc>
                <a:spcPts val="1653"/>
              </a:lnSpc>
              <a:spcAft>
                <a:spcPts val="0"/>
              </a:spcAft>
            </a:pPr>
            <a:r>
              <a:rPr lang="en-US" sz="1450" b="0" dirty="0">
                <a:solidFill>
                  <a:srgbClr val="181C23"/>
                </a:solidFill>
                <a:latin typeface="Funnel Sans"/>
              </a:rPr>
              <a:t>features and</a:t>
            </a:r>
            <a:endParaRPr lang="en-US" sz="1450"/>
          </a:p>
          <a:p>
            <a:pPr algn="l">
              <a:lnSpc>
                <a:spcPts val="1653"/>
              </a:lnSpc>
              <a:spcAft>
                <a:spcPts val="0"/>
              </a:spcAft>
            </a:pPr>
            <a:r>
              <a:rPr lang="en-US" sz="1450" b="0" dirty="0">
                <a:solidFill>
                  <a:srgbClr val="181C23"/>
                </a:solidFill>
                <a:latin typeface="Funnel Sans"/>
              </a:rPr>
              <a:t>constraints</a:t>
            </a:r>
            <a:endParaRPr lang="en-US" sz="1450"/>
          </a:p>
        </p:txBody>
      </p:sp>
      <p:cxnSp>
        <p:nvCxnSpPr>
          <p:cNvPr id="17" name="connector 17"/>
          <p:cNvCxnSpPr/>
          <p:nvPr/>
        </p:nvCxnSpPr>
        <p:spPr>
          <a:xfrm>
            <a:off x="486664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69840" y="2247900"/>
            <a:ext cx="2052320" cy="2311400"/>
          </a:xfrm>
          <a:prstGeom prst="rect">
            <a:avLst/>
          </a:prstGeom>
          <a:solidFill>
            <a:srgbClr val="FFF2DF"/>
          </a:solidFill>
          <a:ln w="12700">
            <a:solidFill>
              <a:srgbClr val="DEDCD6"/>
            </a:solidFill>
          </a:ln>
        </p:spPr>
      </p:sp>
      <p:sp>
        <p:nvSpPr>
          <p:cNvPr id="19" name="text 19"/>
          <p:cNvSpPr/>
          <p:nvPr/>
        </p:nvSpPr>
        <p:spPr>
          <a:xfrm>
            <a:off x="523494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0" name="text 20"/>
          <p:cNvSpPr/>
          <p:nvPr/>
        </p:nvSpPr>
        <p:spPr>
          <a:xfrm>
            <a:off x="523494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Freeze &amp; run</a:t>
            </a:r>
            <a:endParaRPr lang="en-US" sz="1800"/>
          </a:p>
        </p:txBody>
      </p:sp>
      <p:sp>
        <p:nvSpPr>
          <p:cNvPr id="21" name="text 21"/>
          <p:cNvSpPr/>
          <p:nvPr/>
        </p:nvSpPr>
        <p:spPr>
          <a:xfrm>
            <a:off x="523494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Persist scope</a:t>
            </a:r>
            <a:endParaRPr lang="en-US" sz="1450"/>
          </a:p>
          <a:p>
            <a:pPr algn="l">
              <a:lnSpc>
                <a:spcPts val="1653"/>
              </a:lnSpc>
              <a:spcAft>
                <a:spcPts val="0"/>
              </a:spcAft>
            </a:pPr>
            <a:r>
              <a:rPr lang="en-US" sz="1450" b="0" dirty="0">
                <a:solidFill>
                  <a:srgbClr val="181C23"/>
                </a:solidFill>
                <a:latin typeface="Funnel Sans"/>
              </a:rPr>
              <a:t>before execution</a:t>
            </a:r>
            <a:endParaRPr lang="en-US" sz="1450"/>
          </a:p>
        </p:txBody>
      </p:sp>
      <p:cxnSp>
        <p:nvCxnSpPr>
          <p:cNvPr id="22" name="connector 22"/>
          <p:cNvCxnSpPr/>
          <p:nvPr/>
        </p:nvCxnSpPr>
        <p:spPr>
          <a:xfrm>
            <a:off x="714756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7350760" y="2247900"/>
            <a:ext cx="2052320" cy="2311400"/>
          </a:xfrm>
          <a:prstGeom prst="rect">
            <a:avLst/>
          </a:prstGeom>
          <a:solidFill>
            <a:srgbClr val="FFF2DF"/>
          </a:solidFill>
          <a:ln w="12700">
            <a:solidFill>
              <a:srgbClr val="DEDCD6"/>
            </a:solidFill>
          </a:ln>
        </p:spPr>
      </p:sp>
      <p:sp>
        <p:nvSpPr>
          <p:cNvPr id="24" name="text 24"/>
          <p:cNvSpPr/>
          <p:nvPr/>
        </p:nvSpPr>
        <p:spPr>
          <a:xfrm>
            <a:off x="751586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5" name="text 25"/>
          <p:cNvSpPr/>
          <p:nvPr/>
        </p:nvSpPr>
        <p:spPr>
          <a:xfrm>
            <a:off x="751586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Monitor</a:t>
            </a:r>
            <a:endParaRPr lang="en-US" sz="1800"/>
          </a:p>
        </p:txBody>
      </p:sp>
      <p:sp>
        <p:nvSpPr>
          <p:cNvPr id="26" name="text 26"/>
          <p:cNvSpPr/>
          <p:nvPr/>
        </p:nvSpPr>
        <p:spPr>
          <a:xfrm>
            <a:off x="751586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Read progressive</a:t>
            </a:r>
            <a:endParaRPr lang="en-US" sz="1450"/>
          </a:p>
          <a:p>
            <a:pPr algn="l">
              <a:lnSpc>
                <a:spcPts val="1653"/>
              </a:lnSpc>
              <a:spcAft>
                <a:spcPts val="0"/>
              </a:spcAft>
            </a:pPr>
            <a:r>
              <a:rPr lang="en-US" sz="1450" b="0" dirty="0">
                <a:solidFill>
                  <a:srgbClr val="181C23"/>
                </a:solidFill>
                <a:latin typeface="Funnel Sans"/>
              </a:rPr>
              <a:t>feature previews</a:t>
            </a:r>
            <a:endParaRPr lang="en-US" sz="1450"/>
          </a:p>
        </p:txBody>
      </p:sp>
      <p:cxnSp>
        <p:nvCxnSpPr>
          <p:cNvPr id="27" name="connector 27"/>
          <p:cNvCxnSpPr/>
          <p:nvPr/>
        </p:nvCxnSpPr>
        <p:spPr>
          <a:xfrm>
            <a:off x="942848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9631680" y="2247900"/>
            <a:ext cx="2052320" cy="2311400"/>
          </a:xfrm>
          <a:prstGeom prst="rect">
            <a:avLst/>
          </a:prstGeom>
          <a:solidFill>
            <a:srgbClr val="FFF2DF"/>
          </a:solidFill>
          <a:ln w="12700">
            <a:solidFill>
              <a:srgbClr val="DEDCD6"/>
            </a:solidFill>
          </a:ln>
        </p:spPr>
      </p:sp>
      <p:sp>
        <p:nvSpPr>
          <p:cNvPr id="29" name="text 29"/>
          <p:cNvSpPr/>
          <p:nvPr/>
        </p:nvSpPr>
        <p:spPr>
          <a:xfrm>
            <a:off x="979678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0" name="text 30"/>
          <p:cNvSpPr/>
          <p:nvPr/>
        </p:nvSpPr>
        <p:spPr>
          <a:xfrm>
            <a:off x="979678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 final</a:t>
            </a:r>
            <a:endParaRPr lang="en-US" sz="1800"/>
          </a:p>
        </p:txBody>
      </p:sp>
      <p:sp>
        <p:nvSpPr>
          <p:cNvPr id="31" name="text 31"/>
          <p:cNvSpPr/>
          <p:nvPr/>
        </p:nvSpPr>
        <p:spPr>
          <a:xfrm>
            <a:off x="979678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Open findings,</a:t>
            </a:r>
            <a:endParaRPr lang="en-US" sz="1450"/>
          </a:p>
          <a:p>
            <a:pPr algn="l">
              <a:lnSpc>
                <a:spcPts val="1653"/>
              </a:lnSpc>
              <a:spcAft>
                <a:spcPts val="0"/>
              </a:spcAft>
            </a:pPr>
            <a:r>
              <a:rPr lang="en-US" sz="1450" b="0" dirty="0">
                <a:solidFill>
                  <a:srgbClr val="181C23"/>
                </a:solidFill>
                <a:latin typeface="Funnel Sans"/>
              </a:rPr>
              <a:t>artifacts and report</a:t>
            </a:r>
            <a:endParaRPr lang="en-US" sz="1450"/>
          </a:p>
        </p:txBody>
      </p:sp>
      <p:sp>
        <p:nvSpPr>
          <p:cNvPr id="32" name="shape 32"/>
          <p:cNvSpPr/>
          <p:nvPr/>
        </p:nvSpPr>
        <p:spPr>
          <a:xfrm>
            <a:off x="508000" y="4762500"/>
            <a:ext cx="5486400" cy="1346200"/>
          </a:xfrm>
          <a:prstGeom prst="rect">
            <a:avLst/>
          </a:prstGeom>
          <a:solidFill>
            <a:srgbClr val="FFFFFF"/>
          </a:solidFill>
          <a:ln w="12700">
            <a:solidFill>
              <a:srgbClr val="DEDCD6"/>
            </a:solidFill>
          </a:ln>
        </p:spPr>
      </p:sp>
      <p:sp>
        <p:nvSpPr>
          <p:cNvPr id="33" name="shape 33"/>
          <p:cNvSpPr/>
          <p:nvPr/>
        </p:nvSpPr>
        <p:spPr>
          <a:xfrm>
            <a:off x="508000" y="4762500"/>
            <a:ext cx="38100" cy="1346200"/>
          </a:xfrm>
          <a:prstGeom prst="rect">
            <a:avLst/>
          </a:prstGeom>
          <a:solidFill>
            <a:srgbClr val="FF4F59"/>
          </a:solidFill>
          <a:ln>
            <a:noFill/>
          </a:ln>
        </p:spPr>
      </p:sp>
      <p:sp>
        <p:nvSpPr>
          <p:cNvPr id="34" name="text 34"/>
          <p:cNvSpPr/>
          <p:nvPr/>
        </p:nvSpPr>
        <p:spPr>
          <a:xfrm>
            <a:off x="6985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Success / completion</a:t>
            </a:r>
            <a:endParaRPr lang="en-US" sz="1600"/>
          </a:p>
        </p:txBody>
      </p:sp>
      <p:sp>
        <p:nvSpPr>
          <p:cNvPr id="35" name="text 35"/>
          <p:cNvSpPr/>
          <p:nvPr/>
        </p:nvSpPr>
        <p:spPr>
          <a:xfrm>
            <a:off x="6985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Complete or partial feature evidence remains visible. Final findings</a:t>
            </a:r>
            <a:endParaRPr lang="en-US" sz="1250"/>
          </a:p>
          <a:p>
            <a:pPr algn="l">
              <a:lnSpc>
                <a:spcPts val="1425"/>
              </a:lnSpc>
              <a:spcAft>
                <a:spcPts val="0"/>
              </a:spcAft>
            </a:pPr>
            <a:r>
              <a:rPr lang="en-US" sz="1250" b="0" dirty="0">
                <a:solidFill>
                  <a:srgbClr val="6D706B"/>
                </a:solidFill>
                <a:latin typeface="Funnel Sans"/>
              </a:rPr>
              <a:t>become available after run finalization.</a:t>
            </a:r>
            <a:endParaRPr lang="en-US" sz="1250"/>
          </a:p>
        </p:txBody>
      </p:sp>
      <p:sp>
        <p:nvSpPr>
          <p:cNvPr id="36" name="shape 36"/>
          <p:cNvSpPr/>
          <p:nvPr/>
        </p:nvSpPr>
        <p:spPr>
          <a:xfrm>
            <a:off x="6197600" y="4762500"/>
            <a:ext cx="5486400" cy="1346200"/>
          </a:xfrm>
          <a:prstGeom prst="rect">
            <a:avLst/>
          </a:prstGeom>
          <a:solidFill>
            <a:srgbClr val="FFFFFF"/>
          </a:solidFill>
          <a:ln w="12700">
            <a:solidFill>
              <a:srgbClr val="DEDCD6"/>
            </a:solidFill>
          </a:ln>
        </p:spPr>
      </p:sp>
      <p:sp>
        <p:nvSpPr>
          <p:cNvPr id="37" name="shape 37"/>
          <p:cNvSpPr/>
          <p:nvPr/>
        </p:nvSpPr>
        <p:spPr>
          <a:xfrm>
            <a:off x="6197600" y="4762500"/>
            <a:ext cx="38100" cy="1346200"/>
          </a:xfrm>
          <a:prstGeom prst="rect">
            <a:avLst/>
          </a:prstGeom>
          <a:solidFill>
            <a:srgbClr val="FF4F59"/>
          </a:solidFill>
          <a:ln>
            <a:noFill/>
          </a:ln>
        </p:spPr>
      </p:sp>
      <p:sp>
        <p:nvSpPr>
          <p:cNvPr id="38" name="text 38"/>
          <p:cNvSpPr/>
          <p:nvPr/>
        </p:nvSpPr>
        <p:spPr>
          <a:xfrm>
            <a:off x="63881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Failure / blocked scope</a:t>
            </a:r>
            <a:endParaRPr lang="en-US" sz="1600"/>
          </a:p>
        </p:txBody>
      </p:sp>
      <p:sp>
        <p:nvSpPr>
          <p:cNvPr id="39" name="text 39"/>
          <p:cNvSpPr/>
          <p:nvPr/>
        </p:nvSpPr>
        <p:spPr>
          <a:xfrm>
            <a:off x="63881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Invalid/action-required inputs and per-feature ROC/binning errors</a:t>
            </a:r>
            <a:endParaRPr lang="en-US" sz="1250"/>
          </a:p>
          <a:p>
            <a:pPr algn="l">
              <a:lnSpc>
                <a:spcPts val="1425"/>
              </a:lnSpc>
              <a:spcAft>
                <a:spcPts val="0"/>
              </a:spcAft>
            </a:pPr>
            <a:r>
              <a:rPr lang="en-US" sz="1250" b="0" dirty="0">
                <a:solidFill>
                  <a:srgbClr val="6D706B"/>
                </a:solidFill>
                <a:latin typeface="Funnel Sans"/>
              </a:rPr>
              <a:t>are explicit; previews are not final results.</a:t>
            </a:r>
            <a:endParaRPr lang="en-US" sz="1250"/>
          </a:p>
        </p:txBody>
      </p:sp>
      <p:cxnSp>
        <p:nvCxnSpPr>
          <p:cNvPr id="40" name="connector 4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text 4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2" name="text 4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30 / 87</a:t>
            </a:r>
            <a:endParaRPr lang="en-US" sz="1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T1-D02 • E / ISSUE &amp; RCA</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Carry the finding into a controlled investigation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Single-feature target separation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197100"/>
            <a:ext cx="2235200" cy="457200"/>
          </a:xfrm>
          <a:prstGeom prst="rect">
            <a:avLst/>
          </a:prstGeom>
          <a:solidFill>
            <a:srgbClr val="282A27"/>
          </a:solidFill>
          <a:ln>
            <a:noFill/>
          </a:ln>
        </p:spPr>
      </p:sp>
      <p:sp>
        <p:nvSpPr>
          <p:cNvPr id="9" name="text 9"/>
          <p:cNvSpPr/>
          <p:nvPr/>
        </p:nvSpPr>
        <p:spPr>
          <a:xfrm>
            <a:off x="635000" y="2311400"/>
            <a:ext cx="19812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Step</a:t>
            </a:r>
            <a:endParaRPr lang="en-US" sz="1200"/>
          </a:p>
        </p:txBody>
      </p:sp>
      <p:sp>
        <p:nvSpPr>
          <p:cNvPr id="10" name="shape 10"/>
          <p:cNvSpPr/>
          <p:nvPr/>
        </p:nvSpPr>
        <p:spPr>
          <a:xfrm>
            <a:off x="2743200" y="2197100"/>
            <a:ext cx="8940800" cy="457200"/>
          </a:xfrm>
          <a:prstGeom prst="rect">
            <a:avLst/>
          </a:prstGeom>
          <a:solidFill>
            <a:srgbClr val="282A27"/>
          </a:solidFill>
          <a:ln>
            <a:noFill/>
          </a:ln>
        </p:spPr>
      </p:sp>
      <p:sp>
        <p:nvSpPr>
          <p:cNvPr id="11" name="text 11"/>
          <p:cNvSpPr/>
          <p:nvPr/>
        </p:nvSpPr>
        <p:spPr>
          <a:xfrm>
            <a:off x="2870200" y="2311400"/>
            <a:ext cx="8686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Implemented behavior / proposed follow-up</a:t>
            </a:r>
            <a:endParaRPr lang="en-US" sz="1200"/>
          </a:p>
        </p:txBody>
      </p:sp>
      <p:sp>
        <p:nvSpPr>
          <p:cNvPr id="12" name="shape 12"/>
          <p:cNvSpPr/>
          <p:nvPr/>
        </p:nvSpPr>
        <p:spPr>
          <a:xfrm>
            <a:off x="508000" y="2654300"/>
            <a:ext cx="2235200" cy="604520"/>
          </a:xfrm>
          <a:prstGeom prst="rect">
            <a:avLst/>
          </a:prstGeom>
          <a:solidFill>
            <a:srgbClr val="FFFFFF"/>
          </a:solidFill>
          <a:ln>
            <a:noFill/>
          </a:ln>
        </p:spPr>
      </p:sp>
      <p:sp>
        <p:nvSpPr>
          <p:cNvPr id="13" name="text 13"/>
          <p:cNvSpPr/>
          <p:nvPr/>
        </p:nvSpPr>
        <p:spPr>
          <a:xfrm>
            <a:off x="635000" y="270510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Finding</a:t>
            </a:r>
            <a:endParaRPr lang="en-US" sz="1700"/>
          </a:p>
        </p:txBody>
      </p:sp>
      <p:cxnSp>
        <p:nvCxnSpPr>
          <p:cNvPr id="14" name="connector 14"/>
          <p:cNvCxnSpPr/>
          <p:nvPr/>
        </p:nvCxnSpPr>
        <p:spPr>
          <a:xfrm>
            <a:off x="508000" y="325882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43200" y="2654300"/>
            <a:ext cx="8940800" cy="604520"/>
          </a:xfrm>
          <a:prstGeom prst="rect">
            <a:avLst/>
          </a:prstGeom>
          <a:solidFill>
            <a:srgbClr val="FFFFFF"/>
          </a:solidFill>
          <a:ln>
            <a:noFill/>
          </a:ln>
        </p:spPr>
      </p:sp>
      <p:sp>
        <p:nvSpPr>
          <p:cNvPr id="16" name="text 16"/>
          <p:cNvSpPr/>
          <p:nvPr/>
        </p:nvSpPr>
        <p:spPr>
          <a:xfrm>
            <a:off x="2870200" y="2705100"/>
            <a:ext cx="8686800" cy="50292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Potential leakage or poor discrimination becomes a candidate finding.</a:t>
            </a:r>
            <a:endParaRPr lang="en-US" sz="1700"/>
          </a:p>
        </p:txBody>
      </p:sp>
      <p:cxnSp>
        <p:nvCxnSpPr>
          <p:cNvPr id="17" name="connector 17"/>
          <p:cNvCxnSpPr/>
          <p:nvPr/>
        </p:nvCxnSpPr>
        <p:spPr>
          <a:xfrm>
            <a:off x="2743200" y="325882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8000" y="3258820"/>
            <a:ext cx="2235200" cy="604520"/>
          </a:xfrm>
          <a:prstGeom prst="rect">
            <a:avLst/>
          </a:prstGeom>
          <a:solidFill>
            <a:srgbClr val="EFEEE9"/>
          </a:solidFill>
          <a:ln>
            <a:noFill/>
          </a:ln>
        </p:spPr>
      </p:sp>
      <p:sp>
        <p:nvSpPr>
          <p:cNvPr id="19" name="text 19"/>
          <p:cNvSpPr/>
          <p:nvPr/>
        </p:nvSpPr>
        <p:spPr>
          <a:xfrm>
            <a:off x="635000" y="330962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Issue gate</a:t>
            </a:r>
            <a:endParaRPr lang="en-US" sz="1700"/>
          </a:p>
        </p:txBody>
      </p:sp>
      <p:cxnSp>
        <p:nvCxnSpPr>
          <p:cNvPr id="20" name="connector 20"/>
          <p:cNvCxnSpPr/>
          <p:nvPr/>
        </p:nvCxnSpPr>
        <p:spPr>
          <a:xfrm>
            <a:off x="508000" y="386334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2743200" y="3258820"/>
            <a:ext cx="8940800" cy="604520"/>
          </a:xfrm>
          <a:prstGeom prst="rect">
            <a:avLst/>
          </a:prstGeom>
          <a:solidFill>
            <a:srgbClr val="EFEEE9"/>
          </a:solidFill>
          <a:ln>
            <a:noFill/>
          </a:ln>
        </p:spPr>
      </p:sp>
      <p:sp>
        <p:nvSpPr>
          <p:cNvPr id="22" name="text 22"/>
          <p:cNvSpPr/>
          <p:nvPr/>
        </p:nvSpPr>
        <p:spPr>
          <a:xfrm>
            <a:off x="2870200" y="330962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Human confirms or dismisses with rationale; confirmed finding links to Issue</a:t>
            </a:r>
            <a:endParaRPr lang="en-US" sz="1650"/>
          </a:p>
          <a:p>
            <a:pPr algn="l">
              <a:lnSpc>
                <a:spcPts val="1881"/>
              </a:lnSpc>
              <a:spcAft>
                <a:spcPts val="0"/>
              </a:spcAft>
            </a:pPr>
            <a:r>
              <a:rPr lang="en-US" sz="1650" b="0" dirty="0">
                <a:solidFill>
                  <a:srgbClr val="181C23"/>
                </a:solidFill>
                <a:latin typeface="Funnel Sans"/>
              </a:rPr>
              <a:t>Management.</a:t>
            </a:r>
            <a:endParaRPr lang="en-US" sz="1650"/>
          </a:p>
        </p:txBody>
      </p:sp>
      <p:cxnSp>
        <p:nvCxnSpPr>
          <p:cNvPr id="23" name="connector 23"/>
          <p:cNvCxnSpPr/>
          <p:nvPr/>
        </p:nvCxnSpPr>
        <p:spPr>
          <a:xfrm>
            <a:off x="2743200" y="386334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508000" y="3863340"/>
            <a:ext cx="2235200" cy="604520"/>
          </a:xfrm>
          <a:prstGeom prst="rect">
            <a:avLst/>
          </a:prstGeom>
          <a:solidFill>
            <a:srgbClr val="FFFFFF"/>
          </a:solidFill>
          <a:ln>
            <a:noFill/>
          </a:ln>
        </p:spPr>
      </p:sp>
      <p:sp>
        <p:nvSpPr>
          <p:cNvPr id="25" name="text 25"/>
          <p:cNvSpPr/>
          <p:nvPr/>
        </p:nvSpPr>
        <p:spPr>
          <a:xfrm>
            <a:off x="635000" y="391414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RCA</a:t>
            </a:r>
            <a:endParaRPr lang="en-US" sz="1700"/>
          </a:p>
        </p:txBody>
      </p:sp>
      <p:cxnSp>
        <p:nvCxnSpPr>
          <p:cNvPr id="26" name="connector 26"/>
          <p:cNvCxnSpPr/>
          <p:nvPr/>
        </p:nvCxnSpPr>
        <p:spPr>
          <a:xfrm>
            <a:off x="508000" y="446786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43200" y="3863340"/>
            <a:ext cx="8940800" cy="604520"/>
          </a:xfrm>
          <a:prstGeom prst="rect">
            <a:avLst/>
          </a:prstGeom>
          <a:solidFill>
            <a:srgbClr val="FFFFFF"/>
          </a:solidFill>
          <a:ln>
            <a:noFill/>
          </a:ln>
        </p:spPr>
      </p:sp>
      <p:sp>
        <p:nvSpPr>
          <p:cNvPr id="28" name="text 28"/>
          <p:cNvSpPr/>
          <p:nvPr/>
        </p:nvSpPr>
        <p:spPr>
          <a:xfrm>
            <a:off x="2870200" y="391414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 feature timing, target construction and retained ROC/IV/bin evidence.</a:t>
            </a:r>
            <a:endParaRPr lang="en-US" sz="1650"/>
          </a:p>
          <a:p>
            <a:pPr algn="l">
              <a:lnSpc>
                <a:spcPts val="1881"/>
              </a:lnSpc>
              <a:spcAft>
                <a:spcPts val="0"/>
              </a:spcAft>
            </a:pPr>
            <a:r>
              <a:rPr lang="en-US" sz="1650" b="0" dirty="0">
                <a:solidFill>
                  <a:srgbClr val="181C23"/>
                </a:solidFill>
                <a:latin typeface="Funnel Sans"/>
              </a:rPr>
              <a:t>Source-evidence tools support bin review.</a:t>
            </a:r>
            <a:endParaRPr lang="en-US" sz="1650"/>
          </a:p>
        </p:txBody>
      </p:sp>
      <p:cxnSp>
        <p:nvCxnSpPr>
          <p:cNvPr id="29" name="connector 29"/>
          <p:cNvCxnSpPr/>
          <p:nvPr/>
        </p:nvCxnSpPr>
        <p:spPr>
          <a:xfrm>
            <a:off x="2743200" y="446786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467860"/>
            <a:ext cx="2235200" cy="604520"/>
          </a:xfrm>
          <a:prstGeom prst="rect">
            <a:avLst/>
          </a:prstGeom>
          <a:solidFill>
            <a:srgbClr val="EFEEE9"/>
          </a:solidFill>
          <a:ln>
            <a:noFill/>
          </a:ln>
        </p:spPr>
      </p:sp>
      <p:sp>
        <p:nvSpPr>
          <p:cNvPr id="31" name="text 31"/>
          <p:cNvSpPr/>
          <p:nvPr/>
        </p:nvSpPr>
        <p:spPr>
          <a:xfrm>
            <a:off x="635000" y="4518660"/>
            <a:ext cx="1981200" cy="502920"/>
          </a:xfrm>
          <a:prstGeom prst="rect">
            <a:avLst/>
          </a:prstGeom>
          <a:noFill/>
          <a:ln>
            <a:noFill/>
          </a:ln>
        </p:spPr>
        <p:txBody>
          <a:bodyPr wrap="none" lIns="0" tIns="0" rIns="0" bIns="0" anchor="t">
            <a:noAutofit/>
          </a:bodyPr>
          <a:lstStyle/>
          <a:p>
            <a:pPr algn="l">
              <a:lnSpc>
                <a:spcPts val="1881"/>
              </a:lnSpc>
              <a:spcAft>
                <a:spcPts val="0"/>
              </a:spcAft>
            </a:pPr>
            <a:r>
              <a:rPr lang="en-US" sz="1650" b="1" dirty="0">
                <a:solidFill>
                  <a:srgbClr val="181C23"/>
                </a:solidFill>
                <a:latin typeface="Funnel Sans"/>
              </a:rPr>
              <a:t>Remediation /</a:t>
            </a:r>
            <a:endParaRPr lang="en-US" sz="1650"/>
          </a:p>
          <a:p>
            <a:pPr algn="l">
              <a:lnSpc>
                <a:spcPts val="1881"/>
              </a:lnSpc>
              <a:spcAft>
                <a:spcPts val="0"/>
              </a:spcAft>
            </a:pPr>
            <a:r>
              <a:rPr lang="en-US" sz="1650" b="1" dirty="0">
                <a:solidFill>
                  <a:srgbClr val="181C23"/>
                </a:solidFill>
                <a:latin typeface="Funnel Sans"/>
              </a:rPr>
              <a:t>retest</a:t>
            </a:r>
            <a:endParaRPr lang="en-US" sz="1650"/>
          </a:p>
        </p:txBody>
      </p:sp>
      <p:cxnSp>
        <p:nvCxnSpPr>
          <p:cNvPr id="32" name="connector 32"/>
          <p:cNvCxnSpPr/>
          <p:nvPr/>
        </p:nvCxnSpPr>
        <p:spPr>
          <a:xfrm>
            <a:off x="508000" y="507238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743200" y="4467860"/>
            <a:ext cx="8940800" cy="604520"/>
          </a:xfrm>
          <a:prstGeom prst="rect">
            <a:avLst/>
          </a:prstGeom>
          <a:solidFill>
            <a:srgbClr val="EFEEE9"/>
          </a:solidFill>
          <a:ln>
            <a:noFill/>
          </a:ln>
        </p:spPr>
      </p:sp>
      <p:sp>
        <p:nvSpPr>
          <p:cNvPr id="34" name="text 34"/>
          <p:cNvSpPr/>
          <p:nvPr/>
        </p:nvSpPr>
        <p:spPr>
          <a:xfrm>
            <a:off x="2870200" y="451866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Suggested: correct construction or review feature use; manually upload corrected data</a:t>
            </a:r>
            <a:endParaRPr lang="en-US" sz="1650"/>
          </a:p>
          <a:p>
            <a:pPr algn="l">
              <a:lnSpc>
                <a:spcPts val="1881"/>
              </a:lnSpc>
              <a:spcAft>
                <a:spcPts val="0"/>
              </a:spcAft>
            </a:pPr>
            <a:r>
              <a:rPr lang="en-US" sz="1650" b="0" dirty="0">
                <a:solidFill>
                  <a:srgbClr val="181C23"/>
                </a:solidFill>
                <a:latin typeface="Funnel Sans"/>
              </a:rPr>
              <a:t>and reassess.</a:t>
            </a:r>
            <a:endParaRPr lang="en-US" sz="1650"/>
          </a:p>
        </p:txBody>
      </p:sp>
      <p:cxnSp>
        <p:nvCxnSpPr>
          <p:cNvPr id="35" name="connector 35"/>
          <p:cNvCxnSpPr/>
          <p:nvPr/>
        </p:nvCxnSpPr>
        <p:spPr>
          <a:xfrm>
            <a:off x="2743200" y="507238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508000" y="5072380"/>
            <a:ext cx="2235200" cy="604520"/>
          </a:xfrm>
          <a:prstGeom prst="rect">
            <a:avLst/>
          </a:prstGeom>
          <a:solidFill>
            <a:srgbClr val="FFFFFF"/>
          </a:solidFill>
          <a:ln>
            <a:noFill/>
          </a:ln>
        </p:spPr>
      </p:sp>
      <p:sp>
        <p:nvSpPr>
          <p:cNvPr id="37" name="text 37"/>
          <p:cNvSpPr/>
          <p:nvPr/>
        </p:nvSpPr>
        <p:spPr>
          <a:xfrm>
            <a:off x="635000" y="512318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Closure</a:t>
            </a:r>
            <a:endParaRPr lang="en-US" sz="1700"/>
          </a:p>
        </p:txBody>
      </p:sp>
      <p:cxnSp>
        <p:nvCxnSpPr>
          <p:cNvPr id="38" name="connector 38"/>
          <p:cNvCxnSpPr/>
          <p:nvPr/>
        </p:nvCxnSpPr>
        <p:spPr>
          <a:xfrm>
            <a:off x="508000" y="567690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2743200" y="5072380"/>
            <a:ext cx="8940800" cy="604520"/>
          </a:xfrm>
          <a:prstGeom prst="rect">
            <a:avLst/>
          </a:prstGeom>
          <a:solidFill>
            <a:srgbClr val="FFFFFF"/>
          </a:solidFill>
          <a:ln>
            <a:noFill/>
          </a:ln>
        </p:spPr>
      </p:sp>
      <p:sp>
        <p:nvSpPr>
          <p:cNvPr id="40" name="text 40"/>
          <p:cNvSpPr/>
          <p:nvPr/>
        </p:nvSpPr>
        <p:spPr>
          <a:xfrm>
            <a:off x="2870200" y="512318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Reviewer approves root cause identified or unresolved with evidence; optional follow-up</a:t>
            </a:r>
            <a:endParaRPr lang="en-US" sz="1650"/>
          </a:p>
          <a:p>
            <a:pPr algn="l">
              <a:lnSpc>
                <a:spcPts val="1881"/>
              </a:lnSpc>
              <a:spcAft>
                <a:spcPts val="0"/>
              </a:spcAft>
            </a:pPr>
            <a:r>
              <a:rPr lang="en-US" sz="1650" b="0" dirty="0">
                <a:solidFill>
                  <a:srgbClr val="181C23"/>
                </a:solidFill>
                <a:latin typeface="Funnel Sans"/>
              </a:rPr>
              <a:t>stays separate.</a:t>
            </a:r>
            <a:endParaRPr lang="en-US" sz="1650"/>
          </a:p>
        </p:txBody>
      </p:sp>
      <p:cxnSp>
        <p:nvCxnSpPr>
          <p:cNvPr id="41" name="connector 41"/>
          <p:cNvCxnSpPr/>
          <p:nvPr/>
        </p:nvCxnSpPr>
        <p:spPr>
          <a:xfrm>
            <a:off x="2743200" y="567690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508000" y="5740400"/>
            <a:ext cx="11176000" cy="546100"/>
          </a:xfrm>
          <a:prstGeom prst="rect">
            <a:avLst/>
          </a:prstGeom>
          <a:solidFill>
            <a:srgbClr val="282A27"/>
          </a:solidFill>
          <a:ln>
            <a:noFill/>
          </a:ln>
        </p:spPr>
      </p:sp>
      <p:sp>
        <p:nvSpPr>
          <p:cNvPr id="43" name="text 4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Manual / proposed: source correction and fresh-data retest. RCA approval does not prove a fix.</a:t>
            </a:r>
            <a:endParaRPr lang="en-US" sz="1600"/>
          </a:p>
        </p:txBody>
      </p:sp>
      <p:cxnSp>
        <p:nvCxnSpPr>
          <p:cNvPr id="44" name="connector 4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text 4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6" name="text 4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31 / 87</a:t>
            </a:r>
            <a:endParaRPr lang="en-US" sz="1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T2-D04 • A / PURPOSE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Check whether rows satisfy governed business rules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Cross-field business rule</a:t>
            </a:r>
            <a:endParaRPr lang="en-US" sz="1500"/>
          </a:p>
        </p:txBody>
      </p:sp>
      <p:sp>
        <p:nvSpPr>
          <p:cNvPr id="6" name="shape 6"/>
          <p:cNvSpPr/>
          <p:nvPr/>
        </p:nvSpPr>
        <p:spPr>
          <a:xfrm>
            <a:off x="9372600" y="215900"/>
            <a:ext cx="2311400" cy="317500"/>
          </a:xfrm>
          <a:prstGeom prst="roundRect">
            <a:avLst/>
          </a:prstGeom>
          <a:solidFill>
            <a:srgbClr val="FFF2DF"/>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Implemented • paused</a:t>
            </a:r>
            <a:endParaRPr lang="en-US" sz="1050"/>
          </a:p>
        </p:txBody>
      </p:sp>
      <p:sp>
        <p:nvSpPr>
          <p:cNvPr id="8" name="shape 8"/>
          <p:cNvSpPr/>
          <p:nvPr/>
        </p:nvSpPr>
        <p:spPr>
          <a:xfrm>
            <a:off x="508000" y="2247900"/>
            <a:ext cx="3589867" cy="3073400"/>
          </a:xfrm>
          <a:prstGeom prst="rect">
            <a:avLst/>
          </a:prstGeom>
          <a:solidFill>
            <a:srgbClr val="FFFFFF"/>
          </a:solidFill>
          <a:ln w="12700">
            <a:solidFill>
              <a:srgbClr val="DEDCD6"/>
            </a:solidFill>
          </a:ln>
        </p:spPr>
      </p:sp>
      <p:sp>
        <p:nvSpPr>
          <p:cNvPr id="9" name="shape 9"/>
          <p:cNvSpPr/>
          <p:nvPr/>
        </p:nvSpPr>
        <p:spPr>
          <a:xfrm>
            <a:off x="508000" y="2247900"/>
            <a:ext cx="38100" cy="3073400"/>
          </a:xfrm>
          <a:prstGeom prst="rect">
            <a:avLst/>
          </a:prstGeom>
          <a:solidFill>
            <a:srgbClr val="FF4F59"/>
          </a:solidFill>
          <a:ln>
            <a:noFill/>
          </a:ln>
        </p:spPr>
      </p:sp>
      <p:sp>
        <p:nvSpPr>
          <p:cNvPr id="10" name="shape 10"/>
          <p:cNvSpPr/>
          <p:nvPr/>
        </p:nvSpPr>
        <p:spPr>
          <a:xfrm>
            <a:off x="711200" y="2438400"/>
            <a:ext cx="342900" cy="342900"/>
          </a:xfrm>
          <a:prstGeom prst="hexagon">
            <a:avLst/>
          </a:prstGeom>
          <a:noFill/>
          <a:ln w="21590">
            <a:solidFill>
              <a:srgbClr val="FF4F59"/>
            </a:solidFill>
          </a:ln>
        </p:spPr>
      </p:sp>
      <p:sp>
        <p:nvSpPr>
          <p:cNvPr id="11" name="text 11"/>
          <p:cNvSpPr/>
          <p:nvPr/>
        </p:nvSpPr>
        <p:spPr>
          <a:xfrm>
            <a:off x="825500"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12" name="text 12"/>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Problem</a:t>
            </a:r>
            <a:endParaRPr lang="en-US" sz="1900"/>
          </a:p>
        </p:txBody>
      </p:sp>
      <p:sp>
        <p:nvSpPr>
          <p:cNvPr id="13" name="text 13"/>
          <p:cNvSpPr/>
          <p:nvPr/>
        </p:nvSpPr>
        <p:spPr>
          <a:xfrm>
            <a:off x="723900"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Rows may violate cross-field</a:t>
            </a:r>
            <a:endParaRPr lang="en-US" sz="1700"/>
          </a:p>
          <a:p>
            <a:pPr algn="l">
              <a:lnSpc>
                <a:spcPts val="1938"/>
              </a:lnSpc>
              <a:spcAft>
                <a:spcPts val="0"/>
              </a:spcAft>
            </a:pPr>
            <a:r>
              <a:rPr lang="en-US" sz="1700" b="0" dirty="0">
                <a:solidFill>
                  <a:srgbClr val="181C23"/>
                </a:solidFill>
                <a:latin typeface="Funnel Sans"/>
              </a:rPr>
              <a:t>relationships, domain bounds</a:t>
            </a:r>
            <a:endParaRPr lang="en-US" sz="1700"/>
          </a:p>
          <a:p>
            <a:pPr algn="l">
              <a:lnSpc>
                <a:spcPts val="1938"/>
              </a:lnSpc>
              <a:spcAft>
                <a:spcPts val="0"/>
              </a:spcAft>
            </a:pPr>
            <a:r>
              <a:rPr lang="en-US" sz="1700" b="0" dirty="0">
                <a:solidFill>
                  <a:srgbClr val="181C23"/>
                </a:solidFill>
                <a:latin typeface="Funnel Sans"/>
              </a:rPr>
              <a:t>or event-ordering rules.</a:t>
            </a:r>
            <a:endParaRPr lang="en-US" sz="1700"/>
          </a:p>
        </p:txBody>
      </p:sp>
      <p:sp>
        <p:nvSpPr>
          <p:cNvPr id="14" name="shape 14"/>
          <p:cNvSpPr/>
          <p:nvPr/>
        </p:nvSpPr>
        <p:spPr>
          <a:xfrm>
            <a:off x="4301067" y="2247900"/>
            <a:ext cx="3589867" cy="3073400"/>
          </a:xfrm>
          <a:prstGeom prst="rect">
            <a:avLst/>
          </a:prstGeom>
          <a:solidFill>
            <a:srgbClr val="FFFFFF"/>
          </a:solidFill>
          <a:ln w="12700">
            <a:solidFill>
              <a:srgbClr val="DEDCD6"/>
            </a:solidFill>
          </a:ln>
        </p:spPr>
      </p:sp>
      <p:sp>
        <p:nvSpPr>
          <p:cNvPr id="15" name="shape 15"/>
          <p:cNvSpPr/>
          <p:nvPr/>
        </p:nvSpPr>
        <p:spPr>
          <a:xfrm>
            <a:off x="4301067" y="2247900"/>
            <a:ext cx="38100" cy="3073400"/>
          </a:xfrm>
          <a:prstGeom prst="rect">
            <a:avLst/>
          </a:prstGeom>
          <a:solidFill>
            <a:srgbClr val="FF4F59"/>
          </a:solidFill>
          <a:ln>
            <a:noFill/>
          </a:ln>
        </p:spPr>
      </p:sp>
      <p:sp>
        <p:nvSpPr>
          <p:cNvPr id="16" name="shape 16"/>
          <p:cNvSpPr/>
          <p:nvPr/>
        </p:nvSpPr>
        <p:spPr>
          <a:xfrm>
            <a:off x="4605867" y="2438400"/>
            <a:ext cx="139700" cy="139700"/>
          </a:xfrm>
          <a:prstGeom prst="ellipse">
            <a:avLst/>
          </a:prstGeom>
          <a:noFill/>
          <a:ln w="20320">
            <a:solidFill>
              <a:srgbClr val="FF4F59"/>
            </a:solidFill>
          </a:ln>
        </p:spPr>
      </p:sp>
      <p:sp>
        <p:nvSpPr>
          <p:cNvPr id="17" name="shape 17"/>
          <p:cNvSpPr/>
          <p:nvPr/>
        </p:nvSpPr>
        <p:spPr>
          <a:xfrm>
            <a:off x="4529667" y="2616200"/>
            <a:ext cx="292100" cy="190500"/>
          </a:xfrm>
          <a:prstGeom prst="arc">
            <a:avLst/>
          </a:prstGeom>
          <a:noFill/>
          <a:ln w="20320">
            <a:solidFill>
              <a:srgbClr val="FF4F59"/>
            </a:solid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Primary users</a:t>
            </a:r>
            <a:endParaRPr lang="en-US" sz="1900"/>
          </a:p>
        </p:txBody>
      </p:sp>
      <p:sp>
        <p:nvSpPr>
          <p:cNvPr id="19" name="text 19"/>
          <p:cNvSpPr/>
          <p:nvPr/>
        </p:nvSpPr>
        <p:spPr>
          <a:xfrm>
            <a:off x="4516967"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Data-quality analysts and</a:t>
            </a:r>
            <a:endParaRPr lang="en-US" sz="1700"/>
          </a:p>
          <a:p>
            <a:pPr algn="l">
              <a:lnSpc>
                <a:spcPts val="1938"/>
              </a:lnSpc>
              <a:spcAft>
                <a:spcPts val="0"/>
              </a:spcAft>
            </a:pPr>
            <a:r>
              <a:rPr lang="en-US" sz="1700" b="0" dirty="0">
                <a:solidFill>
                  <a:srgbClr val="181C23"/>
                </a:solidFill>
                <a:latin typeface="Funnel Sans"/>
              </a:rPr>
              <a:t>domain SMEs; KB editors and</a:t>
            </a:r>
            <a:endParaRPr lang="en-US" sz="1700"/>
          </a:p>
          <a:p>
            <a:pPr algn="l">
              <a:lnSpc>
                <a:spcPts val="1938"/>
              </a:lnSpc>
              <a:spcAft>
                <a:spcPts val="0"/>
              </a:spcAft>
            </a:pPr>
            <a:r>
              <a:rPr lang="en-US" sz="1700" b="0" dirty="0">
                <a:solidFill>
                  <a:srgbClr val="181C23"/>
                </a:solidFill>
                <a:latin typeface="Funnel Sans"/>
              </a:rPr>
              <a:t>reviewers maintain governed</a:t>
            </a:r>
            <a:endParaRPr lang="en-US" sz="1700"/>
          </a:p>
          <a:p>
            <a:pPr algn="l">
              <a:lnSpc>
                <a:spcPts val="1938"/>
              </a:lnSpc>
              <a:spcAft>
                <a:spcPts val="0"/>
              </a:spcAft>
            </a:pPr>
            <a:r>
              <a:rPr lang="en-US" sz="1700" b="0" dirty="0">
                <a:solidFill>
                  <a:srgbClr val="181C23"/>
                </a:solidFill>
                <a:latin typeface="Funnel Sans"/>
              </a:rPr>
              <a:t>rules.</a:t>
            </a:r>
            <a:endParaRPr lang="en-US" sz="1700"/>
          </a:p>
        </p:txBody>
      </p:sp>
      <p:sp>
        <p:nvSpPr>
          <p:cNvPr id="20" name="shape 20"/>
          <p:cNvSpPr/>
          <p:nvPr/>
        </p:nvSpPr>
        <p:spPr>
          <a:xfrm>
            <a:off x="8094133" y="2247900"/>
            <a:ext cx="3589867" cy="3073400"/>
          </a:xfrm>
          <a:prstGeom prst="rect">
            <a:avLst/>
          </a:prstGeom>
          <a:solidFill>
            <a:srgbClr val="FFFFFF"/>
          </a:solidFill>
          <a:ln w="12700">
            <a:solidFill>
              <a:srgbClr val="DEDCD6"/>
            </a:solidFill>
          </a:ln>
        </p:spPr>
      </p:sp>
      <p:sp>
        <p:nvSpPr>
          <p:cNvPr id="21" name="shape 21"/>
          <p:cNvSpPr/>
          <p:nvPr/>
        </p:nvSpPr>
        <p:spPr>
          <a:xfrm>
            <a:off x="8094133" y="2247900"/>
            <a:ext cx="38100" cy="3073400"/>
          </a:xfrm>
          <a:prstGeom prst="rect">
            <a:avLst/>
          </a:prstGeom>
          <a:solidFill>
            <a:srgbClr val="FF4F59"/>
          </a:solidFill>
          <a:ln>
            <a:noFill/>
          </a:ln>
        </p:spPr>
      </p:sp>
      <p:sp>
        <p:nvSpPr>
          <p:cNvPr id="22" name="shape 22"/>
          <p:cNvSpPr/>
          <p:nvPr/>
        </p:nvSpPr>
        <p:spPr>
          <a:xfrm>
            <a:off x="8297333" y="2438400"/>
            <a:ext cx="304800" cy="342900"/>
          </a:xfrm>
          <a:prstGeom prst="can">
            <a:avLst/>
          </a:prstGeom>
          <a:noFill/>
          <a:ln w="20320">
            <a:solidFill>
              <a:srgbClr val="FF4F59"/>
            </a:solidFill>
          </a:ln>
        </p:spPr>
      </p:sp>
      <p:sp>
        <p:nvSpPr>
          <p:cNvPr id="23" name="text 23"/>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When to use it</a:t>
            </a:r>
            <a:endParaRPr lang="en-US" sz="1900"/>
          </a:p>
        </p:txBody>
      </p:sp>
      <p:sp>
        <p:nvSpPr>
          <p:cNvPr id="24" name="text 24"/>
          <p:cNvSpPr/>
          <p:nvPr/>
        </p:nvSpPr>
        <p:spPr>
          <a:xfrm>
            <a:off x="8310033"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Code supports a ready asset</a:t>
            </a:r>
            <a:endParaRPr lang="en-US" sz="1700"/>
          </a:p>
          <a:p>
            <a:pPr algn="l">
              <a:lnSpc>
                <a:spcPts val="1938"/>
              </a:lnSpc>
              <a:spcAft>
                <a:spcPts val="0"/>
              </a:spcAft>
            </a:pPr>
            <a:r>
              <a:rPr lang="en-US" sz="1700" b="0" dirty="0">
                <a:solidFill>
                  <a:srgbClr val="181C23"/>
                </a:solidFill>
                <a:latin typeface="Funnel Sans"/>
              </a:rPr>
              <a:t>with published, bound rules in</a:t>
            </a:r>
            <a:endParaRPr lang="en-US" sz="1700"/>
          </a:p>
          <a:p>
            <a:pPr algn="l">
              <a:lnSpc>
                <a:spcPts val="1938"/>
              </a:lnSpc>
              <a:spcAft>
                <a:spcPts val="0"/>
              </a:spcAft>
            </a:pPr>
            <a:r>
              <a:rPr lang="en-US" sz="1700" b="0" dirty="0">
                <a:solidFill>
                  <a:srgbClr val="181C23"/>
                </a:solidFill>
                <a:latin typeface="Funnel Sans"/>
              </a:rPr>
              <a:t>the selected use case. New</a:t>
            </a:r>
            <a:endParaRPr lang="en-US" sz="1700"/>
          </a:p>
          <a:p>
            <a:pPr algn="l">
              <a:lnSpc>
                <a:spcPts val="1938"/>
              </a:lnSpc>
              <a:spcAft>
                <a:spcPts val="0"/>
              </a:spcAft>
            </a:pPr>
            <a:r>
              <a:rPr lang="en-US" sz="1700" b="0" dirty="0">
                <a:solidFill>
                  <a:srgbClr val="181C23"/>
                </a:solidFill>
                <a:latin typeface="Funnel Sans"/>
              </a:rPr>
              <a:t>launches are paused.</a:t>
            </a:r>
            <a:endParaRPr lang="en-US" sz="1700"/>
          </a:p>
        </p:txBody>
      </p:sp>
      <p:sp>
        <p:nvSpPr>
          <p:cNvPr id="25" name="shape 25"/>
          <p:cNvSpPr/>
          <p:nvPr/>
        </p:nvSpPr>
        <p:spPr>
          <a:xfrm>
            <a:off x="508000" y="5626100"/>
            <a:ext cx="11176000" cy="546100"/>
          </a:xfrm>
          <a:prstGeom prst="rect">
            <a:avLst/>
          </a:prstGeom>
          <a:solidFill>
            <a:srgbClr val="282A27"/>
          </a:solidFill>
          <a:ln>
            <a:noFill/>
          </a:ln>
        </p:spPr>
      </p:sp>
      <p:sp>
        <p:nvSpPr>
          <p:cNvPr id="26" name="text 26"/>
          <p:cNvSpPr/>
          <p:nvPr/>
        </p:nvSpPr>
        <p:spPr>
          <a:xfrm>
            <a:off x="698500" y="57658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PASS, VIOLATION or NOT-APPLICABLE per rule, with exceptions, rates and bounded evidence.</a:t>
            </a:r>
            <a:endParaRPr lang="en-US" sz="1600"/>
          </a:p>
        </p:txBody>
      </p:sp>
      <p:cxnSp>
        <p:nvCxnSpPr>
          <p:cNvPr id="27" name="connector 2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9" name="text 2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32 / 87</a:t>
            </a:r>
            <a:endParaRPr lang="en-US" sz="1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T2-D04 • B / APPROACH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Follow the governed processing path</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Cross-field business rule</a:t>
            </a:r>
            <a:endParaRPr lang="en-US" sz="1500"/>
          </a:p>
        </p:txBody>
      </p:sp>
      <p:sp>
        <p:nvSpPr>
          <p:cNvPr id="6" name="shape 6"/>
          <p:cNvSpPr/>
          <p:nvPr/>
        </p:nvSpPr>
        <p:spPr>
          <a:xfrm>
            <a:off x="9372600" y="215900"/>
            <a:ext cx="2311400" cy="317500"/>
          </a:xfrm>
          <a:prstGeom prst="roundRect">
            <a:avLst/>
          </a:prstGeom>
          <a:solidFill>
            <a:srgbClr val="FFF2DF"/>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Implemented • paused</a:t>
            </a:r>
            <a:endParaRPr lang="en-US" sz="1050"/>
          </a:p>
        </p:txBody>
      </p:sp>
      <p:sp>
        <p:nvSpPr>
          <p:cNvPr id="8" name="text 8"/>
          <p:cNvSpPr/>
          <p:nvPr/>
        </p:nvSpPr>
        <p:spPr>
          <a:xfrm>
            <a:off x="520700" y="2108200"/>
            <a:ext cx="990600" cy="2794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4F59"/>
                </a:solidFill>
                <a:latin typeface="Funnel Sans"/>
              </a:rPr>
              <a:t>INPUTS</a:t>
            </a:r>
            <a:endParaRPr lang="en-US" sz="1100"/>
          </a:p>
        </p:txBody>
      </p:sp>
      <p:sp>
        <p:nvSpPr>
          <p:cNvPr id="9" name="text 9"/>
          <p:cNvSpPr/>
          <p:nvPr/>
        </p:nvSpPr>
        <p:spPr>
          <a:xfrm>
            <a:off x="1574800" y="2082800"/>
            <a:ext cx="10096500" cy="6096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Published and bound KB rules; selected use case; resolved role-to-column bindings; source tables and</a:t>
            </a:r>
            <a:endParaRPr lang="en-US" sz="1600"/>
          </a:p>
          <a:p>
            <a:pPr algn="l">
              <a:lnSpc>
                <a:spcPts val="1824"/>
              </a:lnSpc>
              <a:spcAft>
                <a:spcPts val="0"/>
              </a:spcAft>
            </a:pPr>
            <a:r>
              <a:rPr lang="en-US" sz="1600" b="0" dirty="0">
                <a:solidFill>
                  <a:srgbClr val="181C23"/>
                </a:solidFill>
                <a:latin typeface="Funnel Sans"/>
              </a:rPr>
              <a:t>tolerances.</a:t>
            </a:r>
            <a:endParaRPr lang="en-US" sz="1600"/>
          </a:p>
        </p:txBody>
      </p:sp>
      <p:sp>
        <p:nvSpPr>
          <p:cNvPr id="10" name="shape 10"/>
          <p:cNvSpPr/>
          <p:nvPr/>
        </p:nvSpPr>
        <p:spPr>
          <a:xfrm>
            <a:off x="508000" y="2832100"/>
            <a:ext cx="2052320" cy="2374900"/>
          </a:xfrm>
          <a:prstGeom prst="rect">
            <a:avLst/>
          </a:prstGeom>
          <a:solidFill>
            <a:srgbClr val="FFF2DF"/>
          </a:solidFill>
          <a:ln w="12700">
            <a:solidFill>
              <a:srgbClr val="DEDCD6"/>
            </a:solidFill>
          </a:ln>
        </p:spPr>
      </p:sp>
      <p:sp>
        <p:nvSpPr>
          <p:cNvPr id="11" name="text 11"/>
          <p:cNvSpPr/>
          <p:nvPr/>
        </p:nvSpPr>
        <p:spPr>
          <a:xfrm>
            <a:off x="67310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2" name="text 12"/>
          <p:cNvSpPr/>
          <p:nvPr/>
        </p:nvSpPr>
        <p:spPr>
          <a:xfrm>
            <a:off x="67310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Select rules</a:t>
            </a:r>
            <a:endParaRPr lang="en-US" sz="1800"/>
          </a:p>
        </p:txBody>
      </p:sp>
      <p:sp>
        <p:nvSpPr>
          <p:cNvPr id="13" name="text 13"/>
          <p:cNvSpPr/>
          <p:nvPr/>
        </p:nvSpPr>
        <p:spPr>
          <a:xfrm>
            <a:off x="67310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Published, bound</a:t>
            </a:r>
            <a:endParaRPr lang="en-US" sz="1450"/>
          </a:p>
          <a:p>
            <a:pPr algn="l">
              <a:lnSpc>
                <a:spcPts val="1653"/>
              </a:lnSpc>
              <a:spcAft>
                <a:spcPts val="0"/>
              </a:spcAft>
            </a:pPr>
            <a:r>
              <a:rPr lang="en-US" sz="1450" b="0" dirty="0">
                <a:solidFill>
                  <a:srgbClr val="181C23"/>
                </a:solidFill>
                <a:latin typeface="Funnel Sans"/>
              </a:rPr>
              <a:t>and in scope</a:t>
            </a:r>
            <a:endParaRPr lang="en-US" sz="1450"/>
          </a:p>
        </p:txBody>
      </p:sp>
      <p:cxnSp>
        <p:nvCxnSpPr>
          <p:cNvPr id="14" name="connector 14"/>
          <p:cNvCxnSpPr/>
          <p:nvPr/>
        </p:nvCxnSpPr>
        <p:spPr>
          <a:xfrm>
            <a:off x="258572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88920" y="2832100"/>
            <a:ext cx="2052320" cy="2374900"/>
          </a:xfrm>
          <a:prstGeom prst="rect">
            <a:avLst/>
          </a:prstGeom>
          <a:solidFill>
            <a:srgbClr val="FFF2DF"/>
          </a:solidFill>
          <a:ln w="12700">
            <a:solidFill>
              <a:srgbClr val="DEDCD6"/>
            </a:solidFill>
          </a:ln>
        </p:spPr>
      </p:sp>
      <p:sp>
        <p:nvSpPr>
          <p:cNvPr id="16" name="text 16"/>
          <p:cNvSpPr/>
          <p:nvPr/>
        </p:nvSpPr>
        <p:spPr>
          <a:xfrm>
            <a:off x="295402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7" name="text 17"/>
          <p:cNvSpPr/>
          <p:nvPr/>
        </p:nvSpPr>
        <p:spPr>
          <a:xfrm>
            <a:off x="295402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Resolve roles</a:t>
            </a:r>
            <a:endParaRPr lang="en-US" sz="1800"/>
          </a:p>
        </p:txBody>
      </p:sp>
      <p:sp>
        <p:nvSpPr>
          <p:cNvPr id="18" name="text 18"/>
          <p:cNvSpPr/>
          <p:nvPr/>
        </p:nvSpPr>
        <p:spPr>
          <a:xfrm>
            <a:off x="295402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Map required</a:t>
            </a:r>
            <a:endParaRPr lang="en-US" sz="1450"/>
          </a:p>
          <a:p>
            <a:pPr algn="l">
              <a:lnSpc>
                <a:spcPts val="1653"/>
              </a:lnSpc>
              <a:spcAft>
                <a:spcPts val="0"/>
              </a:spcAft>
            </a:pPr>
            <a:r>
              <a:rPr lang="en-US" sz="1450" b="0" dirty="0">
                <a:solidFill>
                  <a:srgbClr val="181C23"/>
                </a:solidFill>
                <a:latin typeface="Funnel Sans"/>
              </a:rPr>
              <a:t>business fields</a:t>
            </a:r>
            <a:endParaRPr lang="en-US" sz="1450"/>
          </a:p>
        </p:txBody>
      </p:sp>
      <p:cxnSp>
        <p:nvCxnSpPr>
          <p:cNvPr id="19" name="connector 19"/>
          <p:cNvCxnSpPr/>
          <p:nvPr/>
        </p:nvCxnSpPr>
        <p:spPr>
          <a:xfrm>
            <a:off x="486664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5069840" y="2832100"/>
            <a:ext cx="2052320" cy="2374900"/>
          </a:xfrm>
          <a:prstGeom prst="rect">
            <a:avLst/>
          </a:prstGeom>
          <a:solidFill>
            <a:srgbClr val="FFF2DF"/>
          </a:solidFill>
          <a:ln w="12700">
            <a:solidFill>
              <a:srgbClr val="DEDCD6"/>
            </a:solidFill>
          </a:ln>
        </p:spPr>
      </p:sp>
      <p:sp>
        <p:nvSpPr>
          <p:cNvPr id="21" name="text 21"/>
          <p:cNvSpPr/>
          <p:nvPr/>
        </p:nvSpPr>
        <p:spPr>
          <a:xfrm>
            <a:off x="523494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2" name="text 22"/>
          <p:cNvSpPr/>
          <p:nvPr/>
        </p:nvSpPr>
        <p:spPr>
          <a:xfrm>
            <a:off x="523494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Apply scope</a:t>
            </a:r>
            <a:endParaRPr lang="en-US" sz="1800"/>
          </a:p>
        </p:txBody>
      </p:sp>
      <p:sp>
        <p:nvSpPr>
          <p:cNvPr id="23" name="text 23"/>
          <p:cNvSpPr/>
          <p:nvPr/>
        </p:nvSpPr>
        <p:spPr>
          <a:xfrm>
            <a:off x="523494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Conditions,</a:t>
            </a:r>
            <a:endParaRPr lang="en-US" sz="1450"/>
          </a:p>
          <a:p>
            <a:pPr algn="l">
              <a:lnSpc>
                <a:spcPts val="1653"/>
              </a:lnSpc>
              <a:spcAft>
                <a:spcPts val="0"/>
              </a:spcAft>
            </a:pPr>
            <a:r>
              <a:rPr lang="en-US" sz="1450" b="0" dirty="0">
                <a:solidFill>
                  <a:srgbClr val="181C23"/>
                </a:solidFill>
                <a:latin typeface="Funnel Sans"/>
              </a:rPr>
              <a:t>exceptions and</a:t>
            </a:r>
            <a:endParaRPr lang="en-US" sz="1450"/>
          </a:p>
          <a:p>
            <a:pPr algn="l">
              <a:lnSpc>
                <a:spcPts val="1653"/>
              </a:lnSpc>
              <a:spcAft>
                <a:spcPts val="0"/>
              </a:spcAft>
            </a:pPr>
            <a:r>
              <a:rPr lang="en-US" sz="1450" b="0" dirty="0">
                <a:solidFill>
                  <a:srgbClr val="181C23"/>
                </a:solidFill>
                <a:latin typeface="Funnel Sans"/>
              </a:rPr>
              <a:t>missingness</a:t>
            </a:r>
            <a:endParaRPr lang="en-US" sz="1450"/>
          </a:p>
        </p:txBody>
      </p:sp>
      <p:cxnSp>
        <p:nvCxnSpPr>
          <p:cNvPr id="24" name="connector 24"/>
          <p:cNvCxnSpPr/>
          <p:nvPr/>
        </p:nvCxnSpPr>
        <p:spPr>
          <a:xfrm>
            <a:off x="714756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7350760" y="2832100"/>
            <a:ext cx="2052320" cy="2374900"/>
          </a:xfrm>
          <a:prstGeom prst="rect">
            <a:avLst/>
          </a:prstGeom>
          <a:solidFill>
            <a:srgbClr val="FFF2DF"/>
          </a:solidFill>
          <a:ln w="12700">
            <a:solidFill>
              <a:srgbClr val="DEDCD6"/>
            </a:solidFill>
          </a:ln>
        </p:spPr>
      </p:sp>
      <p:sp>
        <p:nvSpPr>
          <p:cNvPr id="26" name="text 26"/>
          <p:cNvSpPr/>
          <p:nvPr/>
        </p:nvSpPr>
        <p:spPr>
          <a:xfrm>
            <a:off x="751586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7" name="text 27"/>
          <p:cNvSpPr/>
          <p:nvPr/>
        </p:nvSpPr>
        <p:spPr>
          <a:xfrm>
            <a:off x="751586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Evaluate rules</a:t>
            </a:r>
            <a:endParaRPr lang="en-US" sz="1800"/>
          </a:p>
        </p:txBody>
      </p:sp>
      <p:sp>
        <p:nvSpPr>
          <p:cNvPr id="28" name="text 28"/>
          <p:cNvSpPr/>
          <p:nvPr/>
        </p:nvSpPr>
        <p:spPr>
          <a:xfrm>
            <a:off x="751586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Count violations</a:t>
            </a:r>
            <a:endParaRPr lang="en-US" sz="1450"/>
          </a:p>
          <a:p>
            <a:pPr algn="l">
              <a:lnSpc>
                <a:spcPts val="1653"/>
              </a:lnSpc>
              <a:spcAft>
                <a:spcPts val="0"/>
              </a:spcAft>
            </a:pPr>
            <a:r>
              <a:rPr lang="en-US" sz="1450" b="0" dirty="0">
                <a:solidFill>
                  <a:srgbClr val="181C23"/>
                </a:solidFill>
                <a:latin typeface="Funnel Sans"/>
              </a:rPr>
              <a:t>over evaluated</a:t>
            </a:r>
            <a:endParaRPr lang="en-US" sz="1450"/>
          </a:p>
          <a:p>
            <a:pPr algn="l">
              <a:lnSpc>
                <a:spcPts val="1653"/>
              </a:lnSpc>
              <a:spcAft>
                <a:spcPts val="0"/>
              </a:spcAft>
            </a:pPr>
            <a:r>
              <a:rPr lang="en-US" sz="1450" b="0" dirty="0">
                <a:solidFill>
                  <a:srgbClr val="181C23"/>
                </a:solidFill>
                <a:latin typeface="Funnel Sans"/>
              </a:rPr>
              <a:t>rows</a:t>
            </a:r>
            <a:endParaRPr lang="en-US" sz="1450"/>
          </a:p>
        </p:txBody>
      </p:sp>
      <p:cxnSp>
        <p:nvCxnSpPr>
          <p:cNvPr id="29" name="connector 29"/>
          <p:cNvCxnSpPr/>
          <p:nvPr/>
        </p:nvCxnSpPr>
        <p:spPr>
          <a:xfrm>
            <a:off x="942848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9631680" y="2832100"/>
            <a:ext cx="2052320" cy="2374900"/>
          </a:xfrm>
          <a:prstGeom prst="rect">
            <a:avLst/>
          </a:prstGeom>
          <a:solidFill>
            <a:srgbClr val="FFF2DF"/>
          </a:solidFill>
          <a:ln w="12700">
            <a:solidFill>
              <a:srgbClr val="DEDCD6"/>
            </a:solidFill>
          </a:ln>
        </p:spPr>
      </p:sp>
      <p:sp>
        <p:nvSpPr>
          <p:cNvPr id="31" name="text 31"/>
          <p:cNvSpPr/>
          <p:nvPr/>
        </p:nvSpPr>
        <p:spPr>
          <a:xfrm>
            <a:off x="979678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2" name="text 32"/>
          <p:cNvSpPr/>
          <p:nvPr/>
        </p:nvSpPr>
        <p:spPr>
          <a:xfrm>
            <a:off x="979678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Persist &amp; hand</a:t>
            </a:r>
            <a:endParaRPr lang="en-US" sz="1800"/>
          </a:p>
          <a:p>
            <a:pPr algn="l">
              <a:lnSpc>
                <a:spcPts val="2052"/>
              </a:lnSpc>
              <a:spcAft>
                <a:spcPts val="0"/>
              </a:spcAft>
            </a:pPr>
            <a:r>
              <a:rPr lang="en-US" sz="1800" b="1" dirty="0">
                <a:solidFill>
                  <a:srgbClr val="181C23"/>
                </a:solidFill>
                <a:latin typeface="Funnel Sans"/>
              </a:rPr>
              <a:t>off</a:t>
            </a:r>
            <a:endParaRPr lang="en-US" sz="1800"/>
          </a:p>
        </p:txBody>
      </p:sp>
      <p:sp>
        <p:nvSpPr>
          <p:cNvPr id="33" name="text 33"/>
          <p:cNvSpPr/>
          <p:nvPr/>
        </p:nvSpPr>
        <p:spPr>
          <a:xfrm>
            <a:off x="979678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Store verdicts;</a:t>
            </a:r>
            <a:endParaRPr lang="en-US" sz="1450"/>
          </a:p>
          <a:p>
            <a:pPr algn="l">
              <a:lnSpc>
                <a:spcPts val="1653"/>
              </a:lnSpc>
              <a:spcAft>
                <a:spcPts val="0"/>
              </a:spcAft>
            </a:pPr>
            <a:r>
              <a:rPr lang="en-US" sz="1450" b="0" dirty="0">
                <a:solidFill>
                  <a:srgbClr val="181C23"/>
                </a:solidFill>
                <a:latin typeface="Funnel Sans"/>
              </a:rPr>
              <a:t>synchronize</a:t>
            </a:r>
            <a:endParaRPr lang="en-US" sz="1450"/>
          </a:p>
          <a:p>
            <a:pPr algn="l">
              <a:lnSpc>
                <a:spcPts val="1653"/>
              </a:lnSpc>
              <a:spcAft>
                <a:spcPts val="0"/>
              </a:spcAft>
            </a:pPr>
            <a:r>
              <a:rPr lang="en-US" sz="1450" b="0" dirty="0">
                <a:solidFill>
                  <a:srgbClr val="181C23"/>
                </a:solidFill>
                <a:latin typeface="Funnel Sans"/>
              </a:rPr>
              <a:t>violations</a:t>
            </a:r>
            <a:endParaRPr lang="en-US" sz="1450"/>
          </a:p>
        </p:txBody>
      </p:sp>
      <p:sp>
        <p:nvSpPr>
          <p:cNvPr id="34" name="shape 34"/>
          <p:cNvSpPr/>
          <p:nvPr/>
        </p:nvSpPr>
        <p:spPr>
          <a:xfrm>
            <a:off x="508000" y="5562600"/>
            <a:ext cx="11176000" cy="546100"/>
          </a:xfrm>
          <a:prstGeom prst="rect">
            <a:avLst/>
          </a:prstGeom>
          <a:solidFill>
            <a:srgbClr val="282A27"/>
          </a:solidFill>
          <a:ln>
            <a:noFill/>
          </a:ln>
        </p:spPr>
      </p:sp>
      <p:sp>
        <p:nvSpPr>
          <p:cNvPr id="35" name="text 35"/>
          <p:cNvSpPr/>
          <p:nvPr/>
        </p:nvSpPr>
        <p:spPr>
          <a:xfrm>
            <a:off x="698500" y="57023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Availability gate: workflow_pending. Engine and report code exist; current configuration blocks new launches.</a:t>
            </a:r>
            <a:endParaRPr lang="en-US" sz="1600"/>
          </a:p>
        </p:txBody>
      </p:sp>
      <p:cxnSp>
        <p:nvCxnSpPr>
          <p:cNvPr id="36" name="connector 3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text 3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8" name="text 3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33 / 87</a:t>
            </a:r>
            <a:endParaRPr lang="en-US" sz="10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T2-D04 • C / EVIDENCE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Read the metrics alongside scope and limitations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Cross-field business rule</a:t>
            </a:r>
            <a:endParaRPr lang="en-US" sz="1500"/>
          </a:p>
        </p:txBody>
      </p:sp>
      <p:sp>
        <p:nvSpPr>
          <p:cNvPr id="6" name="shape 6"/>
          <p:cNvSpPr/>
          <p:nvPr/>
        </p:nvSpPr>
        <p:spPr>
          <a:xfrm>
            <a:off x="9372600" y="215900"/>
            <a:ext cx="2311400" cy="317500"/>
          </a:xfrm>
          <a:prstGeom prst="roundRect">
            <a:avLst/>
          </a:prstGeom>
          <a:solidFill>
            <a:srgbClr val="FFF2DF"/>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Implemented • paused</a:t>
            </a:r>
            <a:endParaRPr lang="en-US" sz="1050"/>
          </a:p>
        </p:txBody>
      </p:sp>
      <p:sp>
        <p:nvSpPr>
          <p:cNvPr id="8" name="shape 8"/>
          <p:cNvSpPr/>
          <p:nvPr/>
        </p:nvSpPr>
        <p:spPr>
          <a:xfrm>
            <a:off x="508000" y="2222500"/>
            <a:ext cx="3589867" cy="3238500"/>
          </a:xfrm>
          <a:prstGeom prst="rect">
            <a:avLst/>
          </a:prstGeom>
          <a:solidFill>
            <a:srgbClr val="FFFFFF"/>
          </a:solidFill>
          <a:ln w="12700">
            <a:solidFill>
              <a:srgbClr val="DEDCD6"/>
            </a:solidFill>
          </a:ln>
        </p:spPr>
      </p:sp>
      <p:sp>
        <p:nvSpPr>
          <p:cNvPr id="9" name="shape 9"/>
          <p:cNvSpPr/>
          <p:nvPr/>
        </p:nvSpPr>
        <p:spPr>
          <a:xfrm>
            <a:off x="508000" y="2222500"/>
            <a:ext cx="38100" cy="3238500"/>
          </a:xfrm>
          <a:prstGeom prst="rect">
            <a:avLst/>
          </a:prstGeom>
          <a:solidFill>
            <a:srgbClr val="FF4F59"/>
          </a:solidFill>
          <a:ln>
            <a:noFill/>
          </a:ln>
        </p:spPr>
      </p:sp>
      <p:sp>
        <p:nvSpPr>
          <p:cNvPr id="10" name="shape 10"/>
          <p:cNvSpPr/>
          <p:nvPr/>
        </p:nvSpPr>
        <p:spPr>
          <a:xfrm>
            <a:off x="711200" y="2628900"/>
            <a:ext cx="63500" cy="127000"/>
          </a:xfrm>
          <a:prstGeom prst="rect">
            <a:avLst/>
          </a:prstGeom>
          <a:solidFill>
            <a:srgbClr val="FF4F59"/>
          </a:solidFill>
          <a:ln>
            <a:noFill/>
          </a:ln>
        </p:spPr>
      </p:sp>
      <p:sp>
        <p:nvSpPr>
          <p:cNvPr id="11" name="shape 11"/>
          <p:cNvSpPr/>
          <p:nvPr/>
        </p:nvSpPr>
        <p:spPr>
          <a:xfrm>
            <a:off x="825500" y="2501900"/>
            <a:ext cx="63500" cy="254000"/>
          </a:xfrm>
          <a:prstGeom prst="rect">
            <a:avLst/>
          </a:prstGeom>
          <a:solidFill>
            <a:srgbClr val="FF4F59"/>
          </a:solidFill>
          <a:ln>
            <a:noFill/>
          </a:ln>
        </p:spPr>
      </p:sp>
      <p:sp>
        <p:nvSpPr>
          <p:cNvPr id="12" name="shape 12"/>
          <p:cNvSpPr/>
          <p:nvPr/>
        </p:nvSpPr>
        <p:spPr>
          <a:xfrm>
            <a:off x="939800" y="2413000"/>
            <a:ext cx="63500" cy="342900"/>
          </a:xfrm>
          <a:prstGeom prst="rect">
            <a:avLst/>
          </a:prstGeom>
          <a:solidFill>
            <a:srgbClr val="FF4F59"/>
          </a:solidFill>
          <a:ln>
            <a:noFill/>
          </a:ln>
        </p:spPr>
      </p:sp>
      <p:sp>
        <p:nvSpPr>
          <p:cNvPr id="13" name="text 13"/>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Rule-level accounting</a:t>
            </a:r>
            <a:endParaRPr lang="en-US" sz="1900"/>
          </a:p>
        </p:txBody>
      </p:sp>
      <p:sp>
        <p:nvSpPr>
          <p:cNvPr id="14" name="text 14"/>
          <p:cNvSpPr/>
          <p:nvPr/>
        </p:nvSpPr>
        <p:spPr>
          <a:xfrm>
            <a:off x="723900"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Evaluated, excepted and</a:t>
            </a:r>
            <a:endParaRPr lang="en-US" sz="1700"/>
          </a:p>
          <a:p>
            <a:pPr algn="l">
              <a:lnSpc>
                <a:spcPts val="1938"/>
              </a:lnSpc>
              <a:spcAft>
                <a:spcPts val="0"/>
              </a:spcAft>
            </a:pPr>
            <a:r>
              <a:rPr lang="en-US" sz="1700" b="0" dirty="0">
                <a:solidFill>
                  <a:srgbClr val="181C23"/>
                </a:solidFill>
                <a:latin typeface="Funnel Sans"/>
              </a:rPr>
              <a:t>skipped row counts; violation</a:t>
            </a:r>
            <a:endParaRPr lang="en-US" sz="1700"/>
          </a:p>
          <a:p>
            <a:pPr algn="l">
              <a:lnSpc>
                <a:spcPts val="1938"/>
              </a:lnSpc>
              <a:spcAft>
                <a:spcPts val="0"/>
              </a:spcAft>
            </a:pPr>
            <a:r>
              <a:rPr lang="en-US" sz="1700" b="0" dirty="0">
                <a:solidFill>
                  <a:srgbClr val="181C23"/>
                </a:solidFill>
                <a:latin typeface="Funnel Sans"/>
              </a:rPr>
              <a:t>count/rate; resolved roles and</a:t>
            </a:r>
            <a:endParaRPr lang="en-US" sz="1700"/>
          </a:p>
          <a:p>
            <a:pPr algn="l">
              <a:lnSpc>
                <a:spcPts val="1938"/>
              </a:lnSpc>
              <a:spcAft>
                <a:spcPts val="0"/>
              </a:spcAft>
            </a:pPr>
            <a:r>
              <a:rPr lang="en-US" sz="1700" b="0" dirty="0">
                <a:solidFill>
                  <a:srgbClr val="181C23"/>
                </a:solidFill>
                <a:latin typeface="Funnel Sans"/>
              </a:rPr>
              <a:t>rule text.</a:t>
            </a:r>
            <a:endParaRPr lang="en-US" sz="1700"/>
          </a:p>
        </p:txBody>
      </p:sp>
      <p:sp>
        <p:nvSpPr>
          <p:cNvPr id="15" name="shape 15"/>
          <p:cNvSpPr/>
          <p:nvPr/>
        </p:nvSpPr>
        <p:spPr>
          <a:xfrm>
            <a:off x="4301067" y="2222500"/>
            <a:ext cx="3589867" cy="3238500"/>
          </a:xfrm>
          <a:prstGeom prst="rect">
            <a:avLst/>
          </a:prstGeom>
          <a:solidFill>
            <a:srgbClr val="FFFFFF"/>
          </a:solidFill>
          <a:ln w="12700">
            <a:solidFill>
              <a:srgbClr val="DEDCD6"/>
            </a:solidFill>
          </a:ln>
        </p:spPr>
      </p:sp>
      <p:sp>
        <p:nvSpPr>
          <p:cNvPr id="16" name="shape 16"/>
          <p:cNvSpPr/>
          <p:nvPr/>
        </p:nvSpPr>
        <p:spPr>
          <a:xfrm>
            <a:off x="4301067" y="2222500"/>
            <a:ext cx="38100" cy="3238500"/>
          </a:xfrm>
          <a:prstGeom prst="rect">
            <a:avLst/>
          </a:prstGeom>
          <a:solidFill>
            <a:srgbClr val="FF4F59"/>
          </a:solidFill>
          <a:ln>
            <a:noFill/>
          </a:ln>
        </p:spPr>
      </p:sp>
      <p:sp>
        <p:nvSpPr>
          <p:cNvPr id="17" name="shape 17"/>
          <p:cNvSpPr/>
          <p:nvPr/>
        </p:nvSpPr>
        <p:spPr>
          <a:xfrm>
            <a:off x="4529667" y="2413000"/>
            <a:ext cx="292100" cy="342900"/>
          </a:xfrm>
          <a:prstGeom prst="rect">
            <a:avLst/>
          </a:prstGeom>
          <a:noFill/>
          <a:ln w="12700">
            <a:solidFill>
              <a:srgbClr val="FF4F59"/>
            </a:solidFill>
          </a:ln>
        </p:spPr>
      </p:sp>
      <p:cxnSp>
        <p:nvCxnSpPr>
          <p:cNvPr id="18" name="connector 18"/>
          <p:cNvCxnSpPr/>
          <p:nvPr/>
        </p:nvCxnSpPr>
        <p:spPr>
          <a:xfrm>
            <a:off x="4593167"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9" name="connector 19"/>
          <p:cNvCxnSpPr/>
          <p:nvPr/>
        </p:nvCxnSpPr>
        <p:spPr>
          <a:xfrm>
            <a:off x="4593167"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0" name="connector 20"/>
          <p:cNvCxnSpPr/>
          <p:nvPr/>
        </p:nvCxnSpPr>
        <p:spPr>
          <a:xfrm>
            <a:off x="4593167"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1" name="text 21"/>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Pattern evidence</a:t>
            </a:r>
            <a:endParaRPr lang="en-US" sz="1900"/>
          </a:p>
        </p:txBody>
      </p:sp>
      <p:sp>
        <p:nvSpPr>
          <p:cNvPr id="22" name="text 22"/>
          <p:cNvSpPr/>
          <p:nvPr/>
        </p:nvSpPr>
        <p:spPr>
          <a:xfrm>
            <a:off x="4516967"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Bounded examples and</a:t>
            </a:r>
            <a:endParaRPr lang="en-US" sz="1700"/>
          </a:p>
          <a:p>
            <a:pPr algn="l">
              <a:lnSpc>
                <a:spcPts val="1938"/>
              </a:lnSpc>
              <a:spcAft>
                <a:spcPts val="0"/>
              </a:spcAft>
            </a:pPr>
            <a:r>
              <a:rPr lang="en-US" sz="1700" b="0" dirty="0">
                <a:solidFill>
                  <a:srgbClr val="181C23"/>
                </a:solidFill>
                <a:latin typeface="Funnel Sans"/>
              </a:rPr>
              <a:t>segment concentration</a:t>
            </a:r>
            <a:endParaRPr lang="en-US" sz="1700"/>
          </a:p>
          <a:p>
            <a:pPr algn="l">
              <a:lnSpc>
                <a:spcPts val="1938"/>
              </a:lnSpc>
              <a:spcAft>
                <a:spcPts val="0"/>
              </a:spcAft>
            </a:pPr>
            <a:r>
              <a:rPr lang="en-US" sz="1700" b="0" dirty="0">
                <a:solidFill>
                  <a:srgbClr val="181C23"/>
                </a:solidFill>
                <a:latin typeface="Funnel Sans"/>
              </a:rPr>
              <a:t>support localizing a rule</a:t>
            </a:r>
            <a:endParaRPr lang="en-US" sz="1700"/>
          </a:p>
          <a:p>
            <a:pPr algn="l">
              <a:lnSpc>
                <a:spcPts val="1938"/>
              </a:lnSpc>
              <a:spcAft>
                <a:spcPts val="0"/>
              </a:spcAft>
            </a:pPr>
            <a:r>
              <a:rPr lang="en-US" sz="1700" b="0" dirty="0">
                <a:solidFill>
                  <a:srgbClr val="181C23"/>
                </a:solidFill>
                <a:latin typeface="Funnel Sans"/>
              </a:rPr>
              <a:t>violation.</a:t>
            </a:r>
            <a:endParaRPr lang="en-US" sz="1700"/>
          </a:p>
        </p:txBody>
      </p:sp>
      <p:sp>
        <p:nvSpPr>
          <p:cNvPr id="23" name="shape 23"/>
          <p:cNvSpPr/>
          <p:nvPr/>
        </p:nvSpPr>
        <p:spPr>
          <a:xfrm>
            <a:off x="8094133" y="2222500"/>
            <a:ext cx="3589867" cy="3238500"/>
          </a:xfrm>
          <a:prstGeom prst="rect">
            <a:avLst/>
          </a:prstGeom>
          <a:solidFill>
            <a:srgbClr val="FFFFFF"/>
          </a:solidFill>
          <a:ln w="12700">
            <a:solidFill>
              <a:srgbClr val="DEDCD6"/>
            </a:solidFill>
          </a:ln>
        </p:spPr>
      </p:sp>
      <p:sp>
        <p:nvSpPr>
          <p:cNvPr id="24" name="shape 24"/>
          <p:cNvSpPr/>
          <p:nvPr/>
        </p:nvSpPr>
        <p:spPr>
          <a:xfrm>
            <a:off x="8094133" y="2222500"/>
            <a:ext cx="38100" cy="3238500"/>
          </a:xfrm>
          <a:prstGeom prst="rect">
            <a:avLst/>
          </a:prstGeom>
          <a:solidFill>
            <a:srgbClr val="FF4F59"/>
          </a:solidFill>
          <a:ln>
            <a:noFill/>
          </a:ln>
        </p:spPr>
      </p:sp>
      <p:sp>
        <p:nvSpPr>
          <p:cNvPr id="25" name="shape 25"/>
          <p:cNvSpPr/>
          <p:nvPr/>
        </p:nvSpPr>
        <p:spPr>
          <a:xfrm>
            <a:off x="8297333" y="2413000"/>
            <a:ext cx="342900" cy="342900"/>
          </a:xfrm>
          <a:prstGeom prst="ellipse">
            <a:avLst/>
          </a:prstGeom>
          <a:noFill/>
          <a:ln w="19050">
            <a:solidFill>
              <a:srgbClr val="FF4F59"/>
            </a:solidFill>
          </a:ln>
        </p:spPr>
      </p:sp>
      <p:cxnSp>
        <p:nvCxnSpPr>
          <p:cNvPr id="26" name="connector 26"/>
          <p:cNvCxnSpPr/>
          <p:nvPr/>
        </p:nvCxnSpPr>
        <p:spPr>
          <a:xfrm>
            <a:off x="8373533" y="25908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7" name="connector 27"/>
          <p:cNvCxnSpPr/>
          <p:nvPr/>
        </p:nvCxnSpPr>
        <p:spPr>
          <a:xfrm flipV="1">
            <a:off x="8437033" y="25146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Structured report</a:t>
            </a:r>
            <a:endParaRPr lang="en-US" sz="1900"/>
          </a:p>
        </p:txBody>
      </p:sp>
      <p:sp>
        <p:nvSpPr>
          <p:cNvPr id="29" name="text 29"/>
          <p:cNvSpPr/>
          <p:nvPr/>
        </p:nvSpPr>
        <p:spPr>
          <a:xfrm>
            <a:off x="8310033"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Dataset rollup, severity,</a:t>
            </a:r>
            <a:endParaRPr lang="en-US" sz="1700"/>
          </a:p>
          <a:p>
            <a:pPr algn="l">
              <a:lnSpc>
                <a:spcPts val="1938"/>
              </a:lnSpc>
              <a:spcAft>
                <a:spcPts val="0"/>
              </a:spcAft>
            </a:pPr>
            <a:r>
              <a:rPr lang="en-US" sz="1700" b="0" dirty="0">
                <a:solidFill>
                  <a:srgbClr val="181C23"/>
                </a:solidFill>
                <a:latin typeface="Funnel Sans"/>
              </a:rPr>
              <a:t>parameter sources and</a:t>
            </a:r>
            <a:endParaRPr lang="en-US" sz="1700"/>
          </a:p>
          <a:p>
            <a:pPr algn="l">
              <a:lnSpc>
                <a:spcPts val="1938"/>
              </a:lnSpc>
              <a:spcAft>
                <a:spcPts val="0"/>
              </a:spcAft>
            </a:pPr>
            <a:r>
              <a:rPr lang="en-US" sz="1700" b="0" dirty="0">
                <a:solidFill>
                  <a:srgbClr val="181C23"/>
                </a:solidFill>
                <a:latin typeface="Funnel Sans"/>
              </a:rPr>
              <a:t>NOT-APPLICABLE reasons;</a:t>
            </a:r>
            <a:endParaRPr lang="en-US" sz="1700"/>
          </a:p>
          <a:p>
            <a:pPr algn="l">
              <a:lnSpc>
                <a:spcPts val="1938"/>
              </a:lnSpc>
              <a:spcAft>
                <a:spcPts val="0"/>
              </a:spcAft>
            </a:pPr>
            <a:r>
              <a:rPr lang="en-US" sz="1700" b="0" dirty="0">
                <a:solidFill>
                  <a:srgbClr val="181C23"/>
                </a:solidFill>
                <a:latin typeface="Funnel Sans"/>
              </a:rPr>
              <a:t>PDF/text rendering code.</a:t>
            </a:r>
            <a:endParaRPr lang="en-US" sz="1700"/>
          </a:p>
        </p:txBody>
      </p:sp>
      <p:sp>
        <p:nvSpPr>
          <p:cNvPr id="30" name="shape 30"/>
          <p:cNvSpPr/>
          <p:nvPr/>
        </p:nvSpPr>
        <p:spPr>
          <a:xfrm>
            <a:off x="508000" y="5651500"/>
            <a:ext cx="11176000" cy="546100"/>
          </a:xfrm>
          <a:prstGeom prst="rect">
            <a:avLst/>
          </a:prstGeom>
          <a:solidFill>
            <a:srgbClr val="282A27"/>
          </a:solidFill>
          <a:ln>
            <a:noFill/>
          </a:ln>
        </p:spPr>
      </p:sp>
      <p:sp>
        <p:nvSpPr>
          <p:cNvPr id="31" name="text 31"/>
          <p:cNvSpPr/>
          <p:nvPr/>
        </p:nvSpPr>
        <p:spPr>
          <a:xfrm>
            <a:off x="698500" y="57912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Decision rule: violation rate ≤ tolerance → PASS; otherwise VIOLATION.</a:t>
            </a:r>
            <a:endParaRPr lang="en-US" sz="1600"/>
          </a:p>
        </p:txBody>
      </p:sp>
      <p:cxnSp>
        <p:nvCxnSpPr>
          <p:cNvPr id="32" name="connector 3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text 3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4" name="text 3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34 / 87</a:t>
            </a:r>
            <a:endParaRPr lang="en-US" sz="10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T2-D04 • D / LAUNCH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Confirm the scope, launch once and review final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Cross-field business rule</a:t>
            </a:r>
            <a:endParaRPr lang="en-US" sz="1500"/>
          </a:p>
        </p:txBody>
      </p:sp>
      <p:sp>
        <p:nvSpPr>
          <p:cNvPr id="6" name="shape 6"/>
          <p:cNvSpPr/>
          <p:nvPr/>
        </p:nvSpPr>
        <p:spPr>
          <a:xfrm>
            <a:off x="9372600" y="215900"/>
            <a:ext cx="2311400" cy="317500"/>
          </a:xfrm>
          <a:prstGeom prst="roundRect">
            <a:avLst/>
          </a:prstGeom>
          <a:solidFill>
            <a:srgbClr val="FFF2DF"/>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Implemented • paused</a:t>
            </a:r>
            <a:endParaRPr lang="en-US" sz="1050"/>
          </a:p>
        </p:txBody>
      </p:sp>
      <p:sp>
        <p:nvSpPr>
          <p:cNvPr id="8" name="shape 8"/>
          <p:cNvSpPr/>
          <p:nvPr/>
        </p:nvSpPr>
        <p:spPr>
          <a:xfrm>
            <a:off x="508000" y="2247900"/>
            <a:ext cx="2052320" cy="2311400"/>
          </a:xfrm>
          <a:prstGeom prst="rect">
            <a:avLst/>
          </a:prstGeom>
          <a:solidFill>
            <a:srgbClr val="FFF2DF"/>
          </a:solidFill>
          <a:ln w="12700">
            <a:solidFill>
              <a:srgbClr val="DEDCD6"/>
            </a:solidFill>
          </a:ln>
        </p:spPr>
      </p:sp>
      <p:sp>
        <p:nvSpPr>
          <p:cNvPr id="9" name="text 9"/>
          <p:cNvSpPr/>
          <p:nvPr/>
        </p:nvSpPr>
        <p:spPr>
          <a:xfrm>
            <a:off x="67310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0" name="text 10"/>
          <p:cNvSpPr/>
          <p:nvPr/>
        </p:nvSpPr>
        <p:spPr>
          <a:xfrm>
            <a:off x="67310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Inspect</a:t>
            </a:r>
            <a:endParaRPr lang="en-US" sz="1800"/>
          </a:p>
          <a:p>
            <a:pPr algn="l">
              <a:lnSpc>
                <a:spcPts val="2052"/>
              </a:lnSpc>
              <a:spcAft>
                <a:spcPts val="0"/>
              </a:spcAft>
            </a:pPr>
            <a:r>
              <a:rPr lang="en-US" sz="1800" b="1" dirty="0">
                <a:solidFill>
                  <a:srgbClr val="181C23"/>
                </a:solidFill>
                <a:latin typeface="Funnel Sans"/>
              </a:rPr>
              <a:t>coverage</a:t>
            </a:r>
            <a:endParaRPr lang="en-US" sz="1800"/>
          </a:p>
        </p:txBody>
      </p:sp>
      <p:sp>
        <p:nvSpPr>
          <p:cNvPr id="11" name="text 11"/>
          <p:cNvSpPr/>
          <p:nvPr/>
        </p:nvSpPr>
        <p:spPr>
          <a:xfrm>
            <a:off x="67310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Current card shows</a:t>
            </a:r>
            <a:endParaRPr lang="en-US" sz="1450"/>
          </a:p>
          <a:p>
            <a:pPr algn="l">
              <a:lnSpc>
                <a:spcPts val="1653"/>
              </a:lnSpc>
              <a:spcAft>
                <a:spcPts val="0"/>
              </a:spcAft>
            </a:pPr>
            <a:r>
              <a:rPr lang="en-US" sz="1450" b="0" dirty="0">
                <a:solidFill>
                  <a:srgbClr val="181C23"/>
                </a:solidFill>
                <a:latin typeface="Funnel Sans"/>
              </a:rPr>
              <a:t>workflow pending</a:t>
            </a:r>
            <a:endParaRPr lang="en-US" sz="1450"/>
          </a:p>
        </p:txBody>
      </p:sp>
      <p:cxnSp>
        <p:nvCxnSpPr>
          <p:cNvPr id="12" name="connector 12"/>
          <p:cNvCxnSpPr/>
          <p:nvPr/>
        </p:nvCxnSpPr>
        <p:spPr>
          <a:xfrm>
            <a:off x="258572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2788920" y="2247900"/>
            <a:ext cx="2052320" cy="2311400"/>
          </a:xfrm>
          <a:prstGeom prst="rect">
            <a:avLst/>
          </a:prstGeom>
          <a:solidFill>
            <a:srgbClr val="FFF2DF"/>
          </a:solidFill>
          <a:ln w="12700">
            <a:solidFill>
              <a:srgbClr val="DEDCD6"/>
            </a:solidFill>
          </a:ln>
        </p:spPr>
      </p:sp>
      <p:sp>
        <p:nvSpPr>
          <p:cNvPr id="14" name="text 14"/>
          <p:cNvSpPr/>
          <p:nvPr/>
        </p:nvSpPr>
        <p:spPr>
          <a:xfrm>
            <a:off x="295402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5" name="text 15"/>
          <p:cNvSpPr/>
          <p:nvPr/>
        </p:nvSpPr>
        <p:spPr>
          <a:xfrm>
            <a:off x="295402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Resolve scope</a:t>
            </a:r>
            <a:endParaRPr lang="en-US" sz="1800"/>
          </a:p>
        </p:txBody>
      </p:sp>
      <p:sp>
        <p:nvSpPr>
          <p:cNvPr id="16" name="text 16"/>
          <p:cNvSpPr/>
          <p:nvPr/>
        </p:nvSpPr>
        <p:spPr>
          <a:xfrm>
            <a:off x="295402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When re-enabled:</a:t>
            </a:r>
            <a:endParaRPr lang="en-US" sz="1450"/>
          </a:p>
          <a:p>
            <a:pPr algn="l">
              <a:lnSpc>
                <a:spcPts val="1653"/>
              </a:lnSpc>
              <a:spcAft>
                <a:spcPts val="0"/>
              </a:spcAft>
            </a:pPr>
            <a:r>
              <a:rPr lang="en-US" sz="1450" b="0" dirty="0">
                <a:solidFill>
                  <a:srgbClr val="181C23"/>
                </a:solidFill>
                <a:latin typeface="Funnel Sans"/>
              </a:rPr>
              <a:t>use case and tables</a:t>
            </a:r>
            <a:endParaRPr lang="en-US" sz="1450"/>
          </a:p>
        </p:txBody>
      </p:sp>
      <p:cxnSp>
        <p:nvCxnSpPr>
          <p:cNvPr id="17" name="connector 17"/>
          <p:cNvCxnSpPr/>
          <p:nvPr/>
        </p:nvCxnSpPr>
        <p:spPr>
          <a:xfrm>
            <a:off x="486664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69840" y="2247900"/>
            <a:ext cx="2052320" cy="2311400"/>
          </a:xfrm>
          <a:prstGeom prst="rect">
            <a:avLst/>
          </a:prstGeom>
          <a:solidFill>
            <a:srgbClr val="FFF2DF"/>
          </a:solidFill>
          <a:ln w="12700">
            <a:solidFill>
              <a:srgbClr val="DEDCD6"/>
            </a:solidFill>
          </a:ln>
        </p:spPr>
      </p:sp>
      <p:sp>
        <p:nvSpPr>
          <p:cNvPr id="19" name="text 19"/>
          <p:cNvSpPr/>
          <p:nvPr/>
        </p:nvSpPr>
        <p:spPr>
          <a:xfrm>
            <a:off x="523494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0" name="text 20"/>
          <p:cNvSpPr/>
          <p:nvPr/>
        </p:nvSpPr>
        <p:spPr>
          <a:xfrm>
            <a:off x="523494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 rules</a:t>
            </a:r>
            <a:endParaRPr lang="en-US" sz="1800"/>
          </a:p>
        </p:txBody>
      </p:sp>
      <p:sp>
        <p:nvSpPr>
          <p:cNvPr id="21" name="text 21"/>
          <p:cNvSpPr/>
          <p:nvPr/>
        </p:nvSpPr>
        <p:spPr>
          <a:xfrm>
            <a:off x="523494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Confirm roles,</a:t>
            </a:r>
            <a:endParaRPr lang="en-US" sz="1450"/>
          </a:p>
          <a:p>
            <a:pPr algn="l">
              <a:lnSpc>
                <a:spcPts val="1653"/>
              </a:lnSpc>
              <a:spcAft>
                <a:spcPts val="0"/>
              </a:spcAft>
            </a:pPr>
            <a:r>
              <a:rPr lang="en-US" sz="1450" b="0" dirty="0">
                <a:solidFill>
                  <a:srgbClr val="181C23"/>
                </a:solidFill>
                <a:latin typeface="Funnel Sans"/>
              </a:rPr>
              <a:t>exclusions and</a:t>
            </a:r>
            <a:endParaRPr lang="en-US" sz="1450"/>
          </a:p>
          <a:p>
            <a:pPr algn="l">
              <a:lnSpc>
                <a:spcPts val="1653"/>
              </a:lnSpc>
              <a:spcAft>
                <a:spcPts val="0"/>
              </a:spcAft>
            </a:pPr>
            <a:r>
              <a:rPr lang="en-US" sz="1450" b="0" dirty="0">
                <a:solidFill>
                  <a:srgbClr val="181C23"/>
                </a:solidFill>
                <a:latin typeface="Funnel Sans"/>
              </a:rPr>
              <a:t>tolerances</a:t>
            </a:r>
            <a:endParaRPr lang="en-US" sz="1450"/>
          </a:p>
        </p:txBody>
      </p:sp>
      <p:cxnSp>
        <p:nvCxnSpPr>
          <p:cNvPr id="22" name="connector 22"/>
          <p:cNvCxnSpPr/>
          <p:nvPr/>
        </p:nvCxnSpPr>
        <p:spPr>
          <a:xfrm>
            <a:off x="714756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7350760" y="2247900"/>
            <a:ext cx="2052320" cy="2311400"/>
          </a:xfrm>
          <a:prstGeom prst="rect">
            <a:avLst/>
          </a:prstGeom>
          <a:solidFill>
            <a:srgbClr val="FFF2DF"/>
          </a:solidFill>
          <a:ln w="12700">
            <a:solidFill>
              <a:srgbClr val="DEDCD6"/>
            </a:solidFill>
          </a:ln>
        </p:spPr>
      </p:sp>
      <p:sp>
        <p:nvSpPr>
          <p:cNvPr id="24" name="text 24"/>
          <p:cNvSpPr/>
          <p:nvPr/>
        </p:nvSpPr>
        <p:spPr>
          <a:xfrm>
            <a:off x="751586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5" name="text 25"/>
          <p:cNvSpPr/>
          <p:nvPr/>
        </p:nvSpPr>
        <p:spPr>
          <a:xfrm>
            <a:off x="751586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Freeze &amp;</a:t>
            </a:r>
            <a:endParaRPr lang="en-US" sz="1800"/>
          </a:p>
          <a:p>
            <a:pPr algn="l">
              <a:lnSpc>
                <a:spcPts val="2052"/>
              </a:lnSpc>
              <a:spcAft>
                <a:spcPts val="0"/>
              </a:spcAft>
            </a:pPr>
            <a:r>
              <a:rPr lang="en-US" sz="1800" b="1" dirty="0">
                <a:solidFill>
                  <a:srgbClr val="181C23"/>
                </a:solidFill>
                <a:latin typeface="Funnel Sans"/>
              </a:rPr>
              <a:t>execute</a:t>
            </a:r>
            <a:endParaRPr lang="en-US" sz="1800"/>
          </a:p>
        </p:txBody>
      </p:sp>
      <p:sp>
        <p:nvSpPr>
          <p:cNvPr id="26" name="text 26"/>
          <p:cNvSpPr/>
          <p:nvPr/>
        </p:nvSpPr>
        <p:spPr>
          <a:xfrm>
            <a:off x="751586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Supported code</a:t>
            </a:r>
            <a:endParaRPr lang="en-US" sz="1450"/>
          </a:p>
          <a:p>
            <a:pPr algn="l">
              <a:lnSpc>
                <a:spcPts val="1653"/>
              </a:lnSpc>
              <a:spcAft>
                <a:spcPts val="0"/>
              </a:spcAft>
            </a:pPr>
            <a:r>
              <a:rPr lang="en-US" sz="1450" b="0" dirty="0">
                <a:solidFill>
                  <a:srgbClr val="181C23"/>
                </a:solidFill>
                <a:latin typeface="Funnel Sans"/>
              </a:rPr>
              <a:t>path; unavailable</a:t>
            </a:r>
            <a:endParaRPr lang="en-US" sz="1450"/>
          </a:p>
          <a:p>
            <a:pPr algn="l">
              <a:lnSpc>
                <a:spcPts val="1653"/>
              </a:lnSpc>
              <a:spcAft>
                <a:spcPts val="0"/>
              </a:spcAft>
            </a:pPr>
            <a:r>
              <a:rPr lang="en-US" sz="1450" b="0" dirty="0">
                <a:solidFill>
                  <a:srgbClr val="181C23"/>
                </a:solidFill>
                <a:latin typeface="Funnel Sans"/>
              </a:rPr>
              <a:t>now</a:t>
            </a:r>
            <a:endParaRPr lang="en-US" sz="1450"/>
          </a:p>
        </p:txBody>
      </p:sp>
      <p:cxnSp>
        <p:nvCxnSpPr>
          <p:cNvPr id="27" name="connector 27"/>
          <p:cNvCxnSpPr/>
          <p:nvPr/>
        </p:nvCxnSpPr>
        <p:spPr>
          <a:xfrm>
            <a:off x="942848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9631680" y="2247900"/>
            <a:ext cx="2052320" cy="2311400"/>
          </a:xfrm>
          <a:prstGeom prst="rect">
            <a:avLst/>
          </a:prstGeom>
          <a:solidFill>
            <a:srgbClr val="FFF2DF"/>
          </a:solidFill>
          <a:ln w="12700">
            <a:solidFill>
              <a:srgbClr val="DEDCD6"/>
            </a:solidFill>
          </a:ln>
        </p:spPr>
      </p:sp>
      <p:sp>
        <p:nvSpPr>
          <p:cNvPr id="29" name="text 29"/>
          <p:cNvSpPr/>
          <p:nvPr/>
        </p:nvSpPr>
        <p:spPr>
          <a:xfrm>
            <a:off x="979678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0" name="text 30"/>
          <p:cNvSpPr/>
          <p:nvPr/>
        </p:nvSpPr>
        <p:spPr>
          <a:xfrm>
            <a:off x="979678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Read report</a:t>
            </a:r>
            <a:endParaRPr lang="en-US" sz="1800"/>
          </a:p>
        </p:txBody>
      </p:sp>
      <p:sp>
        <p:nvSpPr>
          <p:cNvPr id="31" name="text 31"/>
          <p:cNvSpPr/>
          <p:nvPr/>
        </p:nvSpPr>
        <p:spPr>
          <a:xfrm>
            <a:off x="979678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Historical evidence</a:t>
            </a:r>
            <a:endParaRPr lang="en-US" sz="1450"/>
          </a:p>
          <a:p>
            <a:pPr algn="l">
              <a:lnSpc>
                <a:spcPts val="1653"/>
              </a:lnSpc>
              <a:spcAft>
                <a:spcPts val="0"/>
              </a:spcAft>
            </a:pPr>
            <a:r>
              <a:rPr lang="en-US" sz="1450" b="0" dirty="0">
                <a:solidFill>
                  <a:srgbClr val="181C23"/>
                </a:solidFill>
                <a:latin typeface="Funnel Sans"/>
              </a:rPr>
              <a:t>remains reviewable</a:t>
            </a:r>
            <a:endParaRPr lang="en-US" sz="1450"/>
          </a:p>
        </p:txBody>
      </p:sp>
      <p:sp>
        <p:nvSpPr>
          <p:cNvPr id="32" name="shape 32"/>
          <p:cNvSpPr/>
          <p:nvPr/>
        </p:nvSpPr>
        <p:spPr>
          <a:xfrm>
            <a:off x="508000" y="4762500"/>
            <a:ext cx="5486400" cy="1346200"/>
          </a:xfrm>
          <a:prstGeom prst="rect">
            <a:avLst/>
          </a:prstGeom>
          <a:solidFill>
            <a:srgbClr val="FFFFFF"/>
          </a:solidFill>
          <a:ln w="12700">
            <a:solidFill>
              <a:srgbClr val="DEDCD6"/>
            </a:solidFill>
          </a:ln>
        </p:spPr>
      </p:sp>
      <p:sp>
        <p:nvSpPr>
          <p:cNvPr id="33" name="shape 33"/>
          <p:cNvSpPr/>
          <p:nvPr/>
        </p:nvSpPr>
        <p:spPr>
          <a:xfrm>
            <a:off x="508000" y="4762500"/>
            <a:ext cx="38100" cy="1346200"/>
          </a:xfrm>
          <a:prstGeom prst="rect">
            <a:avLst/>
          </a:prstGeom>
          <a:solidFill>
            <a:srgbClr val="FF4F59"/>
          </a:solidFill>
          <a:ln>
            <a:noFill/>
          </a:ln>
        </p:spPr>
      </p:sp>
      <p:sp>
        <p:nvSpPr>
          <p:cNvPr id="34" name="text 34"/>
          <p:cNvSpPr/>
          <p:nvPr/>
        </p:nvSpPr>
        <p:spPr>
          <a:xfrm>
            <a:off x="6985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Success / completion</a:t>
            </a:r>
            <a:endParaRPr lang="en-US" sz="1600"/>
          </a:p>
        </p:txBody>
      </p:sp>
      <p:sp>
        <p:nvSpPr>
          <p:cNvPr id="35" name="text 35"/>
          <p:cNvSpPr/>
          <p:nvPr/>
        </p:nvSpPr>
        <p:spPr>
          <a:xfrm>
            <a:off x="6985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Implemented path produces complete rule accounting and hands</a:t>
            </a:r>
            <a:endParaRPr lang="en-US" sz="1250"/>
          </a:p>
          <a:p>
            <a:pPr algn="l">
              <a:lnSpc>
                <a:spcPts val="1425"/>
              </a:lnSpc>
              <a:spcAft>
                <a:spcPts val="0"/>
              </a:spcAft>
            </a:pPr>
            <a:r>
              <a:rPr lang="en-US" sz="1250" b="0" dirty="0">
                <a:solidFill>
                  <a:srgbClr val="6D706B"/>
                </a:solidFill>
                <a:latin typeface="Funnel Sans"/>
              </a:rPr>
              <a:t>VIOLATION findings to issue synchronization.</a:t>
            </a:r>
            <a:endParaRPr lang="en-US" sz="1250"/>
          </a:p>
        </p:txBody>
      </p:sp>
      <p:sp>
        <p:nvSpPr>
          <p:cNvPr id="36" name="shape 36"/>
          <p:cNvSpPr/>
          <p:nvPr/>
        </p:nvSpPr>
        <p:spPr>
          <a:xfrm>
            <a:off x="6197600" y="4762500"/>
            <a:ext cx="5486400" cy="1346200"/>
          </a:xfrm>
          <a:prstGeom prst="rect">
            <a:avLst/>
          </a:prstGeom>
          <a:solidFill>
            <a:srgbClr val="FFFFFF"/>
          </a:solidFill>
          <a:ln w="12700">
            <a:solidFill>
              <a:srgbClr val="DEDCD6"/>
            </a:solidFill>
          </a:ln>
        </p:spPr>
      </p:sp>
      <p:sp>
        <p:nvSpPr>
          <p:cNvPr id="37" name="shape 37"/>
          <p:cNvSpPr/>
          <p:nvPr/>
        </p:nvSpPr>
        <p:spPr>
          <a:xfrm>
            <a:off x="6197600" y="4762500"/>
            <a:ext cx="38100" cy="1346200"/>
          </a:xfrm>
          <a:prstGeom prst="rect">
            <a:avLst/>
          </a:prstGeom>
          <a:solidFill>
            <a:srgbClr val="FF4F59"/>
          </a:solidFill>
          <a:ln>
            <a:noFill/>
          </a:ln>
        </p:spPr>
      </p:sp>
      <p:sp>
        <p:nvSpPr>
          <p:cNvPr id="38" name="text 38"/>
          <p:cNvSpPr/>
          <p:nvPr/>
        </p:nvSpPr>
        <p:spPr>
          <a:xfrm>
            <a:off x="63881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Failure / blocked scope</a:t>
            </a:r>
            <a:endParaRPr lang="en-US" sz="1600"/>
          </a:p>
        </p:txBody>
      </p:sp>
      <p:sp>
        <p:nvSpPr>
          <p:cNvPr id="39" name="text 39"/>
          <p:cNvSpPr/>
          <p:nvPr/>
        </p:nvSpPr>
        <p:spPr>
          <a:xfrm>
            <a:off x="63881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Current launches are refused. In the code path, missing scope yields</a:t>
            </a:r>
            <a:endParaRPr lang="en-US" sz="1250"/>
          </a:p>
          <a:p>
            <a:pPr algn="l">
              <a:lnSpc>
                <a:spcPts val="1425"/>
              </a:lnSpc>
              <a:spcAft>
                <a:spcPts val="0"/>
              </a:spcAft>
            </a:pPr>
            <a:r>
              <a:rPr lang="en-US" sz="1250" b="0" dirty="0">
                <a:solidFill>
                  <a:srgbClr val="6D706B"/>
                </a:solidFill>
                <a:latin typeface="Funnel Sans"/>
              </a:rPr>
              <a:t>reasons; execution errors are sanitized.</a:t>
            </a:r>
            <a:endParaRPr lang="en-US" sz="1250"/>
          </a:p>
        </p:txBody>
      </p:sp>
      <p:cxnSp>
        <p:nvCxnSpPr>
          <p:cNvPr id="40" name="connector 4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text 4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2" name="text 4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35 / 87</a:t>
            </a:r>
            <a:endParaRPr lang="en-US" sz="10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T2-D04 • E / ISSUE &amp; RCA</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Carry the finding into a controlled investigation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Cross-field business rule</a:t>
            </a:r>
            <a:endParaRPr lang="en-US" sz="1500"/>
          </a:p>
        </p:txBody>
      </p:sp>
      <p:sp>
        <p:nvSpPr>
          <p:cNvPr id="6" name="shape 6"/>
          <p:cNvSpPr/>
          <p:nvPr/>
        </p:nvSpPr>
        <p:spPr>
          <a:xfrm>
            <a:off x="9372600" y="215900"/>
            <a:ext cx="2311400" cy="317500"/>
          </a:xfrm>
          <a:prstGeom prst="roundRect">
            <a:avLst/>
          </a:prstGeom>
          <a:solidFill>
            <a:srgbClr val="FFF2DF"/>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Implemented • paused</a:t>
            </a:r>
            <a:endParaRPr lang="en-US" sz="1050"/>
          </a:p>
        </p:txBody>
      </p:sp>
      <p:sp>
        <p:nvSpPr>
          <p:cNvPr id="8" name="shape 8"/>
          <p:cNvSpPr/>
          <p:nvPr/>
        </p:nvSpPr>
        <p:spPr>
          <a:xfrm>
            <a:off x="508000" y="2197100"/>
            <a:ext cx="2235200" cy="457200"/>
          </a:xfrm>
          <a:prstGeom prst="rect">
            <a:avLst/>
          </a:prstGeom>
          <a:solidFill>
            <a:srgbClr val="282A27"/>
          </a:solidFill>
          <a:ln>
            <a:noFill/>
          </a:ln>
        </p:spPr>
      </p:sp>
      <p:sp>
        <p:nvSpPr>
          <p:cNvPr id="9" name="text 9"/>
          <p:cNvSpPr/>
          <p:nvPr/>
        </p:nvSpPr>
        <p:spPr>
          <a:xfrm>
            <a:off x="635000" y="2311400"/>
            <a:ext cx="19812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Step</a:t>
            </a:r>
            <a:endParaRPr lang="en-US" sz="1200"/>
          </a:p>
        </p:txBody>
      </p:sp>
      <p:sp>
        <p:nvSpPr>
          <p:cNvPr id="10" name="shape 10"/>
          <p:cNvSpPr/>
          <p:nvPr/>
        </p:nvSpPr>
        <p:spPr>
          <a:xfrm>
            <a:off x="2743200" y="2197100"/>
            <a:ext cx="8940800" cy="457200"/>
          </a:xfrm>
          <a:prstGeom prst="rect">
            <a:avLst/>
          </a:prstGeom>
          <a:solidFill>
            <a:srgbClr val="282A27"/>
          </a:solidFill>
          <a:ln>
            <a:noFill/>
          </a:ln>
        </p:spPr>
      </p:sp>
      <p:sp>
        <p:nvSpPr>
          <p:cNvPr id="11" name="text 11"/>
          <p:cNvSpPr/>
          <p:nvPr/>
        </p:nvSpPr>
        <p:spPr>
          <a:xfrm>
            <a:off x="2870200" y="2311400"/>
            <a:ext cx="8686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Implemented behavior / proposed follow-up</a:t>
            </a:r>
            <a:endParaRPr lang="en-US" sz="1200"/>
          </a:p>
        </p:txBody>
      </p:sp>
      <p:sp>
        <p:nvSpPr>
          <p:cNvPr id="12" name="shape 12"/>
          <p:cNvSpPr/>
          <p:nvPr/>
        </p:nvSpPr>
        <p:spPr>
          <a:xfrm>
            <a:off x="508000" y="2654300"/>
            <a:ext cx="2235200" cy="604520"/>
          </a:xfrm>
          <a:prstGeom prst="rect">
            <a:avLst/>
          </a:prstGeom>
          <a:solidFill>
            <a:srgbClr val="FFFFFF"/>
          </a:solidFill>
          <a:ln>
            <a:noFill/>
          </a:ln>
        </p:spPr>
      </p:sp>
      <p:sp>
        <p:nvSpPr>
          <p:cNvPr id="13" name="text 13"/>
          <p:cNvSpPr/>
          <p:nvPr/>
        </p:nvSpPr>
        <p:spPr>
          <a:xfrm>
            <a:off x="635000" y="270510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Finding</a:t>
            </a:r>
            <a:endParaRPr lang="en-US" sz="1700"/>
          </a:p>
        </p:txBody>
      </p:sp>
      <p:cxnSp>
        <p:nvCxnSpPr>
          <p:cNvPr id="14" name="connector 14"/>
          <p:cNvCxnSpPr/>
          <p:nvPr/>
        </p:nvCxnSpPr>
        <p:spPr>
          <a:xfrm>
            <a:off x="508000" y="325882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43200" y="2654300"/>
            <a:ext cx="8940800" cy="604520"/>
          </a:xfrm>
          <a:prstGeom prst="rect">
            <a:avLst/>
          </a:prstGeom>
          <a:solidFill>
            <a:srgbClr val="FFFFFF"/>
          </a:solidFill>
          <a:ln>
            <a:noFill/>
          </a:ln>
        </p:spPr>
      </p:sp>
      <p:sp>
        <p:nvSpPr>
          <p:cNvPr id="16" name="text 16"/>
          <p:cNvSpPr/>
          <p:nvPr/>
        </p:nvSpPr>
        <p:spPr>
          <a:xfrm>
            <a:off x="2870200" y="2705100"/>
            <a:ext cx="8686800" cy="50292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deterministic VIOLATION is the finding condition after exceptions and tolerance.</a:t>
            </a:r>
            <a:endParaRPr lang="en-US" sz="1700"/>
          </a:p>
        </p:txBody>
      </p:sp>
      <p:cxnSp>
        <p:nvCxnSpPr>
          <p:cNvPr id="17" name="connector 17"/>
          <p:cNvCxnSpPr/>
          <p:nvPr/>
        </p:nvCxnSpPr>
        <p:spPr>
          <a:xfrm>
            <a:off x="2743200" y="325882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8000" y="3258820"/>
            <a:ext cx="2235200" cy="604520"/>
          </a:xfrm>
          <a:prstGeom prst="rect">
            <a:avLst/>
          </a:prstGeom>
          <a:solidFill>
            <a:srgbClr val="EFEEE9"/>
          </a:solidFill>
          <a:ln>
            <a:noFill/>
          </a:ln>
        </p:spPr>
      </p:sp>
      <p:sp>
        <p:nvSpPr>
          <p:cNvPr id="19" name="text 19"/>
          <p:cNvSpPr/>
          <p:nvPr/>
        </p:nvSpPr>
        <p:spPr>
          <a:xfrm>
            <a:off x="635000" y="330962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Issue gate</a:t>
            </a:r>
            <a:endParaRPr lang="en-US" sz="1700"/>
          </a:p>
        </p:txBody>
      </p:sp>
      <p:cxnSp>
        <p:nvCxnSpPr>
          <p:cNvPr id="20" name="connector 20"/>
          <p:cNvCxnSpPr/>
          <p:nvPr/>
        </p:nvCxnSpPr>
        <p:spPr>
          <a:xfrm>
            <a:off x="508000" y="386334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2743200" y="3258820"/>
            <a:ext cx="8940800" cy="604520"/>
          </a:xfrm>
          <a:prstGeom prst="rect">
            <a:avLst/>
          </a:prstGeom>
          <a:solidFill>
            <a:srgbClr val="EFEEE9"/>
          </a:solidFill>
          <a:ln>
            <a:noFill/>
          </a:ln>
        </p:spPr>
      </p:sp>
      <p:sp>
        <p:nvSpPr>
          <p:cNvPr id="22" name="text 22"/>
          <p:cNvSpPr/>
          <p:nvPr/>
        </p:nvSpPr>
        <p:spPr>
          <a:xfrm>
            <a:off x="2870200" y="330962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Implemented runner auto-opens issues for violations when executed;</a:t>
            </a:r>
            <a:endParaRPr lang="en-US" sz="1650"/>
          </a:p>
          <a:p>
            <a:pPr algn="l">
              <a:lnSpc>
                <a:spcPts val="1881"/>
              </a:lnSpc>
              <a:spcAft>
                <a:spcPts val="0"/>
              </a:spcAft>
            </a:pPr>
            <a:r>
              <a:rPr lang="en-US" sz="1650" b="0" dirty="0">
                <a:solidFill>
                  <a:srgbClr val="181C23"/>
                </a:solidFill>
                <a:latin typeface="Funnel Sans"/>
              </a:rPr>
              <a:t>PASS/NOT-APPLICABLE do not.</a:t>
            </a:r>
            <a:endParaRPr lang="en-US" sz="1650"/>
          </a:p>
        </p:txBody>
      </p:sp>
      <p:cxnSp>
        <p:nvCxnSpPr>
          <p:cNvPr id="23" name="connector 23"/>
          <p:cNvCxnSpPr/>
          <p:nvPr/>
        </p:nvCxnSpPr>
        <p:spPr>
          <a:xfrm>
            <a:off x="2743200" y="386334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508000" y="3863340"/>
            <a:ext cx="2235200" cy="604520"/>
          </a:xfrm>
          <a:prstGeom prst="rect">
            <a:avLst/>
          </a:prstGeom>
          <a:solidFill>
            <a:srgbClr val="FFFFFF"/>
          </a:solidFill>
          <a:ln>
            <a:noFill/>
          </a:ln>
        </p:spPr>
      </p:sp>
      <p:sp>
        <p:nvSpPr>
          <p:cNvPr id="25" name="text 25"/>
          <p:cNvSpPr/>
          <p:nvPr/>
        </p:nvSpPr>
        <p:spPr>
          <a:xfrm>
            <a:off x="635000" y="391414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RCA</a:t>
            </a:r>
            <a:endParaRPr lang="en-US" sz="1700"/>
          </a:p>
        </p:txBody>
      </p:sp>
      <p:cxnSp>
        <p:nvCxnSpPr>
          <p:cNvPr id="26" name="connector 26"/>
          <p:cNvCxnSpPr/>
          <p:nvPr/>
        </p:nvCxnSpPr>
        <p:spPr>
          <a:xfrm>
            <a:off x="508000" y="446786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43200" y="3863340"/>
            <a:ext cx="8940800" cy="604520"/>
          </a:xfrm>
          <a:prstGeom prst="rect">
            <a:avLst/>
          </a:prstGeom>
          <a:solidFill>
            <a:srgbClr val="FFFFFF"/>
          </a:solidFill>
          <a:ln>
            <a:noFill/>
          </a:ln>
        </p:spPr>
      </p:sp>
      <p:sp>
        <p:nvSpPr>
          <p:cNvPr id="28" name="text 28"/>
          <p:cNvSpPr/>
          <p:nvPr/>
        </p:nvSpPr>
        <p:spPr>
          <a:xfrm>
            <a:off x="2870200" y="391414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Inspect the governed rule, bindings, exceptions and segment evidence; verify whether</a:t>
            </a:r>
            <a:endParaRPr lang="en-US" sz="1650"/>
          </a:p>
          <a:p>
            <a:pPr algn="l">
              <a:lnSpc>
                <a:spcPts val="1881"/>
              </a:lnSpc>
              <a:spcAft>
                <a:spcPts val="0"/>
              </a:spcAft>
            </a:pPr>
            <a:r>
              <a:rPr lang="en-US" sz="1650" b="0" dirty="0">
                <a:solidFill>
                  <a:srgbClr val="181C23"/>
                </a:solidFill>
                <a:latin typeface="Funnel Sans"/>
              </a:rPr>
              <a:t>data or rule design is wrong.</a:t>
            </a:r>
            <a:endParaRPr lang="en-US" sz="1650"/>
          </a:p>
        </p:txBody>
      </p:sp>
      <p:cxnSp>
        <p:nvCxnSpPr>
          <p:cNvPr id="29" name="connector 29"/>
          <p:cNvCxnSpPr/>
          <p:nvPr/>
        </p:nvCxnSpPr>
        <p:spPr>
          <a:xfrm>
            <a:off x="2743200" y="446786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467860"/>
            <a:ext cx="2235200" cy="604520"/>
          </a:xfrm>
          <a:prstGeom prst="rect">
            <a:avLst/>
          </a:prstGeom>
          <a:solidFill>
            <a:srgbClr val="EFEEE9"/>
          </a:solidFill>
          <a:ln>
            <a:noFill/>
          </a:ln>
        </p:spPr>
      </p:sp>
      <p:sp>
        <p:nvSpPr>
          <p:cNvPr id="31" name="text 31"/>
          <p:cNvSpPr/>
          <p:nvPr/>
        </p:nvSpPr>
        <p:spPr>
          <a:xfrm>
            <a:off x="635000" y="4518660"/>
            <a:ext cx="1981200" cy="502920"/>
          </a:xfrm>
          <a:prstGeom prst="rect">
            <a:avLst/>
          </a:prstGeom>
          <a:noFill/>
          <a:ln>
            <a:noFill/>
          </a:ln>
        </p:spPr>
        <p:txBody>
          <a:bodyPr wrap="none" lIns="0" tIns="0" rIns="0" bIns="0" anchor="t">
            <a:noAutofit/>
          </a:bodyPr>
          <a:lstStyle/>
          <a:p>
            <a:pPr algn="l">
              <a:lnSpc>
                <a:spcPts val="1881"/>
              </a:lnSpc>
              <a:spcAft>
                <a:spcPts val="0"/>
              </a:spcAft>
            </a:pPr>
            <a:r>
              <a:rPr lang="en-US" sz="1650" b="1" dirty="0">
                <a:solidFill>
                  <a:srgbClr val="181C23"/>
                </a:solidFill>
                <a:latin typeface="Funnel Sans"/>
              </a:rPr>
              <a:t>Remediation /</a:t>
            </a:r>
            <a:endParaRPr lang="en-US" sz="1650"/>
          </a:p>
          <a:p>
            <a:pPr algn="l">
              <a:lnSpc>
                <a:spcPts val="1881"/>
              </a:lnSpc>
              <a:spcAft>
                <a:spcPts val="0"/>
              </a:spcAft>
            </a:pPr>
            <a:r>
              <a:rPr lang="en-US" sz="1650" b="1" dirty="0">
                <a:solidFill>
                  <a:srgbClr val="181C23"/>
                </a:solidFill>
                <a:latin typeface="Funnel Sans"/>
              </a:rPr>
              <a:t>retest</a:t>
            </a:r>
            <a:endParaRPr lang="en-US" sz="1650"/>
          </a:p>
        </p:txBody>
      </p:sp>
      <p:cxnSp>
        <p:nvCxnSpPr>
          <p:cNvPr id="32" name="connector 32"/>
          <p:cNvCxnSpPr/>
          <p:nvPr/>
        </p:nvCxnSpPr>
        <p:spPr>
          <a:xfrm>
            <a:off x="508000" y="507238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743200" y="4467860"/>
            <a:ext cx="8940800" cy="604520"/>
          </a:xfrm>
          <a:prstGeom prst="rect">
            <a:avLst/>
          </a:prstGeom>
          <a:solidFill>
            <a:srgbClr val="EFEEE9"/>
          </a:solidFill>
          <a:ln>
            <a:noFill/>
          </a:ln>
        </p:spPr>
      </p:sp>
      <p:sp>
        <p:nvSpPr>
          <p:cNvPr id="34" name="text 34"/>
          <p:cNvSpPr/>
          <p:nvPr/>
        </p:nvSpPr>
        <p:spPr>
          <a:xfrm>
            <a:off x="2870200" y="451866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Suggested: correct source logic or submit a governed rule change; retest manually after</a:t>
            </a:r>
            <a:endParaRPr lang="en-US" sz="1650"/>
          </a:p>
          <a:p>
            <a:pPr algn="l">
              <a:lnSpc>
                <a:spcPts val="1881"/>
              </a:lnSpc>
              <a:spcAft>
                <a:spcPts val="0"/>
              </a:spcAft>
            </a:pPr>
            <a:r>
              <a:rPr lang="en-US" sz="1650" b="0" dirty="0">
                <a:solidFill>
                  <a:srgbClr val="181C23"/>
                </a:solidFill>
                <a:latin typeface="Funnel Sans"/>
              </a:rPr>
              <a:t>approval and re-enablement.</a:t>
            </a:r>
            <a:endParaRPr lang="en-US" sz="1650"/>
          </a:p>
        </p:txBody>
      </p:sp>
      <p:cxnSp>
        <p:nvCxnSpPr>
          <p:cNvPr id="35" name="connector 35"/>
          <p:cNvCxnSpPr/>
          <p:nvPr/>
        </p:nvCxnSpPr>
        <p:spPr>
          <a:xfrm>
            <a:off x="2743200" y="507238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508000" y="5072380"/>
            <a:ext cx="2235200" cy="604520"/>
          </a:xfrm>
          <a:prstGeom prst="rect">
            <a:avLst/>
          </a:prstGeom>
          <a:solidFill>
            <a:srgbClr val="FFFFFF"/>
          </a:solidFill>
          <a:ln>
            <a:noFill/>
          </a:ln>
        </p:spPr>
      </p:sp>
      <p:sp>
        <p:nvSpPr>
          <p:cNvPr id="37" name="text 37"/>
          <p:cNvSpPr/>
          <p:nvPr/>
        </p:nvSpPr>
        <p:spPr>
          <a:xfrm>
            <a:off x="635000" y="512318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Closure</a:t>
            </a:r>
            <a:endParaRPr lang="en-US" sz="1700"/>
          </a:p>
        </p:txBody>
      </p:sp>
      <p:cxnSp>
        <p:nvCxnSpPr>
          <p:cNvPr id="38" name="connector 38"/>
          <p:cNvCxnSpPr/>
          <p:nvPr/>
        </p:nvCxnSpPr>
        <p:spPr>
          <a:xfrm>
            <a:off x="508000" y="567690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2743200" y="5072380"/>
            <a:ext cx="8940800" cy="604520"/>
          </a:xfrm>
          <a:prstGeom prst="rect">
            <a:avLst/>
          </a:prstGeom>
          <a:solidFill>
            <a:srgbClr val="FFFFFF"/>
          </a:solidFill>
          <a:ln>
            <a:noFill/>
          </a:ln>
        </p:spPr>
      </p:sp>
      <p:sp>
        <p:nvSpPr>
          <p:cNvPr id="40" name="text 40"/>
          <p:cNvSpPr/>
          <p:nvPr/>
        </p:nvSpPr>
        <p:spPr>
          <a:xfrm>
            <a:off x="2870200" y="512318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Reviewer approves root cause identified or unresolved with evidence; optional follow-up</a:t>
            </a:r>
            <a:endParaRPr lang="en-US" sz="1650"/>
          </a:p>
          <a:p>
            <a:pPr algn="l">
              <a:lnSpc>
                <a:spcPts val="1881"/>
              </a:lnSpc>
              <a:spcAft>
                <a:spcPts val="0"/>
              </a:spcAft>
            </a:pPr>
            <a:r>
              <a:rPr lang="en-US" sz="1650" b="0" dirty="0">
                <a:solidFill>
                  <a:srgbClr val="181C23"/>
                </a:solidFill>
                <a:latin typeface="Funnel Sans"/>
              </a:rPr>
              <a:t>stays separate.</a:t>
            </a:r>
            <a:endParaRPr lang="en-US" sz="1650"/>
          </a:p>
        </p:txBody>
      </p:sp>
      <p:cxnSp>
        <p:nvCxnSpPr>
          <p:cNvPr id="41" name="connector 41"/>
          <p:cNvCxnSpPr/>
          <p:nvPr/>
        </p:nvCxnSpPr>
        <p:spPr>
          <a:xfrm>
            <a:off x="2743200" y="567690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508000" y="5740400"/>
            <a:ext cx="11176000" cy="546100"/>
          </a:xfrm>
          <a:prstGeom prst="rect">
            <a:avLst/>
          </a:prstGeom>
          <a:solidFill>
            <a:srgbClr val="282A27"/>
          </a:solidFill>
          <a:ln>
            <a:noFill/>
          </a:ln>
        </p:spPr>
      </p:sp>
      <p:sp>
        <p:nvSpPr>
          <p:cNvPr id="43" name="text 4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Manual / proposed: source correction and fresh-data retest. RCA approval does not prove a fix.</a:t>
            </a:r>
            <a:endParaRPr lang="en-US" sz="1600"/>
          </a:p>
        </p:txBody>
      </p:sp>
      <p:cxnSp>
        <p:nvCxnSpPr>
          <p:cNvPr id="44" name="connector 4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text 4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6" name="text 4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36 / 87</a:t>
            </a:r>
            <a:endParaRPr lang="en-US" sz="10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T2-D06 • A / PURPOSE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Find missing facility-period rows inside observed lifespans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Row-completeness reconciliation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3589867" cy="3073400"/>
          </a:xfrm>
          <a:prstGeom prst="rect">
            <a:avLst/>
          </a:prstGeom>
          <a:solidFill>
            <a:srgbClr val="FFFFFF"/>
          </a:solidFill>
          <a:ln w="12700">
            <a:solidFill>
              <a:srgbClr val="DEDCD6"/>
            </a:solidFill>
          </a:ln>
        </p:spPr>
      </p:sp>
      <p:sp>
        <p:nvSpPr>
          <p:cNvPr id="9" name="shape 9"/>
          <p:cNvSpPr/>
          <p:nvPr/>
        </p:nvSpPr>
        <p:spPr>
          <a:xfrm>
            <a:off x="508000" y="2247900"/>
            <a:ext cx="38100" cy="3073400"/>
          </a:xfrm>
          <a:prstGeom prst="rect">
            <a:avLst/>
          </a:prstGeom>
          <a:solidFill>
            <a:srgbClr val="FF4F59"/>
          </a:solidFill>
          <a:ln>
            <a:noFill/>
          </a:ln>
        </p:spPr>
      </p:sp>
      <p:sp>
        <p:nvSpPr>
          <p:cNvPr id="10" name="shape 10"/>
          <p:cNvSpPr/>
          <p:nvPr/>
        </p:nvSpPr>
        <p:spPr>
          <a:xfrm>
            <a:off x="711200" y="2438400"/>
            <a:ext cx="342900" cy="342900"/>
          </a:xfrm>
          <a:prstGeom prst="hexagon">
            <a:avLst/>
          </a:prstGeom>
          <a:noFill/>
          <a:ln w="21590">
            <a:solidFill>
              <a:srgbClr val="FF4F59"/>
            </a:solidFill>
          </a:ln>
        </p:spPr>
      </p:sp>
      <p:sp>
        <p:nvSpPr>
          <p:cNvPr id="11" name="text 11"/>
          <p:cNvSpPr/>
          <p:nvPr/>
        </p:nvSpPr>
        <p:spPr>
          <a:xfrm>
            <a:off x="825500"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12" name="text 12"/>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Problem</a:t>
            </a:r>
            <a:endParaRPr lang="en-US" sz="1900"/>
          </a:p>
        </p:txBody>
      </p:sp>
      <p:sp>
        <p:nvSpPr>
          <p:cNvPr id="13" name="text 13"/>
          <p:cNvSpPr/>
          <p:nvPr/>
        </p:nvSpPr>
        <p:spPr>
          <a:xfrm>
            <a:off x="723900"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Panel gaps and duplicate keys</a:t>
            </a:r>
            <a:endParaRPr lang="en-US" sz="1700"/>
          </a:p>
          <a:p>
            <a:pPr algn="l">
              <a:lnSpc>
                <a:spcPts val="1938"/>
              </a:lnSpc>
              <a:spcAft>
                <a:spcPts val="0"/>
              </a:spcAft>
            </a:pPr>
            <a:r>
              <a:rPr lang="en-US" sz="1700" b="0" dirty="0">
                <a:solidFill>
                  <a:srgbClr val="181C23"/>
                </a:solidFill>
                <a:latin typeface="Funnel Sans"/>
              </a:rPr>
              <a:t>can distort longitudinal</a:t>
            </a:r>
            <a:endParaRPr lang="en-US" sz="1700"/>
          </a:p>
          <a:p>
            <a:pPr algn="l">
              <a:lnSpc>
                <a:spcPts val="1938"/>
              </a:lnSpc>
              <a:spcAft>
                <a:spcPts val="0"/>
              </a:spcAft>
            </a:pPr>
            <a:r>
              <a:rPr lang="en-US" sz="1700" b="0" dirty="0">
                <a:solidFill>
                  <a:srgbClr val="181C23"/>
                </a:solidFill>
                <a:latin typeface="Funnel Sans"/>
              </a:rPr>
              <a:t>analysis even when received</a:t>
            </a:r>
            <a:endParaRPr lang="en-US" sz="1700"/>
          </a:p>
          <a:p>
            <a:pPr algn="l">
              <a:lnSpc>
                <a:spcPts val="1938"/>
              </a:lnSpc>
              <a:spcAft>
                <a:spcPts val="0"/>
              </a:spcAft>
            </a:pPr>
            <a:r>
              <a:rPr lang="en-US" sz="1700" b="0" dirty="0">
                <a:solidFill>
                  <a:srgbClr val="181C23"/>
                </a:solidFill>
                <a:latin typeface="Funnel Sans"/>
              </a:rPr>
              <a:t>rows are populated.</a:t>
            </a:r>
            <a:endParaRPr lang="en-US" sz="1700"/>
          </a:p>
        </p:txBody>
      </p:sp>
      <p:sp>
        <p:nvSpPr>
          <p:cNvPr id="14" name="shape 14"/>
          <p:cNvSpPr/>
          <p:nvPr/>
        </p:nvSpPr>
        <p:spPr>
          <a:xfrm>
            <a:off x="4301067" y="2247900"/>
            <a:ext cx="3589867" cy="3073400"/>
          </a:xfrm>
          <a:prstGeom prst="rect">
            <a:avLst/>
          </a:prstGeom>
          <a:solidFill>
            <a:srgbClr val="FFFFFF"/>
          </a:solidFill>
          <a:ln w="12700">
            <a:solidFill>
              <a:srgbClr val="DEDCD6"/>
            </a:solidFill>
          </a:ln>
        </p:spPr>
      </p:sp>
      <p:sp>
        <p:nvSpPr>
          <p:cNvPr id="15" name="shape 15"/>
          <p:cNvSpPr/>
          <p:nvPr/>
        </p:nvSpPr>
        <p:spPr>
          <a:xfrm>
            <a:off x="4301067" y="2247900"/>
            <a:ext cx="38100" cy="3073400"/>
          </a:xfrm>
          <a:prstGeom prst="rect">
            <a:avLst/>
          </a:prstGeom>
          <a:solidFill>
            <a:srgbClr val="FF4F59"/>
          </a:solidFill>
          <a:ln>
            <a:noFill/>
          </a:ln>
        </p:spPr>
      </p:sp>
      <p:sp>
        <p:nvSpPr>
          <p:cNvPr id="16" name="shape 16"/>
          <p:cNvSpPr/>
          <p:nvPr/>
        </p:nvSpPr>
        <p:spPr>
          <a:xfrm>
            <a:off x="4605867" y="2438400"/>
            <a:ext cx="139700" cy="139700"/>
          </a:xfrm>
          <a:prstGeom prst="ellipse">
            <a:avLst/>
          </a:prstGeom>
          <a:noFill/>
          <a:ln w="20320">
            <a:solidFill>
              <a:srgbClr val="FF4F59"/>
            </a:solidFill>
          </a:ln>
        </p:spPr>
      </p:sp>
      <p:sp>
        <p:nvSpPr>
          <p:cNvPr id="17" name="shape 17"/>
          <p:cNvSpPr/>
          <p:nvPr/>
        </p:nvSpPr>
        <p:spPr>
          <a:xfrm>
            <a:off x="4529667" y="2616200"/>
            <a:ext cx="292100" cy="190500"/>
          </a:xfrm>
          <a:prstGeom prst="arc">
            <a:avLst/>
          </a:prstGeom>
          <a:noFill/>
          <a:ln w="20320">
            <a:solidFill>
              <a:srgbClr val="FF4F59"/>
            </a:solid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Primary users</a:t>
            </a:r>
            <a:endParaRPr lang="en-US" sz="1900"/>
          </a:p>
        </p:txBody>
      </p:sp>
      <p:sp>
        <p:nvSpPr>
          <p:cNvPr id="19" name="text 19"/>
          <p:cNvSpPr/>
          <p:nvPr/>
        </p:nvSpPr>
        <p:spPr>
          <a:xfrm>
            <a:off x="4516967"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Data teams and analytics</a:t>
            </a:r>
            <a:endParaRPr lang="en-US" sz="1700"/>
          </a:p>
          <a:p>
            <a:pPr algn="l">
              <a:lnSpc>
                <a:spcPts val="1938"/>
              </a:lnSpc>
              <a:spcAft>
                <a:spcPts val="0"/>
              </a:spcAft>
            </a:pPr>
            <a:r>
              <a:rPr lang="en-US" sz="1700" b="0" dirty="0">
                <a:solidFill>
                  <a:srgbClr val="181C23"/>
                </a:solidFill>
                <a:latin typeface="Funnel Sans"/>
              </a:rPr>
              <a:t>reviewers who understand</a:t>
            </a:r>
            <a:endParaRPr lang="en-US" sz="1700"/>
          </a:p>
          <a:p>
            <a:pPr algn="l">
              <a:lnSpc>
                <a:spcPts val="1938"/>
              </a:lnSpc>
              <a:spcAft>
                <a:spcPts val="0"/>
              </a:spcAft>
            </a:pPr>
            <a:r>
              <a:rPr lang="en-US" sz="1700" b="0" dirty="0">
                <a:solidFill>
                  <a:srgbClr val="181C23"/>
                </a:solidFill>
                <a:latin typeface="Funnel Sans"/>
              </a:rPr>
              <a:t>facility identifiers, period grain</a:t>
            </a:r>
            <a:endParaRPr lang="en-US" sz="1700"/>
          </a:p>
          <a:p>
            <a:pPr algn="l">
              <a:lnSpc>
                <a:spcPts val="1938"/>
              </a:lnSpc>
              <a:spcAft>
                <a:spcPts val="0"/>
              </a:spcAft>
            </a:pPr>
            <a:r>
              <a:rPr lang="en-US" sz="1700" b="0" dirty="0">
                <a:solidFill>
                  <a:srgbClr val="181C23"/>
                </a:solidFill>
                <a:latin typeface="Funnel Sans"/>
              </a:rPr>
              <a:t>and optional segments.</a:t>
            </a:r>
            <a:endParaRPr lang="en-US" sz="1700"/>
          </a:p>
        </p:txBody>
      </p:sp>
      <p:sp>
        <p:nvSpPr>
          <p:cNvPr id="20" name="shape 20"/>
          <p:cNvSpPr/>
          <p:nvPr/>
        </p:nvSpPr>
        <p:spPr>
          <a:xfrm>
            <a:off x="8094133" y="2247900"/>
            <a:ext cx="3589867" cy="3073400"/>
          </a:xfrm>
          <a:prstGeom prst="rect">
            <a:avLst/>
          </a:prstGeom>
          <a:solidFill>
            <a:srgbClr val="FFFFFF"/>
          </a:solidFill>
          <a:ln w="12700">
            <a:solidFill>
              <a:srgbClr val="DEDCD6"/>
            </a:solidFill>
          </a:ln>
        </p:spPr>
      </p:sp>
      <p:sp>
        <p:nvSpPr>
          <p:cNvPr id="21" name="shape 21"/>
          <p:cNvSpPr/>
          <p:nvPr/>
        </p:nvSpPr>
        <p:spPr>
          <a:xfrm>
            <a:off x="8094133" y="2247900"/>
            <a:ext cx="38100" cy="3073400"/>
          </a:xfrm>
          <a:prstGeom prst="rect">
            <a:avLst/>
          </a:prstGeom>
          <a:solidFill>
            <a:srgbClr val="FF4F59"/>
          </a:solidFill>
          <a:ln>
            <a:noFill/>
          </a:ln>
        </p:spPr>
      </p:sp>
      <p:sp>
        <p:nvSpPr>
          <p:cNvPr id="22" name="shape 22"/>
          <p:cNvSpPr/>
          <p:nvPr/>
        </p:nvSpPr>
        <p:spPr>
          <a:xfrm>
            <a:off x="8297333" y="2438400"/>
            <a:ext cx="304800" cy="342900"/>
          </a:xfrm>
          <a:prstGeom prst="can">
            <a:avLst/>
          </a:prstGeom>
          <a:noFill/>
          <a:ln w="20320">
            <a:solidFill>
              <a:srgbClr val="FF4F59"/>
            </a:solidFill>
          </a:ln>
        </p:spPr>
      </p:sp>
      <p:sp>
        <p:nvSpPr>
          <p:cNvPr id="23" name="text 23"/>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When to use it</a:t>
            </a:r>
            <a:endParaRPr lang="en-US" sz="1900"/>
          </a:p>
        </p:txBody>
      </p:sp>
      <p:sp>
        <p:nvSpPr>
          <p:cNvPr id="24" name="text 24"/>
          <p:cNvSpPr/>
          <p:nvPr/>
        </p:nvSpPr>
        <p:spPr>
          <a:xfrm>
            <a:off x="8310033"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One ready panel table with a</a:t>
            </a:r>
            <a:endParaRPr lang="en-US" sz="1700"/>
          </a:p>
          <a:p>
            <a:pPr algn="l">
              <a:lnSpc>
                <a:spcPts val="1938"/>
              </a:lnSpc>
              <a:spcAft>
                <a:spcPts val="0"/>
              </a:spcAft>
            </a:pPr>
            <a:r>
              <a:rPr lang="en-US" sz="1700" b="0" dirty="0">
                <a:solidFill>
                  <a:srgbClr val="181C23"/>
                </a:solidFill>
                <a:latin typeface="Funnel Sans"/>
              </a:rPr>
              <a:t>facility ID, reporting period,</a:t>
            </a:r>
            <a:endParaRPr lang="en-US" sz="1700"/>
          </a:p>
          <a:p>
            <a:pPr algn="l">
              <a:lnSpc>
                <a:spcPts val="1938"/>
              </a:lnSpc>
              <a:spcAft>
                <a:spcPts val="0"/>
              </a:spcAft>
            </a:pPr>
            <a:r>
              <a:rPr lang="en-US" sz="1700" b="0" dirty="0">
                <a:solidFill>
                  <a:srgbClr val="181C23"/>
                </a:solidFill>
                <a:latin typeface="Funnel Sans"/>
              </a:rPr>
              <a:t>confirmed grain and continuity</a:t>
            </a:r>
            <a:endParaRPr lang="en-US" sz="1700"/>
          </a:p>
          <a:p>
            <a:pPr algn="l">
              <a:lnSpc>
                <a:spcPts val="1938"/>
              </a:lnSpc>
              <a:spcAft>
                <a:spcPts val="0"/>
              </a:spcAft>
            </a:pPr>
            <a:r>
              <a:rPr lang="en-US" sz="1700" b="0" dirty="0">
                <a:solidFill>
                  <a:srgbClr val="181C23"/>
                </a:solidFill>
                <a:latin typeface="Funnel Sans"/>
              </a:rPr>
              <a:t>floor.</a:t>
            </a:r>
            <a:endParaRPr lang="en-US" sz="1700"/>
          </a:p>
        </p:txBody>
      </p:sp>
      <p:sp>
        <p:nvSpPr>
          <p:cNvPr id="25" name="shape 25"/>
          <p:cNvSpPr/>
          <p:nvPr/>
        </p:nvSpPr>
        <p:spPr>
          <a:xfrm>
            <a:off x="508000" y="5626100"/>
            <a:ext cx="11176000" cy="546100"/>
          </a:xfrm>
          <a:prstGeom prst="rect">
            <a:avLst/>
          </a:prstGeom>
          <a:solidFill>
            <a:srgbClr val="282A27"/>
          </a:solidFill>
          <a:ln>
            <a:noFill/>
          </a:ln>
        </p:spPr>
      </p:sp>
      <p:sp>
        <p:nvSpPr>
          <p:cNvPr id="26" name="text 26"/>
          <p:cNvSpPr/>
          <p:nvPr/>
        </p:nvSpPr>
        <p:spPr>
          <a:xfrm>
            <a:off x="698500" y="57658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Six deterministic rule results and continuity evidence, with human review before an issue is created.</a:t>
            </a:r>
            <a:endParaRPr lang="en-US" sz="1600"/>
          </a:p>
        </p:txBody>
      </p:sp>
      <p:cxnSp>
        <p:nvCxnSpPr>
          <p:cNvPr id="27" name="connector 2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9" name="text 2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37 / 87</a:t>
            </a:r>
            <a:endParaRPr lang="en-US" sz="1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T2-D06 • B / APPROACH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Follow the governed processing path</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Row-completeness reconciliation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text 8"/>
          <p:cNvSpPr/>
          <p:nvPr/>
        </p:nvSpPr>
        <p:spPr>
          <a:xfrm>
            <a:off x="520700" y="2108200"/>
            <a:ext cx="990600" cy="2794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4F59"/>
                </a:solidFill>
                <a:latin typeface="Funnel Sans"/>
              </a:rPr>
              <a:t>INPUTS</a:t>
            </a:r>
            <a:endParaRPr lang="en-US" sz="1100"/>
          </a:p>
        </p:txBody>
      </p:sp>
      <p:sp>
        <p:nvSpPr>
          <p:cNvPr id="9" name="text 9"/>
          <p:cNvSpPr/>
          <p:nvPr/>
        </p:nvSpPr>
        <p:spPr>
          <a:xfrm>
            <a:off x="1574800" y="2082800"/>
            <a:ext cx="10096500" cy="6096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One panel table; facility_id and period bindings; grain; optional segment; continuity floor (default 95%).</a:t>
            </a:r>
            <a:endParaRPr lang="en-US" sz="1600"/>
          </a:p>
        </p:txBody>
      </p:sp>
      <p:sp>
        <p:nvSpPr>
          <p:cNvPr id="10" name="shape 10"/>
          <p:cNvSpPr/>
          <p:nvPr/>
        </p:nvSpPr>
        <p:spPr>
          <a:xfrm>
            <a:off x="508000" y="2832100"/>
            <a:ext cx="2052320" cy="2374900"/>
          </a:xfrm>
          <a:prstGeom prst="rect">
            <a:avLst/>
          </a:prstGeom>
          <a:solidFill>
            <a:srgbClr val="FFF2DF"/>
          </a:solidFill>
          <a:ln w="12700">
            <a:solidFill>
              <a:srgbClr val="DEDCD6"/>
            </a:solidFill>
          </a:ln>
        </p:spPr>
      </p:sp>
      <p:sp>
        <p:nvSpPr>
          <p:cNvPr id="11" name="text 11"/>
          <p:cNvSpPr/>
          <p:nvPr/>
        </p:nvSpPr>
        <p:spPr>
          <a:xfrm>
            <a:off x="67310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2" name="text 12"/>
          <p:cNvSpPr/>
          <p:nvPr/>
        </p:nvSpPr>
        <p:spPr>
          <a:xfrm>
            <a:off x="67310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Validate keys</a:t>
            </a:r>
            <a:endParaRPr lang="en-US" sz="1800"/>
          </a:p>
        </p:txBody>
      </p:sp>
      <p:sp>
        <p:nvSpPr>
          <p:cNvPr id="13" name="text 13"/>
          <p:cNvSpPr/>
          <p:nvPr/>
        </p:nvSpPr>
        <p:spPr>
          <a:xfrm>
            <a:off x="67310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Check identifiers</a:t>
            </a:r>
            <a:endParaRPr lang="en-US" sz="1450"/>
          </a:p>
          <a:p>
            <a:pPr algn="l">
              <a:lnSpc>
                <a:spcPts val="1653"/>
              </a:lnSpc>
              <a:spcAft>
                <a:spcPts val="0"/>
              </a:spcAft>
            </a:pPr>
            <a:r>
              <a:rPr lang="en-US" sz="1450" b="0" dirty="0">
                <a:solidFill>
                  <a:srgbClr val="181C23"/>
                </a:solidFill>
                <a:latin typeface="Funnel Sans"/>
              </a:rPr>
              <a:t>and parse periods</a:t>
            </a:r>
            <a:endParaRPr lang="en-US" sz="1450"/>
          </a:p>
        </p:txBody>
      </p:sp>
      <p:cxnSp>
        <p:nvCxnSpPr>
          <p:cNvPr id="14" name="connector 14"/>
          <p:cNvCxnSpPr/>
          <p:nvPr/>
        </p:nvCxnSpPr>
        <p:spPr>
          <a:xfrm>
            <a:off x="258572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88920" y="2832100"/>
            <a:ext cx="2052320" cy="2374900"/>
          </a:xfrm>
          <a:prstGeom prst="rect">
            <a:avLst/>
          </a:prstGeom>
          <a:solidFill>
            <a:srgbClr val="FFF2DF"/>
          </a:solidFill>
          <a:ln w="12700">
            <a:solidFill>
              <a:srgbClr val="DEDCD6"/>
            </a:solidFill>
          </a:ln>
        </p:spPr>
      </p:sp>
      <p:sp>
        <p:nvSpPr>
          <p:cNvPr id="16" name="text 16"/>
          <p:cNvSpPr/>
          <p:nvPr/>
        </p:nvSpPr>
        <p:spPr>
          <a:xfrm>
            <a:off x="295402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7" name="text 17"/>
          <p:cNvSpPr/>
          <p:nvPr/>
        </p:nvSpPr>
        <p:spPr>
          <a:xfrm>
            <a:off x="295402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Define spans</a:t>
            </a:r>
            <a:endParaRPr lang="en-US" sz="1800"/>
          </a:p>
        </p:txBody>
      </p:sp>
      <p:sp>
        <p:nvSpPr>
          <p:cNvPr id="18" name="text 18"/>
          <p:cNvSpPr/>
          <p:nvPr/>
        </p:nvSpPr>
        <p:spPr>
          <a:xfrm>
            <a:off x="295402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First-to-last</a:t>
            </a:r>
            <a:endParaRPr lang="en-US" sz="1450"/>
          </a:p>
          <a:p>
            <a:pPr algn="l">
              <a:lnSpc>
                <a:spcPts val="1653"/>
              </a:lnSpc>
              <a:spcAft>
                <a:spcPts val="0"/>
              </a:spcAft>
            </a:pPr>
            <a:r>
              <a:rPr lang="en-US" sz="1450" b="0" dirty="0">
                <a:solidFill>
                  <a:srgbClr val="181C23"/>
                </a:solidFill>
                <a:latin typeface="Funnel Sans"/>
              </a:rPr>
              <a:t>observed period</a:t>
            </a:r>
            <a:endParaRPr lang="en-US" sz="1450"/>
          </a:p>
          <a:p>
            <a:pPr algn="l">
              <a:lnSpc>
                <a:spcPts val="1653"/>
              </a:lnSpc>
              <a:spcAft>
                <a:spcPts val="0"/>
              </a:spcAft>
            </a:pPr>
            <a:r>
              <a:rPr lang="en-US" sz="1450" b="0" dirty="0">
                <a:solidFill>
                  <a:srgbClr val="181C23"/>
                </a:solidFill>
                <a:latin typeface="Funnel Sans"/>
              </a:rPr>
              <a:t>per facility</a:t>
            </a:r>
            <a:endParaRPr lang="en-US" sz="1450"/>
          </a:p>
        </p:txBody>
      </p:sp>
      <p:cxnSp>
        <p:nvCxnSpPr>
          <p:cNvPr id="19" name="connector 19"/>
          <p:cNvCxnSpPr/>
          <p:nvPr/>
        </p:nvCxnSpPr>
        <p:spPr>
          <a:xfrm>
            <a:off x="486664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5069840" y="2832100"/>
            <a:ext cx="2052320" cy="2374900"/>
          </a:xfrm>
          <a:prstGeom prst="rect">
            <a:avLst/>
          </a:prstGeom>
          <a:solidFill>
            <a:srgbClr val="FFF2DF"/>
          </a:solidFill>
          <a:ln w="12700">
            <a:solidFill>
              <a:srgbClr val="DEDCD6"/>
            </a:solidFill>
          </a:ln>
        </p:spPr>
      </p:sp>
      <p:sp>
        <p:nvSpPr>
          <p:cNvPr id="21" name="text 21"/>
          <p:cNvSpPr/>
          <p:nvPr/>
        </p:nvSpPr>
        <p:spPr>
          <a:xfrm>
            <a:off x="523494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2" name="text 22"/>
          <p:cNvSpPr/>
          <p:nvPr/>
        </p:nvSpPr>
        <p:spPr>
          <a:xfrm>
            <a:off x="523494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Build grid</a:t>
            </a:r>
            <a:endParaRPr lang="en-US" sz="1800"/>
          </a:p>
        </p:txBody>
      </p:sp>
      <p:sp>
        <p:nvSpPr>
          <p:cNvPr id="23" name="text 23"/>
          <p:cNvSpPr/>
          <p:nvPr/>
        </p:nvSpPr>
        <p:spPr>
          <a:xfrm>
            <a:off x="523494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Required</a:t>
            </a:r>
            <a:endParaRPr lang="en-US" sz="1450"/>
          </a:p>
          <a:p>
            <a:pPr algn="l">
              <a:lnSpc>
                <a:spcPts val="1653"/>
              </a:lnSpc>
              <a:spcAft>
                <a:spcPts val="0"/>
              </a:spcAft>
            </a:pPr>
            <a:r>
              <a:rPr lang="en-US" sz="1450" b="0" dirty="0">
                <a:solidFill>
                  <a:srgbClr val="181C23"/>
                </a:solidFill>
                <a:latin typeface="Funnel Sans"/>
              </a:rPr>
              <a:t>facility-period pairs</a:t>
            </a:r>
            <a:endParaRPr lang="en-US" sz="1450"/>
          </a:p>
          <a:p>
            <a:pPr algn="l">
              <a:lnSpc>
                <a:spcPts val="1653"/>
              </a:lnSpc>
              <a:spcAft>
                <a:spcPts val="0"/>
              </a:spcAft>
            </a:pPr>
            <a:r>
              <a:rPr lang="en-US" sz="1450" b="0" dirty="0">
                <a:solidFill>
                  <a:srgbClr val="181C23"/>
                </a:solidFill>
                <a:latin typeface="Funnel Sans"/>
              </a:rPr>
              <a:t>inside spans</a:t>
            </a:r>
            <a:endParaRPr lang="en-US" sz="1450"/>
          </a:p>
        </p:txBody>
      </p:sp>
      <p:cxnSp>
        <p:nvCxnSpPr>
          <p:cNvPr id="24" name="connector 24"/>
          <p:cNvCxnSpPr/>
          <p:nvPr/>
        </p:nvCxnSpPr>
        <p:spPr>
          <a:xfrm>
            <a:off x="714756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7350760" y="2832100"/>
            <a:ext cx="2052320" cy="2374900"/>
          </a:xfrm>
          <a:prstGeom prst="rect">
            <a:avLst/>
          </a:prstGeom>
          <a:solidFill>
            <a:srgbClr val="FFF2DF"/>
          </a:solidFill>
          <a:ln w="12700">
            <a:solidFill>
              <a:srgbClr val="DEDCD6"/>
            </a:solidFill>
          </a:ln>
        </p:spPr>
      </p:sp>
      <p:sp>
        <p:nvSpPr>
          <p:cNvPr id="26" name="text 26"/>
          <p:cNvSpPr/>
          <p:nvPr/>
        </p:nvSpPr>
        <p:spPr>
          <a:xfrm>
            <a:off x="751586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7" name="text 27"/>
          <p:cNvSpPr/>
          <p:nvPr/>
        </p:nvSpPr>
        <p:spPr>
          <a:xfrm>
            <a:off x="751586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Reconcile</a:t>
            </a:r>
            <a:endParaRPr lang="en-US" sz="1800"/>
          </a:p>
        </p:txBody>
      </p:sp>
      <p:sp>
        <p:nvSpPr>
          <p:cNvPr id="28" name="text 28"/>
          <p:cNvSpPr/>
          <p:nvPr/>
        </p:nvSpPr>
        <p:spPr>
          <a:xfrm>
            <a:off x="751586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Detect gaps,</a:t>
            </a:r>
            <a:endParaRPr lang="en-US" sz="1450"/>
          </a:p>
          <a:p>
            <a:pPr algn="l">
              <a:lnSpc>
                <a:spcPts val="1653"/>
              </a:lnSpc>
              <a:spcAft>
                <a:spcPts val="0"/>
              </a:spcAft>
            </a:pPr>
            <a:r>
              <a:rPr lang="en-US" sz="1450" b="0" dirty="0">
                <a:solidFill>
                  <a:srgbClr val="181C23"/>
                </a:solidFill>
                <a:latin typeface="Funnel Sans"/>
              </a:rPr>
              <a:t>duplicates and</a:t>
            </a:r>
            <a:endParaRPr lang="en-US" sz="1450"/>
          </a:p>
          <a:p>
            <a:pPr algn="l">
              <a:lnSpc>
                <a:spcPts val="1653"/>
              </a:lnSpc>
              <a:spcAft>
                <a:spcPts val="0"/>
              </a:spcAft>
            </a:pPr>
            <a:r>
              <a:rPr lang="en-US" sz="1450" b="0" dirty="0">
                <a:solidFill>
                  <a:srgbClr val="181C23"/>
                </a:solidFill>
                <a:latin typeface="Funnel Sans"/>
              </a:rPr>
              <a:t>segment gaps</a:t>
            </a:r>
            <a:endParaRPr lang="en-US" sz="1450"/>
          </a:p>
        </p:txBody>
      </p:sp>
      <p:cxnSp>
        <p:nvCxnSpPr>
          <p:cNvPr id="29" name="connector 29"/>
          <p:cNvCxnSpPr/>
          <p:nvPr/>
        </p:nvCxnSpPr>
        <p:spPr>
          <a:xfrm>
            <a:off x="942848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9631680" y="2832100"/>
            <a:ext cx="2052320" cy="2374900"/>
          </a:xfrm>
          <a:prstGeom prst="rect">
            <a:avLst/>
          </a:prstGeom>
          <a:solidFill>
            <a:srgbClr val="FFF2DF"/>
          </a:solidFill>
          <a:ln w="12700">
            <a:solidFill>
              <a:srgbClr val="DEDCD6"/>
            </a:solidFill>
          </a:ln>
        </p:spPr>
      </p:sp>
      <p:sp>
        <p:nvSpPr>
          <p:cNvPr id="31" name="text 31"/>
          <p:cNvSpPr/>
          <p:nvPr/>
        </p:nvSpPr>
        <p:spPr>
          <a:xfrm>
            <a:off x="979678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2" name="text 32"/>
          <p:cNvSpPr/>
          <p:nvPr/>
        </p:nvSpPr>
        <p:spPr>
          <a:xfrm>
            <a:off x="979678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Summarize</a:t>
            </a:r>
            <a:endParaRPr lang="en-US" sz="1800"/>
          </a:p>
        </p:txBody>
      </p:sp>
      <p:sp>
        <p:nvSpPr>
          <p:cNvPr id="33" name="text 33"/>
          <p:cNvSpPr/>
          <p:nvPr/>
        </p:nvSpPr>
        <p:spPr>
          <a:xfrm>
            <a:off x="979678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Retain six rule</a:t>
            </a:r>
            <a:endParaRPr lang="en-US" sz="1450"/>
          </a:p>
          <a:p>
            <a:pPr algn="l">
              <a:lnSpc>
                <a:spcPts val="1653"/>
              </a:lnSpc>
              <a:spcAft>
                <a:spcPts val="0"/>
              </a:spcAft>
            </a:pPr>
            <a:r>
              <a:rPr lang="en-US" sz="1450" b="0" dirty="0">
                <a:solidFill>
                  <a:srgbClr val="181C23"/>
                </a:solidFill>
                <a:latin typeface="Funnel Sans"/>
              </a:rPr>
              <a:t>results and</a:t>
            </a:r>
            <a:endParaRPr lang="en-US" sz="1450"/>
          </a:p>
          <a:p>
            <a:pPr algn="l">
              <a:lnSpc>
                <a:spcPts val="1653"/>
              </a:lnSpc>
              <a:spcAft>
                <a:spcPts val="0"/>
              </a:spcAft>
            </a:pPr>
            <a:r>
              <a:rPr lang="en-US" sz="1450" b="0" dirty="0">
                <a:solidFill>
                  <a:srgbClr val="181C23"/>
                </a:solidFill>
                <a:latin typeface="Funnel Sans"/>
              </a:rPr>
              <a:t>coverage</a:t>
            </a:r>
            <a:endParaRPr lang="en-US" sz="1450"/>
          </a:p>
        </p:txBody>
      </p:sp>
      <p:sp>
        <p:nvSpPr>
          <p:cNvPr id="34" name="shape 34"/>
          <p:cNvSpPr/>
          <p:nvPr/>
        </p:nvSpPr>
        <p:spPr>
          <a:xfrm>
            <a:off x="508000" y="5562600"/>
            <a:ext cx="11176000" cy="546100"/>
          </a:xfrm>
          <a:prstGeom prst="rect">
            <a:avLst/>
          </a:prstGeom>
          <a:solidFill>
            <a:srgbClr val="282A27"/>
          </a:solidFill>
          <a:ln>
            <a:noFill/>
          </a:ln>
        </p:spPr>
      </p:sp>
      <p:sp>
        <p:nvSpPr>
          <p:cNvPr id="35" name="text 35"/>
          <p:cNvSpPr/>
          <p:nvPr/>
        </p:nvSpPr>
        <p:spPr>
          <a:xfrm>
            <a:off x="698500" y="57023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Observed-span method only: cannot detect wholly absent facilities or missing rows beyond observed endpoints.</a:t>
            </a:r>
            <a:endParaRPr lang="en-US" sz="1600"/>
          </a:p>
        </p:txBody>
      </p:sp>
      <p:cxnSp>
        <p:nvCxnSpPr>
          <p:cNvPr id="36" name="connector 3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text 3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8" name="text 3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38 / 87</a:t>
            </a:r>
            <a:endParaRPr lang="en-US" sz="1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T2-D06 • C / EVIDENCE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Read the metrics alongside scope and limitations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Row-completeness reconciliation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22500"/>
            <a:ext cx="3589867" cy="3238500"/>
          </a:xfrm>
          <a:prstGeom prst="rect">
            <a:avLst/>
          </a:prstGeom>
          <a:solidFill>
            <a:srgbClr val="FFFFFF"/>
          </a:solidFill>
          <a:ln w="12700">
            <a:solidFill>
              <a:srgbClr val="DEDCD6"/>
            </a:solidFill>
          </a:ln>
        </p:spPr>
      </p:sp>
      <p:sp>
        <p:nvSpPr>
          <p:cNvPr id="9" name="shape 9"/>
          <p:cNvSpPr/>
          <p:nvPr/>
        </p:nvSpPr>
        <p:spPr>
          <a:xfrm>
            <a:off x="508000" y="2222500"/>
            <a:ext cx="38100" cy="3238500"/>
          </a:xfrm>
          <a:prstGeom prst="rect">
            <a:avLst/>
          </a:prstGeom>
          <a:solidFill>
            <a:srgbClr val="FF4F59"/>
          </a:solidFill>
          <a:ln>
            <a:noFill/>
          </a:ln>
        </p:spPr>
      </p:sp>
      <p:sp>
        <p:nvSpPr>
          <p:cNvPr id="10" name="shape 10"/>
          <p:cNvSpPr/>
          <p:nvPr/>
        </p:nvSpPr>
        <p:spPr>
          <a:xfrm>
            <a:off x="711200" y="2628900"/>
            <a:ext cx="63500" cy="127000"/>
          </a:xfrm>
          <a:prstGeom prst="rect">
            <a:avLst/>
          </a:prstGeom>
          <a:solidFill>
            <a:srgbClr val="FF4F59"/>
          </a:solidFill>
          <a:ln>
            <a:noFill/>
          </a:ln>
        </p:spPr>
      </p:sp>
      <p:sp>
        <p:nvSpPr>
          <p:cNvPr id="11" name="shape 11"/>
          <p:cNvSpPr/>
          <p:nvPr/>
        </p:nvSpPr>
        <p:spPr>
          <a:xfrm>
            <a:off x="825500" y="2501900"/>
            <a:ext cx="63500" cy="254000"/>
          </a:xfrm>
          <a:prstGeom prst="rect">
            <a:avLst/>
          </a:prstGeom>
          <a:solidFill>
            <a:srgbClr val="FF4F59"/>
          </a:solidFill>
          <a:ln>
            <a:noFill/>
          </a:ln>
        </p:spPr>
      </p:sp>
      <p:sp>
        <p:nvSpPr>
          <p:cNvPr id="12" name="shape 12"/>
          <p:cNvSpPr/>
          <p:nvPr/>
        </p:nvSpPr>
        <p:spPr>
          <a:xfrm>
            <a:off x="939800" y="2413000"/>
            <a:ext cx="63500" cy="342900"/>
          </a:xfrm>
          <a:prstGeom prst="rect">
            <a:avLst/>
          </a:prstGeom>
          <a:solidFill>
            <a:srgbClr val="FF4F59"/>
          </a:solidFill>
          <a:ln>
            <a:noFill/>
          </a:ln>
        </p:spPr>
      </p:sp>
      <p:sp>
        <p:nvSpPr>
          <p:cNvPr id="13" name="text 13"/>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Continuity metric</a:t>
            </a:r>
            <a:endParaRPr lang="en-US" sz="1900"/>
          </a:p>
        </p:txBody>
      </p:sp>
      <p:sp>
        <p:nvSpPr>
          <p:cNvPr id="14" name="text 14"/>
          <p:cNvSpPr/>
          <p:nvPr/>
        </p:nvSpPr>
        <p:spPr>
          <a:xfrm>
            <a:off x="723900"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Received required</a:t>
            </a:r>
            <a:endParaRPr lang="en-US" sz="1700"/>
          </a:p>
          <a:p>
            <a:pPr algn="l">
              <a:lnSpc>
                <a:spcPts val="1938"/>
              </a:lnSpc>
              <a:spcAft>
                <a:spcPts val="0"/>
              </a:spcAft>
            </a:pPr>
            <a:r>
              <a:rPr lang="en-US" sz="1700" b="0" dirty="0">
                <a:solidFill>
                  <a:srgbClr val="181C23"/>
                </a:solidFill>
                <a:latin typeface="Funnel Sans"/>
              </a:rPr>
              <a:t>facility-period pairs divided by</a:t>
            </a:r>
            <a:endParaRPr lang="en-US" sz="1700"/>
          </a:p>
          <a:p>
            <a:pPr algn="l">
              <a:lnSpc>
                <a:spcPts val="1938"/>
              </a:lnSpc>
              <a:spcAft>
                <a:spcPts val="0"/>
              </a:spcAft>
            </a:pPr>
            <a:r>
              <a:rPr lang="en-US" sz="1700" b="0" dirty="0">
                <a:solidFill>
                  <a:srgbClr val="181C23"/>
                </a:solidFill>
                <a:latin typeface="Funnel Sans"/>
              </a:rPr>
              <a:t>required pairs within observed</a:t>
            </a:r>
            <a:endParaRPr lang="en-US" sz="1700"/>
          </a:p>
          <a:p>
            <a:pPr algn="l">
              <a:lnSpc>
                <a:spcPts val="1938"/>
              </a:lnSpc>
              <a:spcAft>
                <a:spcPts val="0"/>
              </a:spcAft>
            </a:pPr>
            <a:r>
              <a:rPr lang="en-US" sz="1700" b="0" dirty="0">
                <a:solidFill>
                  <a:srgbClr val="181C23"/>
                </a:solidFill>
                <a:latin typeface="Funnel Sans"/>
              </a:rPr>
              <a:t>spans.</a:t>
            </a:r>
            <a:endParaRPr lang="en-US" sz="1700"/>
          </a:p>
        </p:txBody>
      </p:sp>
      <p:sp>
        <p:nvSpPr>
          <p:cNvPr id="15" name="shape 15"/>
          <p:cNvSpPr/>
          <p:nvPr/>
        </p:nvSpPr>
        <p:spPr>
          <a:xfrm>
            <a:off x="4301067" y="2222500"/>
            <a:ext cx="3589867" cy="3238500"/>
          </a:xfrm>
          <a:prstGeom prst="rect">
            <a:avLst/>
          </a:prstGeom>
          <a:solidFill>
            <a:srgbClr val="FFFFFF"/>
          </a:solidFill>
          <a:ln w="12700">
            <a:solidFill>
              <a:srgbClr val="DEDCD6"/>
            </a:solidFill>
          </a:ln>
        </p:spPr>
      </p:sp>
      <p:sp>
        <p:nvSpPr>
          <p:cNvPr id="16" name="shape 16"/>
          <p:cNvSpPr/>
          <p:nvPr/>
        </p:nvSpPr>
        <p:spPr>
          <a:xfrm>
            <a:off x="4301067" y="2222500"/>
            <a:ext cx="38100" cy="3238500"/>
          </a:xfrm>
          <a:prstGeom prst="rect">
            <a:avLst/>
          </a:prstGeom>
          <a:solidFill>
            <a:srgbClr val="FF4F59"/>
          </a:solidFill>
          <a:ln>
            <a:noFill/>
          </a:ln>
        </p:spPr>
      </p:sp>
      <p:sp>
        <p:nvSpPr>
          <p:cNvPr id="17" name="shape 17"/>
          <p:cNvSpPr/>
          <p:nvPr/>
        </p:nvSpPr>
        <p:spPr>
          <a:xfrm>
            <a:off x="4529667" y="2413000"/>
            <a:ext cx="292100" cy="342900"/>
          </a:xfrm>
          <a:prstGeom prst="rect">
            <a:avLst/>
          </a:prstGeom>
          <a:noFill/>
          <a:ln w="12700">
            <a:solidFill>
              <a:srgbClr val="FF4F59"/>
            </a:solidFill>
          </a:ln>
        </p:spPr>
      </p:sp>
      <p:cxnSp>
        <p:nvCxnSpPr>
          <p:cNvPr id="18" name="connector 18"/>
          <p:cNvCxnSpPr/>
          <p:nvPr/>
        </p:nvCxnSpPr>
        <p:spPr>
          <a:xfrm>
            <a:off x="4593167"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9" name="connector 19"/>
          <p:cNvCxnSpPr/>
          <p:nvPr/>
        </p:nvCxnSpPr>
        <p:spPr>
          <a:xfrm>
            <a:off x="4593167"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0" name="connector 20"/>
          <p:cNvCxnSpPr/>
          <p:nvPr/>
        </p:nvCxnSpPr>
        <p:spPr>
          <a:xfrm>
            <a:off x="4593167"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1" name="text 21"/>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Six rule outcomes</a:t>
            </a:r>
            <a:endParaRPr lang="en-US" sz="1900"/>
          </a:p>
        </p:txBody>
      </p:sp>
      <p:sp>
        <p:nvSpPr>
          <p:cNvPr id="22" name="text 22"/>
          <p:cNvSpPr/>
          <p:nvPr/>
        </p:nvSpPr>
        <p:spPr>
          <a:xfrm>
            <a:off x="4516967"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Identifiers; period sequence;</a:t>
            </a:r>
            <a:endParaRPr lang="en-US" sz="1700"/>
          </a:p>
          <a:p>
            <a:pPr algn="l">
              <a:lnSpc>
                <a:spcPts val="1938"/>
              </a:lnSpc>
              <a:spcAft>
                <a:spcPts val="0"/>
              </a:spcAft>
            </a:pPr>
            <a:r>
              <a:rPr lang="en-US" sz="1700" b="0" dirty="0">
                <a:solidFill>
                  <a:srgbClr val="181C23"/>
                </a:solidFill>
                <a:latin typeface="Funnel Sans"/>
              </a:rPr>
              <a:t>rows by period; duplicate</a:t>
            </a:r>
            <a:endParaRPr lang="en-US" sz="1700"/>
          </a:p>
          <a:p>
            <a:pPr algn="l">
              <a:lnSpc>
                <a:spcPts val="1938"/>
              </a:lnSpc>
              <a:spcAft>
                <a:spcPts val="0"/>
              </a:spcAft>
            </a:pPr>
            <a:r>
              <a:rPr lang="en-US" sz="1700" b="0" dirty="0">
                <a:solidFill>
                  <a:srgbClr val="181C23"/>
                </a:solidFill>
                <a:latin typeface="Funnel Sans"/>
              </a:rPr>
              <a:t>pairs; facility gaps; segment</a:t>
            </a:r>
            <a:endParaRPr lang="en-US" sz="1700"/>
          </a:p>
          <a:p>
            <a:pPr algn="l">
              <a:lnSpc>
                <a:spcPts val="1938"/>
              </a:lnSpc>
              <a:spcAft>
                <a:spcPts val="0"/>
              </a:spcAft>
            </a:pPr>
            <a:r>
              <a:rPr lang="en-US" sz="1700" b="0" dirty="0">
                <a:solidFill>
                  <a:srgbClr val="181C23"/>
                </a:solidFill>
                <a:latin typeface="Funnel Sans"/>
              </a:rPr>
              <a:t>gaps.</a:t>
            </a:r>
            <a:endParaRPr lang="en-US" sz="1700"/>
          </a:p>
        </p:txBody>
      </p:sp>
      <p:sp>
        <p:nvSpPr>
          <p:cNvPr id="23" name="shape 23"/>
          <p:cNvSpPr/>
          <p:nvPr/>
        </p:nvSpPr>
        <p:spPr>
          <a:xfrm>
            <a:off x="8094133" y="2222500"/>
            <a:ext cx="3589867" cy="3238500"/>
          </a:xfrm>
          <a:prstGeom prst="rect">
            <a:avLst/>
          </a:prstGeom>
          <a:solidFill>
            <a:srgbClr val="FFFFFF"/>
          </a:solidFill>
          <a:ln w="12700">
            <a:solidFill>
              <a:srgbClr val="DEDCD6"/>
            </a:solidFill>
          </a:ln>
        </p:spPr>
      </p:sp>
      <p:sp>
        <p:nvSpPr>
          <p:cNvPr id="24" name="shape 24"/>
          <p:cNvSpPr/>
          <p:nvPr/>
        </p:nvSpPr>
        <p:spPr>
          <a:xfrm>
            <a:off x="8094133" y="2222500"/>
            <a:ext cx="38100" cy="3238500"/>
          </a:xfrm>
          <a:prstGeom prst="rect">
            <a:avLst/>
          </a:prstGeom>
          <a:solidFill>
            <a:srgbClr val="FF4F59"/>
          </a:solidFill>
          <a:ln>
            <a:noFill/>
          </a:ln>
        </p:spPr>
      </p:sp>
      <p:sp>
        <p:nvSpPr>
          <p:cNvPr id="25" name="shape 25"/>
          <p:cNvSpPr/>
          <p:nvPr/>
        </p:nvSpPr>
        <p:spPr>
          <a:xfrm>
            <a:off x="8297333" y="2413000"/>
            <a:ext cx="342900" cy="342900"/>
          </a:xfrm>
          <a:prstGeom prst="ellipse">
            <a:avLst/>
          </a:prstGeom>
          <a:noFill/>
          <a:ln w="19050">
            <a:solidFill>
              <a:srgbClr val="FF4F59"/>
            </a:solidFill>
          </a:ln>
        </p:spPr>
      </p:sp>
      <p:cxnSp>
        <p:nvCxnSpPr>
          <p:cNvPr id="26" name="connector 26"/>
          <p:cNvCxnSpPr/>
          <p:nvPr/>
        </p:nvCxnSpPr>
        <p:spPr>
          <a:xfrm>
            <a:off x="8373533" y="25908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7" name="connector 27"/>
          <p:cNvCxnSpPr/>
          <p:nvPr/>
        </p:nvCxnSpPr>
        <p:spPr>
          <a:xfrm flipV="1">
            <a:off x="8437033" y="25146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Decision evidence</a:t>
            </a:r>
            <a:endParaRPr lang="en-US" sz="1900"/>
          </a:p>
        </p:txBody>
      </p:sp>
      <p:sp>
        <p:nvSpPr>
          <p:cNvPr id="29" name="text 29"/>
          <p:cNvSpPr/>
          <p:nvPr/>
        </p:nvSpPr>
        <p:spPr>
          <a:xfrm>
            <a:off x="8310033"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Masked failed-row examples,</a:t>
            </a:r>
            <a:endParaRPr lang="en-US" sz="1700"/>
          </a:p>
          <a:p>
            <a:pPr algn="l">
              <a:lnSpc>
                <a:spcPts val="1938"/>
              </a:lnSpc>
              <a:spcAft>
                <a:spcPts val="0"/>
              </a:spcAft>
            </a:pPr>
            <a:r>
              <a:rPr lang="en-US" sz="1700" b="0" dirty="0">
                <a:solidFill>
                  <a:srgbClr val="181C23"/>
                </a:solidFill>
                <a:latin typeface="Funnel Sans"/>
              </a:rPr>
              <a:t>rule rationales, affected</a:t>
            </a:r>
            <a:endParaRPr lang="en-US" sz="1700"/>
          </a:p>
          <a:p>
            <a:pPr algn="l">
              <a:lnSpc>
                <a:spcPts val="1938"/>
              </a:lnSpc>
              <a:spcAft>
                <a:spcPts val="0"/>
              </a:spcAft>
            </a:pPr>
            <a:r>
              <a:rPr lang="en-US" sz="1700" b="0" dirty="0">
                <a:solidFill>
                  <a:srgbClr val="181C23"/>
                </a:solidFill>
                <a:latin typeface="Funnel Sans"/>
              </a:rPr>
              <a:t>populations and PDF/text</a:t>
            </a:r>
            <a:endParaRPr lang="en-US" sz="1700"/>
          </a:p>
          <a:p>
            <a:pPr algn="l">
              <a:lnSpc>
                <a:spcPts val="1938"/>
              </a:lnSpc>
              <a:spcAft>
                <a:spcPts val="0"/>
              </a:spcAft>
            </a:pPr>
            <a:r>
              <a:rPr lang="en-US" sz="1700" b="0" dirty="0">
                <a:solidFill>
                  <a:srgbClr val="181C23"/>
                </a:solidFill>
                <a:latin typeface="Funnel Sans"/>
              </a:rPr>
              <a:t>report.</a:t>
            </a:r>
            <a:endParaRPr lang="en-US" sz="1700"/>
          </a:p>
        </p:txBody>
      </p:sp>
      <p:sp>
        <p:nvSpPr>
          <p:cNvPr id="30" name="shape 30"/>
          <p:cNvSpPr/>
          <p:nvPr/>
        </p:nvSpPr>
        <p:spPr>
          <a:xfrm>
            <a:off x="508000" y="5651500"/>
            <a:ext cx="11176000" cy="546100"/>
          </a:xfrm>
          <a:prstGeom prst="rect">
            <a:avLst/>
          </a:prstGeom>
          <a:solidFill>
            <a:srgbClr val="282A27"/>
          </a:solidFill>
          <a:ln>
            <a:noFill/>
          </a:ln>
        </p:spPr>
      </p:sp>
      <p:sp>
        <p:nvSpPr>
          <p:cNvPr id="31" name="text 31"/>
          <p:cNvSpPr/>
          <p:nvPr/>
        </p:nvSpPr>
        <p:spPr>
          <a:xfrm>
            <a:off x="698500" y="57912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A high portfolio coverage rate can coexist with a failed period or segment rule.</a:t>
            </a:r>
            <a:endParaRPr lang="en-US" sz="1600"/>
          </a:p>
        </p:txBody>
      </p:sp>
      <p:cxnSp>
        <p:nvCxnSpPr>
          <p:cNvPr id="32" name="connector 3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text 3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4" name="text 3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39 / 87</a:t>
            </a:r>
            <a:endParaRPr lang="en-US" sz="10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T2-D06 • D / LAUNCH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Confirm the scope, launch once and review final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Row-completeness reconciliation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2052320" cy="2311400"/>
          </a:xfrm>
          <a:prstGeom prst="rect">
            <a:avLst/>
          </a:prstGeom>
          <a:solidFill>
            <a:srgbClr val="FFF2DF"/>
          </a:solidFill>
          <a:ln w="12700">
            <a:solidFill>
              <a:srgbClr val="DEDCD6"/>
            </a:solidFill>
          </a:ln>
        </p:spPr>
      </p:sp>
      <p:sp>
        <p:nvSpPr>
          <p:cNvPr id="9" name="text 9"/>
          <p:cNvSpPr/>
          <p:nvPr/>
        </p:nvSpPr>
        <p:spPr>
          <a:xfrm>
            <a:off x="67310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0" name="text 10"/>
          <p:cNvSpPr/>
          <p:nvPr/>
        </p:nvSpPr>
        <p:spPr>
          <a:xfrm>
            <a:off x="67310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Select table</a:t>
            </a:r>
            <a:endParaRPr lang="en-US" sz="1800"/>
          </a:p>
        </p:txBody>
      </p:sp>
      <p:sp>
        <p:nvSpPr>
          <p:cNvPr id="11" name="text 11"/>
          <p:cNvSpPr/>
          <p:nvPr/>
        </p:nvSpPr>
        <p:spPr>
          <a:xfrm>
            <a:off x="67310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Use one ready</a:t>
            </a:r>
            <a:endParaRPr lang="en-US" sz="1450"/>
          </a:p>
          <a:p>
            <a:pPr algn="l">
              <a:lnSpc>
                <a:spcPts val="1653"/>
              </a:lnSpc>
              <a:spcAft>
                <a:spcPts val="0"/>
              </a:spcAft>
            </a:pPr>
            <a:r>
              <a:rPr lang="en-US" sz="1450" b="0" dirty="0">
                <a:solidFill>
                  <a:srgbClr val="181C23"/>
                </a:solidFill>
                <a:latin typeface="Funnel Sans"/>
              </a:rPr>
              <a:t>panel snapshot</a:t>
            </a:r>
            <a:endParaRPr lang="en-US" sz="1450"/>
          </a:p>
        </p:txBody>
      </p:sp>
      <p:cxnSp>
        <p:nvCxnSpPr>
          <p:cNvPr id="12" name="connector 12"/>
          <p:cNvCxnSpPr/>
          <p:nvPr/>
        </p:nvCxnSpPr>
        <p:spPr>
          <a:xfrm>
            <a:off x="258572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2788920" y="2247900"/>
            <a:ext cx="2052320" cy="2311400"/>
          </a:xfrm>
          <a:prstGeom prst="rect">
            <a:avLst/>
          </a:prstGeom>
          <a:solidFill>
            <a:srgbClr val="FFF2DF"/>
          </a:solidFill>
          <a:ln w="12700">
            <a:solidFill>
              <a:srgbClr val="DEDCD6"/>
            </a:solidFill>
          </a:ln>
        </p:spPr>
      </p:sp>
      <p:sp>
        <p:nvSpPr>
          <p:cNvPr id="14" name="text 14"/>
          <p:cNvSpPr/>
          <p:nvPr/>
        </p:nvSpPr>
        <p:spPr>
          <a:xfrm>
            <a:off x="295402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5" name="text 15"/>
          <p:cNvSpPr/>
          <p:nvPr/>
        </p:nvSpPr>
        <p:spPr>
          <a:xfrm>
            <a:off x="295402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Confirm roles</a:t>
            </a:r>
            <a:endParaRPr lang="en-US" sz="1800"/>
          </a:p>
        </p:txBody>
      </p:sp>
      <p:sp>
        <p:nvSpPr>
          <p:cNvPr id="16" name="text 16"/>
          <p:cNvSpPr/>
          <p:nvPr/>
        </p:nvSpPr>
        <p:spPr>
          <a:xfrm>
            <a:off x="295402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Facility ID, period</a:t>
            </a:r>
            <a:endParaRPr lang="en-US" sz="1450"/>
          </a:p>
          <a:p>
            <a:pPr algn="l">
              <a:lnSpc>
                <a:spcPts val="1653"/>
              </a:lnSpc>
              <a:spcAft>
                <a:spcPts val="0"/>
              </a:spcAft>
            </a:pPr>
            <a:r>
              <a:rPr lang="en-US" sz="1450" b="0" dirty="0">
                <a:solidFill>
                  <a:srgbClr val="181C23"/>
                </a:solidFill>
                <a:latin typeface="Funnel Sans"/>
              </a:rPr>
              <a:t>and optional</a:t>
            </a:r>
            <a:endParaRPr lang="en-US" sz="1450"/>
          </a:p>
          <a:p>
            <a:pPr algn="l">
              <a:lnSpc>
                <a:spcPts val="1653"/>
              </a:lnSpc>
              <a:spcAft>
                <a:spcPts val="0"/>
              </a:spcAft>
            </a:pPr>
            <a:r>
              <a:rPr lang="en-US" sz="1450" b="0" dirty="0">
                <a:solidFill>
                  <a:srgbClr val="181C23"/>
                </a:solidFill>
                <a:latin typeface="Funnel Sans"/>
              </a:rPr>
              <a:t>segment</a:t>
            </a:r>
            <a:endParaRPr lang="en-US" sz="1450"/>
          </a:p>
        </p:txBody>
      </p:sp>
      <p:cxnSp>
        <p:nvCxnSpPr>
          <p:cNvPr id="17" name="connector 17"/>
          <p:cNvCxnSpPr/>
          <p:nvPr/>
        </p:nvCxnSpPr>
        <p:spPr>
          <a:xfrm>
            <a:off x="486664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69840" y="2247900"/>
            <a:ext cx="2052320" cy="2311400"/>
          </a:xfrm>
          <a:prstGeom prst="rect">
            <a:avLst/>
          </a:prstGeom>
          <a:solidFill>
            <a:srgbClr val="FFF2DF"/>
          </a:solidFill>
          <a:ln w="12700">
            <a:solidFill>
              <a:srgbClr val="DEDCD6"/>
            </a:solidFill>
          </a:ln>
        </p:spPr>
      </p:sp>
      <p:sp>
        <p:nvSpPr>
          <p:cNvPr id="19" name="text 19"/>
          <p:cNvSpPr/>
          <p:nvPr/>
        </p:nvSpPr>
        <p:spPr>
          <a:xfrm>
            <a:off x="523494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0" name="text 20"/>
          <p:cNvSpPr/>
          <p:nvPr/>
        </p:nvSpPr>
        <p:spPr>
          <a:xfrm>
            <a:off x="523494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Set method</a:t>
            </a:r>
            <a:endParaRPr lang="en-US" sz="1800"/>
          </a:p>
        </p:txBody>
      </p:sp>
      <p:sp>
        <p:nvSpPr>
          <p:cNvPr id="21" name="text 21"/>
          <p:cNvSpPr/>
          <p:nvPr/>
        </p:nvSpPr>
        <p:spPr>
          <a:xfrm>
            <a:off x="523494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Review grain and</a:t>
            </a:r>
            <a:endParaRPr lang="en-US" sz="1450"/>
          </a:p>
          <a:p>
            <a:pPr algn="l">
              <a:lnSpc>
                <a:spcPts val="1653"/>
              </a:lnSpc>
              <a:spcAft>
                <a:spcPts val="0"/>
              </a:spcAft>
            </a:pPr>
            <a:r>
              <a:rPr lang="en-US" sz="1450" b="0" dirty="0">
                <a:solidFill>
                  <a:srgbClr val="181C23"/>
                </a:solidFill>
                <a:latin typeface="Funnel Sans"/>
              </a:rPr>
              <a:t>continuity floor</a:t>
            </a:r>
            <a:endParaRPr lang="en-US" sz="1450"/>
          </a:p>
        </p:txBody>
      </p:sp>
      <p:cxnSp>
        <p:nvCxnSpPr>
          <p:cNvPr id="22" name="connector 22"/>
          <p:cNvCxnSpPr/>
          <p:nvPr/>
        </p:nvCxnSpPr>
        <p:spPr>
          <a:xfrm>
            <a:off x="714756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7350760" y="2247900"/>
            <a:ext cx="2052320" cy="2311400"/>
          </a:xfrm>
          <a:prstGeom prst="rect">
            <a:avLst/>
          </a:prstGeom>
          <a:solidFill>
            <a:srgbClr val="FFF2DF"/>
          </a:solidFill>
          <a:ln w="12700">
            <a:solidFill>
              <a:srgbClr val="DEDCD6"/>
            </a:solidFill>
          </a:ln>
        </p:spPr>
      </p:sp>
      <p:sp>
        <p:nvSpPr>
          <p:cNvPr id="24" name="text 24"/>
          <p:cNvSpPr/>
          <p:nvPr/>
        </p:nvSpPr>
        <p:spPr>
          <a:xfrm>
            <a:off x="751586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5" name="text 25"/>
          <p:cNvSpPr/>
          <p:nvPr/>
        </p:nvSpPr>
        <p:spPr>
          <a:xfrm>
            <a:off x="751586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Freeze &amp; run</a:t>
            </a:r>
            <a:endParaRPr lang="en-US" sz="1800"/>
          </a:p>
        </p:txBody>
      </p:sp>
      <p:sp>
        <p:nvSpPr>
          <p:cNvPr id="26" name="text 26"/>
          <p:cNvSpPr/>
          <p:nvPr/>
        </p:nvSpPr>
        <p:spPr>
          <a:xfrm>
            <a:off x="751586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Use the frozen</a:t>
            </a:r>
            <a:endParaRPr lang="en-US" sz="1450"/>
          </a:p>
          <a:p>
            <a:pPr algn="l">
              <a:lnSpc>
                <a:spcPts val="1653"/>
              </a:lnSpc>
              <a:spcAft>
                <a:spcPts val="0"/>
              </a:spcAft>
            </a:pPr>
            <a:r>
              <a:rPr lang="en-US" sz="1450" b="0" dirty="0">
                <a:solidFill>
                  <a:srgbClr val="181C23"/>
                </a:solidFill>
                <a:latin typeface="Funnel Sans"/>
              </a:rPr>
              <a:t>observed-span</a:t>
            </a:r>
            <a:endParaRPr lang="en-US" sz="1450"/>
          </a:p>
          <a:p>
            <a:pPr algn="l">
              <a:lnSpc>
                <a:spcPts val="1653"/>
              </a:lnSpc>
              <a:spcAft>
                <a:spcPts val="0"/>
              </a:spcAft>
            </a:pPr>
            <a:r>
              <a:rPr lang="en-US" sz="1450" b="0" dirty="0">
                <a:solidFill>
                  <a:srgbClr val="181C23"/>
                </a:solidFill>
                <a:latin typeface="Funnel Sans"/>
              </a:rPr>
              <a:t>scope</a:t>
            </a:r>
            <a:endParaRPr lang="en-US" sz="1450"/>
          </a:p>
        </p:txBody>
      </p:sp>
      <p:cxnSp>
        <p:nvCxnSpPr>
          <p:cNvPr id="27" name="connector 27"/>
          <p:cNvCxnSpPr/>
          <p:nvPr/>
        </p:nvCxnSpPr>
        <p:spPr>
          <a:xfrm>
            <a:off x="942848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9631680" y="2247900"/>
            <a:ext cx="2052320" cy="2311400"/>
          </a:xfrm>
          <a:prstGeom prst="rect">
            <a:avLst/>
          </a:prstGeom>
          <a:solidFill>
            <a:srgbClr val="FFF2DF"/>
          </a:solidFill>
          <a:ln w="12700">
            <a:solidFill>
              <a:srgbClr val="DEDCD6"/>
            </a:solidFill>
          </a:ln>
        </p:spPr>
      </p:sp>
      <p:sp>
        <p:nvSpPr>
          <p:cNvPr id="29" name="text 29"/>
          <p:cNvSpPr/>
          <p:nvPr/>
        </p:nvSpPr>
        <p:spPr>
          <a:xfrm>
            <a:off x="979678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0" name="text 30"/>
          <p:cNvSpPr/>
          <p:nvPr/>
        </p:nvSpPr>
        <p:spPr>
          <a:xfrm>
            <a:off x="979678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 rules</a:t>
            </a:r>
            <a:endParaRPr lang="en-US" sz="1800"/>
          </a:p>
        </p:txBody>
      </p:sp>
      <p:sp>
        <p:nvSpPr>
          <p:cNvPr id="31" name="text 31"/>
          <p:cNvSpPr/>
          <p:nvPr/>
        </p:nvSpPr>
        <p:spPr>
          <a:xfrm>
            <a:off x="979678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Inspect findings</a:t>
            </a:r>
            <a:endParaRPr lang="en-US" sz="1450"/>
          </a:p>
          <a:p>
            <a:pPr algn="l">
              <a:lnSpc>
                <a:spcPts val="1653"/>
              </a:lnSpc>
              <a:spcAft>
                <a:spcPts val="0"/>
              </a:spcAft>
            </a:pPr>
            <a:r>
              <a:rPr lang="en-US" sz="1450" b="0" dirty="0">
                <a:solidFill>
                  <a:srgbClr val="181C23"/>
                </a:solidFill>
                <a:latin typeface="Funnel Sans"/>
              </a:rPr>
              <a:t>and governed</a:t>
            </a:r>
            <a:endParaRPr lang="en-US" sz="1450"/>
          </a:p>
          <a:p>
            <a:pPr algn="l">
              <a:lnSpc>
                <a:spcPts val="1653"/>
              </a:lnSpc>
              <a:spcAft>
                <a:spcPts val="0"/>
              </a:spcAft>
            </a:pPr>
            <a:r>
              <a:rPr lang="en-US" sz="1450" b="0" dirty="0">
                <a:solidFill>
                  <a:srgbClr val="181C23"/>
                </a:solidFill>
                <a:latin typeface="Funnel Sans"/>
              </a:rPr>
              <a:t>report</a:t>
            </a:r>
            <a:endParaRPr lang="en-US" sz="1450"/>
          </a:p>
        </p:txBody>
      </p:sp>
      <p:sp>
        <p:nvSpPr>
          <p:cNvPr id="32" name="shape 32"/>
          <p:cNvSpPr/>
          <p:nvPr/>
        </p:nvSpPr>
        <p:spPr>
          <a:xfrm>
            <a:off x="508000" y="4762500"/>
            <a:ext cx="5486400" cy="1346200"/>
          </a:xfrm>
          <a:prstGeom prst="rect">
            <a:avLst/>
          </a:prstGeom>
          <a:solidFill>
            <a:srgbClr val="FFFFFF"/>
          </a:solidFill>
          <a:ln w="12700">
            <a:solidFill>
              <a:srgbClr val="DEDCD6"/>
            </a:solidFill>
          </a:ln>
        </p:spPr>
      </p:sp>
      <p:sp>
        <p:nvSpPr>
          <p:cNvPr id="33" name="shape 33"/>
          <p:cNvSpPr/>
          <p:nvPr/>
        </p:nvSpPr>
        <p:spPr>
          <a:xfrm>
            <a:off x="508000" y="4762500"/>
            <a:ext cx="38100" cy="1346200"/>
          </a:xfrm>
          <a:prstGeom prst="rect">
            <a:avLst/>
          </a:prstGeom>
          <a:solidFill>
            <a:srgbClr val="FF4F59"/>
          </a:solidFill>
          <a:ln>
            <a:noFill/>
          </a:ln>
        </p:spPr>
      </p:sp>
      <p:sp>
        <p:nvSpPr>
          <p:cNvPr id="34" name="text 34"/>
          <p:cNvSpPr/>
          <p:nvPr/>
        </p:nvSpPr>
        <p:spPr>
          <a:xfrm>
            <a:off x="6985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Success / completion</a:t>
            </a:r>
            <a:endParaRPr lang="en-US" sz="1600"/>
          </a:p>
        </p:txBody>
      </p:sp>
      <p:sp>
        <p:nvSpPr>
          <p:cNvPr id="35" name="text 35"/>
          <p:cNvSpPr/>
          <p:nvPr/>
        </p:nvSpPr>
        <p:spPr>
          <a:xfrm>
            <a:off x="6985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Six rule outcomes, masked evidence and continuity metrics are</a:t>
            </a:r>
            <a:endParaRPr lang="en-US" sz="1250"/>
          </a:p>
          <a:p>
            <a:pPr algn="l">
              <a:lnSpc>
                <a:spcPts val="1425"/>
              </a:lnSpc>
              <a:spcAft>
                <a:spcPts val="0"/>
              </a:spcAft>
            </a:pPr>
            <a:r>
              <a:rPr lang="en-US" sz="1250" b="0" dirty="0">
                <a:solidFill>
                  <a:srgbClr val="6D706B"/>
                </a:solidFill>
                <a:latin typeface="Funnel Sans"/>
              </a:rPr>
              <a:t>retained. Optional segment can be NOT-APPLICABLE.</a:t>
            </a:r>
            <a:endParaRPr lang="en-US" sz="1250"/>
          </a:p>
        </p:txBody>
      </p:sp>
      <p:sp>
        <p:nvSpPr>
          <p:cNvPr id="36" name="shape 36"/>
          <p:cNvSpPr/>
          <p:nvPr/>
        </p:nvSpPr>
        <p:spPr>
          <a:xfrm>
            <a:off x="6197600" y="4762500"/>
            <a:ext cx="5486400" cy="1346200"/>
          </a:xfrm>
          <a:prstGeom prst="rect">
            <a:avLst/>
          </a:prstGeom>
          <a:solidFill>
            <a:srgbClr val="FFFFFF"/>
          </a:solidFill>
          <a:ln w="12700">
            <a:solidFill>
              <a:srgbClr val="DEDCD6"/>
            </a:solidFill>
          </a:ln>
        </p:spPr>
      </p:sp>
      <p:sp>
        <p:nvSpPr>
          <p:cNvPr id="37" name="shape 37"/>
          <p:cNvSpPr/>
          <p:nvPr/>
        </p:nvSpPr>
        <p:spPr>
          <a:xfrm>
            <a:off x="6197600" y="4762500"/>
            <a:ext cx="38100" cy="1346200"/>
          </a:xfrm>
          <a:prstGeom prst="rect">
            <a:avLst/>
          </a:prstGeom>
          <a:solidFill>
            <a:srgbClr val="FF4F59"/>
          </a:solidFill>
          <a:ln>
            <a:noFill/>
          </a:ln>
        </p:spPr>
      </p:sp>
      <p:sp>
        <p:nvSpPr>
          <p:cNvPr id="38" name="text 38"/>
          <p:cNvSpPr/>
          <p:nvPr/>
        </p:nvSpPr>
        <p:spPr>
          <a:xfrm>
            <a:off x="63881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Failure / blocked scope</a:t>
            </a:r>
            <a:endParaRPr lang="en-US" sz="1600"/>
          </a:p>
        </p:txBody>
      </p:sp>
      <p:sp>
        <p:nvSpPr>
          <p:cNvPr id="39" name="text 39"/>
          <p:cNvSpPr/>
          <p:nvPr/>
        </p:nvSpPr>
        <p:spPr>
          <a:xfrm>
            <a:off x="63881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Input/period incompatibilities are reported; failed rules await human</a:t>
            </a:r>
            <a:endParaRPr lang="en-US" sz="1250"/>
          </a:p>
          <a:p>
            <a:pPr algn="l">
              <a:lnSpc>
                <a:spcPts val="1425"/>
              </a:lnSpc>
              <a:spcAft>
                <a:spcPts val="0"/>
              </a:spcAft>
            </a:pPr>
            <a:r>
              <a:rPr lang="en-US" sz="1250" b="0" dirty="0">
                <a:solidFill>
                  <a:srgbClr val="6D706B"/>
                </a:solidFill>
                <a:latin typeface="Funnel Sans"/>
              </a:rPr>
              <a:t>review and do not auto-create issues.</a:t>
            </a:r>
            <a:endParaRPr lang="en-US" sz="1250"/>
          </a:p>
        </p:txBody>
      </p:sp>
      <p:cxnSp>
        <p:nvCxnSpPr>
          <p:cNvPr id="40" name="connector 4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text 4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2" name="text 4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40 / 87</a:t>
            </a:r>
            <a:endParaRPr lang="en-US" sz="10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T2-D06 • E / ISSUE &amp; RCA</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Carry the finding into a controlled investigation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Row-completeness reconciliation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197100"/>
            <a:ext cx="2235200" cy="457200"/>
          </a:xfrm>
          <a:prstGeom prst="rect">
            <a:avLst/>
          </a:prstGeom>
          <a:solidFill>
            <a:srgbClr val="282A27"/>
          </a:solidFill>
          <a:ln>
            <a:noFill/>
          </a:ln>
        </p:spPr>
      </p:sp>
      <p:sp>
        <p:nvSpPr>
          <p:cNvPr id="9" name="text 9"/>
          <p:cNvSpPr/>
          <p:nvPr/>
        </p:nvSpPr>
        <p:spPr>
          <a:xfrm>
            <a:off x="635000" y="2311400"/>
            <a:ext cx="19812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Step</a:t>
            </a:r>
            <a:endParaRPr lang="en-US" sz="1200"/>
          </a:p>
        </p:txBody>
      </p:sp>
      <p:sp>
        <p:nvSpPr>
          <p:cNvPr id="10" name="shape 10"/>
          <p:cNvSpPr/>
          <p:nvPr/>
        </p:nvSpPr>
        <p:spPr>
          <a:xfrm>
            <a:off x="2743200" y="2197100"/>
            <a:ext cx="8940800" cy="457200"/>
          </a:xfrm>
          <a:prstGeom prst="rect">
            <a:avLst/>
          </a:prstGeom>
          <a:solidFill>
            <a:srgbClr val="282A27"/>
          </a:solidFill>
          <a:ln>
            <a:noFill/>
          </a:ln>
        </p:spPr>
      </p:sp>
      <p:sp>
        <p:nvSpPr>
          <p:cNvPr id="11" name="text 11"/>
          <p:cNvSpPr/>
          <p:nvPr/>
        </p:nvSpPr>
        <p:spPr>
          <a:xfrm>
            <a:off x="2870200" y="2311400"/>
            <a:ext cx="8686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Implemented behavior / proposed follow-up</a:t>
            </a:r>
            <a:endParaRPr lang="en-US" sz="1200"/>
          </a:p>
        </p:txBody>
      </p:sp>
      <p:sp>
        <p:nvSpPr>
          <p:cNvPr id="12" name="shape 12"/>
          <p:cNvSpPr/>
          <p:nvPr/>
        </p:nvSpPr>
        <p:spPr>
          <a:xfrm>
            <a:off x="508000" y="2654300"/>
            <a:ext cx="2235200" cy="604520"/>
          </a:xfrm>
          <a:prstGeom prst="rect">
            <a:avLst/>
          </a:prstGeom>
          <a:solidFill>
            <a:srgbClr val="FFFFFF"/>
          </a:solidFill>
          <a:ln>
            <a:noFill/>
          </a:ln>
        </p:spPr>
      </p:sp>
      <p:sp>
        <p:nvSpPr>
          <p:cNvPr id="13" name="text 13"/>
          <p:cNvSpPr/>
          <p:nvPr/>
        </p:nvSpPr>
        <p:spPr>
          <a:xfrm>
            <a:off x="635000" y="270510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Finding</a:t>
            </a:r>
            <a:endParaRPr lang="en-US" sz="1700"/>
          </a:p>
        </p:txBody>
      </p:sp>
      <p:cxnSp>
        <p:nvCxnSpPr>
          <p:cNvPr id="14" name="connector 14"/>
          <p:cNvCxnSpPr/>
          <p:nvPr/>
        </p:nvCxnSpPr>
        <p:spPr>
          <a:xfrm>
            <a:off x="508000" y="325882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43200" y="2654300"/>
            <a:ext cx="8940800" cy="604520"/>
          </a:xfrm>
          <a:prstGeom prst="rect">
            <a:avLst/>
          </a:prstGeom>
          <a:solidFill>
            <a:srgbClr val="FFFFFF"/>
          </a:solidFill>
          <a:ln>
            <a:noFill/>
          </a:ln>
        </p:spPr>
      </p:sp>
      <p:sp>
        <p:nvSpPr>
          <p:cNvPr id="16" name="text 16"/>
          <p:cNvSpPr/>
          <p:nvPr/>
        </p:nvSpPr>
        <p:spPr>
          <a:xfrm>
            <a:off x="2870200" y="2705100"/>
            <a:ext cx="8686800" cy="50292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VIOLATION in any of the six rules becomes a reviewable finding.</a:t>
            </a:r>
            <a:endParaRPr lang="en-US" sz="1700"/>
          </a:p>
        </p:txBody>
      </p:sp>
      <p:cxnSp>
        <p:nvCxnSpPr>
          <p:cNvPr id="17" name="connector 17"/>
          <p:cNvCxnSpPr/>
          <p:nvPr/>
        </p:nvCxnSpPr>
        <p:spPr>
          <a:xfrm>
            <a:off x="2743200" y="325882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8000" y="3258820"/>
            <a:ext cx="2235200" cy="604520"/>
          </a:xfrm>
          <a:prstGeom prst="rect">
            <a:avLst/>
          </a:prstGeom>
          <a:solidFill>
            <a:srgbClr val="EFEEE9"/>
          </a:solidFill>
          <a:ln>
            <a:noFill/>
          </a:ln>
        </p:spPr>
      </p:sp>
      <p:sp>
        <p:nvSpPr>
          <p:cNvPr id="19" name="text 19"/>
          <p:cNvSpPr/>
          <p:nvPr/>
        </p:nvSpPr>
        <p:spPr>
          <a:xfrm>
            <a:off x="635000" y="330962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Issue gate</a:t>
            </a:r>
            <a:endParaRPr lang="en-US" sz="1700"/>
          </a:p>
        </p:txBody>
      </p:sp>
      <p:cxnSp>
        <p:nvCxnSpPr>
          <p:cNvPr id="20" name="connector 20"/>
          <p:cNvCxnSpPr/>
          <p:nvPr/>
        </p:nvCxnSpPr>
        <p:spPr>
          <a:xfrm>
            <a:off x="508000" y="386334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2743200" y="3258820"/>
            <a:ext cx="8940800" cy="604520"/>
          </a:xfrm>
          <a:prstGeom prst="rect">
            <a:avLst/>
          </a:prstGeom>
          <a:solidFill>
            <a:srgbClr val="EFEEE9"/>
          </a:solidFill>
          <a:ln>
            <a:noFill/>
          </a:ln>
        </p:spPr>
      </p:sp>
      <p:sp>
        <p:nvSpPr>
          <p:cNvPr id="22" name="text 22"/>
          <p:cNvSpPr/>
          <p:nvPr/>
        </p:nvSpPr>
        <p:spPr>
          <a:xfrm>
            <a:off x="2870200" y="3309620"/>
            <a:ext cx="8686800" cy="50292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Human confirms or dismisses failed-rule findings with rationale before issue creation.</a:t>
            </a:r>
            <a:endParaRPr lang="en-US" sz="1700"/>
          </a:p>
        </p:txBody>
      </p:sp>
      <p:cxnSp>
        <p:nvCxnSpPr>
          <p:cNvPr id="23" name="connector 23"/>
          <p:cNvCxnSpPr/>
          <p:nvPr/>
        </p:nvCxnSpPr>
        <p:spPr>
          <a:xfrm>
            <a:off x="2743200" y="386334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508000" y="3863340"/>
            <a:ext cx="2235200" cy="604520"/>
          </a:xfrm>
          <a:prstGeom prst="rect">
            <a:avLst/>
          </a:prstGeom>
          <a:solidFill>
            <a:srgbClr val="FFFFFF"/>
          </a:solidFill>
          <a:ln>
            <a:noFill/>
          </a:ln>
        </p:spPr>
      </p:sp>
      <p:sp>
        <p:nvSpPr>
          <p:cNvPr id="25" name="text 25"/>
          <p:cNvSpPr/>
          <p:nvPr/>
        </p:nvSpPr>
        <p:spPr>
          <a:xfrm>
            <a:off x="635000" y="391414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RCA</a:t>
            </a:r>
            <a:endParaRPr lang="en-US" sz="1700"/>
          </a:p>
        </p:txBody>
      </p:sp>
      <p:cxnSp>
        <p:nvCxnSpPr>
          <p:cNvPr id="26" name="connector 26"/>
          <p:cNvCxnSpPr/>
          <p:nvPr/>
        </p:nvCxnSpPr>
        <p:spPr>
          <a:xfrm>
            <a:off x="508000" y="446786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43200" y="3863340"/>
            <a:ext cx="8940800" cy="604520"/>
          </a:xfrm>
          <a:prstGeom prst="rect">
            <a:avLst/>
          </a:prstGeom>
          <a:solidFill>
            <a:srgbClr val="FFFFFF"/>
          </a:solidFill>
          <a:ln>
            <a:noFill/>
          </a:ln>
        </p:spPr>
      </p:sp>
      <p:sp>
        <p:nvSpPr>
          <p:cNvPr id="28" name="text 28"/>
          <p:cNvSpPr/>
          <p:nvPr/>
        </p:nvSpPr>
        <p:spPr>
          <a:xfrm>
            <a:off x="2870200" y="391414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 invalid keys, calendar gaps, duplicate type and affected period/segment</a:t>
            </a:r>
            <a:endParaRPr lang="en-US" sz="1650"/>
          </a:p>
          <a:p>
            <a:pPr algn="l">
              <a:lnSpc>
                <a:spcPts val="1881"/>
              </a:lnSpc>
              <a:spcAft>
                <a:spcPts val="0"/>
              </a:spcAft>
            </a:pPr>
            <a:r>
              <a:rPr lang="en-US" sz="1650" b="0" dirty="0">
                <a:solidFill>
                  <a:srgbClr val="181C23"/>
                </a:solidFill>
                <a:latin typeface="Funnel Sans"/>
              </a:rPr>
              <a:t>concentrations.</a:t>
            </a:r>
            <a:endParaRPr lang="en-US" sz="1650"/>
          </a:p>
        </p:txBody>
      </p:sp>
      <p:cxnSp>
        <p:nvCxnSpPr>
          <p:cNvPr id="29" name="connector 29"/>
          <p:cNvCxnSpPr/>
          <p:nvPr/>
        </p:nvCxnSpPr>
        <p:spPr>
          <a:xfrm>
            <a:off x="2743200" y="446786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467860"/>
            <a:ext cx="2235200" cy="604520"/>
          </a:xfrm>
          <a:prstGeom prst="rect">
            <a:avLst/>
          </a:prstGeom>
          <a:solidFill>
            <a:srgbClr val="EFEEE9"/>
          </a:solidFill>
          <a:ln>
            <a:noFill/>
          </a:ln>
        </p:spPr>
      </p:sp>
      <p:sp>
        <p:nvSpPr>
          <p:cNvPr id="31" name="text 31"/>
          <p:cNvSpPr/>
          <p:nvPr/>
        </p:nvSpPr>
        <p:spPr>
          <a:xfrm>
            <a:off x="635000" y="4518660"/>
            <a:ext cx="1981200" cy="502920"/>
          </a:xfrm>
          <a:prstGeom prst="rect">
            <a:avLst/>
          </a:prstGeom>
          <a:noFill/>
          <a:ln>
            <a:noFill/>
          </a:ln>
        </p:spPr>
        <p:txBody>
          <a:bodyPr wrap="none" lIns="0" tIns="0" rIns="0" bIns="0" anchor="t">
            <a:noAutofit/>
          </a:bodyPr>
          <a:lstStyle/>
          <a:p>
            <a:pPr algn="l">
              <a:lnSpc>
                <a:spcPts val="1881"/>
              </a:lnSpc>
              <a:spcAft>
                <a:spcPts val="0"/>
              </a:spcAft>
            </a:pPr>
            <a:r>
              <a:rPr lang="en-US" sz="1650" b="1" dirty="0">
                <a:solidFill>
                  <a:srgbClr val="181C23"/>
                </a:solidFill>
                <a:latin typeface="Funnel Sans"/>
              </a:rPr>
              <a:t>Remediation /</a:t>
            </a:r>
            <a:endParaRPr lang="en-US" sz="1650"/>
          </a:p>
          <a:p>
            <a:pPr algn="l">
              <a:lnSpc>
                <a:spcPts val="1881"/>
              </a:lnSpc>
              <a:spcAft>
                <a:spcPts val="0"/>
              </a:spcAft>
            </a:pPr>
            <a:r>
              <a:rPr lang="en-US" sz="1650" b="1" dirty="0">
                <a:solidFill>
                  <a:srgbClr val="181C23"/>
                </a:solidFill>
                <a:latin typeface="Funnel Sans"/>
              </a:rPr>
              <a:t>retest</a:t>
            </a:r>
            <a:endParaRPr lang="en-US" sz="1650"/>
          </a:p>
        </p:txBody>
      </p:sp>
      <p:cxnSp>
        <p:nvCxnSpPr>
          <p:cNvPr id="32" name="connector 32"/>
          <p:cNvCxnSpPr/>
          <p:nvPr/>
        </p:nvCxnSpPr>
        <p:spPr>
          <a:xfrm>
            <a:off x="508000" y="507238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743200" y="4467860"/>
            <a:ext cx="8940800" cy="604520"/>
          </a:xfrm>
          <a:prstGeom prst="rect">
            <a:avLst/>
          </a:prstGeom>
          <a:solidFill>
            <a:srgbClr val="EFEEE9"/>
          </a:solidFill>
          <a:ln>
            <a:noFill/>
          </a:ln>
        </p:spPr>
      </p:sp>
      <p:sp>
        <p:nvSpPr>
          <p:cNvPr id="34" name="text 34"/>
          <p:cNvSpPr/>
          <p:nvPr/>
        </p:nvSpPr>
        <p:spPr>
          <a:xfrm>
            <a:off x="2870200" y="451866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Suggested: reconcile source deliveries or deduplicate; upload corrected panel and rerun</a:t>
            </a:r>
            <a:endParaRPr lang="en-US" sz="1650"/>
          </a:p>
          <a:p>
            <a:pPr algn="l">
              <a:lnSpc>
                <a:spcPts val="1881"/>
              </a:lnSpc>
              <a:spcAft>
                <a:spcPts val="0"/>
              </a:spcAft>
            </a:pPr>
            <a:r>
              <a:rPr lang="en-US" sz="1650" b="0" dirty="0">
                <a:solidFill>
                  <a:srgbClr val="181C23"/>
                </a:solidFill>
                <a:latin typeface="Funnel Sans"/>
              </a:rPr>
              <a:t>for fresh evidence.</a:t>
            </a:r>
            <a:endParaRPr lang="en-US" sz="1650"/>
          </a:p>
        </p:txBody>
      </p:sp>
      <p:cxnSp>
        <p:nvCxnSpPr>
          <p:cNvPr id="35" name="connector 35"/>
          <p:cNvCxnSpPr/>
          <p:nvPr/>
        </p:nvCxnSpPr>
        <p:spPr>
          <a:xfrm>
            <a:off x="2743200" y="507238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508000" y="5072380"/>
            <a:ext cx="2235200" cy="604520"/>
          </a:xfrm>
          <a:prstGeom prst="rect">
            <a:avLst/>
          </a:prstGeom>
          <a:solidFill>
            <a:srgbClr val="FFFFFF"/>
          </a:solidFill>
          <a:ln>
            <a:noFill/>
          </a:ln>
        </p:spPr>
      </p:sp>
      <p:sp>
        <p:nvSpPr>
          <p:cNvPr id="37" name="text 37"/>
          <p:cNvSpPr/>
          <p:nvPr/>
        </p:nvSpPr>
        <p:spPr>
          <a:xfrm>
            <a:off x="635000" y="512318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Closure</a:t>
            </a:r>
            <a:endParaRPr lang="en-US" sz="1700"/>
          </a:p>
        </p:txBody>
      </p:sp>
      <p:cxnSp>
        <p:nvCxnSpPr>
          <p:cNvPr id="38" name="connector 38"/>
          <p:cNvCxnSpPr/>
          <p:nvPr/>
        </p:nvCxnSpPr>
        <p:spPr>
          <a:xfrm>
            <a:off x="508000" y="567690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2743200" y="5072380"/>
            <a:ext cx="8940800" cy="604520"/>
          </a:xfrm>
          <a:prstGeom prst="rect">
            <a:avLst/>
          </a:prstGeom>
          <a:solidFill>
            <a:srgbClr val="FFFFFF"/>
          </a:solidFill>
          <a:ln>
            <a:noFill/>
          </a:ln>
        </p:spPr>
      </p:sp>
      <p:sp>
        <p:nvSpPr>
          <p:cNvPr id="40" name="text 40"/>
          <p:cNvSpPr/>
          <p:nvPr/>
        </p:nvSpPr>
        <p:spPr>
          <a:xfrm>
            <a:off x="2870200" y="512318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Reviewer approves root cause identified or unresolved with evidence; optional follow-up</a:t>
            </a:r>
            <a:endParaRPr lang="en-US" sz="1650"/>
          </a:p>
          <a:p>
            <a:pPr algn="l">
              <a:lnSpc>
                <a:spcPts val="1881"/>
              </a:lnSpc>
              <a:spcAft>
                <a:spcPts val="0"/>
              </a:spcAft>
            </a:pPr>
            <a:r>
              <a:rPr lang="en-US" sz="1650" b="0" dirty="0">
                <a:solidFill>
                  <a:srgbClr val="181C23"/>
                </a:solidFill>
                <a:latin typeface="Funnel Sans"/>
              </a:rPr>
              <a:t>stays separate.</a:t>
            </a:r>
            <a:endParaRPr lang="en-US" sz="1650"/>
          </a:p>
        </p:txBody>
      </p:sp>
      <p:cxnSp>
        <p:nvCxnSpPr>
          <p:cNvPr id="41" name="connector 41"/>
          <p:cNvCxnSpPr/>
          <p:nvPr/>
        </p:nvCxnSpPr>
        <p:spPr>
          <a:xfrm>
            <a:off x="2743200" y="567690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508000" y="5740400"/>
            <a:ext cx="11176000" cy="546100"/>
          </a:xfrm>
          <a:prstGeom prst="rect">
            <a:avLst/>
          </a:prstGeom>
          <a:solidFill>
            <a:srgbClr val="282A27"/>
          </a:solidFill>
          <a:ln>
            <a:noFill/>
          </a:ln>
        </p:spPr>
      </p:sp>
      <p:sp>
        <p:nvSpPr>
          <p:cNvPr id="43" name="text 4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Manual / proposed: source correction and fresh-data retest. RCA approval does not prove a fix.</a:t>
            </a:r>
            <a:endParaRPr lang="en-US" sz="1600"/>
          </a:p>
        </p:txBody>
      </p:sp>
      <p:cxnSp>
        <p:nvCxnSpPr>
          <p:cNvPr id="44" name="connector 4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text 4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6" name="text 4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41 / 87</a:t>
            </a:r>
            <a:endParaRPr lang="en-US" sz="1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T2-D08 • A / PURPOSE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Explain exceptional values before treating them as defects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Value-semantics classification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3589867" cy="3073400"/>
          </a:xfrm>
          <a:prstGeom prst="rect">
            <a:avLst/>
          </a:prstGeom>
          <a:solidFill>
            <a:srgbClr val="FFFFFF"/>
          </a:solidFill>
          <a:ln w="12700">
            <a:solidFill>
              <a:srgbClr val="DEDCD6"/>
            </a:solidFill>
          </a:ln>
        </p:spPr>
      </p:sp>
      <p:sp>
        <p:nvSpPr>
          <p:cNvPr id="9" name="shape 9"/>
          <p:cNvSpPr/>
          <p:nvPr/>
        </p:nvSpPr>
        <p:spPr>
          <a:xfrm>
            <a:off x="508000" y="2247900"/>
            <a:ext cx="38100" cy="3073400"/>
          </a:xfrm>
          <a:prstGeom prst="rect">
            <a:avLst/>
          </a:prstGeom>
          <a:solidFill>
            <a:srgbClr val="FF4F59"/>
          </a:solidFill>
          <a:ln>
            <a:noFill/>
          </a:ln>
        </p:spPr>
      </p:sp>
      <p:sp>
        <p:nvSpPr>
          <p:cNvPr id="10" name="shape 10"/>
          <p:cNvSpPr/>
          <p:nvPr/>
        </p:nvSpPr>
        <p:spPr>
          <a:xfrm>
            <a:off x="711200" y="2438400"/>
            <a:ext cx="342900" cy="342900"/>
          </a:xfrm>
          <a:prstGeom prst="hexagon">
            <a:avLst/>
          </a:prstGeom>
          <a:noFill/>
          <a:ln w="21590">
            <a:solidFill>
              <a:srgbClr val="FF4F59"/>
            </a:solidFill>
          </a:ln>
        </p:spPr>
      </p:sp>
      <p:sp>
        <p:nvSpPr>
          <p:cNvPr id="11" name="text 11"/>
          <p:cNvSpPr/>
          <p:nvPr/>
        </p:nvSpPr>
        <p:spPr>
          <a:xfrm>
            <a:off x="825500"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12" name="text 12"/>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Problem</a:t>
            </a:r>
            <a:endParaRPr lang="en-US" sz="1900"/>
          </a:p>
        </p:txBody>
      </p:sp>
      <p:sp>
        <p:nvSpPr>
          <p:cNvPr id="13" name="text 13"/>
          <p:cNvSpPr/>
          <p:nvPr/>
        </p:nvSpPr>
        <p:spPr>
          <a:xfrm>
            <a:off x="723900"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Blanks, sentinels, static values</a:t>
            </a:r>
            <a:endParaRPr lang="en-US" sz="1700"/>
          </a:p>
          <a:p>
            <a:pPr algn="l">
              <a:lnSpc>
                <a:spcPts val="1938"/>
              </a:lnSpc>
              <a:spcAft>
                <a:spcPts val="0"/>
              </a:spcAft>
            </a:pPr>
            <a:r>
              <a:rPr lang="en-US" sz="1700" b="0" dirty="0">
                <a:solidFill>
                  <a:srgbClr val="181C23"/>
                </a:solidFill>
                <a:latin typeface="Funnel Sans"/>
              </a:rPr>
              <a:t>and conditional fields can have</a:t>
            </a:r>
            <a:endParaRPr lang="en-US" sz="1700"/>
          </a:p>
          <a:p>
            <a:pPr algn="l">
              <a:lnSpc>
                <a:spcPts val="1938"/>
              </a:lnSpc>
              <a:spcAft>
                <a:spcPts val="0"/>
              </a:spcAft>
            </a:pPr>
            <a:r>
              <a:rPr lang="en-US" sz="1700" b="0" dirty="0">
                <a:solidFill>
                  <a:srgbClr val="181C23"/>
                </a:solidFill>
                <a:latin typeface="Funnel Sans"/>
              </a:rPr>
              <a:t>legitimate business meaning.</a:t>
            </a:r>
            <a:endParaRPr lang="en-US" sz="1700"/>
          </a:p>
        </p:txBody>
      </p:sp>
      <p:sp>
        <p:nvSpPr>
          <p:cNvPr id="14" name="shape 14"/>
          <p:cNvSpPr/>
          <p:nvPr/>
        </p:nvSpPr>
        <p:spPr>
          <a:xfrm>
            <a:off x="4301067" y="2247900"/>
            <a:ext cx="3589867" cy="3073400"/>
          </a:xfrm>
          <a:prstGeom prst="rect">
            <a:avLst/>
          </a:prstGeom>
          <a:solidFill>
            <a:srgbClr val="FFFFFF"/>
          </a:solidFill>
          <a:ln w="12700">
            <a:solidFill>
              <a:srgbClr val="DEDCD6"/>
            </a:solidFill>
          </a:ln>
        </p:spPr>
      </p:sp>
      <p:sp>
        <p:nvSpPr>
          <p:cNvPr id="15" name="shape 15"/>
          <p:cNvSpPr/>
          <p:nvPr/>
        </p:nvSpPr>
        <p:spPr>
          <a:xfrm>
            <a:off x="4301067" y="2247900"/>
            <a:ext cx="38100" cy="3073400"/>
          </a:xfrm>
          <a:prstGeom prst="rect">
            <a:avLst/>
          </a:prstGeom>
          <a:solidFill>
            <a:srgbClr val="FF4F59"/>
          </a:solidFill>
          <a:ln>
            <a:noFill/>
          </a:ln>
        </p:spPr>
      </p:sp>
      <p:sp>
        <p:nvSpPr>
          <p:cNvPr id="16" name="shape 16"/>
          <p:cNvSpPr/>
          <p:nvPr/>
        </p:nvSpPr>
        <p:spPr>
          <a:xfrm>
            <a:off x="4605867" y="2438400"/>
            <a:ext cx="139700" cy="139700"/>
          </a:xfrm>
          <a:prstGeom prst="ellipse">
            <a:avLst/>
          </a:prstGeom>
          <a:noFill/>
          <a:ln w="20320">
            <a:solidFill>
              <a:srgbClr val="FF4F59"/>
            </a:solidFill>
          </a:ln>
        </p:spPr>
      </p:sp>
      <p:sp>
        <p:nvSpPr>
          <p:cNvPr id="17" name="shape 17"/>
          <p:cNvSpPr/>
          <p:nvPr/>
        </p:nvSpPr>
        <p:spPr>
          <a:xfrm>
            <a:off x="4529667" y="2616200"/>
            <a:ext cx="292100" cy="190500"/>
          </a:xfrm>
          <a:prstGeom prst="arc">
            <a:avLst/>
          </a:prstGeom>
          <a:noFill/>
          <a:ln w="20320">
            <a:solidFill>
              <a:srgbClr val="FF4F59"/>
            </a:solid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Primary users</a:t>
            </a:r>
            <a:endParaRPr lang="en-US" sz="1900"/>
          </a:p>
        </p:txBody>
      </p:sp>
      <p:sp>
        <p:nvSpPr>
          <p:cNvPr id="19" name="text 19"/>
          <p:cNvSpPr/>
          <p:nvPr/>
        </p:nvSpPr>
        <p:spPr>
          <a:xfrm>
            <a:off x="4516967"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Data and model teams, with an</a:t>
            </a:r>
            <a:endParaRPr lang="en-US" sz="1700"/>
          </a:p>
          <a:p>
            <a:pPr algn="l">
              <a:lnSpc>
                <a:spcPts val="1938"/>
              </a:lnSpc>
              <a:spcAft>
                <a:spcPts val="0"/>
              </a:spcAft>
            </a:pPr>
            <a:r>
              <a:rPr lang="en-US" sz="1700" b="0" dirty="0">
                <a:solidFill>
                  <a:srgbClr val="181C23"/>
                </a:solidFill>
                <a:latin typeface="Funnel Sans"/>
              </a:rPr>
              <a:t>SME confirming semantic roles</a:t>
            </a:r>
            <a:endParaRPr lang="en-US" sz="1700"/>
          </a:p>
          <a:p>
            <a:pPr algn="l">
              <a:lnSpc>
                <a:spcPts val="1938"/>
              </a:lnSpc>
              <a:spcAft>
                <a:spcPts val="0"/>
              </a:spcAft>
            </a:pPr>
            <a:r>
              <a:rPr lang="en-US" sz="1700" b="0" dirty="0">
                <a:solidFill>
                  <a:srgbClr val="181C23"/>
                </a:solidFill>
                <a:latin typeface="Funnel Sans"/>
              </a:rPr>
              <a:t>when exact evidence is</a:t>
            </a:r>
            <a:endParaRPr lang="en-US" sz="1700"/>
          </a:p>
          <a:p>
            <a:pPr algn="l">
              <a:lnSpc>
                <a:spcPts val="1938"/>
              </a:lnSpc>
              <a:spcAft>
                <a:spcPts val="0"/>
              </a:spcAft>
            </a:pPr>
            <a:r>
              <a:rPr lang="en-US" sz="1700" b="0" dirty="0">
                <a:solidFill>
                  <a:srgbClr val="181C23"/>
                </a:solidFill>
                <a:latin typeface="Funnel Sans"/>
              </a:rPr>
              <a:t>insufficient.</a:t>
            </a:r>
            <a:endParaRPr lang="en-US" sz="1700"/>
          </a:p>
        </p:txBody>
      </p:sp>
      <p:sp>
        <p:nvSpPr>
          <p:cNvPr id="20" name="shape 20"/>
          <p:cNvSpPr/>
          <p:nvPr/>
        </p:nvSpPr>
        <p:spPr>
          <a:xfrm>
            <a:off x="8094133" y="2247900"/>
            <a:ext cx="3589867" cy="3073400"/>
          </a:xfrm>
          <a:prstGeom prst="rect">
            <a:avLst/>
          </a:prstGeom>
          <a:solidFill>
            <a:srgbClr val="FFFFFF"/>
          </a:solidFill>
          <a:ln w="12700">
            <a:solidFill>
              <a:srgbClr val="DEDCD6"/>
            </a:solidFill>
          </a:ln>
        </p:spPr>
      </p:sp>
      <p:sp>
        <p:nvSpPr>
          <p:cNvPr id="21" name="shape 21"/>
          <p:cNvSpPr/>
          <p:nvPr/>
        </p:nvSpPr>
        <p:spPr>
          <a:xfrm>
            <a:off x="8094133" y="2247900"/>
            <a:ext cx="38100" cy="3073400"/>
          </a:xfrm>
          <a:prstGeom prst="rect">
            <a:avLst/>
          </a:prstGeom>
          <a:solidFill>
            <a:srgbClr val="FF4F59"/>
          </a:solidFill>
          <a:ln>
            <a:noFill/>
          </a:ln>
        </p:spPr>
      </p:sp>
      <p:sp>
        <p:nvSpPr>
          <p:cNvPr id="22" name="shape 22"/>
          <p:cNvSpPr/>
          <p:nvPr/>
        </p:nvSpPr>
        <p:spPr>
          <a:xfrm>
            <a:off x="8297333" y="2438400"/>
            <a:ext cx="304800" cy="342900"/>
          </a:xfrm>
          <a:prstGeom prst="can">
            <a:avLst/>
          </a:prstGeom>
          <a:noFill/>
          <a:ln w="20320">
            <a:solidFill>
              <a:srgbClr val="FF4F59"/>
            </a:solidFill>
          </a:ln>
        </p:spPr>
      </p:sp>
      <p:sp>
        <p:nvSpPr>
          <p:cNvPr id="23" name="text 23"/>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When to use it</a:t>
            </a:r>
            <a:endParaRPr lang="en-US" sz="1900"/>
          </a:p>
        </p:txBody>
      </p:sp>
      <p:sp>
        <p:nvSpPr>
          <p:cNvPr id="24" name="text 24"/>
          <p:cNvSpPr/>
          <p:nvPr/>
        </p:nvSpPr>
        <p:spPr>
          <a:xfrm>
            <a:off x="8310033"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ready table with selected</a:t>
            </a:r>
            <a:endParaRPr lang="en-US" sz="1700"/>
          </a:p>
          <a:p>
            <a:pPr algn="l">
              <a:lnSpc>
                <a:spcPts val="1938"/>
              </a:lnSpc>
              <a:spcAft>
                <a:spcPts val="0"/>
              </a:spcAft>
            </a:pPr>
            <a:r>
              <a:rPr lang="en-US" sz="1700" b="0" dirty="0">
                <a:solidFill>
                  <a:srgbClr val="181C23"/>
                </a:solidFill>
                <a:latin typeface="Funnel Sans"/>
              </a:rPr>
              <a:t>fields, confirmed role coverage</a:t>
            </a:r>
            <a:endParaRPr lang="en-US" sz="1700"/>
          </a:p>
          <a:p>
            <a:pPr algn="l">
              <a:lnSpc>
                <a:spcPts val="1938"/>
              </a:lnSpc>
              <a:spcAft>
                <a:spcPts val="0"/>
              </a:spcAft>
            </a:pPr>
            <a:r>
              <a:rPr lang="en-US" sz="1700" b="0" dirty="0">
                <a:solidFill>
                  <a:srgbClr val="181C23"/>
                </a:solidFill>
                <a:latin typeface="Funnel Sans"/>
              </a:rPr>
              <a:t>and any required runtime</a:t>
            </a:r>
            <a:endParaRPr lang="en-US" sz="1700"/>
          </a:p>
          <a:p>
            <a:pPr algn="l">
              <a:lnSpc>
                <a:spcPts val="1938"/>
              </a:lnSpc>
              <a:spcAft>
                <a:spcPts val="0"/>
              </a:spcAft>
            </a:pPr>
            <a:r>
              <a:rPr lang="en-US" sz="1700" b="0" dirty="0">
                <a:solidFill>
                  <a:srgbClr val="181C23"/>
                </a:solidFill>
                <a:latin typeface="Funnel Sans"/>
              </a:rPr>
              <a:t>declarations.</a:t>
            </a:r>
            <a:endParaRPr lang="en-US" sz="1700"/>
          </a:p>
        </p:txBody>
      </p:sp>
      <p:sp>
        <p:nvSpPr>
          <p:cNvPr id="25" name="shape 25"/>
          <p:cNvSpPr/>
          <p:nvPr/>
        </p:nvSpPr>
        <p:spPr>
          <a:xfrm>
            <a:off x="508000" y="5626100"/>
            <a:ext cx="11176000" cy="546100"/>
          </a:xfrm>
          <a:prstGeom prst="rect">
            <a:avLst/>
          </a:prstGeom>
          <a:solidFill>
            <a:srgbClr val="282A27"/>
          </a:solidFill>
          <a:ln>
            <a:noFill/>
          </a:ln>
        </p:spPr>
      </p:sp>
      <p:sp>
        <p:nvSpPr>
          <p:cNvPr id="26" name="text 26"/>
          <p:cNvSpPr/>
          <p:nvPr/>
        </p:nvSpPr>
        <p:spPr>
          <a:xfrm>
            <a:off x="698500" y="57658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Non-destructive cell tags, coverage gaps and grouped candidate findings; source values stay unchanged.</a:t>
            </a:r>
            <a:endParaRPr lang="en-US" sz="1600"/>
          </a:p>
        </p:txBody>
      </p:sp>
      <p:cxnSp>
        <p:nvCxnSpPr>
          <p:cNvPr id="27" name="connector 2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9" name="text 2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42 / 87</a:t>
            </a:r>
            <a:endParaRPr lang="en-US" sz="10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T2-D08 • B / APPROACH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Follow the governed processing path</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Value-semantics classification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text 8"/>
          <p:cNvSpPr/>
          <p:nvPr/>
        </p:nvSpPr>
        <p:spPr>
          <a:xfrm>
            <a:off x="520700" y="2108200"/>
            <a:ext cx="990600" cy="2794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4F59"/>
                </a:solidFill>
                <a:latin typeface="Funnel Sans"/>
              </a:rPr>
              <a:t>INPUTS</a:t>
            </a:r>
            <a:endParaRPr lang="en-US" sz="1100"/>
          </a:p>
        </p:txBody>
      </p:sp>
      <p:sp>
        <p:nvSpPr>
          <p:cNvPr id="9" name="text 9"/>
          <p:cNvSpPr/>
          <p:nvPr/>
        </p:nvSpPr>
        <p:spPr>
          <a:xfrm>
            <a:off x="1574800" y="2082800"/>
            <a:ext cx="10096500" cy="6096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Selected fields; confirmed canonical roles; versioned KB/terminology; declared sentinels, dates or panel</a:t>
            </a:r>
            <a:endParaRPr lang="en-US" sz="1600"/>
          </a:p>
          <a:p>
            <a:pPr algn="l">
              <a:lnSpc>
                <a:spcPts val="1824"/>
              </a:lnSpc>
              <a:spcAft>
                <a:spcPts val="0"/>
              </a:spcAft>
            </a:pPr>
            <a:r>
              <a:rPr lang="en-US" sz="1600" b="0" dirty="0">
                <a:solidFill>
                  <a:srgbClr val="181C23"/>
                </a:solidFill>
                <a:latin typeface="Funnel Sans"/>
              </a:rPr>
              <a:t>rules.</a:t>
            </a:r>
            <a:endParaRPr lang="en-US" sz="1600"/>
          </a:p>
        </p:txBody>
      </p:sp>
      <p:sp>
        <p:nvSpPr>
          <p:cNvPr id="10" name="shape 10"/>
          <p:cNvSpPr/>
          <p:nvPr/>
        </p:nvSpPr>
        <p:spPr>
          <a:xfrm>
            <a:off x="508000" y="2832100"/>
            <a:ext cx="2052320" cy="2374900"/>
          </a:xfrm>
          <a:prstGeom prst="rect">
            <a:avLst/>
          </a:prstGeom>
          <a:solidFill>
            <a:srgbClr val="FFF2DF"/>
          </a:solidFill>
          <a:ln w="12700">
            <a:solidFill>
              <a:srgbClr val="DEDCD6"/>
            </a:solidFill>
          </a:ln>
        </p:spPr>
      </p:sp>
      <p:sp>
        <p:nvSpPr>
          <p:cNvPr id="11" name="text 11"/>
          <p:cNvSpPr/>
          <p:nvPr/>
        </p:nvSpPr>
        <p:spPr>
          <a:xfrm>
            <a:off x="67310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2" name="text 12"/>
          <p:cNvSpPr/>
          <p:nvPr/>
        </p:nvSpPr>
        <p:spPr>
          <a:xfrm>
            <a:off x="67310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Bind roles</a:t>
            </a:r>
            <a:endParaRPr lang="en-US" sz="1800"/>
          </a:p>
        </p:txBody>
      </p:sp>
      <p:sp>
        <p:nvSpPr>
          <p:cNvPr id="13" name="text 13"/>
          <p:cNvSpPr/>
          <p:nvPr/>
        </p:nvSpPr>
        <p:spPr>
          <a:xfrm>
            <a:off x="67310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Exact-first</a:t>
            </a:r>
            <a:endParaRPr lang="en-US" sz="1450"/>
          </a:p>
          <a:p>
            <a:pPr algn="l">
              <a:lnSpc>
                <a:spcPts val="1653"/>
              </a:lnSpc>
              <a:spcAft>
                <a:spcPts val="0"/>
              </a:spcAft>
            </a:pPr>
            <a:r>
              <a:rPr lang="en-US" sz="1450" b="0" dirty="0">
                <a:solidFill>
                  <a:srgbClr val="181C23"/>
                </a:solidFill>
                <a:latin typeface="Funnel Sans"/>
              </a:rPr>
              <a:t>matching; confirm</a:t>
            </a:r>
            <a:endParaRPr lang="en-US" sz="1450"/>
          </a:p>
          <a:p>
            <a:pPr algn="l">
              <a:lnSpc>
                <a:spcPts val="1653"/>
              </a:lnSpc>
              <a:spcAft>
                <a:spcPts val="0"/>
              </a:spcAft>
            </a:pPr>
            <a:r>
              <a:rPr lang="en-US" sz="1450" b="0" dirty="0">
                <a:solidFill>
                  <a:srgbClr val="181C23"/>
                </a:solidFill>
                <a:latin typeface="Funnel Sans"/>
              </a:rPr>
              <a:t>other proposals</a:t>
            </a:r>
            <a:endParaRPr lang="en-US" sz="1450"/>
          </a:p>
        </p:txBody>
      </p:sp>
      <p:cxnSp>
        <p:nvCxnSpPr>
          <p:cNvPr id="14" name="connector 14"/>
          <p:cNvCxnSpPr/>
          <p:nvPr/>
        </p:nvCxnSpPr>
        <p:spPr>
          <a:xfrm>
            <a:off x="258572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88920" y="2832100"/>
            <a:ext cx="2052320" cy="2374900"/>
          </a:xfrm>
          <a:prstGeom prst="rect">
            <a:avLst/>
          </a:prstGeom>
          <a:solidFill>
            <a:srgbClr val="FFF2DF"/>
          </a:solidFill>
          <a:ln w="12700">
            <a:solidFill>
              <a:srgbClr val="DEDCD6"/>
            </a:solidFill>
          </a:ln>
        </p:spPr>
      </p:sp>
      <p:sp>
        <p:nvSpPr>
          <p:cNvPr id="16" name="text 16"/>
          <p:cNvSpPr/>
          <p:nvPr/>
        </p:nvSpPr>
        <p:spPr>
          <a:xfrm>
            <a:off x="295402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7" name="text 17"/>
          <p:cNvSpPr/>
          <p:nvPr/>
        </p:nvSpPr>
        <p:spPr>
          <a:xfrm>
            <a:off x="295402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Route rules</a:t>
            </a:r>
            <a:endParaRPr lang="en-US" sz="1800"/>
          </a:p>
        </p:txBody>
      </p:sp>
      <p:sp>
        <p:nvSpPr>
          <p:cNvPr id="18" name="text 18"/>
          <p:cNvSpPr/>
          <p:nvPr/>
        </p:nvSpPr>
        <p:spPr>
          <a:xfrm>
            <a:off x="295402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Expand roles and</a:t>
            </a:r>
            <a:endParaRPr lang="en-US" sz="1450"/>
          </a:p>
          <a:p>
            <a:pPr algn="l">
              <a:lnSpc>
                <a:spcPts val="1653"/>
              </a:lnSpc>
              <a:spcAft>
                <a:spcPts val="0"/>
              </a:spcAft>
            </a:pPr>
            <a:r>
              <a:rPr lang="en-US" sz="1450" b="0" dirty="0">
                <a:solidFill>
                  <a:srgbClr val="181C23"/>
                </a:solidFill>
                <a:latin typeface="Funnel Sans"/>
              </a:rPr>
              <a:t>check prerequisites</a:t>
            </a:r>
            <a:endParaRPr lang="en-US" sz="1450"/>
          </a:p>
        </p:txBody>
      </p:sp>
      <p:cxnSp>
        <p:nvCxnSpPr>
          <p:cNvPr id="19" name="connector 19"/>
          <p:cNvCxnSpPr/>
          <p:nvPr/>
        </p:nvCxnSpPr>
        <p:spPr>
          <a:xfrm>
            <a:off x="486664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5069840" y="2832100"/>
            <a:ext cx="2052320" cy="2374900"/>
          </a:xfrm>
          <a:prstGeom prst="rect">
            <a:avLst/>
          </a:prstGeom>
          <a:solidFill>
            <a:srgbClr val="FFF2DF"/>
          </a:solidFill>
          <a:ln w="12700">
            <a:solidFill>
              <a:srgbClr val="DEDCD6"/>
            </a:solidFill>
          </a:ln>
        </p:spPr>
      </p:sp>
      <p:sp>
        <p:nvSpPr>
          <p:cNvPr id="21" name="text 21"/>
          <p:cNvSpPr/>
          <p:nvPr/>
        </p:nvSpPr>
        <p:spPr>
          <a:xfrm>
            <a:off x="523494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2" name="text 22"/>
          <p:cNvSpPr/>
          <p:nvPr/>
        </p:nvSpPr>
        <p:spPr>
          <a:xfrm>
            <a:off x="523494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Classify cells</a:t>
            </a:r>
            <a:endParaRPr lang="en-US" sz="1800"/>
          </a:p>
        </p:txBody>
      </p:sp>
      <p:sp>
        <p:nvSpPr>
          <p:cNvPr id="23" name="text 23"/>
          <p:cNvSpPr/>
          <p:nvPr/>
        </p:nvSpPr>
        <p:spPr>
          <a:xfrm>
            <a:off x="523494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Run deterministic</a:t>
            </a:r>
            <a:endParaRPr lang="en-US" sz="1450"/>
          </a:p>
          <a:p>
            <a:pPr algn="l">
              <a:lnSpc>
                <a:spcPts val="1653"/>
              </a:lnSpc>
              <a:spcAft>
                <a:spcPts val="0"/>
              </a:spcAft>
            </a:pPr>
            <a:r>
              <a:rPr lang="en-US" sz="1450" b="0" dirty="0">
                <a:solidFill>
                  <a:srgbClr val="181C23"/>
                </a:solidFill>
                <a:latin typeface="Funnel Sans"/>
              </a:rPr>
              <a:t>KB primitives</a:t>
            </a:r>
            <a:endParaRPr lang="en-US" sz="1450"/>
          </a:p>
        </p:txBody>
      </p:sp>
      <p:cxnSp>
        <p:nvCxnSpPr>
          <p:cNvPr id="24" name="connector 24"/>
          <p:cNvCxnSpPr/>
          <p:nvPr/>
        </p:nvCxnSpPr>
        <p:spPr>
          <a:xfrm>
            <a:off x="714756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7350760" y="2832100"/>
            <a:ext cx="2052320" cy="2374900"/>
          </a:xfrm>
          <a:prstGeom prst="rect">
            <a:avLst/>
          </a:prstGeom>
          <a:solidFill>
            <a:srgbClr val="FFF2DF"/>
          </a:solidFill>
          <a:ln w="12700">
            <a:solidFill>
              <a:srgbClr val="DEDCD6"/>
            </a:solidFill>
          </a:ln>
        </p:spPr>
      </p:sp>
      <p:sp>
        <p:nvSpPr>
          <p:cNvPr id="26" name="text 26"/>
          <p:cNvSpPr/>
          <p:nvPr/>
        </p:nvSpPr>
        <p:spPr>
          <a:xfrm>
            <a:off x="751586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7" name="text 27"/>
          <p:cNvSpPr/>
          <p:nvPr/>
        </p:nvSpPr>
        <p:spPr>
          <a:xfrm>
            <a:off x="751586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Resolve</a:t>
            </a:r>
            <a:endParaRPr lang="en-US" sz="1800"/>
          </a:p>
          <a:p>
            <a:pPr algn="l">
              <a:lnSpc>
                <a:spcPts val="2052"/>
              </a:lnSpc>
              <a:spcAft>
                <a:spcPts val="0"/>
              </a:spcAft>
            </a:pPr>
            <a:r>
              <a:rPr lang="en-US" sz="1800" b="1" dirty="0">
                <a:solidFill>
                  <a:srgbClr val="181C23"/>
                </a:solidFill>
                <a:latin typeface="Funnel Sans"/>
              </a:rPr>
              <a:t>precedence</a:t>
            </a:r>
            <a:endParaRPr lang="en-US" sz="1800"/>
          </a:p>
        </p:txBody>
      </p:sp>
      <p:sp>
        <p:nvSpPr>
          <p:cNvPr id="28" name="text 28"/>
          <p:cNvSpPr/>
          <p:nvPr/>
        </p:nvSpPr>
        <p:spPr>
          <a:xfrm>
            <a:off x="751586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Retain one winning</a:t>
            </a:r>
            <a:endParaRPr lang="en-US" sz="1450"/>
          </a:p>
          <a:p>
            <a:pPr algn="l">
              <a:lnSpc>
                <a:spcPts val="1653"/>
              </a:lnSpc>
              <a:spcAft>
                <a:spcPts val="0"/>
              </a:spcAft>
            </a:pPr>
            <a:r>
              <a:rPr lang="en-US" sz="1450" b="0" dirty="0">
                <a:solidFill>
                  <a:srgbClr val="181C23"/>
                </a:solidFill>
                <a:latin typeface="Funnel Sans"/>
              </a:rPr>
              <a:t>tag per cell</a:t>
            </a:r>
            <a:endParaRPr lang="en-US" sz="1450"/>
          </a:p>
        </p:txBody>
      </p:sp>
      <p:cxnSp>
        <p:nvCxnSpPr>
          <p:cNvPr id="29" name="connector 29"/>
          <p:cNvCxnSpPr/>
          <p:nvPr/>
        </p:nvCxnSpPr>
        <p:spPr>
          <a:xfrm>
            <a:off x="942848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9631680" y="2832100"/>
            <a:ext cx="2052320" cy="2374900"/>
          </a:xfrm>
          <a:prstGeom prst="rect">
            <a:avLst/>
          </a:prstGeom>
          <a:solidFill>
            <a:srgbClr val="FFF2DF"/>
          </a:solidFill>
          <a:ln w="12700">
            <a:solidFill>
              <a:srgbClr val="DEDCD6"/>
            </a:solidFill>
          </a:ln>
        </p:spPr>
      </p:sp>
      <p:sp>
        <p:nvSpPr>
          <p:cNvPr id="31" name="text 31"/>
          <p:cNvSpPr/>
          <p:nvPr/>
        </p:nvSpPr>
        <p:spPr>
          <a:xfrm>
            <a:off x="979678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2" name="text 32"/>
          <p:cNvSpPr/>
          <p:nvPr/>
        </p:nvSpPr>
        <p:spPr>
          <a:xfrm>
            <a:off x="979678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Publish</a:t>
            </a:r>
            <a:endParaRPr lang="en-US" sz="1800"/>
          </a:p>
          <a:p>
            <a:pPr algn="l">
              <a:lnSpc>
                <a:spcPts val="2052"/>
              </a:lnSpc>
              <a:spcAft>
                <a:spcPts val="0"/>
              </a:spcAft>
            </a:pPr>
            <a:r>
              <a:rPr lang="en-US" sz="1800" b="1" dirty="0">
                <a:solidFill>
                  <a:srgbClr val="181C23"/>
                </a:solidFill>
                <a:latin typeface="Funnel Sans"/>
              </a:rPr>
              <a:t>evidence</a:t>
            </a:r>
            <a:endParaRPr lang="en-US" sz="1800"/>
          </a:p>
        </p:txBody>
      </p:sp>
      <p:sp>
        <p:nvSpPr>
          <p:cNvPr id="33" name="text 33"/>
          <p:cNvSpPr/>
          <p:nvPr/>
        </p:nvSpPr>
        <p:spPr>
          <a:xfrm>
            <a:off x="979678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Tags, assessment</a:t>
            </a:r>
            <a:endParaRPr lang="en-US" sz="1450"/>
          </a:p>
          <a:p>
            <a:pPr algn="l">
              <a:lnSpc>
                <a:spcPts val="1653"/>
              </a:lnSpc>
              <a:spcAft>
                <a:spcPts val="0"/>
              </a:spcAft>
            </a:pPr>
            <a:r>
              <a:rPr lang="en-US" sz="1450" b="0" dirty="0">
                <a:solidFill>
                  <a:srgbClr val="181C23"/>
                </a:solidFill>
                <a:latin typeface="Funnel Sans"/>
              </a:rPr>
              <a:t>ledger and report</a:t>
            </a:r>
            <a:endParaRPr lang="en-US" sz="1450"/>
          </a:p>
        </p:txBody>
      </p:sp>
      <p:sp>
        <p:nvSpPr>
          <p:cNvPr id="34" name="shape 34"/>
          <p:cNvSpPr/>
          <p:nvPr/>
        </p:nvSpPr>
        <p:spPr>
          <a:xfrm>
            <a:off x="508000" y="5562600"/>
            <a:ext cx="11176000" cy="546100"/>
          </a:xfrm>
          <a:prstGeom prst="rect">
            <a:avLst/>
          </a:prstGeom>
          <a:solidFill>
            <a:srgbClr val="282A27"/>
          </a:solidFill>
          <a:ln>
            <a:noFill/>
          </a:ln>
        </p:spPr>
      </p:sp>
      <p:sp>
        <p:nvSpPr>
          <p:cNvPr id="35" name="text 35"/>
          <p:cNvSpPr/>
          <p:nvPr/>
        </p:nvSpPr>
        <p:spPr>
          <a:xfrm>
            <a:off x="698500" y="57023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General context is valid. Credit-risk use context is optional and does not enable or suppress rules.</a:t>
            </a:r>
            <a:endParaRPr lang="en-US" sz="1600"/>
          </a:p>
        </p:txBody>
      </p:sp>
      <p:cxnSp>
        <p:nvCxnSpPr>
          <p:cNvPr id="36" name="connector 3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text 3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8" name="text 3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43 / 87</a:t>
            </a:r>
            <a:endParaRPr lang="en-US" sz="10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T2-D08 • C / EVIDENCE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Read the metrics alongside scope and limitations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Value-semantics classification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22500"/>
            <a:ext cx="3589867" cy="3238500"/>
          </a:xfrm>
          <a:prstGeom prst="rect">
            <a:avLst/>
          </a:prstGeom>
          <a:solidFill>
            <a:srgbClr val="FFFFFF"/>
          </a:solidFill>
          <a:ln w="12700">
            <a:solidFill>
              <a:srgbClr val="DEDCD6"/>
            </a:solidFill>
          </a:ln>
        </p:spPr>
      </p:sp>
      <p:sp>
        <p:nvSpPr>
          <p:cNvPr id="9" name="shape 9"/>
          <p:cNvSpPr/>
          <p:nvPr/>
        </p:nvSpPr>
        <p:spPr>
          <a:xfrm>
            <a:off x="508000" y="2222500"/>
            <a:ext cx="38100" cy="3238500"/>
          </a:xfrm>
          <a:prstGeom prst="rect">
            <a:avLst/>
          </a:prstGeom>
          <a:solidFill>
            <a:srgbClr val="FF4F59"/>
          </a:solidFill>
          <a:ln>
            <a:noFill/>
          </a:ln>
        </p:spPr>
      </p:sp>
      <p:sp>
        <p:nvSpPr>
          <p:cNvPr id="10" name="shape 10"/>
          <p:cNvSpPr/>
          <p:nvPr/>
        </p:nvSpPr>
        <p:spPr>
          <a:xfrm>
            <a:off x="711200" y="2628900"/>
            <a:ext cx="63500" cy="127000"/>
          </a:xfrm>
          <a:prstGeom prst="rect">
            <a:avLst/>
          </a:prstGeom>
          <a:solidFill>
            <a:srgbClr val="FF4F59"/>
          </a:solidFill>
          <a:ln>
            <a:noFill/>
          </a:ln>
        </p:spPr>
      </p:sp>
      <p:sp>
        <p:nvSpPr>
          <p:cNvPr id="11" name="shape 11"/>
          <p:cNvSpPr/>
          <p:nvPr/>
        </p:nvSpPr>
        <p:spPr>
          <a:xfrm>
            <a:off x="825500" y="2501900"/>
            <a:ext cx="63500" cy="254000"/>
          </a:xfrm>
          <a:prstGeom prst="rect">
            <a:avLst/>
          </a:prstGeom>
          <a:solidFill>
            <a:srgbClr val="FF4F59"/>
          </a:solidFill>
          <a:ln>
            <a:noFill/>
          </a:ln>
        </p:spPr>
      </p:sp>
      <p:sp>
        <p:nvSpPr>
          <p:cNvPr id="12" name="shape 12"/>
          <p:cNvSpPr/>
          <p:nvPr/>
        </p:nvSpPr>
        <p:spPr>
          <a:xfrm>
            <a:off x="939800" y="2413000"/>
            <a:ext cx="63500" cy="342900"/>
          </a:xfrm>
          <a:prstGeom prst="rect">
            <a:avLst/>
          </a:prstGeom>
          <a:solidFill>
            <a:srgbClr val="FF4F59"/>
          </a:solidFill>
          <a:ln>
            <a:noFill/>
          </a:ln>
        </p:spPr>
      </p:sp>
      <p:sp>
        <p:nvSpPr>
          <p:cNvPr id="13" name="text 13"/>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Three governed tags</a:t>
            </a:r>
            <a:endParaRPr lang="en-US" sz="1900"/>
          </a:p>
        </p:txBody>
      </p:sp>
      <p:sp>
        <p:nvSpPr>
          <p:cNvPr id="14" name="text 14"/>
          <p:cNvSpPr/>
          <p:nvPr/>
        </p:nvSpPr>
        <p:spPr>
          <a:xfrm>
            <a:off x="723900"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CENSORED • STALE_FROZEN •</a:t>
            </a:r>
            <a:endParaRPr lang="en-US" sz="1700"/>
          </a:p>
          <a:p>
            <a:pPr algn="l">
              <a:lnSpc>
                <a:spcPts val="1938"/>
              </a:lnSpc>
              <a:spcAft>
                <a:spcPts val="0"/>
              </a:spcAft>
            </a:pPr>
            <a:r>
              <a:rPr lang="en-US" sz="1700" b="0" dirty="0">
                <a:solidFill>
                  <a:srgbClr val="181C23"/>
                </a:solidFill>
                <a:latin typeface="Funnel Sans"/>
              </a:rPr>
              <a:t>NOT_APPLICABLE. Tags</a:t>
            </a:r>
            <a:endParaRPr lang="en-US" sz="1700"/>
          </a:p>
          <a:p>
            <a:pPr algn="l">
              <a:lnSpc>
                <a:spcPts val="1938"/>
              </a:lnSpc>
              <a:spcAft>
                <a:spcPts val="0"/>
              </a:spcAft>
            </a:pPr>
            <a:r>
              <a:rPr lang="en-US" sz="1700" b="0" dirty="0">
                <a:solidFill>
                  <a:srgbClr val="181C23"/>
                </a:solidFill>
                <a:latin typeface="Funnel Sans"/>
              </a:rPr>
              <a:t>explain a cell; they do not edit</a:t>
            </a:r>
            <a:endParaRPr lang="en-US" sz="1700"/>
          </a:p>
          <a:p>
            <a:pPr algn="l">
              <a:lnSpc>
                <a:spcPts val="1938"/>
              </a:lnSpc>
              <a:spcAft>
                <a:spcPts val="0"/>
              </a:spcAft>
            </a:pPr>
            <a:r>
              <a:rPr lang="en-US" sz="1700" b="0" dirty="0">
                <a:solidFill>
                  <a:srgbClr val="181C23"/>
                </a:solidFill>
                <a:latin typeface="Funnel Sans"/>
              </a:rPr>
              <a:t>it.</a:t>
            </a:r>
            <a:endParaRPr lang="en-US" sz="1700"/>
          </a:p>
        </p:txBody>
      </p:sp>
      <p:sp>
        <p:nvSpPr>
          <p:cNvPr id="15" name="shape 15"/>
          <p:cNvSpPr/>
          <p:nvPr/>
        </p:nvSpPr>
        <p:spPr>
          <a:xfrm>
            <a:off x="4301067" y="2222500"/>
            <a:ext cx="3589867" cy="3238500"/>
          </a:xfrm>
          <a:prstGeom prst="rect">
            <a:avLst/>
          </a:prstGeom>
          <a:solidFill>
            <a:srgbClr val="FFFFFF"/>
          </a:solidFill>
          <a:ln w="12700">
            <a:solidFill>
              <a:srgbClr val="DEDCD6"/>
            </a:solidFill>
          </a:ln>
        </p:spPr>
      </p:sp>
      <p:sp>
        <p:nvSpPr>
          <p:cNvPr id="16" name="shape 16"/>
          <p:cNvSpPr/>
          <p:nvPr/>
        </p:nvSpPr>
        <p:spPr>
          <a:xfrm>
            <a:off x="4301067" y="2222500"/>
            <a:ext cx="38100" cy="3238500"/>
          </a:xfrm>
          <a:prstGeom prst="rect">
            <a:avLst/>
          </a:prstGeom>
          <a:solidFill>
            <a:srgbClr val="FF4F59"/>
          </a:solidFill>
          <a:ln>
            <a:noFill/>
          </a:ln>
        </p:spPr>
      </p:sp>
      <p:sp>
        <p:nvSpPr>
          <p:cNvPr id="17" name="shape 17"/>
          <p:cNvSpPr/>
          <p:nvPr/>
        </p:nvSpPr>
        <p:spPr>
          <a:xfrm>
            <a:off x="4529667" y="2413000"/>
            <a:ext cx="292100" cy="342900"/>
          </a:xfrm>
          <a:prstGeom prst="rect">
            <a:avLst/>
          </a:prstGeom>
          <a:noFill/>
          <a:ln w="12700">
            <a:solidFill>
              <a:srgbClr val="FF4F59"/>
            </a:solidFill>
          </a:ln>
        </p:spPr>
      </p:sp>
      <p:cxnSp>
        <p:nvCxnSpPr>
          <p:cNvPr id="18" name="connector 18"/>
          <p:cNvCxnSpPr/>
          <p:nvPr/>
        </p:nvCxnSpPr>
        <p:spPr>
          <a:xfrm>
            <a:off x="4593167"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9" name="connector 19"/>
          <p:cNvCxnSpPr/>
          <p:nvPr/>
        </p:nvCxnSpPr>
        <p:spPr>
          <a:xfrm>
            <a:off x="4593167"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0" name="connector 20"/>
          <p:cNvCxnSpPr/>
          <p:nvPr/>
        </p:nvCxnSpPr>
        <p:spPr>
          <a:xfrm>
            <a:off x="4593167"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1" name="text 21"/>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Coverage outcomes</a:t>
            </a:r>
            <a:endParaRPr lang="en-US" sz="1900"/>
          </a:p>
        </p:txBody>
      </p:sp>
      <p:sp>
        <p:nvSpPr>
          <p:cNvPr id="22" name="text 22"/>
          <p:cNvSpPr/>
          <p:nvPr/>
        </p:nvSpPr>
        <p:spPr>
          <a:xfrm>
            <a:off x="4516967"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NO_TAG • UNCLASSIFIED •</a:t>
            </a:r>
            <a:endParaRPr lang="en-US" sz="1700"/>
          </a:p>
          <a:p>
            <a:pPr algn="l">
              <a:lnSpc>
                <a:spcPts val="1938"/>
              </a:lnSpc>
              <a:spcAft>
                <a:spcPts val="0"/>
              </a:spcAft>
            </a:pPr>
            <a:r>
              <a:rPr lang="en-US" sz="1700" b="0" dirty="0">
                <a:solidFill>
                  <a:srgbClr val="181C23"/>
                </a:solidFill>
                <a:latin typeface="Funnel Sans"/>
              </a:rPr>
              <a:t>UNSCOPED. No tag does not</a:t>
            </a:r>
            <a:endParaRPr lang="en-US" sz="1700"/>
          </a:p>
          <a:p>
            <a:pPr algn="l">
              <a:lnSpc>
                <a:spcPts val="1938"/>
              </a:lnSpc>
              <a:spcAft>
                <a:spcPts val="0"/>
              </a:spcAft>
            </a:pPr>
            <a:r>
              <a:rPr lang="en-US" sz="1700" b="0" dirty="0">
                <a:solidFill>
                  <a:srgbClr val="181C23"/>
                </a:solidFill>
                <a:latin typeface="Funnel Sans"/>
              </a:rPr>
              <a:t>certify validity.</a:t>
            </a:r>
            <a:endParaRPr lang="en-US" sz="1700"/>
          </a:p>
        </p:txBody>
      </p:sp>
      <p:sp>
        <p:nvSpPr>
          <p:cNvPr id="23" name="shape 23"/>
          <p:cNvSpPr/>
          <p:nvPr/>
        </p:nvSpPr>
        <p:spPr>
          <a:xfrm>
            <a:off x="8094133" y="2222500"/>
            <a:ext cx="3589867" cy="3238500"/>
          </a:xfrm>
          <a:prstGeom prst="rect">
            <a:avLst/>
          </a:prstGeom>
          <a:solidFill>
            <a:srgbClr val="FFFFFF"/>
          </a:solidFill>
          <a:ln w="12700">
            <a:solidFill>
              <a:srgbClr val="DEDCD6"/>
            </a:solidFill>
          </a:ln>
        </p:spPr>
      </p:sp>
      <p:sp>
        <p:nvSpPr>
          <p:cNvPr id="24" name="shape 24"/>
          <p:cNvSpPr/>
          <p:nvPr/>
        </p:nvSpPr>
        <p:spPr>
          <a:xfrm>
            <a:off x="8094133" y="2222500"/>
            <a:ext cx="38100" cy="3238500"/>
          </a:xfrm>
          <a:prstGeom prst="rect">
            <a:avLst/>
          </a:prstGeom>
          <a:solidFill>
            <a:srgbClr val="FF4F59"/>
          </a:solidFill>
          <a:ln>
            <a:noFill/>
          </a:ln>
        </p:spPr>
      </p:sp>
      <p:sp>
        <p:nvSpPr>
          <p:cNvPr id="25" name="shape 25"/>
          <p:cNvSpPr/>
          <p:nvPr/>
        </p:nvSpPr>
        <p:spPr>
          <a:xfrm>
            <a:off x="8297333" y="2413000"/>
            <a:ext cx="342900" cy="342900"/>
          </a:xfrm>
          <a:prstGeom prst="ellipse">
            <a:avLst/>
          </a:prstGeom>
          <a:noFill/>
          <a:ln w="19050">
            <a:solidFill>
              <a:srgbClr val="FF4F59"/>
            </a:solidFill>
          </a:ln>
        </p:spPr>
      </p:sp>
      <p:cxnSp>
        <p:nvCxnSpPr>
          <p:cNvPr id="26" name="connector 26"/>
          <p:cNvCxnSpPr/>
          <p:nvPr/>
        </p:nvCxnSpPr>
        <p:spPr>
          <a:xfrm>
            <a:off x="8373533" y="25908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7" name="connector 27"/>
          <p:cNvCxnSpPr/>
          <p:nvPr/>
        </p:nvCxnSpPr>
        <p:spPr>
          <a:xfrm flipV="1">
            <a:off x="8437033" y="25146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Four AAR artifacts</a:t>
            </a:r>
            <a:endParaRPr lang="en-US" sz="1900"/>
          </a:p>
        </p:txBody>
      </p:sp>
      <p:sp>
        <p:nvSpPr>
          <p:cNvPr id="29" name="text 29"/>
          <p:cNvSpPr/>
          <p:nvPr/>
        </p:nvSpPr>
        <p:spPr>
          <a:xfrm>
            <a:off x="8310033"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Bindings JSON; sparse tags</a:t>
            </a:r>
            <a:endParaRPr lang="en-US" sz="1700"/>
          </a:p>
          <a:p>
            <a:pPr algn="l">
              <a:lnSpc>
                <a:spcPts val="1938"/>
              </a:lnSpc>
              <a:spcAft>
                <a:spcPts val="0"/>
              </a:spcAft>
            </a:pPr>
            <a:r>
              <a:rPr lang="en-US" sz="1700" b="0" dirty="0">
                <a:solidFill>
                  <a:srgbClr val="181C23"/>
                </a:solidFill>
                <a:latin typeface="Funnel Sans"/>
              </a:rPr>
              <a:t>Parquet; assessment ledger</a:t>
            </a:r>
            <a:endParaRPr lang="en-US" sz="1700"/>
          </a:p>
          <a:p>
            <a:pPr algn="l">
              <a:lnSpc>
                <a:spcPts val="1938"/>
              </a:lnSpc>
              <a:spcAft>
                <a:spcPts val="0"/>
              </a:spcAft>
            </a:pPr>
            <a:r>
              <a:rPr lang="en-US" sz="1700" b="0" dirty="0">
                <a:solidFill>
                  <a:srgbClr val="181C23"/>
                </a:solidFill>
                <a:latin typeface="Funnel Sans"/>
              </a:rPr>
              <a:t>Parquet; structured report</a:t>
            </a:r>
            <a:endParaRPr lang="en-US" sz="1700"/>
          </a:p>
          <a:p>
            <a:pPr algn="l">
              <a:lnSpc>
                <a:spcPts val="1938"/>
              </a:lnSpc>
              <a:spcAft>
                <a:spcPts val="0"/>
              </a:spcAft>
            </a:pPr>
            <a:r>
              <a:rPr lang="en-US" sz="1700" b="0" dirty="0">
                <a:solidFill>
                  <a:srgbClr val="181C23"/>
                </a:solidFill>
                <a:latin typeface="Funnel Sans"/>
              </a:rPr>
              <a:t>JSON.</a:t>
            </a:r>
            <a:endParaRPr lang="en-US" sz="1700"/>
          </a:p>
        </p:txBody>
      </p:sp>
      <p:sp>
        <p:nvSpPr>
          <p:cNvPr id="30" name="shape 30"/>
          <p:cNvSpPr/>
          <p:nvPr/>
        </p:nvSpPr>
        <p:spPr>
          <a:xfrm>
            <a:off x="508000" y="5651500"/>
            <a:ext cx="11176000" cy="546100"/>
          </a:xfrm>
          <a:prstGeom prst="rect">
            <a:avLst/>
          </a:prstGeom>
          <a:solidFill>
            <a:srgbClr val="282A27"/>
          </a:solidFill>
          <a:ln>
            <a:noFill/>
          </a:ln>
        </p:spPr>
      </p:sp>
      <p:sp>
        <p:nvSpPr>
          <p:cNvPr id="31" name="text 31"/>
          <p:cNvSpPr/>
          <p:nvPr/>
        </p:nvSpPr>
        <p:spPr>
          <a:xfrm>
            <a:off x="698500" y="57912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Optional AI reviews bounded metadata; users confirm non-exact roles; deterministic rules create tags.</a:t>
            </a:r>
            <a:endParaRPr lang="en-US" sz="1600"/>
          </a:p>
        </p:txBody>
      </p:sp>
      <p:cxnSp>
        <p:nvCxnSpPr>
          <p:cNvPr id="32" name="connector 3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text 3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4" name="text 3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44 / 87</a:t>
            </a:r>
            <a:endParaRPr lang="en-US" sz="10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T2-D08 • D / LAUNCH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Confirm the scope, launch once and review final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Value-semantics classification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2052320" cy="2311400"/>
          </a:xfrm>
          <a:prstGeom prst="rect">
            <a:avLst/>
          </a:prstGeom>
          <a:solidFill>
            <a:srgbClr val="FFF2DF"/>
          </a:solidFill>
          <a:ln w="12700">
            <a:solidFill>
              <a:srgbClr val="DEDCD6"/>
            </a:solidFill>
          </a:ln>
        </p:spPr>
      </p:sp>
      <p:sp>
        <p:nvSpPr>
          <p:cNvPr id="9" name="text 9"/>
          <p:cNvSpPr/>
          <p:nvPr/>
        </p:nvSpPr>
        <p:spPr>
          <a:xfrm>
            <a:off x="67310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0" name="text 10"/>
          <p:cNvSpPr/>
          <p:nvPr/>
        </p:nvSpPr>
        <p:spPr>
          <a:xfrm>
            <a:off x="67310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Acknowledge</a:t>
            </a:r>
            <a:endParaRPr lang="en-US" sz="1800"/>
          </a:p>
          <a:p>
            <a:pPr algn="l">
              <a:lnSpc>
                <a:spcPts val="2052"/>
              </a:lnSpc>
              <a:spcAft>
                <a:spcPts val="0"/>
              </a:spcAft>
            </a:pPr>
            <a:r>
              <a:rPr lang="en-US" sz="1800" b="1" dirty="0">
                <a:solidFill>
                  <a:srgbClr val="181C23"/>
                </a:solidFill>
                <a:latin typeface="Funnel Sans"/>
              </a:rPr>
              <a:t>About</a:t>
            </a:r>
            <a:endParaRPr lang="en-US" sz="1800"/>
          </a:p>
        </p:txBody>
      </p:sp>
      <p:sp>
        <p:nvSpPr>
          <p:cNvPr id="11" name="text 11"/>
          <p:cNvSpPr/>
          <p:nvPr/>
        </p:nvSpPr>
        <p:spPr>
          <a:xfrm>
            <a:off x="67310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Understand tags</a:t>
            </a:r>
            <a:endParaRPr lang="en-US" sz="1450"/>
          </a:p>
          <a:p>
            <a:pPr algn="l">
              <a:lnSpc>
                <a:spcPts val="1653"/>
              </a:lnSpc>
              <a:spcAft>
                <a:spcPts val="0"/>
              </a:spcAft>
            </a:pPr>
            <a:r>
              <a:rPr lang="en-US" sz="1450" b="0" dirty="0">
                <a:solidFill>
                  <a:srgbClr val="181C23"/>
                </a:solidFill>
                <a:latin typeface="Funnel Sans"/>
              </a:rPr>
              <a:t>and limitations</a:t>
            </a:r>
            <a:endParaRPr lang="en-US" sz="1450"/>
          </a:p>
        </p:txBody>
      </p:sp>
      <p:cxnSp>
        <p:nvCxnSpPr>
          <p:cNvPr id="12" name="connector 12"/>
          <p:cNvCxnSpPr/>
          <p:nvPr/>
        </p:nvCxnSpPr>
        <p:spPr>
          <a:xfrm>
            <a:off x="258572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2788920" y="2247900"/>
            <a:ext cx="2052320" cy="2311400"/>
          </a:xfrm>
          <a:prstGeom prst="rect">
            <a:avLst/>
          </a:prstGeom>
          <a:solidFill>
            <a:srgbClr val="FFF2DF"/>
          </a:solidFill>
          <a:ln w="12700">
            <a:solidFill>
              <a:srgbClr val="DEDCD6"/>
            </a:solidFill>
          </a:ln>
        </p:spPr>
      </p:sp>
      <p:sp>
        <p:nvSpPr>
          <p:cNvPr id="14" name="text 14"/>
          <p:cNvSpPr/>
          <p:nvPr/>
        </p:nvSpPr>
        <p:spPr>
          <a:xfrm>
            <a:off x="295402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5" name="text 15"/>
          <p:cNvSpPr/>
          <p:nvPr/>
        </p:nvSpPr>
        <p:spPr>
          <a:xfrm>
            <a:off x="295402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Data &amp; context</a:t>
            </a:r>
            <a:endParaRPr lang="en-US" sz="1800"/>
          </a:p>
        </p:txBody>
      </p:sp>
      <p:sp>
        <p:nvSpPr>
          <p:cNvPr id="16" name="text 16"/>
          <p:cNvSpPr/>
          <p:nvPr/>
        </p:nvSpPr>
        <p:spPr>
          <a:xfrm>
            <a:off x="295402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Select table;</a:t>
            </a:r>
            <a:endParaRPr lang="en-US" sz="1450"/>
          </a:p>
          <a:p>
            <a:pPr algn="l">
              <a:lnSpc>
                <a:spcPts val="1653"/>
              </a:lnSpc>
              <a:spcAft>
                <a:spcPts val="0"/>
              </a:spcAft>
            </a:pPr>
            <a:r>
              <a:rPr lang="en-US" sz="1450" b="0" dirty="0">
                <a:solidFill>
                  <a:srgbClr val="181C23"/>
                </a:solidFill>
                <a:latin typeface="Funnel Sans"/>
              </a:rPr>
              <a:t>context is optional</a:t>
            </a:r>
            <a:endParaRPr lang="en-US" sz="1450"/>
          </a:p>
        </p:txBody>
      </p:sp>
      <p:cxnSp>
        <p:nvCxnSpPr>
          <p:cNvPr id="17" name="connector 17"/>
          <p:cNvCxnSpPr/>
          <p:nvPr/>
        </p:nvCxnSpPr>
        <p:spPr>
          <a:xfrm>
            <a:off x="486664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69840" y="2247900"/>
            <a:ext cx="2052320" cy="2311400"/>
          </a:xfrm>
          <a:prstGeom prst="rect">
            <a:avLst/>
          </a:prstGeom>
          <a:solidFill>
            <a:srgbClr val="FFF2DF"/>
          </a:solidFill>
          <a:ln w="12700">
            <a:solidFill>
              <a:srgbClr val="DEDCD6"/>
            </a:solidFill>
          </a:ln>
        </p:spPr>
      </p:sp>
      <p:sp>
        <p:nvSpPr>
          <p:cNvPr id="19" name="text 19"/>
          <p:cNvSpPr/>
          <p:nvPr/>
        </p:nvSpPr>
        <p:spPr>
          <a:xfrm>
            <a:off x="523494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0" name="text 20"/>
          <p:cNvSpPr/>
          <p:nvPr/>
        </p:nvSpPr>
        <p:spPr>
          <a:xfrm>
            <a:off x="523494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Confirm</a:t>
            </a:r>
            <a:endParaRPr lang="en-US" sz="1800"/>
          </a:p>
          <a:p>
            <a:pPr algn="l">
              <a:lnSpc>
                <a:spcPts val="2052"/>
              </a:lnSpc>
              <a:spcAft>
                <a:spcPts val="0"/>
              </a:spcAft>
            </a:pPr>
            <a:r>
              <a:rPr lang="en-US" sz="1800" b="1" dirty="0">
                <a:solidFill>
                  <a:srgbClr val="181C23"/>
                </a:solidFill>
                <a:latin typeface="Funnel Sans"/>
              </a:rPr>
              <a:t>bindings</a:t>
            </a:r>
            <a:endParaRPr lang="en-US" sz="1800"/>
          </a:p>
        </p:txBody>
      </p:sp>
      <p:sp>
        <p:nvSpPr>
          <p:cNvPr id="21" name="text 21"/>
          <p:cNvSpPr/>
          <p:nvPr/>
        </p:nvSpPr>
        <p:spPr>
          <a:xfrm>
            <a:off x="523494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Review scope and</a:t>
            </a:r>
            <a:endParaRPr lang="en-US" sz="1450"/>
          </a:p>
          <a:p>
            <a:pPr algn="l">
              <a:lnSpc>
                <a:spcPts val="1653"/>
              </a:lnSpc>
              <a:spcAft>
                <a:spcPts val="0"/>
              </a:spcAft>
            </a:pPr>
            <a:r>
              <a:rPr lang="en-US" sz="1450" b="0" dirty="0">
                <a:solidFill>
                  <a:srgbClr val="181C23"/>
                </a:solidFill>
                <a:latin typeface="Funnel Sans"/>
              </a:rPr>
              <a:t>semantic roles</a:t>
            </a:r>
            <a:endParaRPr lang="en-US" sz="1450"/>
          </a:p>
        </p:txBody>
      </p:sp>
      <p:cxnSp>
        <p:nvCxnSpPr>
          <p:cNvPr id="22" name="connector 22"/>
          <p:cNvCxnSpPr/>
          <p:nvPr/>
        </p:nvCxnSpPr>
        <p:spPr>
          <a:xfrm>
            <a:off x="714756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7350760" y="2247900"/>
            <a:ext cx="2052320" cy="2311400"/>
          </a:xfrm>
          <a:prstGeom prst="rect">
            <a:avLst/>
          </a:prstGeom>
          <a:solidFill>
            <a:srgbClr val="FFF2DF"/>
          </a:solidFill>
          <a:ln w="12700">
            <a:solidFill>
              <a:srgbClr val="DEDCD6"/>
            </a:solidFill>
          </a:ln>
        </p:spPr>
      </p:sp>
      <p:sp>
        <p:nvSpPr>
          <p:cNvPr id="24" name="text 24"/>
          <p:cNvSpPr/>
          <p:nvPr/>
        </p:nvSpPr>
        <p:spPr>
          <a:xfrm>
            <a:off x="751586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5" name="text 25"/>
          <p:cNvSpPr/>
          <p:nvPr/>
        </p:nvSpPr>
        <p:spPr>
          <a:xfrm>
            <a:off x="751586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Rules &amp; launch</a:t>
            </a:r>
            <a:endParaRPr lang="en-US" sz="1800"/>
          </a:p>
        </p:txBody>
      </p:sp>
      <p:sp>
        <p:nvSpPr>
          <p:cNvPr id="26" name="text 26"/>
          <p:cNvSpPr/>
          <p:nvPr/>
        </p:nvSpPr>
        <p:spPr>
          <a:xfrm>
            <a:off x="751586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Review</a:t>
            </a:r>
            <a:endParaRPr lang="en-US" sz="1450"/>
          </a:p>
          <a:p>
            <a:pPr algn="l">
              <a:lnSpc>
                <a:spcPts val="1653"/>
              </a:lnSpc>
              <a:spcAft>
                <a:spcPts val="0"/>
              </a:spcAft>
            </a:pPr>
            <a:r>
              <a:rPr lang="en-US" sz="1450" b="0" dirty="0">
                <a:solidFill>
                  <a:srgbClr val="181C23"/>
                </a:solidFill>
                <a:latin typeface="Funnel Sans"/>
              </a:rPr>
              <a:t>declarations; freeze</a:t>
            </a:r>
            <a:endParaRPr lang="en-US" sz="1450"/>
          </a:p>
          <a:p>
            <a:pPr algn="l">
              <a:lnSpc>
                <a:spcPts val="1653"/>
              </a:lnSpc>
              <a:spcAft>
                <a:spcPts val="0"/>
              </a:spcAft>
            </a:pPr>
            <a:r>
              <a:rPr lang="en-US" sz="1450" b="0" dirty="0">
                <a:solidFill>
                  <a:srgbClr val="181C23"/>
                </a:solidFill>
                <a:latin typeface="Funnel Sans"/>
              </a:rPr>
              <a:t>scope</a:t>
            </a:r>
            <a:endParaRPr lang="en-US" sz="1450"/>
          </a:p>
        </p:txBody>
      </p:sp>
      <p:cxnSp>
        <p:nvCxnSpPr>
          <p:cNvPr id="27" name="connector 27"/>
          <p:cNvCxnSpPr/>
          <p:nvPr/>
        </p:nvCxnSpPr>
        <p:spPr>
          <a:xfrm>
            <a:off x="942848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9631680" y="2247900"/>
            <a:ext cx="2052320" cy="2311400"/>
          </a:xfrm>
          <a:prstGeom prst="rect">
            <a:avLst/>
          </a:prstGeom>
          <a:solidFill>
            <a:srgbClr val="FFF2DF"/>
          </a:solidFill>
          <a:ln w="12700">
            <a:solidFill>
              <a:srgbClr val="DEDCD6"/>
            </a:solidFill>
          </a:ln>
        </p:spPr>
      </p:sp>
      <p:sp>
        <p:nvSpPr>
          <p:cNvPr id="29" name="text 29"/>
          <p:cNvSpPr/>
          <p:nvPr/>
        </p:nvSpPr>
        <p:spPr>
          <a:xfrm>
            <a:off x="979678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0" name="text 30"/>
          <p:cNvSpPr/>
          <p:nvPr/>
        </p:nvSpPr>
        <p:spPr>
          <a:xfrm>
            <a:off x="979678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 results</a:t>
            </a:r>
            <a:endParaRPr lang="en-US" sz="1800"/>
          </a:p>
        </p:txBody>
      </p:sp>
      <p:sp>
        <p:nvSpPr>
          <p:cNvPr id="31" name="text 31"/>
          <p:cNvSpPr/>
          <p:nvPr/>
        </p:nvSpPr>
        <p:spPr>
          <a:xfrm>
            <a:off x="979678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Tags, coverage,</a:t>
            </a:r>
            <a:endParaRPr lang="en-US" sz="1450"/>
          </a:p>
          <a:p>
            <a:pPr algn="l">
              <a:lnSpc>
                <a:spcPts val="1653"/>
              </a:lnSpc>
              <a:spcAft>
                <a:spcPts val="0"/>
              </a:spcAft>
            </a:pPr>
            <a:r>
              <a:rPr lang="en-US" sz="1450" b="0" dirty="0">
                <a:solidFill>
                  <a:srgbClr val="181C23"/>
                </a:solidFill>
                <a:latin typeface="Funnel Sans"/>
              </a:rPr>
              <a:t>report and</a:t>
            </a:r>
            <a:endParaRPr lang="en-US" sz="1450"/>
          </a:p>
          <a:p>
            <a:pPr algn="l">
              <a:lnSpc>
                <a:spcPts val="1653"/>
              </a:lnSpc>
              <a:spcAft>
                <a:spcPts val="0"/>
              </a:spcAft>
            </a:pPr>
            <a:r>
              <a:rPr lang="en-US" sz="1450" b="0" dirty="0">
                <a:solidFill>
                  <a:srgbClr val="181C23"/>
                </a:solidFill>
                <a:latin typeface="Funnel Sans"/>
              </a:rPr>
              <a:t>dispositions</a:t>
            </a:r>
            <a:endParaRPr lang="en-US" sz="1450"/>
          </a:p>
        </p:txBody>
      </p:sp>
      <p:sp>
        <p:nvSpPr>
          <p:cNvPr id="32" name="shape 32"/>
          <p:cNvSpPr/>
          <p:nvPr/>
        </p:nvSpPr>
        <p:spPr>
          <a:xfrm>
            <a:off x="508000" y="4762500"/>
            <a:ext cx="5486400" cy="1346200"/>
          </a:xfrm>
          <a:prstGeom prst="rect">
            <a:avLst/>
          </a:prstGeom>
          <a:solidFill>
            <a:srgbClr val="FFFFFF"/>
          </a:solidFill>
          <a:ln w="12700">
            <a:solidFill>
              <a:srgbClr val="DEDCD6"/>
            </a:solidFill>
          </a:ln>
        </p:spPr>
      </p:sp>
      <p:sp>
        <p:nvSpPr>
          <p:cNvPr id="33" name="shape 33"/>
          <p:cNvSpPr/>
          <p:nvPr/>
        </p:nvSpPr>
        <p:spPr>
          <a:xfrm>
            <a:off x="508000" y="4762500"/>
            <a:ext cx="38100" cy="1346200"/>
          </a:xfrm>
          <a:prstGeom prst="rect">
            <a:avLst/>
          </a:prstGeom>
          <a:solidFill>
            <a:srgbClr val="FF4F59"/>
          </a:solidFill>
          <a:ln>
            <a:noFill/>
          </a:ln>
        </p:spPr>
      </p:sp>
      <p:sp>
        <p:nvSpPr>
          <p:cNvPr id="34" name="text 34"/>
          <p:cNvSpPr/>
          <p:nvPr/>
        </p:nvSpPr>
        <p:spPr>
          <a:xfrm>
            <a:off x="6985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Success / completion</a:t>
            </a:r>
            <a:endParaRPr lang="en-US" sz="1600"/>
          </a:p>
        </p:txBody>
      </p:sp>
      <p:sp>
        <p:nvSpPr>
          <p:cNvPr id="35" name="text 35"/>
          <p:cNvSpPr/>
          <p:nvPr/>
        </p:nvSpPr>
        <p:spPr>
          <a:xfrm>
            <a:off x="6985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Deterministic tags and exhaustive routed coverage publish to AAR,</a:t>
            </a:r>
            <a:endParaRPr lang="en-US" sz="1250"/>
          </a:p>
          <a:p>
            <a:pPr algn="l">
              <a:lnSpc>
                <a:spcPts val="1425"/>
              </a:lnSpc>
              <a:spcAft>
                <a:spcPts val="0"/>
              </a:spcAft>
            </a:pPr>
            <a:r>
              <a:rPr lang="en-US" sz="1250" b="0" dirty="0">
                <a:solidFill>
                  <a:srgbClr val="6D706B"/>
                </a:solidFill>
                <a:latin typeface="Funnel Sans"/>
              </a:rPr>
              <a:t>with authenticated reports and inference disclosure.</a:t>
            </a:r>
            <a:endParaRPr lang="en-US" sz="1250"/>
          </a:p>
        </p:txBody>
      </p:sp>
      <p:sp>
        <p:nvSpPr>
          <p:cNvPr id="36" name="shape 36"/>
          <p:cNvSpPr/>
          <p:nvPr/>
        </p:nvSpPr>
        <p:spPr>
          <a:xfrm>
            <a:off x="6197600" y="4762500"/>
            <a:ext cx="5486400" cy="1346200"/>
          </a:xfrm>
          <a:prstGeom prst="rect">
            <a:avLst/>
          </a:prstGeom>
          <a:solidFill>
            <a:srgbClr val="FFFFFF"/>
          </a:solidFill>
          <a:ln w="12700">
            <a:solidFill>
              <a:srgbClr val="DEDCD6"/>
            </a:solidFill>
          </a:ln>
        </p:spPr>
      </p:sp>
      <p:sp>
        <p:nvSpPr>
          <p:cNvPr id="37" name="shape 37"/>
          <p:cNvSpPr/>
          <p:nvPr/>
        </p:nvSpPr>
        <p:spPr>
          <a:xfrm>
            <a:off x="6197600" y="4762500"/>
            <a:ext cx="38100" cy="1346200"/>
          </a:xfrm>
          <a:prstGeom prst="rect">
            <a:avLst/>
          </a:prstGeom>
          <a:solidFill>
            <a:srgbClr val="FF4F59"/>
          </a:solidFill>
          <a:ln>
            <a:noFill/>
          </a:ln>
        </p:spPr>
      </p:sp>
      <p:sp>
        <p:nvSpPr>
          <p:cNvPr id="38" name="text 38"/>
          <p:cNvSpPr/>
          <p:nvPr/>
        </p:nvSpPr>
        <p:spPr>
          <a:xfrm>
            <a:off x="63881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Failure / blocked scope</a:t>
            </a:r>
            <a:endParaRPr lang="en-US" sz="1600"/>
          </a:p>
        </p:txBody>
      </p:sp>
      <p:sp>
        <p:nvSpPr>
          <p:cNvPr id="39" name="text 39"/>
          <p:cNvSpPr/>
          <p:nvPr/>
        </p:nvSpPr>
        <p:spPr>
          <a:xfrm>
            <a:off x="63881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Unacknowledged intro or no usable confirmed role coverage blocks</a:t>
            </a:r>
            <a:endParaRPr lang="en-US" sz="1250"/>
          </a:p>
          <a:p>
            <a:pPr algn="l">
              <a:lnSpc>
                <a:spcPts val="1425"/>
              </a:lnSpc>
              <a:spcAft>
                <a:spcPts val="0"/>
              </a:spcAft>
            </a:pPr>
            <a:r>
              <a:rPr lang="en-US" sz="1250" b="0" dirty="0">
                <a:solidFill>
                  <a:srgbClr val="6D706B"/>
                </a:solidFill>
                <a:latin typeface="Funnel Sans"/>
              </a:rPr>
              <a:t>freeze. Missing optional inputs yield UNSCOPED.</a:t>
            </a:r>
            <a:endParaRPr lang="en-US" sz="1250"/>
          </a:p>
        </p:txBody>
      </p:sp>
      <p:cxnSp>
        <p:nvCxnSpPr>
          <p:cNvPr id="40" name="connector 4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text 4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2" name="text 4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45 / 87</a:t>
            </a:r>
            <a:endParaRPr lang="en-US" sz="100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T2-D08 • E / ISSUE &amp; RCA</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Carry the finding into a controlled investigation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Value-semantics classification</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197100"/>
            <a:ext cx="2235200" cy="457200"/>
          </a:xfrm>
          <a:prstGeom prst="rect">
            <a:avLst/>
          </a:prstGeom>
          <a:solidFill>
            <a:srgbClr val="282A27"/>
          </a:solidFill>
          <a:ln>
            <a:noFill/>
          </a:ln>
        </p:spPr>
      </p:sp>
      <p:sp>
        <p:nvSpPr>
          <p:cNvPr id="9" name="text 9"/>
          <p:cNvSpPr/>
          <p:nvPr/>
        </p:nvSpPr>
        <p:spPr>
          <a:xfrm>
            <a:off x="635000" y="2311400"/>
            <a:ext cx="19812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Step</a:t>
            </a:r>
            <a:endParaRPr lang="en-US" sz="1200"/>
          </a:p>
        </p:txBody>
      </p:sp>
      <p:sp>
        <p:nvSpPr>
          <p:cNvPr id="10" name="shape 10"/>
          <p:cNvSpPr/>
          <p:nvPr/>
        </p:nvSpPr>
        <p:spPr>
          <a:xfrm>
            <a:off x="2743200" y="2197100"/>
            <a:ext cx="8940800" cy="457200"/>
          </a:xfrm>
          <a:prstGeom prst="rect">
            <a:avLst/>
          </a:prstGeom>
          <a:solidFill>
            <a:srgbClr val="282A27"/>
          </a:solidFill>
          <a:ln>
            <a:noFill/>
          </a:ln>
        </p:spPr>
      </p:sp>
      <p:sp>
        <p:nvSpPr>
          <p:cNvPr id="11" name="text 11"/>
          <p:cNvSpPr/>
          <p:nvPr/>
        </p:nvSpPr>
        <p:spPr>
          <a:xfrm>
            <a:off x="2870200" y="2311400"/>
            <a:ext cx="8686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Implemented behavior / proposed follow-up</a:t>
            </a:r>
            <a:endParaRPr lang="en-US" sz="1200"/>
          </a:p>
        </p:txBody>
      </p:sp>
      <p:sp>
        <p:nvSpPr>
          <p:cNvPr id="12" name="shape 12"/>
          <p:cNvSpPr/>
          <p:nvPr/>
        </p:nvSpPr>
        <p:spPr>
          <a:xfrm>
            <a:off x="508000" y="2654300"/>
            <a:ext cx="2235200" cy="604520"/>
          </a:xfrm>
          <a:prstGeom prst="rect">
            <a:avLst/>
          </a:prstGeom>
          <a:solidFill>
            <a:srgbClr val="FFFFFF"/>
          </a:solidFill>
          <a:ln>
            <a:noFill/>
          </a:ln>
        </p:spPr>
      </p:sp>
      <p:sp>
        <p:nvSpPr>
          <p:cNvPr id="13" name="text 13"/>
          <p:cNvSpPr/>
          <p:nvPr/>
        </p:nvSpPr>
        <p:spPr>
          <a:xfrm>
            <a:off x="635000" y="270510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Finding</a:t>
            </a:r>
            <a:endParaRPr lang="en-US" sz="1700"/>
          </a:p>
        </p:txBody>
      </p:sp>
      <p:cxnSp>
        <p:nvCxnSpPr>
          <p:cNvPr id="14" name="connector 14"/>
          <p:cNvCxnSpPr/>
          <p:nvPr/>
        </p:nvCxnSpPr>
        <p:spPr>
          <a:xfrm>
            <a:off x="508000" y="325882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43200" y="2654300"/>
            <a:ext cx="8940800" cy="604520"/>
          </a:xfrm>
          <a:prstGeom prst="rect">
            <a:avLst/>
          </a:prstGeom>
          <a:solidFill>
            <a:srgbClr val="FFFFFF"/>
          </a:solidFill>
          <a:ln>
            <a:noFill/>
          </a:ln>
        </p:spPr>
      </p:sp>
      <p:sp>
        <p:nvSpPr>
          <p:cNvPr id="16" name="text 16"/>
          <p:cNvSpPr/>
          <p:nvPr/>
        </p:nvSpPr>
        <p:spPr>
          <a:xfrm>
            <a:off x="2870200" y="270510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Stale/frozen patterns and populated not-applicable values can form grouped issue</a:t>
            </a:r>
            <a:endParaRPr lang="en-US" sz="1650"/>
          </a:p>
          <a:p>
            <a:pPr algn="l">
              <a:lnSpc>
                <a:spcPts val="1881"/>
              </a:lnSpc>
              <a:spcAft>
                <a:spcPts val="0"/>
              </a:spcAft>
            </a:pPr>
            <a:r>
              <a:rPr lang="en-US" sz="1650" b="0" dirty="0">
                <a:solidFill>
                  <a:srgbClr val="181C23"/>
                </a:solidFill>
                <a:latin typeface="Funnel Sans"/>
              </a:rPr>
              <a:t>candidates.</a:t>
            </a:r>
            <a:endParaRPr lang="en-US" sz="1650"/>
          </a:p>
        </p:txBody>
      </p:sp>
      <p:cxnSp>
        <p:nvCxnSpPr>
          <p:cNvPr id="17" name="connector 17"/>
          <p:cNvCxnSpPr/>
          <p:nvPr/>
        </p:nvCxnSpPr>
        <p:spPr>
          <a:xfrm>
            <a:off x="2743200" y="325882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8000" y="3258820"/>
            <a:ext cx="2235200" cy="604520"/>
          </a:xfrm>
          <a:prstGeom prst="rect">
            <a:avLst/>
          </a:prstGeom>
          <a:solidFill>
            <a:srgbClr val="EFEEE9"/>
          </a:solidFill>
          <a:ln>
            <a:noFill/>
          </a:ln>
        </p:spPr>
      </p:sp>
      <p:sp>
        <p:nvSpPr>
          <p:cNvPr id="19" name="text 19"/>
          <p:cNvSpPr/>
          <p:nvPr/>
        </p:nvSpPr>
        <p:spPr>
          <a:xfrm>
            <a:off x="635000" y="330962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Issue gate</a:t>
            </a:r>
            <a:endParaRPr lang="en-US" sz="1700"/>
          </a:p>
        </p:txBody>
      </p:sp>
      <p:cxnSp>
        <p:nvCxnSpPr>
          <p:cNvPr id="20" name="connector 20"/>
          <p:cNvCxnSpPr/>
          <p:nvPr/>
        </p:nvCxnSpPr>
        <p:spPr>
          <a:xfrm>
            <a:off x="508000" y="386334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2743200" y="3258820"/>
            <a:ext cx="8940800" cy="604520"/>
          </a:xfrm>
          <a:prstGeom prst="rect">
            <a:avLst/>
          </a:prstGeom>
          <a:solidFill>
            <a:srgbClr val="EFEEE9"/>
          </a:solidFill>
          <a:ln>
            <a:noFill/>
          </a:ln>
        </p:spPr>
      </p:sp>
      <p:sp>
        <p:nvSpPr>
          <p:cNvPr id="22" name="text 22"/>
          <p:cNvSpPr/>
          <p:nvPr/>
        </p:nvSpPr>
        <p:spPr>
          <a:xfrm>
            <a:off x="2870200" y="330962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User confirms or dismisses candidates with rationale. No issue or RCA is started</a:t>
            </a:r>
            <a:endParaRPr lang="en-US" sz="1650"/>
          </a:p>
          <a:p>
            <a:pPr algn="l">
              <a:lnSpc>
                <a:spcPts val="1881"/>
              </a:lnSpc>
              <a:spcAft>
                <a:spcPts val="0"/>
              </a:spcAft>
            </a:pPr>
            <a:r>
              <a:rPr lang="en-US" sz="1650" b="0" dirty="0">
                <a:solidFill>
                  <a:srgbClr val="181C23"/>
                </a:solidFill>
                <a:latin typeface="Funnel Sans"/>
              </a:rPr>
              <a:t>automatically.</a:t>
            </a:r>
            <a:endParaRPr lang="en-US" sz="1650"/>
          </a:p>
        </p:txBody>
      </p:sp>
      <p:cxnSp>
        <p:nvCxnSpPr>
          <p:cNvPr id="23" name="connector 23"/>
          <p:cNvCxnSpPr/>
          <p:nvPr/>
        </p:nvCxnSpPr>
        <p:spPr>
          <a:xfrm>
            <a:off x="2743200" y="386334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508000" y="3863340"/>
            <a:ext cx="2235200" cy="604520"/>
          </a:xfrm>
          <a:prstGeom prst="rect">
            <a:avLst/>
          </a:prstGeom>
          <a:solidFill>
            <a:srgbClr val="FFFFFF"/>
          </a:solidFill>
          <a:ln>
            <a:noFill/>
          </a:ln>
        </p:spPr>
      </p:sp>
      <p:sp>
        <p:nvSpPr>
          <p:cNvPr id="25" name="text 25"/>
          <p:cNvSpPr/>
          <p:nvPr/>
        </p:nvSpPr>
        <p:spPr>
          <a:xfrm>
            <a:off x="635000" y="391414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RCA</a:t>
            </a:r>
            <a:endParaRPr lang="en-US" sz="1700"/>
          </a:p>
        </p:txBody>
      </p:sp>
      <p:cxnSp>
        <p:nvCxnSpPr>
          <p:cNvPr id="26" name="connector 26"/>
          <p:cNvCxnSpPr/>
          <p:nvPr/>
        </p:nvCxnSpPr>
        <p:spPr>
          <a:xfrm>
            <a:off x="508000" y="446786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43200" y="3863340"/>
            <a:ext cx="8940800" cy="604520"/>
          </a:xfrm>
          <a:prstGeom prst="rect">
            <a:avLst/>
          </a:prstGeom>
          <a:solidFill>
            <a:srgbClr val="FFFFFF"/>
          </a:solidFill>
          <a:ln>
            <a:noFill/>
          </a:ln>
        </p:spPr>
      </p:sp>
      <p:sp>
        <p:nvSpPr>
          <p:cNvPr id="28" name="text 28"/>
          <p:cNvSpPr/>
          <p:nvPr/>
        </p:nvSpPr>
        <p:spPr>
          <a:xfrm>
            <a:off x="2870200" y="391414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Use role bindings, rule reasons, precedence and coverage evidence; review semantics</a:t>
            </a:r>
            <a:endParaRPr lang="en-US" sz="1650"/>
          </a:p>
          <a:p>
            <a:pPr algn="l">
              <a:lnSpc>
                <a:spcPts val="1881"/>
              </a:lnSpc>
              <a:spcAft>
                <a:spcPts val="0"/>
              </a:spcAft>
            </a:pPr>
            <a:r>
              <a:rPr lang="en-US" sz="1650" b="0" dirty="0">
                <a:solidFill>
                  <a:srgbClr val="181C23"/>
                </a:solidFill>
                <a:latin typeface="Funnel Sans"/>
              </a:rPr>
              <a:t>before alleging a defect.</a:t>
            </a:r>
            <a:endParaRPr lang="en-US" sz="1650"/>
          </a:p>
        </p:txBody>
      </p:sp>
      <p:cxnSp>
        <p:nvCxnSpPr>
          <p:cNvPr id="29" name="connector 29"/>
          <p:cNvCxnSpPr/>
          <p:nvPr/>
        </p:nvCxnSpPr>
        <p:spPr>
          <a:xfrm>
            <a:off x="2743200" y="446786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467860"/>
            <a:ext cx="2235200" cy="604520"/>
          </a:xfrm>
          <a:prstGeom prst="rect">
            <a:avLst/>
          </a:prstGeom>
          <a:solidFill>
            <a:srgbClr val="EFEEE9"/>
          </a:solidFill>
          <a:ln>
            <a:noFill/>
          </a:ln>
        </p:spPr>
      </p:sp>
      <p:sp>
        <p:nvSpPr>
          <p:cNvPr id="31" name="text 31"/>
          <p:cNvSpPr/>
          <p:nvPr/>
        </p:nvSpPr>
        <p:spPr>
          <a:xfrm>
            <a:off x="635000" y="4518660"/>
            <a:ext cx="1981200" cy="502920"/>
          </a:xfrm>
          <a:prstGeom prst="rect">
            <a:avLst/>
          </a:prstGeom>
          <a:noFill/>
          <a:ln>
            <a:noFill/>
          </a:ln>
        </p:spPr>
        <p:txBody>
          <a:bodyPr wrap="none" lIns="0" tIns="0" rIns="0" bIns="0" anchor="t">
            <a:noAutofit/>
          </a:bodyPr>
          <a:lstStyle/>
          <a:p>
            <a:pPr algn="l">
              <a:lnSpc>
                <a:spcPts val="1881"/>
              </a:lnSpc>
              <a:spcAft>
                <a:spcPts val="0"/>
              </a:spcAft>
            </a:pPr>
            <a:r>
              <a:rPr lang="en-US" sz="1650" b="1" dirty="0">
                <a:solidFill>
                  <a:srgbClr val="181C23"/>
                </a:solidFill>
                <a:latin typeface="Funnel Sans"/>
              </a:rPr>
              <a:t>Remediation /</a:t>
            </a:r>
            <a:endParaRPr lang="en-US" sz="1650"/>
          </a:p>
          <a:p>
            <a:pPr algn="l">
              <a:lnSpc>
                <a:spcPts val="1881"/>
              </a:lnSpc>
              <a:spcAft>
                <a:spcPts val="0"/>
              </a:spcAft>
            </a:pPr>
            <a:r>
              <a:rPr lang="en-US" sz="1650" b="1" dirty="0">
                <a:solidFill>
                  <a:srgbClr val="181C23"/>
                </a:solidFill>
                <a:latin typeface="Funnel Sans"/>
              </a:rPr>
              <a:t>retest</a:t>
            </a:r>
            <a:endParaRPr lang="en-US" sz="1650"/>
          </a:p>
        </p:txBody>
      </p:sp>
      <p:cxnSp>
        <p:nvCxnSpPr>
          <p:cNvPr id="32" name="connector 32"/>
          <p:cNvCxnSpPr/>
          <p:nvPr/>
        </p:nvCxnSpPr>
        <p:spPr>
          <a:xfrm>
            <a:off x="508000" y="507238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743200" y="4467860"/>
            <a:ext cx="8940800" cy="604520"/>
          </a:xfrm>
          <a:prstGeom prst="rect">
            <a:avLst/>
          </a:prstGeom>
          <a:solidFill>
            <a:srgbClr val="EFEEE9"/>
          </a:solidFill>
          <a:ln>
            <a:noFill/>
          </a:ln>
        </p:spPr>
      </p:sp>
      <p:sp>
        <p:nvSpPr>
          <p:cNvPr id="34" name="text 34"/>
          <p:cNvSpPr/>
          <p:nvPr/>
        </p:nvSpPr>
        <p:spPr>
          <a:xfrm>
            <a:off x="2870200" y="451866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Suggested: correct declarations or source capture when justified; run a new assessment</a:t>
            </a:r>
            <a:endParaRPr lang="en-US" sz="1650"/>
          </a:p>
          <a:p>
            <a:pPr algn="l">
              <a:lnSpc>
                <a:spcPts val="1881"/>
              </a:lnSpc>
              <a:spcAft>
                <a:spcPts val="0"/>
              </a:spcAft>
            </a:pPr>
            <a:r>
              <a:rPr lang="en-US" sz="1650" b="0" dirty="0">
                <a:solidFill>
                  <a:srgbClr val="181C23"/>
                </a:solidFill>
                <a:latin typeface="Funnel Sans"/>
              </a:rPr>
              <a:t>after change.</a:t>
            </a:r>
            <a:endParaRPr lang="en-US" sz="1650"/>
          </a:p>
        </p:txBody>
      </p:sp>
      <p:cxnSp>
        <p:nvCxnSpPr>
          <p:cNvPr id="35" name="connector 35"/>
          <p:cNvCxnSpPr/>
          <p:nvPr/>
        </p:nvCxnSpPr>
        <p:spPr>
          <a:xfrm>
            <a:off x="2743200" y="507238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508000" y="5072380"/>
            <a:ext cx="2235200" cy="604520"/>
          </a:xfrm>
          <a:prstGeom prst="rect">
            <a:avLst/>
          </a:prstGeom>
          <a:solidFill>
            <a:srgbClr val="FFFFFF"/>
          </a:solidFill>
          <a:ln>
            <a:noFill/>
          </a:ln>
        </p:spPr>
      </p:sp>
      <p:sp>
        <p:nvSpPr>
          <p:cNvPr id="37" name="text 37"/>
          <p:cNvSpPr/>
          <p:nvPr/>
        </p:nvSpPr>
        <p:spPr>
          <a:xfrm>
            <a:off x="635000" y="512318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Closure</a:t>
            </a:r>
            <a:endParaRPr lang="en-US" sz="1700"/>
          </a:p>
        </p:txBody>
      </p:sp>
      <p:cxnSp>
        <p:nvCxnSpPr>
          <p:cNvPr id="38" name="connector 38"/>
          <p:cNvCxnSpPr/>
          <p:nvPr/>
        </p:nvCxnSpPr>
        <p:spPr>
          <a:xfrm>
            <a:off x="508000" y="567690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2743200" y="5072380"/>
            <a:ext cx="8940800" cy="604520"/>
          </a:xfrm>
          <a:prstGeom prst="rect">
            <a:avLst/>
          </a:prstGeom>
          <a:solidFill>
            <a:srgbClr val="FFFFFF"/>
          </a:solidFill>
          <a:ln>
            <a:noFill/>
          </a:ln>
        </p:spPr>
      </p:sp>
      <p:sp>
        <p:nvSpPr>
          <p:cNvPr id="40" name="text 40"/>
          <p:cNvSpPr/>
          <p:nvPr/>
        </p:nvSpPr>
        <p:spPr>
          <a:xfrm>
            <a:off x="2870200" y="512318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Reviewer approves root cause identified or unresolved with evidence; optional follow-up</a:t>
            </a:r>
            <a:endParaRPr lang="en-US" sz="1650"/>
          </a:p>
          <a:p>
            <a:pPr algn="l">
              <a:lnSpc>
                <a:spcPts val="1881"/>
              </a:lnSpc>
              <a:spcAft>
                <a:spcPts val="0"/>
              </a:spcAft>
            </a:pPr>
            <a:r>
              <a:rPr lang="en-US" sz="1650" b="0" dirty="0">
                <a:solidFill>
                  <a:srgbClr val="181C23"/>
                </a:solidFill>
                <a:latin typeface="Funnel Sans"/>
              </a:rPr>
              <a:t>stays separate.</a:t>
            </a:r>
            <a:endParaRPr lang="en-US" sz="1650"/>
          </a:p>
        </p:txBody>
      </p:sp>
      <p:cxnSp>
        <p:nvCxnSpPr>
          <p:cNvPr id="41" name="connector 41"/>
          <p:cNvCxnSpPr/>
          <p:nvPr/>
        </p:nvCxnSpPr>
        <p:spPr>
          <a:xfrm>
            <a:off x="2743200" y="567690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508000" y="5740400"/>
            <a:ext cx="11176000" cy="546100"/>
          </a:xfrm>
          <a:prstGeom prst="rect">
            <a:avLst/>
          </a:prstGeom>
          <a:solidFill>
            <a:srgbClr val="282A27"/>
          </a:solidFill>
          <a:ln>
            <a:noFill/>
          </a:ln>
        </p:spPr>
      </p:sp>
      <p:sp>
        <p:nvSpPr>
          <p:cNvPr id="43" name="text 4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Manual / proposed: source correction and fresh-data retest. RCA approval does not prove a fix.</a:t>
            </a:r>
            <a:endParaRPr lang="en-US" sz="1600"/>
          </a:p>
        </p:txBody>
      </p:sp>
      <p:cxnSp>
        <p:nvCxnSpPr>
          <p:cNvPr id="44" name="connector 4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text 4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6" name="text 4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46 / 87</a:t>
            </a:r>
            <a:endParaRPr lang="en-US" sz="10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T2-D11 • A / PURPOSE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Compare observed relationships with governed expectations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Directional / monotonic consistency</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3589867" cy="3073400"/>
          </a:xfrm>
          <a:prstGeom prst="rect">
            <a:avLst/>
          </a:prstGeom>
          <a:solidFill>
            <a:srgbClr val="FFFFFF"/>
          </a:solidFill>
          <a:ln w="12700">
            <a:solidFill>
              <a:srgbClr val="DEDCD6"/>
            </a:solidFill>
          </a:ln>
        </p:spPr>
      </p:sp>
      <p:sp>
        <p:nvSpPr>
          <p:cNvPr id="9" name="shape 9"/>
          <p:cNvSpPr/>
          <p:nvPr/>
        </p:nvSpPr>
        <p:spPr>
          <a:xfrm>
            <a:off x="508000" y="2247900"/>
            <a:ext cx="38100" cy="3073400"/>
          </a:xfrm>
          <a:prstGeom prst="rect">
            <a:avLst/>
          </a:prstGeom>
          <a:solidFill>
            <a:srgbClr val="FF4F59"/>
          </a:solidFill>
          <a:ln>
            <a:noFill/>
          </a:ln>
        </p:spPr>
      </p:sp>
      <p:sp>
        <p:nvSpPr>
          <p:cNvPr id="10" name="shape 10"/>
          <p:cNvSpPr/>
          <p:nvPr/>
        </p:nvSpPr>
        <p:spPr>
          <a:xfrm>
            <a:off x="711200" y="2438400"/>
            <a:ext cx="342900" cy="342900"/>
          </a:xfrm>
          <a:prstGeom prst="hexagon">
            <a:avLst/>
          </a:prstGeom>
          <a:noFill/>
          <a:ln w="21590">
            <a:solidFill>
              <a:srgbClr val="FF4F59"/>
            </a:solidFill>
          </a:ln>
        </p:spPr>
      </p:sp>
      <p:sp>
        <p:nvSpPr>
          <p:cNvPr id="11" name="text 11"/>
          <p:cNvSpPr/>
          <p:nvPr/>
        </p:nvSpPr>
        <p:spPr>
          <a:xfrm>
            <a:off x="825500"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12" name="text 12"/>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Problem</a:t>
            </a:r>
            <a:endParaRPr lang="en-US" sz="1900"/>
          </a:p>
        </p:txBody>
      </p:sp>
      <p:sp>
        <p:nvSpPr>
          <p:cNvPr id="13" name="text 13"/>
          <p:cNvSpPr/>
          <p:nvPr/>
        </p:nvSpPr>
        <p:spPr>
          <a:xfrm>
            <a:off x="723900"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numeric feature can move</a:t>
            </a:r>
            <a:endParaRPr lang="en-US" sz="1700"/>
          </a:p>
          <a:p>
            <a:pPr algn="l">
              <a:lnSpc>
                <a:spcPts val="1938"/>
              </a:lnSpc>
              <a:spcAft>
                <a:spcPts val="0"/>
              </a:spcAft>
            </a:pPr>
            <a:r>
              <a:rPr lang="en-US" sz="1700" b="0" dirty="0">
                <a:solidFill>
                  <a:srgbClr val="181C23"/>
                </a:solidFill>
                <a:latin typeface="Funnel Sans"/>
              </a:rPr>
              <a:t>against the expected risk</a:t>
            </a:r>
            <a:endParaRPr lang="en-US" sz="1700"/>
          </a:p>
          <a:p>
            <a:pPr algn="l">
              <a:lnSpc>
                <a:spcPts val="1938"/>
              </a:lnSpc>
              <a:spcAft>
                <a:spcPts val="0"/>
              </a:spcAft>
            </a:pPr>
            <a:r>
              <a:rPr lang="en-US" sz="1700" b="0" dirty="0">
                <a:solidFill>
                  <a:srgbClr val="181C23"/>
                </a:solidFill>
                <a:latin typeface="Funnel Sans"/>
              </a:rPr>
              <a:t>direction, or show weak or</a:t>
            </a:r>
            <a:endParaRPr lang="en-US" sz="1700"/>
          </a:p>
          <a:p>
            <a:pPr algn="l">
              <a:lnSpc>
                <a:spcPts val="1938"/>
              </a:lnSpc>
              <a:spcAft>
                <a:spcPts val="0"/>
              </a:spcAft>
            </a:pPr>
            <a:r>
              <a:rPr lang="en-US" sz="1700" b="0" dirty="0">
                <a:solidFill>
                  <a:srgbClr val="181C23"/>
                </a:solidFill>
                <a:latin typeface="Funnel Sans"/>
              </a:rPr>
              <a:t>conflicting evidence.</a:t>
            </a:r>
            <a:endParaRPr lang="en-US" sz="1700"/>
          </a:p>
        </p:txBody>
      </p:sp>
      <p:sp>
        <p:nvSpPr>
          <p:cNvPr id="14" name="shape 14"/>
          <p:cNvSpPr/>
          <p:nvPr/>
        </p:nvSpPr>
        <p:spPr>
          <a:xfrm>
            <a:off x="4301067" y="2247900"/>
            <a:ext cx="3589867" cy="3073400"/>
          </a:xfrm>
          <a:prstGeom prst="rect">
            <a:avLst/>
          </a:prstGeom>
          <a:solidFill>
            <a:srgbClr val="FFFFFF"/>
          </a:solidFill>
          <a:ln w="12700">
            <a:solidFill>
              <a:srgbClr val="DEDCD6"/>
            </a:solidFill>
          </a:ln>
        </p:spPr>
      </p:sp>
      <p:sp>
        <p:nvSpPr>
          <p:cNvPr id="15" name="shape 15"/>
          <p:cNvSpPr/>
          <p:nvPr/>
        </p:nvSpPr>
        <p:spPr>
          <a:xfrm>
            <a:off x="4301067" y="2247900"/>
            <a:ext cx="38100" cy="3073400"/>
          </a:xfrm>
          <a:prstGeom prst="rect">
            <a:avLst/>
          </a:prstGeom>
          <a:solidFill>
            <a:srgbClr val="FF4F59"/>
          </a:solidFill>
          <a:ln>
            <a:noFill/>
          </a:ln>
        </p:spPr>
      </p:sp>
      <p:sp>
        <p:nvSpPr>
          <p:cNvPr id="16" name="shape 16"/>
          <p:cNvSpPr/>
          <p:nvPr/>
        </p:nvSpPr>
        <p:spPr>
          <a:xfrm>
            <a:off x="4605867" y="2438400"/>
            <a:ext cx="139700" cy="139700"/>
          </a:xfrm>
          <a:prstGeom prst="ellipse">
            <a:avLst/>
          </a:prstGeom>
          <a:noFill/>
          <a:ln w="20320">
            <a:solidFill>
              <a:srgbClr val="FF4F59"/>
            </a:solidFill>
          </a:ln>
        </p:spPr>
      </p:sp>
      <p:sp>
        <p:nvSpPr>
          <p:cNvPr id="17" name="shape 17"/>
          <p:cNvSpPr/>
          <p:nvPr/>
        </p:nvSpPr>
        <p:spPr>
          <a:xfrm>
            <a:off x="4529667" y="2616200"/>
            <a:ext cx="292100" cy="190500"/>
          </a:xfrm>
          <a:prstGeom prst="arc">
            <a:avLst/>
          </a:prstGeom>
          <a:noFill/>
          <a:ln w="20320">
            <a:solidFill>
              <a:srgbClr val="FF4F59"/>
            </a:solid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Primary users</a:t>
            </a:r>
            <a:endParaRPr lang="en-US" sz="1900"/>
          </a:p>
        </p:txBody>
      </p:sp>
      <p:sp>
        <p:nvSpPr>
          <p:cNvPr id="19" name="text 19"/>
          <p:cNvSpPr/>
          <p:nvPr/>
        </p:nvSpPr>
        <p:spPr>
          <a:xfrm>
            <a:off x="4516967"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Analytics and domain SMEs</a:t>
            </a:r>
            <a:endParaRPr lang="en-US" sz="1700"/>
          </a:p>
          <a:p>
            <a:pPr algn="l">
              <a:lnSpc>
                <a:spcPts val="1938"/>
              </a:lnSpc>
              <a:spcAft>
                <a:spcPts val="0"/>
              </a:spcAft>
            </a:pPr>
            <a:r>
              <a:rPr lang="en-US" sz="1700" b="0" dirty="0">
                <a:solidFill>
                  <a:srgbClr val="181C23"/>
                </a:solidFill>
                <a:latin typeface="Funnel Sans"/>
              </a:rPr>
              <a:t>reviewing economically</a:t>
            </a:r>
            <a:endParaRPr lang="en-US" sz="1700"/>
          </a:p>
          <a:p>
            <a:pPr algn="l">
              <a:lnSpc>
                <a:spcPts val="1938"/>
              </a:lnSpc>
              <a:spcAft>
                <a:spcPts val="0"/>
              </a:spcAft>
            </a:pPr>
            <a:r>
              <a:rPr lang="en-US" sz="1700" b="0" dirty="0">
                <a:solidFill>
                  <a:srgbClr val="181C23"/>
                </a:solidFill>
                <a:latin typeface="Funnel Sans"/>
              </a:rPr>
              <a:t>meaningful numerical</a:t>
            </a:r>
            <a:endParaRPr lang="en-US" sz="1700"/>
          </a:p>
          <a:p>
            <a:pPr algn="l">
              <a:lnSpc>
                <a:spcPts val="1938"/>
              </a:lnSpc>
              <a:spcAft>
                <a:spcPts val="0"/>
              </a:spcAft>
            </a:pPr>
            <a:r>
              <a:rPr lang="en-US" sz="1700" b="0" dirty="0">
                <a:solidFill>
                  <a:srgbClr val="181C23"/>
                </a:solidFill>
                <a:latin typeface="Funnel Sans"/>
              </a:rPr>
              <a:t>relationships.</a:t>
            </a:r>
            <a:endParaRPr lang="en-US" sz="1700"/>
          </a:p>
        </p:txBody>
      </p:sp>
      <p:sp>
        <p:nvSpPr>
          <p:cNvPr id="20" name="shape 20"/>
          <p:cNvSpPr/>
          <p:nvPr/>
        </p:nvSpPr>
        <p:spPr>
          <a:xfrm>
            <a:off x="8094133" y="2247900"/>
            <a:ext cx="3589867" cy="3073400"/>
          </a:xfrm>
          <a:prstGeom prst="rect">
            <a:avLst/>
          </a:prstGeom>
          <a:solidFill>
            <a:srgbClr val="FFFFFF"/>
          </a:solidFill>
          <a:ln w="12700">
            <a:solidFill>
              <a:srgbClr val="DEDCD6"/>
            </a:solidFill>
          </a:ln>
        </p:spPr>
      </p:sp>
      <p:sp>
        <p:nvSpPr>
          <p:cNvPr id="21" name="shape 21"/>
          <p:cNvSpPr/>
          <p:nvPr/>
        </p:nvSpPr>
        <p:spPr>
          <a:xfrm>
            <a:off x="8094133" y="2247900"/>
            <a:ext cx="38100" cy="3073400"/>
          </a:xfrm>
          <a:prstGeom prst="rect">
            <a:avLst/>
          </a:prstGeom>
          <a:solidFill>
            <a:srgbClr val="FF4F59"/>
          </a:solidFill>
          <a:ln>
            <a:noFill/>
          </a:ln>
        </p:spPr>
      </p:sp>
      <p:sp>
        <p:nvSpPr>
          <p:cNvPr id="22" name="shape 22"/>
          <p:cNvSpPr/>
          <p:nvPr/>
        </p:nvSpPr>
        <p:spPr>
          <a:xfrm>
            <a:off x="8297333" y="2438400"/>
            <a:ext cx="304800" cy="342900"/>
          </a:xfrm>
          <a:prstGeom prst="can">
            <a:avLst/>
          </a:prstGeom>
          <a:noFill/>
          <a:ln w="20320">
            <a:solidFill>
              <a:srgbClr val="FF4F59"/>
            </a:solidFill>
          </a:ln>
        </p:spPr>
      </p:sp>
      <p:sp>
        <p:nvSpPr>
          <p:cNvPr id="23" name="text 23"/>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When to use it</a:t>
            </a:r>
            <a:endParaRPr lang="en-US" sz="1900"/>
          </a:p>
        </p:txBody>
      </p:sp>
      <p:sp>
        <p:nvSpPr>
          <p:cNvPr id="24" name="text 24"/>
          <p:cNvSpPr/>
          <p:nvPr/>
        </p:nvSpPr>
        <p:spPr>
          <a:xfrm>
            <a:off x="8310033"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Ready data with a saved</a:t>
            </a:r>
            <a:endParaRPr lang="en-US" sz="1700"/>
          </a:p>
          <a:p>
            <a:pPr algn="l">
              <a:lnSpc>
                <a:spcPts val="1938"/>
              </a:lnSpc>
              <a:spcAft>
                <a:spcPts val="0"/>
              </a:spcAft>
            </a:pPr>
            <a:r>
              <a:rPr lang="en-US" sz="1700" b="0" dirty="0">
                <a:solidFill>
                  <a:srgbClr val="181C23"/>
                </a:solidFill>
                <a:latin typeface="Funnel Sans"/>
              </a:rPr>
              <a:t>target; confirm reference type,</a:t>
            </a:r>
            <a:endParaRPr lang="en-US" sz="1700"/>
          </a:p>
          <a:p>
            <a:pPr algn="l">
              <a:lnSpc>
                <a:spcPts val="1938"/>
              </a:lnSpc>
              <a:spcAft>
                <a:spcPts val="0"/>
              </a:spcAft>
            </a:pPr>
            <a:r>
              <a:rPr lang="en-US" sz="1700" b="0" dirty="0">
                <a:solidFill>
                  <a:srgbClr val="181C23"/>
                </a:solidFill>
                <a:latin typeface="Funnel Sans"/>
              </a:rPr>
              <a:t>risk orientation and selected</a:t>
            </a:r>
            <a:endParaRPr lang="en-US" sz="1700"/>
          </a:p>
          <a:p>
            <a:pPr algn="l">
              <a:lnSpc>
                <a:spcPts val="1938"/>
              </a:lnSpc>
              <a:spcAft>
                <a:spcPts val="0"/>
              </a:spcAft>
            </a:pPr>
            <a:r>
              <a:rPr lang="en-US" sz="1700" b="0" dirty="0">
                <a:solidFill>
                  <a:srgbClr val="181C23"/>
                </a:solidFill>
                <a:latin typeface="Funnel Sans"/>
              </a:rPr>
              <a:t>numeric features.</a:t>
            </a:r>
            <a:endParaRPr lang="en-US" sz="1700"/>
          </a:p>
        </p:txBody>
      </p:sp>
      <p:sp>
        <p:nvSpPr>
          <p:cNvPr id="25" name="shape 25"/>
          <p:cNvSpPr/>
          <p:nvPr/>
        </p:nvSpPr>
        <p:spPr>
          <a:xfrm>
            <a:off x="508000" y="5626100"/>
            <a:ext cx="11176000" cy="546100"/>
          </a:xfrm>
          <a:prstGeom prst="rect">
            <a:avLst/>
          </a:prstGeom>
          <a:solidFill>
            <a:srgbClr val="282A27"/>
          </a:solidFill>
          <a:ln>
            <a:noFill/>
          </a:ln>
        </p:spPr>
      </p:sp>
      <p:sp>
        <p:nvSpPr>
          <p:cNvPr id="26" name="text 26"/>
          <p:cNvSpPr/>
          <p:nvPr/>
        </p:nvSpPr>
        <p:spPr>
          <a:xfrm>
            <a:off x="698500" y="57658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Expected-versus-observed conclusions, component evidence and contextual review findings.</a:t>
            </a:r>
            <a:endParaRPr lang="en-US" sz="1600"/>
          </a:p>
        </p:txBody>
      </p:sp>
      <p:cxnSp>
        <p:nvCxnSpPr>
          <p:cNvPr id="27" name="connector 2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9" name="text 2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47 / 87</a:t>
            </a:r>
            <a:endParaRPr lang="en-US" sz="1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T2-D11 • B / APPROACH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Follow the governed processing path</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Directional / monotonic consistency</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text 8"/>
          <p:cNvSpPr/>
          <p:nvPr/>
        </p:nvSpPr>
        <p:spPr>
          <a:xfrm>
            <a:off x="520700" y="2108200"/>
            <a:ext cx="990600" cy="2794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4F59"/>
                </a:solidFill>
                <a:latin typeface="Funnel Sans"/>
              </a:rPr>
              <a:t>INPUTS</a:t>
            </a:r>
            <a:endParaRPr lang="en-US" sz="1100"/>
          </a:p>
        </p:txBody>
      </p:sp>
      <p:sp>
        <p:nvSpPr>
          <p:cNvPr id="9" name="text 9"/>
          <p:cNvSpPr/>
          <p:nvPr/>
        </p:nvSpPr>
        <p:spPr>
          <a:xfrm>
            <a:off x="1574800" y="2082800"/>
            <a:ext cx="10096500" cy="6096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Numeric features; target or approved run-level substitute; risk orientation; expected directions; evidence</a:t>
            </a:r>
            <a:endParaRPr lang="en-US" sz="1600"/>
          </a:p>
          <a:p>
            <a:pPr algn="l">
              <a:lnSpc>
                <a:spcPts val="1824"/>
              </a:lnSpc>
              <a:spcAft>
                <a:spcPts val="0"/>
              </a:spcAft>
            </a:pPr>
            <a:r>
              <a:rPr lang="en-US" sz="1600" b="0" dirty="0">
                <a:solidFill>
                  <a:srgbClr val="181C23"/>
                </a:solidFill>
                <a:latin typeface="Funnel Sans"/>
              </a:rPr>
              <a:t>floors.</a:t>
            </a:r>
            <a:endParaRPr lang="en-US" sz="1600"/>
          </a:p>
        </p:txBody>
      </p:sp>
      <p:sp>
        <p:nvSpPr>
          <p:cNvPr id="10" name="shape 10"/>
          <p:cNvSpPr/>
          <p:nvPr/>
        </p:nvSpPr>
        <p:spPr>
          <a:xfrm>
            <a:off x="508000" y="2832100"/>
            <a:ext cx="2052320" cy="2374900"/>
          </a:xfrm>
          <a:prstGeom prst="rect">
            <a:avLst/>
          </a:prstGeom>
          <a:solidFill>
            <a:srgbClr val="FFF2DF"/>
          </a:solidFill>
          <a:ln w="12700">
            <a:solidFill>
              <a:srgbClr val="DEDCD6"/>
            </a:solidFill>
          </a:ln>
        </p:spPr>
      </p:sp>
      <p:sp>
        <p:nvSpPr>
          <p:cNvPr id="11" name="text 11"/>
          <p:cNvSpPr/>
          <p:nvPr/>
        </p:nvSpPr>
        <p:spPr>
          <a:xfrm>
            <a:off x="67310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2" name="text 12"/>
          <p:cNvSpPr/>
          <p:nvPr/>
        </p:nvSpPr>
        <p:spPr>
          <a:xfrm>
            <a:off x="67310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Set expectation</a:t>
            </a:r>
            <a:endParaRPr lang="en-US" sz="1800"/>
          </a:p>
        </p:txBody>
      </p:sp>
      <p:sp>
        <p:nvSpPr>
          <p:cNvPr id="13" name="text 13"/>
          <p:cNvSpPr/>
          <p:nvPr/>
        </p:nvSpPr>
        <p:spPr>
          <a:xfrm>
            <a:off x="67310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Exact KB or explicit</a:t>
            </a:r>
            <a:endParaRPr lang="en-US" sz="1450"/>
          </a:p>
          <a:p>
            <a:pPr algn="l">
              <a:lnSpc>
                <a:spcPts val="1653"/>
              </a:lnSpc>
              <a:spcAft>
                <a:spcPts val="0"/>
              </a:spcAft>
            </a:pPr>
            <a:r>
              <a:rPr lang="en-US" sz="1450" b="0" dirty="0">
                <a:solidFill>
                  <a:srgbClr val="181C23"/>
                </a:solidFill>
                <a:latin typeface="Funnel Sans"/>
              </a:rPr>
              <a:t>human</a:t>
            </a:r>
            <a:endParaRPr lang="en-US" sz="1450"/>
          </a:p>
          <a:p>
            <a:pPr algn="l">
              <a:lnSpc>
                <a:spcPts val="1653"/>
              </a:lnSpc>
              <a:spcAft>
                <a:spcPts val="0"/>
              </a:spcAft>
            </a:pPr>
            <a:r>
              <a:rPr lang="en-US" sz="1450" b="0" dirty="0">
                <a:solidFill>
                  <a:srgbClr val="181C23"/>
                </a:solidFill>
                <a:latin typeface="Funnel Sans"/>
              </a:rPr>
              <a:t>confirmation</a:t>
            </a:r>
            <a:endParaRPr lang="en-US" sz="1450"/>
          </a:p>
        </p:txBody>
      </p:sp>
      <p:cxnSp>
        <p:nvCxnSpPr>
          <p:cNvPr id="14" name="connector 14"/>
          <p:cNvCxnSpPr/>
          <p:nvPr/>
        </p:nvCxnSpPr>
        <p:spPr>
          <a:xfrm>
            <a:off x="258572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88920" y="2832100"/>
            <a:ext cx="2052320" cy="2374900"/>
          </a:xfrm>
          <a:prstGeom prst="rect">
            <a:avLst/>
          </a:prstGeom>
          <a:solidFill>
            <a:srgbClr val="FFF2DF"/>
          </a:solidFill>
          <a:ln w="12700">
            <a:solidFill>
              <a:srgbClr val="DEDCD6"/>
            </a:solidFill>
          </a:ln>
        </p:spPr>
      </p:sp>
      <p:sp>
        <p:nvSpPr>
          <p:cNvPr id="16" name="text 16"/>
          <p:cNvSpPr/>
          <p:nvPr/>
        </p:nvSpPr>
        <p:spPr>
          <a:xfrm>
            <a:off x="295402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7" name="text 17"/>
          <p:cNvSpPr/>
          <p:nvPr/>
        </p:nvSpPr>
        <p:spPr>
          <a:xfrm>
            <a:off x="295402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Measure</a:t>
            </a:r>
            <a:endParaRPr lang="en-US" sz="1800"/>
          </a:p>
          <a:p>
            <a:pPr algn="l">
              <a:lnSpc>
                <a:spcPts val="2052"/>
              </a:lnSpc>
              <a:spcAft>
                <a:spcPts val="0"/>
              </a:spcAft>
            </a:pPr>
            <a:r>
              <a:rPr lang="en-US" sz="1800" b="1" dirty="0">
                <a:solidFill>
                  <a:srgbClr val="181C23"/>
                </a:solidFill>
                <a:latin typeface="Funnel Sans"/>
              </a:rPr>
              <a:t>components</a:t>
            </a:r>
            <a:endParaRPr lang="en-US" sz="1800"/>
          </a:p>
        </p:txBody>
      </p:sp>
      <p:sp>
        <p:nvSpPr>
          <p:cNvPr id="18" name="text 18"/>
          <p:cNvSpPr/>
          <p:nvPr/>
        </p:nvSpPr>
        <p:spPr>
          <a:xfrm>
            <a:off x="295402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Binned shape,</a:t>
            </a:r>
            <a:endParaRPr lang="en-US" sz="1450"/>
          </a:p>
          <a:p>
            <a:pPr algn="l">
              <a:lnSpc>
                <a:spcPts val="1653"/>
              </a:lnSpc>
              <a:spcAft>
                <a:spcPts val="0"/>
              </a:spcAft>
            </a:pPr>
            <a:r>
              <a:rPr lang="en-US" sz="1450" b="0" dirty="0">
                <a:solidFill>
                  <a:srgbClr val="181C23"/>
                </a:solidFill>
                <a:latin typeface="Funnel Sans"/>
              </a:rPr>
              <a:t>Spearman and</a:t>
            </a:r>
            <a:endParaRPr lang="en-US" sz="1450"/>
          </a:p>
          <a:p>
            <a:pPr algn="l">
              <a:lnSpc>
                <a:spcPts val="1653"/>
              </a:lnSpc>
              <a:spcAft>
                <a:spcPts val="0"/>
              </a:spcAft>
            </a:pPr>
            <a:r>
              <a:rPr lang="en-US" sz="1450" b="0" dirty="0">
                <a:solidFill>
                  <a:srgbClr val="181C23"/>
                </a:solidFill>
                <a:latin typeface="Funnel Sans"/>
              </a:rPr>
              <a:t>regression</a:t>
            </a:r>
            <a:endParaRPr lang="en-US" sz="1450"/>
          </a:p>
        </p:txBody>
      </p:sp>
      <p:cxnSp>
        <p:nvCxnSpPr>
          <p:cNvPr id="19" name="connector 19"/>
          <p:cNvCxnSpPr/>
          <p:nvPr/>
        </p:nvCxnSpPr>
        <p:spPr>
          <a:xfrm>
            <a:off x="486664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5069840" y="2832100"/>
            <a:ext cx="2052320" cy="2374900"/>
          </a:xfrm>
          <a:prstGeom prst="rect">
            <a:avLst/>
          </a:prstGeom>
          <a:solidFill>
            <a:srgbClr val="FFF2DF"/>
          </a:solidFill>
          <a:ln w="12700">
            <a:solidFill>
              <a:srgbClr val="DEDCD6"/>
            </a:solidFill>
          </a:ln>
        </p:spPr>
      </p:sp>
      <p:sp>
        <p:nvSpPr>
          <p:cNvPr id="21" name="text 21"/>
          <p:cNvSpPr/>
          <p:nvPr/>
        </p:nvSpPr>
        <p:spPr>
          <a:xfrm>
            <a:off x="523494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2" name="text 22"/>
          <p:cNvSpPr/>
          <p:nvPr/>
        </p:nvSpPr>
        <p:spPr>
          <a:xfrm>
            <a:off x="523494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Classify</a:t>
            </a:r>
            <a:endParaRPr lang="en-US" sz="1800"/>
          </a:p>
          <a:p>
            <a:pPr algn="l">
              <a:lnSpc>
                <a:spcPts val="2052"/>
              </a:lnSpc>
              <a:spcAft>
                <a:spcPts val="0"/>
              </a:spcAft>
            </a:pPr>
            <a:r>
              <a:rPr lang="en-US" sz="1800" b="1" dirty="0">
                <a:solidFill>
                  <a:srgbClr val="181C23"/>
                </a:solidFill>
                <a:latin typeface="Funnel Sans"/>
              </a:rPr>
              <a:t>direction</a:t>
            </a:r>
            <a:endParaRPr lang="en-US" sz="1800"/>
          </a:p>
        </p:txBody>
      </p:sp>
      <p:sp>
        <p:nvSpPr>
          <p:cNvPr id="23" name="text 23"/>
          <p:cNvSpPr/>
          <p:nvPr/>
        </p:nvSpPr>
        <p:spPr>
          <a:xfrm>
            <a:off x="523494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Consensus plus</a:t>
            </a:r>
            <a:endParaRPr lang="en-US" sz="1450"/>
          </a:p>
          <a:p>
            <a:pPr algn="l">
              <a:lnSpc>
                <a:spcPts val="1653"/>
              </a:lnSpc>
              <a:spcAft>
                <a:spcPts val="0"/>
              </a:spcAft>
            </a:pPr>
            <a:r>
              <a:rPr lang="en-US" sz="1450" b="0" dirty="0">
                <a:solidFill>
                  <a:srgbClr val="181C23"/>
                </a:solidFill>
                <a:latin typeface="Funnel Sans"/>
              </a:rPr>
              <a:t>applicability/data</a:t>
            </a:r>
            <a:endParaRPr lang="en-US" sz="1450"/>
          </a:p>
          <a:p>
            <a:pPr algn="l">
              <a:lnSpc>
                <a:spcPts val="1653"/>
              </a:lnSpc>
              <a:spcAft>
                <a:spcPts val="0"/>
              </a:spcAft>
            </a:pPr>
            <a:r>
              <a:rPr lang="en-US" sz="1450" b="0" dirty="0">
                <a:solidFill>
                  <a:srgbClr val="181C23"/>
                </a:solidFill>
                <a:latin typeface="Funnel Sans"/>
              </a:rPr>
              <a:t>guards</a:t>
            </a:r>
            <a:endParaRPr lang="en-US" sz="1450"/>
          </a:p>
        </p:txBody>
      </p:sp>
      <p:cxnSp>
        <p:nvCxnSpPr>
          <p:cNvPr id="24" name="connector 24"/>
          <p:cNvCxnSpPr/>
          <p:nvPr/>
        </p:nvCxnSpPr>
        <p:spPr>
          <a:xfrm>
            <a:off x="714756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7350760" y="2832100"/>
            <a:ext cx="2052320" cy="2374900"/>
          </a:xfrm>
          <a:prstGeom prst="rect">
            <a:avLst/>
          </a:prstGeom>
          <a:solidFill>
            <a:srgbClr val="FFF2DF"/>
          </a:solidFill>
          <a:ln w="12700">
            <a:solidFill>
              <a:srgbClr val="DEDCD6"/>
            </a:solidFill>
          </a:ln>
        </p:spPr>
      </p:sp>
      <p:sp>
        <p:nvSpPr>
          <p:cNvPr id="26" name="text 26"/>
          <p:cNvSpPr/>
          <p:nvPr/>
        </p:nvSpPr>
        <p:spPr>
          <a:xfrm>
            <a:off x="751586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7" name="text 27"/>
          <p:cNvSpPr/>
          <p:nvPr/>
        </p:nvSpPr>
        <p:spPr>
          <a:xfrm>
            <a:off x="751586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Compare</a:t>
            </a:r>
            <a:endParaRPr lang="en-US" sz="1800"/>
          </a:p>
        </p:txBody>
      </p:sp>
      <p:sp>
        <p:nvSpPr>
          <p:cNvPr id="28" name="text 28"/>
          <p:cNvSpPr/>
          <p:nvPr/>
        </p:nvSpPr>
        <p:spPr>
          <a:xfrm>
            <a:off x="751586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Orient expected</a:t>
            </a:r>
            <a:endParaRPr lang="en-US" sz="1450"/>
          </a:p>
          <a:p>
            <a:pPr algn="l">
              <a:lnSpc>
                <a:spcPts val="1653"/>
              </a:lnSpc>
              <a:spcAft>
                <a:spcPts val="0"/>
              </a:spcAft>
            </a:pPr>
            <a:r>
              <a:rPr lang="en-US" sz="1450" b="0" dirty="0">
                <a:solidFill>
                  <a:srgbClr val="181C23"/>
                </a:solidFill>
                <a:latin typeface="Funnel Sans"/>
              </a:rPr>
              <a:t>risk direction to</a:t>
            </a:r>
            <a:endParaRPr lang="en-US" sz="1450"/>
          </a:p>
          <a:p>
            <a:pPr algn="l">
              <a:lnSpc>
                <a:spcPts val="1653"/>
              </a:lnSpc>
              <a:spcAft>
                <a:spcPts val="0"/>
              </a:spcAft>
            </a:pPr>
            <a:r>
              <a:rPr lang="en-US" sz="1450" b="0" dirty="0">
                <a:solidFill>
                  <a:srgbClr val="181C23"/>
                </a:solidFill>
                <a:latin typeface="Funnel Sans"/>
              </a:rPr>
              <a:t>reference</a:t>
            </a:r>
            <a:endParaRPr lang="en-US" sz="1450"/>
          </a:p>
        </p:txBody>
      </p:sp>
      <p:cxnSp>
        <p:nvCxnSpPr>
          <p:cNvPr id="29" name="connector 29"/>
          <p:cNvCxnSpPr/>
          <p:nvPr/>
        </p:nvCxnSpPr>
        <p:spPr>
          <a:xfrm>
            <a:off x="942848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9631680" y="2832100"/>
            <a:ext cx="2052320" cy="2374900"/>
          </a:xfrm>
          <a:prstGeom prst="rect">
            <a:avLst/>
          </a:prstGeom>
          <a:solidFill>
            <a:srgbClr val="FFF2DF"/>
          </a:solidFill>
          <a:ln w="12700">
            <a:solidFill>
              <a:srgbClr val="DEDCD6"/>
            </a:solidFill>
          </a:ln>
        </p:spPr>
      </p:sp>
      <p:sp>
        <p:nvSpPr>
          <p:cNvPr id="31" name="text 31"/>
          <p:cNvSpPr/>
          <p:nvPr/>
        </p:nvSpPr>
        <p:spPr>
          <a:xfrm>
            <a:off x="979678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2" name="text 32"/>
          <p:cNvSpPr/>
          <p:nvPr/>
        </p:nvSpPr>
        <p:spPr>
          <a:xfrm>
            <a:off x="979678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Retain &amp;</a:t>
            </a:r>
            <a:endParaRPr lang="en-US" sz="1800"/>
          </a:p>
          <a:p>
            <a:pPr algn="l">
              <a:lnSpc>
                <a:spcPts val="2052"/>
              </a:lnSpc>
              <a:spcAft>
                <a:spcPts val="0"/>
              </a:spcAft>
            </a:pPr>
            <a:r>
              <a:rPr lang="en-US" sz="1800" b="1" dirty="0">
                <a:solidFill>
                  <a:srgbClr val="181C23"/>
                </a:solidFill>
                <a:latin typeface="Funnel Sans"/>
              </a:rPr>
              <a:t>review</a:t>
            </a:r>
            <a:endParaRPr lang="en-US" sz="1800"/>
          </a:p>
        </p:txBody>
      </p:sp>
      <p:sp>
        <p:nvSpPr>
          <p:cNvPr id="33" name="text 33"/>
          <p:cNvSpPr/>
          <p:nvPr/>
        </p:nvSpPr>
        <p:spPr>
          <a:xfrm>
            <a:off x="979678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Feature artifacts,</a:t>
            </a:r>
            <a:endParaRPr lang="en-US" sz="1450"/>
          </a:p>
          <a:p>
            <a:pPr algn="l">
              <a:lnSpc>
                <a:spcPts val="1653"/>
              </a:lnSpc>
              <a:spcAft>
                <a:spcPts val="0"/>
              </a:spcAft>
            </a:pPr>
            <a:r>
              <a:rPr lang="en-US" sz="1450" b="0" dirty="0">
                <a:solidFill>
                  <a:srgbClr val="181C23"/>
                </a:solidFill>
                <a:latin typeface="Funnel Sans"/>
              </a:rPr>
              <a:t>charts and report</a:t>
            </a:r>
            <a:endParaRPr lang="en-US" sz="1450"/>
          </a:p>
        </p:txBody>
      </p:sp>
      <p:sp>
        <p:nvSpPr>
          <p:cNvPr id="34" name="shape 34"/>
          <p:cNvSpPr/>
          <p:nvPr/>
        </p:nvSpPr>
        <p:spPr>
          <a:xfrm>
            <a:off x="508000" y="5562600"/>
            <a:ext cx="11176000" cy="546100"/>
          </a:xfrm>
          <a:prstGeom prst="rect">
            <a:avLst/>
          </a:prstGeom>
          <a:solidFill>
            <a:srgbClr val="282A27"/>
          </a:solidFill>
          <a:ln>
            <a:noFill/>
          </a:ln>
        </p:spPr>
      </p:sp>
      <p:sp>
        <p:nvSpPr>
          <p:cNvPr id="35" name="text 35"/>
          <p:cNvSpPr/>
          <p:nvPr/>
        </p:nvSpPr>
        <p:spPr>
          <a:xfrm>
            <a:off x="698500" y="57023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First run is overall-only. A later run can add one accepted segment using the shared PSI split builder.</a:t>
            </a:r>
            <a:endParaRPr lang="en-US" sz="1600"/>
          </a:p>
        </p:txBody>
      </p:sp>
      <p:cxnSp>
        <p:nvCxnSpPr>
          <p:cNvPr id="36" name="connector 3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text 3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8" name="text 3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48 / 87</a:t>
            </a:r>
            <a:endParaRPr lang="en-US" sz="100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T2-D11 • C / EVIDENCE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Read the metrics alongside scope and limitations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Directional / monotonic consistency</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22500"/>
            <a:ext cx="3589867" cy="3238500"/>
          </a:xfrm>
          <a:prstGeom prst="rect">
            <a:avLst/>
          </a:prstGeom>
          <a:solidFill>
            <a:srgbClr val="FFFFFF"/>
          </a:solidFill>
          <a:ln w="12700">
            <a:solidFill>
              <a:srgbClr val="DEDCD6"/>
            </a:solidFill>
          </a:ln>
        </p:spPr>
      </p:sp>
      <p:sp>
        <p:nvSpPr>
          <p:cNvPr id="9" name="shape 9"/>
          <p:cNvSpPr/>
          <p:nvPr/>
        </p:nvSpPr>
        <p:spPr>
          <a:xfrm>
            <a:off x="508000" y="2222500"/>
            <a:ext cx="38100" cy="3238500"/>
          </a:xfrm>
          <a:prstGeom prst="rect">
            <a:avLst/>
          </a:prstGeom>
          <a:solidFill>
            <a:srgbClr val="FF4F59"/>
          </a:solidFill>
          <a:ln>
            <a:noFill/>
          </a:ln>
        </p:spPr>
      </p:sp>
      <p:sp>
        <p:nvSpPr>
          <p:cNvPr id="10" name="shape 10"/>
          <p:cNvSpPr/>
          <p:nvPr/>
        </p:nvSpPr>
        <p:spPr>
          <a:xfrm>
            <a:off x="711200" y="2628900"/>
            <a:ext cx="63500" cy="127000"/>
          </a:xfrm>
          <a:prstGeom prst="rect">
            <a:avLst/>
          </a:prstGeom>
          <a:solidFill>
            <a:srgbClr val="FF4F59"/>
          </a:solidFill>
          <a:ln>
            <a:noFill/>
          </a:ln>
        </p:spPr>
      </p:sp>
      <p:sp>
        <p:nvSpPr>
          <p:cNvPr id="11" name="shape 11"/>
          <p:cNvSpPr/>
          <p:nvPr/>
        </p:nvSpPr>
        <p:spPr>
          <a:xfrm>
            <a:off x="825500" y="2501900"/>
            <a:ext cx="63500" cy="254000"/>
          </a:xfrm>
          <a:prstGeom prst="rect">
            <a:avLst/>
          </a:prstGeom>
          <a:solidFill>
            <a:srgbClr val="FF4F59"/>
          </a:solidFill>
          <a:ln>
            <a:noFill/>
          </a:ln>
        </p:spPr>
      </p:sp>
      <p:sp>
        <p:nvSpPr>
          <p:cNvPr id="12" name="shape 12"/>
          <p:cNvSpPr/>
          <p:nvPr/>
        </p:nvSpPr>
        <p:spPr>
          <a:xfrm>
            <a:off x="939800" y="2413000"/>
            <a:ext cx="63500" cy="342900"/>
          </a:xfrm>
          <a:prstGeom prst="rect">
            <a:avLst/>
          </a:prstGeom>
          <a:solidFill>
            <a:srgbClr val="FF4F59"/>
          </a:solidFill>
          <a:ln>
            <a:noFill/>
          </a:ln>
        </p:spPr>
      </p:sp>
      <p:sp>
        <p:nvSpPr>
          <p:cNvPr id="13" name="text 13"/>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Three empirical inputs</a:t>
            </a:r>
            <a:endParaRPr lang="en-US" sz="1900"/>
          </a:p>
        </p:txBody>
      </p:sp>
      <p:sp>
        <p:nvSpPr>
          <p:cNvPr id="14" name="text 14"/>
          <p:cNvSpPr/>
          <p:nvPr/>
        </p:nvSpPr>
        <p:spPr>
          <a:xfrm>
            <a:off x="723900"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Broad binned averages,</a:t>
            </a:r>
            <a:endParaRPr lang="en-US" sz="1700"/>
          </a:p>
          <a:p>
            <a:pPr algn="l">
              <a:lnSpc>
                <a:spcPts val="1938"/>
              </a:lnSpc>
              <a:spcAft>
                <a:spcPts val="0"/>
              </a:spcAft>
            </a:pPr>
            <a:r>
              <a:rPr lang="en-US" sz="1700" b="0" dirty="0">
                <a:solidFill>
                  <a:srgbClr val="181C23"/>
                </a:solidFill>
                <a:latin typeface="Funnel Sans"/>
              </a:rPr>
              <a:t>Spearman rank correlation and</a:t>
            </a:r>
            <a:endParaRPr lang="en-US" sz="1700"/>
          </a:p>
          <a:p>
            <a:pPr algn="l">
              <a:lnSpc>
                <a:spcPts val="1938"/>
              </a:lnSpc>
              <a:spcAft>
                <a:spcPts val="0"/>
              </a:spcAft>
            </a:pPr>
            <a:r>
              <a:rPr lang="en-US" sz="1700" b="0" dirty="0">
                <a:solidFill>
                  <a:srgbClr val="181C23"/>
                </a:solidFill>
                <a:latin typeface="Funnel Sans"/>
              </a:rPr>
              <a:t>standardized univariate</a:t>
            </a:r>
            <a:endParaRPr lang="en-US" sz="1700"/>
          </a:p>
          <a:p>
            <a:pPr algn="l">
              <a:lnSpc>
                <a:spcPts val="1938"/>
              </a:lnSpc>
              <a:spcAft>
                <a:spcPts val="0"/>
              </a:spcAft>
            </a:pPr>
            <a:r>
              <a:rPr lang="en-US" sz="1700" b="0" dirty="0">
                <a:solidFill>
                  <a:srgbClr val="181C23"/>
                </a:solidFill>
                <a:latin typeface="Funnel Sans"/>
              </a:rPr>
              <a:t>regression.</a:t>
            </a:r>
            <a:endParaRPr lang="en-US" sz="1700"/>
          </a:p>
        </p:txBody>
      </p:sp>
      <p:sp>
        <p:nvSpPr>
          <p:cNvPr id="15" name="shape 15"/>
          <p:cNvSpPr/>
          <p:nvPr/>
        </p:nvSpPr>
        <p:spPr>
          <a:xfrm>
            <a:off x="4301067" y="2222500"/>
            <a:ext cx="3589867" cy="3238500"/>
          </a:xfrm>
          <a:prstGeom prst="rect">
            <a:avLst/>
          </a:prstGeom>
          <a:solidFill>
            <a:srgbClr val="FFFFFF"/>
          </a:solidFill>
          <a:ln w="12700">
            <a:solidFill>
              <a:srgbClr val="DEDCD6"/>
            </a:solidFill>
          </a:ln>
        </p:spPr>
      </p:sp>
      <p:sp>
        <p:nvSpPr>
          <p:cNvPr id="16" name="shape 16"/>
          <p:cNvSpPr/>
          <p:nvPr/>
        </p:nvSpPr>
        <p:spPr>
          <a:xfrm>
            <a:off x="4301067" y="2222500"/>
            <a:ext cx="38100" cy="3238500"/>
          </a:xfrm>
          <a:prstGeom prst="rect">
            <a:avLst/>
          </a:prstGeom>
          <a:solidFill>
            <a:srgbClr val="FF4F59"/>
          </a:solidFill>
          <a:ln>
            <a:noFill/>
          </a:ln>
        </p:spPr>
      </p:sp>
      <p:sp>
        <p:nvSpPr>
          <p:cNvPr id="17" name="shape 17"/>
          <p:cNvSpPr/>
          <p:nvPr/>
        </p:nvSpPr>
        <p:spPr>
          <a:xfrm>
            <a:off x="4529667" y="2413000"/>
            <a:ext cx="292100" cy="342900"/>
          </a:xfrm>
          <a:prstGeom prst="rect">
            <a:avLst/>
          </a:prstGeom>
          <a:noFill/>
          <a:ln w="12700">
            <a:solidFill>
              <a:srgbClr val="FF4F59"/>
            </a:solidFill>
          </a:ln>
        </p:spPr>
      </p:sp>
      <p:cxnSp>
        <p:nvCxnSpPr>
          <p:cNvPr id="18" name="connector 18"/>
          <p:cNvCxnSpPr/>
          <p:nvPr/>
        </p:nvCxnSpPr>
        <p:spPr>
          <a:xfrm>
            <a:off x="4593167"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9" name="connector 19"/>
          <p:cNvCxnSpPr/>
          <p:nvPr/>
        </p:nvCxnSpPr>
        <p:spPr>
          <a:xfrm>
            <a:off x="4593167"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0" name="connector 20"/>
          <p:cNvCxnSpPr/>
          <p:nvPr/>
        </p:nvCxnSpPr>
        <p:spPr>
          <a:xfrm>
            <a:off x="4593167"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1" name="text 21"/>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Review conclusions</a:t>
            </a:r>
            <a:endParaRPr lang="en-US" sz="1900"/>
          </a:p>
        </p:txBody>
      </p:sp>
      <p:sp>
        <p:nvSpPr>
          <p:cNvPr id="22" name="text 22"/>
          <p:cNvSpPr/>
          <p:nvPr/>
        </p:nvSpPr>
        <p:spPr>
          <a:xfrm>
            <a:off x="4516967"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Agreement, review</a:t>
            </a:r>
            <a:endParaRPr lang="en-US" sz="1700"/>
          </a:p>
          <a:p>
            <a:pPr algn="l">
              <a:lnSpc>
                <a:spcPts val="1938"/>
              </a:lnSpc>
              <a:spcAft>
                <a:spcPts val="0"/>
              </a:spcAft>
            </a:pPr>
            <a:r>
              <a:rPr lang="en-US" sz="1700" b="0" dirty="0">
                <a:solidFill>
                  <a:srgbClr val="181C23"/>
                </a:solidFill>
                <a:latin typeface="Funnel Sans"/>
              </a:rPr>
              <a:t>recommended, weak/no</a:t>
            </a:r>
            <a:endParaRPr lang="en-US" sz="1700"/>
          </a:p>
          <a:p>
            <a:pPr algn="l">
              <a:lnSpc>
                <a:spcPts val="1938"/>
              </a:lnSpc>
              <a:spcAft>
                <a:spcPts val="0"/>
              </a:spcAft>
            </a:pPr>
            <a:r>
              <a:rPr lang="en-US" sz="1700" b="0" dirty="0">
                <a:solidFill>
                  <a:srgbClr val="181C23"/>
                </a:solidFill>
                <a:latin typeface="Funnel Sans"/>
              </a:rPr>
              <a:t>relationship, conflicting</a:t>
            </a:r>
            <a:endParaRPr lang="en-US" sz="1700"/>
          </a:p>
          <a:p>
            <a:pPr algn="l">
              <a:lnSpc>
                <a:spcPts val="1938"/>
              </a:lnSpc>
              <a:spcAft>
                <a:spcPts val="0"/>
              </a:spcAft>
            </a:pPr>
            <a:r>
              <a:rPr lang="en-US" sz="1700" b="0" dirty="0">
                <a:solidFill>
                  <a:srgbClr val="181C23"/>
                </a:solidFill>
                <a:latin typeface="Funnel Sans"/>
              </a:rPr>
              <a:t>evidence or insufficient data.</a:t>
            </a:r>
            <a:endParaRPr lang="en-US" sz="1700"/>
          </a:p>
        </p:txBody>
      </p:sp>
      <p:sp>
        <p:nvSpPr>
          <p:cNvPr id="23" name="shape 23"/>
          <p:cNvSpPr/>
          <p:nvPr/>
        </p:nvSpPr>
        <p:spPr>
          <a:xfrm>
            <a:off x="8094133" y="2222500"/>
            <a:ext cx="3589867" cy="3238500"/>
          </a:xfrm>
          <a:prstGeom prst="rect">
            <a:avLst/>
          </a:prstGeom>
          <a:solidFill>
            <a:srgbClr val="FFFFFF"/>
          </a:solidFill>
          <a:ln w="12700">
            <a:solidFill>
              <a:srgbClr val="DEDCD6"/>
            </a:solidFill>
          </a:ln>
        </p:spPr>
      </p:sp>
      <p:sp>
        <p:nvSpPr>
          <p:cNvPr id="24" name="shape 24"/>
          <p:cNvSpPr/>
          <p:nvPr/>
        </p:nvSpPr>
        <p:spPr>
          <a:xfrm>
            <a:off x="8094133" y="2222500"/>
            <a:ext cx="38100" cy="3238500"/>
          </a:xfrm>
          <a:prstGeom prst="rect">
            <a:avLst/>
          </a:prstGeom>
          <a:solidFill>
            <a:srgbClr val="FF4F59"/>
          </a:solidFill>
          <a:ln>
            <a:noFill/>
          </a:ln>
        </p:spPr>
      </p:sp>
      <p:sp>
        <p:nvSpPr>
          <p:cNvPr id="25" name="shape 25"/>
          <p:cNvSpPr/>
          <p:nvPr/>
        </p:nvSpPr>
        <p:spPr>
          <a:xfrm>
            <a:off x="8297333" y="2413000"/>
            <a:ext cx="342900" cy="342900"/>
          </a:xfrm>
          <a:prstGeom prst="ellipse">
            <a:avLst/>
          </a:prstGeom>
          <a:noFill/>
          <a:ln w="19050">
            <a:solidFill>
              <a:srgbClr val="FF4F59"/>
            </a:solidFill>
          </a:ln>
        </p:spPr>
      </p:sp>
      <p:cxnSp>
        <p:nvCxnSpPr>
          <p:cNvPr id="26" name="connector 26"/>
          <p:cNvCxnSpPr/>
          <p:nvPr/>
        </p:nvCxnSpPr>
        <p:spPr>
          <a:xfrm>
            <a:off x="8373533" y="25908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7" name="connector 27"/>
          <p:cNvCxnSpPr/>
          <p:nvPr/>
        </p:nvCxnSpPr>
        <p:spPr>
          <a:xfrm flipV="1">
            <a:off x="8437033" y="25146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Governed evidence</a:t>
            </a:r>
            <a:endParaRPr lang="en-US" sz="1900"/>
          </a:p>
        </p:txBody>
      </p:sp>
      <p:sp>
        <p:nvSpPr>
          <p:cNvPr id="29" name="text 29"/>
          <p:cNvSpPr/>
          <p:nvPr/>
        </p:nvSpPr>
        <p:spPr>
          <a:xfrm>
            <a:off x="8310033"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Feature-level</a:t>
            </a:r>
            <a:endParaRPr lang="en-US" sz="1700"/>
          </a:p>
          <a:p>
            <a:pPr algn="l">
              <a:lnSpc>
                <a:spcPts val="1938"/>
              </a:lnSpc>
              <a:spcAft>
                <a:spcPts val="0"/>
              </a:spcAft>
            </a:pPr>
            <a:r>
              <a:rPr lang="en-US" sz="1700" b="0" dirty="0">
                <a:solidFill>
                  <a:srgbClr val="181C23"/>
                </a:solidFill>
                <a:latin typeface="Funnel Sans"/>
              </a:rPr>
              <a:t>directionality_evidence and</a:t>
            </a:r>
            <a:endParaRPr lang="en-US" sz="1700"/>
          </a:p>
          <a:p>
            <a:pPr algn="l">
              <a:lnSpc>
                <a:spcPts val="1938"/>
              </a:lnSpc>
              <a:spcAft>
                <a:spcPts val="0"/>
              </a:spcAft>
            </a:pPr>
            <a:r>
              <a:rPr lang="en-US" sz="1700" b="0" dirty="0">
                <a:solidFill>
                  <a:srgbClr val="181C23"/>
                </a:solidFill>
                <a:latin typeface="Funnel Sans"/>
              </a:rPr>
              <a:t>run-level directionality_report;</a:t>
            </a:r>
            <a:endParaRPr lang="en-US" sz="1700"/>
          </a:p>
          <a:p>
            <a:pPr algn="l">
              <a:lnSpc>
                <a:spcPts val="1938"/>
              </a:lnSpc>
              <a:spcAft>
                <a:spcPts val="0"/>
              </a:spcAft>
            </a:pPr>
            <a:r>
              <a:rPr lang="en-US" sz="1700" b="0" dirty="0">
                <a:solidFill>
                  <a:srgbClr val="181C23"/>
                </a:solidFill>
                <a:latin typeface="Funnel Sans"/>
              </a:rPr>
              <a:t>charts and JSON evidence.</a:t>
            </a:r>
            <a:endParaRPr lang="en-US" sz="1700"/>
          </a:p>
        </p:txBody>
      </p:sp>
      <p:sp>
        <p:nvSpPr>
          <p:cNvPr id="30" name="shape 30"/>
          <p:cNvSpPr/>
          <p:nvPr/>
        </p:nvSpPr>
        <p:spPr>
          <a:xfrm>
            <a:off x="508000" y="5651500"/>
            <a:ext cx="11176000" cy="546100"/>
          </a:xfrm>
          <a:prstGeom prst="rect">
            <a:avLst/>
          </a:prstGeom>
          <a:solidFill>
            <a:srgbClr val="282A27"/>
          </a:solidFill>
          <a:ln>
            <a:noFill/>
          </a:ln>
        </p:spPr>
      </p:sp>
      <p:sp>
        <p:nvSpPr>
          <p:cNvPr id="31" name="text 31"/>
          <p:cNvSpPr/>
          <p:nvPr/>
        </p:nvSpPr>
        <p:spPr>
          <a:xfrm>
            <a:off x="698500" y="57912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Pearson correlation is displayed for context; it does not vote in the direction class.</a:t>
            </a:r>
            <a:endParaRPr lang="en-US" sz="1600"/>
          </a:p>
        </p:txBody>
      </p:sp>
      <p:cxnSp>
        <p:nvCxnSpPr>
          <p:cNvPr id="32" name="connector 3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text 3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4" name="text 3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49 / 87</a:t>
            </a:r>
            <a:endParaRPr lang="en-US" sz="10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T2-D11 • D / LAUNCH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Confirm the scope, launch once and review final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Directional / monotonic consistency</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2052320" cy="2311400"/>
          </a:xfrm>
          <a:prstGeom prst="rect">
            <a:avLst/>
          </a:prstGeom>
          <a:solidFill>
            <a:srgbClr val="FFF2DF"/>
          </a:solidFill>
          <a:ln w="12700">
            <a:solidFill>
              <a:srgbClr val="DEDCD6"/>
            </a:solidFill>
          </a:ln>
        </p:spPr>
      </p:sp>
      <p:sp>
        <p:nvSpPr>
          <p:cNvPr id="9" name="text 9"/>
          <p:cNvSpPr/>
          <p:nvPr/>
        </p:nvSpPr>
        <p:spPr>
          <a:xfrm>
            <a:off x="67310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0" name="text 10"/>
          <p:cNvSpPr/>
          <p:nvPr/>
        </p:nvSpPr>
        <p:spPr>
          <a:xfrm>
            <a:off x="67310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Resume or</a:t>
            </a:r>
            <a:endParaRPr lang="en-US" sz="1800"/>
          </a:p>
          <a:p>
            <a:pPr algn="l">
              <a:lnSpc>
                <a:spcPts val="2052"/>
              </a:lnSpc>
              <a:spcAft>
                <a:spcPts val="0"/>
              </a:spcAft>
            </a:pPr>
            <a:r>
              <a:rPr lang="en-US" sz="1800" b="1" dirty="0">
                <a:solidFill>
                  <a:srgbClr val="181C23"/>
                </a:solidFill>
                <a:latin typeface="Funnel Sans"/>
              </a:rPr>
              <a:t>create</a:t>
            </a:r>
            <a:endParaRPr lang="en-US" sz="1800"/>
          </a:p>
        </p:txBody>
      </p:sp>
      <p:sp>
        <p:nvSpPr>
          <p:cNvPr id="11" name="text 11"/>
          <p:cNvSpPr/>
          <p:nvPr/>
        </p:nvSpPr>
        <p:spPr>
          <a:xfrm>
            <a:off x="67310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Restore a</a:t>
            </a:r>
            <a:endParaRPr lang="en-US" sz="1450"/>
          </a:p>
          <a:p>
            <a:pPr algn="l">
              <a:lnSpc>
                <a:spcPts val="1653"/>
              </a:lnSpc>
              <a:spcAft>
                <a:spcPts val="0"/>
              </a:spcAft>
            </a:pPr>
            <a:r>
              <a:rPr lang="en-US" sz="1450" b="0" dirty="0">
                <a:solidFill>
                  <a:srgbClr val="181C23"/>
                </a:solidFill>
                <a:latin typeface="Funnel Sans"/>
              </a:rPr>
              <a:t>compatible working</a:t>
            </a:r>
            <a:endParaRPr lang="en-US" sz="1450"/>
          </a:p>
          <a:p>
            <a:pPr algn="l">
              <a:lnSpc>
                <a:spcPts val="1653"/>
              </a:lnSpc>
              <a:spcAft>
                <a:spcPts val="0"/>
              </a:spcAft>
            </a:pPr>
            <a:r>
              <a:rPr lang="en-US" sz="1450" b="0" dirty="0">
                <a:solidFill>
                  <a:srgbClr val="181C23"/>
                </a:solidFill>
                <a:latin typeface="Funnel Sans"/>
              </a:rPr>
              <a:t>draft</a:t>
            </a:r>
            <a:endParaRPr lang="en-US" sz="1450"/>
          </a:p>
        </p:txBody>
      </p:sp>
      <p:cxnSp>
        <p:nvCxnSpPr>
          <p:cNvPr id="12" name="connector 12"/>
          <p:cNvCxnSpPr/>
          <p:nvPr/>
        </p:nvCxnSpPr>
        <p:spPr>
          <a:xfrm>
            <a:off x="258572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2788920" y="2247900"/>
            <a:ext cx="2052320" cy="2311400"/>
          </a:xfrm>
          <a:prstGeom prst="rect">
            <a:avLst/>
          </a:prstGeom>
          <a:solidFill>
            <a:srgbClr val="FFF2DF"/>
          </a:solidFill>
          <a:ln w="12700">
            <a:solidFill>
              <a:srgbClr val="DEDCD6"/>
            </a:solidFill>
          </a:ln>
        </p:spPr>
      </p:sp>
      <p:sp>
        <p:nvSpPr>
          <p:cNvPr id="14" name="text 14"/>
          <p:cNvSpPr/>
          <p:nvPr/>
        </p:nvSpPr>
        <p:spPr>
          <a:xfrm>
            <a:off x="295402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5" name="text 15"/>
          <p:cNvSpPr/>
          <p:nvPr/>
        </p:nvSpPr>
        <p:spPr>
          <a:xfrm>
            <a:off x="295402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Confirm</a:t>
            </a:r>
            <a:endParaRPr lang="en-US" sz="1800"/>
          </a:p>
          <a:p>
            <a:pPr algn="l">
              <a:lnSpc>
                <a:spcPts val="2052"/>
              </a:lnSpc>
              <a:spcAft>
                <a:spcPts val="0"/>
              </a:spcAft>
            </a:pPr>
            <a:r>
              <a:rPr lang="en-US" sz="1800" b="1" dirty="0">
                <a:solidFill>
                  <a:srgbClr val="181C23"/>
                </a:solidFill>
                <a:latin typeface="Funnel Sans"/>
              </a:rPr>
              <a:t>reference</a:t>
            </a:r>
            <a:endParaRPr lang="en-US" sz="1800"/>
          </a:p>
        </p:txBody>
      </p:sp>
      <p:sp>
        <p:nvSpPr>
          <p:cNvPr id="16" name="text 16"/>
          <p:cNvSpPr/>
          <p:nvPr/>
        </p:nvSpPr>
        <p:spPr>
          <a:xfrm>
            <a:off x="295402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Set type, event</a:t>
            </a:r>
            <a:endParaRPr lang="en-US" sz="1450"/>
          </a:p>
          <a:p>
            <a:pPr algn="l">
              <a:lnSpc>
                <a:spcPts val="1653"/>
              </a:lnSpc>
              <a:spcAft>
                <a:spcPts val="0"/>
              </a:spcAft>
            </a:pPr>
            <a:r>
              <a:rPr lang="en-US" sz="1450" b="0" dirty="0">
                <a:solidFill>
                  <a:srgbClr val="181C23"/>
                </a:solidFill>
                <a:latin typeface="Funnel Sans"/>
              </a:rPr>
              <a:t>class and</a:t>
            </a:r>
            <a:endParaRPr lang="en-US" sz="1450"/>
          </a:p>
          <a:p>
            <a:pPr algn="l">
              <a:lnSpc>
                <a:spcPts val="1653"/>
              </a:lnSpc>
              <a:spcAft>
                <a:spcPts val="0"/>
              </a:spcAft>
            </a:pPr>
            <a:r>
              <a:rPr lang="en-US" sz="1450" b="0" dirty="0">
                <a:solidFill>
                  <a:srgbClr val="181C23"/>
                </a:solidFill>
                <a:latin typeface="Funnel Sans"/>
              </a:rPr>
              <a:t>orientation</a:t>
            </a:r>
            <a:endParaRPr lang="en-US" sz="1450"/>
          </a:p>
        </p:txBody>
      </p:sp>
      <p:cxnSp>
        <p:nvCxnSpPr>
          <p:cNvPr id="17" name="connector 17"/>
          <p:cNvCxnSpPr/>
          <p:nvPr/>
        </p:nvCxnSpPr>
        <p:spPr>
          <a:xfrm>
            <a:off x="486664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69840" y="2247900"/>
            <a:ext cx="2052320" cy="2311400"/>
          </a:xfrm>
          <a:prstGeom prst="rect">
            <a:avLst/>
          </a:prstGeom>
          <a:solidFill>
            <a:srgbClr val="FFF2DF"/>
          </a:solidFill>
          <a:ln w="12700">
            <a:solidFill>
              <a:srgbClr val="DEDCD6"/>
            </a:solidFill>
          </a:ln>
        </p:spPr>
      </p:sp>
      <p:sp>
        <p:nvSpPr>
          <p:cNvPr id="19" name="text 19"/>
          <p:cNvSpPr/>
          <p:nvPr/>
        </p:nvSpPr>
        <p:spPr>
          <a:xfrm>
            <a:off x="523494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0" name="text 20"/>
          <p:cNvSpPr/>
          <p:nvPr/>
        </p:nvSpPr>
        <p:spPr>
          <a:xfrm>
            <a:off x="523494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Select features</a:t>
            </a:r>
            <a:endParaRPr lang="en-US" sz="1800"/>
          </a:p>
        </p:txBody>
      </p:sp>
      <p:sp>
        <p:nvSpPr>
          <p:cNvPr id="21" name="text 21"/>
          <p:cNvSpPr/>
          <p:nvPr/>
        </p:nvSpPr>
        <p:spPr>
          <a:xfrm>
            <a:off x="523494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Resolve each</a:t>
            </a:r>
            <a:endParaRPr lang="en-US" sz="1450"/>
          </a:p>
          <a:p>
            <a:pPr algn="l">
              <a:lnSpc>
                <a:spcPts val="1653"/>
              </a:lnSpc>
              <a:spcAft>
                <a:spcPts val="0"/>
              </a:spcAft>
            </a:pPr>
            <a:r>
              <a:rPr lang="en-US" sz="1450" b="0" dirty="0">
                <a:solidFill>
                  <a:srgbClr val="181C23"/>
                </a:solidFill>
                <a:latin typeface="Funnel Sans"/>
              </a:rPr>
              <a:t>expected direction</a:t>
            </a:r>
            <a:endParaRPr lang="en-US" sz="1450"/>
          </a:p>
        </p:txBody>
      </p:sp>
      <p:cxnSp>
        <p:nvCxnSpPr>
          <p:cNvPr id="22" name="connector 22"/>
          <p:cNvCxnSpPr/>
          <p:nvPr/>
        </p:nvCxnSpPr>
        <p:spPr>
          <a:xfrm>
            <a:off x="714756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7350760" y="2247900"/>
            <a:ext cx="2052320" cy="2311400"/>
          </a:xfrm>
          <a:prstGeom prst="rect">
            <a:avLst/>
          </a:prstGeom>
          <a:solidFill>
            <a:srgbClr val="FFF2DF"/>
          </a:solidFill>
          <a:ln w="12700">
            <a:solidFill>
              <a:srgbClr val="DEDCD6"/>
            </a:solidFill>
          </a:ln>
        </p:spPr>
      </p:sp>
      <p:sp>
        <p:nvSpPr>
          <p:cNvPr id="24" name="text 24"/>
          <p:cNvSpPr/>
          <p:nvPr/>
        </p:nvSpPr>
        <p:spPr>
          <a:xfrm>
            <a:off x="751586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5" name="text 25"/>
          <p:cNvSpPr/>
          <p:nvPr/>
        </p:nvSpPr>
        <p:spPr>
          <a:xfrm>
            <a:off x="751586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Freeze &amp; run</a:t>
            </a:r>
            <a:endParaRPr lang="en-US" sz="1800"/>
          </a:p>
        </p:txBody>
      </p:sp>
      <p:sp>
        <p:nvSpPr>
          <p:cNvPr id="26" name="text 26"/>
          <p:cNvSpPr/>
          <p:nvPr/>
        </p:nvSpPr>
        <p:spPr>
          <a:xfrm>
            <a:off x="751586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Atomic manifest</a:t>
            </a:r>
            <a:endParaRPr lang="en-US" sz="1450"/>
          </a:p>
          <a:p>
            <a:pPr algn="l">
              <a:lnSpc>
                <a:spcPts val="1653"/>
              </a:lnSpc>
              <a:spcAft>
                <a:spcPts val="0"/>
              </a:spcAft>
            </a:pPr>
            <a:r>
              <a:rPr lang="en-US" sz="1450" b="0" dirty="0">
                <a:solidFill>
                  <a:srgbClr val="181C23"/>
                </a:solidFill>
                <a:latin typeface="Funnel Sans"/>
              </a:rPr>
              <a:t>and optional</a:t>
            </a:r>
            <a:endParaRPr lang="en-US" sz="1450"/>
          </a:p>
          <a:p>
            <a:pPr algn="l">
              <a:lnSpc>
                <a:spcPts val="1653"/>
              </a:lnSpc>
              <a:spcAft>
                <a:spcPts val="0"/>
              </a:spcAft>
            </a:pPr>
            <a:r>
              <a:rPr lang="en-US" sz="1450" b="0" dirty="0">
                <a:solidFill>
                  <a:srgbClr val="181C23"/>
                </a:solidFill>
                <a:latin typeface="Funnel Sans"/>
              </a:rPr>
              <a:t>proposal</a:t>
            </a:r>
            <a:endParaRPr lang="en-US" sz="1450"/>
          </a:p>
        </p:txBody>
      </p:sp>
      <p:cxnSp>
        <p:nvCxnSpPr>
          <p:cNvPr id="27" name="connector 27"/>
          <p:cNvCxnSpPr/>
          <p:nvPr/>
        </p:nvCxnSpPr>
        <p:spPr>
          <a:xfrm>
            <a:off x="942848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9631680" y="2247900"/>
            <a:ext cx="2052320" cy="2311400"/>
          </a:xfrm>
          <a:prstGeom prst="rect">
            <a:avLst/>
          </a:prstGeom>
          <a:solidFill>
            <a:srgbClr val="FFF2DF"/>
          </a:solidFill>
          <a:ln w="12700">
            <a:solidFill>
              <a:srgbClr val="DEDCD6"/>
            </a:solidFill>
          </a:ln>
        </p:spPr>
      </p:sp>
      <p:sp>
        <p:nvSpPr>
          <p:cNvPr id="29" name="text 29"/>
          <p:cNvSpPr/>
          <p:nvPr/>
        </p:nvSpPr>
        <p:spPr>
          <a:xfrm>
            <a:off x="979678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0" name="text 30"/>
          <p:cNvSpPr/>
          <p:nvPr/>
        </p:nvSpPr>
        <p:spPr>
          <a:xfrm>
            <a:off x="979678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a:t>
            </a:r>
            <a:endParaRPr lang="en-US" sz="1800"/>
          </a:p>
          <a:p>
            <a:pPr algn="l">
              <a:lnSpc>
                <a:spcPts val="2052"/>
              </a:lnSpc>
              <a:spcAft>
                <a:spcPts val="0"/>
              </a:spcAft>
            </a:pPr>
            <a:r>
              <a:rPr lang="en-US" sz="1800" b="1" dirty="0">
                <a:solidFill>
                  <a:srgbClr val="181C23"/>
                </a:solidFill>
                <a:latin typeface="Funnel Sans"/>
              </a:rPr>
              <a:t>evidence</a:t>
            </a:r>
            <a:endParaRPr lang="en-US" sz="1800"/>
          </a:p>
        </p:txBody>
      </p:sp>
      <p:sp>
        <p:nvSpPr>
          <p:cNvPr id="31" name="text 31"/>
          <p:cNvSpPr/>
          <p:nvPr/>
        </p:nvSpPr>
        <p:spPr>
          <a:xfrm>
            <a:off x="979678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Overall first;</a:t>
            </a:r>
            <a:endParaRPr lang="en-US" sz="1450"/>
          </a:p>
          <a:p>
            <a:pPr algn="l">
              <a:lnSpc>
                <a:spcPts val="1653"/>
              </a:lnSpc>
              <a:spcAft>
                <a:spcPts val="0"/>
              </a:spcAft>
            </a:pPr>
            <a:r>
              <a:rPr lang="en-US" sz="1450" b="0" dirty="0">
                <a:solidFill>
                  <a:srgbClr val="181C23"/>
                </a:solidFill>
                <a:latin typeface="Funnel Sans"/>
              </a:rPr>
              <a:t>optional later</a:t>
            </a:r>
            <a:endParaRPr lang="en-US" sz="1450"/>
          </a:p>
          <a:p>
            <a:pPr algn="l">
              <a:lnSpc>
                <a:spcPts val="1653"/>
              </a:lnSpc>
              <a:spcAft>
                <a:spcPts val="0"/>
              </a:spcAft>
            </a:pPr>
            <a:r>
              <a:rPr lang="en-US" sz="1450" b="0" dirty="0">
                <a:solidFill>
                  <a:srgbClr val="181C23"/>
                </a:solidFill>
                <a:latin typeface="Funnel Sans"/>
              </a:rPr>
              <a:t>segment</a:t>
            </a:r>
            <a:endParaRPr lang="en-US" sz="1450"/>
          </a:p>
        </p:txBody>
      </p:sp>
      <p:sp>
        <p:nvSpPr>
          <p:cNvPr id="32" name="shape 32"/>
          <p:cNvSpPr/>
          <p:nvPr/>
        </p:nvSpPr>
        <p:spPr>
          <a:xfrm>
            <a:off x="508000" y="4762500"/>
            <a:ext cx="5486400" cy="1346200"/>
          </a:xfrm>
          <a:prstGeom prst="rect">
            <a:avLst/>
          </a:prstGeom>
          <a:solidFill>
            <a:srgbClr val="FFFFFF"/>
          </a:solidFill>
          <a:ln w="12700">
            <a:solidFill>
              <a:srgbClr val="DEDCD6"/>
            </a:solidFill>
          </a:ln>
        </p:spPr>
      </p:sp>
      <p:sp>
        <p:nvSpPr>
          <p:cNvPr id="33" name="shape 33"/>
          <p:cNvSpPr/>
          <p:nvPr/>
        </p:nvSpPr>
        <p:spPr>
          <a:xfrm>
            <a:off x="508000" y="4762500"/>
            <a:ext cx="38100" cy="1346200"/>
          </a:xfrm>
          <a:prstGeom prst="rect">
            <a:avLst/>
          </a:prstGeom>
          <a:solidFill>
            <a:srgbClr val="FF4F59"/>
          </a:solidFill>
          <a:ln>
            <a:noFill/>
          </a:ln>
        </p:spPr>
      </p:sp>
      <p:sp>
        <p:nvSpPr>
          <p:cNvPr id="34" name="text 34"/>
          <p:cNvSpPr/>
          <p:nvPr/>
        </p:nvSpPr>
        <p:spPr>
          <a:xfrm>
            <a:off x="6985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Success / completion</a:t>
            </a:r>
            <a:endParaRPr lang="en-US" sz="1600"/>
          </a:p>
        </p:txBody>
      </p:sp>
      <p:sp>
        <p:nvSpPr>
          <p:cNvPr id="35" name="text 35"/>
          <p:cNvSpPr/>
          <p:nvPr/>
        </p:nvSpPr>
        <p:spPr>
          <a:xfrm>
            <a:off x="6985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Retained confirmations can be reused on compatible reruns; new</a:t>
            </a:r>
            <a:endParaRPr lang="en-US" sz="1250"/>
          </a:p>
          <a:p>
            <a:pPr algn="l">
              <a:lnSpc>
                <a:spcPts val="1425"/>
              </a:lnSpc>
              <a:spcAft>
                <a:spcPts val="0"/>
              </a:spcAft>
            </a:pPr>
            <a:r>
              <a:rPr lang="en-US" sz="1250" b="0" dirty="0">
                <a:solidFill>
                  <a:srgbClr val="6D706B"/>
                </a:solidFill>
                <a:latin typeface="Funnel Sans"/>
              </a:rPr>
              <a:t>overall/segment evidence is computed.</a:t>
            </a:r>
            <a:endParaRPr lang="en-US" sz="1250"/>
          </a:p>
        </p:txBody>
      </p:sp>
      <p:sp>
        <p:nvSpPr>
          <p:cNvPr id="36" name="shape 36"/>
          <p:cNvSpPr/>
          <p:nvPr/>
        </p:nvSpPr>
        <p:spPr>
          <a:xfrm>
            <a:off x="6197600" y="4762500"/>
            <a:ext cx="5486400" cy="1346200"/>
          </a:xfrm>
          <a:prstGeom prst="rect">
            <a:avLst/>
          </a:prstGeom>
          <a:solidFill>
            <a:srgbClr val="FFFFFF"/>
          </a:solidFill>
          <a:ln w="12700">
            <a:solidFill>
              <a:srgbClr val="DEDCD6"/>
            </a:solidFill>
          </a:ln>
        </p:spPr>
      </p:sp>
      <p:sp>
        <p:nvSpPr>
          <p:cNvPr id="37" name="shape 37"/>
          <p:cNvSpPr/>
          <p:nvPr/>
        </p:nvSpPr>
        <p:spPr>
          <a:xfrm>
            <a:off x="6197600" y="4762500"/>
            <a:ext cx="38100" cy="1346200"/>
          </a:xfrm>
          <a:prstGeom prst="rect">
            <a:avLst/>
          </a:prstGeom>
          <a:solidFill>
            <a:srgbClr val="FF4F59"/>
          </a:solidFill>
          <a:ln>
            <a:noFill/>
          </a:ln>
        </p:spPr>
      </p:sp>
      <p:sp>
        <p:nvSpPr>
          <p:cNvPr id="38" name="text 38"/>
          <p:cNvSpPr/>
          <p:nvPr/>
        </p:nvSpPr>
        <p:spPr>
          <a:xfrm>
            <a:off x="63881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Failure / blocked scope</a:t>
            </a:r>
            <a:endParaRPr lang="en-US" sz="1600"/>
          </a:p>
        </p:txBody>
      </p:sp>
      <p:sp>
        <p:nvSpPr>
          <p:cNvPr id="39" name="text 39"/>
          <p:cNvSpPr/>
          <p:nvPr/>
        </p:nvSpPr>
        <p:spPr>
          <a:xfrm>
            <a:off x="63881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Unresolved scope blocks freeze; atomic freeze failure leaves the</a:t>
            </a:r>
            <a:endParaRPr lang="en-US" sz="1250"/>
          </a:p>
          <a:p>
            <a:pPr algn="l">
              <a:lnSpc>
                <a:spcPts val="1425"/>
              </a:lnSpc>
              <a:spcAft>
                <a:spcPts val="0"/>
              </a:spcAft>
            </a:pPr>
            <a:r>
              <a:rPr lang="en-US" sz="1250" b="0" dirty="0">
                <a:solidFill>
                  <a:srgbClr val="6D706B"/>
                </a:solidFill>
                <a:latin typeface="Funnel Sans"/>
              </a:rPr>
              <a:t>draft. Feature failures remain explicit.</a:t>
            </a:r>
            <a:endParaRPr lang="en-US" sz="1250"/>
          </a:p>
        </p:txBody>
      </p:sp>
      <p:cxnSp>
        <p:nvCxnSpPr>
          <p:cNvPr id="40" name="connector 4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text 4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2" name="text 4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50 / 87</a:t>
            </a:r>
            <a:endParaRPr lang="en-US" sz="10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T2-D11 • E / ISSUE &amp; RCA</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Carry the finding into a controlled investigation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Directional / monotonic consistency</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197100"/>
            <a:ext cx="2235200" cy="457200"/>
          </a:xfrm>
          <a:prstGeom prst="rect">
            <a:avLst/>
          </a:prstGeom>
          <a:solidFill>
            <a:srgbClr val="282A27"/>
          </a:solidFill>
          <a:ln>
            <a:noFill/>
          </a:ln>
        </p:spPr>
      </p:sp>
      <p:sp>
        <p:nvSpPr>
          <p:cNvPr id="9" name="text 9"/>
          <p:cNvSpPr/>
          <p:nvPr/>
        </p:nvSpPr>
        <p:spPr>
          <a:xfrm>
            <a:off x="635000" y="2311400"/>
            <a:ext cx="19812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Step</a:t>
            </a:r>
            <a:endParaRPr lang="en-US" sz="1200"/>
          </a:p>
        </p:txBody>
      </p:sp>
      <p:sp>
        <p:nvSpPr>
          <p:cNvPr id="10" name="shape 10"/>
          <p:cNvSpPr/>
          <p:nvPr/>
        </p:nvSpPr>
        <p:spPr>
          <a:xfrm>
            <a:off x="2743200" y="2197100"/>
            <a:ext cx="8940800" cy="457200"/>
          </a:xfrm>
          <a:prstGeom prst="rect">
            <a:avLst/>
          </a:prstGeom>
          <a:solidFill>
            <a:srgbClr val="282A27"/>
          </a:solidFill>
          <a:ln>
            <a:noFill/>
          </a:ln>
        </p:spPr>
      </p:sp>
      <p:sp>
        <p:nvSpPr>
          <p:cNvPr id="11" name="text 11"/>
          <p:cNvSpPr/>
          <p:nvPr/>
        </p:nvSpPr>
        <p:spPr>
          <a:xfrm>
            <a:off x="2870200" y="2311400"/>
            <a:ext cx="8686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Implemented behavior / proposed follow-up</a:t>
            </a:r>
            <a:endParaRPr lang="en-US" sz="1200"/>
          </a:p>
        </p:txBody>
      </p:sp>
      <p:sp>
        <p:nvSpPr>
          <p:cNvPr id="12" name="shape 12"/>
          <p:cNvSpPr/>
          <p:nvPr/>
        </p:nvSpPr>
        <p:spPr>
          <a:xfrm>
            <a:off x="508000" y="2654300"/>
            <a:ext cx="2235200" cy="604520"/>
          </a:xfrm>
          <a:prstGeom prst="rect">
            <a:avLst/>
          </a:prstGeom>
          <a:solidFill>
            <a:srgbClr val="FFFFFF"/>
          </a:solidFill>
          <a:ln>
            <a:noFill/>
          </a:ln>
        </p:spPr>
      </p:sp>
      <p:sp>
        <p:nvSpPr>
          <p:cNvPr id="13" name="text 13"/>
          <p:cNvSpPr/>
          <p:nvPr/>
        </p:nvSpPr>
        <p:spPr>
          <a:xfrm>
            <a:off x="635000" y="270510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Finding</a:t>
            </a:r>
            <a:endParaRPr lang="en-US" sz="1700"/>
          </a:p>
        </p:txBody>
      </p:sp>
      <p:cxnSp>
        <p:nvCxnSpPr>
          <p:cNvPr id="14" name="connector 14"/>
          <p:cNvCxnSpPr/>
          <p:nvPr/>
        </p:nvCxnSpPr>
        <p:spPr>
          <a:xfrm>
            <a:off x="508000" y="325882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43200" y="2654300"/>
            <a:ext cx="8940800" cy="604520"/>
          </a:xfrm>
          <a:prstGeom prst="rect">
            <a:avLst/>
          </a:prstGeom>
          <a:solidFill>
            <a:srgbClr val="FFFFFF"/>
          </a:solidFill>
          <a:ln>
            <a:noFill/>
          </a:ln>
        </p:spPr>
      </p:sp>
      <p:sp>
        <p:nvSpPr>
          <p:cNvPr id="16" name="text 16"/>
          <p:cNvSpPr/>
          <p:nvPr/>
        </p:nvSpPr>
        <p:spPr>
          <a:xfrm>
            <a:off x="2870200" y="270510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REVIEW_RECOMMENDED, CONFLICTING_EVIDENCE or WEAK_OR_NO_RELATIONSHIP</a:t>
            </a:r>
            <a:endParaRPr lang="en-US" sz="1650"/>
          </a:p>
          <a:p>
            <a:pPr algn="l">
              <a:lnSpc>
                <a:spcPts val="1881"/>
              </a:lnSpc>
              <a:spcAft>
                <a:spcPts val="0"/>
              </a:spcAft>
            </a:pPr>
            <a:r>
              <a:rPr lang="en-US" sz="1650" b="0" dirty="0">
                <a:solidFill>
                  <a:srgbClr val="181C23"/>
                </a:solidFill>
                <a:latin typeface="Funnel Sans"/>
              </a:rPr>
              <a:t>creates contextual review findings.</a:t>
            </a:r>
            <a:endParaRPr lang="en-US" sz="1650"/>
          </a:p>
        </p:txBody>
      </p:sp>
      <p:cxnSp>
        <p:nvCxnSpPr>
          <p:cNvPr id="17" name="connector 17"/>
          <p:cNvCxnSpPr/>
          <p:nvPr/>
        </p:nvCxnSpPr>
        <p:spPr>
          <a:xfrm>
            <a:off x="2743200" y="325882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8000" y="3258820"/>
            <a:ext cx="2235200" cy="604520"/>
          </a:xfrm>
          <a:prstGeom prst="rect">
            <a:avLst/>
          </a:prstGeom>
          <a:solidFill>
            <a:srgbClr val="EFEEE9"/>
          </a:solidFill>
          <a:ln>
            <a:noFill/>
          </a:ln>
        </p:spPr>
      </p:sp>
      <p:sp>
        <p:nvSpPr>
          <p:cNvPr id="19" name="text 19"/>
          <p:cNvSpPr/>
          <p:nvPr/>
        </p:nvSpPr>
        <p:spPr>
          <a:xfrm>
            <a:off x="635000" y="330962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Issue gate</a:t>
            </a:r>
            <a:endParaRPr lang="en-US" sz="1700"/>
          </a:p>
        </p:txBody>
      </p:sp>
      <p:cxnSp>
        <p:nvCxnSpPr>
          <p:cNvPr id="20" name="connector 20"/>
          <p:cNvCxnSpPr/>
          <p:nvPr/>
        </p:nvCxnSpPr>
        <p:spPr>
          <a:xfrm>
            <a:off x="508000" y="386334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2743200" y="3258820"/>
            <a:ext cx="8940800" cy="604520"/>
          </a:xfrm>
          <a:prstGeom prst="rect">
            <a:avLst/>
          </a:prstGeom>
          <a:solidFill>
            <a:srgbClr val="EFEEE9"/>
          </a:solidFill>
          <a:ln>
            <a:noFill/>
          </a:ln>
        </p:spPr>
      </p:sp>
      <p:sp>
        <p:nvSpPr>
          <p:cNvPr id="22" name="text 22"/>
          <p:cNvSpPr/>
          <p:nvPr/>
        </p:nvSpPr>
        <p:spPr>
          <a:xfrm>
            <a:off x="2870200" y="3309620"/>
            <a:ext cx="8686800" cy="50292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An SME promotes or dismisses with rationale; observed evidence remains immutable.</a:t>
            </a:r>
            <a:endParaRPr lang="en-US" sz="1700"/>
          </a:p>
        </p:txBody>
      </p:sp>
      <p:cxnSp>
        <p:nvCxnSpPr>
          <p:cNvPr id="23" name="connector 23"/>
          <p:cNvCxnSpPr/>
          <p:nvPr/>
        </p:nvCxnSpPr>
        <p:spPr>
          <a:xfrm>
            <a:off x="2743200" y="386334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508000" y="3863340"/>
            <a:ext cx="2235200" cy="604520"/>
          </a:xfrm>
          <a:prstGeom prst="rect">
            <a:avLst/>
          </a:prstGeom>
          <a:solidFill>
            <a:srgbClr val="FFFFFF"/>
          </a:solidFill>
          <a:ln>
            <a:noFill/>
          </a:ln>
        </p:spPr>
      </p:sp>
      <p:sp>
        <p:nvSpPr>
          <p:cNvPr id="25" name="text 25"/>
          <p:cNvSpPr/>
          <p:nvPr/>
        </p:nvSpPr>
        <p:spPr>
          <a:xfrm>
            <a:off x="635000" y="391414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RCA</a:t>
            </a:r>
            <a:endParaRPr lang="en-US" sz="1700"/>
          </a:p>
        </p:txBody>
      </p:sp>
      <p:cxnSp>
        <p:nvCxnSpPr>
          <p:cNvPr id="26" name="connector 26"/>
          <p:cNvCxnSpPr/>
          <p:nvPr/>
        </p:nvCxnSpPr>
        <p:spPr>
          <a:xfrm>
            <a:off x="508000" y="446786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43200" y="3863340"/>
            <a:ext cx="8940800" cy="604520"/>
          </a:xfrm>
          <a:prstGeom prst="rect">
            <a:avLst/>
          </a:prstGeom>
          <a:solidFill>
            <a:srgbClr val="FFFFFF"/>
          </a:solidFill>
          <a:ln>
            <a:noFill/>
          </a:ln>
        </p:spPr>
      </p:sp>
      <p:sp>
        <p:nvSpPr>
          <p:cNvPr id="28" name="text 28"/>
          <p:cNvSpPr/>
          <p:nvPr/>
        </p:nvSpPr>
        <p:spPr>
          <a:xfrm>
            <a:off x="2870200" y="391414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Compare expected direction, target orientation, cleaning counts, component evidence</a:t>
            </a:r>
            <a:endParaRPr lang="en-US" sz="1650"/>
          </a:p>
          <a:p>
            <a:pPr algn="l">
              <a:lnSpc>
                <a:spcPts val="1881"/>
              </a:lnSpc>
              <a:spcAft>
                <a:spcPts val="0"/>
              </a:spcAft>
            </a:pPr>
            <a:r>
              <a:rPr lang="en-US" sz="1650" b="0" dirty="0">
                <a:solidFill>
                  <a:srgbClr val="181C23"/>
                </a:solidFill>
                <a:latin typeface="Funnel Sans"/>
              </a:rPr>
              <a:t>and segment context.</a:t>
            </a:r>
            <a:endParaRPr lang="en-US" sz="1650"/>
          </a:p>
        </p:txBody>
      </p:sp>
      <p:cxnSp>
        <p:nvCxnSpPr>
          <p:cNvPr id="29" name="connector 29"/>
          <p:cNvCxnSpPr/>
          <p:nvPr/>
        </p:nvCxnSpPr>
        <p:spPr>
          <a:xfrm>
            <a:off x="2743200" y="446786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467860"/>
            <a:ext cx="2235200" cy="604520"/>
          </a:xfrm>
          <a:prstGeom prst="rect">
            <a:avLst/>
          </a:prstGeom>
          <a:solidFill>
            <a:srgbClr val="EFEEE9"/>
          </a:solidFill>
          <a:ln>
            <a:noFill/>
          </a:ln>
        </p:spPr>
      </p:sp>
      <p:sp>
        <p:nvSpPr>
          <p:cNvPr id="31" name="text 31"/>
          <p:cNvSpPr/>
          <p:nvPr/>
        </p:nvSpPr>
        <p:spPr>
          <a:xfrm>
            <a:off x="635000" y="4518660"/>
            <a:ext cx="1981200" cy="502920"/>
          </a:xfrm>
          <a:prstGeom prst="rect">
            <a:avLst/>
          </a:prstGeom>
          <a:noFill/>
          <a:ln>
            <a:noFill/>
          </a:ln>
        </p:spPr>
        <p:txBody>
          <a:bodyPr wrap="none" lIns="0" tIns="0" rIns="0" bIns="0" anchor="t">
            <a:noAutofit/>
          </a:bodyPr>
          <a:lstStyle/>
          <a:p>
            <a:pPr algn="l">
              <a:lnSpc>
                <a:spcPts val="1881"/>
              </a:lnSpc>
              <a:spcAft>
                <a:spcPts val="0"/>
              </a:spcAft>
            </a:pPr>
            <a:r>
              <a:rPr lang="en-US" sz="1650" b="1" dirty="0">
                <a:solidFill>
                  <a:srgbClr val="181C23"/>
                </a:solidFill>
                <a:latin typeface="Funnel Sans"/>
              </a:rPr>
              <a:t>Remediation /</a:t>
            </a:r>
            <a:endParaRPr lang="en-US" sz="1650"/>
          </a:p>
          <a:p>
            <a:pPr algn="l">
              <a:lnSpc>
                <a:spcPts val="1881"/>
              </a:lnSpc>
              <a:spcAft>
                <a:spcPts val="0"/>
              </a:spcAft>
            </a:pPr>
            <a:r>
              <a:rPr lang="en-US" sz="1650" b="1" dirty="0">
                <a:solidFill>
                  <a:srgbClr val="181C23"/>
                </a:solidFill>
                <a:latin typeface="Funnel Sans"/>
              </a:rPr>
              <a:t>retest</a:t>
            </a:r>
            <a:endParaRPr lang="en-US" sz="1650"/>
          </a:p>
        </p:txBody>
      </p:sp>
      <p:cxnSp>
        <p:nvCxnSpPr>
          <p:cNvPr id="32" name="connector 32"/>
          <p:cNvCxnSpPr/>
          <p:nvPr/>
        </p:nvCxnSpPr>
        <p:spPr>
          <a:xfrm>
            <a:off x="508000" y="507238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743200" y="4467860"/>
            <a:ext cx="8940800" cy="604520"/>
          </a:xfrm>
          <a:prstGeom prst="rect">
            <a:avLst/>
          </a:prstGeom>
          <a:solidFill>
            <a:srgbClr val="EFEEE9"/>
          </a:solidFill>
          <a:ln>
            <a:noFill/>
          </a:ln>
        </p:spPr>
      </p:sp>
      <p:sp>
        <p:nvSpPr>
          <p:cNvPr id="34" name="text 34"/>
          <p:cNvSpPr/>
          <p:nvPr/>
        </p:nvSpPr>
        <p:spPr>
          <a:xfrm>
            <a:off x="2870200" y="451866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Suggested: investigate mapping, population or business change; propose reviewed KB</a:t>
            </a:r>
            <a:endParaRPr lang="en-US" sz="1650"/>
          </a:p>
          <a:p>
            <a:pPr algn="l">
              <a:lnSpc>
                <a:spcPts val="1881"/>
              </a:lnSpc>
              <a:spcAft>
                <a:spcPts val="0"/>
              </a:spcAft>
            </a:pPr>
            <a:r>
              <a:rPr lang="en-US" sz="1650" b="0" dirty="0">
                <a:solidFill>
                  <a:srgbClr val="181C23"/>
                </a:solidFill>
                <a:latin typeface="Funnel Sans"/>
              </a:rPr>
              <a:t>updates where warranted.</a:t>
            </a:r>
            <a:endParaRPr lang="en-US" sz="1650"/>
          </a:p>
        </p:txBody>
      </p:sp>
      <p:cxnSp>
        <p:nvCxnSpPr>
          <p:cNvPr id="35" name="connector 35"/>
          <p:cNvCxnSpPr/>
          <p:nvPr/>
        </p:nvCxnSpPr>
        <p:spPr>
          <a:xfrm>
            <a:off x="2743200" y="507238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508000" y="5072380"/>
            <a:ext cx="2235200" cy="604520"/>
          </a:xfrm>
          <a:prstGeom prst="rect">
            <a:avLst/>
          </a:prstGeom>
          <a:solidFill>
            <a:srgbClr val="FFFFFF"/>
          </a:solidFill>
          <a:ln>
            <a:noFill/>
          </a:ln>
        </p:spPr>
      </p:sp>
      <p:sp>
        <p:nvSpPr>
          <p:cNvPr id="37" name="text 37"/>
          <p:cNvSpPr/>
          <p:nvPr/>
        </p:nvSpPr>
        <p:spPr>
          <a:xfrm>
            <a:off x="635000" y="512318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Closure</a:t>
            </a:r>
            <a:endParaRPr lang="en-US" sz="1700"/>
          </a:p>
        </p:txBody>
      </p:sp>
      <p:cxnSp>
        <p:nvCxnSpPr>
          <p:cNvPr id="38" name="connector 38"/>
          <p:cNvCxnSpPr/>
          <p:nvPr/>
        </p:nvCxnSpPr>
        <p:spPr>
          <a:xfrm>
            <a:off x="508000" y="567690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2743200" y="5072380"/>
            <a:ext cx="8940800" cy="604520"/>
          </a:xfrm>
          <a:prstGeom prst="rect">
            <a:avLst/>
          </a:prstGeom>
          <a:solidFill>
            <a:srgbClr val="FFFFFF"/>
          </a:solidFill>
          <a:ln>
            <a:noFill/>
          </a:ln>
        </p:spPr>
      </p:sp>
      <p:sp>
        <p:nvSpPr>
          <p:cNvPr id="40" name="text 40"/>
          <p:cNvSpPr/>
          <p:nvPr/>
        </p:nvSpPr>
        <p:spPr>
          <a:xfrm>
            <a:off x="2870200" y="512318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Reviewer approves root cause identified or unresolved with evidence; optional follow-up</a:t>
            </a:r>
            <a:endParaRPr lang="en-US" sz="1650"/>
          </a:p>
          <a:p>
            <a:pPr algn="l">
              <a:lnSpc>
                <a:spcPts val="1881"/>
              </a:lnSpc>
              <a:spcAft>
                <a:spcPts val="0"/>
              </a:spcAft>
            </a:pPr>
            <a:r>
              <a:rPr lang="en-US" sz="1650" b="0" dirty="0">
                <a:solidFill>
                  <a:srgbClr val="181C23"/>
                </a:solidFill>
                <a:latin typeface="Funnel Sans"/>
              </a:rPr>
              <a:t>stays separate.</a:t>
            </a:r>
            <a:endParaRPr lang="en-US" sz="1650"/>
          </a:p>
        </p:txBody>
      </p:sp>
      <p:cxnSp>
        <p:nvCxnSpPr>
          <p:cNvPr id="41" name="connector 41"/>
          <p:cNvCxnSpPr/>
          <p:nvPr/>
        </p:nvCxnSpPr>
        <p:spPr>
          <a:xfrm>
            <a:off x="2743200" y="567690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508000" y="5740400"/>
            <a:ext cx="11176000" cy="546100"/>
          </a:xfrm>
          <a:prstGeom prst="rect">
            <a:avLst/>
          </a:prstGeom>
          <a:solidFill>
            <a:srgbClr val="282A27"/>
          </a:solidFill>
          <a:ln>
            <a:noFill/>
          </a:ln>
        </p:spPr>
      </p:sp>
      <p:sp>
        <p:nvSpPr>
          <p:cNvPr id="43" name="text 4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Manual / proposed: source correction and fresh-data retest. RCA approval does not prove a fix.</a:t>
            </a:r>
            <a:endParaRPr lang="en-US" sz="1600"/>
          </a:p>
        </p:txBody>
      </p:sp>
      <p:cxnSp>
        <p:nvCxnSpPr>
          <p:cNvPr id="44" name="connector 4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text 4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6" name="text 4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51 / 87</a:t>
            </a:r>
            <a:endParaRPr lang="en-US" sz="10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T4-D14 • A / PURPOSE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Locate distribution changes between governed populations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Population Stability Index (PSI)</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3589867" cy="3073400"/>
          </a:xfrm>
          <a:prstGeom prst="rect">
            <a:avLst/>
          </a:prstGeom>
          <a:solidFill>
            <a:srgbClr val="FFFFFF"/>
          </a:solidFill>
          <a:ln w="12700">
            <a:solidFill>
              <a:srgbClr val="DEDCD6"/>
            </a:solidFill>
          </a:ln>
        </p:spPr>
      </p:sp>
      <p:sp>
        <p:nvSpPr>
          <p:cNvPr id="9" name="shape 9"/>
          <p:cNvSpPr/>
          <p:nvPr/>
        </p:nvSpPr>
        <p:spPr>
          <a:xfrm>
            <a:off x="508000" y="2247900"/>
            <a:ext cx="38100" cy="3073400"/>
          </a:xfrm>
          <a:prstGeom prst="rect">
            <a:avLst/>
          </a:prstGeom>
          <a:solidFill>
            <a:srgbClr val="FF4F59"/>
          </a:solidFill>
          <a:ln>
            <a:noFill/>
          </a:ln>
        </p:spPr>
      </p:sp>
      <p:sp>
        <p:nvSpPr>
          <p:cNvPr id="10" name="shape 10"/>
          <p:cNvSpPr/>
          <p:nvPr/>
        </p:nvSpPr>
        <p:spPr>
          <a:xfrm>
            <a:off x="711200" y="2438400"/>
            <a:ext cx="342900" cy="342900"/>
          </a:xfrm>
          <a:prstGeom prst="hexagon">
            <a:avLst/>
          </a:prstGeom>
          <a:noFill/>
          <a:ln w="21590">
            <a:solidFill>
              <a:srgbClr val="FF4F59"/>
            </a:solidFill>
          </a:ln>
        </p:spPr>
      </p:sp>
      <p:sp>
        <p:nvSpPr>
          <p:cNvPr id="11" name="text 11"/>
          <p:cNvSpPr/>
          <p:nvPr/>
        </p:nvSpPr>
        <p:spPr>
          <a:xfrm>
            <a:off x="825500"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12" name="text 12"/>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Problem</a:t>
            </a:r>
            <a:endParaRPr lang="en-US" sz="1900"/>
          </a:p>
        </p:txBody>
      </p:sp>
      <p:sp>
        <p:nvSpPr>
          <p:cNvPr id="13" name="text 13"/>
          <p:cNvSpPr/>
          <p:nvPr/>
        </p:nvSpPr>
        <p:spPr>
          <a:xfrm>
            <a:off x="723900"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 sample or later snapshot can</a:t>
            </a:r>
            <a:endParaRPr lang="en-US" sz="1700"/>
          </a:p>
          <a:p>
            <a:pPr algn="l">
              <a:lnSpc>
                <a:spcPts val="1938"/>
              </a:lnSpc>
              <a:spcAft>
                <a:spcPts val="0"/>
              </a:spcAft>
            </a:pPr>
            <a:r>
              <a:rPr lang="en-US" sz="1700" b="0" dirty="0">
                <a:solidFill>
                  <a:srgbClr val="181C23"/>
                </a:solidFill>
                <a:latin typeface="Funnel Sans"/>
              </a:rPr>
              <a:t>differ materially from its</a:t>
            </a:r>
            <a:endParaRPr lang="en-US" sz="1700"/>
          </a:p>
          <a:p>
            <a:pPr algn="l">
              <a:lnSpc>
                <a:spcPts val="1938"/>
              </a:lnSpc>
              <a:spcAft>
                <a:spcPts val="0"/>
              </a:spcAft>
            </a:pPr>
            <a:r>
              <a:rPr lang="en-US" sz="1700" b="0" dirty="0">
                <a:solidFill>
                  <a:srgbClr val="181C23"/>
                </a:solidFill>
                <a:latin typeface="Funnel Sans"/>
              </a:rPr>
              <a:t>intended baseline population.</a:t>
            </a:r>
            <a:endParaRPr lang="en-US" sz="1700"/>
          </a:p>
        </p:txBody>
      </p:sp>
      <p:sp>
        <p:nvSpPr>
          <p:cNvPr id="14" name="shape 14"/>
          <p:cNvSpPr/>
          <p:nvPr/>
        </p:nvSpPr>
        <p:spPr>
          <a:xfrm>
            <a:off x="4301067" y="2247900"/>
            <a:ext cx="3589867" cy="3073400"/>
          </a:xfrm>
          <a:prstGeom prst="rect">
            <a:avLst/>
          </a:prstGeom>
          <a:solidFill>
            <a:srgbClr val="FFFFFF"/>
          </a:solidFill>
          <a:ln w="12700">
            <a:solidFill>
              <a:srgbClr val="DEDCD6"/>
            </a:solidFill>
          </a:ln>
        </p:spPr>
      </p:sp>
      <p:sp>
        <p:nvSpPr>
          <p:cNvPr id="15" name="shape 15"/>
          <p:cNvSpPr/>
          <p:nvPr/>
        </p:nvSpPr>
        <p:spPr>
          <a:xfrm>
            <a:off x="4301067" y="2247900"/>
            <a:ext cx="38100" cy="3073400"/>
          </a:xfrm>
          <a:prstGeom prst="rect">
            <a:avLst/>
          </a:prstGeom>
          <a:solidFill>
            <a:srgbClr val="FF4F59"/>
          </a:solidFill>
          <a:ln>
            <a:noFill/>
          </a:ln>
        </p:spPr>
      </p:sp>
      <p:sp>
        <p:nvSpPr>
          <p:cNvPr id="16" name="shape 16"/>
          <p:cNvSpPr/>
          <p:nvPr/>
        </p:nvSpPr>
        <p:spPr>
          <a:xfrm>
            <a:off x="4605867" y="2438400"/>
            <a:ext cx="139700" cy="139700"/>
          </a:xfrm>
          <a:prstGeom prst="ellipse">
            <a:avLst/>
          </a:prstGeom>
          <a:noFill/>
          <a:ln w="20320">
            <a:solidFill>
              <a:srgbClr val="FF4F59"/>
            </a:solidFill>
          </a:ln>
        </p:spPr>
      </p:sp>
      <p:sp>
        <p:nvSpPr>
          <p:cNvPr id="17" name="shape 17"/>
          <p:cNvSpPr/>
          <p:nvPr/>
        </p:nvSpPr>
        <p:spPr>
          <a:xfrm>
            <a:off x="4529667" y="2616200"/>
            <a:ext cx="292100" cy="190500"/>
          </a:xfrm>
          <a:prstGeom prst="arc">
            <a:avLst/>
          </a:prstGeom>
          <a:noFill/>
          <a:ln w="20320">
            <a:solidFill>
              <a:srgbClr val="FF4F59"/>
            </a:solid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Primary users</a:t>
            </a:r>
            <a:endParaRPr lang="en-US" sz="1900"/>
          </a:p>
        </p:txBody>
      </p:sp>
      <p:sp>
        <p:nvSpPr>
          <p:cNvPr id="19" name="text 19"/>
          <p:cNvSpPr/>
          <p:nvPr/>
        </p:nvSpPr>
        <p:spPr>
          <a:xfrm>
            <a:off x="4516967"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Analytics, portfolio and model</a:t>
            </a:r>
            <a:endParaRPr lang="en-US" sz="1700"/>
          </a:p>
          <a:p>
            <a:pPr algn="l">
              <a:lnSpc>
                <a:spcPts val="1938"/>
              </a:lnSpc>
              <a:spcAft>
                <a:spcPts val="0"/>
              </a:spcAft>
            </a:pPr>
            <a:r>
              <a:rPr lang="en-US" sz="1700" b="0" dirty="0">
                <a:solidFill>
                  <a:srgbClr val="181C23"/>
                </a:solidFill>
                <a:latin typeface="Funnel Sans"/>
              </a:rPr>
              <a:t>teams reviewing</a:t>
            </a:r>
            <a:endParaRPr lang="en-US" sz="1700"/>
          </a:p>
          <a:p>
            <a:pPr algn="l">
              <a:lnSpc>
                <a:spcPts val="1938"/>
              </a:lnSpc>
              <a:spcAft>
                <a:spcPts val="0"/>
              </a:spcAft>
            </a:pPr>
            <a:r>
              <a:rPr lang="en-US" sz="1700" b="0" dirty="0">
                <a:solidFill>
                  <a:srgbClr val="181C23"/>
                </a:solidFill>
                <a:latin typeface="Funnel Sans"/>
              </a:rPr>
              <a:t>representativeness or</a:t>
            </a:r>
            <a:endParaRPr lang="en-US" sz="1700"/>
          </a:p>
          <a:p>
            <a:pPr algn="l">
              <a:lnSpc>
                <a:spcPts val="1938"/>
              </a:lnSpc>
              <a:spcAft>
                <a:spcPts val="0"/>
              </a:spcAft>
            </a:pPr>
            <a:r>
              <a:rPr lang="en-US" sz="1700" b="0" dirty="0">
                <a:solidFill>
                  <a:srgbClr val="181C23"/>
                </a:solidFill>
                <a:latin typeface="Funnel Sans"/>
              </a:rPr>
              <a:t>population shift.</a:t>
            </a:r>
            <a:endParaRPr lang="en-US" sz="1700"/>
          </a:p>
        </p:txBody>
      </p:sp>
      <p:sp>
        <p:nvSpPr>
          <p:cNvPr id="20" name="shape 20"/>
          <p:cNvSpPr/>
          <p:nvPr/>
        </p:nvSpPr>
        <p:spPr>
          <a:xfrm>
            <a:off x="8094133" y="2247900"/>
            <a:ext cx="3589867" cy="3073400"/>
          </a:xfrm>
          <a:prstGeom prst="rect">
            <a:avLst/>
          </a:prstGeom>
          <a:solidFill>
            <a:srgbClr val="FFFFFF"/>
          </a:solidFill>
          <a:ln w="12700">
            <a:solidFill>
              <a:srgbClr val="DEDCD6"/>
            </a:solidFill>
          </a:ln>
        </p:spPr>
      </p:sp>
      <p:sp>
        <p:nvSpPr>
          <p:cNvPr id="21" name="shape 21"/>
          <p:cNvSpPr/>
          <p:nvPr/>
        </p:nvSpPr>
        <p:spPr>
          <a:xfrm>
            <a:off x="8094133" y="2247900"/>
            <a:ext cx="38100" cy="3073400"/>
          </a:xfrm>
          <a:prstGeom prst="rect">
            <a:avLst/>
          </a:prstGeom>
          <a:solidFill>
            <a:srgbClr val="FF4F59"/>
          </a:solidFill>
          <a:ln>
            <a:noFill/>
          </a:ln>
        </p:spPr>
      </p:sp>
      <p:sp>
        <p:nvSpPr>
          <p:cNvPr id="22" name="shape 22"/>
          <p:cNvSpPr/>
          <p:nvPr/>
        </p:nvSpPr>
        <p:spPr>
          <a:xfrm>
            <a:off x="8297333" y="2438400"/>
            <a:ext cx="304800" cy="342900"/>
          </a:xfrm>
          <a:prstGeom prst="can">
            <a:avLst/>
          </a:prstGeom>
          <a:noFill/>
          <a:ln w="20320">
            <a:solidFill>
              <a:srgbClr val="FF4F59"/>
            </a:solidFill>
          </a:ln>
        </p:spPr>
      </p:sp>
      <p:sp>
        <p:nvSpPr>
          <p:cNvPr id="23" name="text 23"/>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When to use it</a:t>
            </a:r>
            <a:endParaRPr lang="en-US" sz="1900"/>
          </a:p>
        </p:txBody>
      </p:sp>
      <p:sp>
        <p:nvSpPr>
          <p:cNvPr id="24" name="text 24"/>
          <p:cNvSpPr/>
          <p:nvPr/>
        </p:nvSpPr>
        <p:spPr>
          <a:xfrm>
            <a:off x="8310033" y="3213100"/>
            <a:ext cx="3158067" cy="19177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One snapshot split into</a:t>
            </a:r>
            <a:endParaRPr lang="en-US" sz="1700"/>
          </a:p>
          <a:p>
            <a:pPr algn="l">
              <a:lnSpc>
                <a:spcPts val="1938"/>
              </a:lnSpc>
              <a:spcAft>
                <a:spcPts val="0"/>
              </a:spcAft>
            </a:pPr>
            <a:r>
              <a:rPr lang="en-US" sz="1700" b="0" dirty="0">
                <a:solidFill>
                  <a:srgbClr val="181C23"/>
                </a:solidFill>
                <a:latin typeface="Funnel Sans"/>
              </a:rPr>
              <a:t>Baseline/Current, or two</a:t>
            </a:r>
            <a:endParaRPr lang="en-US" sz="1700"/>
          </a:p>
          <a:p>
            <a:pPr algn="l">
              <a:lnSpc>
                <a:spcPts val="1938"/>
              </a:lnSpc>
              <a:spcAft>
                <a:spcPts val="0"/>
              </a:spcAft>
            </a:pPr>
            <a:r>
              <a:rPr lang="en-US" sz="1700" b="0" dirty="0">
                <a:solidFill>
                  <a:srgbClr val="181C23"/>
                </a:solidFill>
                <a:latin typeface="Funnel Sans"/>
              </a:rPr>
              <a:t>compatible snapshots; a target</a:t>
            </a:r>
            <a:endParaRPr lang="en-US" sz="1700"/>
          </a:p>
          <a:p>
            <a:pPr algn="l">
              <a:lnSpc>
                <a:spcPts val="1938"/>
              </a:lnSpc>
              <a:spcAft>
                <a:spcPts val="0"/>
              </a:spcAft>
            </a:pPr>
            <a:r>
              <a:rPr lang="en-US" sz="1700" b="0" dirty="0">
                <a:solidFill>
                  <a:srgbClr val="181C23"/>
                </a:solidFill>
                <a:latin typeface="Funnel Sans"/>
              </a:rPr>
              <a:t>is optional.</a:t>
            </a:r>
            <a:endParaRPr lang="en-US" sz="1700"/>
          </a:p>
        </p:txBody>
      </p:sp>
      <p:sp>
        <p:nvSpPr>
          <p:cNvPr id="25" name="shape 25"/>
          <p:cNvSpPr/>
          <p:nvPr/>
        </p:nvSpPr>
        <p:spPr>
          <a:xfrm>
            <a:off x="508000" y="5626100"/>
            <a:ext cx="11176000" cy="546100"/>
          </a:xfrm>
          <a:prstGeom prst="rect">
            <a:avLst/>
          </a:prstGeom>
          <a:solidFill>
            <a:srgbClr val="282A27"/>
          </a:solidFill>
          <a:ln>
            <a:noFill/>
          </a:ln>
        </p:spPr>
      </p:sp>
      <p:sp>
        <p:nvSpPr>
          <p:cNvPr id="26" name="text 26"/>
          <p:cNvSpPr/>
          <p:nvPr/>
        </p:nvSpPr>
        <p:spPr>
          <a:xfrm>
            <a:off x="698500" y="57658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PSI per feature, reconciled bin counts, contributions and contextual findings for SME review.</a:t>
            </a:r>
            <a:endParaRPr lang="en-US" sz="1600"/>
          </a:p>
        </p:txBody>
      </p:sp>
      <p:cxnSp>
        <p:nvCxnSpPr>
          <p:cNvPr id="27" name="connector 27"/>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29" name="text 29"/>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52 / 87</a:t>
            </a:r>
            <a:endParaRPr lang="en-US" sz="10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T4-D14 • B / APPROACH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Follow the governed processing path</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Population Stability Index (PSI)</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text 8"/>
          <p:cNvSpPr/>
          <p:nvPr/>
        </p:nvSpPr>
        <p:spPr>
          <a:xfrm>
            <a:off x="520700" y="2108200"/>
            <a:ext cx="990600" cy="279400"/>
          </a:xfrm>
          <a:prstGeom prst="rect">
            <a:avLst/>
          </a:prstGeom>
          <a:noFill/>
          <a:ln>
            <a:noFill/>
          </a:ln>
        </p:spPr>
        <p:txBody>
          <a:bodyPr wrap="none" lIns="0" tIns="0" rIns="0" bIns="0" anchor="t">
            <a:noAutofit/>
          </a:bodyPr>
          <a:lstStyle/>
          <a:p>
            <a:pPr algn="l">
              <a:lnSpc>
                <a:spcPts val="1254"/>
              </a:lnSpc>
              <a:spcAft>
                <a:spcPts val="0"/>
              </a:spcAft>
            </a:pPr>
            <a:r>
              <a:rPr lang="en-US" sz="1100" b="1" dirty="0">
                <a:solidFill>
                  <a:srgbClr val="FF4F59"/>
                </a:solidFill>
                <a:latin typeface="Funnel Sans"/>
              </a:rPr>
              <a:t>INPUTS</a:t>
            </a:r>
            <a:endParaRPr lang="en-US" sz="1100"/>
          </a:p>
        </p:txBody>
      </p:sp>
      <p:sp>
        <p:nvSpPr>
          <p:cNvPr id="9" name="text 9"/>
          <p:cNvSpPr/>
          <p:nvPr/>
        </p:nvSpPr>
        <p:spPr>
          <a:xfrm>
            <a:off x="1574800" y="2082800"/>
            <a:ext cx="10096500" cy="6096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Baseline and Current populations; compatible features; optional governed target; approved frozen bin</a:t>
            </a:r>
            <a:endParaRPr lang="en-US" sz="1600"/>
          </a:p>
          <a:p>
            <a:pPr algn="l">
              <a:lnSpc>
                <a:spcPts val="1824"/>
              </a:lnSpc>
              <a:spcAft>
                <a:spcPts val="0"/>
              </a:spcAft>
            </a:pPr>
            <a:r>
              <a:rPr lang="en-US" sz="1600" b="0" dirty="0">
                <a:solidFill>
                  <a:srgbClr val="181C23"/>
                </a:solidFill>
                <a:latin typeface="Funnel Sans"/>
              </a:rPr>
              <a:t>definitions.</a:t>
            </a:r>
            <a:endParaRPr lang="en-US" sz="1600"/>
          </a:p>
        </p:txBody>
      </p:sp>
      <p:sp>
        <p:nvSpPr>
          <p:cNvPr id="10" name="shape 10"/>
          <p:cNvSpPr/>
          <p:nvPr/>
        </p:nvSpPr>
        <p:spPr>
          <a:xfrm>
            <a:off x="508000" y="2832100"/>
            <a:ext cx="2052320" cy="2374900"/>
          </a:xfrm>
          <a:prstGeom prst="rect">
            <a:avLst/>
          </a:prstGeom>
          <a:solidFill>
            <a:srgbClr val="FFF2DF"/>
          </a:solidFill>
          <a:ln w="12700">
            <a:solidFill>
              <a:srgbClr val="DEDCD6"/>
            </a:solidFill>
          </a:ln>
        </p:spPr>
      </p:sp>
      <p:sp>
        <p:nvSpPr>
          <p:cNvPr id="11" name="text 11"/>
          <p:cNvSpPr/>
          <p:nvPr/>
        </p:nvSpPr>
        <p:spPr>
          <a:xfrm>
            <a:off x="67310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2" name="text 12"/>
          <p:cNvSpPr/>
          <p:nvPr/>
        </p:nvSpPr>
        <p:spPr>
          <a:xfrm>
            <a:off x="67310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Define</a:t>
            </a:r>
            <a:endParaRPr lang="en-US" sz="1800"/>
          </a:p>
          <a:p>
            <a:pPr algn="l">
              <a:lnSpc>
                <a:spcPts val="2052"/>
              </a:lnSpc>
              <a:spcAft>
                <a:spcPts val="0"/>
              </a:spcAft>
            </a:pPr>
            <a:r>
              <a:rPr lang="en-US" sz="1800" b="1" dirty="0">
                <a:solidFill>
                  <a:srgbClr val="181C23"/>
                </a:solidFill>
                <a:latin typeface="Funnel Sans"/>
              </a:rPr>
              <a:t>populations</a:t>
            </a:r>
            <a:endParaRPr lang="en-US" sz="1800"/>
          </a:p>
        </p:txBody>
      </p:sp>
      <p:sp>
        <p:nvSpPr>
          <p:cNvPr id="13" name="text 13"/>
          <p:cNvSpPr/>
          <p:nvPr/>
        </p:nvSpPr>
        <p:spPr>
          <a:xfrm>
            <a:off x="67310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One split or two</a:t>
            </a:r>
            <a:endParaRPr lang="en-US" sz="1450"/>
          </a:p>
          <a:p>
            <a:pPr algn="l">
              <a:lnSpc>
                <a:spcPts val="1653"/>
              </a:lnSpc>
              <a:spcAft>
                <a:spcPts val="0"/>
              </a:spcAft>
            </a:pPr>
            <a:r>
              <a:rPr lang="en-US" sz="1450" b="0" dirty="0">
                <a:solidFill>
                  <a:srgbClr val="181C23"/>
                </a:solidFill>
                <a:latin typeface="Funnel Sans"/>
              </a:rPr>
              <a:t>snapshots</a:t>
            </a:r>
            <a:endParaRPr lang="en-US" sz="1450"/>
          </a:p>
        </p:txBody>
      </p:sp>
      <p:cxnSp>
        <p:nvCxnSpPr>
          <p:cNvPr id="14" name="connector 14"/>
          <p:cNvCxnSpPr/>
          <p:nvPr/>
        </p:nvCxnSpPr>
        <p:spPr>
          <a:xfrm>
            <a:off x="258572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88920" y="2832100"/>
            <a:ext cx="2052320" cy="2374900"/>
          </a:xfrm>
          <a:prstGeom prst="rect">
            <a:avLst/>
          </a:prstGeom>
          <a:solidFill>
            <a:srgbClr val="FFF2DF"/>
          </a:solidFill>
          <a:ln w="12700">
            <a:solidFill>
              <a:srgbClr val="DEDCD6"/>
            </a:solidFill>
          </a:ln>
        </p:spPr>
      </p:sp>
      <p:sp>
        <p:nvSpPr>
          <p:cNvPr id="16" name="text 16"/>
          <p:cNvSpPr/>
          <p:nvPr/>
        </p:nvSpPr>
        <p:spPr>
          <a:xfrm>
            <a:off x="295402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7" name="text 17"/>
          <p:cNvSpPr/>
          <p:nvPr/>
        </p:nvSpPr>
        <p:spPr>
          <a:xfrm>
            <a:off x="295402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Route binning</a:t>
            </a:r>
            <a:endParaRPr lang="en-US" sz="1800"/>
          </a:p>
        </p:txBody>
      </p:sp>
      <p:sp>
        <p:nvSpPr>
          <p:cNvPr id="18" name="text 18"/>
          <p:cNvSpPr/>
          <p:nvPr/>
        </p:nvSpPr>
        <p:spPr>
          <a:xfrm>
            <a:off x="295402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Target-free or D02</a:t>
            </a:r>
            <a:endParaRPr lang="en-US" sz="1450"/>
          </a:p>
          <a:p>
            <a:pPr algn="l">
              <a:lnSpc>
                <a:spcPts val="1653"/>
              </a:lnSpc>
              <a:spcAft>
                <a:spcPts val="0"/>
              </a:spcAft>
            </a:pPr>
            <a:r>
              <a:rPr lang="en-US" sz="1450" b="0" dirty="0">
                <a:solidFill>
                  <a:srgbClr val="181C23"/>
                </a:solidFill>
                <a:latin typeface="Funnel Sans"/>
              </a:rPr>
              <a:t>target-aware bins</a:t>
            </a:r>
            <a:endParaRPr lang="en-US" sz="1450"/>
          </a:p>
        </p:txBody>
      </p:sp>
      <p:cxnSp>
        <p:nvCxnSpPr>
          <p:cNvPr id="19" name="connector 19"/>
          <p:cNvCxnSpPr/>
          <p:nvPr/>
        </p:nvCxnSpPr>
        <p:spPr>
          <a:xfrm>
            <a:off x="486664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5069840" y="2832100"/>
            <a:ext cx="2052320" cy="2374900"/>
          </a:xfrm>
          <a:prstGeom prst="rect">
            <a:avLst/>
          </a:prstGeom>
          <a:solidFill>
            <a:srgbClr val="FFF2DF"/>
          </a:solidFill>
          <a:ln w="12700">
            <a:solidFill>
              <a:srgbClr val="DEDCD6"/>
            </a:solidFill>
          </a:ln>
        </p:spPr>
      </p:sp>
      <p:sp>
        <p:nvSpPr>
          <p:cNvPr id="21" name="text 21"/>
          <p:cNvSpPr/>
          <p:nvPr/>
        </p:nvSpPr>
        <p:spPr>
          <a:xfrm>
            <a:off x="523494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2" name="text 22"/>
          <p:cNvSpPr/>
          <p:nvPr/>
        </p:nvSpPr>
        <p:spPr>
          <a:xfrm>
            <a:off x="523494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 &amp;</a:t>
            </a:r>
            <a:endParaRPr lang="en-US" sz="1800"/>
          </a:p>
          <a:p>
            <a:pPr algn="l">
              <a:lnSpc>
                <a:spcPts val="2052"/>
              </a:lnSpc>
              <a:spcAft>
                <a:spcPts val="0"/>
              </a:spcAft>
            </a:pPr>
            <a:r>
              <a:rPr lang="en-US" sz="1800" b="1" dirty="0">
                <a:solidFill>
                  <a:srgbClr val="181C23"/>
                </a:solidFill>
                <a:latin typeface="Funnel Sans"/>
              </a:rPr>
              <a:t>freeze</a:t>
            </a:r>
            <a:endParaRPr lang="en-US" sz="1800"/>
          </a:p>
        </p:txBody>
      </p:sp>
      <p:sp>
        <p:nvSpPr>
          <p:cNvPr id="23" name="text 23"/>
          <p:cNvSpPr/>
          <p:nvPr/>
        </p:nvSpPr>
        <p:spPr>
          <a:xfrm>
            <a:off x="523494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Approve rules</a:t>
            </a:r>
            <a:endParaRPr lang="en-US" sz="1450"/>
          </a:p>
          <a:p>
            <a:pPr algn="l">
              <a:lnSpc>
                <a:spcPts val="1653"/>
              </a:lnSpc>
              <a:spcAft>
                <a:spcPts val="0"/>
              </a:spcAft>
            </a:pPr>
            <a:r>
              <a:rPr lang="en-US" sz="1450" b="0" dirty="0">
                <a:solidFill>
                  <a:srgbClr val="181C23"/>
                </a:solidFill>
                <a:latin typeface="Funnel Sans"/>
              </a:rPr>
              <a:t>applied to both</a:t>
            </a:r>
            <a:endParaRPr lang="en-US" sz="1450"/>
          </a:p>
          <a:p>
            <a:pPr algn="l">
              <a:lnSpc>
                <a:spcPts val="1653"/>
              </a:lnSpc>
              <a:spcAft>
                <a:spcPts val="0"/>
              </a:spcAft>
            </a:pPr>
            <a:r>
              <a:rPr lang="en-US" sz="1450" b="0" dirty="0">
                <a:solidFill>
                  <a:srgbClr val="181C23"/>
                </a:solidFill>
                <a:latin typeface="Funnel Sans"/>
              </a:rPr>
              <a:t>sides</a:t>
            </a:r>
            <a:endParaRPr lang="en-US" sz="1450"/>
          </a:p>
        </p:txBody>
      </p:sp>
      <p:cxnSp>
        <p:nvCxnSpPr>
          <p:cNvPr id="24" name="connector 24"/>
          <p:cNvCxnSpPr/>
          <p:nvPr/>
        </p:nvCxnSpPr>
        <p:spPr>
          <a:xfrm>
            <a:off x="714756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7350760" y="2832100"/>
            <a:ext cx="2052320" cy="2374900"/>
          </a:xfrm>
          <a:prstGeom prst="rect">
            <a:avLst/>
          </a:prstGeom>
          <a:solidFill>
            <a:srgbClr val="FFF2DF"/>
          </a:solidFill>
          <a:ln w="12700">
            <a:solidFill>
              <a:srgbClr val="DEDCD6"/>
            </a:solidFill>
          </a:ln>
        </p:spPr>
      </p:sp>
      <p:sp>
        <p:nvSpPr>
          <p:cNvPr id="26" name="text 26"/>
          <p:cNvSpPr/>
          <p:nvPr/>
        </p:nvSpPr>
        <p:spPr>
          <a:xfrm>
            <a:off x="751586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7" name="text 27"/>
          <p:cNvSpPr/>
          <p:nvPr/>
        </p:nvSpPr>
        <p:spPr>
          <a:xfrm>
            <a:off x="751586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Calculate PSI</a:t>
            </a:r>
            <a:endParaRPr lang="en-US" sz="1800"/>
          </a:p>
        </p:txBody>
      </p:sp>
      <p:sp>
        <p:nvSpPr>
          <p:cNvPr id="28" name="text 28"/>
          <p:cNvSpPr/>
          <p:nvPr/>
        </p:nvSpPr>
        <p:spPr>
          <a:xfrm>
            <a:off x="751586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Compare</a:t>
            </a:r>
            <a:endParaRPr lang="en-US" sz="1450"/>
          </a:p>
          <a:p>
            <a:pPr algn="l">
              <a:lnSpc>
                <a:spcPts val="1653"/>
              </a:lnSpc>
              <a:spcAft>
                <a:spcPts val="0"/>
              </a:spcAft>
            </a:pPr>
            <a:r>
              <a:rPr lang="en-US" sz="1450" b="0" dirty="0">
                <a:solidFill>
                  <a:srgbClr val="181C23"/>
                </a:solidFill>
                <a:latin typeface="Funnel Sans"/>
              </a:rPr>
              <a:t>proportions in</a:t>
            </a:r>
            <a:endParaRPr lang="en-US" sz="1450"/>
          </a:p>
          <a:p>
            <a:pPr algn="l">
              <a:lnSpc>
                <a:spcPts val="1653"/>
              </a:lnSpc>
              <a:spcAft>
                <a:spcPts val="0"/>
              </a:spcAft>
            </a:pPr>
            <a:r>
              <a:rPr lang="en-US" sz="1450" b="0" dirty="0">
                <a:solidFill>
                  <a:srgbClr val="181C23"/>
                </a:solidFill>
                <a:latin typeface="Funnel Sans"/>
              </a:rPr>
              <a:t>identical bins</a:t>
            </a:r>
            <a:endParaRPr lang="en-US" sz="1450"/>
          </a:p>
        </p:txBody>
      </p:sp>
      <p:cxnSp>
        <p:nvCxnSpPr>
          <p:cNvPr id="29" name="connector 29"/>
          <p:cNvCxnSpPr/>
          <p:nvPr/>
        </p:nvCxnSpPr>
        <p:spPr>
          <a:xfrm>
            <a:off x="9428480" y="401955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9631680" y="2832100"/>
            <a:ext cx="2052320" cy="2374900"/>
          </a:xfrm>
          <a:prstGeom prst="rect">
            <a:avLst/>
          </a:prstGeom>
          <a:solidFill>
            <a:srgbClr val="FFF2DF"/>
          </a:solidFill>
          <a:ln w="12700">
            <a:solidFill>
              <a:srgbClr val="DEDCD6"/>
            </a:solidFill>
          </a:ln>
        </p:spPr>
      </p:sp>
      <p:sp>
        <p:nvSpPr>
          <p:cNvPr id="31" name="text 31"/>
          <p:cNvSpPr/>
          <p:nvPr/>
        </p:nvSpPr>
        <p:spPr>
          <a:xfrm>
            <a:off x="9796780" y="29845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2" name="text 32"/>
          <p:cNvSpPr/>
          <p:nvPr/>
        </p:nvSpPr>
        <p:spPr>
          <a:xfrm>
            <a:off x="9796780" y="35052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Interpret</a:t>
            </a:r>
            <a:endParaRPr lang="en-US" sz="1800"/>
          </a:p>
        </p:txBody>
      </p:sp>
      <p:sp>
        <p:nvSpPr>
          <p:cNvPr id="33" name="text 33"/>
          <p:cNvSpPr/>
          <p:nvPr/>
        </p:nvSpPr>
        <p:spPr>
          <a:xfrm>
            <a:off x="9796780" y="4254500"/>
            <a:ext cx="1722120" cy="8128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Stable / watch /</a:t>
            </a:r>
            <a:endParaRPr lang="en-US" sz="1450"/>
          </a:p>
          <a:p>
            <a:pPr algn="l">
              <a:lnSpc>
                <a:spcPts val="1653"/>
              </a:lnSpc>
              <a:spcAft>
                <a:spcPts val="0"/>
              </a:spcAft>
            </a:pPr>
            <a:r>
              <a:rPr lang="en-US" sz="1450" b="0" dirty="0">
                <a:solidFill>
                  <a:srgbClr val="181C23"/>
                </a:solidFill>
                <a:latin typeface="Funnel Sans"/>
              </a:rPr>
              <a:t>investigate with</a:t>
            </a:r>
            <a:endParaRPr lang="en-US" sz="1450"/>
          </a:p>
          <a:p>
            <a:pPr algn="l">
              <a:lnSpc>
                <a:spcPts val="1653"/>
              </a:lnSpc>
              <a:spcAft>
                <a:spcPts val="0"/>
              </a:spcAft>
            </a:pPr>
            <a:r>
              <a:rPr lang="en-US" sz="1450" b="0" dirty="0">
                <a:solidFill>
                  <a:srgbClr val="181C23"/>
                </a:solidFill>
                <a:latin typeface="Funnel Sans"/>
              </a:rPr>
              <a:t>evidence</a:t>
            </a:r>
            <a:endParaRPr lang="en-US" sz="1450"/>
          </a:p>
        </p:txBody>
      </p:sp>
      <p:sp>
        <p:nvSpPr>
          <p:cNvPr id="34" name="shape 34"/>
          <p:cNvSpPr/>
          <p:nvPr/>
        </p:nvSpPr>
        <p:spPr>
          <a:xfrm>
            <a:off x="508000" y="5562600"/>
            <a:ext cx="11176000" cy="546100"/>
          </a:xfrm>
          <a:prstGeom prst="rect">
            <a:avLst/>
          </a:prstGeom>
          <a:solidFill>
            <a:srgbClr val="282A27"/>
          </a:solidFill>
          <a:ln>
            <a:noFill/>
          </a:ln>
        </p:spPr>
      </p:sp>
      <p:sp>
        <p:nvSpPr>
          <p:cNvPr id="35" name="text 35"/>
          <p:cNvSpPr/>
          <p:nvPr/>
        </p:nvSpPr>
        <p:spPr>
          <a:xfrm>
            <a:off x="698500" y="57023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Target-aware binning uses D02. Two-snapshot reuse requires an exact, explicitly promoted universal definition.</a:t>
            </a:r>
            <a:endParaRPr lang="en-US" sz="1600"/>
          </a:p>
        </p:txBody>
      </p:sp>
      <p:cxnSp>
        <p:nvCxnSpPr>
          <p:cNvPr id="36" name="connector 3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text 3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8" name="text 3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53 / 87</a:t>
            </a:r>
            <a:endParaRPr lang="en-US" sz="10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T4-D14 • C / EVIDENCE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Read the metrics alongside scope and limitations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Population Stability Index (PSI)</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22500"/>
            <a:ext cx="3589867" cy="3238500"/>
          </a:xfrm>
          <a:prstGeom prst="rect">
            <a:avLst/>
          </a:prstGeom>
          <a:solidFill>
            <a:srgbClr val="FFFFFF"/>
          </a:solidFill>
          <a:ln w="12700">
            <a:solidFill>
              <a:srgbClr val="DEDCD6"/>
            </a:solidFill>
          </a:ln>
        </p:spPr>
      </p:sp>
      <p:sp>
        <p:nvSpPr>
          <p:cNvPr id="9" name="shape 9"/>
          <p:cNvSpPr/>
          <p:nvPr/>
        </p:nvSpPr>
        <p:spPr>
          <a:xfrm>
            <a:off x="508000" y="2222500"/>
            <a:ext cx="38100" cy="3238500"/>
          </a:xfrm>
          <a:prstGeom prst="rect">
            <a:avLst/>
          </a:prstGeom>
          <a:solidFill>
            <a:srgbClr val="FF4F59"/>
          </a:solidFill>
          <a:ln>
            <a:noFill/>
          </a:ln>
        </p:spPr>
      </p:sp>
      <p:sp>
        <p:nvSpPr>
          <p:cNvPr id="10" name="shape 10"/>
          <p:cNvSpPr/>
          <p:nvPr/>
        </p:nvSpPr>
        <p:spPr>
          <a:xfrm>
            <a:off x="711200" y="2628900"/>
            <a:ext cx="63500" cy="127000"/>
          </a:xfrm>
          <a:prstGeom prst="rect">
            <a:avLst/>
          </a:prstGeom>
          <a:solidFill>
            <a:srgbClr val="FF4F59"/>
          </a:solidFill>
          <a:ln>
            <a:noFill/>
          </a:ln>
        </p:spPr>
      </p:sp>
      <p:sp>
        <p:nvSpPr>
          <p:cNvPr id="11" name="shape 11"/>
          <p:cNvSpPr/>
          <p:nvPr/>
        </p:nvSpPr>
        <p:spPr>
          <a:xfrm>
            <a:off x="825500" y="2501900"/>
            <a:ext cx="63500" cy="254000"/>
          </a:xfrm>
          <a:prstGeom prst="rect">
            <a:avLst/>
          </a:prstGeom>
          <a:solidFill>
            <a:srgbClr val="FF4F59"/>
          </a:solidFill>
          <a:ln>
            <a:noFill/>
          </a:ln>
        </p:spPr>
      </p:sp>
      <p:sp>
        <p:nvSpPr>
          <p:cNvPr id="12" name="shape 12"/>
          <p:cNvSpPr/>
          <p:nvPr/>
        </p:nvSpPr>
        <p:spPr>
          <a:xfrm>
            <a:off x="939800" y="2413000"/>
            <a:ext cx="63500" cy="342900"/>
          </a:xfrm>
          <a:prstGeom prst="rect">
            <a:avLst/>
          </a:prstGeom>
          <a:solidFill>
            <a:srgbClr val="FF4F59"/>
          </a:solidFill>
          <a:ln>
            <a:noFill/>
          </a:ln>
        </p:spPr>
      </p:sp>
      <p:sp>
        <p:nvSpPr>
          <p:cNvPr id="13" name="text 13"/>
          <p:cNvSpPr/>
          <p:nvPr/>
        </p:nvSpPr>
        <p:spPr>
          <a:xfrm>
            <a:off x="1193800"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Population accounting</a:t>
            </a:r>
            <a:endParaRPr lang="en-US" sz="1900"/>
          </a:p>
        </p:txBody>
      </p:sp>
      <p:sp>
        <p:nvSpPr>
          <p:cNvPr id="14" name="text 14"/>
          <p:cNvSpPr/>
          <p:nvPr/>
        </p:nvSpPr>
        <p:spPr>
          <a:xfrm>
            <a:off x="723900"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Baseline / Current counts and</a:t>
            </a:r>
            <a:endParaRPr lang="en-US" sz="1700"/>
          </a:p>
          <a:p>
            <a:pPr algn="l">
              <a:lnSpc>
                <a:spcPts val="1938"/>
              </a:lnSpc>
              <a:spcAft>
                <a:spcPts val="0"/>
              </a:spcAft>
            </a:pPr>
            <a:r>
              <a:rPr lang="en-US" sz="1700" b="0" dirty="0">
                <a:solidFill>
                  <a:srgbClr val="181C23"/>
                </a:solidFill>
                <a:latin typeface="Funnel Sans"/>
              </a:rPr>
              <a:t>shares, split predicate or</a:t>
            </a:r>
            <a:endParaRPr lang="en-US" sz="1700"/>
          </a:p>
          <a:p>
            <a:pPr algn="l">
              <a:lnSpc>
                <a:spcPts val="1938"/>
              </a:lnSpc>
              <a:spcAft>
                <a:spcPts val="0"/>
              </a:spcAft>
            </a:pPr>
            <a:r>
              <a:rPr lang="en-US" sz="1700" b="0" dirty="0">
                <a:solidFill>
                  <a:srgbClr val="181C23"/>
                </a:solidFill>
                <a:latin typeface="Funnel Sans"/>
              </a:rPr>
              <a:t>snapshot lineage, missing and</a:t>
            </a:r>
            <a:endParaRPr lang="en-US" sz="1700"/>
          </a:p>
          <a:p>
            <a:pPr algn="l">
              <a:lnSpc>
                <a:spcPts val="1938"/>
              </a:lnSpc>
              <a:spcAft>
                <a:spcPts val="0"/>
              </a:spcAft>
            </a:pPr>
            <a:r>
              <a:rPr lang="en-US" sz="1700" b="0" dirty="0">
                <a:solidFill>
                  <a:srgbClr val="181C23"/>
                </a:solidFill>
                <a:latin typeface="Funnel Sans"/>
              </a:rPr>
              <a:t>special bins.</a:t>
            </a:r>
            <a:endParaRPr lang="en-US" sz="1700"/>
          </a:p>
        </p:txBody>
      </p:sp>
      <p:sp>
        <p:nvSpPr>
          <p:cNvPr id="15" name="shape 15"/>
          <p:cNvSpPr/>
          <p:nvPr/>
        </p:nvSpPr>
        <p:spPr>
          <a:xfrm>
            <a:off x="4301067" y="2222500"/>
            <a:ext cx="3589867" cy="3238500"/>
          </a:xfrm>
          <a:prstGeom prst="rect">
            <a:avLst/>
          </a:prstGeom>
          <a:solidFill>
            <a:srgbClr val="FFFFFF"/>
          </a:solidFill>
          <a:ln w="12700">
            <a:solidFill>
              <a:srgbClr val="DEDCD6"/>
            </a:solidFill>
          </a:ln>
        </p:spPr>
      </p:sp>
      <p:sp>
        <p:nvSpPr>
          <p:cNvPr id="16" name="shape 16"/>
          <p:cNvSpPr/>
          <p:nvPr/>
        </p:nvSpPr>
        <p:spPr>
          <a:xfrm>
            <a:off x="4301067" y="2222500"/>
            <a:ext cx="38100" cy="3238500"/>
          </a:xfrm>
          <a:prstGeom prst="rect">
            <a:avLst/>
          </a:prstGeom>
          <a:solidFill>
            <a:srgbClr val="FF4F59"/>
          </a:solidFill>
          <a:ln>
            <a:noFill/>
          </a:ln>
        </p:spPr>
      </p:sp>
      <p:sp>
        <p:nvSpPr>
          <p:cNvPr id="17" name="shape 17"/>
          <p:cNvSpPr/>
          <p:nvPr/>
        </p:nvSpPr>
        <p:spPr>
          <a:xfrm>
            <a:off x="4529667" y="2413000"/>
            <a:ext cx="292100" cy="342900"/>
          </a:xfrm>
          <a:prstGeom prst="rect">
            <a:avLst/>
          </a:prstGeom>
          <a:noFill/>
          <a:ln w="12700">
            <a:solidFill>
              <a:srgbClr val="FF4F59"/>
            </a:solidFill>
          </a:ln>
        </p:spPr>
      </p:sp>
      <p:cxnSp>
        <p:nvCxnSpPr>
          <p:cNvPr id="18" name="connector 18"/>
          <p:cNvCxnSpPr/>
          <p:nvPr/>
        </p:nvCxnSpPr>
        <p:spPr>
          <a:xfrm>
            <a:off x="4593167" y="2514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9" name="connector 19"/>
          <p:cNvCxnSpPr/>
          <p:nvPr/>
        </p:nvCxnSpPr>
        <p:spPr>
          <a:xfrm>
            <a:off x="4593167" y="25908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0" name="connector 20"/>
          <p:cNvCxnSpPr/>
          <p:nvPr/>
        </p:nvCxnSpPr>
        <p:spPr>
          <a:xfrm>
            <a:off x="4593167" y="26670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1" name="text 21"/>
          <p:cNvSpPr/>
          <p:nvPr/>
        </p:nvSpPr>
        <p:spPr>
          <a:xfrm>
            <a:off x="4986867"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PSI contribution table</a:t>
            </a:r>
            <a:endParaRPr lang="en-US" sz="1900"/>
          </a:p>
        </p:txBody>
      </p:sp>
      <p:sp>
        <p:nvSpPr>
          <p:cNvPr id="22" name="text 22"/>
          <p:cNvSpPr/>
          <p:nvPr/>
        </p:nvSpPr>
        <p:spPr>
          <a:xfrm>
            <a:off x="4516967"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Each bin’s contribution and</a:t>
            </a:r>
            <a:endParaRPr lang="en-US" sz="1700"/>
          </a:p>
          <a:p>
            <a:pPr algn="l">
              <a:lnSpc>
                <a:spcPts val="1938"/>
              </a:lnSpc>
              <a:spcAft>
                <a:spcPts val="0"/>
              </a:spcAft>
            </a:pPr>
            <a:r>
              <a:rPr lang="en-US" sz="1700" b="0" dirty="0">
                <a:solidFill>
                  <a:srgbClr val="181C23"/>
                </a:solidFill>
                <a:latin typeface="Funnel Sans"/>
              </a:rPr>
              <a:t>reconciled totals; Current-only</a:t>
            </a:r>
            <a:endParaRPr lang="en-US" sz="1700"/>
          </a:p>
          <a:p>
            <a:pPr algn="l">
              <a:lnSpc>
                <a:spcPts val="1938"/>
              </a:lnSpc>
              <a:spcAft>
                <a:spcPts val="0"/>
              </a:spcAft>
            </a:pPr>
            <a:r>
              <a:rPr lang="en-US" sz="1700" b="0" dirty="0">
                <a:solidFill>
                  <a:srgbClr val="181C23"/>
                </a:solidFill>
                <a:latin typeface="Funnel Sans"/>
              </a:rPr>
              <a:t>categories are retained as</a:t>
            </a:r>
            <a:endParaRPr lang="en-US" sz="1700"/>
          </a:p>
          <a:p>
            <a:pPr algn="l">
              <a:lnSpc>
                <a:spcPts val="1938"/>
              </a:lnSpc>
              <a:spcAft>
                <a:spcPts val="0"/>
              </a:spcAft>
            </a:pPr>
            <a:r>
              <a:rPr lang="en-US" sz="1700" b="0" dirty="0">
                <a:solidFill>
                  <a:srgbClr val="181C23"/>
                </a:solidFill>
                <a:latin typeface="Funnel Sans"/>
              </a:rPr>
              <a:t>UNSEEN.</a:t>
            </a:r>
            <a:endParaRPr lang="en-US" sz="1700"/>
          </a:p>
        </p:txBody>
      </p:sp>
      <p:sp>
        <p:nvSpPr>
          <p:cNvPr id="23" name="shape 23"/>
          <p:cNvSpPr/>
          <p:nvPr/>
        </p:nvSpPr>
        <p:spPr>
          <a:xfrm>
            <a:off x="8094133" y="2222500"/>
            <a:ext cx="3589867" cy="3238500"/>
          </a:xfrm>
          <a:prstGeom prst="rect">
            <a:avLst/>
          </a:prstGeom>
          <a:solidFill>
            <a:srgbClr val="FFFFFF"/>
          </a:solidFill>
          <a:ln w="12700">
            <a:solidFill>
              <a:srgbClr val="DEDCD6"/>
            </a:solidFill>
          </a:ln>
        </p:spPr>
      </p:sp>
      <p:sp>
        <p:nvSpPr>
          <p:cNvPr id="24" name="shape 24"/>
          <p:cNvSpPr/>
          <p:nvPr/>
        </p:nvSpPr>
        <p:spPr>
          <a:xfrm>
            <a:off x="8094133" y="2222500"/>
            <a:ext cx="38100" cy="3238500"/>
          </a:xfrm>
          <a:prstGeom prst="rect">
            <a:avLst/>
          </a:prstGeom>
          <a:solidFill>
            <a:srgbClr val="FF4F59"/>
          </a:solidFill>
          <a:ln>
            <a:noFill/>
          </a:ln>
        </p:spPr>
      </p:sp>
      <p:sp>
        <p:nvSpPr>
          <p:cNvPr id="25" name="shape 25"/>
          <p:cNvSpPr/>
          <p:nvPr/>
        </p:nvSpPr>
        <p:spPr>
          <a:xfrm>
            <a:off x="8297333" y="2413000"/>
            <a:ext cx="342900" cy="342900"/>
          </a:xfrm>
          <a:prstGeom prst="ellipse">
            <a:avLst/>
          </a:prstGeom>
          <a:noFill/>
          <a:ln w="19050">
            <a:solidFill>
              <a:srgbClr val="FF4F59"/>
            </a:solidFill>
          </a:ln>
        </p:spPr>
      </p:sp>
      <p:cxnSp>
        <p:nvCxnSpPr>
          <p:cNvPr id="26" name="connector 26"/>
          <p:cNvCxnSpPr/>
          <p:nvPr/>
        </p:nvCxnSpPr>
        <p:spPr>
          <a:xfrm>
            <a:off x="8373533" y="25908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7" name="connector 27"/>
          <p:cNvCxnSpPr/>
          <p:nvPr/>
        </p:nvCxnSpPr>
        <p:spPr>
          <a:xfrm flipV="1">
            <a:off x="8437033" y="25146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28" name="text 28"/>
          <p:cNvSpPr/>
          <p:nvPr/>
        </p:nvSpPr>
        <p:spPr>
          <a:xfrm>
            <a:off x="8779933" y="24257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Reviewable outputs</a:t>
            </a:r>
            <a:endParaRPr lang="en-US" sz="1900"/>
          </a:p>
        </p:txBody>
      </p:sp>
      <p:sp>
        <p:nvSpPr>
          <p:cNvPr id="29" name="text 29"/>
          <p:cNvSpPr/>
          <p:nvPr/>
        </p:nvSpPr>
        <p:spPr>
          <a:xfrm>
            <a:off x="8310033" y="3187700"/>
            <a:ext cx="3158067" cy="20828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Feature evidence, frozen bin</a:t>
            </a:r>
            <a:endParaRPr lang="en-US" sz="1700"/>
          </a:p>
          <a:p>
            <a:pPr algn="l">
              <a:lnSpc>
                <a:spcPts val="1938"/>
              </a:lnSpc>
              <a:spcAft>
                <a:spcPts val="0"/>
              </a:spcAft>
            </a:pPr>
            <a:r>
              <a:rPr lang="en-US" sz="1700" b="0" dirty="0">
                <a:solidFill>
                  <a:srgbClr val="181C23"/>
                </a:solidFill>
                <a:latin typeface="Funnel Sans"/>
              </a:rPr>
              <a:t>lineage, result classifications</a:t>
            </a:r>
            <a:endParaRPr lang="en-US" sz="1700"/>
          </a:p>
          <a:p>
            <a:pPr algn="l">
              <a:lnSpc>
                <a:spcPts val="1938"/>
              </a:lnSpc>
              <a:spcAft>
                <a:spcPts val="0"/>
              </a:spcAft>
            </a:pPr>
            <a:r>
              <a:rPr lang="en-US" sz="1700" b="0" dirty="0">
                <a:solidFill>
                  <a:srgbClr val="181C23"/>
                </a:solidFill>
                <a:latin typeface="Funnel Sans"/>
              </a:rPr>
              <a:t>and run reports.</a:t>
            </a:r>
            <a:endParaRPr lang="en-US" sz="1700"/>
          </a:p>
        </p:txBody>
      </p:sp>
      <p:sp>
        <p:nvSpPr>
          <p:cNvPr id="30" name="shape 30"/>
          <p:cNvSpPr/>
          <p:nvPr/>
        </p:nvSpPr>
        <p:spPr>
          <a:xfrm>
            <a:off x="508000" y="5651500"/>
            <a:ext cx="11176000" cy="546100"/>
          </a:xfrm>
          <a:prstGeom prst="rect">
            <a:avLst/>
          </a:prstGeom>
          <a:solidFill>
            <a:srgbClr val="282A27"/>
          </a:solidFill>
          <a:ln>
            <a:noFill/>
          </a:ln>
        </p:spPr>
      </p:sp>
      <p:sp>
        <p:nvSpPr>
          <p:cNvPr id="31" name="text 31"/>
          <p:cNvSpPr/>
          <p:nvPr/>
        </p:nvSpPr>
        <p:spPr>
          <a:xfrm>
            <a:off x="698500" y="57912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Governed defaults: stable &lt; 0.10; watch ≥ 0.10; investigate ≥ 0.25.</a:t>
            </a:r>
            <a:endParaRPr lang="en-US" sz="1600"/>
          </a:p>
        </p:txBody>
      </p:sp>
      <p:cxnSp>
        <p:nvCxnSpPr>
          <p:cNvPr id="32" name="connector 3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text 3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4" name="text 3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54 / 87</a:t>
            </a:r>
            <a:endParaRPr lang="en-US" sz="10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T4-D14 • D / LAUNCH</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Confirm the scope, launch once and review final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Population Stability Index (PSI)</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247900"/>
            <a:ext cx="2052320" cy="2311400"/>
          </a:xfrm>
          <a:prstGeom prst="rect">
            <a:avLst/>
          </a:prstGeom>
          <a:solidFill>
            <a:srgbClr val="FFF2DF"/>
          </a:solidFill>
          <a:ln w="12700">
            <a:solidFill>
              <a:srgbClr val="DEDCD6"/>
            </a:solidFill>
          </a:ln>
        </p:spPr>
      </p:sp>
      <p:sp>
        <p:nvSpPr>
          <p:cNvPr id="9" name="text 9"/>
          <p:cNvSpPr/>
          <p:nvPr/>
        </p:nvSpPr>
        <p:spPr>
          <a:xfrm>
            <a:off x="67310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10" name="text 10"/>
          <p:cNvSpPr/>
          <p:nvPr/>
        </p:nvSpPr>
        <p:spPr>
          <a:xfrm>
            <a:off x="67310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Choose</a:t>
            </a:r>
            <a:endParaRPr lang="en-US" sz="1800"/>
          </a:p>
          <a:p>
            <a:pPr algn="l">
              <a:lnSpc>
                <a:spcPts val="2052"/>
              </a:lnSpc>
              <a:spcAft>
                <a:spcPts val="0"/>
              </a:spcAft>
            </a:pPr>
            <a:r>
              <a:rPr lang="en-US" sz="1800" b="1" dirty="0">
                <a:solidFill>
                  <a:srgbClr val="181C23"/>
                </a:solidFill>
                <a:latin typeface="Funnel Sans"/>
              </a:rPr>
              <a:t>populations</a:t>
            </a:r>
            <a:endParaRPr lang="en-US" sz="1800"/>
          </a:p>
        </p:txBody>
      </p:sp>
      <p:sp>
        <p:nvSpPr>
          <p:cNvPr id="11" name="text 11"/>
          <p:cNvSpPr/>
          <p:nvPr/>
        </p:nvSpPr>
        <p:spPr>
          <a:xfrm>
            <a:off x="67310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One snapshot split</a:t>
            </a:r>
            <a:endParaRPr lang="en-US" sz="1450"/>
          </a:p>
          <a:p>
            <a:pPr algn="l">
              <a:lnSpc>
                <a:spcPts val="1653"/>
              </a:lnSpc>
              <a:spcAft>
                <a:spcPts val="0"/>
              </a:spcAft>
            </a:pPr>
            <a:r>
              <a:rPr lang="en-US" sz="1450" b="0" dirty="0">
                <a:solidFill>
                  <a:srgbClr val="181C23"/>
                </a:solidFill>
                <a:latin typeface="Funnel Sans"/>
              </a:rPr>
              <a:t>or two snapshots</a:t>
            </a:r>
            <a:endParaRPr lang="en-US" sz="1450"/>
          </a:p>
        </p:txBody>
      </p:sp>
      <p:cxnSp>
        <p:nvCxnSpPr>
          <p:cNvPr id="12" name="connector 12"/>
          <p:cNvCxnSpPr/>
          <p:nvPr/>
        </p:nvCxnSpPr>
        <p:spPr>
          <a:xfrm>
            <a:off x="258572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2788920" y="2247900"/>
            <a:ext cx="2052320" cy="2311400"/>
          </a:xfrm>
          <a:prstGeom prst="rect">
            <a:avLst/>
          </a:prstGeom>
          <a:solidFill>
            <a:srgbClr val="FFF2DF"/>
          </a:solidFill>
          <a:ln w="12700">
            <a:solidFill>
              <a:srgbClr val="DEDCD6"/>
            </a:solidFill>
          </a:ln>
        </p:spPr>
      </p:sp>
      <p:sp>
        <p:nvSpPr>
          <p:cNvPr id="14" name="text 14"/>
          <p:cNvSpPr/>
          <p:nvPr/>
        </p:nvSpPr>
        <p:spPr>
          <a:xfrm>
            <a:off x="295402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5" name="text 15"/>
          <p:cNvSpPr/>
          <p:nvPr/>
        </p:nvSpPr>
        <p:spPr>
          <a:xfrm>
            <a:off x="295402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Select route</a:t>
            </a:r>
            <a:endParaRPr lang="en-US" sz="1800"/>
          </a:p>
        </p:txBody>
      </p:sp>
      <p:sp>
        <p:nvSpPr>
          <p:cNvPr id="16" name="text 16"/>
          <p:cNvSpPr/>
          <p:nvPr/>
        </p:nvSpPr>
        <p:spPr>
          <a:xfrm>
            <a:off x="295402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Use governed</a:t>
            </a:r>
            <a:endParaRPr lang="en-US" sz="1450"/>
          </a:p>
          <a:p>
            <a:pPr algn="l">
              <a:lnSpc>
                <a:spcPts val="1653"/>
              </a:lnSpc>
              <a:spcAft>
                <a:spcPts val="0"/>
              </a:spcAft>
            </a:pPr>
            <a:r>
              <a:rPr lang="en-US" sz="1450" b="0" dirty="0">
                <a:solidFill>
                  <a:srgbClr val="181C23"/>
                </a:solidFill>
                <a:latin typeface="Funnel Sans"/>
              </a:rPr>
              <a:t>target or</a:t>
            </a:r>
            <a:endParaRPr lang="en-US" sz="1450"/>
          </a:p>
          <a:p>
            <a:pPr algn="l">
              <a:lnSpc>
                <a:spcPts val="1653"/>
              </a:lnSpc>
              <a:spcAft>
                <a:spcPts val="0"/>
              </a:spcAft>
            </a:pPr>
            <a:r>
              <a:rPr lang="en-US" sz="1450" b="0" dirty="0">
                <a:solidFill>
                  <a:srgbClr val="181C23"/>
                </a:solidFill>
                <a:latin typeface="Funnel Sans"/>
              </a:rPr>
              <a:t>target-free</a:t>
            </a:r>
            <a:endParaRPr lang="en-US" sz="1450"/>
          </a:p>
        </p:txBody>
      </p:sp>
      <p:cxnSp>
        <p:nvCxnSpPr>
          <p:cNvPr id="17" name="connector 17"/>
          <p:cNvCxnSpPr/>
          <p:nvPr/>
        </p:nvCxnSpPr>
        <p:spPr>
          <a:xfrm>
            <a:off x="486664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69840" y="2247900"/>
            <a:ext cx="2052320" cy="2311400"/>
          </a:xfrm>
          <a:prstGeom prst="rect">
            <a:avLst/>
          </a:prstGeom>
          <a:solidFill>
            <a:srgbClr val="FFF2DF"/>
          </a:solidFill>
          <a:ln w="12700">
            <a:solidFill>
              <a:srgbClr val="DEDCD6"/>
            </a:solidFill>
          </a:ln>
        </p:spPr>
      </p:sp>
      <p:sp>
        <p:nvSpPr>
          <p:cNvPr id="19" name="text 19"/>
          <p:cNvSpPr/>
          <p:nvPr/>
        </p:nvSpPr>
        <p:spPr>
          <a:xfrm>
            <a:off x="523494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20" name="text 20"/>
          <p:cNvSpPr/>
          <p:nvPr/>
        </p:nvSpPr>
        <p:spPr>
          <a:xfrm>
            <a:off x="523494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Prepare bins</a:t>
            </a:r>
            <a:endParaRPr lang="en-US" sz="1800"/>
          </a:p>
        </p:txBody>
      </p:sp>
      <p:sp>
        <p:nvSpPr>
          <p:cNvPr id="21" name="text 21"/>
          <p:cNvSpPr/>
          <p:nvPr/>
        </p:nvSpPr>
        <p:spPr>
          <a:xfrm>
            <a:off x="523494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Read Baseline;</a:t>
            </a:r>
            <a:endParaRPr lang="en-US" sz="1450"/>
          </a:p>
          <a:p>
            <a:pPr algn="l">
              <a:lnSpc>
                <a:spcPts val="1653"/>
              </a:lnSpc>
              <a:spcAft>
                <a:spcPts val="0"/>
              </a:spcAft>
            </a:pPr>
            <a:r>
              <a:rPr lang="en-US" sz="1450" b="0" dirty="0">
                <a:solidFill>
                  <a:srgbClr val="181C23"/>
                </a:solidFill>
                <a:latin typeface="Funnel Sans"/>
              </a:rPr>
              <a:t>generate or</a:t>
            </a:r>
            <a:endParaRPr lang="en-US" sz="1450"/>
          </a:p>
          <a:p>
            <a:pPr algn="l">
              <a:lnSpc>
                <a:spcPts val="1653"/>
              </a:lnSpc>
              <a:spcAft>
                <a:spcPts val="0"/>
              </a:spcAft>
            </a:pPr>
            <a:r>
              <a:rPr lang="en-US" sz="1450" b="0" dirty="0">
                <a:solidFill>
                  <a:srgbClr val="181C23"/>
                </a:solidFill>
                <a:latin typeface="Funnel Sans"/>
              </a:rPr>
              <a:t>exact-reuse</a:t>
            </a:r>
            <a:endParaRPr lang="en-US" sz="1450"/>
          </a:p>
        </p:txBody>
      </p:sp>
      <p:cxnSp>
        <p:nvCxnSpPr>
          <p:cNvPr id="22" name="connector 22"/>
          <p:cNvCxnSpPr/>
          <p:nvPr/>
        </p:nvCxnSpPr>
        <p:spPr>
          <a:xfrm>
            <a:off x="714756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7350760" y="2247900"/>
            <a:ext cx="2052320" cy="2311400"/>
          </a:xfrm>
          <a:prstGeom prst="rect">
            <a:avLst/>
          </a:prstGeom>
          <a:solidFill>
            <a:srgbClr val="FFF2DF"/>
          </a:solidFill>
          <a:ln w="12700">
            <a:solidFill>
              <a:srgbClr val="DEDCD6"/>
            </a:solidFill>
          </a:ln>
        </p:spPr>
      </p:sp>
      <p:sp>
        <p:nvSpPr>
          <p:cNvPr id="24" name="text 24"/>
          <p:cNvSpPr/>
          <p:nvPr/>
        </p:nvSpPr>
        <p:spPr>
          <a:xfrm>
            <a:off x="751586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5" name="text 25"/>
          <p:cNvSpPr/>
          <p:nvPr/>
        </p:nvSpPr>
        <p:spPr>
          <a:xfrm>
            <a:off x="751586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Approve &amp;</a:t>
            </a:r>
            <a:endParaRPr lang="en-US" sz="1800"/>
          </a:p>
          <a:p>
            <a:pPr algn="l">
              <a:lnSpc>
                <a:spcPts val="2052"/>
              </a:lnSpc>
              <a:spcAft>
                <a:spcPts val="0"/>
              </a:spcAft>
            </a:pPr>
            <a:r>
              <a:rPr lang="en-US" sz="1800" b="1" dirty="0">
                <a:solidFill>
                  <a:srgbClr val="181C23"/>
                </a:solidFill>
                <a:latin typeface="Funnel Sans"/>
              </a:rPr>
              <a:t>execute</a:t>
            </a:r>
            <a:endParaRPr lang="en-US" sz="1800"/>
          </a:p>
        </p:txBody>
      </p:sp>
      <p:sp>
        <p:nvSpPr>
          <p:cNvPr id="26" name="text 26"/>
          <p:cNvSpPr/>
          <p:nvPr/>
        </p:nvSpPr>
        <p:spPr>
          <a:xfrm>
            <a:off x="751586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Freeze common</a:t>
            </a:r>
            <a:endParaRPr lang="en-US" sz="1450"/>
          </a:p>
          <a:p>
            <a:pPr algn="l">
              <a:lnSpc>
                <a:spcPts val="1653"/>
              </a:lnSpc>
              <a:spcAft>
                <a:spcPts val="0"/>
              </a:spcAft>
            </a:pPr>
            <a:r>
              <a:rPr lang="en-US" sz="1450" b="0" dirty="0">
                <a:solidFill>
                  <a:srgbClr val="181C23"/>
                </a:solidFill>
                <a:latin typeface="Funnel Sans"/>
              </a:rPr>
              <a:t>bins and run PSI</a:t>
            </a:r>
            <a:endParaRPr lang="en-US" sz="1450"/>
          </a:p>
        </p:txBody>
      </p:sp>
      <p:cxnSp>
        <p:nvCxnSpPr>
          <p:cNvPr id="27" name="connector 27"/>
          <p:cNvCxnSpPr/>
          <p:nvPr/>
        </p:nvCxnSpPr>
        <p:spPr>
          <a:xfrm>
            <a:off x="9428480" y="3403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9631680" y="2247900"/>
            <a:ext cx="2052320" cy="2311400"/>
          </a:xfrm>
          <a:prstGeom prst="rect">
            <a:avLst/>
          </a:prstGeom>
          <a:solidFill>
            <a:srgbClr val="FFF2DF"/>
          </a:solidFill>
          <a:ln w="12700">
            <a:solidFill>
              <a:srgbClr val="DEDCD6"/>
            </a:solidFill>
          </a:ln>
        </p:spPr>
      </p:sp>
      <p:sp>
        <p:nvSpPr>
          <p:cNvPr id="29" name="text 29"/>
          <p:cNvSpPr/>
          <p:nvPr/>
        </p:nvSpPr>
        <p:spPr>
          <a:xfrm>
            <a:off x="9796780" y="24003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30" name="text 30"/>
          <p:cNvSpPr/>
          <p:nvPr/>
        </p:nvSpPr>
        <p:spPr>
          <a:xfrm>
            <a:off x="9796780" y="29210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Review final</a:t>
            </a:r>
            <a:endParaRPr lang="en-US" sz="1800"/>
          </a:p>
        </p:txBody>
      </p:sp>
      <p:sp>
        <p:nvSpPr>
          <p:cNvPr id="31" name="text 31"/>
          <p:cNvSpPr/>
          <p:nvPr/>
        </p:nvSpPr>
        <p:spPr>
          <a:xfrm>
            <a:off x="9796780" y="3670300"/>
            <a:ext cx="1722120" cy="7493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Contributions,</a:t>
            </a:r>
            <a:endParaRPr lang="en-US" sz="1450"/>
          </a:p>
          <a:p>
            <a:pPr algn="l">
              <a:lnSpc>
                <a:spcPts val="1653"/>
              </a:lnSpc>
              <a:spcAft>
                <a:spcPts val="0"/>
              </a:spcAft>
            </a:pPr>
            <a:r>
              <a:rPr lang="en-US" sz="1450" b="0" dirty="0">
                <a:solidFill>
                  <a:srgbClr val="181C23"/>
                </a:solidFill>
                <a:latin typeface="Funnel Sans"/>
              </a:rPr>
              <a:t>findings and report</a:t>
            </a:r>
            <a:endParaRPr lang="en-US" sz="1450"/>
          </a:p>
        </p:txBody>
      </p:sp>
      <p:sp>
        <p:nvSpPr>
          <p:cNvPr id="32" name="shape 32"/>
          <p:cNvSpPr/>
          <p:nvPr/>
        </p:nvSpPr>
        <p:spPr>
          <a:xfrm>
            <a:off x="508000" y="4762500"/>
            <a:ext cx="5486400" cy="1346200"/>
          </a:xfrm>
          <a:prstGeom prst="rect">
            <a:avLst/>
          </a:prstGeom>
          <a:solidFill>
            <a:srgbClr val="FFFFFF"/>
          </a:solidFill>
          <a:ln w="12700">
            <a:solidFill>
              <a:srgbClr val="DEDCD6"/>
            </a:solidFill>
          </a:ln>
        </p:spPr>
      </p:sp>
      <p:sp>
        <p:nvSpPr>
          <p:cNvPr id="33" name="shape 33"/>
          <p:cNvSpPr/>
          <p:nvPr/>
        </p:nvSpPr>
        <p:spPr>
          <a:xfrm>
            <a:off x="508000" y="4762500"/>
            <a:ext cx="38100" cy="1346200"/>
          </a:xfrm>
          <a:prstGeom prst="rect">
            <a:avLst/>
          </a:prstGeom>
          <a:solidFill>
            <a:srgbClr val="FF4F59"/>
          </a:solidFill>
          <a:ln>
            <a:noFill/>
          </a:ln>
        </p:spPr>
      </p:sp>
      <p:sp>
        <p:nvSpPr>
          <p:cNvPr id="34" name="text 34"/>
          <p:cNvSpPr/>
          <p:nvPr/>
        </p:nvSpPr>
        <p:spPr>
          <a:xfrm>
            <a:off x="6985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Success / completion</a:t>
            </a:r>
            <a:endParaRPr lang="en-US" sz="1600"/>
          </a:p>
        </p:txBody>
      </p:sp>
      <p:sp>
        <p:nvSpPr>
          <p:cNvPr id="35" name="text 35"/>
          <p:cNvSpPr/>
          <p:nvPr/>
        </p:nvSpPr>
        <p:spPr>
          <a:xfrm>
            <a:off x="6985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Server-owned work continues across browser reconnects. Buffered</a:t>
            </a:r>
            <a:endParaRPr lang="en-US" sz="1250"/>
          </a:p>
          <a:p>
            <a:pPr algn="l">
              <a:lnSpc>
                <a:spcPts val="1425"/>
              </a:lnSpc>
              <a:spcAft>
                <a:spcPts val="0"/>
              </a:spcAft>
            </a:pPr>
            <a:r>
              <a:rPr lang="en-US" sz="1250" b="0" dirty="0">
                <a:solidFill>
                  <a:srgbClr val="6D706B"/>
                </a:solidFill>
                <a:latin typeface="Funnel Sans"/>
              </a:rPr>
              <a:t>previews remain preliminary until finalization.</a:t>
            </a:r>
            <a:endParaRPr lang="en-US" sz="1250"/>
          </a:p>
        </p:txBody>
      </p:sp>
      <p:sp>
        <p:nvSpPr>
          <p:cNvPr id="36" name="shape 36"/>
          <p:cNvSpPr/>
          <p:nvPr/>
        </p:nvSpPr>
        <p:spPr>
          <a:xfrm>
            <a:off x="6197600" y="4762500"/>
            <a:ext cx="5486400" cy="1346200"/>
          </a:xfrm>
          <a:prstGeom prst="rect">
            <a:avLst/>
          </a:prstGeom>
          <a:solidFill>
            <a:srgbClr val="FFFFFF"/>
          </a:solidFill>
          <a:ln w="12700">
            <a:solidFill>
              <a:srgbClr val="DEDCD6"/>
            </a:solidFill>
          </a:ln>
        </p:spPr>
      </p:sp>
      <p:sp>
        <p:nvSpPr>
          <p:cNvPr id="37" name="shape 37"/>
          <p:cNvSpPr/>
          <p:nvPr/>
        </p:nvSpPr>
        <p:spPr>
          <a:xfrm>
            <a:off x="6197600" y="4762500"/>
            <a:ext cx="38100" cy="1346200"/>
          </a:xfrm>
          <a:prstGeom prst="rect">
            <a:avLst/>
          </a:prstGeom>
          <a:solidFill>
            <a:srgbClr val="FF4F59"/>
          </a:solidFill>
          <a:ln>
            <a:noFill/>
          </a:ln>
        </p:spPr>
      </p:sp>
      <p:sp>
        <p:nvSpPr>
          <p:cNvPr id="38" name="text 38"/>
          <p:cNvSpPr/>
          <p:nvPr/>
        </p:nvSpPr>
        <p:spPr>
          <a:xfrm>
            <a:off x="6388100" y="48768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Failure / blocked scope</a:t>
            </a:r>
            <a:endParaRPr lang="en-US" sz="1600"/>
          </a:p>
        </p:txBody>
      </p:sp>
      <p:sp>
        <p:nvSpPr>
          <p:cNvPr id="39" name="text 39"/>
          <p:cNvSpPr/>
          <p:nvPr/>
        </p:nvSpPr>
        <p:spPr>
          <a:xfrm>
            <a:off x="6388100" y="5207000"/>
            <a:ext cx="5105400" cy="8255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Incompatible scope, invalid cuts or non-reconciling bins are rejected;</a:t>
            </a:r>
            <a:endParaRPr lang="en-US" sz="1250"/>
          </a:p>
          <a:p>
            <a:pPr algn="l">
              <a:lnSpc>
                <a:spcPts val="1425"/>
              </a:lnSpc>
              <a:spcAft>
                <a:spcPts val="0"/>
              </a:spcAft>
            </a:pPr>
            <a:r>
              <a:rPr lang="en-US" sz="1250" b="0" dirty="0">
                <a:solidFill>
                  <a:srgbClr val="6D706B"/>
                </a:solidFill>
                <a:latin typeface="Funnel Sans"/>
              </a:rPr>
              <a:t>unavailable feature evidence is explicit.</a:t>
            </a:r>
            <a:endParaRPr lang="en-US" sz="1250"/>
          </a:p>
        </p:txBody>
      </p:sp>
      <p:cxnSp>
        <p:nvCxnSpPr>
          <p:cNvPr id="40" name="connector 4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text 4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2" name="text 4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55 / 87</a:t>
            </a:r>
            <a:endParaRPr lang="en-US" sz="10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04 / T4-D14 • E / ISSUE &amp; RCA</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Carry the finding into a controlled investigation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Population Stability Index (PSI)</a:t>
            </a:r>
            <a:endParaRPr lang="en-US" sz="1500"/>
          </a:p>
        </p:txBody>
      </p:sp>
      <p:sp>
        <p:nvSpPr>
          <p:cNvPr id="6" name="shape 6"/>
          <p:cNvSpPr/>
          <p:nvPr/>
        </p:nvSpPr>
        <p:spPr>
          <a:xfrm>
            <a:off x="9372600" y="215900"/>
            <a:ext cx="2311400" cy="317500"/>
          </a:xfrm>
          <a:prstGeom prst="roundRect">
            <a:avLst/>
          </a:prstGeom>
          <a:solidFill>
            <a:srgbClr val="E9F3ED"/>
          </a:solidFill>
          <a:ln>
            <a:noFill/>
          </a:ln>
        </p:spPr>
      </p:sp>
      <p:sp>
        <p:nvSpPr>
          <p:cNvPr id="7" name="text 7"/>
          <p:cNvSpPr/>
          <p:nvPr/>
        </p:nvSpPr>
        <p:spPr>
          <a:xfrm>
            <a:off x="9486900" y="292100"/>
            <a:ext cx="2082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enabled</a:t>
            </a:r>
            <a:endParaRPr lang="en-US" sz="1050"/>
          </a:p>
        </p:txBody>
      </p:sp>
      <p:sp>
        <p:nvSpPr>
          <p:cNvPr id="8" name="shape 8"/>
          <p:cNvSpPr/>
          <p:nvPr/>
        </p:nvSpPr>
        <p:spPr>
          <a:xfrm>
            <a:off x="508000" y="2197100"/>
            <a:ext cx="2235200" cy="457200"/>
          </a:xfrm>
          <a:prstGeom prst="rect">
            <a:avLst/>
          </a:prstGeom>
          <a:solidFill>
            <a:srgbClr val="282A27"/>
          </a:solidFill>
          <a:ln>
            <a:noFill/>
          </a:ln>
        </p:spPr>
      </p:sp>
      <p:sp>
        <p:nvSpPr>
          <p:cNvPr id="9" name="text 9"/>
          <p:cNvSpPr/>
          <p:nvPr/>
        </p:nvSpPr>
        <p:spPr>
          <a:xfrm>
            <a:off x="635000" y="2311400"/>
            <a:ext cx="19812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Step</a:t>
            </a:r>
            <a:endParaRPr lang="en-US" sz="1200"/>
          </a:p>
        </p:txBody>
      </p:sp>
      <p:sp>
        <p:nvSpPr>
          <p:cNvPr id="10" name="shape 10"/>
          <p:cNvSpPr/>
          <p:nvPr/>
        </p:nvSpPr>
        <p:spPr>
          <a:xfrm>
            <a:off x="2743200" y="2197100"/>
            <a:ext cx="8940800" cy="457200"/>
          </a:xfrm>
          <a:prstGeom prst="rect">
            <a:avLst/>
          </a:prstGeom>
          <a:solidFill>
            <a:srgbClr val="282A27"/>
          </a:solidFill>
          <a:ln>
            <a:noFill/>
          </a:ln>
        </p:spPr>
      </p:sp>
      <p:sp>
        <p:nvSpPr>
          <p:cNvPr id="11" name="text 11"/>
          <p:cNvSpPr/>
          <p:nvPr/>
        </p:nvSpPr>
        <p:spPr>
          <a:xfrm>
            <a:off x="2870200" y="2311400"/>
            <a:ext cx="8686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Implemented behavior / proposed follow-up</a:t>
            </a:r>
            <a:endParaRPr lang="en-US" sz="1200"/>
          </a:p>
        </p:txBody>
      </p:sp>
      <p:sp>
        <p:nvSpPr>
          <p:cNvPr id="12" name="shape 12"/>
          <p:cNvSpPr/>
          <p:nvPr/>
        </p:nvSpPr>
        <p:spPr>
          <a:xfrm>
            <a:off x="508000" y="2654300"/>
            <a:ext cx="2235200" cy="604520"/>
          </a:xfrm>
          <a:prstGeom prst="rect">
            <a:avLst/>
          </a:prstGeom>
          <a:solidFill>
            <a:srgbClr val="FFFFFF"/>
          </a:solidFill>
          <a:ln>
            <a:noFill/>
          </a:ln>
        </p:spPr>
      </p:sp>
      <p:sp>
        <p:nvSpPr>
          <p:cNvPr id="13" name="text 13"/>
          <p:cNvSpPr/>
          <p:nvPr/>
        </p:nvSpPr>
        <p:spPr>
          <a:xfrm>
            <a:off x="635000" y="270510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Finding</a:t>
            </a:r>
            <a:endParaRPr lang="en-US" sz="1700"/>
          </a:p>
        </p:txBody>
      </p:sp>
      <p:cxnSp>
        <p:nvCxnSpPr>
          <p:cNvPr id="14" name="connector 14"/>
          <p:cNvCxnSpPr/>
          <p:nvPr/>
        </p:nvCxnSpPr>
        <p:spPr>
          <a:xfrm>
            <a:off x="508000" y="325882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743200" y="2654300"/>
            <a:ext cx="8940800" cy="604520"/>
          </a:xfrm>
          <a:prstGeom prst="rect">
            <a:avLst/>
          </a:prstGeom>
          <a:solidFill>
            <a:srgbClr val="FFFFFF"/>
          </a:solidFill>
          <a:ln>
            <a:noFill/>
          </a:ln>
        </p:spPr>
      </p:sp>
      <p:sp>
        <p:nvSpPr>
          <p:cNvPr id="16" name="text 16"/>
          <p:cNvSpPr/>
          <p:nvPr/>
        </p:nvSpPr>
        <p:spPr>
          <a:xfrm>
            <a:off x="2870200" y="270510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Watch/investigate population shifts create contextual findings; they are not automatic</a:t>
            </a:r>
            <a:endParaRPr lang="en-US" sz="1650"/>
          </a:p>
          <a:p>
            <a:pPr algn="l">
              <a:lnSpc>
                <a:spcPts val="1881"/>
              </a:lnSpc>
              <a:spcAft>
                <a:spcPts val="0"/>
              </a:spcAft>
            </a:pPr>
            <a:r>
              <a:rPr lang="en-US" sz="1650" b="0" dirty="0">
                <a:solidFill>
                  <a:srgbClr val="181C23"/>
                </a:solidFill>
                <a:latin typeface="Funnel Sans"/>
              </a:rPr>
              <a:t>data violations.</a:t>
            </a:r>
            <a:endParaRPr lang="en-US" sz="1650"/>
          </a:p>
        </p:txBody>
      </p:sp>
      <p:cxnSp>
        <p:nvCxnSpPr>
          <p:cNvPr id="17" name="connector 17"/>
          <p:cNvCxnSpPr/>
          <p:nvPr/>
        </p:nvCxnSpPr>
        <p:spPr>
          <a:xfrm>
            <a:off x="2743200" y="325882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08000" y="3258820"/>
            <a:ext cx="2235200" cy="604520"/>
          </a:xfrm>
          <a:prstGeom prst="rect">
            <a:avLst/>
          </a:prstGeom>
          <a:solidFill>
            <a:srgbClr val="EFEEE9"/>
          </a:solidFill>
          <a:ln>
            <a:noFill/>
          </a:ln>
        </p:spPr>
      </p:sp>
      <p:sp>
        <p:nvSpPr>
          <p:cNvPr id="19" name="text 19"/>
          <p:cNvSpPr/>
          <p:nvPr/>
        </p:nvSpPr>
        <p:spPr>
          <a:xfrm>
            <a:off x="635000" y="330962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Issue gate</a:t>
            </a:r>
            <a:endParaRPr lang="en-US" sz="1700"/>
          </a:p>
        </p:txBody>
      </p:sp>
      <p:cxnSp>
        <p:nvCxnSpPr>
          <p:cNvPr id="20" name="connector 20"/>
          <p:cNvCxnSpPr/>
          <p:nvPr/>
        </p:nvCxnSpPr>
        <p:spPr>
          <a:xfrm>
            <a:off x="508000" y="386334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2743200" y="3258820"/>
            <a:ext cx="8940800" cy="604520"/>
          </a:xfrm>
          <a:prstGeom prst="rect">
            <a:avLst/>
          </a:prstGeom>
          <a:solidFill>
            <a:srgbClr val="EFEEE9"/>
          </a:solidFill>
          <a:ln>
            <a:noFill/>
          </a:ln>
        </p:spPr>
      </p:sp>
      <p:sp>
        <p:nvSpPr>
          <p:cNvPr id="22" name="text 22"/>
          <p:cNvSpPr/>
          <p:nvPr/>
        </p:nvSpPr>
        <p:spPr>
          <a:xfrm>
            <a:off x="2870200" y="330962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SME confirms or dismisses with rationale before issue creation and the existing RCA</a:t>
            </a:r>
            <a:endParaRPr lang="en-US" sz="1650"/>
          </a:p>
          <a:p>
            <a:pPr algn="l">
              <a:lnSpc>
                <a:spcPts val="1881"/>
              </a:lnSpc>
              <a:spcAft>
                <a:spcPts val="0"/>
              </a:spcAft>
            </a:pPr>
            <a:r>
              <a:rPr lang="en-US" sz="1650" b="0" dirty="0">
                <a:solidFill>
                  <a:srgbClr val="181C23"/>
                </a:solidFill>
                <a:latin typeface="Funnel Sans"/>
              </a:rPr>
              <a:t>handoff.</a:t>
            </a:r>
            <a:endParaRPr lang="en-US" sz="1650"/>
          </a:p>
        </p:txBody>
      </p:sp>
      <p:cxnSp>
        <p:nvCxnSpPr>
          <p:cNvPr id="23" name="connector 23"/>
          <p:cNvCxnSpPr/>
          <p:nvPr/>
        </p:nvCxnSpPr>
        <p:spPr>
          <a:xfrm>
            <a:off x="2743200" y="386334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508000" y="3863340"/>
            <a:ext cx="2235200" cy="604520"/>
          </a:xfrm>
          <a:prstGeom prst="rect">
            <a:avLst/>
          </a:prstGeom>
          <a:solidFill>
            <a:srgbClr val="FFFFFF"/>
          </a:solidFill>
          <a:ln>
            <a:noFill/>
          </a:ln>
        </p:spPr>
      </p:sp>
      <p:sp>
        <p:nvSpPr>
          <p:cNvPr id="25" name="text 25"/>
          <p:cNvSpPr/>
          <p:nvPr/>
        </p:nvSpPr>
        <p:spPr>
          <a:xfrm>
            <a:off x="635000" y="391414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RCA</a:t>
            </a:r>
            <a:endParaRPr lang="en-US" sz="1700"/>
          </a:p>
        </p:txBody>
      </p:sp>
      <p:cxnSp>
        <p:nvCxnSpPr>
          <p:cNvPr id="26" name="connector 26"/>
          <p:cNvCxnSpPr/>
          <p:nvPr/>
        </p:nvCxnSpPr>
        <p:spPr>
          <a:xfrm>
            <a:off x="508000" y="446786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2743200" y="3863340"/>
            <a:ext cx="8940800" cy="604520"/>
          </a:xfrm>
          <a:prstGeom prst="rect">
            <a:avLst/>
          </a:prstGeom>
          <a:solidFill>
            <a:srgbClr val="FFFFFF"/>
          </a:solidFill>
          <a:ln>
            <a:noFill/>
          </a:ln>
        </p:spPr>
      </p:sp>
      <p:sp>
        <p:nvSpPr>
          <p:cNvPr id="28" name="text 28"/>
          <p:cNvSpPr/>
          <p:nvPr/>
        </p:nvSpPr>
        <p:spPr>
          <a:xfrm>
            <a:off x="2870200" y="391414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 which bins drive PSI, population selection, missing/special values and any</a:t>
            </a:r>
            <a:endParaRPr lang="en-US" sz="1650"/>
          </a:p>
          <a:p>
            <a:pPr algn="l">
              <a:lnSpc>
                <a:spcPts val="1881"/>
              </a:lnSpc>
              <a:spcAft>
                <a:spcPts val="0"/>
              </a:spcAft>
            </a:pPr>
            <a:r>
              <a:rPr lang="en-US" sz="1650" b="0" dirty="0">
                <a:solidFill>
                  <a:srgbClr val="181C23"/>
                </a:solidFill>
                <a:latin typeface="Funnel Sans"/>
              </a:rPr>
              <a:t>legitimate business shift.</a:t>
            </a:r>
            <a:endParaRPr lang="en-US" sz="1650"/>
          </a:p>
        </p:txBody>
      </p:sp>
      <p:cxnSp>
        <p:nvCxnSpPr>
          <p:cNvPr id="29" name="connector 29"/>
          <p:cNvCxnSpPr/>
          <p:nvPr/>
        </p:nvCxnSpPr>
        <p:spPr>
          <a:xfrm>
            <a:off x="2743200" y="446786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467860"/>
            <a:ext cx="2235200" cy="604520"/>
          </a:xfrm>
          <a:prstGeom prst="rect">
            <a:avLst/>
          </a:prstGeom>
          <a:solidFill>
            <a:srgbClr val="EFEEE9"/>
          </a:solidFill>
          <a:ln>
            <a:noFill/>
          </a:ln>
        </p:spPr>
      </p:sp>
      <p:sp>
        <p:nvSpPr>
          <p:cNvPr id="31" name="text 31"/>
          <p:cNvSpPr/>
          <p:nvPr/>
        </p:nvSpPr>
        <p:spPr>
          <a:xfrm>
            <a:off x="635000" y="4518660"/>
            <a:ext cx="1981200" cy="502920"/>
          </a:xfrm>
          <a:prstGeom prst="rect">
            <a:avLst/>
          </a:prstGeom>
          <a:noFill/>
          <a:ln>
            <a:noFill/>
          </a:ln>
        </p:spPr>
        <p:txBody>
          <a:bodyPr wrap="none" lIns="0" tIns="0" rIns="0" bIns="0" anchor="t">
            <a:noAutofit/>
          </a:bodyPr>
          <a:lstStyle/>
          <a:p>
            <a:pPr algn="l">
              <a:lnSpc>
                <a:spcPts val="1881"/>
              </a:lnSpc>
              <a:spcAft>
                <a:spcPts val="0"/>
              </a:spcAft>
            </a:pPr>
            <a:r>
              <a:rPr lang="en-US" sz="1650" b="1" dirty="0">
                <a:solidFill>
                  <a:srgbClr val="181C23"/>
                </a:solidFill>
                <a:latin typeface="Funnel Sans"/>
              </a:rPr>
              <a:t>Remediation /</a:t>
            </a:r>
            <a:endParaRPr lang="en-US" sz="1650"/>
          </a:p>
          <a:p>
            <a:pPr algn="l">
              <a:lnSpc>
                <a:spcPts val="1881"/>
              </a:lnSpc>
              <a:spcAft>
                <a:spcPts val="0"/>
              </a:spcAft>
            </a:pPr>
            <a:r>
              <a:rPr lang="en-US" sz="1650" b="1" dirty="0">
                <a:solidFill>
                  <a:srgbClr val="181C23"/>
                </a:solidFill>
                <a:latin typeface="Funnel Sans"/>
              </a:rPr>
              <a:t>retest</a:t>
            </a:r>
            <a:endParaRPr lang="en-US" sz="1650"/>
          </a:p>
        </p:txBody>
      </p:sp>
      <p:cxnSp>
        <p:nvCxnSpPr>
          <p:cNvPr id="32" name="connector 32"/>
          <p:cNvCxnSpPr/>
          <p:nvPr/>
        </p:nvCxnSpPr>
        <p:spPr>
          <a:xfrm>
            <a:off x="508000" y="507238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743200" y="4467860"/>
            <a:ext cx="8940800" cy="604520"/>
          </a:xfrm>
          <a:prstGeom prst="rect">
            <a:avLst/>
          </a:prstGeom>
          <a:solidFill>
            <a:srgbClr val="EFEEE9"/>
          </a:solidFill>
          <a:ln>
            <a:noFill/>
          </a:ln>
        </p:spPr>
      </p:sp>
      <p:sp>
        <p:nvSpPr>
          <p:cNvPr id="34" name="text 34"/>
          <p:cNvSpPr/>
          <p:nvPr/>
        </p:nvSpPr>
        <p:spPr>
          <a:xfrm>
            <a:off x="2870200" y="451866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Suggested: adjust a justified sample/baseline or correct data; approve fresh bins where</a:t>
            </a:r>
            <a:endParaRPr lang="en-US" sz="1650"/>
          </a:p>
          <a:p>
            <a:pPr algn="l">
              <a:lnSpc>
                <a:spcPts val="1881"/>
              </a:lnSpc>
              <a:spcAft>
                <a:spcPts val="0"/>
              </a:spcAft>
            </a:pPr>
            <a:r>
              <a:rPr lang="en-US" sz="1650" b="0" dirty="0">
                <a:solidFill>
                  <a:srgbClr val="181C23"/>
                </a:solidFill>
                <a:latin typeface="Funnel Sans"/>
              </a:rPr>
              <a:t>required and rerun.</a:t>
            </a:r>
            <a:endParaRPr lang="en-US" sz="1650"/>
          </a:p>
        </p:txBody>
      </p:sp>
      <p:cxnSp>
        <p:nvCxnSpPr>
          <p:cNvPr id="35" name="connector 35"/>
          <p:cNvCxnSpPr/>
          <p:nvPr/>
        </p:nvCxnSpPr>
        <p:spPr>
          <a:xfrm>
            <a:off x="2743200" y="507238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508000" y="5072380"/>
            <a:ext cx="2235200" cy="604520"/>
          </a:xfrm>
          <a:prstGeom prst="rect">
            <a:avLst/>
          </a:prstGeom>
          <a:solidFill>
            <a:srgbClr val="FFFFFF"/>
          </a:solidFill>
          <a:ln>
            <a:noFill/>
          </a:ln>
        </p:spPr>
      </p:sp>
      <p:sp>
        <p:nvSpPr>
          <p:cNvPr id="37" name="text 37"/>
          <p:cNvSpPr/>
          <p:nvPr/>
        </p:nvSpPr>
        <p:spPr>
          <a:xfrm>
            <a:off x="635000" y="5123180"/>
            <a:ext cx="1981200" cy="50292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Closure</a:t>
            </a:r>
            <a:endParaRPr lang="en-US" sz="1700"/>
          </a:p>
        </p:txBody>
      </p:sp>
      <p:cxnSp>
        <p:nvCxnSpPr>
          <p:cNvPr id="38" name="connector 38"/>
          <p:cNvCxnSpPr/>
          <p:nvPr/>
        </p:nvCxnSpPr>
        <p:spPr>
          <a:xfrm>
            <a:off x="508000" y="5676900"/>
            <a:ext cx="22352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2743200" y="5072380"/>
            <a:ext cx="8940800" cy="604520"/>
          </a:xfrm>
          <a:prstGeom prst="rect">
            <a:avLst/>
          </a:prstGeom>
          <a:solidFill>
            <a:srgbClr val="FFFFFF"/>
          </a:solidFill>
          <a:ln>
            <a:noFill/>
          </a:ln>
        </p:spPr>
      </p:sp>
      <p:sp>
        <p:nvSpPr>
          <p:cNvPr id="40" name="text 40"/>
          <p:cNvSpPr/>
          <p:nvPr/>
        </p:nvSpPr>
        <p:spPr>
          <a:xfrm>
            <a:off x="2870200" y="5123180"/>
            <a:ext cx="8686800" cy="50292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Reviewer approves root cause identified or unresolved with evidence; optional follow-up</a:t>
            </a:r>
            <a:endParaRPr lang="en-US" sz="1650"/>
          </a:p>
          <a:p>
            <a:pPr algn="l">
              <a:lnSpc>
                <a:spcPts val="1881"/>
              </a:lnSpc>
              <a:spcAft>
                <a:spcPts val="0"/>
              </a:spcAft>
            </a:pPr>
            <a:r>
              <a:rPr lang="en-US" sz="1650" b="0" dirty="0">
                <a:solidFill>
                  <a:srgbClr val="181C23"/>
                </a:solidFill>
                <a:latin typeface="Funnel Sans"/>
              </a:rPr>
              <a:t>stays separate.</a:t>
            </a:r>
            <a:endParaRPr lang="en-US" sz="1650"/>
          </a:p>
        </p:txBody>
      </p:sp>
      <p:cxnSp>
        <p:nvCxnSpPr>
          <p:cNvPr id="41" name="connector 41"/>
          <p:cNvCxnSpPr/>
          <p:nvPr/>
        </p:nvCxnSpPr>
        <p:spPr>
          <a:xfrm>
            <a:off x="2743200" y="5676900"/>
            <a:ext cx="8940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508000" y="5740400"/>
            <a:ext cx="11176000" cy="546100"/>
          </a:xfrm>
          <a:prstGeom prst="rect">
            <a:avLst/>
          </a:prstGeom>
          <a:solidFill>
            <a:srgbClr val="282A27"/>
          </a:solidFill>
          <a:ln>
            <a:noFill/>
          </a:ln>
        </p:spPr>
      </p:sp>
      <p:sp>
        <p:nvSpPr>
          <p:cNvPr id="43" name="text 4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Manual / proposed: source correction and fresh-data retest. RCA approval does not prove a fix.</a:t>
            </a:r>
            <a:endParaRPr lang="en-US" sz="1600"/>
          </a:p>
        </p:txBody>
      </p:sp>
      <p:cxnSp>
        <p:nvCxnSpPr>
          <p:cNvPr id="44" name="connector 4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text 4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6" name="text 4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56 / 87</a:t>
            </a:r>
            <a:endParaRPr lang="en-US" sz="10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05 / SUPPORTING INVESTIGATION • A</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Explain missingness patterns without asserting causality</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Missingness Mechanism is implemented beside the nine-diagnostic register.</a:t>
            </a:r>
            <a:endParaRPr lang="en-US" sz="1500"/>
          </a:p>
        </p:txBody>
      </p:sp>
      <p:sp>
        <p:nvSpPr>
          <p:cNvPr id="6" name="shape 6"/>
          <p:cNvSpPr/>
          <p:nvPr/>
        </p:nvSpPr>
        <p:spPr>
          <a:xfrm>
            <a:off x="9169400" y="215900"/>
            <a:ext cx="2514600" cy="317500"/>
          </a:xfrm>
          <a:prstGeom prst="roundRect">
            <a:avLst/>
          </a:prstGeom>
          <a:solidFill>
            <a:srgbClr val="E9F3ED"/>
          </a:solidFill>
          <a:ln>
            <a:noFill/>
          </a:ln>
        </p:spPr>
      </p:sp>
      <p:sp>
        <p:nvSpPr>
          <p:cNvPr id="7" name="text 7"/>
          <p:cNvSpPr/>
          <p:nvPr/>
        </p:nvSpPr>
        <p:spPr>
          <a:xfrm>
            <a:off x="9283700" y="292100"/>
            <a:ext cx="22860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276B57"/>
                </a:solidFill>
                <a:latin typeface="Funnel Sans"/>
              </a:rPr>
              <a:t>Implemented • supporting</a:t>
            </a:r>
            <a:endParaRPr lang="en-US" sz="1050"/>
          </a:p>
        </p:txBody>
      </p:sp>
      <p:sp>
        <p:nvSpPr>
          <p:cNvPr id="8" name="shape 8"/>
          <p:cNvSpPr/>
          <p:nvPr/>
        </p:nvSpPr>
        <p:spPr>
          <a:xfrm>
            <a:off x="508000" y="2273300"/>
            <a:ext cx="3589867" cy="3136900"/>
          </a:xfrm>
          <a:prstGeom prst="rect">
            <a:avLst/>
          </a:prstGeom>
          <a:solidFill>
            <a:srgbClr val="FFFFFF"/>
          </a:solidFill>
          <a:ln w="12700">
            <a:solidFill>
              <a:srgbClr val="DEDCD6"/>
            </a:solidFill>
          </a:ln>
        </p:spPr>
      </p:sp>
      <p:sp>
        <p:nvSpPr>
          <p:cNvPr id="9" name="shape 9"/>
          <p:cNvSpPr/>
          <p:nvPr/>
        </p:nvSpPr>
        <p:spPr>
          <a:xfrm>
            <a:off x="508000" y="2273300"/>
            <a:ext cx="38100" cy="3136900"/>
          </a:xfrm>
          <a:prstGeom prst="rect">
            <a:avLst/>
          </a:prstGeom>
          <a:solidFill>
            <a:srgbClr val="FF4F59"/>
          </a:solidFill>
          <a:ln>
            <a:noFill/>
          </a:ln>
        </p:spPr>
      </p:sp>
      <p:sp>
        <p:nvSpPr>
          <p:cNvPr id="10" name="shape 10"/>
          <p:cNvSpPr/>
          <p:nvPr/>
        </p:nvSpPr>
        <p:spPr>
          <a:xfrm>
            <a:off x="711200" y="2463800"/>
            <a:ext cx="241300" cy="241300"/>
          </a:xfrm>
          <a:prstGeom prst="ellipse">
            <a:avLst/>
          </a:prstGeom>
          <a:noFill/>
          <a:ln w="22860">
            <a:solidFill>
              <a:srgbClr val="FF4F59"/>
            </a:solidFill>
          </a:ln>
        </p:spPr>
      </p:sp>
      <p:cxnSp>
        <p:nvCxnSpPr>
          <p:cNvPr id="11" name="connector 11"/>
          <p:cNvCxnSpPr/>
          <p:nvPr/>
        </p:nvCxnSpPr>
        <p:spPr>
          <a:xfrm>
            <a:off x="914400" y="26670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12" name="text 12"/>
          <p:cNvSpPr/>
          <p:nvPr/>
        </p:nvSpPr>
        <p:spPr>
          <a:xfrm>
            <a:off x="1193800"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a:t>
            </a:r>
            <a:endParaRPr lang="en-US" sz="1900"/>
          </a:p>
        </p:txBody>
      </p:sp>
      <p:sp>
        <p:nvSpPr>
          <p:cNvPr id="13" name="text 13"/>
          <p:cNvSpPr/>
          <p:nvPr/>
        </p:nvSpPr>
        <p:spPr>
          <a:xfrm>
            <a:off x="723900" y="3238500"/>
            <a:ext cx="3158067" cy="19812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Identify descriptive structure</a:t>
            </a:r>
            <a:endParaRPr lang="en-US" sz="1700"/>
          </a:p>
          <a:p>
            <a:pPr algn="l">
              <a:lnSpc>
                <a:spcPts val="1938"/>
              </a:lnSpc>
              <a:spcAft>
                <a:spcPts val="0"/>
              </a:spcAft>
            </a:pPr>
            <a:r>
              <a:rPr lang="en-US" sz="1700" b="0" dirty="0">
                <a:solidFill>
                  <a:srgbClr val="181C23"/>
                </a:solidFill>
                <a:latin typeface="Funnel Sans"/>
              </a:rPr>
              <a:t>in missingness and distinguish</a:t>
            </a:r>
            <a:endParaRPr lang="en-US" sz="1700"/>
          </a:p>
          <a:p>
            <a:pPr algn="l">
              <a:lnSpc>
                <a:spcPts val="1938"/>
              </a:lnSpc>
              <a:spcAft>
                <a:spcPts val="0"/>
              </a:spcAft>
            </a:pPr>
            <a:r>
              <a:rPr lang="en-US" sz="1700" b="0" dirty="0">
                <a:solidFill>
                  <a:srgbClr val="181C23"/>
                </a:solidFill>
                <a:latin typeface="Funnel Sans"/>
              </a:rPr>
              <a:t>weak evidence from</a:t>
            </a:r>
            <a:endParaRPr lang="en-US" sz="1700"/>
          </a:p>
          <a:p>
            <a:pPr algn="l">
              <a:lnSpc>
                <a:spcPts val="1938"/>
              </a:lnSpc>
              <a:spcAft>
                <a:spcPts val="0"/>
              </a:spcAft>
            </a:pPr>
            <a:r>
              <a:rPr lang="en-US" sz="1700" b="0" dirty="0">
                <a:solidFill>
                  <a:srgbClr val="181C23"/>
                </a:solidFill>
                <a:latin typeface="Funnel Sans"/>
              </a:rPr>
              <a:t>untestable scope.</a:t>
            </a:r>
            <a:endParaRPr lang="en-US" sz="1700"/>
          </a:p>
        </p:txBody>
      </p:sp>
      <p:sp>
        <p:nvSpPr>
          <p:cNvPr id="14" name="shape 14"/>
          <p:cNvSpPr/>
          <p:nvPr/>
        </p:nvSpPr>
        <p:spPr>
          <a:xfrm>
            <a:off x="4301067" y="2273300"/>
            <a:ext cx="3589867" cy="3136900"/>
          </a:xfrm>
          <a:prstGeom prst="rect">
            <a:avLst/>
          </a:prstGeom>
          <a:solidFill>
            <a:srgbClr val="FFFFFF"/>
          </a:solidFill>
          <a:ln w="12700">
            <a:solidFill>
              <a:srgbClr val="DEDCD6"/>
            </a:solidFill>
          </a:ln>
        </p:spPr>
      </p:sp>
      <p:sp>
        <p:nvSpPr>
          <p:cNvPr id="15" name="shape 15"/>
          <p:cNvSpPr/>
          <p:nvPr/>
        </p:nvSpPr>
        <p:spPr>
          <a:xfrm>
            <a:off x="4301067" y="2273300"/>
            <a:ext cx="38100" cy="3136900"/>
          </a:xfrm>
          <a:prstGeom prst="rect">
            <a:avLst/>
          </a:prstGeom>
          <a:solidFill>
            <a:srgbClr val="FF4F59"/>
          </a:solidFill>
          <a:ln>
            <a:noFill/>
          </a:ln>
        </p:spPr>
      </p:sp>
      <p:sp>
        <p:nvSpPr>
          <p:cNvPr id="16" name="shape 16"/>
          <p:cNvSpPr/>
          <p:nvPr/>
        </p:nvSpPr>
        <p:spPr>
          <a:xfrm>
            <a:off x="4504267" y="2463800"/>
            <a:ext cx="304800" cy="342900"/>
          </a:xfrm>
          <a:prstGeom prst="can">
            <a:avLst/>
          </a:prstGeom>
          <a:noFill/>
          <a:ln w="20320">
            <a:solidFill>
              <a:srgbClr val="FF4F59"/>
            </a:solidFill>
          </a:ln>
        </p:spPr>
      </p:sp>
      <p:sp>
        <p:nvSpPr>
          <p:cNvPr id="17" name="text 17"/>
          <p:cNvSpPr/>
          <p:nvPr/>
        </p:nvSpPr>
        <p:spPr>
          <a:xfrm>
            <a:off x="4986867"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Inputs</a:t>
            </a:r>
            <a:endParaRPr lang="en-US" sz="1900"/>
          </a:p>
        </p:txBody>
      </p:sp>
      <p:sp>
        <p:nvSpPr>
          <p:cNvPr id="18" name="text 18"/>
          <p:cNvSpPr/>
          <p:nvPr/>
        </p:nvSpPr>
        <p:spPr>
          <a:xfrm>
            <a:off x="4516967" y="3238500"/>
            <a:ext cx="3158067" cy="19812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Ready active table;</a:t>
            </a:r>
            <a:endParaRPr lang="en-US" sz="1700"/>
          </a:p>
          <a:p>
            <a:pPr algn="l">
              <a:lnSpc>
                <a:spcPts val="1938"/>
              </a:lnSpc>
              <a:spcAft>
                <a:spcPts val="0"/>
              </a:spcAft>
            </a:pPr>
            <a:r>
              <a:rPr lang="en-US" sz="1700" b="0" dirty="0">
                <a:solidFill>
                  <a:srgbClr val="181C23"/>
                </a:solidFill>
                <a:latin typeface="Funnel Sans"/>
              </a:rPr>
              <a:t>missing-value codes; period</a:t>
            </a:r>
            <a:endParaRPr lang="en-US" sz="1700"/>
          </a:p>
          <a:p>
            <a:pPr algn="l">
              <a:lnSpc>
                <a:spcPts val="1938"/>
              </a:lnSpc>
              <a:spcAft>
                <a:spcPts val="0"/>
              </a:spcAft>
            </a:pPr>
            <a:r>
              <a:rPr lang="en-US" sz="1700" b="0" dirty="0">
                <a:solidFill>
                  <a:srgbClr val="181C23"/>
                </a:solidFill>
                <a:latin typeface="Funnel Sans"/>
              </a:rPr>
              <a:t>context; optional tolerances</a:t>
            </a:r>
            <a:endParaRPr lang="en-US" sz="1700"/>
          </a:p>
          <a:p>
            <a:pPr algn="l">
              <a:lnSpc>
                <a:spcPts val="1938"/>
              </a:lnSpc>
              <a:spcAft>
                <a:spcPts val="0"/>
              </a:spcAft>
            </a:pPr>
            <a:r>
              <a:rPr lang="en-US" sz="1700" b="0" dirty="0">
                <a:solidFill>
                  <a:srgbClr val="181C23"/>
                </a:solidFill>
                <a:latin typeface="Funnel Sans"/>
              </a:rPr>
              <a:t>and analysis parameters.</a:t>
            </a:r>
            <a:endParaRPr lang="en-US" sz="1700"/>
          </a:p>
        </p:txBody>
      </p:sp>
      <p:sp>
        <p:nvSpPr>
          <p:cNvPr id="19" name="shape 19"/>
          <p:cNvSpPr/>
          <p:nvPr/>
        </p:nvSpPr>
        <p:spPr>
          <a:xfrm>
            <a:off x="8094133" y="2273300"/>
            <a:ext cx="3589867" cy="3136900"/>
          </a:xfrm>
          <a:prstGeom prst="rect">
            <a:avLst/>
          </a:prstGeom>
          <a:solidFill>
            <a:srgbClr val="FFFFFF"/>
          </a:solidFill>
          <a:ln w="12700">
            <a:solidFill>
              <a:srgbClr val="DEDCD6"/>
            </a:solidFill>
          </a:ln>
        </p:spPr>
      </p:sp>
      <p:sp>
        <p:nvSpPr>
          <p:cNvPr id="20" name="shape 20"/>
          <p:cNvSpPr/>
          <p:nvPr/>
        </p:nvSpPr>
        <p:spPr>
          <a:xfrm>
            <a:off x="8094133" y="2273300"/>
            <a:ext cx="38100" cy="3136900"/>
          </a:xfrm>
          <a:prstGeom prst="rect">
            <a:avLst/>
          </a:prstGeom>
          <a:solidFill>
            <a:srgbClr val="FF4F59"/>
          </a:solidFill>
          <a:ln>
            <a:noFill/>
          </a:ln>
        </p:spPr>
      </p:sp>
      <p:sp>
        <p:nvSpPr>
          <p:cNvPr id="21" name="shape 21"/>
          <p:cNvSpPr/>
          <p:nvPr/>
        </p:nvSpPr>
        <p:spPr>
          <a:xfrm>
            <a:off x="8322733" y="2463800"/>
            <a:ext cx="292100" cy="342900"/>
          </a:xfrm>
          <a:prstGeom prst="rect">
            <a:avLst/>
          </a:prstGeom>
          <a:noFill/>
          <a:ln w="12700">
            <a:solidFill>
              <a:srgbClr val="FF4F59"/>
            </a:solidFill>
          </a:ln>
        </p:spPr>
      </p:sp>
      <p:cxnSp>
        <p:nvCxnSpPr>
          <p:cNvPr id="22" name="connector 22"/>
          <p:cNvCxnSpPr/>
          <p:nvPr/>
        </p:nvCxnSpPr>
        <p:spPr>
          <a:xfrm>
            <a:off x="8386233" y="25654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3" name="connector 23"/>
          <p:cNvCxnSpPr/>
          <p:nvPr/>
        </p:nvCxnSpPr>
        <p:spPr>
          <a:xfrm>
            <a:off x="8386233" y="2641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4" name="connector 24"/>
          <p:cNvCxnSpPr/>
          <p:nvPr/>
        </p:nvCxnSpPr>
        <p:spPr>
          <a:xfrm>
            <a:off x="8386233" y="27178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5" name="text 25"/>
          <p:cNvSpPr/>
          <p:nvPr/>
        </p:nvSpPr>
        <p:spPr>
          <a:xfrm>
            <a:off x="8779933"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Outcome</a:t>
            </a:r>
            <a:endParaRPr lang="en-US" sz="1900"/>
          </a:p>
        </p:txBody>
      </p:sp>
      <p:sp>
        <p:nvSpPr>
          <p:cNvPr id="26" name="text 26"/>
          <p:cNvSpPr/>
          <p:nvPr/>
        </p:nvSpPr>
        <p:spPr>
          <a:xfrm>
            <a:off x="8310033" y="3238500"/>
            <a:ext cx="3158067" cy="19812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Immutable missingness report</a:t>
            </a:r>
            <a:endParaRPr lang="en-US" sz="1700"/>
          </a:p>
          <a:p>
            <a:pPr algn="l">
              <a:lnSpc>
                <a:spcPts val="1938"/>
              </a:lnSpc>
              <a:spcAft>
                <a:spcPts val="0"/>
              </a:spcAft>
            </a:pPr>
            <a:r>
              <a:rPr lang="en-US" sz="1700" b="0" dirty="0">
                <a:solidFill>
                  <a:srgbClr val="181C23"/>
                </a:solidFill>
                <a:latin typeface="Funnel Sans"/>
              </a:rPr>
              <a:t>and above-tolerance</a:t>
            </a:r>
            <a:endParaRPr lang="en-US" sz="1700"/>
          </a:p>
          <a:p>
            <a:pPr algn="l">
              <a:lnSpc>
                <a:spcPts val="1938"/>
              </a:lnSpc>
              <a:spcAft>
                <a:spcPts val="0"/>
              </a:spcAft>
            </a:pPr>
            <a:r>
              <a:rPr lang="en-US" sz="1700" b="0" dirty="0">
                <a:solidFill>
                  <a:srgbClr val="181C23"/>
                </a:solidFill>
                <a:latin typeface="Funnel Sans"/>
              </a:rPr>
              <a:t>observations for human</a:t>
            </a:r>
            <a:endParaRPr lang="en-US" sz="1700"/>
          </a:p>
          <a:p>
            <a:pPr algn="l">
              <a:lnSpc>
                <a:spcPts val="1938"/>
              </a:lnSpc>
              <a:spcAft>
                <a:spcPts val="0"/>
              </a:spcAft>
            </a:pPr>
            <a:r>
              <a:rPr lang="en-US" sz="1700" b="0" dirty="0">
                <a:solidFill>
                  <a:srgbClr val="181C23"/>
                </a:solidFill>
                <a:latin typeface="Funnel Sans"/>
              </a:rPr>
              <a:t>disposition.</a:t>
            </a:r>
            <a:endParaRPr lang="en-US" sz="1700"/>
          </a:p>
        </p:txBody>
      </p:sp>
      <p:sp>
        <p:nvSpPr>
          <p:cNvPr id="27" name="shape 27"/>
          <p:cNvSpPr/>
          <p:nvPr/>
        </p:nvSpPr>
        <p:spPr>
          <a:xfrm>
            <a:off x="508000" y="5740400"/>
            <a:ext cx="11176000" cy="546100"/>
          </a:xfrm>
          <a:prstGeom prst="rect">
            <a:avLst/>
          </a:prstGeom>
          <a:solidFill>
            <a:srgbClr val="282A27"/>
          </a:solidFill>
          <a:ln>
            <a:noFill/>
          </a:ln>
        </p:spPr>
      </p:sp>
      <p:sp>
        <p:nvSpPr>
          <p:cNvPr id="28" name="text 28"/>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Missing at random terminology is a claim boundary: the analysis does not prove a mechanism.</a:t>
            </a:r>
            <a:endParaRPr lang="en-US" sz="1600"/>
          </a:p>
        </p:txBody>
      </p:sp>
      <p:cxnSp>
        <p:nvCxnSpPr>
          <p:cNvPr id="29" name="connector 29"/>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text 30"/>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1" name="text 31"/>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57 / 87</a:t>
            </a:r>
            <a:endParaRPr lang="en-US" sz="10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05 / SUPPORTING INVESTIGATION • B</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Freeze the missingness scope and retain descriptive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Co-missingness, structural breaks and shallow-tree explanations are preserved separately.</a:t>
            </a:r>
            <a:endParaRPr lang="en-US" sz="1500"/>
          </a:p>
        </p:txBody>
      </p:sp>
      <p:sp>
        <p:nvSpPr>
          <p:cNvPr id="6" name="shape 6"/>
          <p:cNvSpPr/>
          <p:nvPr/>
        </p:nvSpPr>
        <p:spPr>
          <a:xfrm>
            <a:off x="508000" y="2273300"/>
            <a:ext cx="2052320" cy="2514600"/>
          </a:xfrm>
          <a:prstGeom prst="rect">
            <a:avLst/>
          </a:prstGeom>
          <a:solidFill>
            <a:srgbClr val="FFF2DF"/>
          </a:solidFill>
          <a:ln w="12700">
            <a:solidFill>
              <a:srgbClr val="DEDCD6"/>
            </a:solidFill>
          </a:ln>
        </p:spPr>
      </p:sp>
      <p:sp>
        <p:nvSpPr>
          <p:cNvPr id="7" name="text 7"/>
          <p:cNvSpPr/>
          <p:nvPr/>
        </p:nvSpPr>
        <p:spPr>
          <a:xfrm>
            <a:off x="67310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01</a:t>
            </a:r>
            <a:endParaRPr lang="en-US" sz="2250"/>
          </a:p>
        </p:txBody>
      </p:sp>
      <p:sp>
        <p:nvSpPr>
          <p:cNvPr id="8" name="text 8"/>
          <p:cNvSpPr/>
          <p:nvPr/>
        </p:nvSpPr>
        <p:spPr>
          <a:xfrm>
            <a:off x="673100" y="29464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Freeze scope</a:t>
            </a:r>
            <a:endParaRPr lang="en-US" sz="1800"/>
          </a:p>
        </p:txBody>
      </p:sp>
      <p:sp>
        <p:nvSpPr>
          <p:cNvPr id="9" name="text 9"/>
          <p:cNvSpPr/>
          <p:nvPr/>
        </p:nvSpPr>
        <p:spPr>
          <a:xfrm>
            <a:off x="673100" y="3695700"/>
            <a:ext cx="1722120" cy="9525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Snapshot, codes,</a:t>
            </a:r>
            <a:endParaRPr lang="en-US" sz="1450"/>
          </a:p>
          <a:p>
            <a:pPr algn="l">
              <a:lnSpc>
                <a:spcPts val="1653"/>
              </a:lnSpc>
              <a:spcAft>
                <a:spcPts val="0"/>
              </a:spcAft>
            </a:pPr>
            <a:r>
              <a:rPr lang="en-US" sz="1450" b="0" dirty="0">
                <a:solidFill>
                  <a:srgbClr val="181C23"/>
                </a:solidFill>
                <a:latin typeface="Funnel Sans"/>
              </a:rPr>
              <a:t>parameters and</a:t>
            </a:r>
            <a:endParaRPr lang="en-US" sz="1450"/>
          </a:p>
          <a:p>
            <a:pPr algn="l">
              <a:lnSpc>
                <a:spcPts val="1653"/>
              </a:lnSpc>
              <a:spcAft>
                <a:spcPts val="0"/>
              </a:spcAft>
            </a:pPr>
            <a:r>
              <a:rPr lang="en-US" sz="1450" b="0" dirty="0">
                <a:solidFill>
                  <a:srgbClr val="181C23"/>
                </a:solidFill>
                <a:latin typeface="Funnel Sans"/>
              </a:rPr>
              <a:t>seed</a:t>
            </a:r>
            <a:endParaRPr lang="en-US" sz="1450"/>
          </a:p>
        </p:txBody>
      </p:sp>
      <p:cxnSp>
        <p:nvCxnSpPr>
          <p:cNvPr id="10" name="connector 10"/>
          <p:cNvCxnSpPr/>
          <p:nvPr/>
        </p:nvCxnSpPr>
        <p:spPr>
          <a:xfrm>
            <a:off x="2585720" y="3530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1" name="shape 11"/>
          <p:cNvSpPr/>
          <p:nvPr/>
        </p:nvSpPr>
        <p:spPr>
          <a:xfrm>
            <a:off x="2788920" y="2273300"/>
            <a:ext cx="2052320" cy="2514600"/>
          </a:xfrm>
          <a:prstGeom prst="rect">
            <a:avLst/>
          </a:prstGeom>
          <a:solidFill>
            <a:srgbClr val="FFF2DF"/>
          </a:solidFill>
          <a:ln w="12700">
            <a:solidFill>
              <a:srgbClr val="DEDCD6"/>
            </a:solidFill>
          </a:ln>
        </p:spPr>
      </p:sp>
      <p:sp>
        <p:nvSpPr>
          <p:cNvPr id="12" name="text 12"/>
          <p:cNvSpPr/>
          <p:nvPr/>
        </p:nvSpPr>
        <p:spPr>
          <a:xfrm>
            <a:off x="295402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02</a:t>
            </a:r>
            <a:endParaRPr lang="en-US" sz="2250"/>
          </a:p>
        </p:txBody>
      </p:sp>
      <p:sp>
        <p:nvSpPr>
          <p:cNvPr id="13" name="text 13"/>
          <p:cNvSpPr/>
          <p:nvPr/>
        </p:nvSpPr>
        <p:spPr>
          <a:xfrm>
            <a:off x="2954020" y="29464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Build masks</a:t>
            </a:r>
            <a:endParaRPr lang="en-US" sz="1800"/>
          </a:p>
        </p:txBody>
      </p:sp>
      <p:sp>
        <p:nvSpPr>
          <p:cNvPr id="14" name="text 14"/>
          <p:cNvSpPr/>
          <p:nvPr/>
        </p:nvSpPr>
        <p:spPr>
          <a:xfrm>
            <a:off x="2954020" y="3695700"/>
            <a:ext cx="1722120" cy="9525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Missingness and</a:t>
            </a:r>
            <a:endParaRPr lang="en-US" sz="1450"/>
          </a:p>
          <a:p>
            <a:pPr algn="l">
              <a:lnSpc>
                <a:spcPts val="1653"/>
              </a:lnSpc>
              <a:spcAft>
                <a:spcPts val="0"/>
              </a:spcAft>
            </a:pPr>
            <a:r>
              <a:rPr lang="en-US" sz="1450" b="0" dirty="0">
                <a:solidFill>
                  <a:srgbClr val="181C23"/>
                </a:solidFill>
                <a:latin typeface="Funnel Sans"/>
              </a:rPr>
              <a:t>co-missing blocks</a:t>
            </a:r>
            <a:endParaRPr lang="en-US" sz="1450"/>
          </a:p>
        </p:txBody>
      </p:sp>
      <p:cxnSp>
        <p:nvCxnSpPr>
          <p:cNvPr id="15" name="connector 15"/>
          <p:cNvCxnSpPr/>
          <p:nvPr/>
        </p:nvCxnSpPr>
        <p:spPr>
          <a:xfrm>
            <a:off x="4866640" y="3530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5069840" y="2273300"/>
            <a:ext cx="2052320" cy="2514600"/>
          </a:xfrm>
          <a:prstGeom prst="rect">
            <a:avLst/>
          </a:prstGeom>
          <a:solidFill>
            <a:srgbClr val="FFF2DF"/>
          </a:solidFill>
          <a:ln w="12700">
            <a:solidFill>
              <a:srgbClr val="DEDCD6"/>
            </a:solidFill>
          </a:ln>
        </p:spPr>
      </p:sp>
      <p:sp>
        <p:nvSpPr>
          <p:cNvPr id="17" name="text 17"/>
          <p:cNvSpPr/>
          <p:nvPr/>
        </p:nvSpPr>
        <p:spPr>
          <a:xfrm>
            <a:off x="523494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03</a:t>
            </a:r>
            <a:endParaRPr lang="en-US" sz="2250"/>
          </a:p>
        </p:txBody>
      </p:sp>
      <p:sp>
        <p:nvSpPr>
          <p:cNvPr id="18" name="text 18"/>
          <p:cNvSpPr/>
          <p:nvPr/>
        </p:nvSpPr>
        <p:spPr>
          <a:xfrm>
            <a:off x="5234940" y="29464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Apply gates</a:t>
            </a:r>
            <a:endParaRPr lang="en-US" sz="1800"/>
          </a:p>
        </p:txBody>
      </p:sp>
      <p:sp>
        <p:nvSpPr>
          <p:cNvPr id="19" name="text 19"/>
          <p:cNvSpPr/>
          <p:nvPr/>
        </p:nvSpPr>
        <p:spPr>
          <a:xfrm>
            <a:off x="5234940" y="3695700"/>
            <a:ext cx="1722120" cy="9525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Seven classification</a:t>
            </a:r>
            <a:endParaRPr lang="en-US" sz="1450"/>
          </a:p>
          <a:p>
            <a:pPr algn="l">
              <a:lnSpc>
                <a:spcPts val="1653"/>
              </a:lnSpc>
              <a:spcAft>
                <a:spcPts val="0"/>
              </a:spcAft>
            </a:pPr>
            <a:r>
              <a:rPr lang="en-US" sz="1450" b="0" dirty="0">
                <a:solidFill>
                  <a:srgbClr val="181C23"/>
                </a:solidFill>
                <a:latin typeface="Funnel Sans"/>
              </a:rPr>
              <a:t>gates and guards</a:t>
            </a:r>
            <a:endParaRPr lang="en-US" sz="1450"/>
          </a:p>
        </p:txBody>
      </p:sp>
      <p:cxnSp>
        <p:nvCxnSpPr>
          <p:cNvPr id="20" name="connector 20"/>
          <p:cNvCxnSpPr/>
          <p:nvPr/>
        </p:nvCxnSpPr>
        <p:spPr>
          <a:xfrm>
            <a:off x="7147560" y="3530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7350760" y="2273300"/>
            <a:ext cx="2052320" cy="2514600"/>
          </a:xfrm>
          <a:prstGeom prst="rect">
            <a:avLst/>
          </a:prstGeom>
          <a:solidFill>
            <a:srgbClr val="FFF2DF"/>
          </a:solidFill>
          <a:ln w="12700">
            <a:solidFill>
              <a:srgbClr val="DEDCD6"/>
            </a:solidFill>
          </a:ln>
        </p:spPr>
      </p:sp>
      <p:sp>
        <p:nvSpPr>
          <p:cNvPr id="22" name="text 22"/>
          <p:cNvSpPr/>
          <p:nvPr/>
        </p:nvSpPr>
        <p:spPr>
          <a:xfrm>
            <a:off x="751586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04</a:t>
            </a:r>
            <a:endParaRPr lang="en-US" sz="2250"/>
          </a:p>
        </p:txBody>
      </p:sp>
      <p:sp>
        <p:nvSpPr>
          <p:cNvPr id="23" name="text 23"/>
          <p:cNvSpPr/>
          <p:nvPr/>
        </p:nvSpPr>
        <p:spPr>
          <a:xfrm>
            <a:off x="7515860" y="29464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Explain</a:t>
            </a:r>
            <a:endParaRPr lang="en-US" sz="1800"/>
          </a:p>
          <a:p>
            <a:pPr algn="l">
              <a:lnSpc>
                <a:spcPts val="2052"/>
              </a:lnSpc>
              <a:spcAft>
                <a:spcPts val="0"/>
              </a:spcAft>
            </a:pPr>
            <a:r>
              <a:rPr lang="en-US" sz="1800" b="1" dirty="0">
                <a:solidFill>
                  <a:srgbClr val="181C23"/>
                </a:solidFill>
                <a:latin typeface="Funnel Sans"/>
              </a:rPr>
              <a:t>patterns</a:t>
            </a:r>
            <a:endParaRPr lang="en-US" sz="1800"/>
          </a:p>
        </p:txBody>
      </p:sp>
      <p:sp>
        <p:nvSpPr>
          <p:cNvPr id="24" name="text 24"/>
          <p:cNvSpPr/>
          <p:nvPr/>
        </p:nvSpPr>
        <p:spPr>
          <a:xfrm>
            <a:off x="7515860" y="3695700"/>
            <a:ext cx="1722120" cy="9525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Shallow trees</a:t>
            </a:r>
            <a:endParaRPr lang="en-US" sz="1450"/>
          </a:p>
          <a:p>
            <a:pPr algn="l">
              <a:lnSpc>
                <a:spcPts val="1653"/>
              </a:lnSpc>
              <a:spcAft>
                <a:spcPts val="0"/>
              </a:spcAft>
            </a:pPr>
            <a:r>
              <a:rPr lang="en-US" sz="1450" b="0" dirty="0">
                <a:solidFill>
                  <a:srgbClr val="181C23"/>
                </a:solidFill>
                <a:latin typeface="Funnel Sans"/>
              </a:rPr>
              <a:t>where analytically</a:t>
            </a:r>
            <a:endParaRPr lang="en-US" sz="1450"/>
          </a:p>
          <a:p>
            <a:pPr algn="l">
              <a:lnSpc>
                <a:spcPts val="1653"/>
              </a:lnSpc>
              <a:spcAft>
                <a:spcPts val="0"/>
              </a:spcAft>
            </a:pPr>
            <a:r>
              <a:rPr lang="en-US" sz="1450" b="0" dirty="0">
                <a:solidFill>
                  <a:srgbClr val="181C23"/>
                </a:solidFill>
                <a:latin typeface="Funnel Sans"/>
              </a:rPr>
              <a:t>valid</a:t>
            </a:r>
            <a:endParaRPr lang="en-US" sz="1450"/>
          </a:p>
        </p:txBody>
      </p:sp>
      <p:cxnSp>
        <p:nvCxnSpPr>
          <p:cNvPr id="25" name="connector 25"/>
          <p:cNvCxnSpPr/>
          <p:nvPr/>
        </p:nvCxnSpPr>
        <p:spPr>
          <a:xfrm>
            <a:off x="9428480" y="3530600"/>
            <a:ext cx="165100" cy="0"/>
          </a:xfrm>
          <a:prstGeom prst="line">
            <a:avLst/>
          </a:prstGeom>
          <a:ln w="22860">
            <a:solidFill>
              <a:srgbClr val="FF4F59"/>
            </a:solidFill>
            <a:tailEnd type="triangle" w="sm" len="sm"/>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9631680" y="2273300"/>
            <a:ext cx="2052320" cy="2514600"/>
          </a:xfrm>
          <a:prstGeom prst="rect">
            <a:avLst/>
          </a:prstGeom>
          <a:solidFill>
            <a:srgbClr val="FFF2DF"/>
          </a:solidFill>
          <a:ln w="12700">
            <a:solidFill>
              <a:srgbClr val="DEDCD6"/>
            </a:solidFill>
          </a:ln>
        </p:spPr>
      </p:sp>
      <p:sp>
        <p:nvSpPr>
          <p:cNvPr id="27" name="text 27"/>
          <p:cNvSpPr/>
          <p:nvPr/>
        </p:nvSpPr>
        <p:spPr>
          <a:xfrm>
            <a:off x="9796780" y="2425700"/>
            <a:ext cx="533400" cy="342900"/>
          </a:xfrm>
          <a:prstGeom prst="rect">
            <a:avLst/>
          </a:prstGeom>
          <a:noFill/>
          <a:ln>
            <a:noFill/>
          </a:ln>
        </p:spPr>
        <p:txBody>
          <a:bodyPr wrap="none" lIns="0" tIns="0" rIns="0" bIns="0" anchor="t">
            <a:noAutofit/>
          </a:bodyPr>
          <a:lstStyle/>
          <a:p>
            <a:pPr algn="l">
              <a:lnSpc>
                <a:spcPts val="2565"/>
              </a:lnSpc>
              <a:spcAft>
                <a:spcPts val="0"/>
              </a:spcAft>
            </a:pPr>
            <a:r>
              <a:rPr lang="en-US" sz="2250" b="1" dirty="0">
                <a:solidFill>
                  <a:srgbClr val="FF4F59"/>
                </a:solidFill>
                <a:latin typeface="Funnel Sans"/>
              </a:rPr>
              <a:t>05</a:t>
            </a:r>
            <a:endParaRPr lang="en-US" sz="2250"/>
          </a:p>
        </p:txBody>
      </p:sp>
      <p:sp>
        <p:nvSpPr>
          <p:cNvPr id="28" name="text 28"/>
          <p:cNvSpPr/>
          <p:nvPr/>
        </p:nvSpPr>
        <p:spPr>
          <a:xfrm>
            <a:off x="9796780" y="2946400"/>
            <a:ext cx="1722120" cy="673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Store report</a:t>
            </a:r>
            <a:endParaRPr lang="en-US" sz="1800"/>
          </a:p>
        </p:txBody>
      </p:sp>
      <p:sp>
        <p:nvSpPr>
          <p:cNvPr id="29" name="text 29"/>
          <p:cNvSpPr/>
          <p:nvPr/>
        </p:nvSpPr>
        <p:spPr>
          <a:xfrm>
            <a:off x="9796780" y="3695700"/>
            <a:ext cx="1722120" cy="952500"/>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Immutable</a:t>
            </a:r>
            <a:endParaRPr lang="en-US" sz="1450"/>
          </a:p>
          <a:p>
            <a:pPr algn="l">
              <a:lnSpc>
                <a:spcPts val="1653"/>
              </a:lnSpc>
              <a:spcAft>
                <a:spcPts val="0"/>
              </a:spcAft>
            </a:pPr>
            <a:r>
              <a:rPr lang="en-US" sz="1450" b="0" dirty="0">
                <a:solidFill>
                  <a:srgbClr val="181C23"/>
                </a:solidFill>
                <a:latin typeface="Funnel Sans"/>
              </a:rPr>
              <a:t>missingness_report</a:t>
            </a:r>
            <a:endParaRPr lang="en-US" sz="1450"/>
          </a:p>
          <a:p>
            <a:pPr algn="l">
              <a:lnSpc>
                <a:spcPts val="1653"/>
              </a:lnSpc>
              <a:spcAft>
                <a:spcPts val="0"/>
              </a:spcAft>
            </a:pPr>
            <a:r>
              <a:rPr lang="en-US" sz="1450" b="0" dirty="0">
                <a:solidFill>
                  <a:srgbClr val="181C23"/>
                </a:solidFill>
                <a:latin typeface="Funnel Sans"/>
              </a:rPr>
              <a:t>artifact</a:t>
            </a:r>
            <a:endParaRPr lang="en-US" sz="1450"/>
          </a:p>
        </p:txBody>
      </p:sp>
      <p:sp>
        <p:nvSpPr>
          <p:cNvPr id="30" name="shape 30"/>
          <p:cNvSpPr/>
          <p:nvPr/>
        </p:nvSpPr>
        <p:spPr>
          <a:xfrm>
            <a:off x="508000" y="4991100"/>
            <a:ext cx="5486400" cy="1155700"/>
          </a:xfrm>
          <a:prstGeom prst="rect">
            <a:avLst/>
          </a:prstGeom>
          <a:solidFill>
            <a:srgbClr val="FFFFFF"/>
          </a:solidFill>
          <a:ln w="12700">
            <a:solidFill>
              <a:srgbClr val="DEDCD6"/>
            </a:solidFill>
          </a:ln>
        </p:spPr>
      </p:sp>
      <p:sp>
        <p:nvSpPr>
          <p:cNvPr id="31" name="shape 31"/>
          <p:cNvSpPr/>
          <p:nvPr/>
        </p:nvSpPr>
        <p:spPr>
          <a:xfrm>
            <a:off x="508000" y="4991100"/>
            <a:ext cx="38100" cy="1155700"/>
          </a:xfrm>
          <a:prstGeom prst="rect">
            <a:avLst/>
          </a:prstGeom>
          <a:solidFill>
            <a:srgbClr val="FF4F59"/>
          </a:solidFill>
          <a:ln>
            <a:noFill/>
          </a:ln>
        </p:spPr>
      </p:sp>
      <p:sp>
        <p:nvSpPr>
          <p:cNvPr id="32" name="text 32"/>
          <p:cNvSpPr/>
          <p:nvPr/>
        </p:nvSpPr>
        <p:spPr>
          <a:xfrm>
            <a:off x="698500" y="51054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Read the report</a:t>
            </a:r>
            <a:endParaRPr lang="en-US" sz="1600"/>
          </a:p>
        </p:txBody>
      </p:sp>
      <p:sp>
        <p:nvSpPr>
          <p:cNvPr id="33" name="text 33"/>
          <p:cNvSpPr/>
          <p:nvPr/>
        </p:nvSpPr>
        <p:spPr>
          <a:xfrm>
            <a:off x="698500" y="5435600"/>
            <a:ext cx="5105400" cy="6350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Column rates, descriptive patterns, structural period breaks and</a:t>
            </a:r>
            <a:endParaRPr lang="en-US" sz="1250"/>
          </a:p>
          <a:p>
            <a:pPr algn="l">
              <a:lnSpc>
                <a:spcPts val="1425"/>
              </a:lnSpc>
              <a:spcAft>
                <a:spcPts val="0"/>
              </a:spcAft>
            </a:pPr>
            <a:r>
              <a:rPr lang="en-US" sz="1250" b="0" dirty="0">
                <a:solidFill>
                  <a:srgbClr val="6D706B"/>
                </a:solidFill>
                <a:latin typeface="Funnel Sans"/>
              </a:rPr>
              <a:t>untestable cases.</a:t>
            </a:r>
            <a:endParaRPr lang="en-US" sz="1250"/>
          </a:p>
        </p:txBody>
      </p:sp>
      <p:sp>
        <p:nvSpPr>
          <p:cNvPr id="34" name="shape 34"/>
          <p:cNvSpPr/>
          <p:nvPr/>
        </p:nvSpPr>
        <p:spPr>
          <a:xfrm>
            <a:off x="6197600" y="4991100"/>
            <a:ext cx="5486400" cy="1155700"/>
          </a:xfrm>
          <a:prstGeom prst="rect">
            <a:avLst/>
          </a:prstGeom>
          <a:solidFill>
            <a:srgbClr val="FFFFFF"/>
          </a:solidFill>
          <a:ln w="12700">
            <a:solidFill>
              <a:srgbClr val="DEDCD6"/>
            </a:solidFill>
          </a:ln>
        </p:spPr>
      </p:sp>
      <p:sp>
        <p:nvSpPr>
          <p:cNvPr id="35" name="shape 35"/>
          <p:cNvSpPr/>
          <p:nvPr/>
        </p:nvSpPr>
        <p:spPr>
          <a:xfrm>
            <a:off x="6197600" y="4991100"/>
            <a:ext cx="38100" cy="1155700"/>
          </a:xfrm>
          <a:prstGeom prst="rect">
            <a:avLst/>
          </a:prstGeom>
          <a:solidFill>
            <a:srgbClr val="FF4F59"/>
          </a:solidFill>
          <a:ln>
            <a:noFill/>
          </a:ln>
        </p:spPr>
      </p:sp>
      <p:sp>
        <p:nvSpPr>
          <p:cNvPr id="36" name="text 36"/>
          <p:cNvSpPr/>
          <p:nvPr/>
        </p:nvSpPr>
        <p:spPr>
          <a:xfrm>
            <a:off x="6388100" y="5105400"/>
            <a:ext cx="5105400" cy="3048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Interpret cautiously</a:t>
            </a:r>
            <a:endParaRPr lang="en-US" sz="1600"/>
          </a:p>
        </p:txBody>
      </p:sp>
      <p:sp>
        <p:nvSpPr>
          <p:cNvPr id="37" name="text 37"/>
          <p:cNvSpPr/>
          <p:nvPr/>
        </p:nvSpPr>
        <p:spPr>
          <a:xfrm>
            <a:off x="6388100" y="5435600"/>
            <a:ext cx="5105400" cy="635000"/>
          </a:xfrm>
          <a:prstGeom prst="rect">
            <a:avLst/>
          </a:prstGeom>
          <a:noFill/>
          <a:ln>
            <a:noFill/>
          </a:ln>
        </p:spPr>
        <p:txBody>
          <a:bodyPr wrap="none" lIns="0" tIns="0" rIns="0" bIns="0" anchor="t">
            <a:noAutofit/>
          </a:bodyPr>
          <a:lstStyle/>
          <a:p>
            <a:pPr algn="l">
              <a:lnSpc>
                <a:spcPts val="1425"/>
              </a:lnSpc>
              <a:spcAft>
                <a:spcPts val="0"/>
              </a:spcAft>
            </a:pPr>
            <a:r>
              <a:rPr lang="en-US" sz="1250" b="0" dirty="0">
                <a:solidFill>
                  <a:srgbClr val="6D706B"/>
                </a:solidFill>
                <a:latin typeface="Funnel Sans"/>
              </a:rPr>
              <a:t>No pattern found is distinct from an untestable analysis; association</a:t>
            </a:r>
            <a:endParaRPr lang="en-US" sz="1250"/>
          </a:p>
          <a:p>
            <a:pPr algn="l">
              <a:lnSpc>
                <a:spcPts val="1425"/>
              </a:lnSpc>
              <a:spcAft>
                <a:spcPts val="0"/>
              </a:spcAft>
            </a:pPr>
            <a:r>
              <a:rPr lang="en-US" sz="1250" b="0" dirty="0">
                <a:solidFill>
                  <a:srgbClr val="6D706B"/>
                </a:solidFill>
                <a:latin typeface="Funnel Sans"/>
              </a:rPr>
              <a:t>does not establish cause.</a:t>
            </a:r>
            <a:endParaRPr lang="en-US" sz="1250"/>
          </a:p>
        </p:txBody>
      </p:sp>
      <p:cxnSp>
        <p:nvCxnSpPr>
          <p:cNvPr id="38" name="connector 3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text 3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0" name="text 4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58 / 87</a:t>
            </a:r>
            <a:endParaRPr lang="en-US" sz="1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05 / SUPPORTING INVESTIGATION • C</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Review observations before starting an issue or RCA</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Use Test Lab’s supporting-investigation entry point on a ready snapshot.</a:t>
            </a:r>
            <a:endParaRPr lang="en-US" sz="1500"/>
          </a:p>
        </p:txBody>
      </p:sp>
      <p:sp>
        <p:nvSpPr>
          <p:cNvPr id="6" name="shape 6"/>
          <p:cNvSpPr/>
          <p:nvPr/>
        </p:nvSpPr>
        <p:spPr>
          <a:xfrm>
            <a:off x="508000" y="2222500"/>
            <a:ext cx="2346960" cy="457200"/>
          </a:xfrm>
          <a:prstGeom prst="rect">
            <a:avLst/>
          </a:prstGeom>
          <a:solidFill>
            <a:srgbClr val="282A27"/>
          </a:solidFill>
          <a:ln>
            <a:noFill/>
          </a:ln>
        </p:spPr>
      </p:sp>
      <p:sp>
        <p:nvSpPr>
          <p:cNvPr id="7" name="text 7"/>
          <p:cNvSpPr/>
          <p:nvPr/>
        </p:nvSpPr>
        <p:spPr>
          <a:xfrm>
            <a:off x="635000" y="2336800"/>
            <a:ext cx="20929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Stage</a:t>
            </a:r>
            <a:endParaRPr lang="en-US" sz="1200"/>
          </a:p>
        </p:txBody>
      </p:sp>
      <p:sp>
        <p:nvSpPr>
          <p:cNvPr id="8" name="shape 8"/>
          <p:cNvSpPr/>
          <p:nvPr/>
        </p:nvSpPr>
        <p:spPr>
          <a:xfrm>
            <a:off x="2854960" y="2222500"/>
            <a:ext cx="8829040" cy="457200"/>
          </a:xfrm>
          <a:prstGeom prst="rect">
            <a:avLst/>
          </a:prstGeom>
          <a:solidFill>
            <a:srgbClr val="282A27"/>
          </a:solidFill>
          <a:ln>
            <a:noFill/>
          </a:ln>
        </p:spPr>
      </p:sp>
      <p:sp>
        <p:nvSpPr>
          <p:cNvPr id="9" name="text 9"/>
          <p:cNvSpPr/>
          <p:nvPr/>
        </p:nvSpPr>
        <p:spPr>
          <a:xfrm>
            <a:off x="2981960" y="2336800"/>
            <a:ext cx="85750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Control and output</a:t>
            </a:r>
            <a:endParaRPr lang="en-US" sz="1200"/>
          </a:p>
        </p:txBody>
      </p:sp>
      <p:sp>
        <p:nvSpPr>
          <p:cNvPr id="10" name="shape 10"/>
          <p:cNvSpPr/>
          <p:nvPr/>
        </p:nvSpPr>
        <p:spPr>
          <a:xfrm>
            <a:off x="508000" y="2679700"/>
            <a:ext cx="2346960" cy="599440"/>
          </a:xfrm>
          <a:prstGeom prst="rect">
            <a:avLst/>
          </a:prstGeom>
          <a:solidFill>
            <a:srgbClr val="FFFFFF"/>
          </a:solidFill>
          <a:ln>
            <a:noFill/>
          </a:ln>
        </p:spPr>
      </p:sp>
      <p:sp>
        <p:nvSpPr>
          <p:cNvPr id="11" name="text 11"/>
          <p:cNvSpPr/>
          <p:nvPr/>
        </p:nvSpPr>
        <p:spPr>
          <a:xfrm>
            <a:off x="635000" y="2730500"/>
            <a:ext cx="2092960" cy="49784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Launch</a:t>
            </a:r>
            <a:endParaRPr lang="en-US" sz="1700"/>
          </a:p>
        </p:txBody>
      </p:sp>
      <p:cxnSp>
        <p:nvCxnSpPr>
          <p:cNvPr id="12" name="connector 12"/>
          <p:cNvCxnSpPr/>
          <p:nvPr/>
        </p:nvCxnSpPr>
        <p:spPr>
          <a:xfrm>
            <a:off x="508000" y="327914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2854960" y="2679700"/>
            <a:ext cx="8829040" cy="599440"/>
          </a:xfrm>
          <a:prstGeom prst="rect">
            <a:avLst/>
          </a:prstGeom>
          <a:solidFill>
            <a:srgbClr val="FFFFFF"/>
          </a:solidFill>
          <a:ln>
            <a:noFill/>
          </a:ln>
        </p:spPr>
      </p:sp>
      <p:sp>
        <p:nvSpPr>
          <p:cNvPr id="14" name="text 14"/>
          <p:cNvSpPr/>
          <p:nvPr/>
        </p:nvSpPr>
        <p:spPr>
          <a:xfrm>
            <a:off x="2981960" y="2730500"/>
            <a:ext cx="8575040" cy="49784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Select table and parameters; backend validates ready active scope and freezes the</a:t>
            </a:r>
            <a:endParaRPr lang="en-US" sz="1650"/>
          </a:p>
          <a:p>
            <a:pPr algn="l">
              <a:lnSpc>
                <a:spcPts val="1881"/>
              </a:lnSpc>
              <a:spcAft>
                <a:spcPts val="0"/>
              </a:spcAft>
            </a:pPr>
            <a:r>
              <a:rPr lang="en-US" sz="1650" b="0" dirty="0">
                <a:solidFill>
                  <a:srgbClr val="181C23"/>
                </a:solidFill>
                <a:latin typeface="Funnel Sans"/>
              </a:rPr>
              <a:t>manifest.</a:t>
            </a:r>
            <a:endParaRPr lang="en-US" sz="1650"/>
          </a:p>
        </p:txBody>
      </p:sp>
      <p:cxnSp>
        <p:nvCxnSpPr>
          <p:cNvPr id="15" name="connector 15"/>
          <p:cNvCxnSpPr/>
          <p:nvPr/>
        </p:nvCxnSpPr>
        <p:spPr>
          <a:xfrm>
            <a:off x="2854960" y="3279140"/>
            <a:ext cx="8829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508000" y="3279140"/>
            <a:ext cx="2346960" cy="599440"/>
          </a:xfrm>
          <a:prstGeom prst="rect">
            <a:avLst/>
          </a:prstGeom>
          <a:solidFill>
            <a:srgbClr val="EFEEE9"/>
          </a:solidFill>
          <a:ln>
            <a:noFill/>
          </a:ln>
        </p:spPr>
      </p:sp>
      <p:sp>
        <p:nvSpPr>
          <p:cNvPr id="17" name="text 17"/>
          <p:cNvSpPr/>
          <p:nvPr/>
        </p:nvSpPr>
        <p:spPr>
          <a:xfrm>
            <a:off x="635000" y="3329940"/>
            <a:ext cx="2092960" cy="49784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Complete / fail</a:t>
            </a:r>
            <a:endParaRPr lang="en-US" sz="1700"/>
          </a:p>
        </p:txBody>
      </p:sp>
      <p:cxnSp>
        <p:nvCxnSpPr>
          <p:cNvPr id="18" name="connector 18"/>
          <p:cNvCxnSpPr/>
          <p:nvPr/>
        </p:nvCxnSpPr>
        <p:spPr>
          <a:xfrm>
            <a:off x="508000" y="387858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9" name="shape 19"/>
          <p:cNvSpPr/>
          <p:nvPr/>
        </p:nvSpPr>
        <p:spPr>
          <a:xfrm>
            <a:off x="2854960" y="3279140"/>
            <a:ext cx="8829040" cy="599440"/>
          </a:xfrm>
          <a:prstGeom prst="rect">
            <a:avLst/>
          </a:prstGeom>
          <a:solidFill>
            <a:srgbClr val="EFEEE9"/>
          </a:solidFill>
          <a:ln>
            <a:noFill/>
          </a:ln>
        </p:spPr>
      </p:sp>
      <p:sp>
        <p:nvSpPr>
          <p:cNvPr id="20" name="text 20"/>
          <p:cNvSpPr/>
          <p:nvPr/>
        </p:nvSpPr>
        <p:spPr>
          <a:xfrm>
            <a:off x="2981960" y="3329940"/>
            <a:ext cx="8575040" cy="49784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Persist an immutable report; surface readiness and execution failures explicitly.</a:t>
            </a:r>
            <a:endParaRPr lang="en-US" sz="1700"/>
          </a:p>
        </p:txBody>
      </p:sp>
      <p:cxnSp>
        <p:nvCxnSpPr>
          <p:cNvPr id="21" name="connector 21"/>
          <p:cNvCxnSpPr/>
          <p:nvPr/>
        </p:nvCxnSpPr>
        <p:spPr>
          <a:xfrm>
            <a:off x="2854960" y="3878580"/>
            <a:ext cx="8829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2" name="shape 22"/>
          <p:cNvSpPr/>
          <p:nvPr/>
        </p:nvSpPr>
        <p:spPr>
          <a:xfrm>
            <a:off x="508000" y="3878580"/>
            <a:ext cx="2346960" cy="599440"/>
          </a:xfrm>
          <a:prstGeom prst="rect">
            <a:avLst/>
          </a:prstGeom>
          <a:solidFill>
            <a:srgbClr val="FFFFFF"/>
          </a:solidFill>
          <a:ln>
            <a:noFill/>
          </a:ln>
        </p:spPr>
      </p:sp>
      <p:sp>
        <p:nvSpPr>
          <p:cNvPr id="23" name="text 23"/>
          <p:cNvSpPr/>
          <p:nvPr/>
        </p:nvSpPr>
        <p:spPr>
          <a:xfrm>
            <a:off x="635000" y="3929380"/>
            <a:ext cx="2092960" cy="49784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Finding → issue</a:t>
            </a:r>
            <a:endParaRPr lang="en-US" sz="1700"/>
          </a:p>
        </p:txBody>
      </p:sp>
      <p:cxnSp>
        <p:nvCxnSpPr>
          <p:cNvPr id="24" name="connector 24"/>
          <p:cNvCxnSpPr/>
          <p:nvPr/>
        </p:nvCxnSpPr>
        <p:spPr>
          <a:xfrm>
            <a:off x="508000" y="447802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2854960" y="3878580"/>
            <a:ext cx="8829040" cy="599440"/>
          </a:xfrm>
          <a:prstGeom prst="rect">
            <a:avLst/>
          </a:prstGeom>
          <a:solidFill>
            <a:srgbClr val="FFFFFF"/>
          </a:solidFill>
          <a:ln>
            <a:noFill/>
          </a:ln>
        </p:spPr>
      </p:sp>
      <p:sp>
        <p:nvSpPr>
          <p:cNvPr id="26" name="text 26"/>
          <p:cNvSpPr/>
          <p:nvPr/>
        </p:nvSpPr>
        <p:spPr>
          <a:xfrm>
            <a:off x="2981960" y="3929380"/>
            <a:ext cx="8575040" cy="49784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User confirms or dismisses an above-tolerance observation with a recorded reason.</a:t>
            </a:r>
            <a:endParaRPr lang="en-US" sz="1700"/>
          </a:p>
        </p:txBody>
      </p:sp>
      <p:cxnSp>
        <p:nvCxnSpPr>
          <p:cNvPr id="27" name="connector 27"/>
          <p:cNvCxnSpPr/>
          <p:nvPr/>
        </p:nvCxnSpPr>
        <p:spPr>
          <a:xfrm>
            <a:off x="2854960" y="4478020"/>
            <a:ext cx="8829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508000" y="4478020"/>
            <a:ext cx="2346960" cy="599440"/>
          </a:xfrm>
          <a:prstGeom prst="rect">
            <a:avLst/>
          </a:prstGeom>
          <a:solidFill>
            <a:srgbClr val="EFEEE9"/>
          </a:solidFill>
          <a:ln>
            <a:noFill/>
          </a:ln>
        </p:spPr>
      </p:sp>
      <p:sp>
        <p:nvSpPr>
          <p:cNvPr id="29" name="text 29"/>
          <p:cNvSpPr/>
          <p:nvPr/>
        </p:nvSpPr>
        <p:spPr>
          <a:xfrm>
            <a:off x="635000" y="4528820"/>
            <a:ext cx="2092960" cy="49784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RCA and follow-up</a:t>
            </a:r>
            <a:endParaRPr lang="en-US" sz="1700"/>
          </a:p>
        </p:txBody>
      </p:sp>
      <p:cxnSp>
        <p:nvCxnSpPr>
          <p:cNvPr id="30" name="connector 30"/>
          <p:cNvCxnSpPr/>
          <p:nvPr/>
        </p:nvCxnSpPr>
        <p:spPr>
          <a:xfrm>
            <a:off x="508000" y="507746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1" name="shape 31"/>
          <p:cNvSpPr/>
          <p:nvPr/>
        </p:nvSpPr>
        <p:spPr>
          <a:xfrm>
            <a:off x="2854960" y="4478020"/>
            <a:ext cx="8829040" cy="599440"/>
          </a:xfrm>
          <a:prstGeom prst="rect">
            <a:avLst/>
          </a:prstGeom>
          <a:solidFill>
            <a:srgbClr val="EFEEE9"/>
          </a:solidFill>
          <a:ln>
            <a:noFill/>
          </a:ln>
        </p:spPr>
      </p:sp>
      <p:sp>
        <p:nvSpPr>
          <p:cNvPr id="32" name="text 32"/>
          <p:cNvSpPr/>
          <p:nvPr/>
        </p:nvSpPr>
        <p:spPr>
          <a:xfrm>
            <a:off x="2981960" y="4528820"/>
            <a:ext cx="8575040" cy="49784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Review capture patterns and source context; manually correct/reassess where justified.</a:t>
            </a:r>
            <a:endParaRPr lang="en-US" sz="1650"/>
          </a:p>
        </p:txBody>
      </p:sp>
      <p:cxnSp>
        <p:nvCxnSpPr>
          <p:cNvPr id="33" name="connector 33"/>
          <p:cNvCxnSpPr/>
          <p:nvPr/>
        </p:nvCxnSpPr>
        <p:spPr>
          <a:xfrm>
            <a:off x="2854960" y="5077460"/>
            <a:ext cx="8829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4" name="shape 34"/>
          <p:cNvSpPr/>
          <p:nvPr/>
        </p:nvSpPr>
        <p:spPr>
          <a:xfrm>
            <a:off x="508000" y="5077460"/>
            <a:ext cx="2346960" cy="599440"/>
          </a:xfrm>
          <a:prstGeom prst="rect">
            <a:avLst/>
          </a:prstGeom>
          <a:solidFill>
            <a:srgbClr val="FFFFFF"/>
          </a:solidFill>
          <a:ln>
            <a:noFill/>
          </a:ln>
        </p:spPr>
      </p:sp>
      <p:sp>
        <p:nvSpPr>
          <p:cNvPr id="35" name="text 35"/>
          <p:cNvSpPr/>
          <p:nvPr/>
        </p:nvSpPr>
        <p:spPr>
          <a:xfrm>
            <a:off x="635000" y="5128260"/>
            <a:ext cx="2092960" cy="497840"/>
          </a:xfrm>
          <a:prstGeom prst="rect">
            <a:avLst/>
          </a:prstGeom>
          <a:noFill/>
          <a:ln>
            <a:noFill/>
          </a:ln>
        </p:spPr>
        <p:txBody>
          <a:bodyPr wrap="none" lIns="0" tIns="0" rIns="0" bIns="0" anchor="t">
            <a:noAutofit/>
          </a:bodyPr>
          <a:lstStyle/>
          <a:p>
            <a:pPr algn="l">
              <a:lnSpc>
                <a:spcPts val="1938"/>
              </a:lnSpc>
              <a:spcAft>
                <a:spcPts val="0"/>
              </a:spcAft>
            </a:pPr>
            <a:r>
              <a:rPr lang="en-US" sz="1700" b="1" dirty="0">
                <a:solidFill>
                  <a:srgbClr val="181C23"/>
                </a:solidFill>
                <a:latin typeface="Funnel Sans"/>
              </a:rPr>
              <a:t>Closure</a:t>
            </a:r>
            <a:endParaRPr lang="en-US" sz="1700"/>
          </a:p>
        </p:txBody>
      </p:sp>
      <p:cxnSp>
        <p:nvCxnSpPr>
          <p:cNvPr id="36" name="connector 36"/>
          <p:cNvCxnSpPr/>
          <p:nvPr/>
        </p:nvCxnSpPr>
        <p:spPr>
          <a:xfrm>
            <a:off x="508000" y="5676900"/>
            <a:ext cx="23469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2854960" y="5077460"/>
            <a:ext cx="8829040" cy="599440"/>
          </a:xfrm>
          <a:prstGeom prst="rect">
            <a:avLst/>
          </a:prstGeom>
          <a:solidFill>
            <a:srgbClr val="FFFFFF"/>
          </a:solidFill>
          <a:ln>
            <a:noFill/>
          </a:ln>
        </p:spPr>
      </p:sp>
      <p:sp>
        <p:nvSpPr>
          <p:cNvPr id="38" name="text 38"/>
          <p:cNvSpPr/>
          <p:nvPr/>
        </p:nvSpPr>
        <p:spPr>
          <a:xfrm>
            <a:off x="2981960" y="5128260"/>
            <a:ext cx="8575040" cy="497840"/>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Approve a supported or unresolved RCA conclusion; retain the original report as</a:t>
            </a:r>
            <a:endParaRPr lang="en-US" sz="1650"/>
          </a:p>
          <a:p>
            <a:pPr algn="l">
              <a:lnSpc>
                <a:spcPts val="1881"/>
              </a:lnSpc>
              <a:spcAft>
                <a:spcPts val="0"/>
              </a:spcAft>
            </a:pPr>
            <a:r>
              <a:rPr lang="en-US" sz="1650" b="0" dirty="0">
                <a:solidFill>
                  <a:srgbClr val="181C23"/>
                </a:solidFill>
                <a:latin typeface="Funnel Sans"/>
              </a:rPr>
              <a:t>evidence.</a:t>
            </a:r>
            <a:endParaRPr lang="en-US" sz="1650"/>
          </a:p>
        </p:txBody>
      </p:sp>
      <p:cxnSp>
        <p:nvCxnSpPr>
          <p:cNvPr id="39" name="connector 39"/>
          <p:cNvCxnSpPr/>
          <p:nvPr/>
        </p:nvCxnSpPr>
        <p:spPr>
          <a:xfrm>
            <a:off x="2854960" y="5676900"/>
            <a:ext cx="8829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0" name="shape 40"/>
          <p:cNvSpPr/>
          <p:nvPr/>
        </p:nvSpPr>
        <p:spPr>
          <a:xfrm>
            <a:off x="508000" y="5740400"/>
            <a:ext cx="11176000" cy="546100"/>
          </a:xfrm>
          <a:prstGeom prst="rect">
            <a:avLst/>
          </a:prstGeom>
          <a:solidFill>
            <a:srgbClr val="282A27"/>
          </a:solidFill>
          <a:ln>
            <a:noFill/>
          </a:ln>
        </p:spPr>
      </p:sp>
      <p:sp>
        <p:nvSpPr>
          <p:cNvPr id="41" name="text 41"/>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This analysis complements value-semantics review; automatic D08 tag consumption needs validation.</a:t>
            </a:r>
            <a:endParaRPr lang="en-US" sz="1600"/>
          </a:p>
        </p:txBody>
      </p:sp>
      <p:cxnSp>
        <p:nvCxnSpPr>
          <p:cNvPr id="42" name="connector 4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3" name="text 4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4" name="text 4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59 / 87</a:t>
            </a:r>
            <a:endParaRPr lang="en-US" sz="100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PLANNED • T3-D12</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Check label consistency against the business process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Label-consistency rule</a:t>
            </a:r>
            <a:endParaRPr lang="en-US" sz="1500"/>
          </a:p>
        </p:txBody>
      </p:sp>
      <p:sp>
        <p:nvSpPr>
          <p:cNvPr id="6" name="shape 6"/>
          <p:cNvSpPr/>
          <p:nvPr/>
        </p:nvSpPr>
        <p:spPr>
          <a:xfrm>
            <a:off x="8940800" y="215900"/>
            <a:ext cx="2743200" cy="317500"/>
          </a:xfrm>
          <a:prstGeom prst="roundRect">
            <a:avLst/>
          </a:prstGeom>
          <a:solidFill>
            <a:srgbClr val="FFF2DF"/>
          </a:solidFill>
          <a:ln>
            <a:noFill/>
          </a:ln>
        </p:spPr>
      </p:sp>
      <p:sp>
        <p:nvSpPr>
          <p:cNvPr id="7" name="text 7"/>
          <p:cNvSpPr/>
          <p:nvPr/>
        </p:nvSpPr>
        <p:spPr>
          <a:xfrm>
            <a:off x="9055100" y="292100"/>
            <a:ext cx="25146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workflow pending</a:t>
            </a:r>
            <a:endParaRPr lang="en-US" sz="1050"/>
          </a:p>
        </p:txBody>
      </p:sp>
      <p:sp>
        <p:nvSpPr>
          <p:cNvPr id="8" name="shape 8"/>
          <p:cNvSpPr/>
          <p:nvPr/>
        </p:nvSpPr>
        <p:spPr>
          <a:xfrm>
            <a:off x="508000" y="2273300"/>
            <a:ext cx="3589867" cy="3213100"/>
          </a:xfrm>
          <a:prstGeom prst="rect">
            <a:avLst/>
          </a:prstGeom>
          <a:solidFill>
            <a:srgbClr val="FFFFFF"/>
          </a:solidFill>
          <a:ln w="12700">
            <a:solidFill>
              <a:srgbClr val="DEDCD6"/>
            </a:solidFill>
          </a:ln>
        </p:spPr>
      </p:sp>
      <p:sp>
        <p:nvSpPr>
          <p:cNvPr id="9" name="shape 9"/>
          <p:cNvSpPr/>
          <p:nvPr/>
        </p:nvSpPr>
        <p:spPr>
          <a:xfrm>
            <a:off x="508000" y="2273300"/>
            <a:ext cx="38100" cy="3213100"/>
          </a:xfrm>
          <a:prstGeom prst="rect">
            <a:avLst/>
          </a:prstGeom>
          <a:solidFill>
            <a:srgbClr val="FF4F59"/>
          </a:solidFill>
          <a:ln>
            <a:noFill/>
          </a:ln>
        </p:spPr>
      </p:sp>
      <p:sp>
        <p:nvSpPr>
          <p:cNvPr id="10" name="shape 10"/>
          <p:cNvSpPr/>
          <p:nvPr/>
        </p:nvSpPr>
        <p:spPr>
          <a:xfrm>
            <a:off x="812800" y="2463800"/>
            <a:ext cx="139700" cy="139700"/>
          </a:xfrm>
          <a:prstGeom prst="ellipse">
            <a:avLst/>
          </a:prstGeom>
          <a:noFill/>
          <a:ln w="20320">
            <a:solidFill>
              <a:srgbClr val="FF4F59"/>
            </a:solidFill>
          </a:ln>
        </p:spPr>
      </p:sp>
      <p:sp>
        <p:nvSpPr>
          <p:cNvPr id="11" name="shape 11"/>
          <p:cNvSpPr/>
          <p:nvPr/>
        </p:nvSpPr>
        <p:spPr>
          <a:xfrm>
            <a:off x="736600" y="2641600"/>
            <a:ext cx="292100" cy="190500"/>
          </a:xfrm>
          <a:prstGeom prst="arc">
            <a:avLst/>
          </a:prstGeom>
          <a:noFill/>
          <a:ln w="20320">
            <a:solidFill>
              <a:srgbClr val="FF4F59"/>
            </a:solidFill>
          </a:ln>
        </p:spPr>
      </p:sp>
      <p:sp>
        <p:nvSpPr>
          <p:cNvPr id="12" name="text 12"/>
          <p:cNvSpPr/>
          <p:nvPr/>
        </p:nvSpPr>
        <p:spPr>
          <a:xfrm>
            <a:off x="1193800"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user</a:t>
            </a:r>
            <a:endParaRPr lang="en-US" sz="1900"/>
          </a:p>
        </p:txBody>
      </p:sp>
      <p:sp>
        <p:nvSpPr>
          <p:cNvPr id="13" name="text 13"/>
          <p:cNvSpPr/>
          <p:nvPr/>
        </p:nvSpPr>
        <p:spPr>
          <a:xfrm>
            <a:off x="723900"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Reconcile internally</a:t>
            </a:r>
            <a:endParaRPr lang="en-US" sz="1700"/>
          </a:p>
          <a:p>
            <a:pPr algn="l">
              <a:lnSpc>
                <a:spcPts val="1938"/>
              </a:lnSpc>
              <a:spcAft>
                <a:spcPts val="0"/>
              </a:spcAft>
            </a:pPr>
            <a:r>
              <a:rPr lang="en-US" sz="1700" b="0" dirty="0">
                <a:solidFill>
                  <a:srgbClr val="181C23"/>
                </a:solidFill>
                <a:latin typeface="Funnel Sans"/>
              </a:rPr>
              <a:t>inconsistent label fields using</a:t>
            </a:r>
            <a:endParaRPr lang="en-US" sz="1700"/>
          </a:p>
          <a:p>
            <a:pPr algn="l">
              <a:lnSpc>
                <a:spcPts val="1938"/>
              </a:lnSpc>
              <a:spcAft>
                <a:spcPts val="0"/>
              </a:spcAft>
            </a:pPr>
            <a:r>
              <a:rPr lang="en-US" sz="1700" b="0" dirty="0">
                <a:solidFill>
                  <a:srgbClr val="181C23"/>
                </a:solidFill>
                <a:latin typeface="Funnel Sans"/>
              </a:rPr>
              <a:t>governed process rules. Data</a:t>
            </a:r>
            <a:endParaRPr lang="en-US" sz="1700"/>
          </a:p>
          <a:p>
            <a:pPr algn="l">
              <a:lnSpc>
                <a:spcPts val="1938"/>
              </a:lnSpc>
              <a:spcAft>
                <a:spcPts val="0"/>
              </a:spcAft>
            </a:pPr>
            <a:r>
              <a:rPr lang="en-US" sz="1700" b="0" dirty="0">
                <a:solidFill>
                  <a:srgbClr val="181C23"/>
                </a:solidFill>
                <a:latin typeface="Funnel Sans"/>
              </a:rPr>
              <a:t>and domain SMEs would</a:t>
            </a:r>
            <a:endParaRPr lang="en-US" sz="1700"/>
          </a:p>
          <a:p>
            <a:pPr algn="l">
              <a:lnSpc>
                <a:spcPts val="1938"/>
              </a:lnSpc>
              <a:spcAft>
                <a:spcPts val="0"/>
              </a:spcAft>
            </a:pPr>
            <a:r>
              <a:rPr lang="en-US" sz="1700" b="0" dirty="0">
                <a:solidFill>
                  <a:srgbClr val="181C23"/>
                </a:solidFill>
                <a:latin typeface="Funnel Sans"/>
              </a:rPr>
              <a:t>review conflicts before</a:t>
            </a:r>
            <a:endParaRPr lang="en-US" sz="1700"/>
          </a:p>
          <a:p>
            <a:pPr algn="l">
              <a:lnSpc>
                <a:spcPts val="1938"/>
              </a:lnSpc>
              <a:spcAft>
                <a:spcPts val="0"/>
              </a:spcAft>
            </a:pPr>
            <a:r>
              <a:rPr lang="en-US" sz="1700" b="0" dirty="0">
                <a:solidFill>
                  <a:srgbClr val="181C23"/>
                </a:solidFill>
                <a:latin typeface="Funnel Sans"/>
              </a:rPr>
              <a:t>accepting an issue.</a:t>
            </a:r>
            <a:endParaRPr lang="en-US" sz="1700"/>
          </a:p>
        </p:txBody>
      </p:sp>
      <p:sp>
        <p:nvSpPr>
          <p:cNvPr id="14" name="shape 14"/>
          <p:cNvSpPr/>
          <p:nvPr/>
        </p:nvSpPr>
        <p:spPr>
          <a:xfrm>
            <a:off x="4301067" y="2273300"/>
            <a:ext cx="3589867" cy="3213100"/>
          </a:xfrm>
          <a:prstGeom prst="rect">
            <a:avLst/>
          </a:prstGeom>
          <a:solidFill>
            <a:srgbClr val="FFFFFF"/>
          </a:solidFill>
          <a:ln w="12700">
            <a:solidFill>
              <a:srgbClr val="DEDCD6"/>
            </a:solidFill>
          </a:ln>
        </p:spPr>
      </p:sp>
      <p:sp>
        <p:nvSpPr>
          <p:cNvPr id="15" name="shape 15"/>
          <p:cNvSpPr/>
          <p:nvPr/>
        </p:nvSpPr>
        <p:spPr>
          <a:xfrm>
            <a:off x="4301067" y="2273300"/>
            <a:ext cx="38100" cy="3213100"/>
          </a:xfrm>
          <a:prstGeom prst="rect">
            <a:avLst/>
          </a:prstGeom>
          <a:solidFill>
            <a:srgbClr val="FF4F59"/>
          </a:solidFill>
          <a:ln>
            <a:noFill/>
          </a:ln>
        </p:spPr>
      </p:sp>
      <p:sp>
        <p:nvSpPr>
          <p:cNvPr id="16" name="shape 16"/>
          <p:cNvSpPr/>
          <p:nvPr/>
        </p:nvSpPr>
        <p:spPr>
          <a:xfrm>
            <a:off x="4504267" y="2679700"/>
            <a:ext cx="63500" cy="127000"/>
          </a:xfrm>
          <a:prstGeom prst="rect">
            <a:avLst/>
          </a:prstGeom>
          <a:solidFill>
            <a:srgbClr val="FF4F59"/>
          </a:solidFill>
          <a:ln>
            <a:noFill/>
          </a:ln>
        </p:spPr>
      </p:sp>
      <p:sp>
        <p:nvSpPr>
          <p:cNvPr id="17" name="shape 17"/>
          <p:cNvSpPr/>
          <p:nvPr/>
        </p:nvSpPr>
        <p:spPr>
          <a:xfrm>
            <a:off x="4618567" y="2552700"/>
            <a:ext cx="63500" cy="254000"/>
          </a:xfrm>
          <a:prstGeom prst="rect">
            <a:avLst/>
          </a:prstGeom>
          <a:solidFill>
            <a:srgbClr val="FF4F59"/>
          </a:solidFill>
          <a:ln>
            <a:noFill/>
          </a:ln>
        </p:spPr>
      </p:sp>
      <p:sp>
        <p:nvSpPr>
          <p:cNvPr id="18" name="shape 18"/>
          <p:cNvSpPr/>
          <p:nvPr/>
        </p:nvSpPr>
        <p:spPr>
          <a:xfrm>
            <a:off x="4732867" y="2463800"/>
            <a:ext cx="63500" cy="342900"/>
          </a:xfrm>
          <a:prstGeom prst="rect">
            <a:avLst/>
          </a:prstGeom>
          <a:solidFill>
            <a:srgbClr val="FF4F59"/>
          </a:solidFill>
          <a:ln>
            <a:noFill/>
          </a:ln>
        </p:spPr>
      </p:sp>
      <p:sp>
        <p:nvSpPr>
          <p:cNvPr id="19" name="text 19"/>
          <p:cNvSpPr/>
          <p:nvPr/>
        </p:nvSpPr>
        <p:spPr>
          <a:xfrm>
            <a:off x="4986867"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Inputs &amp; approach</a:t>
            </a:r>
            <a:endParaRPr lang="en-US" sz="1900"/>
          </a:p>
        </p:txBody>
      </p:sp>
      <p:sp>
        <p:nvSpPr>
          <p:cNvPr id="20" name="text 20"/>
          <p:cNvSpPr/>
          <p:nvPr/>
        </p:nvSpPr>
        <p:spPr>
          <a:xfrm>
            <a:off x="4516967"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Target/label fields,</a:t>
            </a:r>
            <a:endParaRPr lang="en-US" sz="1700"/>
          </a:p>
          <a:p>
            <a:pPr algn="l">
              <a:lnSpc>
                <a:spcPts val="1938"/>
              </a:lnSpc>
              <a:spcAft>
                <a:spcPts val="0"/>
              </a:spcAft>
            </a:pPr>
            <a:r>
              <a:rPr lang="en-US" sz="1700" b="0" dirty="0">
                <a:solidFill>
                  <a:srgbClr val="181C23"/>
                </a:solidFill>
                <a:latin typeface="Funnel Sans"/>
              </a:rPr>
              <a:t>event/process evidence and</a:t>
            </a:r>
            <a:endParaRPr lang="en-US" sz="1700"/>
          </a:p>
          <a:p>
            <a:pPr algn="l">
              <a:lnSpc>
                <a:spcPts val="1938"/>
              </a:lnSpc>
              <a:spcAft>
                <a:spcPts val="0"/>
              </a:spcAft>
            </a:pPr>
            <a:r>
              <a:rPr lang="en-US" sz="1700" b="0" dirty="0">
                <a:solidFill>
                  <a:srgbClr val="181C23"/>
                </a:solidFill>
                <a:latin typeface="Funnel Sans"/>
              </a:rPr>
              <a:t>the applicable KB rules.</a:t>
            </a:r>
            <a:endParaRPr lang="en-US" sz="1700"/>
          </a:p>
          <a:p>
            <a:pPr algn="l">
              <a:lnSpc>
                <a:spcPts val="1938"/>
              </a:lnSpc>
              <a:spcAft>
                <a:spcPts val="0"/>
              </a:spcAft>
            </a:pPr>
            <a:r>
              <a:rPr lang="en-US" sz="1700" b="0" dirty="0">
                <a:solidFill>
                  <a:srgbClr val="181C23"/>
                </a:solidFill>
                <a:latin typeface="Funnel Sans"/>
              </a:rPr>
              <a:t>Planned method: deterministic</a:t>
            </a:r>
            <a:endParaRPr lang="en-US" sz="1700"/>
          </a:p>
          <a:p>
            <a:pPr algn="l">
              <a:lnSpc>
                <a:spcPts val="1938"/>
              </a:lnSpc>
              <a:spcAft>
                <a:spcPts val="0"/>
              </a:spcAft>
            </a:pPr>
            <a:r>
              <a:rPr lang="en-US" sz="1700" b="0" dirty="0">
                <a:solidFill>
                  <a:srgbClr val="181C23"/>
                </a:solidFill>
                <a:latin typeface="Funnel Sans"/>
              </a:rPr>
              <a:t>violation count after</a:t>
            </a:r>
            <a:endParaRPr lang="en-US" sz="1700"/>
          </a:p>
          <a:p>
            <a:pPr algn="l">
              <a:lnSpc>
                <a:spcPts val="1938"/>
              </a:lnSpc>
              <a:spcAft>
                <a:spcPts val="0"/>
              </a:spcAft>
            </a:pPr>
            <a:r>
              <a:rPr lang="en-US" sz="1700" b="0" dirty="0">
                <a:solidFill>
                  <a:srgbClr val="181C23"/>
                </a:solidFill>
                <a:latin typeface="Funnel Sans"/>
              </a:rPr>
              <a:t>documented rule exceptions.</a:t>
            </a:r>
            <a:endParaRPr lang="en-US" sz="1700"/>
          </a:p>
        </p:txBody>
      </p:sp>
      <p:sp>
        <p:nvSpPr>
          <p:cNvPr id="21" name="shape 21"/>
          <p:cNvSpPr/>
          <p:nvPr/>
        </p:nvSpPr>
        <p:spPr>
          <a:xfrm>
            <a:off x="8094133" y="2273300"/>
            <a:ext cx="3589867" cy="3213100"/>
          </a:xfrm>
          <a:prstGeom prst="rect">
            <a:avLst/>
          </a:prstGeom>
          <a:solidFill>
            <a:srgbClr val="FFFFFF"/>
          </a:solidFill>
          <a:ln w="12700">
            <a:solidFill>
              <a:srgbClr val="DEDCD6"/>
            </a:solidFill>
          </a:ln>
        </p:spPr>
      </p:sp>
      <p:sp>
        <p:nvSpPr>
          <p:cNvPr id="22" name="shape 22"/>
          <p:cNvSpPr/>
          <p:nvPr/>
        </p:nvSpPr>
        <p:spPr>
          <a:xfrm>
            <a:off x="8094133" y="2273300"/>
            <a:ext cx="38100" cy="3213100"/>
          </a:xfrm>
          <a:prstGeom prst="rect">
            <a:avLst/>
          </a:prstGeom>
          <a:solidFill>
            <a:srgbClr val="FF4F59"/>
          </a:solidFill>
          <a:ln>
            <a:noFill/>
          </a:ln>
        </p:spPr>
      </p:sp>
      <p:sp>
        <p:nvSpPr>
          <p:cNvPr id="23" name="shape 23"/>
          <p:cNvSpPr/>
          <p:nvPr/>
        </p:nvSpPr>
        <p:spPr>
          <a:xfrm>
            <a:off x="8297333" y="2463800"/>
            <a:ext cx="342900" cy="342900"/>
          </a:xfrm>
          <a:prstGeom prst="hexagon">
            <a:avLst/>
          </a:prstGeom>
          <a:noFill/>
          <a:ln w="21590">
            <a:solidFill>
              <a:srgbClr val="FF4F59"/>
            </a:solidFill>
          </a:ln>
        </p:spPr>
      </p:sp>
      <p:sp>
        <p:nvSpPr>
          <p:cNvPr id="24" name="text 24"/>
          <p:cNvSpPr/>
          <p:nvPr/>
        </p:nvSpPr>
        <p:spPr>
          <a:xfrm>
            <a:off x="8411633" y="25019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5" name="text 25"/>
          <p:cNvSpPr/>
          <p:nvPr/>
        </p:nvSpPr>
        <p:spPr>
          <a:xfrm>
            <a:off x="8779933"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downstream</a:t>
            </a:r>
            <a:endParaRPr lang="en-US" sz="1900"/>
          </a:p>
        </p:txBody>
      </p:sp>
      <p:sp>
        <p:nvSpPr>
          <p:cNvPr id="26" name="text 26"/>
          <p:cNvSpPr/>
          <p:nvPr/>
        </p:nvSpPr>
        <p:spPr>
          <a:xfrm>
            <a:off x="8310033"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 current launch. Proposed:</a:t>
            </a:r>
            <a:endParaRPr lang="en-US" sz="1700"/>
          </a:p>
          <a:p>
            <a:pPr algn="l">
              <a:lnSpc>
                <a:spcPts val="1938"/>
              </a:lnSpc>
              <a:spcAft>
                <a:spcPts val="0"/>
              </a:spcAft>
            </a:pPr>
            <a:r>
              <a:rPr lang="en-US" sz="1700" b="0" dirty="0">
                <a:solidFill>
                  <a:srgbClr val="181C23"/>
                </a:solidFill>
                <a:latin typeface="Funnel Sans"/>
              </a:rPr>
              <a:t>review evidence, decide a</a:t>
            </a:r>
            <a:endParaRPr lang="en-US" sz="1700"/>
          </a:p>
          <a:p>
            <a:pPr algn="l">
              <a:lnSpc>
                <a:spcPts val="1938"/>
              </a:lnSpc>
              <a:spcAft>
                <a:spcPts val="0"/>
              </a:spcAft>
            </a:pPr>
            <a:r>
              <a:rPr lang="en-US" sz="1700" b="0" dirty="0">
                <a:solidFill>
                  <a:srgbClr val="181C23"/>
                </a:solidFill>
                <a:latin typeface="Funnel Sans"/>
              </a:rPr>
              <a:t>finding, then use issue/RCA</a:t>
            </a:r>
            <a:endParaRPr lang="en-US" sz="1700"/>
          </a:p>
          <a:p>
            <a:pPr algn="l">
              <a:lnSpc>
                <a:spcPts val="1938"/>
              </a:lnSpc>
              <a:spcAft>
                <a:spcPts val="0"/>
              </a:spcAft>
            </a:pPr>
            <a:r>
              <a:rPr lang="en-US" sz="1700" b="0" dirty="0">
                <a:solidFill>
                  <a:srgbClr val="181C23"/>
                </a:solidFill>
                <a:latin typeface="Funnel Sans"/>
              </a:rPr>
              <a:t>and manual follow-up.</a:t>
            </a:r>
            <a:endParaRPr lang="en-US" sz="1700"/>
          </a:p>
        </p:txBody>
      </p:sp>
      <p:sp>
        <p:nvSpPr>
          <p:cNvPr id="27" name="shape 27"/>
          <p:cNvSpPr/>
          <p:nvPr/>
        </p:nvSpPr>
        <p:spPr>
          <a:xfrm>
            <a:off x="508000" y="5740400"/>
            <a:ext cx="11176000" cy="546100"/>
          </a:xfrm>
          <a:prstGeom prst="rect">
            <a:avLst/>
          </a:prstGeom>
          <a:solidFill>
            <a:srgbClr val="282A27"/>
          </a:solidFill>
          <a:ln>
            <a:noFill/>
          </a:ln>
        </p:spPr>
      </p:sp>
      <p:sp>
        <p:nvSpPr>
          <p:cNvPr id="28" name="text 28"/>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Planned capability: thresholds, workflow controls, report schema and acceptance remain to be validated.</a:t>
            </a:r>
            <a:endParaRPr lang="en-US" sz="1600"/>
          </a:p>
        </p:txBody>
      </p:sp>
      <p:cxnSp>
        <p:nvCxnSpPr>
          <p:cNvPr id="29" name="connector 29"/>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text 30"/>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1" name="text 31"/>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60 / 87</a:t>
            </a:r>
            <a:endParaRPr lang="en-US" sz="100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PLANNED • T5-D17</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Review how fully each vintage’s outcomes have resolved</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Resolution / maturity rate by vintage</a:t>
            </a:r>
            <a:endParaRPr lang="en-US" sz="1500"/>
          </a:p>
        </p:txBody>
      </p:sp>
      <p:sp>
        <p:nvSpPr>
          <p:cNvPr id="6" name="shape 6"/>
          <p:cNvSpPr/>
          <p:nvPr/>
        </p:nvSpPr>
        <p:spPr>
          <a:xfrm>
            <a:off x="8940800" y="215900"/>
            <a:ext cx="2743200" cy="317500"/>
          </a:xfrm>
          <a:prstGeom prst="roundRect">
            <a:avLst/>
          </a:prstGeom>
          <a:solidFill>
            <a:srgbClr val="FFF2DF"/>
          </a:solidFill>
          <a:ln>
            <a:noFill/>
          </a:ln>
        </p:spPr>
      </p:sp>
      <p:sp>
        <p:nvSpPr>
          <p:cNvPr id="7" name="text 7"/>
          <p:cNvSpPr/>
          <p:nvPr/>
        </p:nvSpPr>
        <p:spPr>
          <a:xfrm>
            <a:off x="9055100" y="292100"/>
            <a:ext cx="25146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workflow pending</a:t>
            </a:r>
            <a:endParaRPr lang="en-US" sz="1050"/>
          </a:p>
        </p:txBody>
      </p:sp>
      <p:sp>
        <p:nvSpPr>
          <p:cNvPr id="8" name="shape 8"/>
          <p:cNvSpPr/>
          <p:nvPr/>
        </p:nvSpPr>
        <p:spPr>
          <a:xfrm>
            <a:off x="508000" y="2273300"/>
            <a:ext cx="3589867" cy="3213100"/>
          </a:xfrm>
          <a:prstGeom prst="rect">
            <a:avLst/>
          </a:prstGeom>
          <a:solidFill>
            <a:srgbClr val="FFFFFF"/>
          </a:solidFill>
          <a:ln w="12700">
            <a:solidFill>
              <a:srgbClr val="DEDCD6"/>
            </a:solidFill>
          </a:ln>
        </p:spPr>
      </p:sp>
      <p:sp>
        <p:nvSpPr>
          <p:cNvPr id="9" name="shape 9"/>
          <p:cNvSpPr/>
          <p:nvPr/>
        </p:nvSpPr>
        <p:spPr>
          <a:xfrm>
            <a:off x="508000" y="2273300"/>
            <a:ext cx="38100" cy="3213100"/>
          </a:xfrm>
          <a:prstGeom prst="rect">
            <a:avLst/>
          </a:prstGeom>
          <a:solidFill>
            <a:srgbClr val="FF4F59"/>
          </a:solidFill>
          <a:ln>
            <a:noFill/>
          </a:ln>
        </p:spPr>
      </p:sp>
      <p:sp>
        <p:nvSpPr>
          <p:cNvPr id="10" name="shape 10"/>
          <p:cNvSpPr/>
          <p:nvPr/>
        </p:nvSpPr>
        <p:spPr>
          <a:xfrm>
            <a:off x="812800" y="2463800"/>
            <a:ext cx="139700" cy="139700"/>
          </a:xfrm>
          <a:prstGeom prst="ellipse">
            <a:avLst/>
          </a:prstGeom>
          <a:noFill/>
          <a:ln w="20320">
            <a:solidFill>
              <a:srgbClr val="FF4F59"/>
            </a:solidFill>
          </a:ln>
        </p:spPr>
      </p:sp>
      <p:sp>
        <p:nvSpPr>
          <p:cNvPr id="11" name="shape 11"/>
          <p:cNvSpPr/>
          <p:nvPr/>
        </p:nvSpPr>
        <p:spPr>
          <a:xfrm>
            <a:off x="736600" y="2641600"/>
            <a:ext cx="292100" cy="190500"/>
          </a:xfrm>
          <a:prstGeom prst="arc">
            <a:avLst/>
          </a:prstGeom>
          <a:noFill/>
          <a:ln w="20320">
            <a:solidFill>
              <a:srgbClr val="FF4F59"/>
            </a:solidFill>
          </a:ln>
        </p:spPr>
      </p:sp>
      <p:sp>
        <p:nvSpPr>
          <p:cNvPr id="12" name="text 12"/>
          <p:cNvSpPr/>
          <p:nvPr/>
        </p:nvSpPr>
        <p:spPr>
          <a:xfrm>
            <a:off x="1193800"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user</a:t>
            </a:r>
            <a:endParaRPr lang="en-US" sz="1900"/>
          </a:p>
        </p:txBody>
      </p:sp>
      <p:sp>
        <p:nvSpPr>
          <p:cNvPr id="13" name="text 13"/>
          <p:cNvSpPr/>
          <p:nvPr/>
        </p:nvSpPr>
        <p:spPr>
          <a:xfrm>
            <a:off x="723900"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Identify vintages whose</a:t>
            </a:r>
            <a:endParaRPr lang="en-US" sz="1700"/>
          </a:p>
          <a:p>
            <a:pPr algn="l">
              <a:lnSpc>
                <a:spcPts val="1938"/>
              </a:lnSpc>
              <a:spcAft>
                <a:spcPts val="0"/>
              </a:spcAft>
            </a:pPr>
            <a:r>
              <a:rPr lang="en-US" sz="1700" b="0" dirty="0">
                <a:solidFill>
                  <a:srgbClr val="181C23"/>
                </a:solidFill>
                <a:latin typeface="Funnel Sans"/>
              </a:rPr>
              <a:t>unresolved outcomes may bias</a:t>
            </a:r>
            <a:endParaRPr lang="en-US" sz="1700"/>
          </a:p>
          <a:p>
            <a:pPr algn="l">
              <a:lnSpc>
                <a:spcPts val="1938"/>
              </a:lnSpc>
              <a:spcAft>
                <a:spcPts val="0"/>
              </a:spcAft>
            </a:pPr>
            <a:r>
              <a:rPr lang="en-US" sz="1700" b="0" dirty="0">
                <a:solidFill>
                  <a:srgbClr val="181C23"/>
                </a:solidFill>
                <a:latin typeface="Funnel Sans"/>
              </a:rPr>
              <a:t>analytical conclusions. Model</a:t>
            </a:r>
            <a:endParaRPr lang="en-US" sz="1700"/>
          </a:p>
          <a:p>
            <a:pPr algn="l">
              <a:lnSpc>
                <a:spcPts val="1938"/>
              </a:lnSpc>
              <a:spcAft>
                <a:spcPts val="0"/>
              </a:spcAft>
            </a:pPr>
            <a:r>
              <a:rPr lang="en-US" sz="1700" b="0" dirty="0">
                <a:solidFill>
                  <a:srgbClr val="181C23"/>
                </a:solidFill>
                <a:latin typeface="Funnel Sans"/>
              </a:rPr>
              <a:t>and portfolio teams would</a:t>
            </a:r>
            <a:endParaRPr lang="en-US" sz="1700"/>
          </a:p>
          <a:p>
            <a:pPr algn="l">
              <a:lnSpc>
                <a:spcPts val="1938"/>
              </a:lnSpc>
              <a:spcAft>
                <a:spcPts val="0"/>
              </a:spcAft>
            </a:pPr>
            <a:r>
              <a:rPr lang="en-US" sz="1700" b="0" dirty="0">
                <a:solidFill>
                  <a:srgbClr val="181C23"/>
                </a:solidFill>
                <a:latin typeface="Funnel Sans"/>
              </a:rPr>
              <a:t>distinguish incomplete</a:t>
            </a:r>
            <a:endParaRPr lang="en-US" sz="1700"/>
          </a:p>
          <a:p>
            <a:pPr algn="l">
              <a:lnSpc>
                <a:spcPts val="1938"/>
              </a:lnSpc>
              <a:spcAft>
                <a:spcPts val="0"/>
              </a:spcAft>
            </a:pPr>
            <a:r>
              <a:rPr lang="en-US" sz="1700" b="0" dirty="0">
                <a:solidFill>
                  <a:srgbClr val="181C23"/>
                </a:solidFill>
                <a:latin typeface="Funnel Sans"/>
              </a:rPr>
              <a:t>observation from a defect.</a:t>
            </a:r>
            <a:endParaRPr lang="en-US" sz="1700"/>
          </a:p>
        </p:txBody>
      </p:sp>
      <p:sp>
        <p:nvSpPr>
          <p:cNvPr id="14" name="shape 14"/>
          <p:cNvSpPr/>
          <p:nvPr/>
        </p:nvSpPr>
        <p:spPr>
          <a:xfrm>
            <a:off x="4301067" y="2273300"/>
            <a:ext cx="3589867" cy="3213100"/>
          </a:xfrm>
          <a:prstGeom prst="rect">
            <a:avLst/>
          </a:prstGeom>
          <a:solidFill>
            <a:srgbClr val="FFFFFF"/>
          </a:solidFill>
          <a:ln w="12700">
            <a:solidFill>
              <a:srgbClr val="DEDCD6"/>
            </a:solidFill>
          </a:ln>
        </p:spPr>
      </p:sp>
      <p:sp>
        <p:nvSpPr>
          <p:cNvPr id="15" name="shape 15"/>
          <p:cNvSpPr/>
          <p:nvPr/>
        </p:nvSpPr>
        <p:spPr>
          <a:xfrm>
            <a:off x="4301067" y="2273300"/>
            <a:ext cx="38100" cy="3213100"/>
          </a:xfrm>
          <a:prstGeom prst="rect">
            <a:avLst/>
          </a:prstGeom>
          <a:solidFill>
            <a:srgbClr val="FF4F59"/>
          </a:solidFill>
          <a:ln>
            <a:noFill/>
          </a:ln>
        </p:spPr>
      </p:sp>
      <p:sp>
        <p:nvSpPr>
          <p:cNvPr id="16" name="shape 16"/>
          <p:cNvSpPr/>
          <p:nvPr/>
        </p:nvSpPr>
        <p:spPr>
          <a:xfrm>
            <a:off x="4504267" y="2679700"/>
            <a:ext cx="63500" cy="127000"/>
          </a:xfrm>
          <a:prstGeom prst="rect">
            <a:avLst/>
          </a:prstGeom>
          <a:solidFill>
            <a:srgbClr val="FF4F59"/>
          </a:solidFill>
          <a:ln>
            <a:noFill/>
          </a:ln>
        </p:spPr>
      </p:sp>
      <p:sp>
        <p:nvSpPr>
          <p:cNvPr id="17" name="shape 17"/>
          <p:cNvSpPr/>
          <p:nvPr/>
        </p:nvSpPr>
        <p:spPr>
          <a:xfrm>
            <a:off x="4618567" y="2552700"/>
            <a:ext cx="63500" cy="254000"/>
          </a:xfrm>
          <a:prstGeom prst="rect">
            <a:avLst/>
          </a:prstGeom>
          <a:solidFill>
            <a:srgbClr val="FF4F59"/>
          </a:solidFill>
          <a:ln>
            <a:noFill/>
          </a:ln>
        </p:spPr>
      </p:sp>
      <p:sp>
        <p:nvSpPr>
          <p:cNvPr id="18" name="shape 18"/>
          <p:cNvSpPr/>
          <p:nvPr/>
        </p:nvSpPr>
        <p:spPr>
          <a:xfrm>
            <a:off x="4732867" y="2463800"/>
            <a:ext cx="63500" cy="342900"/>
          </a:xfrm>
          <a:prstGeom prst="rect">
            <a:avLst/>
          </a:prstGeom>
          <a:solidFill>
            <a:srgbClr val="FF4F59"/>
          </a:solidFill>
          <a:ln>
            <a:noFill/>
          </a:ln>
        </p:spPr>
      </p:sp>
      <p:sp>
        <p:nvSpPr>
          <p:cNvPr id="19" name="text 19"/>
          <p:cNvSpPr/>
          <p:nvPr/>
        </p:nvSpPr>
        <p:spPr>
          <a:xfrm>
            <a:off x="4986867"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Inputs &amp; approach</a:t>
            </a:r>
            <a:endParaRPr lang="en-US" sz="1900"/>
          </a:p>
        </p:txBody>
      </p:sp>
      <p:sp>
        <p:nvSpPr>
          <p:cNvPr id="20" name="text 20"/>
          <p:cNvSpPr/>
          <p:nvPr/>
        </p:nvSpPr>
        <p:spPr>
          <a:xfrm>
            <a:off x="4516967"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Vintage identifier, outcome</a:t>
            </a:r>
            <a:endParaRPr lang="en-US" sz="1700"/>
          </a:p>
          <a:p>
            <a:pPr algn="l">
              <a:lnSpc>
                <a:spcPts val="1938"/>
              </a:lnSpc>
              <a:spcAft>
                <a:spcPts val="0"/>
              </a:spcAft>
            </a:pPr>
            <a:r>
              <a:rPr lang="en-US" sz="1700" b="0" dirty="0">
                <a:solidFill>
                  <a:srgbClr val="181C23"/>
                </a:solidFill>
                <a:latin typeface="Funnel Sans"/>
              </a:rPr>
              <a:t>state and a definition of</a:t>
            </a:r>
            <a:endParaRPr lang="en-US" sz="1700"/>
          </a:p>
          <a:p>
            <a:pPr algn="l">
              <a:lnSpc>
                <a:spcPts val="1938"/>
              </a:lnSpc>
              <a:spcAft>
                <a:spcPts val="0"/>
              </a:spcAft>
            </a:pPr>
            <a:r>
              <a:rPr lang="en-US" sz="1700" b="0" dirty="0">
                <a:solidFill>
                  <a:srgbClr val="181C23"/>
                </a:solidFill>
                <a:latin typeface="Funnel Sans"/>
              </a:rPr>
              <a:t>resolved versus open. Planned</a:t>
            </a:r>
            <a:endParaRPr lang="en-US" sz="1700"/>
          </a:p>
          <a:p>
            <a:pPr algn="l">
              <a:lnSpc>
                <a:spcPts val="1938"/>
              </a:lnSpc>
              <a:spcAft>
                <a:spcPts val="0"/>
              </a:spcAft>
            </a:pPr>
            <a:r>
              <a:rPr lang="en-US" sz="1700" b="0" dirty="0">
                <a:solidFill>
                  <a:srgbClr val="181C23"/>
                </a:solidFill>
                <a:latin typeface="Funnel Sans"/>
              </a:rPr>
              <a:t>method: resolved count / total</a:t>
            </a:r>
            <a:endParaRPr lang="en-US" sz="1700"/>
          </a:p>
          <a:p>
            <a:pPr algn="l">
              <a:lnSpc>
                <a:spcPts val="1938"/>
              </a:lnSpc>
              <a:spcAft>
                <a:spcPts val="0"/>
              </a:spcAft>
            </a:pPr>
            <a:r>
              <a:rPr lang="en-US" sz="1700" b="0" dirty="0">
                <a:solidFill>
                  <a:srgbClr val="181C23"/>
                </a:solidFill>
                <a:latin typeface="Funnel Sans"/>
              </a:rPr>
              <a:t>count by vintage against a</a:t>
            </a:r>
            <a:endParaRPr lang="en-US" sz="1700"/>
          </a:p>
          <a:p>
            <a:pPr algn="l">
              <a:lnSpc>
                <a:spcPts val="1938"/>
              </a:lnSpc>
              <a:spcAft>
                <a:spcPts val="0"/>
              </a:spcAft>
            </a:pPr>
            <a:r>
              <a:rPr lang="en-US" sz="1700" b="0" dirty="0">
                <a:solidFill>
                  <a:srgbClr val="181C23"/>
                </a:solidFill>
                <a:latin typeface="Funnel Sans"/>
              </a:rPr>
              <a:t>tunable floor.</a:t>
            </a:r>
            <a:endParaRPr lang="en-US" sz="1700"/>
          </a:p>
        </p:txBody>
      </p:sp>
      <p:sp>
        <p:nvSpPr>
          <p:cNvPr id="21" name="shape 21"/>
          <p:cNvSpPr/>
          <p:nvPr/>
        </p:nvSpPr>
        <p:spPr>
          <a:xfrm>
            <a:off x="8094133" y="2273300"/>
            <a:ext cx="3589867" cy="3213100"/>
          </a:xfrm>
          <a:prstGeom prst="rect">
            <a:avLst/>
          </a:prstGeom>
          <a:solidFill>
            <a:srgbClr val="FFFFFF"/>
          </a:solidFill>
          <a:ln w="12700">
            <a:solidFill>
              <a:srgbClr val="DEDCD6"/>
            </a:solidFill>
          </a:ln>
        </p:spPr>
      </p:sp>
      <p:sp>
        <p:nvSpPr>
          <p:cNvPr id="22" name="shape 22"/>
          <p:cNvSpPr/>
          <p:nvPr/>
        </p:nvSpPr>
        <p:spPr>
          <a:xfrm>
            <a:off x="8094133" y="2273300"/>
            <a:ext cx="38100" cy="3213100"/>
          </a:xfrm>
          <a:prstGeom prst="rect">
            <a:avLst/>
          </a:prstGeom>
          <a:solidFill>
            <a:srgbClr val="FF4F59"/>
          </a:solidFill>
          <a:ln>
            <a:noFill/>
          </a:ln>
        </p:spPr>
      </p:sp>
      <p:sp>
        <p:nvSpPr>
          <p:cNvPr id="23" name="shape 23"/>
          <p:cNvSpPr/>
          <p:nvPr/>
        </p:nvSpPr>
        <p:spPr>
          <a:xfrm>
            <a:off x="8297333" y="2463800"/>
            <a:ext cx="342900" cy="342900"/>
          </a:xfrm>
          <a:prstGeom prst="hexagon">
            <a:avLst/>
          </a:prstGeom>
          <a:noFill/>
          <a:ln w="21590">
            <a:solidFill>
              <a:srgbClr val="FF4F59"/>
            </a:solidFill>
          </a:ln>
        </p:spPr>
      </p:sp>
      <p:sp>
        <p:nvSpPr>
          <p:cNvPr id="24" name="text 24"/>
          <p:cNvSpPr/>
          <p:nvPr/>
        </p:nvSpPr>
        <p:spPr>
          <a:xfrm>
            <a:off x="8411633" y="25019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5" name="text 25"/>
          <p:cNvSpPr/>
          <p:nvPr/>
        </p:nvSpPr>
        <p:spPr>
          <a:xfrm>
            <a:off x="8779933"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downstream</a:t>
            </a:r>
            <a:endParaRPr lang="en-US" sz="1900"/>
          </a:p>
        </p:txBody>
      </p:sp>
      <p:sp>
        <p:nvSpPr>
          <p:cNvPr id="26" name="text 26"/>
          <p:cNvSpPr/>
          <p:nvPr/>
        </p:nvSpPr>
        <p:spPr>
          <a:xfrm>
            <a:off x="8310033"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 current launch. Proposed:</a:t>
            </a:r>
            <a:endParaRPr lang="en-US" sz="1700"/>
          </a:p>
          <a:p>
            <a:pPr algn="l">
              <a:lnSpc>
                <a:spcPts val="1938"/>
              </a:lnSpc>
              <a:spcAft>
                <a:spcPts val="0"/>
              </a:spcAft>
            </a:pPr>
            <a:r>
              <a:rPr lang="en-US" sz="1700" b="0" dirty="0">
                <a:solidFill>
                  <a:srgbClr val="181C23"/>
                </a:solidFill>
                <a:latin typeface="Funnel Sans"/>
              </a:rPr>
              <a:t>review evidence, decide a</a:t>
            </a:r>
            <a:endParaRPr lang="en-US" sz="1700"/>
          </a:p>
          <a:p>
            <a:pPr algn="l">
              <a:lnSpc>
                <a:spcPts val="1938"/>
              </a:lnSpc>
              <a:spcAft>
                <a:spcPts val="0"/>
              </a:spcAft>
            </a:pPr>
            <a:r>
              <a:rPr lang="en-US" sz="1700" b="0" dirty="0">
                <a:solidFill>
                  <a:srgbClr val="181C23"/>
                </a:solidFill>
                <a:latin typeface="Funnel Sans"/>
              </a:rPr>
              <a:t>finding, then use issue/RCA</a:t>
            </a:r>
            <a:endParaRPr lang="en-US" sz="1700"/>
          </a:p>
          <a:p>
            <a:pPr algn="l">
              <a:lnSpc>
                <a:spcPts val="1938"/>
              </a:lnSpc>
              <a:spcAft>
                <a:spcPts val="0"/>
              </a:spcAft>
            </a:pPr>
            <a:r>
              <a:rPr lang="en-US" sz="1700" b="0" dirty="0">
                <a:solidFill>
                  <a:srgbClr val="181C23"/>
                </a:solidFill>
                <a:latin typeface="Funnel Sans"/>
              </a:rPr>
              <a:t>and manual follow-up.</a:t>
            </a:r>
            <a:endParaRPr lang="en-US" sz="1700"/>
          </a:p>
        </p:txBody>
      </p:sp>
      <p:sp>
        <p:nvSpPr>
          <p:cNvPr id="27" name="shape 27"/>
          <p:cNvSpPr/>
          <p:nvPr/>
        </p:nvSpPr>
        <p:spPr>
          <a:xfrm>
            <a:off x="508000" y="5740400"/>
            <a:ext cx="11176000" cy="546100"/>
          </a:xfrm>
          <a:prstGeom prst="rect">
            <a:avLst/>
          </a:prstGeom>
          <a:solidFill>
            <a:srgbClr val="282A27"/>
          </a:solidFill>
          <a:ln>
            <a:noFill/>
          </a:ln>
        </p:spPr>
      </p:sp>
      <p:sp>
        <p:nvSpPr>
          <p:cNvPr id="28" name="text 28"/>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Planned capability: thresholds, workflow controls, report schema and acceptance remain to be validated.</a:t>
            </a:r>
            <a:endParaRPr lang="en-US" sz="1600"/>
          </a:p>
        </p:txBody>
      </p:sp>
      <p:cxnSp>
        <p:nvCxnSpPr>
          <p:cNvPr id="29" name="connector 29"/>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text 30"/>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1" name="text 31"/>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61 / 87</a:t>
            </a:r>
            <a:endParaRPr lang="en-US" sz="10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PLANNED • T6-D20</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Expand governed relationships through an SME-reviewed loop</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AI-proposal workflow</a:t>
            </a:r>
            <a:endParaRPr lang="en-US" sz="1500"/>
          </a:p>
        </p:txBody>
      </p:sp>
      <p:sp>
        <p:nvSpPr>
          <p:cNvPr id="6" name="shape 6"/>
          <p:cNvSpPr/>
          <p:nvPr/>
        </p:nvSpPr>
        <p:spPr>
          <a:xfrm>
            <a:off x="8940800" y="215900"/>
            <a:ext cx="2743200" cy="317500"/>
          </a:xfrm>
          <a:prstGeom prst="roundRect">
            <a:avLst/>
          </a:prstGeom>
          <a:solidFill>
            <a:srgbClr val="FFF2DF"/>
          </a:solidFill>
          <a:ln>
            <a:noFill/>
          </a:ln>
        </p:spPr>
      </p:sp>
      <p:sp>
        <p:nvSpPr>
          <p:cNvPr id="7" name="text 7"/>
          <p:cNvSpPr/>
          <p:nvPr/>
        </p:nvSpPr>
        <p:spPr>
          <a:xfrm>
            <a:off x="9055100" y="292100"/>
            <a:ext cx="25146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workflow pending</a:t>
            </a:r>
            <a:endParaRPr lang="en-US" sz="1050"/>
          </a:p>
        </p:txBody>
      </p:sp>
      <p:sp>
        <p:nvSpPr>
          <p:cNvPr id="8" name="shape 8"/>
          <p:cNvSpPr/>
          <p:nvPr/>
        </p:nvSpPr>
        <p:spPr>
          <a:xfrm>
            <a:off x="508000" y="2273300"/>
            <a:ext cx="3589867" cy="3213100"/>
          </a:xfrm>
          <a:prstGeom prst="rect">
            <a:avLst/>
          </a:prstGeom>
          <a:solidFill>
            <a:srgbClr val="FFFFFF"/>
          </a:solidFill>
          <a:ln w="12700">
            <a:solidFill>
              <a:srgbClr val="DEDCD6"/>
            </a:solidFill>
          </a:ln>
        </p:spPr>
      </p:sp>
      <p:sp>
        <p:nvSpPr>
          <p:cNvPr id="9" name="shape 9"/>
          <p:cNvSpPr/>
          <p:nvPr/>
        </p:nvSpPr>
        <p:spPr>
          <a:xfrm>
            <a:off x="508000" y="2273300"/>
            <a:ext cx="38100" cy="3213100"/>
          </a:xfrm>
          <a:prstGeom prst="rect">
            <a:avLst/>
          </a:prstGeom>
          <a:solidFill>
            <a:srgbClr val="FF4F59"/>
          </a:solidFill>
          <a:ln>
            <a:noFill/>
          </a:ln>
        </p:spPr>
      </p:sp>
      <p:sp>
        <p:nvSpPr>
          <p:cNvPr id="10" name="shape 10"/>
          <p:cNvSpPr/>
          <p:nvPr/>
        </p:nvSpPr>
        <p:spPr>
          <a:xfrm>
            <a:off x="812800" y="2463800"/>
            <a:ext cx="139700" cy="139700"/>
          </a:xfrm>
          <a:prstGeom prst="ellipse">
            <a:avLst/>
          </a:prstGeom>
          <a:noFill/>
          <a:ln w="20320">
            <a:solidFill>
              <a:srgbClr val="FF4F59"/>
            </a:solidFill>
          </a:ln>
        </p:spPr>
      </p:sp>
      <p:sp>
        <p:nvSpPr>
          <p:cNvPr id="11" name="shape 11"/>
          <p:cNvSpPr/>
          <p:nvPr/>
        </p:nvSpPr>
        <p:spPr>
          <a:xfrm>
            <a:off x="736600" y="2641600"/>
            <a:ext cx="292100" cy="190500"/>
          </a:xfrm>
          <a:prstGeom prst="arc">
            <a:avLst/>
          </a:prstGeom>
          <a:noFill/>
          <a:ln w="20320">
            <a:solidFill>
              <a:srgbClr val="FF4F59"/>
            </a:solidFill>
          </a:ln>
        </p:spPr>
      </p:sp>
      <p:sp>
        <p:nvSpPr>
          <p:cNvPr id="12" name="text 12"/>
          <p:cNvSpPr/>
          <p:nvPr/>
        </p:nvSpPr>
        <p:spPr>
          <a:xfrm>
            <a:off x="1193800"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user</a:t>
            </a:r>
            <a:endParaRPr lang="en-US" sz="1900"/>
          </a:p>
        </p:txBody>
      </p:sp>
      <p:sp>
        <p:nvSpPr>
          <p:cNvPr id="13" name="text 13"/>
          <p:cNvSpPr/>
          <p:nvPr/>
        </p:nvSpPr>
        <p:spPr>
          <a:xfrm>
            <a:off x="723900"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Propose relationships absent</a:t>
            </a:r>
            <a:endParaRPr lang="en-US" sz="1700"/>
          </a:p>
          <a:p>
            <a:pPr algn="l">
              <a:lnSpc>
                <a:spcPts val="1938"/>
              </a:lnSpc>
              <a:spcAft>
                <a:spcPts val="0"/>
              </a:spcAft>
            </a:pPr>
            <a:r>
              <a:rPr lang="en-US" sz="1700" b="0" dirty="0">
                <a:solidFill>
                  <a:srgbClr val="181C23"/>
                </a:solidFill>
                <a:latin typeface="Funnel Sans"/>
              </a:rPr>
              <a:t>from the existing KB and retain</a:t>
            </a:r>
            <a:endParaRPr lang="en-US" sz="1700"/>
          </a:p>
          <a:p>
            <a:pPr algn="l">
              <a:lnSpc>
                <a:spcPts val="1938"/>
              </a:lnSpc>
              <a:spcAft>
                <a:spcPts val="0"/>
              </a:spcAft>
            </a:pPr>
            <a:r>
              <a:rPr lang="en-US" sz="1700" b="0" dirty="0">
                <a:solidFill>
                  <a:srgbClr val="181C23"/>
                </a:solidFill>
                <a:latin typeface="Funnel Sans"/>
              </a:rPr>
              <a:t>human acceptance. SMEs</a:t>
            </a:r>
            <a:endParaRPr lang="en-US" sz="1700"/>
          </a:p>
          <a:p>
            <a:pPr algn="l">
              <a:lnSpc>
                <a:spcPts val="1938"/>
              </a:lnSpc>
              <a:spcAft>
                <a:spcPts val="0"/>
              </a:spcAft>
            </a:pPr>
            <a:r>
              <a:rPr lang="en-US" sz="1700" b="0" dirty="0">
                <a:solidFill>
                  <a:srgbClr val="181C23"/>
                </a:solidFill>
                <a:latin typeface="Funnel Sans"/>
              </a:rPr>
              <a:t>would review candidates;</a:t>
            </a:r>
            <a:endParaRPr lang="en-US" sz="1700"/>
          </a:p>
          <a:p>
            <a:pPr algn="l">
              <a:lnSpc>
                <a:spcPts val="1938"/>
              </a:lnSpc>
              <a:spcAft>
                <a:spcPts val="0"/>
              </a:spcAft>
            </a:pPr>
            <a:r>
              <a:rPr lang="en-US" sz="1700" b="0" dirty="0">
                <a:solidFill>
                  <a:srgbClr val="181C23"/>
                </a:solidFill>
                <a:latin typeface="Funnel Sans"/>
              </a:rPr>
              <a:t>confidence ranks proposals</a:t>
            </a:r>
            <a:endParaRPr lang="en-US" sz="1700"/>
          </a:p>
          <a:p>
            <a:pPr algn="l">
              <a:lnSpc>
                <a:spcPts val="1938"/>
              </a:lnSpc>
              <a:spcAft>
                <a:spcPts val="0"/>
              </a:spcAft>
            </a:pPr>
            <a:r>
              <a:rPr lang="en-US" sz="1700" b="0" dirty="0">
                <a:solidFill>
                  <a:srgbClr val="181C23"/>
                </a:solidFill>
                <a:latin typeface="Funnel Sans"/>
              </a:rPr>
              <a:t>and is not a data metric.</a:t>
            </a:r>
            <a:endParaRPr lang="en-US" sz="1700"/>
          </a:p>
        </p:txBody>
      </p:sp>
      <p:sp>
        <p:nvSpPr>
          <p:cNvPr id="14" name="shape 14"/>
          <p:cNvSpPr/>
          <p:nvPr/>
        </p:nvSpPr>
        <p:spPr>
          <a:xfrm>
            <a:off x="4301067" y="2273300"/>
            <a:ext cx="3589867" cy="3213100"/>
          </a:xfrm>
          <a:prstGeom prst="rect">
            <a:avLst/>
          </a:prstGeom>
          <a:solidFill>
            <a:srgbClr val="FFFFFF"/>
          </a:solidFill>
          <a:ln w="12700">
            <a:solidFill>
              <a:srgbClr val="DEDCD6"/>
            </a:solidFill>
          </a:ln>
        </p:spPr>
      </p:sp>
      <p:sp>
        <p:nvSpPr>
          <p:cNvPr id="15" name="shape 15"/>
          <p:cNvSpPr/>
          <p:nvPr/>
        </p:nvSpPr>
        <p:spPr>
          <a:xfrm>
            <a:off x="4301067" y="2273300"/>
            <a:ext cx="38100" cy="3213100"/>
          </a:xfrm>
          <a:prstGeom prst="rect">
            <a:avLst/>
          </a:prstGeom>
          <a:solidFill>
            <a:srgbClr val="FF4F59"/>
          </a:solidFill>
          <a:ln>
            <a:noFill/>
          </a:ln>
        </p:spPr>
      </p:sp>
      <p:sp>
        <p:nvSpPr>
          <p:cNvPr id="16" name="shape 16"/>
          <p:cNvSpPr/>
          <p:nvPr/>
        </p:nvSpPr>
        <p:spPr>
          <a:xfrm>
            <a:off x="4504267" y="2679700"/>
            <a:ext cx="63500" cy="127000"/>
          </a:xfrm>
          <a:prstGeom prst="rect">
            <a:avLst/>
          </a:prstGeom>
          <a:solidFill>
            <a:srgbClr val="FF4F59"/>
          </a:solidFill>
          <a:ln>
            <a:noFill/>
          </a:ln>
        </p:spPr>
      </p:sp>
      <p:sp>
        <p:nvSpPr>
          <p:cNvPr id="17" name="shape 17"/>
          <p:cNvSpPr/>
          <p:nvPr/>
        </p:nvSpPr>
        <p:spPr>
          <a:xfrm>
            <a:off x="4618567" y="2552700"/>
            <a:ext cx="63500" cy="254000"/>
          </a:xfrm>
          <a:prstGeom prst="rect">
            <a:avLst/>
          </a:prstGeom>
          <a:solidFill>
            <a:srgbClr val="FF4F59"/>
          </a:solidFill>
          <a:ln>
            <a:noFill/>
          </a:ln>
        </p:spPr>
      </p:sp>
      <p:sp>
        <p:nvSpPr>
          <p:cNvPr id="18" name="shape 18"/>
          <p:cNvSpPr/>
          <p:nvPr/>
        </p:nvSpPr>
        <p:spPr>
          <a:xfrm>
            <a:off x="4732867" y="2463800"/>
            <a:ext cx="63500" cy="342900"/>
          </a:xfrm>
          <a:prstGeom prst="rect">
            <a:avLst/>
          </a:prstGeom>
          <a:solidFill>
            <a:srgbClr val="FF4F59"/>
          </a:solidFill>
          <a:ln>
            <a:noFill/>
          </a:ln>
        </p:spPr>
      </p:sp>
      <p:sp>
        <p:nvSpPr>
          <p:cNvPr id="19" name="text 19"/>
          <p:cNvSpPr/>
          <p:nvPr/>
        </p:nvSpPr>
        <p:spPr>
          <a:xfrm>
            <a:off x="4986867"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Inputs &amp; approach</a:t>
            </a:r>
            <a:endParaRPr lang="en-US" sz="1900"/>
          </a:p>
        </p:txBody>
      </p:sp>
      <p:sp>
        <p:nvSpPr>
          <p:cNvPr id="20" name="text 20"/>
          <p:cNvSpPr/>
          <p:nvPr/>
        </p:nvSpPr>
        <p:spPr>
          <a:xfrm>
            <a:off x="4516967"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Profile metadata, existing KB,</a:t>
            </a:r>
            <a:endParaRPr lang="en-US" sz="1700"/>
          </a:p>
          <a:p>
            <a:pPr algn="l">
              <a:lnSpc>
                <a:spcPts val="1938"/>
              </a:lnSpc>
              <a:spcAft>
                <a:spcPts val="0"/>
              </a:spcAft>
            </a:pPr>
            <a:r>
              <a:rPr lang="en-US" sz="1700" b="0" dirty="0">
                <a:solidFill>
                  <a:srgbClr val="181C23"/>
                </a:solidFill>
                <a:latin typeface="Funnel Sans"/>
              </a:rPr>
              <a:t>candidate provenance and an</a:t>
            </a:r>
            <a:endParaRPr lang="en-US" sz="1700"/>
          </a:p>
          <a:p>
            <a:pPr algn="l">
              <a:lnSpc>
                <a:spcPts val="1938"/>
              </a:lnSpc>
              <a:spcAft>
                <a:spcPts val="0"/>
              </a:spcAft>
            </a:pPr>
            <a:r>
              <a:rPr lang="en-US" sz="1700" b="0" dirty="0">
                <a:solidFill>
                  <a:srgbClr val="181C23"/>
                </a:solidFill>
                <a:latin typeface="Funnel Sans"/>
              </a:rPr>
              <a:t>SME review decision. Planned</a:t>
            </a:r>
            <a:endParaRPr lang="en-US" sz="1700"/>
          </a:p>
          <a:p>
            <a:pPr algn="l">
              <a:lnSpc>
                <a:spcPts val="1938"/>
              </a:lnSpc>
              <a:spcAft>
                <a:spcPts val="0"/>
              </a:spcAft>
            </a:pPr>
            <a:r>
              <a:rPr lang="en-US" sz="1700" b="0" dirty="0">
                <a:solidFill>
                  <a:srgbClr val="181C23"/>
                </a:solidFill>
                <a:latin typeface="Funnel Sans"/>
              </a:rPr>
              <a:t>sequence: propose → validate</a:t>
            </a:r>
            <a:endParaRPr lang="en-US" sz="1700"/>
          </a:p>
          <a:p>
            <a:pPr algn="l">
              <a:lnSpc>
                <a:spcPts val="1938"/>
              </a:lnSpc>
              <a:spcAft>
                <a:spcPts val="0"/>
              </a:spcAft>
            </a:pPr>
            <a:r>
              <a:rPr lang="en-US" sz="1700" b="0" dirty="0">
                <a:solidFill>
                  <a:srgbClr val="181C23"/>
                </a:solidFill>
                <a:latin typeface="Funnel Sans"/>
              </a:rPr>
              <a:t>→ persist → route into a Test 2</a:t>
            </a:r>
            <a:endParaRPr lang="en-US" sz="1700"/>
          </a:p>
          <a:p>
            <a:pPr algn="l">
              <a:lnSpc>
                <a:spcPts val="1938"/>
              </a:lnSpc>
              <a:spcAft>
                <a:spcPts val="0"/>
              </a:spcAft>
            </a:pPr>
            <a:r>
              <a:rPr lang="en-US" sz="1700" b="0" dirty="0">
                <a:solidFill>
                  <a:srgbClr val="181C23"/>
                </a:solidFill>
                <a:latin typeface="Funnel Sans"/>
              </a:rPr>
              <a:t>engine.</a:t>
            </a:r>
            <a:endParaRPr lang="en-US" sz="1700"/>
          </a:p>
        </p:txBody>
      </p:sp>
      <p:sp>
        <p:nvSpPr>
          <p:cNvPr id="21" name="shape 21"/>
          <p:cNvSpPr/>
          <p:nvPr/>
        </p:nvSpPr>
        <p:spPr>
          <a:xfrm>
            <a:off x="8094133" y="2273300"/>
            <a:ext cx="3589867" cy="3213100"/>
          </a:xfrm>
          <a:prstGeom prst="rect">
            <a:avLst/>
          </a:prstGeom>
          <a:solidFill>
            <a:srgbClr val="FFFFFF"/>
          </a:solidFill>
          <a:ln w="12700">
            <a:solidFill>
              <a:srgbClr val="DEDCD6"/>
            </a:solidFill>
          </a:ln>
        </p:spPr>
      </p:sp>
      <p:sp>
        <p:nvSpPr>
          <p:cNvPr id="22" name="shape 22"/>
          <p:cNvSpPr/>
          <p:nvPr/>
        </p:nvSpPr>
        <p:spPr>
          <a:xfrm>
            <a:off x="8094133" y="2273300"/>
            <a:ext cx="38100" cy="3213100"/>
          </a:xfrm>
          <a:prstGeom prst="rect">
            <a:avLst/>
          </a:prstGeom>
          <a:solidFill>
            <a:srgbClr val="FF4F59"/>
          </a:solidFill>
          <a:ln>
            <a:noFill/>
          </a:ln>
        </p:spPr>
      </p:sp>
      <p:sp>
        <p:nvSpPr>
          <p:cNvPr id="23" name="shape 23"/>
          <p:cNvSpPr/>
          <p:nvPr/>
        </p:nvSpPr>
        <p:spPr>
          <a:xfrm>
            <a:off x="8297333" y="2463800"/>
            <a:ext cx="342900" cy="342900"/>
          </a:xfrm>
          <a:prstGeom prst="hexagon">
            <a:avLst/>
          </a:prstGeom>
          <a:noFill/>
          <a:ln w="21590">
            <a:solidFill>
              <a:srgbClr val="FF4F59"/>
            </a:solidFill>
          </a:ln>
        </p:spPr>
      </p:sp>
      <p:sp>
        <p:nvSpPr>
          <p:cNvPr id="24" name="text 24"/>
          <p:cNvSpPr/>
          <p:nvPr/>
        </p:nvSpPr>
        <p:spPr>
          <a:xfrm>
            <a:off x="8411633" y="25019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5" name="text 25"/>
          <p:cNvSpPr/>
          <p:nvPr/>
        </p:nvSpPr>
        <p:spPr>
          <a:xfrm>
            <a:off x="8779933"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downstream</a:t>
            </a:r>
            <a:endParaRPr lang="en-US" sz="1900"/>
          </a:p>
        </p:txBody>
      </p:sp>
      <p:sp>
        <p:nvSpPr>
          <p:cNvPr id="26" name="text 26"/>
          <p:cNvSpPr/>
          <p:nvPr/>
        </p:nvSpPr>
        <p:spPr>
          <a:xfrm>
            <a:off x="8310033"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 current launch. Proposed:</a:t>
            </a:r>
            <a:endParaRPr lang="en-US" sz="1700"/>
          </a:p>
          <a:p>
            <a:pPr algn="l">
              <a:lnSpc>
                <a:spcPts val="1938"/>
              </a:lnSpc>
              <a:spcAft>
                <a:spcPts val="0"/>
              </a:spcAft>
            </a:pPr>
            <a:r>
              <a:rPr lang="en-US" sz="1700" b="0" dirty="0">
                <a:solidFill>
                  <a:srgbClr val="181C23"/>
                </a:solidFill>
                <a:latin typeface="Funnel Sans"/>
              </a:rPr>
              <a:t>review evidence, decide a</a:t>
            </a:r>
            <a:endParaRPr lang="en-US" sz="1700"/>
          </a:p>
          <a:p>
            <a:pPr algn="l">
              <a:lnSpc>
                <a:spcPts val="1938"/>
              </a:lnSpc>
              <a:spcAft>
                <a:spcPts val="0"/>
              </a:spcAft>
            </a:pPr>
            <a:r>
              <a:rPr lang="en-US" sz="1700" b="0" dirty="0">
                <a:solidFill>
                  <a:srgbClr val="181C23"/>
                </a:solidFill>
                <a:latin typeface="Funnel Sans"/>
              </a:rPr>
              <a:t>finding, then use issue/RCA</a:t>
            </a:r>
            <a:endParaRPr lang="en-US" sz="1700"/>
          </a:p>
          <a:p>
            <a:pPr algn="l">
              <a:lnSpc>
                <a:spcPts val="1938"/>
              </a:lnSpc>
              <a:spcAft>
                <a:spcPts val="0"/>
              </a:spcAft>
            </a:pPr>
            <a:r>
              <a:rPr lang="en-US" sz="1700" b="0" dirty="0">
                <a:solidFill>
                  <a:srgbClr val="181C23"/>
                </a:solidFill>
                <a:latin typeface="Funnel Sans"/>
              </a:rPr>
              <a:t>and manual follow-up.</a:t>
            </a:r>
            <a:endParaRPr lang="en-US" sz="1700"/>
          </a:p>
        </p:txBody>
      </p:sp>
      <p:sp>
        <p:nvSpPr>
          <p:cNvPr id="27" name="shape 27"/>
          <p:cNvSpPr/>
          <p:nvPr/>
        </p:nvSpPr>
        <p:spPr>
          <a:xfrm>
            <a:off x="508000" y="5740400"/>
            <a:ext cx="11176000" cy="546100"/>
          </a:xfrm>
          <a:prstGeom prst="rect">
            <a:avLst/>
          </a:prstGeom>
          <a:solidFill>
            <a:srgbClr val="282A27"/>
          </a:solidFill>
          <a:ln>
            <a:noFill/>
          </a:ln>
        </p:spPr>
      </p:sp>
      <p:sp>
        <p:nvSpPr>
          <p:cNvPr id="28" name="text 28"/>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Planned capability: thresholds, workflow controls, report schema and acceptance remain to be validated.</a:t>
            </a:r>
            <a:endParaRPr lang="en-US" sz="1600"/>
          </a:p>
        </p:txBody>
      </p:sp>
      <p:cxnSp>
        <p:nvCxnSpPr>
          <p:cNvPr id="29" name="connector 29"/>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text 30"/>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1" name="text 31"/>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62 / 87</a:t>
            </a:r>
            <a:endParaRPr lang="en-US" sz="10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T1-D01</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Check whether feature information arrives after the outcome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Post-outcome field / look-ahead present</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Features, availability/as-of</a:t>
            </a:r>
            <a:endParaRPr lang="en-US" sz="1700"/>
          </a:p>
          <a:p>
            <a:pPr algn="l">
              <a:lnSpc>
                <a:spcPts val="1938"/>
              </a:lnSpc>
              <a:spcAft>
                <a:spcPts val="0"/>
              </a:spcAft>
            </a:pPr>
            <a:r>
              <a:rPr lang="en-US" sz="1700" b="0" dirty="0">
                <a:solidFill>
                  <a:srgbClr val="181C23"/>
                </a:solidFill>
                <a:latin typeface="Funnel Sans"/>
              </a:rPr>
              <a:t>dates and outcome timing. Is a</a:t>
            </a:r>
            <a:endParaRPr lang="en-US" sz="1700"/>
          </a:p>
          <a:p>
            <a:pPr algn="l">
              <a:lnSpc>
                <a:spcPts val="1938"/>
              </a:lnSpc>
              <a:spcAft>
                <a:spcPts val="0"/>
              </a:spcAft>
            </a:pPr>
            <a:r>
              <a:rPr lang="en-US" sz="1700" b="0" dirty="0">
                <a:solidFill>
                  <a:srgbClr val="181C23"/>
                </a:solidFill>
                <a:latin typeface="Funnel Sans"/>
              </a:rPr>
              <a:t>field known only after the</a:t>
            </a:r>
            <a:endParaRPr lang="en-US" sz="1700"/>
          </a:p>
          <a:p>
            <a:pPr algn="l">
              <a:lnSpc>
                <a:spcPts val="1938"/>
              </a:lnSpc>
              <a:spcAft>
                <a:spcPts val="0"/>
              </a:spcAft>
            </a:pPr>
            <a:r>
              <a:rPr lang="en-US" sz="1700" b="0" dirty="0">
                <a:solidFill>
                  <a:srgbClr val="181C23"/>
                </a:solidFill>
                <a:latin typeface="Funnel Sans"/>
              </a:rPr>
              <a:t>outcome (or a look-ahead</a:t>
            </a:r>
            <a:endParaRPr lang="en-US" sz="1700"/>
          </a:p>
          <a:p>
            <a:pPr algn="l">
              <a:lnSpc>
                <a:spcPts val="1938"/>
              </a:lnSpc>
              <a:spcAft>
                <a:spcPts val="0"/>
              </a:spcAft>
            </a:pPr>
            <a:r>
              <a:rPr lang="en-US" sz="1700" b="0" dirty="0">
                <a:solidFill>
                  <a:srgbClr val="181C23"/>
                </a:solidFill>
                <a:latin typeface="Funnel Sans"/>
              </a:rPr>
              <a:t>construction) in the feature</a:t>
            </a:r>
            <a:endParaRPr lang="en-US" sz="1700"/>
          </a:p>
          <a:p>
            <a:pPr algn="l">
              <a:lnSpc>
                <a:spcPts val="1938"/>
              </a:lnSpc>
              <a:spcAft>
                <a:spcPts val="0"/>
              </a:spcAft>
            </a:pPr>
            <a:r>
              <a:rPr lang="en-US" sz="1700" b="0" dirty="0">
                <a:solidFill>
                  <a:srgbClr val="181C23"/>
                </a:solidFill>
                <a:latin typeface="Funnel Sans"/>
              </a:rPr>
              <a:t>set?</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field availability vs as-of date.</a:t>
            </a:r>
            <a:endParaRPr lang="en-US" sz="1700"/>
          </a:p>
          <a:p>
            <a:pPr algn="l">
              <a:lnSpc>
                <a:spcPts val="1938"/>
              </a:lnSpc>
              <a:spcAft>
                <a:spcPts val="0"/>
              </a:spcAft>
            </a:pPr>
            <a:r>
              <a:rPr lang="en-US" sz="1700" b="0" dirty="0">
                <a:solidFill>
                  <a:srgbClr val="181C23"/>
                </a:solidFill>
                <a:latin typeface="Funnel Sans"/>
              </a:rPr>
              <a:t>Availability flags requiring</a:t>
            </a:r>
            <a:endParaRPr lang="en-US" sz="1700"/>
          </a:p>
          <a:p>
            <a:pPr algn="l">
              <a:lnSpc>
                <a:spcPts val="1938"/>
              </a:lnSpc>
              <a:spcAft>
                <a:spcPts val="0"/>
              </a:spcAft>
            </a:pPr>
            <a:r>
              <a:rPr lang="en-US" sz="1700" b="0" dirty="0">
                <a:solidFill>
                  <a:srgbClr val="181C23"/>
                </a:solidFill>
                <a:latin typeface="Funnel Sans"/>
              </a:rPr>
              <a:t>confirmation of actual feature</a:t>
            </a:r>
            <a:endParaRPr lang="en-US" sz="1700"/>
          </a:p>
          <a:p>
            <a:pPr algn="l">
              <a:lnSpc>
                <a:spcPts val="1938"/>
              </a:lnSpc>
              <a:spcAft>
                <a:spcPts val="0"/>
              </a:spcAft>
            </a:pPr>
            <a:r>
              <a:rPr lang="en-US" sz="1700" b="0" dirty="0">
                <a:solidFill>
                  <a:srgbClr val="181C23"/>
                </a:solidFill>
                <a:latin typeface="Funnel Sans"/>
              </a:rPr>
              <a:t>timing.</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63 / 87</a:t>
            </a:r>
            <a:endParaRPr lang="en-US" sz="100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T1-D03</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Review category-level target purity with a volume guard</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Categorical leakage (association strength / purity)</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Categorical features, target</a:t>
            </a:r>
            <a:endParaRPr lang="en-US" sz="1700"/>
          </a:p>
          <a:p>
            <a:pPr algn="l">
              <a:lnSpc>
                <a:spcPts val="1938"/>
              </a:lnSpc>
              <a:spcAft>
                <a:spcPts val="0"/>
              </a:spcAft>
            </a:pPr>
            <a:r>
              <a:rPr lang="en-US" sz="1700" b="0" dirty="0">
                <a:solidFill>
                  <a:srgbClr val="181C23"/>
                </a:solidFill>
                <a:latin typeface="Funnel Sans"/>
              </a:rPr>
              <a:t>and minimum category</a:t>
            </a:r>
            <a:endParaRPr lang="en-US" sz="1700"/>
          </a:p>
          <a:p>
            <a:pPr algn="l">
              <a:lnSpc>
                <a:spcPts val="1938"/>
              </a:lnSpc>
              <a:spcAft>
                <a:spcPts val="0"/>
              </a:spcAft>
            </a:pPr>
            <a:r>
              <a:rPr lang="en-US" sz="1700" b="0" dirty="0">
                <a:solidFill>
                  <a:srgbClr val="181C23"/>
                </a:solidFill>
                <a:latin typeface="Funnel Sans"/>
              </a:rPr>
              <a:t>volumes. Does a category</a:t>
            </a:r>
            <a:endParaRPr lang="en-US" sz="1700"/>
          </a:p>
          <a:p>
            <a:pPr algn="l">
              <a:lnSpc>
                <a:spcPts val="1938"/>
              </a:lnSpc>
              <a:spcAft>
                <a:spcPts val="0"/>
              </a:spcAft>
            </a:pPr>
            <a:r>
              <a:rPr lang="en-US" sz="1700" b="0" dirty="0">
                <a:solidFill>
                  <a:srgbClr val="181C23"/>
                </a:solidFill>
                <a:latin typeface="Funnel Sans"/>
              </a:rPr>
              <a:t>value predict the outcome</a:t>
            </a:r>
            <a:endParaRPr lang="en-US" sz="1700"/>
          </a:p>
          <a:p>
            <a:pPr algn="l">
              <a:lnSpc>
                <a:spcPts val="1938"/>
              </a:lnSpc>
              <a:spcAft>
                <a:spcPts val="0"/>
              </a:spcAft>
            </a:pPr>
            <a:r>
              <a:rPr lang="en-US" sz="1700" b="0" dirty="0">
                <a:solidFill>
                  <a:srgbClr val="181C23"/>
                </a:solidFill>
                <a:latin typeface="Funnel Sans"/>
              </a:rPr>
              <a:t>almost deterministically (a</a:t>
            </a:r>
            <a:endParaRPr lang="en-US" sz="1700"/>
          </a:p>
          <a:p>
            <a:pPr algn="l">
              <a:lnSpc>
                <a:spcPts val="1938"/>
              </a:lnSpc>
              <a:spcAft>
                <a:spcPts val="0"/>
              </a:spcAft>
            </a:pPr>
            <a:r>
              <a:rPr lang="en-US" sz="1700" b="0" dirty="0">
                <a:solidFill>
                  <a:srgbClr val="181C23"/>
                </a:solidFill>
                <a:latin typeface="Funnel Sans"/>
              </a:rPr>
              <a:t>proxy for the target)?</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per-category outcome rate vs</a:t>
            </a:r>
            <a:endParaRPr lang="en-US" sz="1550"/>
          </a:p>
          <a:p>
            <a:pPr algn="l">
              <a:lnSpc>
                <a:spcPts val="1767"/>
              </a:lnSpc>
              <a:spcAft>
                <a:spcPts val="0"/>
              </a:spcAft>
            </a:pPr>
            <a:r>
              <a:rPr lang="en-US" sz="1550" b="0" dirty="0">
                <a:solidFill>
                  <a:srgbClr val="181C23"/>
                </a:solidFill>
                <a:latin typeface="Funnel Sans"/>
              </a:rPr>
              <a:t>base rate; Cramer's V;</a:t>
            </a:r>
            <a:endParaRPr lang="en-US" sz="1550"/>
          </a:p>
          <a:p>
            <a:pPr algn="l">
              <a:lnSpc>
                <a:spcPts val="1767"/>
              </a:lnSpc>
              <a:spcAft>
                <a:spcPts val="0"/>
              </a:spcAft>
            </a:pPr>
            <a:r>
              <a:rPr lang="en-US" sz="1550" b="0" dirty="0">
                <a:solidFill>
                  <a:srgbClr val="181C23"/>
                </a:solidFill>
                <a:latin typeface="Funnel Sans"/>
              </a:rPr>
              <a:t>Information Value (alt: mutual</a:t>
            </a:r>
            <a:endParaRPr lang="en-US" sz="1550"/>
          </a:p>
          <a:p>
            <a:pPr algn="l">
              <a:lnSpc>
                <a:spcPts val="1767"/>
              </a:lnSpc>
              <a:spcAft>
                <a:spcPts val="0"/>
              </a:spcAft>
            </a:pPr>
            <a:r>
              <a:rPr lang="en-US" sz="1550" b="0" dirty="0">
                <a:solidFill>
                  <a:srgbClr val="181C23"/>
                </a:solidFill>
                <a:latin typeface="Funnel Sans"/>
              </a:rPr>
              <a:t>information). NOT a chi-square</a:t>
            </a:r>
            <a:endParaRPr lang="en-US" sz="1550"/>
          </a:p>
          <a:p>
            <a:pPr algn="l">
              <a:lnSpc>
                <a:spcPts val="1767"/>
              </a:lnSpc>
              <a:spcAft>
                <a:spcPts val="0"/>
              </a:spcAft>
            </a:pPr>
            <a:r>
              <a:rPr lang="en-US" sz="1550" b="0" dirty="0">
                <a:solidFill>
                  <a:srgbClr val="181C23"/>
                </a:solidFill>
                <a:latin typeface="Funnel Sans"/>
              </a:rPr>
              <a:t>significance test - significance</a:t>
            </a:r>
            <a:endParaRPr lang="en-US" sz="1550"/>
          </a:p>
          <a:p>
            <a:pPr algn="l">
              <a:lnSpc>
                <a:spcPts val="1767"/>
              </a:lnSpc>
              <a:spcAft>
                <a:spcPts val="0"/>
              </a:spcAft>
            </a:pPr>
            <a:r>
              <a:rPr lang="en-US" sz="1550" b="0" dirty="0">
                <a:solidFill>
                  <a:srgbClr val="181C23"/>
                </a:solidFill>
                <a:latin typeface="Funnel Sans"/>
              </a:rPr>
              <a:t>over-fires at large n; use effect</a:t>
            </a:r>
            <a:endParaRPr lang="en-US" sz="1550"/>
          </a:p>
          <a:p>
            <a:pPr algn="l">
              <a:lnSpc>
                <a:spcPts val="1767"/>
              </a:lnSpc>
              <a:spcAft>
                <a:spcPts val="0"/>
              </a:spcAft>
            </a:pPr>
            <a:r>
              <a:rPr lang="en-US" sz="1550" b="0" dirty="0">
                <a:solidFill>
                  <a:srgbClr val="181C23"/>
                </a:solidFill>
                <a:latin typeface="Funnel Sans"/>
              </a:rPr>
              <a:t>size.. Volume-gated purity /</a:t>
            </a:r>
            <a:endParaRPr lang="en-US" sz="1550"/>
          </a:p>
          <a:p>
            <a:pPr algn="l">
              <a:lnSpc>
                <a:spcPts val="1767"/>
              </a:lnSpc>
              <a:spcAft>
                <a:spcPts val="0"/>
              </a:spcAft>
            </a:pPr>
            <a:r>
              <a:rPr lang="en-US" sz="1550" b="0" dirty="0">
                <a:solidFill>
                  <a:srgbClr val="181C23"/>
                </a:solidFill>
                <a:latin typeface="Funnel Sans"/>
              </a:rPr>
              <a:t>effect-size evidence; significance</a:t>
            </a:r>
            <a:endParaRPr lang="en-US" sz="1550"/>
          </a:p>
          <a:p>
            <a:pPr algn="l">
              <a:lnSpc>
                <a:spcPts val="1767"/>
              </a:lnSpc>
              <a:spcAft>
                <a:spcPts val="0"/>
              </a:spcAft>
            </a:pPr>
            <a:r>
              <a:rPr lang="en-US" sz="1550" b="0" dirty="0">
                <a:solidFill>
                  <a:srgbClr val="181C23"/>
                </a:solidFill>
                <a:latin typeface="Funnel Sans"/>
              </a:rPr>
              <a:t>alone is insufficient.</a:t>
            </a:r>
            <a:endParaRPr lang="en-US" sz="155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64 / 87</a:t>
            </a:r>
            <a:endParaRPr lang="en-US" sz="100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T2-D05</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Reconcile recorded derived values with their formulas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Derivation identity</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Recorded derived field,</a:t>
            </a:r>
            <a:endParaRPr lang="en-US" sz="1700"/>
          </a:p>
          <a:p>
            <a:pPr algn="l">
              <a:lnSpc>
                <a:spcPts val="1938"/>
              </a:lnSpc>
              <a:spcAft>
                <a:spcPts val="0"/>
              </a:spcAft>
            </a:pPr>
            <a:r>
              <a:rPr lang="en-US" sz="1700" b="0" dirty="0">
                <a:solidFill>
                  <a:srgbClr val="181C23"/>
                </a:solidFill>
                <a:latin typeface="Funnel Sans"/>
              </a:rPr>
              <a:t>formula inputs and numerical</a:t>
            </a:r>
            <a:endParaRPr lang="en-US" sz="1700"/>
          </a:p>
          <a:p>
            <a:pPr algn="l">
              <a:lnSpc>
                <a:spcPts val="1938"/>
              </a:lnSpc>
              <a:spcAft>
                <a:spcPts val="0"/>
              </a:spcAft>
            </a:pPr>
            <a:r>
              <a:rPr lang="en-US" sz="1700" b="0" dirty="0">
                <a:solidFill>
                  <a:srgbClr val="181C23"/>
                </a:solidFill>
                <a:latin typeface="Funnel Sans"/>
              </a:rPr>
              <a:t>tolerance. Does a derived field</a:t>
            </a:r>
            <a:endParaRPr lang="en-US" sz="1700"/>
          </a:p>
          <a:p>
            <a:pPr algn="l">
              <a:lnSpc>
                <a:spcPts val="1938"/>
              </a:lnSpc>
              <a:spcAft>
                <a:spcPts val="0"/>
              </a:spcAft>
            </a:pPr>
            <a:r>
              <a:rPr lang="en-US" sz="1700" b="0" dirty="0">
                <a:solidFill>
                  <a:srgbClr val="181C23"/>
                </a:solidFill>
                <a:latin typeface="Funnel Sans"/>
              </a:rPr>
              <a:t>equal its formula?</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abs(recorded - derived).</a:t>
            </a:r>
            <a:endParaRPr lang="en-US" sz="1700"/>
          </a:p>
          <a:p>
            <a:pPr algn="l">
              <a:lnSpc>
                <a:spcPts val="1938"/>
              </a:lnSpc>
              <a:spcAft>
                <a:spcPts val="0"/>
              </a:spcAft>
            </a:pPr>
            <a:r>
              <a:rPr lang="en-US" sz="1700" b="0" dirty="0">
                <a:solidFill>
                  <a:srgbClr val="181C23"/>
                </a:solidFill>
                <a:latin typeface="Funnel Sans"/>
              </a:rPr>
              <a:t>Recorded-versus-derived</a:t>
            </a:r>
            <a:endParaRPr lang="en-US" sz="1700"/>
          </a:p>
          <a:p>
            <a:pPr algn="l">
              <a:lnSpc>
                <a:spcPts val="1938"/>
              </a:lnSpc>
              <a:spcAft>
                <a:spcPts val="0"/>
              </a:spcAft>
            </a:pPr>
            <a:r>
              <a:rPr lang="en-US" sz="1700" b="0" dirty="0">
                <a:solidFill>
                  <a:srgbClr val="181C23"/>
                </a:solidFill>
                <a:latin typeface="Funnel Sans"/>
              </a:rPr>
              <a:t>discrepancy and rule evidence.</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65 / 87</a:t>
            </a:r>
            <a:endParaRPr lang="en-US" sz="100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T2-D07</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Identify fields that appear frozen or disguised as missing</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Disguised-missing / staleness</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Segment-period panel,</a:t>
            </a:r>
            <a:endParaRPr lang="en-US" sz="1700"/>
          </a:p>
          <a:p>
            <a:pPr algn="l">
              <a:lnSpc>
                <a:spcPts val="1938"/>
              </a:lnSpc>
              <a:spcAft>
                <a:spcPts val="0"/>
              </a:spcAft>
            </a:pPr>
            <a:r>
              <a:rPr lang="en-US" sz="1700" b="0" dirty="0">
                <a:solidFill>
                  <a:srgbClr val="181C23"/>
                </a:solidFill>
                <a:latin typeface="Funnel Sans"/>
              </a:rPr>
              <a:t>declared sentinels and</a:t>
            </a:r>
            <a:endParaRPr lang="en-US" sz="1700"/>
          </a:p>
          <a:p>
            <a:pPr algn="l">
              <a:lnSpc>
                <a:spcPts val="1938"/>
              </a:lnSpc>
              <a:spcAft>
                <a:spcPts val="0"/>
              </a:spcAft>
            </a:pPr>
            <a:r>
              <a:rPr lang="en-US" sz="1700" b="0" dirty="0">
                <a:solidFill>
                  <a:srgbClr val="181C23"/>
                </a:solidFill>
                <a:latin typeface="Funnel Sans"/>
              </a:rPr>
              <a:t>expected variation. Is a</a:t>
            </a:r>
            <a:endParaRPr lang="en-US" sz="1700"/>
          </a:p>
          <a:p>
            <a:pPr algn="l">
              <a:lnSpc>
                <a:spcPts val="1938"/>
              </a:lnSpc>
              <a:spcAft>
                <a:spcPts val="0"/>
              </a:spcAft>
            </a:pPr>
            <a:r>
              <a:rPr lang="en-US" sz="1700" b="0" dirty="0">
                <a:solidFill>
                  <a:srgbClr val="181C23"/>
                </a:solidFill>
                <a:latin typeface="Funnel Sans"/>
              </a:rPr>
              <a:t>normally-varying field</a:t>
            </a:r>
            <a:endParaRPr lang="en-US" sz="1700"/>
          </a:p>
          <a:p>
            <a:pPr algn="l">
              <a:lnSpc>
                <a:spcPts val="1938"/>
              </a:lnSpc>
              <a:spcAft>
                <a:spcPts val="0"/>
              </a:spcAft>
            </a:pPr>
            <a:r>
              <a:rPr lang="en-US" sz="1700" b="0" dirty="0">
                <a:solidFill>
                  <a:srgbClr val="181C23"/>
                </a:solidFill>
                <a:latin typeface="Funnel Sans"/>
              </a:rPr>
              <a:t>frozen/sentinel over a</a:t>
            </a:r>
            <a:endParaRPr lang="en-US" sz="1700"/>
          </a:p>
          <a:p>
            <a:pPr algn="l">
              <a:lnSpc>
                <a:spcPts val="1938"/>
              </a:lnSpc>
              <a:spcAft>
                <a:spcPts val="0"/>
              </a:spcAft>
            </a:pPr>
            <a:r>
              <a:rPr lang="en-US" sz="1700" b="0" dirty="0">
                <a:solidFill>
                  <a:srgbClr val="181C23"/>
                </a:solidFill>
                <a:latin typeface="Funnel Sans"/>
              </a:rPr>
              <a:t>segment-period?</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within-segment variance over</a:t>
            </a:r>
            <a:endParaRPr lang="en-US" sz="1700"/>
          </a:p>
          <a:p>
            <a:pPr algn="l">
              <a:lnSpc>
                <a:spcPts val="1938"/>
              </a:lnSpc>
              <a:spcAft>
                <a:spcPts val="0"/>
              </a:spcAft>
            </a:pPr>
            <a:r>
              <a:rPr lang="en-US" sz="1700" b="0" dirty="0">
                <a:solidFill>
                  <a:srgbClr val="181C23"/>
                </a:solidFill>
                <a:latin typeface="Funnel Sans"/>
              </a:rPr>
              <a:t>time; sentinel share.</a:t>
            </a:r>
            <a:endParaRPr lang="en-US" sz="1700"/>
          </a:p>
          <a:p>
            <a:pPr algn="l">
              <a:lnSpc>
                <a:spcPts val="1938"/>
              </a:lnSpc>
              <a:spcAft>
                <a:spcPts val="0"/>
              </a:spcAft>
            </a:pPr>
            <a:r>
              <a:rPr lang="en-US" sz="1700" b="0" dirty="0">
                <a:solidFill>
                  <a:srgbClr val="181C23"/>
                </a:solidFill>
                <a:latin typeface="Funnel Sans"/>
              </a:rPr>
              <a:t>Frozen/sentinel evidence;</a:t>
            </a:r>
            <a:endParaRPr lang="en-US" sz="1700"/>
          </a:p>
          <a:p>
            <a:pPr algn="l">
              <a:lnSpc>
                <a:spcPts val="1938"/>
              </a:lnSpc>
              <a:spcAft>
                <a:spcPts val="0"/>
              </a:spcAft>
            </a:pPr>
            <a:r>
              <a:rPr lang="en-US" sz="1700" b="0" dirty="0">
                <a:solidFill>
                  <a:srgbClr val="181C23"/>
                </a:solidFill>
                <a:latin typeface="Funnel Sans"/>
              </a:rPr>
              <a:t>overlap with D08 tags does not</a:t>
            </a:r>
            <a:endParaRPr lang="en-US" sz="1700"/>
          </a:p>
          <a:p>
            <a:pPr algn="l">
              <a:lnSpc>
                <a:spcPts val="1938"/>
              </a:lnSpc>
              <a:spcAft>
                <a:spcPts val="0"/>
              </a:spcAft>
            </a:pPr>
            <a:r>
              <a:rPr lang="en-US" sz="1700" b="0" dirty="0">
                <a:solidFill>
                  <a:srgbClr val="181C23"/>
                </a:solidFill>
                <a:latin typeface="Funnel Sans"/>
              </a:rPr>
              <a:t>activate D07.</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66 / 87</a:t>
            </a:r>
            <a:endParaRPr lang="en-US" sz="10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T2-D09</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Screen material numeric fields for robust outlier candidates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Statistical outlier (robust-Z)</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Material numeric fields,</a:t>
            </a:r>
            <a:endParaRPr lang="en-US" sz="1700"/>
          </a:p>
          <a:p>
            <a:pPr algn="l">
              <a:lnSpc>
                <a:spcPts val="1938"/>
              </a:lnSpc>
              <a:spcAft>
                <a:spcPts val="0"/>
              </a:spcAft>
            </a:pPr>
            <a:r>
              <a:rPr lang="en-US" sz="1700" b="0" dirty="0">
                <a:solidFill>
                  <a:srgbClr val="181C23"/>
                </a:solidFill>
                <a:latin typeface="Funnel Sans"/>
              </a:rPr>
              <a:t>semantics exclusions and</a:t>
            </a:r>
            <a:endParaRPr lang="en-US" sz="1700"/>
          </a:p>
          <a:p>
            <a:pPr algn="l">
              <a:lnSpc>
                <a:spcPts val="1938"/>
              </a:lnSpc>
              <a:spcAft>
                <a:spcPts val="0"/>
              </a:spcAft>
            </a:pPr>
            <a:r>
              <a:rPr lang="en-US" sz="1700" b="0" dirty="0">
                <a:solidFill>
                  <a:srgbClr val="181C23"/>
                </a:solidFill>
                <a:latin typeface="Funnel Sans"/>
              </a:rPr>
              <a:t>robust scale. Improbable</a:t>
            </a:r>
            <a:endParaRPr lang="en-US" sz="1700"/>
          </a:p>
          <a:p>
            <a:pPr algn="l">
              <a:lnSpc>
                <a:spcPts val="1938"/>
              </a:lnSpc>
              <a:spcAft>
                <a:spcPts val="0"/>
              </a:spcAft>
            </a:pPr>
            <a:r>
              <a:rPr lang="en-US" sz="1700" b="0" dirty="0">
                <a:solidFill>
                  <a:srgbClr val="181C23"/>
                </a:solidFill>
                <a:latin typeface="Funnel Sans"/>
              </a:rPr>
              <a:t>extreme values in a material</a:t>
            </a:r>
            <a:endParaRPr lang="en-US" sz="1700"/>
          </a:p>
          <a:p>
            <a:pPr algn="l">
              <a:lnSpc>
                <a:spcPts val="1938"/>
              </a:lnSpc>
              <a:spcAft>
                <a:spcPts val="0"/>
              </a:spcAft>
            </a:pPr>
            <a:r>
              <a:rPr lang="en-US" sz="1700" b="0" dirty="0">
                <a:solidFill>
                  <a:srgbClr val="181C23"/>
                </a:solidFill>
                <a:latin typeface="Funnel Sans"/>
              </a:rPr>
              <a:t>field's tail.</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robust z =</a:t>
            </a:r>
            <a:endParaRPr lang="en-US" sz="1700"/>
          </a:p>
          <a:p>
            <a:pPr algn="l">
              <a:lnSpc>
                <a:spcPts val="1938"/>
              </a:lnSpc>
              <a:spcAft>
                <a:spcPts val="0"/>
              </a:spcAft>
            </a:pPr>
            <a:r>
              <a:rPr lang="en-US" sz="1700" b="0" dirty="0">
                <a:solidFill>
                  <a:srgbClr val="181C23"/>
                </a:solidFill>
                <a:latin typeface="Funnel Sans"/>
              </a:rPr>
              <a:t>0.6745*(x-median)/MAD (alt:</a:t>
            </a:r>
            <a:endParaRPr lang="en-US" sz="1700"/>
          </a:p>
          <a:p>
            <a:pPr algn="l">
              <a:lnSpc>
                <a:spcPts val="1938"/>
              </a:lnSpc>
              <a:spcAft>
                <a:spcPts val="0"/>
              </a:spcAft>
            </a:pPr>
            <a:r>
              <a:rPr lang="en-US" sz="1700" b="0" dirty="0">
                <a:solidFill>
                  <a:srgbClr val="181C23"/>
                </a:solidFill>
                <a:latin typeface="Funnel Sans"/>
              </a:rPr>
              <a:t>IQR fence, isolation forest).</a:t>
            </a:r>
            <a:endParaRPr lang="en-US" sz="1700"/>
          </a:p>
          <a:p>
            <a:pPr algn="l">
              <a:lnSpc>
                <a:spcPts val="1938"/>
              </a:lnSpc>
              <a:spcAft>
                <a:spcPts val="0"/>
              </a:spcAft>
            </a:pPr>
            <a:r>
              <a:rPr lang="en-US" sz="1700" b="0" dirty="0">
                <a:solidFill>
                  <a:srgbClr val="181C23"/>
                </a:solidFill>
                <a:latin typeface="Funnel Sans"/>
              </a:rPr>
              <a:t>Robust-Z candidate flags;</a:t>
            </a:r>
            <a:endParaRPr lang="en-US" sz="1700"/>
          </a:p>
          <a:p>
            <a:pPr algn="l">
              <a:lnSpc>
                <a:spcPts val="1938"/>
              </a:lnSpc>
              <a:spcAft>
                <a:spcPts val="0"/>
              </a:spcAft>
            </a:pPr>
            <a:r>
              <a:rPr lang="en-US" sz="1700" b="0" dirty="0">
                <a:solidFill>
                  <a:srgbClr val="181C23"/>
                </a:solidFill>
                <a:latin typeface="Funnel Sans"/>
              </a:rPr>
              <a:t>genuine tails still require</a:t>
            </a:r>
            <a:endParaRPr lang="en-US" sz="1700"/>
          </a:p>
          <a:p>
            <a:pPr algn="l">
              <a:lnSpc>
                <a:spcPts val="1938"/>
              </a:lnSpc>
              <a:spcAft>
                <a:spcPts val="0"/>
              </a:spcAft>
            </a:pPr>
            <a:r>
              <a:rPr lang="en-US" sz="1700" b="0" dirty="0">
                <a:solidFill>
                  <a:srgbClr val="181C23"/>
                </a:solidFill>
                <a:latin typeface="Funnel Sans"/>
              </a:rPr>
              <a:t>contextual review.</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67 / 87</a:t>
            </a:r>
            <a:endParaRPr lang="en-US" sz="10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T2-D10</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Look for implausible concentration at declared boundaries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Boundary / pile-up detection</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Bounded field, declared limits</a:t>
            </a:r>
            <a:endParaRPr lang="en-US" sz="1700"/>
          </a:p>
          <a:p>
            <a:pPr algn="l">
              <a:lnSpc>
                <a:spcPts val="1938"/>
              </a:lnSpc>
              <a:spcAft>
                <a:spcPts val="0"/>
              </a:spcAft>
            </a:pPr>
            <a:r>
              <a:rPr lang="en-US" sz="1700" b="0" dirty="0">
                <a:solidFill>
                  <a:srgbClr val="181C23"/>
                </a:solidFill>
                <a:latin typeface="Funnel Sans"/>
              </a:rPr>
              <a:t>and boundary-share threshold.</a:t>
            </a:r>
            <a:endParaRPr lang="en-US" sz="1700"/>
          </a:p>
          <a:p>
            <a:pPr algn="l">
              <a:lnSpc>
                <a:spcPts val="1938"/>
              </a:lnSpc>
              <a:spcAft>
                <a:spcPts val="0"/>
              </a:spcAft>
            </a:pPr>
            <a:r>
              <a:rPr lang="en-US" sz="1700" b="0" dirty="0">
                <a:solidFill>
                  <a:srgbClr val="181C23"/>
                </a:solidFill>
                <a:latin typeface="Funnel Sans"/>
              </a:rPr>
              <a:t>Implausible mass at a bounded</a:t>
            </a:r>
            <a:endParaRPr lang="en-US" sz="1700"/>
          </a:p>
          <a:p>
            <a:pPr algn="l">
              <a:lnSpc>
                <a:spcPts val="1938"/>
              </a:lnSpc>
              <a:spcAft>
                <a:spcPts val="0"/>
              </a:spcAft>
            </a:pPr>
            <a:r>
              <a:rPr lang="en-US" sz="1700" b="0" dirty="0">
                <a:solidFill>
                  <a:srgbClr val="181C23"/>
                </a:solidFill>
                <a:latin typeface="Funnel Sans"/>
              </a:rPr>
              <a:t>field's min/max.</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share of mass at boundary.</a:t>
            </a:r>
            <a:endParaRPr lang="en-US" sz="1700"/>
          </a:p>
          <a:p>
            <a:pPr algn="l">
              <a:lnSpc>
                <a:spcPts val="1938"/>
              </a:lnSpc>
              <a:spcAft>
                <a:spcPts val="0"/>
              </a:spcAft>
            </a:pPr>
            <a:r>
              <a:rPr lang="en-US" sz="1700" b="0" dirty="0">
                <a:solidFill>
                  <a:srgbClr val="181C23"/>
                </a:solidFill>
                <a:latin typeface="Funnel Sans"/>
              </a:rPr>
              <a:t>Boundary concentration</a:t>
            </a:r>
            <a:endParaRPr lang="en-US" sz="1700"/>
          </a:p>
          <a:p>
            <a:pPr algn="l">
              <a:lnSpc>
                <a:spcPts val="1938"/>
              </a:lnSpc>
              <a:spcAft>
                <a:spcPts val="0"/>
              </a:spcAft>
            </a:pPr>
            <a:r>
              <a:rPr lang="en-US" sz="1700" b="0" dirty="0">
                <a:solidFill>
                  <a:srgbClr val="181C23"/>
                </a:solidFill>
                <a:latin typeface="Funnel Sans"/>
              </a:rPr>
              <a:t>evidence; scope and</a:t>
            </a:r>
            <a:endParaRPr lang="en-US" sz="1700"/>
          </a:p>
          <a:p>
            <a:pPr algn="l">
              <a:lnSpc>
                <a:spcPts val="1938"/>
              </a:lnSpc>
              <a:spcAft>
                <a:spcPts val="0"/>
              </a:spcAft>
            </a:pPr>
            <a:r>
              <a:rPr lang="en-US" sz="1700" b="0" dirty="0">
                <a:solidFill>
                  <a:srgbClr val="181C23"/>
                </a:solidFill>
                <a:latin typeface="Funnel Sans"/>
              </a:rPr>
              <a:t>materiality require definition.</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68 / 87</a:t>
            </a:r>
            <a:endParaRPr lang="en-US" sz="10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T3-D13</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Locate target-rate breaks around definition changes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Target-rate break (change-point)</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Dated target-rate series and</a:t>
            </a:r>
            <a:endParaRPr lang="en-US" sz="1700"/>
          </a:p>
          <a:p>
            <a:pPr algn="l">
              <a:lnSpc>
                <a:spcPts val="1938"/>
              </a:lnSpc>
              <a:spcAft>
                <a:spcPts val="0"/>
              </a:spcAft>
            </a:pPr>
            <a:r>
              <a:rPr lang="en-US" sz="1700" b="0" dirty="0">
                <a:solidFill>
                  <a:srgbClr val="181C23"/>
                </a:solidFill>
                <a:latin typeface="Funnel Sans"/>
              </a:rPr>
              <a:t>label-definition change dates.</a:t>
            </a:r>
            <a:endParaRPr lang="en-US" sz="1700"/>
          </a:p>
          <a:p>
            <a:pPr algn="l">
              <a:lnSpc>
                <a:spcPts val="1938"/>
              </a:lnSpc>
              <a:spcAft>
                <a:spcPts val="0"/>
              </a:spcAft>
            </a:pPr>
            <a:r>
              <a:rPr lang="en-US" sz="1700" b="0" dirty="0">
                <a:solidFill>
                  <a:srgbClr val="181C23"/>
                </a:solidFill>
                <a:latin typeface="Funnel Sans"/>
              </a:rPr>
              <a:t>Does the target rate shift over</a:t>
            </a:r>
            <a:endParaRPr lang="en-US" sz="1700"/>
          </a:p>
          <a:p>
            <a:pPr algn="l">
              <a:lnSpc>
                <a:spcPts val="1938"/>
              </a:lnSpc>
              <a:spcAft>
                <a:spcPts val="0"/>
              </a:spcAft>
            </a:pPr>
            <a:r>
              <a:rPr lang="en-US" sz="1700" b="0" dirty="0">
                <a:solidFill>
                  <a:srgbClr val="181C23"/>
                </a:solidFill>
                <a:latin typeface="Funnel Sans"/>
              </a:rPr>
              <a:t>time for definitional reasons?</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change-point / structural-break</a:t>
            </a:r>
            <a:endParaRPr lang="en-US" sz="1700"/>
          </a:p>
          <a:p>
            <a:pPr algn="l">
              <a:lnSpc>
                <a:spcPts val="1938"/>
              </a:lnSpc>
              <a:spcAft>
                <a:spcPts val="0"/>
              </a:spcAft>
            </a:pPr>
            <a:r>
              <a:rPr lang="en-US" sz="1700" b="0" dirty="0">
                <a:solidFill>
                  <a:srgbClr val="181C23"/>
                </a:solidFill>
                <a:latin typeface="Funnel Sans"/>
              </a:rPr>
              <a:t>statistic on target-rate series.</a:t>
            </a:r>
            <a:endParaRPr lang="en-US" sz="1700"/>
          </a:p>
          <a:p>
            <a:pPr algn="l">
              <a:lnSpc>
                <a:spcPts val="1938"/>
              </a:lnSpc>
              <a:spcAft>
                <a:spcPts val="0"/>
              </a:spcAft>
            </a:pPr>
            <a:r>
              <a:rPr lang="en-US" sz="1700" b="0" dirty="0">
                <a:solidFill>
                  <a:srgbClr val="181C23"/>
                </a:solidFill>
                <a:latin typeface="Funnel Sans"/>
              </a:rPr>
              <a:t>Change-point candidates</a:t>
            </a:r>
            <a:endParaRPr lang="en-US" sz="1700"/>
          </a:p>
          <a:p>
            <a:pPr algn="l">
              <a:lnSpc>
                <a:spcPts val="1938"/>
              </a:lnSpc>
              <a:spcAft>
                <a:spcPts val="0"/>
              </a:spcAft>
            </a:pPr>
            <a:r>
              <a:rPr lang="en-US" sz="1700" b="0" dirty="0">
                <a:solidFill>
                  <a:srgbClr val="181C23"/>
                </a:solidFill>
                <a:latin typeface="Funnel Sans"/>
              </a:rPr>
              <a:t>aligned to documented</a:t>
            </a:r>
            <a:endParaRPr lang="en-US" sz="1700"/>
          </a:p>
          <a:p>
            <a:pPr algn="l">
              <a:lnSpc>
                <a:spcPts val="1938"/>
              </a:lnSpc>
              <a:spcAft>
                <a:spcPts val="0"/>
              </a:spcAft>
            </a:pPr>
            <a:r>
              <a:rPr lang="en-US" sz="1700" b="0" dirty="0">
                <a:solidFill>
                  <a:srgbClr val="181C23"/>
                </a:solidFill>
                <a:latin typeface="Funnel Sans"/>
              </a:rPr>
              <a:t>definition dates.</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69 / 87</a:t>
            </a:r>
            <a:endParaRPr lang="en-US" sz="10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T4-D15</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Compare sample and reference distributions using KS distance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KS distance</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Numeric sample and reference</a:t>
            </a:r>
            <a:endParaRPr lang="en-US" sz="1700"/>
          </a:p>
          <a:p>
            <a:pPr algn="l">
              <a:lnSpc>
                <a:spcPts val="1938"/>
              </a:lnSpc>
              <a:spcAft>
                <a:spcPts val="0"/>
              </a:spcAft>
            </a:pPr>
            <a:r>
              <a:rPr lang="en-US" sz="1700" b="0" dirty="0">
                <a:solidFill>
                  <a:srgbClr val="181C23"/>
                </a:solidFill>
                <a:latin typeface="Funnel Sans"/>
              </a:rPr>
              <a:t>distributions. Distributional</a:t>
            </a:r>
            <a:endParaRPr lang="en-US" sz="1700"/>
          </a:p>
          <a:p>
            <a:pPr algn="l">
              <a:lnSpc>
                <a:spcPts val="1938"/>
              </a:lnSpc>
              <a:spcAft>
                <a:spcPts val="0"/>
              </a:spcAft>
            </a:pPr>
            <a:r>
              <a:rPr lang="en-US" sz="1700" b="0" dirty="0">
                <a:solidFill>
                  <a:srgbClr val="181C23"/>
                </a:solidFill>
                <a:latin typeface="Funnel Sans"/>
              </a:rPr>
              <a:t>difference vs reference</a:t>
            </a:r>
            <a:endParaRPr lang="en-US" sz="1700"/>
          </a:p>
          <a:p>
            <a:pPr algn="l">
              <a:lnSpc>
                <a:spcPts val="1938"/>
              </a:lnSpc>
              <a:spcAft>
                <a:spcPts val="0"/>
              </a:spcAft>
            </a:pPr>
            <a:r>
              <a:rPr lang="en-US" sz="1700" b="0" dirty="0">
                <a:solidFill>
                  <a:srgbClr val="181C23"/>
                </a:solidFill>
                <a:latin typeface="Funnel Sans"/>
              </a:rPr>
              <a:t>(complements PSI).</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Kolmogorov-Smirnov statistic.</a:t>
            </a:r>
            <a:endParaRPr lang="en-US" sz="1700"/>
          </a:p>
          <a:p>
            <a:pPr algn="l">
              <a:lnSpc>
                <a:spcPts val="1938"/>
              </a:lnSpc>
              <a:spcAft>
                <a:spcPts val="0"/>
              </a:spcAft>
            </a:pPr>
            <a:r>
              <a:rPr lang="en-US" sz="1700" b="0" dirty="0">
                <a:solidFill>
                  <a:srgbClr val="181C23"/>
                </a:solidFill>
                <a:latin typeface="Funnel Sans"/>
              </a:rPr>
              <a:t>Distribution distance,</a:t>
            </a:r>
            <a:endParaRPr lang="en-US" sz="1700"/>
          </a:p>
          <a:p>
            <a:pPr algn="l">
              <a:lnSpc>
                <a:spcPts val="1938"/>
              </a:lnSpc>
              <a:spcAft>
                <a:spcPts val="0"/>
              </a:spcAft>
            </a:pPr>
            <a:r>
              <a:rPr lang="en-US" sz="1700" b="0" dirty="0">
                <a:solidFill>
                  <a:srgbClr val="181C23"/>
                </a:solidFill>
                <a:latin typeface="Funnel Sans"/>
              </a:rPr>
              <a:t>interpreted alongside sample</a:t>
            </a:r>
            <a:endParaRPr lang="en-US" sz="1700"/>
          </a:p>
          <a:p>
            <a:pPr algn="l">
              <a:lnSpc>
                <a:spcPts val="1938"/>
              </a:lnSpc>
              <a:spcAft>
                <a:spcPts val="0"/>
              </a:spcAft>
            </a:pPr>
            <a:r>
              <a:rPr lang="en-US" sz="1700" b="0" dirty="0">
                <a:solidFill>
                  <a:srgbClr val="181C23"/>
                </a:solidFill>
                <a:latin typeface="Funnel Sans"/>
              </a:rPr>
              <a:t>size and PSI.</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70 / 87</a:t>
            </a:r>
            <a:endParaRPr lang="en-US" sz="100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T4-D16</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Expose absent or thin population segments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Segment coverage</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Reference and sample</a:t>
            </a:r>
            <a:endParaRPr lang="en-US" sz="1700"/>
          </a:p>
          <a:p>
            <a:pPr algn="l">
              <a:lnSpc>
                <a:spcPts val="1938"/>
              </a:lnSpc>
              <a:spcAft>
                <a:spcPts val="0"/>
              </a:spcAft>
            </a:pPr>
            <a:r>
              <a:rPr lang="en-US" sz="1700" b="0" dirty="0">
                <a:solidFill>
                  <a:srgbClr val="181C23"/>
                </a:solidFill>
                <a:latin typeface="Funnel Sans"/>
              </a:rPr>
              <a:t>segment keys and population</a:t>
            </a:r>
            <a:endParaRPr lang="en-US" sz="1700"/>
          </a:p>
          <a:p>
            <a:pPr algn="l">
              <a:lnSpc>
                <a:spcPts val="1938"/>
              </a:lnSpc>
              <a:spcAft>
                <a:spcPts val="0"/>
              </a:spcAft>
            </a:pPr>
            <a:r>
              <a:rPr lang="en-US" sz="1700" b="0" dirty="0">
                <a:solidFill>
                  <a:srgbClr val="181C23"/>
                </a:solidFill>
                <a:latin typeface="Funnel Sans"/>
              </a:rPr>
              <a:t>counts. Is any live-population</a:t>
            </a:r>
            <a:endParaRPr lang="en-US" sz="1700"/>
          </a:p>
          <a:p>
            <a:pPr algn="l">
              <a:lnSpc>
                <a:spcPts val="1938"/>
              </a:lnSpc>
              <a:spcAft>
                <a:spcPts val="0"/>
              </a:spcAft>
            </a:pPr>
            <a:r>
              <a:rPr lang="en-US" sz="1700" b="0" dirty="0">
                <a:solidFill>
                  <a:srgbClr val="181C23"/>
                </a:solidFill>
                <a:latin typeface="Funnel Sans"/>
              </a:rPr>
              <a:t>segment absent/thin in the</a:t>
            </a:r>
            <a:endParaRPr lang="en-US" sz="1700"/>
          </a:p>
          <a:p>
            <a:pPr algn="l">
              <a:lnSpc>
                <a:spcPts val="1938"/>
              </a:lnSpc>
              <a:spcAft>
                <a:spcPts val="0"/>
              </a:spcAft>
            </a:pPr>
            <a:r>
              <a:rPr lang="en-US" sz="1700" b="0" dirty="0">
                <a:solidFill>
                  <a:srgbClr val="181C23"/>
                </a:solidFill>
                <a:latin typeface="Funnel Sans"/>
              </a:rPr>
              <a:t>sample?</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presence &amp; share by segment.</a:t>
            </a:r>
            <a:endParaRPr lang="en-US" sz="1700"/>
          </a:p>
          <a:p>
            <a:pPr algn="l">
              <a:lnSpc>
                <a:spcPts val="1938"/>
              </a:lnSpc>
              <a:spcAft>
                <a:spcPts val="0"/>
              </a:spcAft>
            </a:pPr>
            <a:r>
              <a:rPr lang="en-US" sz="1700" b="0" dirty="0">
                <a:solidFill>
                  <a:srgbClr val="181C23"/>
                </a:solidFill>
                <a:latin typeface="Funnel Sans"/>
              </a:rPr>
              <a:t>Absent or underrepresented</a:t>
            </a:r>
            <a:endParaRPr lang="en-US" sz="1700"/>
          </a:p>
          <a:p>
            <a:pPr algn="l">
              <a:lnSpc>
                <a:spcPts val="1938"/>
              </a:lnSpc>
              <a:spcAft>
                <a:spcPts val="0"/>
              </a:spcAft>
            </a:pPr>
            <a:r>
              <a:rPr lang="en-US" sz="1700" b="0" dirty="0">
                <a:solidFill>
                  <a:srgbClr val="181C23"/>
                </a:solidFill>
                <a:latin typeface="Funnel Sans"/>
              </a:rPr>
              <a:t>segments and their shares.</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71 / 87</a:t>
            </a:r>
            <a:endParaRPr lang="en-US" sz="100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T5-D18</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Quantify the impact of resolved-only outcome selection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Resolved-only vs all differential</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Resolved flag, outcomes and</a:t>
            </a:r>
            <a:endParaRPr lang="en-US" sz="1700"/>
          </a:p>
          <a:p>
            <a:pPr algn="l">
              <a:lnSpc>
                <a:spcPts val="1938"/>
              </a:lnSpc>
              <a:spcAft>
                <a:spcPts val="0"/>
              </a:spcAft>
            </a:pPr>
            <a:r>
              <a:rPr lang="en-US" sz="1700" b="0" dirty="0">
                <a:solidFill>
                  <a:srgbClr val="181C23"/>
                </a:solidFill>
                <a:latin typeface="Funnel Sans"/>
              </a:rPr>
              <a:t>comparable full/resolved</a:t>
            </a:r>
            <a:endParaRPr lang="en-US" sz="1700"/>
          </a:p>
          <a:p>
            <a:pPr algn="l">
              <a:lnSpc>
                <a:spcPts val="1938"/>
              </a:lnSpc>
              <a:spcAft>
                <a:spcPts val="0"/>
              </a:spcAft>
            </a:pPr>
            <a:r>
              <a:rPr lang="en-US" sz="1700" b="0" dirty="0">
                <a:solidFill>
                  <a:srgbClr val="181C23"/>
                </a:solidFill>
                <a:latin typeface="Funnel Sans"/>
              </a:rPr>
              <a:t>samples. How much the</a:t>
            </a:r>
            <a:endParaRPr lang="en-US" sz="1700"/>
          </a:p>
          <a:p>
            <a:pPr algn="l">
              <a:lnSpc>
                <a:spcPts val="1938"/>
              </a:lnSpc>
              <a:spcAft>
                <a:spcPts val="0"/>
              </a:spcAft>
            </a:pPr>
            <a:r>
              <a:rPr lang="en-US" sz="1700" b="0" dirty="0">
                <a:solidFill>
                  <a:srgbClr val="181C23"/>
                </a:solidFill>
                <a:latin typeface="Funnel Sans"/>
              </a:rPr>
              <a:t>estimate changes on</a:t>
            </a:r>
            <a:endParaRPr lang="en-US" sz="1700"/>
          </a:p>
          <a:p>
            <a:pPr algn="l">
              <a:lnSpc>
                <a:spcPts val="1938"/>
              </a:lnSpc>
              <a:spcAft>
                <a:spcPts val="0"/>
              </a:spcAft>
            </a:pPr>
            <a:r>
              <a:rPr lang="en-US" sz="1700" b="0" dirty="0">
                <a:solidFill>
                  <a:srgbClr val="181C23"/>
                </a:solidFill>
                <a:latin typeface="Funnel Sans"/>
              </a:rPr>
              <a:t>resolved-only vs all.</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delta(estimate resolved-only vs</a:t>
            </a:r>
            <a:endParaRPr lang="en-US" sz="1700"/>
          </a:p>
          <a:p>
            <a:pPr algn="l">
              <a:lnSpc>
                <a:spcPts val="1938"/>
              </a:lnSpc>
              <a:spcAft>
                <a:spcPts val="0"/>
              </a:spcAft>
            </a:pPr>
            <a:r>
              <a:rPr lang="en-US" sz="1700" b="0" dirty="0">
                <a:solidFill>
                  <a:srgbClr val="181C23"/>
                </a:solidFill>
                <a:latin typeface="Funnel Sans"/>
              </a:rPr>
              <a:t>all). Difference in analytical</a:t>
            </a:r>
            <a:endParaRPr lang="en-US" sz="1700"/>
          </a:p>
          <a:p>
            <a:pPr algn="l">
              <a:lnSpc>
                <a:spcPts val="1938"/>
              </a:lnSpc>
              <a:spcAft>
                <a:spcPts val="0"/>
              </a:spcAft>
            </a:pPr>
            <a:r>
              <a:rPr lang="en-US" sz="1700" b="0" dirty="0">
                <a:solidFill>
                  <a:srgbClr val="181C23"/>
                </a:solidFill>
                <a:latin typeface="Funnel Sans"/>
              </a:rPr>
              <a:t>estimates attributable to</a:t>
            </a:r>
            <a:endParaRPr lang="en-US" sz="1700"/>
          </a:p>
          <a:p>
            <a:pPr algn="l">
              <a:lnSpc>
                <a:spcPts val="1938"/>
              </a:lnSpc>
              <a:spcAft>
                <a:spcPts val="0"/>
              </a:spcAft>
            </a:pPr>
            <a:r>
              <a:rPr lang="en-US" sz="1700" b="0" dirty="0">
                <a:solidFill>
                  <a:srgbClr val="181C23"/>
                </a:solidFill>
                <a:latin typeface="Funnel Sans"/>
              </a:rPr>
              <a:t>resolved-only selection.</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72 / 87</a:t>
            </a:r>
            <a:endParaRPr lang="en-US" sz="10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06 / DEFERRED • T5-D19</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Assess whether vintages have had time to mature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Seasoning / maturity profile</a:t>
            </a:r>
            <a:endParaRPr lang="en-US" sz="1500"/>
          </a:p>
        </p:txBody>
      </p:sp>
      <p:sp>
        <p:nvSpPr>
          <p:cNvPr id="6" name="shape 6"/>
          <p:cNvSpPr/>
          <p:nvPr/>
        </p:nvSpPr>
        <p:spPr>
          <a:xfrm>
            <a:off x="9626600" y="215900"/>
            <a:ext cx="2057400" cy="317500"/>
          </a:xfrm>
          <a:prstGeom prst="roundRect">
            <a:avLst/>
          </a:prstGeom>
          <a:solidFill>
            <a:srgbClr val="FFF2DF"/>
          </a:solidFill>
          <a:ln>
            <a:noFill/>
          </a:ln>
        </p:spPr>
      </p:sp>
      <p:sp>
        <p:nvSpPr>
          <p:cNvPr id="7" name="text 7"/>
          <p:cNvSpPr/>
          <p:nvPr/>
        </p:nvSpPr>
        <p:spPr>
          <a:xfrm>
            <a:off x="9740900" y="292100"/>
            <a:ext cx="1828800" cy="2159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98641E"/>
                </a:solidFill>
                <a:latin typeface="Funnel Sans"/>
              </a:rPr>
              <a:t>Planned • deferred</a:t>
            </a:r>
            <a:endParaRPr lang="en-US" sz="1050"/>
          </a:p>
        </p:txBody>
      </p:sp>
      <p:sp>
        <p:nvSpPr>
          <p:cNvPr id="8" name="shape 8"/>
          <p:cNvSpPr/>
          <p:nvPr/>
        </p:nvSpPr>
        <p:spPr>
          <a:xfrm>
            <a:off x="508000" y="2247900"/>
            <a:ext cx="3589867" cy="3251200"/>
          </a:xfrm>
          <a:prstGeom prst="rect">
            <a:avLst/>
          </a:prstGeom>
          <a:solidFill>
            <a:srgbClr val="FFFFFF"/>
          </a:solidFill>
          <a:ln w="12700">
            <a:solidFill>
              <a:srgbClr val="DEDCD6"/>
            </a:solidFill>
          </a:ln>
        </p:spPr>
      </p:sp>
      <p:sp>
        <p:nvSpPr>
          <p:cNvPr id="9" name="shape 9"/>
          <p:cNvSpPr/>
          <p:nvPr/>
        </p:nvSpPr>
        <p:spPr>
          <a:xfrm>
            <a:off x="508000" y="2247900"/>
            <a:ext cx="38100" cy="3251200"/>
          </a:xfrm>
          <a:prstGeom prst="rect">
            <a:avLst/>
          </a:prstGeom>
          <a:solidFill>
            <a:srgbClr val="FF4F59"/>
          </a:solidFill>
          <a:ln>
            <a:noFill/>
          </a:ln>
        </p:spPr>
      </p:sp>
      <p:sp>
        <p:nvSpPr>
          <p:cNvPr id="10" name="shape 10"/>
          <p:cNvSpPr/>
          <p:nvPr/>
        </p:nvSpPr>
        <p:spPr>
          <a:xfrm>
            <a:off x="711200" y="2438400"/>
            <a:ext cx="304800" cy="342900"/>
          </a:xfrm>
          <a:prstGeom prst="can">
            <a:avLst/>
          </a:prstGeom>
          <a:noFill/>
          <a:ln w="20320">
            <a:solidFill>
              <a:srgbClr val="FF4F59"/>
            </a:solidFill>
          </a:ln>
        </p:spPr>
      </p:sp>
      <p:sp>
        <p:nvSpPr>
          <p:cNvPr id="11" name="text 11"/>
          <p:cNvSpPr/>
          <p:nvPr/>
        </p:nvSpPr>
        <p:spPr>
          <a:xfrm>
            <a:off x="1193800"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Purpose &amp; inputs</a:t>
            </a:r>
            <a:endParaRPr lang="en-US" sz="1900"/>
          </a:p>
        </p:txBody>
      </p:sp>
      <p:sp>
        <p:nvSpPr>
          <p:cNvPr id="12" name="text 12"/>
          <p:cNvSpPr/>
          <p:nvPr/>
        </p:nvSpPr>
        <p:spPr>
          <a:xfrm>
            <a:off x="723900"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Origination/vintage,</a:t>
            </a:r>
            <a:endParaRPr lang="en-US" sz="1700"/>
          </a:p>
          <a:p>
            <a:pPr algn="l">
              <a:lnSpc>
                <a:spcPts val="1938"/>
              </a:lnSpc>
              <a:spcAft>
                <a:spcPts val="0"/>
              </a:spcAft>
            </a:pPr>
            <a:r>
              <a:rPr lang="en-US" sz="1700" b="0" dirty="0">
                <a:solidFill>
                  <a:srgbClr val="181C23"/>
                </a:solidFill>
                <a:latin typeface="Funnel Sans"/>
              </a:rPr>
              <a:t>months-on-book and</a:t>
            </a:r>
            <a:endParaRPr lang="en-US" sz="1700"/>
          </a:p>
          <a:p>
            <a:pPr algn="l">
              <a:lnSpc>
                <a:spcPts val="1938"/>
              </a:lnSpc>
              <a:spcAft>
                <a:spcPts val="0"/>
              </a:spcAft>
            </a:pPr>
            <a:r>
              <a:rPr lang="en-US" sz="1700" b="0" dirty="0">
                <a:solidFill>
                  <a:srgbClr val="181C23"/>
                </a:solidFill>
                <a:latin typeface="Funnel Sans"/>
              </a:rPr>
              <a:t>cumulative outcomes. Are</a:t>
            </a:r>
            <a:endParaRPr lang="en-US" sz="1700"/>
          </a:p>
          <a:p>
            <a:pPr algn="l">
              <a:lnSpc>
                <a:spcPts val="1938"/>
              </a:lnSpc>
              <a:spcAft>
                <a:spcPts val="0"/>
              </a:spcAft>
            </a:pPr>
            <a:r>
              <a:rPr lang="en-US" sz="1700" b="0" dirty="0">
                <a:solidFill>
                  <a:srgbClr val="181C23"/>
                </a:solidFill>
                <a:latin typeface="Funnel Sans"/>
              </a:rPr>
              <a:t>recent vintages too immature</a:t>
            </a:r>
            <a:endParaRPr lang="en-US" sz="1700"/>
          </a:p>
          <a:p>
            <a:pPr algn="l">
              <a:lnSpc>
                <a:spcPts val="1938"/>
              </a:lnSpc>
              <a:spcAft>
                <a:spcPts val="0"/>
              </a:spcAft>
            </a:pPr>
            <a:r>
              <a:rPr lang="en-US" sz="1700" b="0" dirty="0">
                <a:solidFill>
                  <a:srgbClr val="181C23"/>
                </a:solidFill>
                <a:latin typeface="Funnel Sans"/>
              </a:rPr>
              <a:t>for the outcome horizon?</a:t>
            </a:r>
            <a:endParaRPr lang="en-US" sz="1700"/>
          </a:p>
        </p:txBody>
      </p:sp>
      <p:sp>
        <p:nvSpPr>
          <p:cNvPr id="13" name="shape 13"/>
          <p:cNvSpPr/>
          <p:nvPr/>
        </p:nvSpPr>
        <p:spPr>
          <a:xfrm>
            <a:off x="4301067" y="2247900"/>
            <a:ext cx="3589867" cy="3251200"/>
          </a:xfrm>
          <a:prstGeom prst="rect">
            <a:avLst/>
          </a:prstGeom>
          <a:solidFill>
            <a:srgbClr val="FFFFFF"/>
          </a:solidFill>
          <a:ln w="12700">
            <a:solidFill>
              <a:srgbClr val="DEDCD6"/>
            </a:solidFill>
          </a:ln>
        </p:spPr>
      </p:sp>
      <p:sp>
        <p:nvSpPr>
          <p:cNvPr id="14" name="shape 14"/>
          <p:cNvSpPr/>
          <p:nvPr/>
        </p:nvSpPr>
        <p:spPr>
          <a:xfrm>
            <a:off x="4301067" y="2247900"/>
            <a:ext cx="38100" cy="3251200"/>
          </a:xfrm>
          <a:prstGeom prst="rect">
            <a:avLst/>
          </a:prstGeom>
          <a:solidFill>
            <a:srgbClr val="FF4F59"/>
          </a:solidFill>
          <a:ln>
            <a:noFill/>
          </a:ln>
        </p:spPr>
      </p:sp>
      <p:sp>
        <p:nvSpPr>
          <p:cNvPr id="15" name="shape 15"/>
          <p:cNvSpPr/>
          <p:nvPr/>
        </p:nvSpPr>
        <p:spPr>
          <a:xfrm>
            <a:off x="4504267" y="2654300"/>
            <a:ext cx="63500" cy="127000"/>
          </a:xfrm>
          <a:prstGeom prst="rect">
            <a:avLst/>
          </a:prstGeom>
          <a:solidFill>
            <a:srgbClr val="FF4F59"/>
          </a:solidFill>
          <a:ln>
            <a:noFill/>
          </a:ln>
        </p:spPr>
      </p:sp>
      <p:sp>
        <p:nvSpPr>
          <p:cNvPr id="16" name="shape 16"/>
          <p:cNvSpPr/>
          <p:nvPr/>
        </p:nvSpPr>
        <p:spPr>
          <a:xfrm>
            <a:off x="4618567" y="2527300"/>
            <a:ext cx="63500" cy="254000"/>
          </a:xfrm>
          <a:prstGeom prst="rect">
            <a:avLst/>
          </a:prstGeom>
          <a:solidFill>
            <a:srgbClr val="FF4F59"/>
          </a:solidFill>
          <a:ln>
            <a:noFill/>
          </a:ln>
        </p:spPr>
      </p:sp>
      <p:sp>
        <p:nvSpPr>
          <p:cNvPr id="17" name="shape 17"/>
          <p:cNvSpPr/>
          <p:nvPr/>
        </p:nvSpPr>
        <p:spPr>
          <a:xfrm>
            <a:off x="4732867" y="2438400"/>
            <a:ext cx="63500" cy="342900"/>
          </a:xfrm>
          <a:prstGeom prst="rect">
            <a:avLst/>
          </a:prstGeom>
          <a:solidFill>
            <a:srgbClr val="FF4F59"/>
          </a:solidFill>
          <a:ln>
            <a:noFill/>
          </a:ln>
        </p:spPr>
      </p:sp>
      <p:sp>
        <p:nvSpPr>
          <p:cNvPr id="18" name="text 18"/>
          <p:cNvSpPr/>
          <p:nvPr/>
        </p:nvSpPr>
        <p:spPr>
          <a:xfrm>
            <a:off x="4986867"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Approach &amp; output</a:t>
            </a:r>
            <a:endParaRPr lang="en-US" sz="1900"/>
          </a:p>
        </p:txBody>
      </p:sp>
      <p:sp>
        <p:nvSpPr>
          <p:cNvPr id="19" name="text 19"/>
          <p:cNvSpPr/>
          <p:nvPr/>
        </p:nvSpPr>
        <p:spPr>
          <a:xfrm>
            <a:off x="4516967"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cumulative outcome by</a:t>
            </a:r>
            <a:endParaRPr lang="en-US" sz="1700"/>
          </a:p>
          <a:p>
            <a:pPr algn="l">
              <a:lnSpc>
                <a:spcPts val="1938"/>
              </a:lnSpc>
              <a:spcAft>
                <a:spcPts val="0"/>
              </a:spcAft>
            </a:pPr>
            <a:r>
              <a:rPr lang="en-US" sz="1700" b="0" dirty="0">
                <a:solidFill>
                  <a:srgbClr val="181C23"/>
                </a:solidFill>
                <a:latin typeface="Funnel Sans"/>
              </a:rPr>
              <a:t>months-on-book (seasoning</a:t>
            </a:r>
            <a:endParaRPr lang="en-US" sz="1700"/>
          </a:p>
          <a:p>
            <a:pPr algn="l">
              <a:lnSpc>
                <a:spcPts val="1938"/>
              </a:lnSpc>
              <a:spcAft>
                <a:spcPts val="0"/>
              </a:spcAft>
            </a:pPr>
            <a:r>
              <a:rPr lang="en-US" sz="1700" b="0" dirty="0">
                <a:solidFill>
                  <a:srgbClr val="181C23"/>
                </a:solidFill>
                <a:latin typeface="Funnel Sans"/>
              </a:rPr>
              <a:t>curve). Seasoning curves</a:t>
            </a:r>
            <a:endParaRPr lang="en-US" sz="1700"/>
          </a:p>
          <a:p>
            <a:pPr algn="l">
              <a:lnSpc>
                <a:spcPts val="1938"/>
              </a:lnSpc>
              <a:spcAft>
                <a:spcPts val="0"/>
              </a:spcAft>
            </a:pPr>
            <a:r>
              <a:rPr lang="en-US" sz="1700" b="0" dirty="0">
                <a:solidFill>
                  <a:srgbClr val="181C23"/>
                </a:solidFill>
                <a:latin typeface="Funnel Sans"/>
              </a:rPr>
              <a:t>supporting a use-case-specific</a:t>
            </a:r>
            <a:endParaRPr lang="en-US" sz="1700"/>
          </a:p>
          <a:p>
            <a:pPr algn="l">
              <a:lnSpc>
                <a:spcPts val="1938"/>
              </a:lnSpc>
              <a:spcAft>
                <a:spcPts val="0"/>
              </a:spcAft>
            </a:pPr>
            <a:r>
              <a:rPr lang="en-US" sz="1700" b="0" dirty="0">
                <a:solidFill>
                  <a:srgbClr val="181C23"/>
                </a:solidFill>
                <a:latin typeface="Funnel Sans"/>
              </a:rPr>
              <a:t>maturity decision.</a:t>
            </a:r>
            <a:endParaRPr lang="en-US" sz="1700"/>
          </a:p>
        </p:txBody>
      </p:sp>
      <p:sp>
        <p:nvSpPr>
          <p:cNvPr id="20" name="shape 20"/>
          <p:cNvSpPr/>
          <p:nvPr/>
        </p:nvSpPr>
        <p:spPr>
          <a:xfrm>
            <a:off x="8094133" y="2247900"/>
            <a:ext cx="3589867" cy="3251200"/>
          </a:xfrm>
          <a:prstGeom prst="rect">
            <a:avLst/>
          </a:prstGeom>
          <a:solidFill>
            <a:srgbClr val="FFFFFF"/>
          </a:solidFill>
          <a:ln w="12700">
            <a:solidFill>
              <a:srgbClr val="DEDCD6"/>
            </a:solidFill>
          </a:ln>
        </p:spPr>
      </p:sp>
      <p:sp>
        <p:nvSpPr>
          <p:cNvPr id="21" name="shape 21"/>
          <p:cNvSpPr/>
          <p:nvPr/>
        </p:nvSpPr>
        <p:spPr>
          <a:xfrm>
            <a:off x="8094133" y="2247900"/>
            <a:ext cx="38100" cy="3251200"/>
          </a:xfrm>
          <a:prstGeom prst="rect">
            <a:avLst/>
          </a:prstGeom>
          <a:solidFill>
            <a:srgbClr val="FF4F59"/>
          </a:solidFill>
          <a:ln>
            <a:noFill/>
          </a:ln>
        </p:spPr>
      </p:sp>
      <p:sp>
        <p:nvSpPr>
          <p:cNvPr id="22" name="shape 22"/>
          <p:cNvSpPr/>
          <p:nvPr/>
        </p:nvSpPr>
        <p:spPr>
          <a:xfrm>
            <a:off x="8297333" y="2438400"/>
            <a:ext cx="342900" cy="342900"/>
          </a:xfrm>
          <a:prstGeom prst="hexagon">
            <a:avLst/>
          </a:prstGeom>
          <a:noFill/>
          <a:ln w="21590">
            <a:solidFill>
              <a:srgbClr val="FF4F59"/>
            </a:solidFill>
          </a:ln>
        </p:spPr>
      </p:sp>
      <p:sp>
        <p:nvSpPr>
          <p:cNvPr id="23" name="text 23"/>
          <p:cNvSpPr/>
          <p:nvPr/>
        </p:nvSpPr>
        <p:spPr>
          <a:xfrm>
            <a:off x="8411633" y="2476500"/>
            <a:ext cx="127000" cy="292100"/>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FF4F59"/>
                </a:solidFill>
                <a:latin typeface="Funnel Sans"/>
              </a:rPr>
              <a:t>!</a:t>
            </a:r>
            <a:endParaRPr lang="en-US" sz="1800"/>
          </a:p>
        </p:txBody>
      </p:sp>
      <p:sp>
        <p:nvSpPr>
          <p:cNvPr id="24" name="text 24"/>
          <p:cNvSpPr/>
          <p:nvPr/>
        </p:nvSpPr>
        <p:spPr>
          <a:xfrm>
            <a:off x="8779933" y="24511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Launch &amp; issue journey</a:t>
            </a:r>
            <a:endParaRPr lang="en-US" sz="1900"/>
          </a:p>
        </p:txBody>
      </p:sp>
      <p:sp>
        <p:nvSpPr>
          <p:cNvPr id="25" name="text 25"/>
          <p:cNvSpPr/>
          <p:nvPr/>
        </p:nvSpPr>
        <p:spPr>
          <a:xfrm>
            <a:off x="8310033" y="3213100"/>
            <a:ext cx="3158067" cy="20955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Not registered or launchable.</a:t>
            </a:r>
            <a:endParaRPr lang="en-US" sz="1700"/>
          </a:p>
          <a:p>
            <a:pPr algn="l">
              <a:lnSpc>
                <a:spcPts val="1938"/>
              </a:lnSpc>
              <a:spcAft>
                <a:spcPts val="0"/>
              </a:spcAft>
            </a:pPr>
            <a:r>
              <a:rPr lang="en-US" sz="1700" b="0" dirty="0">
                <a:solidFill>
                  <a:srgbClr val="181C23"/>
                </a:solidFill>
                <a:latin typeface="Funnel Sans"/>
              </a:rPr>
              <a:t>Proposed: SME reviews</a:t>
            </a:r>
            <a:endParaRPr lang="en-US" sz="1700"/>
          </a:p>
          <a:p>
            <a:pPr algn="l">
              <a:lnSpc>
                <a:spcPts val="1938"/>
              </a:lnSpc>
              <a:spcAft>
                <a:spcPts val="0"/>
              </a:spcAft>
            </a:pPr>
            <a:r>
              <a:rPr lang="en-US" sz="1700" b="0" dirty="0">
                <a:solidFill>
                  <a:srgbClr val="181C23"/>
                </a:solidFill>
                <a:latin typeface="Funnel Sans"/>
              </a:rPr>
              <a:t>evidence, confirms any issue</a:t>
            </a:r>
            <a:endParaRPr lang="en-US" sz="1700"/>
          </a:p>
          <a:p>
            <a:pPr algn="l">
              <a:lnSpc>
                <a:spcPts val="1938"/>
              </a:lnSpc>
              <a:spcAft>
                <a:spcPts val="0"/>
              </a:spcAft>
            </a:pPr>
            <a:r>
              <a:rPr lang="en-US" sz="1700" b="0" dirty="0">
                <a:solidFill>
                  <a:srgbClr val="181C23"/>
                </a:solidFill>
                <a:latin typeface="Funnel Sans"/>
              </a:rPr>
              <a:t>and routes justified work into</a:t>
            </a:r>
            <a:endParaRPr lang="en-US" sz="1700"/>
          </a:p>
          <a:p>
            <a:pPr algn="l">
              <a:lnSpc>
                <a:spcPts val="1938"/>
              </a:lnSpc>
              <a:spcAft>
                <a:spcPts val="0"/>
              </a:spcAft>
            </a:pPr>
            <a:r>
              <a:rPr lang="en-US" sz="1700" b="0" dirty="0">
                <a:solidFill>
                  <a:srgbClr val="181C23"/>
                </a:solidFill>
                <a:latin typeface="Funnel Sans"/>
              </a:rPr>
              <a:t>RCA.</a:t>
            </a:r>
            <a:endParaRPr lang="en-US" sz="1700"/>
          </a:p>
        </p:txBody>
      </p:sp>
      <p:sp>
        <p:nvSpPr>
          <p:cNvPr id="26" name="shape 26"/>
          <p:cNvSpPr/>
          <p:nvPr/>
        </p:nvSpPr>
        <p:spPr>
          <a:xfrm>
            <a:off x="508000" y="5740400"/>
            <a:ext cx="11176000" cy="546100"/>
          </a:xfrm>
          <a:prstGeom prst="rect">
            <a:avLst/>
          </a:prstGeom>
          <a:solidFill>
            <a:srgbClr val="282A27"/>
          </a:solidFill>
          <a:ln>
            <a:noFill/>
          </a:ln>
        </p:spPr>
      </p:sp>
      <p:sp>
        <p:nvSpPr>
          <p:cNvPr id="27" name="text 2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Deferred scope: methodology, prerequisites, workflow and evidence contract require acceptance.</a:t>
            </a:r>
            <a:endParaRPr lang="en-US" sz="1600"/>
          </a:p>
        </p:txBody>
      </p:sp>
      <p:cxnSp>
        <p:nvCxnSpPr>
          <p:cNvPr id="28" name="connector 2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text 2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0" name="text 3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73 / 87</a:t>
            </a:r>
            <a:endParaRPr lang="en-US" sz="10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INVENTORY</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Reconcile the inventory without double-counting capabilities</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Inventory counts refer to named diagnostic/workflow records, not every statistical technique.</a:t>
            </a:r>
            <a:endParaRPr lang="en-US" sz="1500"/>
          </a:p>
        </p:txBody>
      </p:sp>
      <p:sp>
        <p:nvSpPr>
          <p:cNvPr id="6" name="shape 6"/>
          <p:cNvSpPr/>
          <p:nvPr/>
        </p:nvSpPr>
        <p:spPr>
          <a:xfrm>
            <a:off x="508000" y="2197100"/>
            <a:ext cx="4246880" cy="457200"/>
          </a:xfrm>
          <a:prstGeom prst="rect">
            <a:avLst/>
          </a:prstGeom>
          <a:solidFill>
            <a:srgbClr val="282A27"/>
          </a:solidFill>
          <a:ln>
            <a:noFill/>
          </a:ln>
        </p:spPr>
      </p:sp>
      <p:sp>
        <p:nvSpPr>
          <p:cNvPr id="7" name="text 7"/>
          <p:cNvSpPr/>
          <p:nvPr/>
        </p:nvSpPr>
        <p:spPr>
          <a:xfrm>
            <a:off x="635000" y="2311400"/>
            <a:ext cx="39928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Inventory class</a:t>
            </a:r>
            <a:endParaRPr lang="en-US" sz="1200"/>
          </a:p>
        </p:txBody>
      </p:sp>
      <p:sp>
        <p:nvSpPr>
          <p:cNvPr id="8" name="shape 8"/>
          <p:cNvSpPr/>
          <p:nvPr/>
        </p:nvSpPr>
        <p:spPr>
          <a:xfrm>
            <a:off x="4754880" y="2197100"/>
            <a:ext cx="1005840" cy="457200"/>
          </a:xfrm>
          <a:prstGeom prst="rect">
            <a:avLst/>
          </a:prstGeom>
          <a:solidFill>
            <a:srgbClr val="282A27"/>
          </a:solidFill>
          <a:ln>
            <a:noFill/>
          </a:ln>
        </p:spPr>
      </p:sp>
      <p:sp>
        <p:nvSpPr>
          <p:cNvPr id="9" name="text 9"/>
          <p:cNvSpPr/>
          <p:nvPr/>
        </p:nvSpPr>
        <p:spPr>
          <a:xfrm>
            <a:off x="4881880" y="2311400"/>
            <a:ext cx="7518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Count</a:t>
            </a:r>
            <a:endParaRPr lang="en-US" sz="1200"/>
          </a:p>
        </p:txBody>
      </p:sp>
      <p:sp>
        <p:nvSpPr>
          <p:cNvPr id="10" name="shape 10"/>
          <p:cNvSpPr/>
          <p:nvPr/>
        </p:nvSpPr>
        <p:spPr>
          <a:xfrm>
            <a:off x="5760720" y="2197100"/>
            <a:ext cx="5923280" cy="457200"/>
          </a:xfrm>
          <a:prstGeom prst="rect">
            <a:avLst/>
          </a:prstGeom>
          <a:solidFill>
            <a:srgbClr val="282A27"/>
          </a:solidFill>
          <a:ln>
            <a:noFill/>
          </a:ln>
        </p:spPr>
      </p:sp>
      <p:sp>
        <p:nvSpPr>
          <p:cNvPr id="11" name="text 11"/>
          <p:cNvSpPr/>
          <p:nvPr/>
        </p:nvSpPr>
        <p:spPr>
          <a:xfrm>
            <a:off x="5887720" y="2311400"/>
            <a:ext cx="56692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Current treatment</a:t>
            </a:r>
            <a:endParaRPr lang="en-US" sz="1200"/>
          </a:p>
        </p:txBody>
      </p:sp>
      <p:sp>
        <p:nvSpPr>
          <p:cNvPr id="12" name="shape 12"/>
          <p:cNvSpPr/>
          <p:nvPr/>
        </p:nvSpPr>
        <p:spPr>
          <a:xfrm>
            <a:off x="508000" y="2654300"/>
            <a:ext cx="4246880" cy="512233"/>
          </a:xfrm>
          <a:prstGeom prst="rect">
            <a:avLst/>
          </a:prstGeom>
          <a:solidFill>
            <a:srgbClr val="FFFFFF"/>
          </a:solidFill>
          <a:ln>
            <a:noFill/>
          </a:ln>
        </p:spPr>
      </p:sp>
      <p:sp>
        <p:nvSpPr>
          <p:cNvPr id="13" name="text 13"/>
          <p:cNvSpPr/>
          <p:nvPr/>
        </p:nvSpPr>
        <p:spPr>
          <a:xfrm>
            <a:off x="635000" y="2705100"/>
            <a:ext cx="3992880" cy="410633"/>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Implemented, launch-enabled</a:t>
            </a:r>
            <a:endParaRPr lang="en-US" sz="1500"/>
          </a:p>
        </p:txBody>
      </p:sp>
      <p:cxnSp>
        <p:nvCxnSpPr>
          <p:cNvPr id="14" name="connector 14"/>
          <p:cNvCxnSpPr/>
          <p:nvPr/>
        </p:nvCxnSpPr>
        <p:spPr>
          <a:xfrm>
            <a:off x="508000" y="3166533"/>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4754880" y="2654300"/>
            <a:ext cx="1005840" cy="512233"/>
          </a:xfrm>
          <a:prstGeom prst="rect">
            <a:avLst/>
          </a:prstGeom>
          <a:solidFill>
            <a:srgbClr val="FFFFFF"/>
          </a:solidFill>
          <a:ln>
            <a:noFill/>
          </a:ln>
        </p:spPr>
      </p:sp>
      <p:sp>
        <p:nvSpPr>
          <p:cNvPr id="16" name="text 16"/>
          <p:cNvSpPr/>
          <p:nvPr/>
        </p:nvSpPr>
        <p:spPr>
          <a:xfrm>
            <a:off x="4881880" y="2705100"/>
            <a:ext cx="75184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5</a:t>
            </a:r>
            <a:endParaRPr lang="en-US" sz="1500"/>
          </a:p>
        </p:txBody>
      </p:sp>
      <p:cxnSp>
        <p:nvCxnSpPr>
          <p:cNvPr id="17" name="connector 17"/>
          <p:cNvCxnSpPr/>
          <p:nvPr/>
        </p:nvCxnSpPr>
        <p:spPr>
          <a:xfrm>
            <a:off x="4754880" y="3166533"/>
            <a:ext cx="1005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5760720" y="2654300"/>
            <a:ext cx="5923280" cy="512233"/>
          </a:xfrm>
          <a:prstGeom prst="rect">
            <a:avLst/>
          </a:prstGeom>
          <a:solidFill>
            <a:srgbClr val="FFFFFF"/>
          </a:solidFill>
          <a:ln>
            <a:noFill/>
          </a:ln>
        </p:spPr>
      </p:sp>
      <p:sp>
        <p:nvSpPr>
          <p:cNvPr id="19" name="text 19"/>
          <p:cNvSpPr/>
          <p:nvPr/>
        </p:nvSpPr>
        <p:spPr>
          <a:xfrm>
            <a:off x="5887720" y="2705100"/>
            <a:ext cx="566928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D02, D06, D08, D11, D14</a:t>
            </a:r>
            <a:endParaRPr lang="en-US" sz="1500"/>
          </a:p>
        </p:txBody>
      </p:sp>
      <p:cxnSp>
        <p:nvCxnSpPr>
          <p:cNvPr id="20" name="connector 20"/>
          <p:cNvCxnSpPr/>
          <p:nvPr/>
        </p:nvCxnSpPr>
        <p:spPr>
          <a:xfrm>
            <a:off x="5760720" y="3166533"/>
            <a:ext cx="5923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166533"/>
            <a:ext cx="4246880" cy="512233"/>
          </a:xfrm>
          <a:prstGeom prst="rect">
            <a:avLst/>
          </a:prstGeom>
          <a:solidFill>
            <a:srgbClr val="EFEEE9"/>
          </a:solidFill>
          <a:ln>
            <a:noFill/>
          </a:ln>
        </p:spPr>
      </p:sp>
      <p:sp>
        <p:nvSpPr>
          <p:cNvPr id="22" name="text 22"/>
          <p:cNvSpPr/>
          <p:nvPr/>
        </p:nvSpPr>
        <p:spPr>
          <a:xfrm>
            <a:off x="635000" y="3217333"/>
            <a:ext cx="3992880" cy="410633"/>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Implemented, launch-paused</a:t>
            </a:r>
            <a:endParaRPr lang="en-US" sz="1500"/>
          </a:p>
        </p:txBody>
      </p:sp>
      <p:cxnSp>
        <p:nvCxnSpPr>
          <p:cNvPr id="23" name="connector 23"/>
          <p:cNvCxnSpPr/>
          <p:nvPr/>
        </p:nvCxnSpPr>
        <p:spPr>
          <a:xfrm>
            <a:off x="508000" y="3678767"/>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4754880" y="3166533"/>
            <a:ext cx="1005840" cy="512233"/>
          </a:xfrm>
          <a:prstGeom prst="rect">
            <a:avLst/>
          </a:prstGeom>
          <a:solidFill>
            <a:srgbClr val="EFEEE9"/>
          </a:solidFill>
          <a:ln>
            <a:noFill/>
          </a:ln>
        </p:spPr>
      </p:sp>
      <p:sp>
        <p:nvSpPr>
          <p:cNvPr id="25" name="text 25"/>
          <p:cNvSpPr/>
          <p:nvPr/>
        </p:nvSpPr>
        <p:spPr>
          <a:xfrm>
            <a:off x="4881880" y="3217333"/>
            <a:ext cx="75184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1</a:t>
            </a:r>
            <a:endParaRPr lang="en-US" sz="1500"/>
          </a:p>
        </p:txBody>
      </p:sp>
      <p:cxnSp>
        <p:nvCxnSpPr>
          <p:cNvPr id="26" name="connector 26"/>
          <p:cNvCxnSpPr/>
          <p:nvPr/>
        </p:nvCxnSpPr>
        <p:spPr>
          <a:xfrm>
            <a:off x="4754880" y="3678767"/>
            <a:ext cx="1005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5760720" y="3166533"/>
            <a:ext cx="5923280" cy="512233"/>
          </a:xfrm>
          <a:prstGeom prst="rect">
            <a:avLst/>
          </a:prstGeom>
          <a:solidFill>
            <a:srgbClr val="EFEEE9"/>
          </a:solidFill>
          <a:ln>
            <a:noFill/>
          </a:ln>
        </p:spPr>
      </p:sp>
      <p:sp>
        <p:nvSpPr>
          <p:cNvPr id="28" name="text 28"/>
          <p:cNvSpPr/>
          <p:nvPr/>
        </p:nvSpPr>
        <p:spPr>
          <a:xfrm>
            <a:off x="5887720" y="3217333"/>
            <a:ext cx="566928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D04; code/UI/tests exist, register blocks launch</a:t>
            </a:r>
            <a:endParaRPr lang="en-US" sz="1500"/>
          </a:p>
        </p:txBody>
      </p:sp>
      <p:cxnSp>
        <p:nvCxnSpPr>
          <p:cNvPr id="29" name="connector 29"/>
          <p:cNvCxnSpPr/>
          <p:nvPr/>
        </p:nvCxnSpPr>
        <p:spPr>
          <a:xfrm>
            <a:off x="5760720" y="3678767"/>
            <a:ext cx="5923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678767"/>
            <a:ext cx="4246880" cy="512233"/>
          </a:xfrm>
          <a:prstGeom prst="rect">
            <a:avLst/>
          </a:prstGeom>
          <a:solidFill>
            <a:srgbClr val="FFFFFF"/>
          </a:solidFill>
          <a:ln>
            <a:noFill/>
          </a:ln>
        </p:spPr>
      </p:sp>
      <p:sp>
        <p:nvSpPr>
          <p:cNvPr id="31" name="text 31"/>
          <p:cNvSpPr/>
          <p:nvPr/>
        </p:nvSpPr>
        <p:spPr>
          <a:xfrm>
            <a:off x="635000" y="3729567"/>
            <a:ext cx="3992880" cy="410633"/>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Registered planned workflows</a:t>
            </a:r>
            <a:endParaRPr lang="en-US" sz="1500"/>
          </a:p>
        </p:txBody>
      </p:sp>
      <p:cxnSp>
        <p:nvCxnSpPr>
          <p:cNvPr id="32" name="connector 32"/>
          <p:cNvCxnSpPr/>
          <p:nvPr/>
        </p:nvCxnSpPr>
        <p:spPr>
          <a:xfrm>
            <a:off x="508000" y="41910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4754880" y="3678767"/>
            <a:ext cx="1005840" cy="512233"/>
          </a:xfrm>
          <a:prstGeom prst="rect">
            <a:avLst/>
          </a:prstGeom>
          <a:solidFill>
            <a:srgbClr val="FFFFFF"/>
          </a:solidFill>
          <a:ln>
            <a:noFill/>
          </a:ln>
        </p:spPr>
      </p:sp>
      <p:sp>
        <p:nvSpPr>
          <p:cNvPr id="34" name="text 34"/>
          <p:cNvSpPr/>
          <p:nvPr/>
        </p:nvSpPr>
        <p:spPr>
          <a:xfrm>
            <a:off x="4881880" y="3729567"/>
            <a:ext cx="75184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3</a:t>
            </a:r>
            <a:endParaRPr lang="en-US" sz="1500"/>
          </a:p>
        </p:txBody>
      </p:sp>
      <p:cxnSp>
        <p:nvCxnSpPr>
          <p:cNvPr id="35" name="connector 35"/>
          <p:cNvCxnSpPr/>
          <p:nvPr/>
        </p:nvCxnSpPr>
        <p:spPr>
          <a:xfrm>
            <a:off x="4754880" y="4191000"/>
            <a:ext cx="1005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5760720" y="3678767"/>
            <a:ext cx="5923280" cy="512233"/>
          </a:xfrm>
          <a:prstGeom prst="rect">
            <a:avLst/>
          </a:prstGeom>
          <a:solidFill>
            <a:srgbClr val="FFFFFF"/>
          </a:solidFill>
          <a:ln>
            <a:noFill/>
          </a:ln>
        </p:spPr>
      </p:sp>
      <p:sp>
        <p:nvSpPr>
          <p:cNvPr id="37" name="text 37"/>
          <p:cNvSpPr/>
          <p:nvPr/>
        </p:nvSpPr>
        <p:spPr>
          <a:xfrm>
            <a:off x="5887720" y="3729567"/>
            <a:ext cx="566928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D12, D17, D20</a:t>
            </a:r>
            <a:endParaRPr lang="en-US" sz="1500"/>
          </a:p>
        </p:txBody>
      </p:sp>
      <p:cxnSp>
        <p:nvCxnSpPr>
          <p:cNvPr id="38" name="connector 38"/>
          <p:cNvCxnSpPr/>
          <p:nvPr/>
        </p:nvCxnSpPr>
        <p:spPr>
          <a:xfrm>
            <a:off x="5760720" y="4191000"/>
            <a:ext cx="5923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191000"/>
            <a:ext cx="4246880" cy="512233"/>
          </a:xfrm>
          <a:prstGeom prst="rect">
            <a:avLst/>
          </a:prstGeom>
          <a:solidFill>
            <a:srgbClr val="EFEEE9"/>
          </a:solidFill>
          <a:ln>
            <a:noFill/>
          </a:ln>
        </p:spPr>
      </p:sp>
      <p:sp>
        <p:nvSpPr>
          <p:cNvPr id="40" name="text 40"/>
          <p:cNvSpPr/>
          <p:nvPr/>
        </p:nvSpPr>
        <p:spPr>
          <a:xfrm>
            <a:off x="635000" y="4241800"/>
            <a:ext cx="3992880" cy="410633"/>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Numbered deferred diagnostics</a:t>
            </a:r>
            <a:endParaRPr lang="en-US" sz="1500"/>
          </a:p>
        </p:txBody>
      </p:sp>
      <p:cxnSp>
        <p:nvCxnSpPr>
          <p:cNvPr id="41" name="connector 41"/>
          <p:cNvCxnSpPr/>
          <p:nvPr/>
        </p:nvCxnSpPr>
        <p:spPr>
          <a:xfrm>
            <a:off x="508000" y="4703233"/>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4754880" y="4191000"/>
            <a:ext cx="1005840" cy="512233"/>
          </a:xfrm>
          <a:prstGeom prst="rect">
            <a:avLst/>
          </a:prstGeom>
          <a:solidFill>
            <a:srgbClr val="EFEEE9"/>
          </a:solidFill>
          <a:ln>
            <a:noFill/>
          </a:ln>
        </p:spPr>
      </p:sp>
      <p:sp>
        <p:nvSpPr>
          <p:cNvPr id="43" name="text 43"/>
          <p:cNvSpPr/>
          <p:nvPr/>
        </p:nvSpPr>
        <p:spPr>
          <a:xfrm>
            <a:off x="4881880" y="4241800"/>
            <a:ext cx="75184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11</a:t>
            </a:r>
            <a:endParaRPr lang="en-US" sz="1500"/>
          </a:p>
        </p:txBody>
      </p:sp>
      <p:cxnSp>
        <p:nvCxnSpPr>
          <p:cNvPr id="44" name="connector 44"/>
          <p:cNvCxnSpPr/>
          <p:nvPr/>
        </p:nvCxnSpPr>
        <p:spPr>
          <a:xfrm>
            <a:off x="4754880" y="4703233"/>
            <a:ext cx="1005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5760720" y="4191000"/>
            <a:ext cx="5923280" cy="512233"/>
          </a:xfrm>
          <a:prstGeom prst="rect">
            <a:avLst/>
          </a:prstGeom>
          <a:solidFill>
            <a:srgbClr val="EFEEE9"/>
          </a:solidFill>
          <a:ln>
            <a:noFill/>
          </a:ln>
        </p:spPr>
      </p:sp>
      <p:sp>
        <p:nvSpPr>
          <p:cNvPr id="46" name="text 46"/>
          <p:cNvSpPr/>
          <p:nvPr/>
        </p:nvSpPr>
        <p:spPr>
          <a:xfrm>
            <a:off x="5887720" y="4241800"/>
            <a:ext cx="566928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D01, D03, D05, D07, D09, D10, D13, D15, D16, D18, D19</a:t>
            </a:r>
            <a:endParaRPr lang="en-US" sz="1500"/>
          </a:p>
        </p:txBody>
      </p:sp>
      <p:cxnSp>
        <p:nvCxnSpPr>
          <p:cNvPr id="47" name="connector 47"/>
          <p:cNvCxnSpPr/>
          <p:nvPr/>
        </p:nvCxnSpPr>
        <p:spPr>
          <a:xfrm>
            <a:off x="5760720" y="4703233"/>
            <a:ext cx="5923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4703233"/>
            <a:ext cx="4246880" cy="512233"/>
          </a:xfrm>
          <a:prstGeom prst="rect">
            <a:avLst/>
          </a:prstGeom>
          <a:solidFill>
            <a:srgbClr val="FFFFFF"/>
          </a:solidFill>
          <a:ln>
            <a:noFill/>
          </a:ln>
        </p:spPr>
      </p:sp>
      <p:sp>
        <p:nvSpPr>
          <p:cNvPr id="49" name="text 49"/>
          <p:cNvSpPr/>
          <p:nvPr/>
        </p:nvSpPr>
        <p:spPr>
          <a:xfrm>
            <a:off x="635000" y="4754033"/>
            <a:ext cx="3992880" cy="410633"/>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Supporting investigation</a:t>
            </a:r>
            <a:endParaRPr lang="en-US" sz="1500"/>
          </a:p>
        </p:txBody>
      </p:sp>
      <p:cxnSp>
        <p:nvCxnSpPr>
          <p:cNvPr id="50" name="connector 50"/>
          <p:cNvCxnSpPr/>
          <p:nvPr/>
        </p:nvCxnSpPr>
        <p:spPr>
          <a:xfrm>
            <a:off x="508000" y="5215467"/>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4754880" y="4703233"/>
            <a:ext cx="1005840" cy="512233"/>
          </a:xfrm>
          <a:prstGeom prst="rect">
            <a:avLst/>
          </a:prstGeom>
          <a:solidFill>
            <a:srgbClr val="FFFFFF"/>
          </a:solidFill>
          <a:ln>
            <a:noFill/>
          </a:ln>
        </p:spPr>
      </p:sp>
      <p:sp>
        <p:nvSpPr>
          <p:cNvPr id="52" name="text 52"/>
          <p:cNvSpPr/>
          <p:nvPr/>
        </p:nvSpPr>
        <p:spPr>
          <a:xfrm>
            <a:off x="4881880" y="4754033"/>
            <a:ext cx="75184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1</a:t>
            </a:r>
            <a:endParaRPr lang="en-US" sz="1500"/>
          </a:p>
        </p:txBody>
      </p:sp>
      <p:cxnSp>
        <p:nvCxnSpPr>
          <p:cNvPr id="53" name="connector 53"/>
          <p:cNvCxnSpPr/>
          <p:nvPr/>
        </p:nvCxnSpPr>
        <p:spPr>
          <a:xfrm>
            <a:off x="4754880" y="5215467"/>
            <a:ext cx="1005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5760720" y="4703233"/>
            <a:ext cx="5923280" cy="512233"/>
          </a:xfrm>
          <a:prstGeom prst="rect">
            <a:avLst/>
          </a:prstGeom>
          <a:solidFill>
            <a:srgbClr val="FFFFFF"/>
          </a:solidFill>
          <a:ln>
            <a:noFill/>
          </a:ln>
        </p:spPr>
      </p:sp>
      <p:sp>
        <p:nvSpPr>
          <p:cNvPr id="55" name="text 55"/>
          <p:cNvSpPr/>
          <p:nvPr/>
        </p:nvSpPr>
        <p:spPr>
          <a:xfrm>
            <a:off x="5887720" y="4754033"/>
            <a:ext cx="566928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Missingness Mechanism; separate from the register</a:t>
            </a:r>
            <a:endParaRPr lang="en-US" sz="1500"/>
          </a:p>
        </p:txBody>
      </p:sp>
      <p:cxnSp>
        <p:nvCxnSpPr>
          <p:cNvPr id="56" name="connector 56"/>
          <p:cNvCxnSpPr/>
          <p:nvPr/>
        </p:nvCxnSpPr>
        <p:spPr>
          <a:xfrm>
            <a:off x="5760720" y="5215467"/>
            <a:ext cx="5923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5215467"/>
            <a:ext cx="4246880" cy="512233"/>
          </a:xfrm>
          <a:prstGeom prst="rect">
            <a:avLst/>
          </a:prstGeom>
          <a:solidFill>
            <a:srgbClr val="EFEEE9"/>
          </a:solidFill>
          <a:ln>
            <a:noFill/>
          </a:ln>
        </p:spPr>
      </p:sp>
      <p:sp>
        <p:nvSpPr>
          <p:cNvPr id="58" name="text 58"/>
          <p:cNvSpPr/>
          <p:nvPr/>
        </p:nvSpPr>
        <p:spPr>
          <a:xfrm>
            <a:off x="635000" y="5266267"/>
            <a:ext cx="3992880" cy="410633"/>
          </a:xfrm>
          <a:prstGeom prst="rect">
            <a:avLst/>
          </a:prstGeom>
          <a:noFill/>
          <a:ln>
            <a:noFill/>
          </a:ln>
        </p:spPr>
        <p:txBody>
          <a:bodyPr wrap="none" lIns="0" tIns="0" rIns="0" bIns="0" anchor="t">
            <a:noAutofit/>
          </a:bodyPr>
          <a:lstStyle/>
          <a:p>
            <a:pPr algn="l">
              <a:lnSpc>
                <a:spcPts val="1710"/>
              </a:lnSpc>
              <a:spcAft>
                <a:spcPts val="0"/>
              </a:spcAft>
            </a:pPr>
            <a:r>
              <a:rPr lang="en-US" sz="1500" b="1" dirty="0">
                <a:solidFill>
                  <a:srgbClr val="181C23"/>
                </a:solidFill>
                <a:latin typeface="Funnel Sans"/>
              </a:rPr>
              <a:t>Framework / historical references</a:t>
            </a:r>
            <a:endParaRPr lang="en-US" sz="1500"/>
          </a:p>
        </p:txBody>
      </p:sp>
      <p:cxnSp>
        <p:nvCxnSpPr>
          <p:cNvPr id="59" name="connector 59"/>
          <p:cNvCxnSpPr/>
          <p:nvPr/>
        </p:nvCxnSpPr>
        <p:spPr>
          <a:xfrm>
            <a:off x="508000" y="5727700"/>
            <a:ext cx="42468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shape 60"/>
          <p:cNvSpPr/>
          <p:nvPr/>
        </p:nvSpPr>
        <p:spPr>
          <a:xfrm>
            <a:off x="4754880" y="5215467"/>
            <a:ext cx="1005840" cy="512233"/>
          </a:xfrm>
          <a:prstGeom prst="rect">
            <a:avLst/>
          </a:prstGeom>
          <a:solidFill>
            <a:srgbClr val="EFEEE9"/>
          </a:solidFill>
          <a:ln>
            <a:noFill/>
          </a:ln>
        </p:spPr>
      </p:sp>
      <p:sp>
        <p:nvSpPr>
          <p:cNvPr id="61" name="text 61"/>
          <p:cNvSpPr/>
          <p:nvPr/>
        </p:nvSpPr>
        <p:spPr>
          <a:xfrm>
            <a:off x="4881880" y="5266267"/>
            <a:ext cx="75184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9 / 14</a:t>
            </a:r>
            <a:endParaRPr lang="en-US" sz="1500"/>
          </a:p>
        </p:txBody>
      </p:sp>
      <p:cxnSp>
        <p:nvCxnSpPr>
          <p:cNvPr id="62" name="connector 62"/>
          <p:cNvCxnSpPr/>
          <p:nvPr/>
        </p:nvCxnSpPr>
        <p:spPr>
          <a:xfrm>
            <a:off x="4754880" y="5727700"/>
            <a:ext cx="1005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shape 63"/>
          <p:cNvSpPr/>
          <p:nvPr/>
        </p:nvSpPr>
        <p:spPr>
          <a:xfrm>
            <a:off x="5760720" y="5215467"/>
            <a:ext cx="5923280" cy="512233"/>
          </a:xfrm>
          <a:prstGeom prst="rect">
            <a:avLst/>
          </a:prstGeom>
          <a:solidFill>
            <a:srgbClr val="EFEEE9"/>
          </a:solidFill>
          <a:ln>
            <a:noFill/>
          </a:ln>
        </p:spPr>
      </p:sp>
      <p:sp>
        <p:nvSpPr>
          <p:cNvPr id="64" name="text 64"/>
          <p:cNvSpPr/>
          <p:nvPr/>
        </p:nvSpPr>
        <p:spPr>
          <a:xfrm>
            <a:off x="5887720" y="5266267"/>
            <a:ext cx="5669280" cy="410633"/>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Reference groups and retired names; not additional live rows</a:t>
            </a:r>
            <a:endParaRPr lang="en-US" sz="1500"/>
          </a:p>
        </p:txBody>
      </p:sp>
      <p:cxnSp>
        <p:nvCxnSpPr>
          <p:cNvPr id="65" name="connector 65"/>
          <p:cNvCxnSpPr/>
          <p:nvPr/>
        </p:nvCxnSpPr>
        <p:spPr>
          <a:xfrm>
            <a:off x="5760720" y="5727700"/>
            <a:ext cx="5923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shape 66"/>
          <p:cNvSpPr/>
          <p:nvPr/>
        </p:nvSpPr>
        <p:spPr>
          <a:xfrm>
            <a:off x="508000" y="5740400"/>
            <a:ext cx="11176000" cy="546100"/>
          </a:xfrm>
          <a:prstGeom prst="rect">
            <a:avLst/>
          </a:prstGeom>
          <a:solidFill>
            <a:srgbClr val="282A27"/>
          </a:solidFill>
          <a:ln>
            <a:noFill/>
          </a:ln>
        </p:spPr>
      </p:sp>
      <p:sp>
        <p:nvSpPr>
          <p:cNvPr id="67" name="text 6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6 implemented packages + 14 planned numbered entries = the 20-row workbook diagnostic inventory.</a:t>
            </a:r>
            <a:endParaRPr lang="en-US" sz="1600"/>
          </a:p>
        </p:txBody>
      </p:sp>
      <p:cxnSp>
        <p:nvCxnSpPr>
          <p:cNvPr id="68" name="connector 6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69" name="text 6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0" name="text 7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74 / 87</a:t>
            </a:r>
            <a:endParaRPr lang="en-US" sz="100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EXAMPLE</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Use repository fixtures as examples, with their provenance</a:t>
            </a:r>
            <a:endParaRPr lang="en-US" sz="2900"/>
          </a:p>
          <a:p>
            <a:pPr algn="l">
              <a:lnSpc>
                <a:spcPts val="3306"/>
              </a:lnSpc>
              <a:spcAft>
                <a:spcPts val="0"/>
              </a:spcAft>
            </a:pPr>
            <a:r>
              <a:rPr lang="en-US" sz="2900" b="1" dirty="0">
                <a:solidFill>
                  <a:srgbClr val="181C23"/>
                </a:solidFill>
                <a:latin typeface="Funnel Sans"/>
              </a:rPr>
              <a:t>visible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Synthetic D06 regression fixture: continuity gaps, duplicates and invalid keys.</a:t>
            </a:r>
            <a:endParaRPr lang="en-US" sz="1500"/>
          </a:p>
        </p:txBody>
      </p:sp>
      <p:sp>
        <p:nvSpPr>
          <p:cNvPr id="6" name="shape 6"/>
          <p:cNvSpPr/>
          <p:nvPr/>
        </p:nvSpPr>
        <p:spPr>
          <a:xfrm>
            <a:off x="508000" y="2235200"/>
            <a:ext cx="1676400" cy="457200"/>
          </a:xfrm>
          <a:prstGeom prst="rect">
            <a:avLst/>
          </a:prstGeom>
          <a:solidFill>
            <a:srgbClr val="282A27"/>
          </a:solidFill>
          <a:ln>
            <a:noFill/>
          </a:ln>
        </p:spPr>
      </p:sp>
      <p:sp>
        <p:nvSpPr>
          <p:cNvPr id="7" name="text 7"/>
          <p:cNvSpPr/>
          <p:nvPr/>
        </p:nvSpPr>
        <p:spPr>
          <a:xfrm>
            <a:off x="635000" y="2349500"/>
            <a:ext cx="14224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Facility</a:t>
            </a:r>
            <a:endParaRPr lang="en-US" sz="1200"/>
          </a:p>
        </p:txBody>
      </p:sp>
      <p:sp>
        <p:nvSpPr>
          <p:cNvPr id="8" name="shape 8"/>
          <p:cNvSpPr/>
          <p:nvPr/>
        </p:nvSpPr>
        <p:spPr>
          <a:xfrm>
            <a:off x="2184400" y="2235200"/>
            <a:ext cx="3129280" cy="457200"/>
          </a:xfrm>
          <a:prstGeom prst="rect">
            <a:avLst/>
          </a:prstGeom>
          <a:solidFill>
            <a:srgbClr val="282A27"/>
          </a:solidFill>
          <a:ln>
            <a:noFill/>
          </a:ln>
        </p:spPr>
      </p:sp>
      <p:sp>
        <p:nvSpPr>
          <p:cNvPr id="9" name="text 9"/>
          <p:cNvSpPr/>
          <p:nvPr/>
        </p:nvSpPr>
        <p:spPr>
          <a:xfrm>
            <a:off x="2311400" y="2349500"/>
            <a:ext cx="28752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January 2025</a:t>
            </a:r>
            <a:endParaRPr lang="en-US" sz="1200"/>
          </a:p>
        </p:txBody>
      </p:sp>
      <p:sp>
        <p:nvSpPr>
          <p:cNvPr id="10" name="shape 10"/>
          <p:cNvSpPr/>
          <p:nvPr/>
        </p:nvSpPr>
        <p:spPr>
          <a:xfrm>
            <a:off x="5313680" y="2235200"/>
            <a:ext cx="3129280" cy="457200"/>
          </a:xfrm>
          <a:prstGeom prst="rect">
            <a:avLst/>
          </a:prstGeom>
          <a:solidFill>
            <a:srgbClr val="282A27"/>
          </a:solidFill>
          <a:ln>
            <a:noFill/>
          </a:ln>
        </p:spPr>
      </p:sp>
      <p:sp>
        <p:nvSpPr>
          <p:cNvPr id="11" name="text 11"/>
          <p:cNvSpPr/>
          <p:nvPr/>
        </p:nvSpPr>
        <p:spPr>
          <a:xfrm>
            <a:off x="5440680" y="2349500"/>
            <a:ext cx="28752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February 2025</a:t>
            </a:r>
            <a:endParaRPr lang="en-US" sz="1200"/>
          </a:p>
        </p:txBody>
      </p:sp>
      <p:sp>
        <p:nvSpPr>
          <p:cNvPr id="12" name="shape 12"/>
          <p:cNvSpPr/>
          <p:nvPr/>
        </p:nvSpPr>
        <p:spPr>
          <a:xfrm>
            <a:off x="8442960" y="2235200"/>
            <a:ext cx="3241040" cy="457200"/>
          </a:xfrm>
          <a:prstGeom prst="rect">
            <a:avLst/>
          </a:prstGeom>
          <a:solidFill>
            <a:srgbClr val="282A27"/>
          </a:solidFill>
          <a:ln>
            <a:noFill/>
          </a:ln>
        </p:spPr>
      </p:sp>
      <p:sp>
        <p:nvSpPr>
          <p:cNvPr id="13" name="text 13"/>
          <p:cNvSpPr/>
          <p:nvPr/>
        </p:nvSpPr>
        <p:spPr>
          <a:xfrm>
            <a:off x="8569960" y="2349500"/>
            <a:ext cx="29870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March 2025</a:t>
            </a:r>
            <a:endParaRPr lang="en-US" sz="1200"/>
          </a:p>
        </p:txBody>
      </p:sp>
      <p:sp>
        <p:nvSpPr>
          <p:cNvPr id="14" name="shape 14"/>
          <p:cNvSpPr/>
          <p:nvPr/>
        </p:nvSpPr>
        <p:spPr>
          <a:xfrm>
            <a:off x="508000" y="2692400"/>
            <a:ext cx="1676400" cy="601133"/>
          </a:xfrm>
          <a:prstGeom prst="rect">
            <a:avLst/>
          </a:prstGeom>
          <a:solidFill>
            <a:srgbClr val="FFFFFF"/>
          </a:solidFill>
          <a:ln>
            <a:noFill/>
          </a:ln>
        </p:spPr>
      </p:sp>
      <p:sp>
        <p:nvSpPr>
          <p:cNvPr id="15" name="text 15"/>
          <p:cNvSpPr/>
          <p:nvPr/>
        </p:nvSpPr>
        <p:spPr>
          <a:xfrm>
            <a:off x="635000" y="2743200"/>
            <a:ext cx="1422400" cy="499533"/>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A</a:t>
            </a:r>
            <a:endParaRPr lang="en-US" sz="1800"/>
          </a:p>
        </p:txBody>
      </p:sp>
      <p:cxnSp>
        <p:nvCxnSpPr>
          <p:cNvPr id="16" name="connector 16"/>
          <p:cNvCxnSpPr/>
          <p:nvPr/>
        </p:nvCxnSpPr>
        <p:spPr>
          <a:xfrm>
            <a:off x="508000" y="3293533"/>
            <a:ext cx="1676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7" name="shape 17"/>
          <p:cNvSpPr/>
          <p:nvPr/>
        </p:nvSpPr>
        <p:spPr>
          <a:xfrm>
            <a:off x="2184400" y="2692400"/>
            <a:ext cx="3129280" cy="601133"/>
          </a:xfrm>
          <a:prstGeom prst="rect">
            <a:avLst/>
          </a:prstGeom>
          <a:solidFill>
            <a:srgbClr val="FFFFFF"/>
          </a:solidFill>
          <a:ln>
            <a:noFill/>
          </a:ln>
        </p:spPr>
      </p:sp>
      <p:sp>
        <p:nvSpPr>
          <p:cNvPr id="18" name="text 18"/>
          <p:cNvSpPr/>
          <p:nvPr/>
        </p:nvSpPr>
        <p:spPr>
          <a:xfrm>
            <a:off x="2311400" y="2743200"/>
            <a:ext cx="2875280" cy="499533"/>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Present twice</a:t>
            </a:r>
            <a:endParaRPr lang="en-US" sz="1800"/>
          </a:p>
        </p:txBody>
      </p:sp>
      <p:cxnSp>
        <p:nvCxnSpPr>
          <p:cNvPr id="19" name="connector 19"/>
          <p:cNvCxnSpPr/>
          <p:nvPr/>
        </p:nvCxnSpPr>
        <p:spPr>
          <a:xfrm>
            <a:off x="2184400" y="3293533"/>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5313680" y="2692400"/>
            <a:ext cx="3129280" cy="601133"/>
          </a:xfrm>
          <a:prstGeom prst="rect">
            <a:avLst/>
          </a:prstGeom>
          <a:solidFill>
            <a:srgbClr val="FFFFFF"/>
          </a:solidFill>
          <a:ln>
            <a:noFill/>
          </a:ln>
        </p:spPr>
      </p:sp>
      <p:sp>
        <p:nvSpPr>
          <p:cNvPr id="21" name="text 21"/>
          <p:cNvSpPr/>
          <p:nvPr/>
        </p:nvSpPr>
        <p:spPr>
          <a:xfrm>
            <a:off x="5440680" y="2743200"/>
            <a:ext cx="2875280" cy="499533"/>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Missing</a:t>
            </a:r>
            <a:endParaRPr lang="en-US" sz="1800"/>
          </a:p>
        </p:txBody>
      </p:sp>
      <p:cxnSp>
        <p:nvCxnSpPr>
          <p:cNvPr id="22" name="connector 22"/>
          <p:cNvCxnSpPr/>
          <p:nvPr/>
        </p:nvCxnSpPr>
        <p:spPr>
          <a:xfrm>
            <a:off x="5313680" y="3293533"/>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8442960" y="2692400"/>
            <a:ext cx="3241040" cy="601133"/>
          </a:xfrm>
          <a:prstGeom prst="rect">
            <a:avLst/>
          </a:prstGeom>
          <a:solidFill>
            <a:srgbClr val="FFFFFF"/>
          </a:solidFill>
          <a:ln>
            <a:noFill/>
          </a:ln>
        </p:spPr>
      </p:sp>
      <p:sp>
        <p:nvSpPr>
          <p:cNvPr id="24" name="text 24"/>
          <p:cNvSpPr/>
          <p:nvPr/>
        </p:nvSpPr>
        <p:spPr>
          <a:xfrm>
            <a:off x="8569960" y="2743200"/>
            <a:ext cx="2987040" cy="499533"/>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Present</a:t>
            </a:r>
            <a:endParaRPr lang="en-US" sz="1800"/>
          </a:p>
        </p:txBody>
      </p:sp>
      <p:cxnSp>
        <p:nvCxnSpPr>
          <p:cNvPr id="25" name="connector 25"/>
          <p:cNvCxnSpPr/>
          <p:nvPr/>
        </p:nvCxnSpPr>
        <p:spPr>
          <a:xfrm>
            <a:off x="8442960" y="3293533"/>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508000" y="3293533"/>
            <a:ext cx="1676400" cy="601133"/>
          </a:xfrm>
          <a:prstGeom prst="rect">
            <a:avLst/>
          </a:prstGeom>
          <a:solidFill>
            <a:srgbClr val="EFEEE9"/>
          </a:solidFill>
          <a:ln>
            <a:noFill/>
          </a:ln>
        </p:spPr>
      </p:sp>
      <p:sp>
        <p:nvSpPr>
          <p:cNvPr id="27" name="text 27"/>
          <p:cNvSpPr/>
          <p:nvPr/>
        </p:nvSpPr>
        <p:spPr>
          <a:xfrm>
            <a:off x="635000" y="3344333"/>
            <a:ext cx="1422400" cy="499533"/>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B</a:t>
            </a:r>
            <a:endParaRPr lang="en-US" sz="1800"/>
          </a:p>
        </p:txBody>
      </p:sp>
      <p:cxnSp>
        <p:nvCxnSpPr>
          <p:cNvPr id="28" name="connector 28"/>
          <p:cNvCxnSpPr/>
          <p:nvPr/>
        </p:nvCxnSpPr>
        <p:spPr>
          <a:xfrm>
            <a:off x="508000" y="3894667"/>
            <a:ext cx="1676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shape 29"/>
          <p:cNvSpPr/>
          <p:nvPr/>
        </p:nvSpPr>
        <p:spPr>
          <a:xfrm>
            <a:off x="2184400" y="3293533"/>
            <a:ext cx="3129280" cy="601133"/>
          </a:xfrm>
          <a:prstGeom prst="rect">
            <a:avLst/>
          </a:prstGeom>
          <a:solidFill>
            <a:srgbClr val="EFEEE9"/>
          </a:solidFill>
          <a:ln>
            <a:noFill/>
          </a:ln>
        </p:spPr>
      </p:sp>
      <p:sp>
        <p:nvSpPr>
          <p:cNvPr id="30" name="text 30"/>
          <p:cNvSpPr/>
          <p:nvPr/>
        </p:nvSpPr>
        <p:spPr>
          <a:xfrm>
            <a:off x="2311400" y="3344333"/>
            <a:ext cx="2875280" cy="499533"/>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Present</a:t>
            </a:r>
            <a:endParaRPr lang="en-US" sz="1800"/>
          </a:p>
        </p:txBody>
      </p:sp>
      <p:cxnSp>
        <p:nvCxnSpPr>
          <p:cNvPr id="31" name="connector 31"/>
          <p:cNvCxnSpPr/>
          <p:nvPr/>
        </p:nvCxnSpPr>
        <p:spPr>
          <a:xfrm>
            <a:off x="2184400" y="3894667"/>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5313680" y="3293533"/>
            <a:ext cx="3129280" cy="601133"/>
          </a:xfrm>
          <a:prstGeom prst="rect">
            <a:avLst/>
          </a:prstGeom>
          <a:solidFill>
            <a:srgbClr val="EFEEE9"/>
          </a:solidFill>
          <a:ln>
            <a:noFill/>
          </a:ln>
        </p:spPr>
      </p:sp>
      <p:sp>
        <p:nvSpPr>
          <p:cNvPr id="33" name="text 33"/>
          <p:cNvSpPr/>
          <p:nvPr/>
        </p:nvSpPr>
        <p:spPr>
          <a:xfrm>
            <a:off x="5440680" y="3344333"/>
            <a:ext cx="2875280" cy="499533"/>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Missing</a:t>
            </a:r>
            <a:endParaRPr lang="en-US" sz="1800"/>
          </a:p>
        </p:txBody>
      </p:sp>
      <p:cxnSp>
        <p:nvCxnSpPr>
          <p:cNvPr id="34" name="connector 34"/>
          <p:cNvCxnSpPr/>
          <p:nvPr/>
        </p:nvCxnSpPr>
        <p:spPr>
          <a:xfrm>
            <a:off x="5313680" y="3894667"/>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shape 35"/>
          <p:cNvSpPr/>
          <p:nvPr/>
        </p:nvSpPr>
        <p:spPr>
          <a:xfrm>
            <a:off x="8442960" y="3293533"/>
            <a:ext cx="3241040" cy="601133"/>
          </a:xfrm>
          <a:prstGeom prst="rect">
            <a:avLst/>
          </a:prstGeom>
          <a:solidFill>
            <a:srgbClr val="EFEEE9"/>
          </a:solidFill>
          <a:ln>
            <a:noFill/>
          </a:ln>
        </p:spPr>
      </p:sp>
      <p:sp>
        <p:nvSpPr>
          <p:cNvPr id="36" name="text 36"/>
          <p:cNvSpPr/>
          <p:nvPr/>
        </p:nvSpPr>
        <p:spPr>
          <a:xfrm>
            <a:off x="8569960" y="3344333"/>
            <a:ext cx="2987040" cy="499533"/>
          </a:xfrm>
          <a:prstGeom prst="rect">
            <a:avLst/>
          </a:prstGeom>
          <a:noFill/>
          <a:ln>
            <a:noFill/>
          </a:ln>
        </p:spPr>
        <p:txBody>
          <a:bodyPr wrap="none" lIns="0" tIns="0" rIns="0" bIns="0" anchor="t">
            <a:noAutofit/>
          </a:bodyPr>
          <a:lstStyle/>
          <a:p>
            <a:pPr algn="l">
              <a:lnSpc>
                <a:spcPts val="2052"/>
              </a:lnSpc>
              <a:spcAft>
                <a:spcPts val="0"/>
              </a:spcAft>
            </a:pPr>
            <a:r>
              <a:rPr lang="en-US" sz="1800" b="0" dirty="0">
                <a:solidFill>
                  <a:srgbClr val="181C23"/>
                </a:solidFill>
                <a:latin typeface="Funnel Sans"/>
              </a:rPr>
              <a:t>Present</a:t>
            </a:r>
            <a:endParaRPr lang="en-US" sz="1800"/>
          </a:p>
        </p:txBody>
      </p:sp>
      <p:cxnSp>
        <p:nvCxnSpPr>
          <p:cNvPr id="37" name="connector 37"/>
          <p:cNvCxnSpPr/>
          <p:nvPr/>
        </p:nvCxnSpPr>
        <p:spPr>
          <a:xfrm>
            <a:off x="8442960" y="3894667"/>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508000" y="3894667"/>
            <a:ext cx="1676400" cy="601133"/>
          </a:xfrm>
          <a:prstGeom prst="rect">
            <a:avLst/>
          </a:prstGeom>
          <a:solidFill>
            <a:srgbClr val="FFFFFF"/>
          </a:solidFill>
          <a:ln>
            <a:noFill/>
          </a:ln>
        </p:spPr>
      </p:sp>
      <p:sp>
        <p:nvSpPr>
          <p:cNvPr id="39" name="text 39"/>
          <p:cNvSpPr/>
          <p:nvPr/>
        </p:nvSpPr>
        <p:spPr>
          <a:xfrm>
            <a:off x="635000" y="3945467"/>
            <a:ext cx="1422400" cy="499533"/>
          </a:xfrm>
          <a:prstGeom prst="rect">
            <a:avLst/>
          </a:prstGeom>
          <a:noFill/>
          <a:ln>
            <a:noFill/>
          </a:ln>
        </p:spPr>
        <p:txBody>
          <a:bodyPr wrap="none" lIns="0" tIns="0" rIns="0" bIns="0" anchor="t">
            <a:noAutofit/>
          </a:bodyPr>
          <a:lstStyle/>
          <a:p>
            <a:pPr algn="l">
              <a:lnSpc>
                <a:spcPts val="2052"/>
              </a:lnSpc>
              <a:spcAft>
                <a:spcPts val="0"/>
              </a:spcAft>
            </a:pPr>
            <a:r>
              <a:rPr lang="en-US" sz="1800" b="1" dirty="0">
                <a:solidFill>
                  <a:srgbClr val="181C23"/>
                </a:solidFill>
                <a:latin typeface="Funnel Sans"/>
              </a:rPr>
              <a:t>Invalid row</a:t>
            </a:r>
            <a:endParaRPr lang="en-US" sz="1800"/>
          </a:p>
        </p:txBody>
      </p:sp>
      <p:cxnSp>
        <p:nvCxnSpPr>
          <p:cNvPr id="40" name="connector 40"/>
          <p:cNvCxnSpPr/>
          <p:nvPr/>
        </p:nvCxnSpPr>
        <p:spPr>
          <a:xfrm>
            <a:off x="508000" y="4495800"/>
            <a:ext cx="16764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2184400" y="3894667"/>
            <a:ext cx="3129280" cy="601133"/>
          </a:xfrm>
          <a:prstGeom prst="rect">
            <a:avLst/>
          </a:prstGeom>
          <a:solidFill>
            <a:srgbClr val="FFFFFF"/>
          </a:solidFill>
          <a:ln>
            <a:noFill/>
          </a:ln>
        </p:spPr>
      </p:sp>
      <p:sp>
        <p:nvSpPr>
          <p:cNvPr id="42" name="text 42"/>
          <p:cNvSpPr/>
          <p:nvPr/>
        </p:nvSpPr>
        <p:spPr>
          <a:xfrm>
            <a:off x="2311400" y="3945467"/>
            <a:ext cx="2875280" cy="499533"/>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Blank facility / invalid period</a:t>
            </a:r>
            <a:endParaRPr lang="en-US" sz="1700"/>
          </a:p>
        </p:txBody>
      </p:sp>
      <p:cxnSp>
        <p:nvCxnSpPr>
          <p:cNvPr id="43" name="connector 43"/>
          <p:cNvCxnSpPr/>
          <p:nvPr/>
        </p:nvCxnSpPr>
        <p:spPr>
          <a:xfrm>
            <a:off x="2184400" y="44958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4" name="shape 44"/>
          <p:cNvSpPr/>
          <p:nvPr/>
        </p:nvSpPr>
        <p:spPr>
          <a:xfrm>
            <a:off x="5313680" y="3894667"/>
            <a:ext cx="3129280" cy="601133"/>
          </a:xfrm>
          <a:prstGeom prst="rect">
            <a:avLst/>
          </a:prstGeom>
          <a:solidFill>
            <a:srgbClr val="FFFFFF"/>
          </a:solidFill>
          <a:ln>
            <a:noFill/>
          </a:ln>
        </p:spPr>
      </p:sp>
      <p:sp>
        <p:nvSpPr>
          <p:cNvPr id="45" name="text 45"/>
          <p:cNvSpPr/>
          <p:nvPr/>
        </p:nvSpPr>
        <p:spPr>
          <a:xfrm>
            <a:off x="5440680" y="3945467"/>
            <a:ext cx="2875280" cy="499533"/>
          </a:xfrm>
          <a:prstGeom prst="rect">
            <a:avLst/>
          </a:prstGeom>
          <a:noFill/>
          <a:ln>
            <a:noFill/>
          </a:ln>
        </p:spPr>
        <p:txBody>
          <a:bodyPr wrap="none" lIns="0" tIns="0" rIns="0" bIns="0" anchor="t">
            <a:noAutofit/>
          </a:bodyPr>
          <a:lstStyle/>
          <a:p>
            <a:pPr algn="l">
              <a:lnSpc>
                <a:spcPts val="1881"/>
              </a:lnSpc>
              <a:spcAft>
                <a:spcPts val="0"/>
              </a:spcAft>
            </a:pPr>
            <a:r>
              <a:rPr lang="en-US" sz="1650" b="0" dirty="0">
                <a:solidFill>
                  <a:srgbClr val="181C23"/>
                </a:solidFill>
                <a:latin typeface="Funnel Sans"/>
              </a:rPr>
              <a:t>Excluded from valid-key grid</a:t>
            </a:r>
            <a:endParaRPr lang="en-US" sz="1650"/>
          </a:p>
        </p:txBody>
      </p:sp>
      <p:cxnSp>
        <p:nvCxnSpPr>
          <p:cNvPr id="46" name="connector 46"/>
          <p:cNvCxnSpPr/>
          <p:nvPr/>
        </p:nvCxnSpPr>
        <p:spPr>
          <a:xfrm>
            <a:off x="5313680" y="4495800"/>
            <a:ext cx="31292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shape 47"/>
          <p:cNvSpPr/>
          <p:nvPr/>
        </p:nvSpPr>
        <p:spPr>
          <a:xfrm>
            <a:off x="8442960" y="3894667"/>
            <a:ext cx="3241040" cy="601133"/>
          </a:xfrm>
          <a:prstGeom prst="rect">
            <a:avLst/>
          </a:prstGeom>
          <a:solidFill>
            <a:srgbClr val="FFFFFF"/>
          </a:solidFill>
          <a:ln>
            <a:noFill/>
          </a:ln>
        </p:spPr>
      </p:sp>
      <p:sp>
        <p:nvSpPr>
          <p:cNvPr id="48" name="text 48"/>
          <p:cNvSpPr/>
          <p:nvPr/>
        </p:nvSpPr>
        <p:spPr>
          <a:xfrm>
            <a:off x="8569960" y="3945467"/>
            <a:ext cx="2987040" cy="499533"/>
          </a:xfrm>
          <a:prstGeom prst="rect">
            <a:avLst/>
          </a:prstGeom>
          <a:noFill/>
          <a:ln>
            <a:noFill/>
          </a:ln>
        </p:spPr>
        <p:txBody>
          <a:bodyPr wrap="none" lIns="0" tIns="0" rIns="0" bIns="0" anchor="t">
            <a:noAutofit/>
          </a:bodyPr>
          <a:lstStyle/>
          <a:p>
            <a:pPr algn="l">
              <a:lnSpc>
                <a:spcPts val="1995"/>
              </a:lnSpc>
              <a:spcAft>
                <a:spcPts val="0"/>
              </a:spcAft>
            </a:pPr>
            <a:r>
              <a:rPr lang="en-US" sz="1750" b="0" dirty="0">
                <a:solidFill>
                  <a:srgbClr val="181C23"/>
                </a:solidFill>
                <a:latin typeface="Funnel Sans"/>
              </a:rPr>
              <a:t>Retained as invalid evidence</a:t>
            </a:r>
            <a:endParaRPr lang="en-US" sz="1750"/>
          </a:p>
        </p:txBody>
      </p:sp>
      <p:cxnSp>
        <p:nvCxnSpPr>
          <p:cNvPr id="49" name="connector 49"/>
          <p:cNvCxnSpPr/>
          <p:nvPr/>
        </p:nvCxnSpPr>
        <p:spPr>
          <a:xfrm>
            <a:off x="8442960" y="4495800"/>
            <a:ext cx="32410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0" name="shape 50"/>
          <p:cNvSpPr/>
          <p:nvPr/>
        </p:nvSpPr>
        <p:spPr>
          <a:xfrm>
            <a:off x="508000" y="4749800"/>
            <a:ext cx="2641600" cy="850900"/>
          </a:xfrm>
          <a:prstGeom prst="rect">
            <a:avLst/>
          </a:prstGeom>
          <a:solidFill>
            <a:srgbClr val="FFF2DF"/>
          </a:solidFill>
          <a:ln>
            <a:noFill/>
          </a:ln>
        </p:spPr>
      </p:sp>
      <p:sp>
        <p:nvSpPr>
          <p:cNvPr id="51" name="text 51"/>
          <p:cNvSpPr/>
          <p:nvPr/>
        </p:nvSpPr>
        <p:spPr>
          <a:xfrm>
            <a:off x="660400" y="4889500"/>
            <a:ext cx="723900" cy="5334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FF4F59"/>
                </a:solidFill>
                <a:latin typeface="Funnel Sans"/>
              </a:rPr>
              <a:t>6</a:t>
            </a:r>
            <a:endParaRPr lang="en-US" sz="2900"/>
          </a:p>
        </p:txBody>
      </p:sp>
      <p:sp>
        <p:nvSpPr>
          <p:cNvPr id="52" name="text 52"/>
          <p:cNvSpPr/>
          <p:nvPr/>
        </p:nvSpPr>
        <p:spPr>
          <a:xfrm>
            <a:off x="1447800" y="4965700"/>
            <a:ext cx="1536700" cy="5334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required pairs</a:t>
            </a:r>
            <a:endParaRPr lang="en-US" sz="1500"/>
          </a:p>
        </p:txBody>
      </p:sp>
      <p:sp>
        <p:nvSpPr>
          <p:cNvPr id="53" name="shape 53"/>
          <p:cNvSpPr/>
          <p:nvPr/>
        </p:nvSpPr>
        <p:spPr>
          <a:xfrm>
            <a:off x="3352800" y="4749800"/>
            <a:ext cx="2641600" cy="850900"/>
          </a:xfrm>
          <a:prstGeom prst="rect">
            <a:avLst/>
          </a:prstGeom>
          <a:solidFill>
            <a:srgbClr val="FFF2DF"/>
          </a:solidFill>
          <a:ln>
            <a:noFill/>
          </a:ln>
        </p:spPr>
      </p:sp>
      <p:sp>
        <p:nvSpPr>
          <p:cNvPr id="54" name="text 54"/>
          <p:cNvSpPr/>
          <p:nvPr/>
        </p:nvSpPr>
        <p:spPr>
          <a:xfrm>
            <a:off x="3505200" y="4889500"/>
            <a:ext cx="723900" cy="5334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FF4F59"/>
                </a:solidFill>
                <a:latin typeface="Funnel Sans"/>
              </a:rPr>
              <a:t>4</a:t>
            </a:r>
            <a:endParaRPr lang="en-US" sz="2900"/>
          </a:p>
        </p:txBody>
      </p:sp>
      <p:sp>
        <p:nvSpPr>
          <p:cNvPr id="55" name="text 55"/>
          <p:cNvSpPr/>
          <p:nvPr/>
        </p:nvSpPr>
        <p:spPr>
          <a:xfrm>
            <a:off x="4292600" y="4965700"/>
            <a:ext cx="1536700" cy="5334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received pairs</a:t>
            </a:r>
            <a:endParaRPr lang="en-US" sz="1500"/>
          </a:p>
        </p:txBody>
      </p:sp>
      <p:sp>
        <p:nvSpPr>
          <p:cNvPr id="56" name="shape 56"/>
          <p:cNvSpPr/>
          <p:nvPr/>
        </p:nvSpPr>
        <p:spPr>
          <a:xfrm>
            <a:off x="6197600" y="4749800"/>
            <a:ext cx="2641600" cy="850900"/>
          </a:xfrm>
          <a:prstGeom prst="rect">
            <a:avLst/>
          </a:prstGeom>
          <a:solidFill>
            <a:srgbClr val="FFF2DF"/>
          </a:solidFill>
          <a:ln>
            <a:noFill/>
          </a:ln>
        </p:spPr>
      </p:sp>
      <p:sp>
        <p:nvSpPr>
          <p:cNvPr id="57" name="text 57"/>
          <p:cNvSpPr/>
          <p:nvPr/>
        </p:nvSpPr>
        <p:spPr>
          <a:xfrm>
            <a:off x="6350000" y="4889500"/>
            <a:ext cx="723900" cy="5334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FF4F59"/>
                </a:solidFill>
                <a:latin typeface="Funnel Sans"/>
              </a:rPr>
              <a:t>2</a:t>
            </a:r>
            <a:endParaRPr lang="en-US" sz="2900"/>
          </a:p>
        </p:txBody>
      </p:sp>
      <p:sp>
        <p:nvSpPr>
          <p:cNvPr id="58" name="text 58"/>
          <p:cNvSpPr/>
          <p:nvPr/>
        </p:nvSpPr>
        <p:spPr>
          <a:xfrm>
            <a:off x="7137400" y="4965700"/>
            <a:ext cx="1536700" cy="5334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missing pairs</a:t>
            </a:r>
            <a:endParaRPr lang="en-US" sz="1500"/>
          </a:p>
        </p:txBody>
      </p:sp>
      <p:sp>
        <p:nvSpPr>
          <p:cNvPr id="59" name="shape 59"/>
          <p:cNvSpPr/>
          <p:nvPr/>
        </p:nvSpPr>
        <p:spPr>
          <a:xfrm>
            <a:off x="9042400" y="4749800"/>
            <a:ext cx="2641600" cy="850900"/>
          </a:xfrm>
          <a:prstGeom prst="rect">
            <a:avLst/>
          </a:prstGeom>
          <a:solidFill>
            <a:srgbClr val="FFF2DF"/>
          </a:solidFill>
          <a:ln>
            <a:noFill/>
          </a:ln>
        </p:spPr>
      </p:sp>
      <p:sp>
        <p:nvSpPr>
          <p:cNvPr id="60" name="text 60"/>
          <p:cNvSpPr/>
          <p:nvPr/>
        </p:nvSpPr>
        <p:spPr>
          <a:xfrm>
            <a:off x="9194800" y="4889500"/>
            <a:ext cx="723900" cy="5334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FF4F59"/>
                </a:solidFill>
                <a:latin typeface="Funnel Sans"/>
              </a:rPr>
              <a:t>4</a:t>
            </a:r>
            <a:endParaRPr lang="en-US" sz="2900"/>
          </a:p>
        </p:txBody>
      </p:sp>
      <p:sp>
        <p:nvSpPr>
          <p:cNvPr id="61" name="text 61"/>
          <p:cNvSpPr/>
          <p:nvPr/>
        </p:nvSpPr>
        <p:spPr>
          <a:xfrm>
            <a:off x="9982200" y="4965700"/>
            <a:ext cx="1536700" cy="5334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181C23"/>
                </a:solidFill>
                <a:latin typeface="Funnel Sans"/>
              </a:rPr>
              <a:t>primary issue</a:t>
            </a:r>
            <a:endParaRPr lang="en-US" sz="1500"/>
          </a:p>
          <a:p>
            <a:pPr algn="l">
              <a:lnSpc>
                <a:spcPts val="1710"/>
              </a:lnSpc>
              <a:spcAft>
                <a:spcPts val="0"/>
              </a:spcAft>
            </a:pPr>
            <a:r>
              <a:rPr lang="en-US" sz="1500" b="0" dirty="0">
                <a:solidFill>
                  <a:srgbClr val="181C23"/>
                </a:solidFill>
                <a:latin typeface="Funnel Sans"/>
              </a:rPr>
              <a:t>instances</a:t>
            </a:r>
            <a:endParaRPr lang="en-US" sz="1500"/>
          </a:p>
        </p:txBody>
      </p:sp>
      <p:sp>
        <p:nvSpPr>
          <p:cNvPr id="62" name="shape 62"/>
          <p:cNvSpPr/>
          <p:nvPr/>
        </p:nvSpPr>
        <p:spPr>
          <a:xfrm>
            <a:off x="508000" y="5740400"/>
            <a:ext cx="11176000" cy="546100"/>
          </a:xfrm>
          <a:prstGeom prst="rect">
            <a:avLst/>
          </a:prstGeom>
          <a:solidFill>
            <a:srgbClr val="282A27"/>
          </a:solidFill>
          <a:ln>
            <a:noFill/>
          </a:ln>
        </p:spPr>
      </p:sp>
      <p:sp>
        <p:nvSpPr>
          <p:cNvPr id="63" name="text 63"/>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Synthetic test fixture • no client result • 1 surplus duplicate + 1 invalid row retained separately.</a:t>
            </a:r>
            <a:endParaRPr lang="en-US" sz="1600"/>
          </a:p>
        </p:txBody>
      </p:sp>
      <p:cxnSp>
        <p:nvCxnSpPr>
          <p:cNvPr id="64" name="connector 64"/>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65" name="text 65"/>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66" name="text 66"/>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75 / 87</a:t>
            </a:r>
            <a:endParaRPr lang="en-US" sz="100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SOURCES</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Assess the supplied sources at their proper authority level</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All four files were read; current source code resolves conflicting historical statements.</a:t>
            </a:r>
            <a:endParaRPr lang="en-US" sz="1500"/>
          </a:p>
        </p:txBody>
      </p:sp>
      <p:sp>
        <p:nvSpPr>
          <p:cNvPr id="6" name="shape 6"/>
          <p:cNvSpPr/>
          <p:nvPr/>
        </p:nvSpPr>
        <p:spPr>
          <a:xfrm>
            <a:off x="508000" y="2171700"/>
            <a:ext cx="3352800" cy="457200"/>
          </a:xfrm>
          <a:prstGeom prst="rect">
            <a:avLst/>
          </a:prstGeom>
          <a:solidFill>
            <a:srgbClr val="282A27"/>
          </a:solidFill>
          <a:ln>
            <a:noFill/>
          </a:ln>
        </p:spPr>
      </p:sp>
      <p:sp>
        <p:nvSpPr>
          <p:cNvPr id="7" name="text 7"/>
          <p:cNvSpPr/>
          <p:nvPr/>
        </p:nvSpPr>
        <p:spPr>
          <a:xfrm>
            <a:off x="635000" y="2286000"/>
            <a:ext cx="30988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Source</a:t>
            </a:r>
            <a:endParaRPr lang="en-US" sz="1200"/>
          </a:p>
        </p:txBody>
      </p:sp>
      <p:sp>
        <p:nvSpPr>
          <p:cNvPr id="8" name="shape 8"/>
          <p:cNvSpPr/>
          <p:nvPr/>
        </p:nvSpPr>
        <p:spPr>
          <a:xfrm>
            <a:off x="3860800" y="2171700"/>
            <a:ext cx="4358640" cy="457200"/>
          </a:xfrm>
          <a:prstGeom prst="rect">
            <a:avLst/>
          </a:prstGeom>
          <a:solidFill>
            <a:srgbClr val="282A27"/>
          </a:solidFill>
          <a:ln>
            <a:noFill/>
          </a:ln>
        </p:spPr>
      </p:sp>
      <p:sp>
        <p:nvSpPr>
          <p:cNvPr id="9" name="text 9"/>
          <p:cNvSpPr/>
          <p:nvPr/>
        </p:nvSpPr>
        <p:spPr>
          <a:xfrm>
            <a:off x="3987800" y="2286000"/>
            <a:ext cx="41046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Coverage reviewed</a:t>
            </a:r>
            <a:endParaRPr lang="en-US" sz="1200"/>
          </a:p>
        </p:txBody>
      </p:sp>
      <p:sp>
        <p:nvSpPr>
          <p:cNvPr id="10" name="shape 10"/>
          <p:cNvSpPr/>
          <p:nvPr/>
        </p:nvSpPr>
        <p:spPr>
          <a:xfrm>
            <a:off x="8219440" y="2171700"/>
            <a:ext cx="3464560" cy="457200"/>
          </a:xfrm>
          <a:prstGeom prst="rect">
            <a:avLst/>
          </a:prstGeom>
          <a:solidFill>
            <a:srgbClr val="282A27"/>
          </a:solidFill>
          <a:ln>
            <a:noFill/>
          </a:ln>
        </p:spPr>
      </p:sp>
      <p:sp>
        <p:nvSpPr>
          <p:cNvPr id="11" name="text 11"/>
          <p:cNvSpPr/>
          <p:nvPr/>
        </p:nvSpPr>
        <p:spPr>
          <a:xfrm>
            <a:off x="8346440" y="2286000"/>
            <a:ext cx="32105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Use in this deck</a:t>
            </a:r>
            <a:endParaRPr lang="en-US" sz="1200"/>
          </a:p>
        </p:txBody>
      </p:sp>
      <p:sp>
        <p:nvSpPr>
          <p:cNvPr id="12" name="shape 12"/>
          <p:cNvSpPr/>
          <p:nvPr/>
        </p:nvSpPr>
        <p:spPr>
          <a:xfrm>
            <a:off x="508000" y="2628900"/>
            <a:ext cx="3352800" cy="723900"/>
          </a:xfrm>
          <a:prstGeom prst="rect">
            <a:avLst/>
          </a:prstGeom>
          <a:solidFill>
            <a:srgbClr val="FFFFFF"/>
          </a:solidFill>
          <a:ln>
            <a:noFill/>
          </a:ln>
        </p:spPr>
      </p:sp>
      <p:sp>
        <p:nvSpPr>
          <p:cNvPr id="13" name="text 13"/>
          <p:cNvSpPr/>
          <p:nvPr/>
        </p:nvSpPr>
        <p:spPr>
          <a:xfrm>
            <a:off x="635000" y="2679700"/>
            <a:ext cx="3098800" cy="6223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DQ Framework workbook</a:t>
            </a:r>
            <a:endParaRPr lang="en-US" sz="1600"/>
          </a:p>
        </p:txBody>
      </p:sp>
      <p:cxnSp>
        <p:nvCxnSpPr>
          <p:cNvPr id="14" name="connector 14"/>
          <p:cNvCxnSpPr/>
          <p:nvPr/>
        </p:nvCxnSpPr>
        <p:spPr>
          <a:xfrm>
            <a:off x="508000" y="335280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3860800" y="2628900"/>
            <a:ext cx="4358640" cy="723900"/>
          </a:xfrm>
          <a:prstGeom prst="rect">
            <a:avLst/>
          </a:prstGeom>
          <a:solidFill>
            <a:srgbClr val="FFFFFF"/>
          </a:solidFill>
          <a:ln>
            <a:noFill/>
          </a:ln>
        </p:spPr>
      </p:sp>
      <p:sp>
        <p:nvSpPr>
          <p:cNvPr id="16" name="text 16"/>
          <p:cNvSpPr/>
          <p:nvPr/>
        </p:nvSpPr>
        <p:spPr>
          <a:xfrm>
            <a:off x="3987800" y="2679700"/>
            <a:ext cx="4104640" cy="6223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5 sheets; framework, model-family</a:t>
            </a:r>
            <a:endParaRPr lang="en-US" sz="1600"/>
          </a:p>
          <a:p>
            <a:pPr algn="l">
              <a:lnSpc>
                <a:spcPts val="1824"/>
              </a:lnSpc>
              <a:spcAft>
                <a:spcPts val="0"/>
              </a:spcAft>
            </a:pPr>
            <a:r>
              <a:rPr lang="en-US" sz="1600" b="0" dirty="0">
                <a:solidFill>
                  <a:srgbClr val="181C23"/>
                </a:solidFill>
                <a:latin typeface="Funnel Sans"/>
              </a:rPr>
              <a:t>mapping, plan and tests</a:t>
            </a:r>
            <a:endParaRPr lang="en-US" sz="1600"/>
          </a:p>
        </p:txBody>
      </p:sp>
      <p:cxnSp>
        <p:nvCxnSpPr>
          <p:cNvPr id="17" name="connector 17"/>
          <p:cNvCxnSpPr/>
          <p:nvPr/>
        </p:nvCxnSpPr>
        <p:spPr>
          <a:xfrm>
            <a:off x="3860800" y="3352800"/>
            <a:ext cx="4358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8219440" y="2628900"/>
            <a:ext cx="3464560" cy="723900"/>
          </a:xfrm>
          <a:prstGeom prst="rect">
            <a:avLst/>
          </a:prstGeom>
          <a:solidFill>
            <a:srgbClr val="FFFFFF"/>
          </a:solidFill>
          <a:ln>
            <a:noFill/>
          </a:ln>
        </p:spPr>
      </p:sp>
      <p:sp>
        <p:nvSpPr>
          <p:cNvPr id="19" name="text 19"/>
          <p:cNvSpPr/>
          <p:nvPr/>
        </p:nvSpPr>
        <p:spPr>
          <a:xfrm>
            <a:off x="8346440" y="2679700"/>
            <a:ext cx="3210560" cy="6223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Purpose, taxonomy, intended</a:t>
            </a:r>
            <a:endParaRPr lang="en-US" sz="1600"/>
          </a:p>
          <a:p>
            <a:pPr algn="l">
              <a:lnSpc>
                <a:spcPts val="1824"/>
              </a:lnSpc>
              <a:spcAft>
                <a:spcPts val="0"/>
              </a:spcAft>
            </a:pPr>
            <a:r>
              <a:rPr lang="en-US" sz="1600" b="0" dirty="0">
                <a:solidFill>
                  <a:srgbClr val="181C23"/>
                </a:solidFill>
                <a:latin typeface="Funnel Sans"/>
              </a:rPr>
              <a:t>users and future scope</a:t>
            </a:r>
            <a:endParaRPr lang="en-US" sz="1600"/>
          </a:p>
        </p:txBody>
      </p:sp>
      <p:cxnSp>
        <p:nvCxnSpPr>
          <p:cNvPr id="20" name="connector 20"/>
          <p:cNvCxnSpPr/>
          <p:nvPr/>
        </p:nvCxnSpPr>
        <p:spPr>
          <a:xfrm>
            <a:off x="8219440" y="3352800"/>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352800"/>
            <a:ext cx="3352800" cy="723900"/>
          </a:xfrm>
          <a:prstGeom prst="rect">
            <a:avLst/>
          </a:prstGeom>
          <a:solidFill>
            <a:srgbClr val="EFEEE9"/>
          </a:solidFill>
          <a:ln>
            <a:noFill/>
          </a:ln>
        </p:spPr>
      </p:sp>
      <p:sp>
        <p:nvSpPr>
          <p:cNvPr id="22" name="text 22"/>
          <p:cNvSpPr/>
          <p:nvPr/>
        </p:nvSpPr>
        <p:spPr>
          <a:xfrm>
            <a:off x="635000" y="3403600"/>
            <a:ext cx="3098800" cy="6223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MVP test plan workbook</a:t>
            </a:r>
            <a:endParaRPr lang="en-US" sz="1600"/>
          </a:p>
        </p:txBody>
      </p:sp>
      <p:cxnSp>
        <p:nvCxnSpPr>
          <p:cNvPr id="23" name="connector 23"/>
          <p:cNvCxnSpPr/>
          <p:nvPr/>
        </p:nvCxnSpPr>
        <p:spPr>
          <a:xfrm>
            <a:off x="508000" y="407670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3860800" y="3352800"/>
            <a:ext cx="4358640" cy="723900"/>
          </a:xfrm>
          <a:prstGeom prst="rect">
            <a:avLst/>
          </a:prstGeom>
          <a:solidFill>
            <a:srgbClr val="EFEEE9"/>
          </a:solidFill>
          <a:ln>
            <a:noFill/>
          </a:ln>
        </p:spPr>
      </p:sp>
      <p:sp>
        <p:nvSpPr>
          <p:cNvPr id="25" name="text 25"/>
          <p:cNvSpPr/>
          <p:nvPr/>
        </p:nvSpPr>
        <p:spPr>
          <a:xfrm>
            <a:off x="3987800" y="3403600"/>
            <a:ext cx="4104640" cy="6223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5 sheets; Plan A/B, diagnostics, coverage</a:t>
            </a:r>
            <a:endParaRPr lang="en-US" sz="1600"/>
          </a:p>
          <a:p>
            <a:pPr algn="l">
              <a:lnSpc>
                <a:spcPts val="1824"/>
              </a:lnSpc>
              <a:spcAft>
                <a:spcPts val="0"/>
              </a:spcAft>
            </a:pPr>
            <a:r>
              <a:rPr lang="en-US" sz="1600" b="0" dirty="0">
                <a:solidFill>
                  <a:srgbClr val="181C23"/>
                </a:solidFill>
                <a:latin typeface="Funnel Sans"/>
              </a:rPr>
              <a:t>and decisions</a:t>
            </a:r>
            <a:endParaRPr lang="en-US" sz="1600"/>
          </a:p>
        </p:txBody>
      </p:sp>
      <p:cxnSp>
        <p:nvCxnSpPr>
          <p:cNvPr id="26" name="connector 26"/>
          <p:cNvCxnSpPr/>
          <p:nvPr/>
        </p:nvCxnSpPr>
        <p:spPr>
          <a:xfrm>
            <a:off x="3860800" y="4076700"/>
            <a:ext cx="4358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8219440" y="3352800"/>
            <a:ext cx="3464560" cy="723900"/>
          </a:xfrm>
          <a:prstGeom prst="rect">
            <a:avLst/>
          </a:prstGeom>
          <a:solidFill>
            <a:srgbClr val="EFEEE9"/>
          </a:solidFill>
          <a:ln>
            <a:noFill/>
          </a:ln>
        </p:spPr>
      </p:sp>
      <p:sp>
        <p:nvSpPr>
          <p:cNvPr id="28" name="text 28"/>
          <p:cNvSpPr/>
          <p:nvPr/>
        </p:nvSpPr>
        <p:spPr>
          <a:xfrm>
            <a:off x="8346440" y="3403600"/>
            <a:ext cx="3210560" cy="6223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20-row inventory and</a:t>
            </a:r>
            <a:endParaRPr lang="en-US" sz="1600"/>
          </a:p>
          <a:p>
            <a:pPr algn="l">
              <a:lnSpc>
                <a:spcPts val="1824"/>
              </a:lnSpc>
              <a:spcAft>
                <a:spcPts val="0"/>
              </a:spcAft>
            </a:pPr>
            <a:r>
              <a:rPr lang="en-US" sz="1600" b="0" dirty="0">
                <a:solidFill>
                  <a:srgbClr val="181C23"/>
                </a:solidFill>
                <a:latin typeface="Funnel Sans"/>
              </a:rPr>
              <a:t>deferred-method intent</a:t>
            </a:r>
            <a:endParaRPr lang="en-US" sz="1600"/>
          </a:p>
        </p:txBody>
      </p:sp>
      <p:cxnSp>
        <p:nvCxnSpPr>
          <p:cNvPr id="29" name="connector 29"/>
          <p:cNvCxnSpPr/>
          <p:nvPr/>
        </p:nvCxnSpPr>
        <p:spPr>
          <a:xfrm>
            <a:off x="8219440" y="4076700"/>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076700"/>
            <a:ext cx="3352800" cy="723900"/>
          </a:xfrm>
          <a:prstGeom prst="rect">
            <a:avLst/>
          </a:prstGeom>
          <a:solidFill>
            <a:srgbClr val="FFFFFF"/>
          </a:solidFill>
          <a:ln>
            <a:noFill/>
          </a:ln>
        </p:spPr>
      </p:sp>
      <p:sp>
        <p:nvSpPr>
          <p:cNvPr id="31" name="text 31"/>
          <p:cNvSpPr/>
          <p:nvPr/>
        </p:nvSpPr>
        <p:spPr>
          <a:xfrm>
            <a:off x="635000" y="4127500"/>
            <a:ext cx="3098800" cy="6223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DataQuality_Framework.pptx</a:t>
            </a:r>
            <a:endParaRPr lang="en-US" sz="1600"/>
          </a:p>
        </p:txBody>
      </p:sp>
      <p:cxnSp>
        <p:nvCxnSpPr>
          <p:cNvPr id="32" name="connector 32"/>
          <p:cNvCxnSpPr/>
          <p:nvPr/>
        </p:nvCxnSpPr>
        <p:spPr>
          <a:xfrm>
            <a:off x="508000" y="480060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3860800" y="4076700"/>
            <a:ext cx="4358640" cy="723900"/>
          </a:xfrm>
          <a:prstGeom prst="rect">
            <a:avLst/>
          </a:prstGeom>
          <a:solidFill>
            <a:srgbClr val="FFFFFF"/>
          </a:solidFill>
          <a:ln>
            <a:noFill/>
          </a:ln>
        </p:spPr>
      </p:sp>
      <p:sp>
        <p:nvSpPr>
          <p:cNvPr id="34" name="text 34"/>
          <p:cNvSpPr/>
          <p:nvPr/>
        </p:nvSpPr>
        <p:spPr>
          <a:xfrm>
            <a:off x="3987800" y="4127500"/>
            <a:ext cx="4104640" cy="6223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5 slides; text, shapes, theme/layout and</a:t>
            </a:r>
            <a:endParaRPr lang="en-US" sz="1600"/>
          </a:p>
          <a:p>
            <a:pPr algn="l">
              <a:lnSpc>
                <a:spcPts val="1824"/>
              </a:lnSpc>
              <a:spcAft>
                <a:spcPts val="0"/>
              </a:spcAft>
            </a:pPr>
            <a:r>
              <a:rPr lang="en-US" sz="1600" b="0" dirty="0">
                <a:solidFill>
                  <a:srgbClr val="181C23"/>
                </a:solidFill>
                <a:latin typeface="Funnel Sans"/>
              </a:rPr>
              <a:t>available notes</a:t>
            </a:r>
            <a:endParaRPr lang="en-US" sz="1600"/>
          </a:p>
        </p:txBody>
      </p:sp>
      <p:cxnSp>
        <p:nvCxnSpPr>
          <p:cNvPr id="35" name="connector 35"/>
          <p:cNvCxnSpPr/>
          <p:nvPr/>
        </p:nvCxnSpPr>
        <p:spPr>
          <a:xfrm>
            <a:off x="3860800" y="4800600"/>
            <a:ext cx="4358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8219440" y="4076700"/>
            <a:ext cx="3464560" cy="723900"/>
          </a:xfrm>
          <a:prstGeom prst="rect">
            <a:avLst/>
          </a:prstGeom>
          <a:solidFill>
            <a:srgbClr val="FFFFFF"/>
          </a:solidFill>
          <a:ln>
            <a:noFill/>
          </a:ln>
        </p:spPr>
      </p:sp>
      <p:sp>
        <p:nvSpPr>
          <p:cNvPr id="37" name="text 37"/>
          <p:cNvSpPr/>
          <p:nvPr/>
        </p:nvSpPr>
        <p:spPr>
          <a:xfrm>
            <a:off x="8346440" y="4127500"/>
            <a:ext cx="3210560" cy="6223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Historical product framing; lower</a:t>
            </a:r>
            <a:endParaRPr lang="en-US" sz="1600"/>
          </a:p>
          <a:p>
            <a:pPr algn="l">
              <a:lnSpc>
                <a:spcPts val="1824"/>
              </a:lnSpc>
              <a:spcAft>
                <a:spcPts val="0"/>
              </a:spcAft>
            </a:pPr>
            <a:r>
              <a:rPr lang="en-US" sz="1600" b="0" dirty="0">
                <a:solidFill>
                  <a:srgbClr val="181C23"/>
                </a:solidFill>
                <a:latin typeface="Funnel Sans"/>
              </a:rPr>
              <a:t>priority than code</a:t>
            </a:r>
            <a:endParaRPr lang="en-US" sz="1600"/>
          </a:p>
        </p:txBody>
      </p:sp>
      <p:cxnSp>
        <p:nvCxnSpPr>
          <p:cNvPr id="38" name="connector 38"/>
          <p:cNvCxnSpPr/>
          <p:nvPr/>
        </p:nvCxnSpPr>
        <p:spPr>
          <a:xfrm>
            <a:off x="8219440" y="4800600"/>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800600"/>
            <a:ext cx="3352800" cy="723900"/>
          </a:xfrm>
          <a:prstGeom prst="rect">
            <a:avLst/>
          </a:prstGeom>
          <a:solidFill>
            <a:srgbClr val="EFEEE9"/>
          </a:solidFill>
          <a:ln>
            <a:noFill/>
          </a:ln>
        </p:spPr>
      </p:sp>
      <p:sp>
        <p:nvSpPr>
          <p:cNvPr id="40" name="text 40"/>
          <p:cNvSpPr/>
          <p:nvPr/>
        </p:nvSpPr>
        <p:spPr>
          <a:xfrm>
            <a:off x="635000" y="4851400"/>
            <a:ext cx="3098800" cy="6223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AI and Accelerators_Risk.pptx</a:t>
            </a:r>
            <a:endParaRPr lang="en-US" sz="1600"/>
          </a:p>
        </p:txBody>
      </p:sp>
      <p:cxnSp>
        <p:nvCxnSpPr>
          <p:cNvPr id="41" name="connector 41"/>
          <p:cNvCxnSpPr/>
          <p:nvPr/>
        </p:nvCxnSpPr>
        <p:spPr>
          <a:xfrm>
            <a:off x="508000" y="5524500"/>
            <a:ext cx="33528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3860800" y="4800600"/>
            <a:ext cx="4358640" cy="723900"/>
          </a:xfrm>
          <a:prstGeom prst="rect">
            <a:avLst/>
          </a:prstGeom>
          <a:solidFill>
            <a:srgbClr val="EFEEE9"/>
          </a:solidFill>
          <a:ln>
            <a:noFill/>
          </a:ln>
        </p:spPr>
      </p:sp>
      <p:sp>
        <p:nvSpPr>
          <p:cNvPr id="43" name="text 43"/>
          <p:cNvSpPr/>
          <p:nvPr/>
        </p:nvSpPr>
        <p:spPr>
          <a:xfrm>
            <a:off x="3987800" y="4851400"/>
            <a:ext cx="4104640" cy="6223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4 slides; slide 4 design inspected in detail</a:t>
            </a:r>
            <a:endParaRPr lang="en-US" sz="1600"/>
          </a:p>
        </p:txBody>
      </p:sp>
      <p:cxnSp>
        <p:nvCxnSpPr>
          <p:cNvPr id="44" name="connector 44"/>
          <p:cNvCxnSpPr/>
          <p:nvPr/>
        </p:nvCxnSpPr>
        <p:spPr>
          <a:xfrm>
            <a:off x="3860800" y="5524500"/>
            <a:ext cx="4358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8219440" y="4800600"/>
            <a:ext cx="3464560" cy="723900"/>
          </a:xfrm>
          <a:prstGeom prst="rect">
            <a:avLst/>
          </a:prstGeom>
          <a:solidFill>
            <a:srgbClr val="EFEEE9"/>
          </a:solidFill>
          <a:ln>
            <a:noFill/>
          </a:ln>
        </p:spPr>
      </p:sp>
      <p:sp>
        <p:nvSpPr>
          <p:cNvPr id="46" name="text 46"/>
          <p:cNvSpPr/>
          <p:nvPr/>
        </p:nvSpPr>
        <p:spPr>
          <a:xfrm>
            <a:off x="8346440" y="4851400"/>
            <a:ext cx="3210560" cy="62230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Cream cards, coral ordinals, dark</a:t>
            </a:r>
            <a:endParaRPr lang="en-US" sz="1600"/>
          </a:p>
          <a:p>
            <a:pPr algn="l">
              <a:lnSpc>
                <a:spcPts val="1824"/>
              </a:lnSpc>
              <a:spcAft>
                <a:spcPts val="0"/>
              </a:spcAft>
            </a:pPr>
            <a:r>
              <a:rPr lang="en-US" sz="1600" b="0" dirty="0">
                <a:solidFill>
                  <a:srgbClr val="181C23"/>
                </a:solidFill>
                <a:latin typeface="Funnel Sans"/>
              </a:rPr>
              <a:t>bands, Funnel Sans</a:t>
            </a:r>
            <a:endParaRPr lang="en-US" sz="1600"/>
          </a:p>
        </p:txBody>
      </p:sp>
      <p:cxnSp>
        <p:nvCxnSpPr>
          <p:cNvPr id="47" name="connector 47"/>
          <p:cNvCxnSpPr/>
          <p:nvPr/>
        </p:nvCxnSpPr>
        <p:spPr>
          <a:xfrm>
            <a:off x="8219440" y="5524500"/>
            <a:ext cx="34645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5740400"/>
            <a:ext cx="11176000" cy="546100"/>
          </a:xfrm>
          <a:prstGeom prst="rect">
            <a:avLst/>
          </a:prstGeom>
          <a:solidFill>
            <a:srgbClr val="282A27"/>
          </a:solidFill>
          <a:ln>
            <a:noFill/>
          </a:ln>
        </p:spPr>
      </p:sp>
      <p:sp>
        <p:nvSpPr>
          <p:cNvPr id="49" name="text 49"/>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Source files remain unchanged. Native rendering limitations of the supplied decks are documented.</a:t>
            </a:r>
            <a:endParaRPr lang="en-US" sz="1600"/>
          </a:p>
        </p:txBody>
      </p:sp>
      <p:cxnSp>
        <p:nvCxnSpPr>
          <p:cNvPr id="50" name="connector 50"/>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text 51"/>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52" name="text 52"/>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76 / 87</a:t>
            </a:r>
            <a:endParaRPr lang="en-US" sz="100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CAPABILITY BOUNDARY</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Show implemented controls beside the remaining enterprise</a:t>
            </a:r>
            <a:endParaRPr lang="en-US" sz="2900"/>
          </a:p>
          <a:p>
            <a:pPr algn="l">
              <a:lnSpc>
                <a:spcPts val="3306"/>
              </a:lnSpc>
              <a:spcAft>
                <a:spcPts val="0"/>
              </a:spcAft>
            </a:pPr>
            <a:r>
              <a:rPr lang="en-US" sz="2900" b="1" dirty="0">
                <a:solidFill>
                  <a:srgbClr val="181C23"/>
                </a:solidFill>
                <a:latin typeface="Funnel Sans"/>
              </a:rPr>
              <a:t>work</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presentation is enterprise-facing; readiness for a specific enterprise deployment needs validation.</a:t>
            </a:r>
            <a:endParaRPr lang="en-US" sz="1500"/>
          </a:p>
        </p:txBody>
      </p:sp>
      <p:sp>
        <p:nvSpPr>
          <p:cNvPr id="6" name="shape 6"/>
          <p:cNvSpPr/>
          <p:nvPr/>
        </p:nvSpPr>
        <p:spPr>
          <a:xfrm>
            <a:off x="508000" y="2209800"/>
            <a:ext cx="5476240" cy="457200"/>
          </a:xfrm>
          <a:prstGeom prst="rect">
            <a:avLst/>
          </a:prstGeom>
          <a:solidFill>
            <a:srgbClr val="282A27"/>
          </a:solidFill>
          <a:ln>
            <a:noFill/>
          </a:ln>
        </p:spPr>
      </p:sp>
      <p:sp>
        <p:nvSpPr>
          <p:cNvPr id="7" name="text 7"/>
          <p:cNvSpPr/>
          <p:nvPr/>
        </p:nvSpPr>
        <p:spPr>
          <a:xfrm>
            <a:off x="635000" y="2324100"/>
            <a:ext cx="52222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Implemented / evidenced</a:t>
            </a:r>
            <a:endParaRPr lang="en-US" sz="1200"/>
          </a:p>
        </p:txBody>
      </p:sp>
      <p:sp>
        <p:nvSpPr>
          <p:cNvPr id="8" name="shape 8"/>
          <p:cNvSpPr/>
          <p:nvPr/>
        </p:nvSpPr>
        <p:spPr>
          <a:xfrm>
            <a:off x="5984240" y="2209800"/>
            <a:ext cx="5699760" cy="457200"/>
          </a:xfrm>
          <a:prstGeom prst="rect">
            <a:avLst/>
          </a:prstGeom>
          <a:solidFill>
            <a:srgbClr val="282A27"/>
          </a:solidFill>
          <a:ln>
            <a:noFill/>
          </a:ln>
        </p:spPr>
      </p:sp>
      <p:sp>
        <p:nvSpPr>
          <p:cNvPr id="9" name="text 9"/>
          <p:cNvSpPr/>
          <p:nvPr/>
        </p:nvSpPr>
        <p:spPr>
          <a:xfrm>
            <a:off x="6111240" y="2324100"/>
            <a:ext cx="54457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Planned, proposed or to be validated</a:t>
            </a:r>
            <a:endParaRPr lang="en-US" sz="1200"/>
          </a:p>
        </p:txBody>
      </p:sp>
      <p:sp>
        <p:nvSpPr>
          <p:cNvPr id="10" name="shape 10"/>
          <p:cNvSpPr/>
          <p:nvPr/>
        </p:nvSpPr>
        <p:spPr>
          <a:xfrm>
            <a:off x="508000" y="2667000"/>
            <a:ext cx="5476240" cy="501650"/>
          </a:xfrm>
          <a:prstGeom prst="rect">
            <a:avLst/>
          </a:prstGeom>
          <a:solidFill>
            <a:srgbClr val="FFFFFF"/>
          </a:solidFill>
          <a:ln>
            <a:noFill/>
          </a:ln>
        </p:spPr>
      </p:sp>
      <p:sp>
        <p:nvSpPr>
          <p:cNvPr id="11" name="text 11"/>
          <p:cNvSpPr/>
          <p:nvPr/>
        </p:nvSpPr>
        <p:spPr>
          <a:xfrm>
            <a:off x="635000" y="2717800"/>
            <a:ext cx="5222240" cy="40005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Versioned sourcing, profiles, ready snapshots</a:t>
            </a:r>
            <a:endParaRPr lang="en-US" sz="1600"/>
          </a:p>
        </p:txBody>
      </p:sp>
      <p:cxnSp>
        <p:nvCxnSpPr>
          <p:cNvPr id="12" name="connector 12"/>
          <p:cNvCxnSpPr/>
          <p:nvPr/>
        </p:nvCxnSpPr>
        <p:spPr>
          <a:xfrm>
            <a:off x="508000" y="3168650"/>
            <a:ext cx="5476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5984240" y="2667000"/>
            <a:ext cx="5699760" cy="501650"/>
          </a:xfrm>
          <a:prstGeom prst="rect">
            <a:avLst/>
          </a:prstGeom>
          <a:solidFill>
            <a:srgbClr val="FFFFFF"/>
          </a:solidFill>
          <a:ln>
            <a:noFill/>
          </a:ln>
        </p:spPr>
      </p:sp>
      <p:sp>
        <p:nvSpPr>
          <p:cNvPr id="14" name="text 14"/>
          <p:cNvSpPr/>
          <p:nvPr/>
        </p:nvSpPr>
        <p:spPr>
          <a:xfrm>
            <a:off x="6111240" y="2717800"/>
            <a:ext cx="5445760" cy="40005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Automated source-system remediation</a:t>
            </a:r>
            <a:endParaRPr lang="en-US" sz="1600"/>
          </a:p>
        </p:txBody>
      </p:sp>
      <p:cxnSp>
        <p:nvCxnSpPr>
          <p:cNvPr id="15" name="connector 15"/>
          <p:cNvCxnSpPr/>
          <p:nvPr/>
        </p:nvCxnSpPr>
        <p:spPr>
          <a:xfrm>
            <a:off x="5984240" y="3168650"/>
            <a:ext cx="56997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508000" y="3168650"/>
            <a:ext cx="5476240" cy="501650"/>
          </a:xfrm>
          <a:prstGeom prst="rect">
            <a:avLst/>
          </a:prstGeom>
          <a:solidFill>
            <a:srgbClr val="EFEEE9"/>
          </a:solidFill>
          <a:ln>
            <a:noFill/>
          </a:ln>
        </p:spPr>
      </p:sp>
      <p:sp>
        <p:nvSpPr>
          <p:cNvPr id="17" name="text 17"/>
          <p:cNvSpPr/>
          <p:nvPr/>
        </p:nvSpPr>
        <p:spPr>
          <a:xfrm>
            <a:off x="635000" y="3219450"/>
            <a:ext cx="5222240" cy="40005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Five enabled diagnostics; one implemented paused</a:t>
            </a:r>
            <a:endParaRPr lang="en-US" sz="1600"/>
          </a:p>
        </p:txBody>
      </p:sp>
      <p:cxnSp>
        <p:nvCxnSpPr>
          <p:cNvPr id="18" name="connector 18"/>
          <p:cNvCxnSpPr/>
          <p:nvPr/>
        </p:nvCxnSpPr>
        <p:spPr>
          <a:xfrm>
            <a:off x="508000" y="3670300"/>
            <a:ext cx="5476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9" name="shape 19"/>
          <p:cNvSpPr/>
          <p:nvPr/>
        </p:nvSpPr>
        <p:spPr>
          <a:xfrm>
            <a:off x="5984240" y="3168650"/>
            <a:ext cx="5699760" cy="501650"/>
          </a:xfrm>
          <a:prstGeom prst="rect">
            <a:avLst/>
          </a:prstGeom>
          <a:solidFill>
            <a:srgbClr val="EFEEE9"/>
          </a:solidFill>
          <a:ln>
            <a:noFill/>
          </a:ln>
        </p:spPr>
      </p:sp>
      <p:sp>
        <p:nvSpPr>
          <p:cNvPr id="20" name="text 20"/>
          <p:cNvSpPr/>
          <p:nvPr/>
        </p:nvSpPr>
        <p:spPr>
          <a:xfrm>
            <a:off x="6111240" y="3219450"/>
            <a:ext cx="5445760" cy="40005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D04 re-enablement; D12/D17/D20 acceptance</a:t>
            </a:r>
            <a:endParaRPr lang="en-US" sz="1600"/>
          </a:p>
        </p:txBody>
      </p:sp>
      <p:cxnSp>
        <p:nvCxnSpPr>
          <p:cNvPr id="21" name="connector 21"/>
          <p:cNvCxnSpPr/>
          <p:nvPr/>
        </p:nvCxnSpPr>
        <p:spPr>
          <a:xfrm>
            <a:off x="5984240" y="3670300"/>
            <a:ext cx="56997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2" name="shape 22"/>
          <p:cNvSpPr/>
          <p:nvPr/>
        </p:nvSpPr>
        <p:spPr>
          <a:xfrm>
            <a:off x="508000" y="3670300"/>
            <a:ext cx="5476240" cy="501650"/>
          </a:xfrm>
          <a:prstGeom prst="rect">
            <a:avLst/>
          </a:prstGeom>
          <a:solidFill>
            <a:srgbClr val="FFFFFF"/>
          </a:solidFill>
          <a:ln>
            <a:noFill/>
          </a:ln>
        </p:spPr>
      </p:sp>
      <p:sp>
        <p:nvSpPr>
          <p:cNvPr id="23" name="text 23"/>
          <p:cNvSpPr/>
          <p:nvPr/>
        </p:nvSpPr>
        <p:spPr>
          <a:xfrm>
            <a:off x="635000" y="3721100"/>
            <a:ext cx="5222240" cy="40005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Human finding decisions and approved RCA conclusion</a:t>
            </a:r>
            <a:endParaRPr lang="en-US" sz="1550"/>
          </a:p>
        </p:txBody>
      </p:sp>
      <p:cxnSp>
        <p:nvCxnSpPr>
          <p:cNvPr id="24" name="connector 24"/>
          <p:cNvCxnSpPr/>
          <p:nvPr/>
        </p:nvCxnSpPr>
        <p:spPr>
          <a:xfrm>
            <a:off x="508000" y="4171950"/>
            <a:ext cx="5476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5984240" y="3670300"/>
            <a:ext cx="5699760" cy="501650"/>
          </a:xfrm>
          <a:prstGeom prst="rect">
            <a:avLst/>
          </a:prstGeom>
          <a:solidFill>
            <a:srgbClr val="FFFFFF"/>
          </a:solidFill>
          <a:ln>
            <a:noFill/>
          </a:ln>
        </p:spPr>
      </p:sp>
      <p:sp>
        <p:nvSpPr>
          <p:cNvPr id="26" name="text 26"/>
          <p:cNvSpPr/>
          <p:nvPr/>
        </p:nvSpPr>
        <p:spPr>
          <a:xfrm>
            <a:off x="6111240" y="3721100"/>
            <a:ext cx="5445760" cy="40005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Enforced fresh-data retest before remediation completion</a:t>
            </a:r>
            <a:endParaRPr lang="en-US" sz="1550"/>
          </a:p>
        </p:txBody>
      </p:sp>
      <p:cxnSp>
        <p:nvCxnSpPr>
          <p:cNvPr id="27" name="connector 27"/>
          <p:cNvCxnSpPr/>
          <p:nvPr/>
        </p:nvCxnSpPr>
        <p:spPr>
          <a:xfrm>
            <a:off x="5984240" y="4171950"/>
            <a:ext cx="56997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508000" y="4171950"/>
            <a:ext cx="5476240" cy="501650"/>
          </a:xfrm>
          <a:prstGeom prst="rect">
            <a:avLst/>
          </a:prstGeom>
          <a:solidFill>
            <a:srgbClr val="EFEEE9"/>
          </a:solidFill>
          <a:ln>
            <a:noFill/>
          </a:ln>
        </p:spPr>
      </p:sp>
      <p:sp>
        <p:nvSpPr>
          <p:cNvPr id="29" name="text 29"/>
          <p:cNvSpPr/>
          <p:nvPr/>
        </p:nvSpPr>
        <p:spPr>
          <a:xfrm>
            <a:off x="635000" y="4222750"/>
            <a:ext cx="5222240" cy="40005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Admin, KB editor and KB reviewer role gates</a:t>
            </a:r>
            <a:endParaRPr lang="en-US" sz="1600"/>
          </a:p>
        </p:txBody>
      </p:sp>
      <p:cxnSp>
        <p:nvCxnSpPr>
          <p:cNvPr id="30" name="connector 30"/>
          <p:cNvCxnSpPr/>
          <p:nvPr/>
        </p:nvCxnSpPr>
        <p:spPr>
          <a:xfrm>
            <a:off x="508000" y="4673600"/>
            <a:ext cx="5476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1" name="shape 31"/>
          <p:cNvSpPr/>
          <p:nvPr/>
        </p:nvSpPr>
        <p:spPr>
          <a:xfrm>
            <a:off x="5984240" y="4171950"/>
            <a:ext cx="5699760" cy="501650"/>
          </a:xfrm>
          <a:prstGeom prst="rect">
            <a:avLst/>
          </a:prstGeom>
          <a:solidFill>
            <a:srgbClr val="EFEEE9"/>
          </a:solidFill>
          <a:ln>
            <a:noFill/>
          </a:ln>
        </p:spPr>
      </p:sp>
      <p:sp>
        <p:nvSpPr>
          <p:cNvPr id="32" name="text 32"/>
          <p:cNvSpPr/>
          <p:nvPr/>
        </p:nvSpPr>
        <p:spPr>
          <a:xfrm>
            <a:off x="6111240" y="4222750"/>
            <a:ext cx="5445760" cy="400050"/>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Enterprise identity and comprehensive route/asset authorization</a:t>
            </a:r>
            <a:endParaRPr lang="en-US" sz="1400"/>
          </a:p>
        </p:txBody>
      </p:sp>
      <p:cxnSp>
        <p:nvCxnSpPr>
          <p:cNvPr id="33" name="connector 33"/>
          <p:cNvCxnSpPr/>
          <p:nvPr/>
        </p:nvCxnSpPr>
        <p:spPr>
          <a:xfrm>
            <a:off x="5984240" y="4673600"/>
            <a:ext cx="56997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4" name="shape 34"/>
          <p:cNvSpPr/>
          <p:nvPr/>
        </p:nvSpPr>
        <p:spPr>
          <a:xfrm>
            <a:off x="508000" y="4673600"/>
            <a:ext cx="5476240" cy="501650"/>
          </a:xfrm>
          <a:prstGeom prst="rect">
            <a:avLst/>
          </a:prstGeom>
          <a:solidFill>
            <a:srgbClr val="FFFFFF"/>
          </a:solidFill>
          <a:ln>
            <a:noFill/>
          </a:ln>
        </p:spPr>
      </p:sp>
      <p:sp>
        <p:nvSpPr>
          <p:cNvPr id="35" name="text 35"/>
          <p:cNvSpPr/>
          <p:nvPr/>
        </p:nvSpPr>
        <p:spPr>
          <a:xfrm>
            <a:off x="635000" y="4724400"/>
            <a:ext cx="5222240" cy="40005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AAR lineage and exact compatible reuse</a:t>
            </a:r>
            <a:endParaRPr lang="en-US" sz="1600"/>
          </a:p>
        </p:txBody>
      </p:sp>
      <p:cxnSp>
        <p:nvCxnSpPr>
          <p:cNvPr id="36" name="connector 36"/>
          <p:cNvCxnSpPr/>
          <p:nvPr/>
        </p:nvCxnSpPr>
        <p:spPr>
          <a:xfrm>
            <a:off x="508000" y="5175250"/>
            <a:ext cx="5476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5984240" y="4673600"/>
            <a:ext cx="5699760" cy="501650"/>
          </a:xfrm>
          <a:prstGeom prst="rect">
            <a:avLst/>
          </a:prstGeom>
          <a:solidFill>
            <a:srgbClr val="FFFFFF"/>
          </a:solidFill>
          <a:ln>
            <a:noFill/>
          </a:ln>
        </p:spPr>
      </p:sp>
      <p:sp>
        <p:nvSpPr>
          <p:cNvPr id="38" name="text 38"/>
          <p:cNvSpPr/>
          <p:nvPr/>
        </p:nvSpPr>
        <p:spPr>
          <a:xfrm>
            <a:off x="6111240" y="4724400"/>
            <a:ext cx="5445760" cy="40005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Full scheduled drift/degradation monitoring</a:t>
            </a:r>
            <a:endParaRPr lang="en-US" sz="1600"/>
          </a:p>
        </p:txBody>
      </p:sp>
      <p:cxnSp>
        <p:nvCxnSpPr>
          <p:cNvPr id="39" name="connector 39"/>
          <p:cNvCxnSpPr/>
          <p:nvPr/>
        </p:nvCxnSpPr>
        <p:spPr>
          <a:xfrm>
            <a:off x="5984240" y="5175250"/>
            <a:ext cx="56997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0" name="shape 40"/>
          <p:cNvSpPr/>
          <p:nvPr/>
        </p:nvSpPr>
        <p:spPr>
          <a:xfrm>
            <a:off x="508000" y="5175250"/>
            <a:ext cx="5476240" cy="501650"/>
          </a:xfrm>
          <a:prstGeom prst="rect">
            <a:avLst/>
          </a:prstGeom>
          <a:solidFill>
            <a:srgbClr val="EFEEE9"/>
          </a:solidFill>
          <a:ln>
            <a:noFill/>
          </a:ln>
        </p:spPr>
      </p:sp>
      <p:sp>
        <p:nvSpPr>
          <p:cNvPr id="41" name="text 41"/>
          <p:cNvSpPr/>
          <p:nvPr/>
        </p:nvSpPr>
        <p:spPr>
          <a:xfrm>
            <a:off x="635000" y="5226050"/>
            <a:ext cx="5222240" cy="40005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D08 semantic artifacts and descriptive missingness</a:t>
            </a:r>
            <a:endParaRPr lang="en-US" sz="1600"/>
          </a:p>
        </p:txBody>
      </p:sp>
      <p:cxnSp>
        <p:nvCxnSpPr>
          <p:cNvPr id="42" name="connector 42"/>
          <p:cNvCxnSpPr/>
          <p:nvPr/>
        </p:nvCxnSpPr>
        <p:spPr>
          <a:xfrm>
            <a:off x="508000" y="5676900"/>
            <a:ext cx="54762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3" name="shape 43"/>
          <p:cNvSpPr/>
          <p:nvPr/>
        </p:nvSpPr>
        <p:spPr>
          <a:xfrm>
            <a:off x="5984240" y="5175250"/>
            <a:ext cx="5699760" cy="501650"/>
          </a:xfrm>
          <a:prstGeom prst="rect">
            <a:avLst/>
          </a:prstGeom>
          <a:solidFill>
            <a:srgbClr val="EFEEE9"/>
          </a:solidFill>
          <a:ln>
            <a:noFill/>
          </a:ln>
        </p:spPr>
      </p:sp>
      <p:sp>
        <p:nvSpPr>
          <p:cNvPr id="44" name="text 44"/>
          <p:cNvSpPr/>
          <p:nvPr/>
        </p:nvSpPr>
        <p:spPr>
          <a:xfrm>
            <a:off x="6111240" y="5226050"/>
            <a:ext cx="5445760" cy="40005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Uniform downstream consumption of semantic tags</a:t>
            </a:r>
            <a:endParaRPr lang="en-US" sz="1600"/>
          </a:p>
        </p:txBody>
      </p:sp>
      <p:cxnSp>
        <p:nvCxnSpPr>
          <p:cNvPr id="45" name="connector 45"/>
          <p:cNvCxnSpPr/>
          <p:nvPr/>
        </p:nvCxnSpPr>
        <p:spPr>
          <a:xfrm>
            <a:off x="5984240" y="5676900"/>
            <a:ext cx="56997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6" name="shape 46"/>
          <p:cNvSpPr/>
          <p:nvPr/>
        </p:nvSpPr>
        <p:spPr>
          <a:xfrm>
            <a:off x="508000" y="5740400"/>
            <a:ext cx="11176000" cy="546100"/>
          </a:xfrm>
          <a:prstGeom prst="rect">
            <a:avLst/>
          </a:prstGeom>
          <a:solidFill>
            <a:srgbClr val="282A27"/>
          </a:solidFill>
          <a:ln>
            <a:noFill/>
          </a:ln>
        </p:spPr>
      </p:sp>
      <p:sp>
        <p:nvSpPr>
          <p:cNvPr id="47" name="text 4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Product-owner review should confirm availability, methodology defaults and the enterprise closure policy.</a:t>
            </a:r>
            <a:endParaRPr lang="en-US" sz="1600"/>
          </a:p>
        </p:txBody>
      </p:sp>
      <p:cxnSp>
        <p:nvCxnSpPr>
          <p:cNvPr id="48" name="connector 4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9" name="text 4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50" name="text 5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77 / 87</a:t>
            </a:r>
            <a:endParaRPr lang="en-US" sz="100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ASSUMPTIONS</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Resolve source conflicts in favor of the current implementation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Historical documents are retained as evidence, with their superseded statements called out.</a:t>
            </a:r>
            <a:endParaRPr lang="en-US" sz="1500"/>
          </a:p>
        </p:txBody>
      </p:sp>
      <p:sp>
        <p:nvSpPr>
          <p:cNvPr id="6" name="shape 6"/>
          <p:cNvSpPr/>
          <p:nvPr/>
        </p:nvSpPr>
        <p:spPr>
          <a:xfrm>
            <a:off x="508000" y="2197100"/>
            <a:ext cx="4582160" cy="457200"/>
          </a:xfrm>
          <a:prstGeom prst="rect">
            <a:avLst/>
          </a:prstGeom>
          <a:solidFill>
            <a:srgbClr val="282A27"/>
          </a:solidFill>
          <a:ln>
            <a:noFill/>
          </a:ln>
        </p:spPr>
      </p:sp>
      <p:sp>
        <p:nvSpPr>
          <p:cNvPr id="7" name="text 7"/>
          <p:cNvSpPr/>
          <p:nvPr/>
        </p:nvSpPr>
        <p:spPr>
          <a:xfrm>
            <a:off x="635000" y="2311400"/>
            <a:ext cx="43281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Conflict / assumption</a:t>
            </a:r>
            <a:endParaRPr lang="en-US" sz="1200"/>
          </a:p>
        </p:txBody>
      </p:sp>
      <p:sp>
        <p:nvSpPr>
          <p:cNvPr id="8" name="shape 8"/>
          <p:cNvSpPr/>
          <p:nvPr/>
        </p:nvSpPr>
        <p:spPr>
          <a:xfrm>
            <a:off x="5090160" y="2197100"/>
            <a:ext cx="6593840" cy="457200"/>
          </a:xfrm>
          <a:prstGeom prst="rect">
            <a:avLst/>
          </a:prstGeom>
          <a:solidFill>
            <a:srgbClr val="282A27"/>
          </a:solidFill>
          <a:ln>
            <a:noFill/>
          </a:ln>
        </p:spPr>
      </p:sp>
      <p:sp>
        <p:nvSpPr>
          <p:cNvPr id="9" name="text 9"/>
          <p:cNvSpPr/>
          <p:nvPr/>
        </p:nvSpPr>
        <p:spPr>
          <a:xfrm>
            <a:off x="5217160" y="2311400"/>
            <a:ext cx="63398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Treatment in the presentation</a:t>
            </a:r>
            <a:endParaRPr lang="en-US" sz="1200"/>
          </a:p>
        </p:txBody>
      </p:sp>
      <p:sp>
        <p:nvSpPr>
          <p:cNvPr id="10" name="shape 10"/>
          <p:cNvSpPr/>
          <p:nvPr/>
        </p:nvSpPr>
        <p:spPr>
          <a:xfrm>
            <a:off x="508000" y="2654300"/>
            <a:ext cx="4582160" cy="604520"/>
          </a:xfrm>
          <a:prstGeom prst="rect">
            <a:avLst/>
          </a:prstGeom>
          <a:solidFill>
            <a:srgbClr val="FFFFFF"/>
          </a:solidFill>
          <a:ln>
            <a:noFill/>
          </a:ln>
        </p:spPr>
      </p:sp>
      <p:sp>
        <p:nvSpPr>
          <p:cNvPr id="11" name="text 11"/>
          <p:cNvSpPr/>
          <p:nvPr/>
        </p:nvSpPr>
        <p:spPr>
          <a:xfrm>
            <a:off x="635000" y="2705100"/>
            <a:ext cx="4328160" cy="50292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Product naming varies</a:t>
            </a:r>
            <a:endParaRPr lang="en-US" sz="1600"/>
          </a:p>
        </p:txBody>
      </p:sp>
      <p:cxnSp>
        <p:nvCxnSpPr>
          <p:cNvPr id="12" name="connector 12"/>
          <p:cNvCxnSpPr/>
          <p:nvPr/>
        </p:nvCxnSpPr>
        <p:spPr>
          <a:xfrm>
            <a:off x="508000" y="3258820"/>
            <a:ext cx="4582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3" name="shape 13"/>
          <p:cNvSpPr/>
          <p:nvPr/>
        </p:nvSpPr>
        <p:spPr>
          <a:xfrm>
            <a:off x="5090160" y="2654300"/>
            <a:ext cx="6593840" cy="604520"/>
          </a:xfrm>
          <a:prstGeom prst="rect">
            <a:avLst/>
          </a:prstGeom>
          <a:solidFill>
            <a:srgbClr val="FFFFFF"/>
          </a:solidFill>
          <a:ln>
            <a:noFill/>
          </a:ln>
        </p:spPr>
      </p:sp>
      <p:sp>
        <p:nvSpPr>
          <p:cNvPr id="14" name="text 14"/>
          <p:cNvSpPr/>
          <p:nvPr/>
        </p:nvSpPr>
        <p:spPr>
          <a:xfrm>
            <a:off x="5217160" y="2705100"/>
            <a:ext cx="6339840" cy="50292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Use requested “Data Workbench”; record 0.5.2 repository baseline</a:t>
            </a:r>
            <a:endParaRPr lang="en-US" sz="1600"/>
          </a:p>
        </p:txBody>
      </p:sp>
      <p:cxnSp>
        <p:nvCxnSpPr>
          <p:cNvPr id="15" name="connector 15"/>
          <p:cNvCxnSpPr/>
          <p:nvPr/>
        </p:nvCxnSpPr>
        <p:spPr>
          <a:xfrm>
            <a:off x="5090160" y="3258820"/>
            <a:ext cx="6593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6" name="shape 16"/>
          <p:cNvSpPr/>
          <p:nvPr/>
        </p:nvSpPr>
        <p:spPr>
          <a:xfrm>
            <a:off x="508000" y="3258820"/>
            <a:ext cx="4582160" cy="604520"/>
          </a:xfrm>
          <a:prstGeom prst="rect">
            <a:avLst/>
          </a:prstGeom>
          <a:solidFill>
            <a:srgbClr val="EFEEE9"/>
          </a:solidFill>
          <a:ln>
            <a:noFill/>
          </a:ln>
        </p:spPr>
      </p:sp>
      <p:sp>
        <p:nvSpPr>
          <p:cNvPr id="17" name="text 17"/>
          <p:cNvSpPr/>
          <p:nvPr/>
        </p:nvSpPr>
        <p:spPr>
          <a:xfrm>
            <a:off x="635000" y="3309620"/>
            <a:ext cx="4328160" cy="50292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Executable counts differ across documents</a:t>
            </a:r>
            <a:endParaRPr lang="en-US" sz="1600"/>
          </a:p>
        </p:txBody>
      </p:sp>
      <p:cxnSp>
        <p:nvCxnSpPr>
          <p:cNvPr id="18" name="connector 18"/>
          <p:cNvCxnSpPr/>
          <p:nvPr/>
        </p:nvCxnSpPr>
        <p:spPr>
          <a:xfrm>
            <a:off x="508000" y="3863340"/>
            <a:ext cx="4582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9" name="shape 19"/>
          <p:cNvSpPr/>
          <p:nvPr/>
        </p:nvSpPr>
        <p:spPr>
          <a:xfrm>
            <a:off x="5090160" y="3258820"/>
            <a:ext cx="6593840" cy="604520"/>
          </a:xfrm>
          <a:prstGeom prst="rect">
            <a:avLst/>
          </a:prstGeom>
          <a:solidFill>
            <a:srgbClr val="EFEEE9"/>
          </a:solidFill>
          <a:ln>
            <a:noFill/>
          </a:ln>
        </p:spPr>
      </p:sp>
      <p:sp>
        <p:nvSpPr>
          <p:cNvPr id="20" name="text 20"/>
          <p:cNvSpPr/>
          <p:nvPr/>
        </p:nvSpPr>
        <p:spPr>
          <a:xfrm>
            <a:off x="5217160" y="3309620"/>
            <a:ext cx="6339840" cy="50292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Use current JSON register and code dispatch: five enabled, D04</a:t>
            </a:r>
            <a:endParaRPr lang="en-US" sz="1600"/>
          </a:p>
          <a:p>
            <a:pPr algn="l">
              <a:lnSpc>
                <a:spcPts val="1824"/>
              </a:lnSpc>
              <a:spcAft>
                <a:spcPts val="0"/>
              </a:spcAft>
            </a:pPr>
            <a:r>
              <a:rPr lang="en-US" sz="1600" b="0" dirty="0">
                <a:solidFill>
                  <a:srgbClr val="181C23"/>
                </a:solidFill>
                <a:latin typeface="Funnel Sans"/>
              </a:rPr>
              <a:t>paused</a:t>
            </a:r>
            <a:endParaRPr lang="en-US" sz="1600"/>
          </a:p>
        </p:txBody>
      </p:sp>
      <p:cxnSp>
        <p:nvCxnSpPr>
          <p:cNvPr id="21" name="connector 21"/>
          <p:cNvCxnSpPr/>
          <p:nvPr/>
        </p:nvCxnSpPr>
        <p:spPr>
          <a:xfrm>
            <a:off x="5090160" y="3863340"/>
            <a:ext cx="6593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2" name="shape 22"/>
          <p:cNvSpPr/>
          <p:nvPr/>
        </p:nvSpPr>
        <p:spPr>
          <a:xfrm>
            <a:off x="508000" y="3863340"/>
            <a:ext cx="4582160" cy="604520"/>
          </a:xfrm>
          <a:prstGeom prst="rect">
            <a:avLst/>
          </a:prstGeom>
          <a:solidFill>
            <a:srgbClr val="FFFFFF"/>
          </a:solidFill>
          <a:ln>
            <a:noFill/>
          </a:ln>
        </p:spPr>
      </p:sp>
      <p:sp>
        <p:nvSpPr>
          <p:cNvPr id="23" name="text 23"/>
          <p:cNvSpPr/>
          <p:nvPr/>
        </p:nvSpPr>
        <p:spPr>
          <a:xfrm>
            <a:off x="635000" y="3914140"/>
            <a:ext cx="4328160" cy="50292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Older D06/D08/D11 method descriptions</a:t>
            </a:r>
            <a:endParaRPr lang="en-US" sz="1600"/>
          </a:p>
          <a:p>
            <a:pPr algn="l">
              <a:lnSpc>
                <a:spcPts val="1824"/>
              </a:lnSpc>
              <a:spcAft>
                <a:spcPts val="0"/>
              </a:spcAft>
            </a:pPr>
            <a:r>
              <a:rPr lang="en-US" sz="1600" b="1" dirty="0">
                <a:solidFill>
                  <a:srgbClr val="181C23"/>
                </a:solidFill>
                <a:latin typeface="Funnel Sans"/>
              </a:rPr>
              <a:t>differ</a:t>
            </a:r>
            <a:endParaRPr lang="en-US" sz="1600"/>
          </a:p>
        </p:txBody>
      </p:sp>
      <p:cxnSp>
        <p:nvCxnSpPr>
          <p:cNvPr id="24" name="connector 24"/>
          <p:cNvCxnSpPr/>
          <p:nvPr/>
        </p:nvCxnSpPr>
        <p:spPr>
          <a:xfrm>
            <a:off x="508000" y="4467860"/>
            <a:ext cx="4582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5" name="shape 25"/>
          <p:cNvSpPr/>
          <p:nvPr/>
        </p:nvSpPr>
        <p:spPr>
          <a:xfrm>
            <a:off x="5090160" y="3863340"/>
            <a:ext cx="6593840" cy="604520"/>
          </a:xfrm>
          <a:prstGeom prst="rect">
            <a:avLst/>
          </a:prstGeom>
          <a:solidFill>
            <a:srgbClr val="FFFFFF"/>
          </a:solidFill>
          <a:ln>
            <a:noFill/>
          </a:ln>
        </p:spPr>
      </p:sp>
      <p:sp>
        <p:nvSpPr>
          <p:cNvPr id="26" name="text 26"/>
          <p:cNvSpPr/>
          <p:nvPr/>
        </p:nvSpPr>
        <p:spPr>
          <a:xfrm>
            <a:off x="5217160" y="3914140"/>
            <a:ext cx="6339840" cy="50292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Use production engines and package READMEs</a:t>
            </a:r>
            <a:endParaRPr lang="en-US" sz="1600"/>
          </a:p>
        </p:txBody>
      </p:sp>
      <p:cxnSp>
        <p:nvCxnSpPr>
          <p:cNvPr id="27" name="connector 27"/>
          <p:cNvCxnSpPr/>
          <p:nvPr/>
        </p:nvCxnSpPr>
        <p:spPr>
          <a:xfrm>
            <a:off x="5090160" y="4467860"/>
            <a:ext cx="6593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8" name="shape 28"/>
          <p:cNvSpPr/>
          <p:nvPr/>
        </p:nvSpPr>
        <p:spPr>
          <a:xfrm>
            <a:off x="508000" y="4467860"/>
            <a:ext cx="4582160" cy="604520"/>
          </a:xfrm>
          <a:prstGeom prst="rect">
            <a:avLst/>
          </a:prstGeom>
          <a:solidFill>
            <a:srgbClr val="EFEEE9"/>
          </a:solidFill>
          <a:ln>
            <a:noFill/>
          </a:ln>
        </p:spPr>
      </p:sp>
      <p:sp>
        <p:nvSpPr>
          <p:cNvPr id="29" name="text 29"/>
          <p:cNvSpPr/>
          <p:nvPr/>
        </p:nvSpPr>
        <p:spPr>
          <a:xfrm>
            <a:off x="635000" y="4518660"/>
            <a:ext cx="4328160" cy="50292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RCA design contains older fix/rerun</a:t>
            </a:r>
            <a:endParaRPr lang="en-US" sz="1600"/>
          </a:p>
          <a:p>
            <a:pPr algn="l">
              <a:lnSpc>
                <a:spcPts val="1824"/>
              </a:lnSpc>
              <a:spcAft>
                <a:spcPts val="0"/>
              </a:spcAft>
            </a:pPr>
            <a:r>
              <a:rPr lang="en-US" sz="1600" b="1" dirty="0">
                <a:solidFill>
                  <a:srgbClr val="181C23"/>
                </a:solidFill>
                <a:latin typeface="Funnel Sans"/>
              </a:rPr>
              <a:t>sequence</a:t>
            </a:r>
            <a:endParaRPr lang="en-US" sz="1600"/>
          </a:p>
        </p:txBody>
      </p:sp>
      <p:cxnSp>
        <p:nvCxnSpPr>
          <p:cNvPr id="30" name="connector 30"/>
          <p:cNvCxnSpPr/>
          <p:nvPr/>
        </p:nvCxnSpPr>
        <p:spPr>
          <a:xfrm>
            <a:off x="508000" y="5072380"/>
            <a:ext cx="4582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1" name="shape 31"/>
          <p:cNvSpPr/>
          <p:nvPr/>
        </p:nvSpPr>
        <p:spPr>
          <a:xfrm>
            <a:off x="5090160" y="4467860"/>
            <a:ext cx="6593840" cy="604520"/>
          </a:xfrm>
          <a:prstGeom prst="rect">
            <a:avLst/>
          </a:prstGeom>
          <a:solidFill>
            <a:srgbClr val="EFEEE9"/>
          </a:solidFill>
          <a:ln>
            <a:noFill/>
          </a:ln>
        </p:spPr>
      </p:sp>
      <p:sp>
        <p:nvSpPr>
          <p:cNvPr id="32" name="text 32"/>
          <p:cNvSpPr/>
          <p:nvPr/>
        </p:nvSpPr>
        <p:spPr>
          <a:xfrm>
            <a:off x="5217160" y="4518660"/>
            <a:ext cx="6339840" cy="50292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Use current conclusion-approval UI; separate manual remediation</a:t>
            </a:r>
            <a:endParaRPr lang="en-US" sz="1600"/>
          </a:p>
        </p:txBody>
      </p:sp>
      <p:cxnSp>
        <p:nvCxnSpPr>
          <p:cNvPr id="33" name="connector 33"/>
          <p:cNvCxnSpPr/>
          <p:nvPr/>
        </p:nvCxnSpPr>
        <p:spPr>
          <a:xfrm>
            <a:off x="5090160" y="5072380"/>
            <a:ext cx="6593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4" name="shape 34"/>
          <p:cNvSpPr/>
          <p:nvPr/>
        </p:nvSpPr>
        <p:spPr>
          <a:xfrm>
            <a:off x="508000" y="5072380"/>
            <a:ext cx="4582160" cy="604520"/>
          </a:xfrm>
          <a:prstGeom prst="rect">
            <a:avLst/>
          </a:prstGeom>
          <a:solidFill>
            <a:srgbClr val="FFFFFF"/>
          </a:solidFill>
          <a:ln>
            <a:noFill/>
          </a:ln>
        </p:spPr>
      </p:sp>
      <p:sp>
        <p:nvSpPr>
          <p:cNvPr id="35" name="text 35"/>
          <p:cNvSpPr/>
          <p:nvPr/>
        </p:nvSpPr>
        <p:spPr>
          <a:xfrm>
            <a:off x="635000" y="5123180"/>
            <a:ext cx="4328160" cy="50292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181C23"/>
                </a:solidFill>
                <a:latin typeface="Funnel Sans"/>
              </a:rPr>
              <a:t>Reference includes agents, health score and</a:t>
            </a:r>
            <a:endParaRPr lang="en-US" sz="1600"/>
          </a:p>
          <a:p>
            <a:pPr algn="l">
              <a:lnSpc>
                <a:spcPts val="1824"/>
              </a:lnSpc>
              <a:spcAft>
                <a:spcPts val="0"/>
              </a:spcAft>
            </a:pPr>
            <a:r>
              <a:rPr lang="en-US" sz="1600" b="1" dirty="0">
                <a:solidFill>
                  <a:srgbClr val="181C23"/>
                </a:solidFill>
                <a:latin typeface="Funnel Sans"/>
              </a:rPr>
              <a:t>monitoring</a:t>
            </a:r>
            <a:endParaRPr lang="en-US" sz="1600"/>
          </a:p>
        </p:txBody>
      </p:sp>
      <p:cxnSp>
        <p:nvCxnSpPr>
          <p:cNvPr id="36" name="connector 36"/>
          <p:cNvCxnSpPr/>
          <p:nvPr/>
        </p:nvCxnSpPr>
        <p:spPr>
          <a:xfrm>
            <a:off x="508000" y="5676900"/>
            <a:ext cx="45821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7" name="shape 37"/>
          <p:cNvSpPr/>
          <p:nvPr/>
        </p:nvSpPr>
        <p:spPr>
          <a:xfrm>
            <a:off x="5090160" y="5072380"/>
            <a:ext cx="6593840" cy="604520"/>
          </a:xfrm>
          <a:prstGeom prst="rect">
            <a:avLst/>
          </a:prstGeom>
          <a:solidFill>
            <a:srgbClr val="FFFFFF"/>
          </a:solidFill>
          <a:ln>
            <a:noFill/>
          </a:ln>
        </p:spPr>
      </p:sp>
      <p:sp>
        <p:nvSpPr>
          <p:cNvPr id="38" name="text 38"/>
          <p:cNvSpPr/>
          <p:nvPr/>
        </p:nvSpPr>
        <p:spPr>
          <a:xfrm>
            <a:off x="5217160" y="5123180"/>
            <a:ext cx="6339840" cy="502920"/>
          </a:xfrm>
          <a:prstGeom prst="rect">
            <a:avLst/>
          </a:prstGeom>
          <a:noFill/>
          <a:ln>
            <a:noFill/>
          </a:ln>
        </p:spPr>
        <p:txBody>
          <a:bodyPr wrap="none" lIns="0" tIns="0" rIns="0" bIns="0" anchor="t">
            <a:noAutofit/>
          </a:bodyPr>
          <a:lstStyle/>
          <a:p>
            <a:pPr algn="l">
              <a:lnSpc>
                <a:spcPts val="1824"/>
              </a:lnSpc>
              <a:spcAft>
                <a:spcPts val="0"/>
              </a:spcAft>
            </a:pPr>
            <a:r>
              <a:rPr lang="en-US" sz="1600" b="0" dirty="0">
                <a:solidFill>
                  <a:srgbClr val="181C23"/>
                </a:solidFill>
                <a:latin typeface="Funnel Sans"/>
              </a:rPr>
              <a:t>Reuse visual patterns only; omit unsupported capability claims</a:t>
            </a:r>
            <a:endParaRPr lang="en-US" sz="1600"/>
          </a:p>
        </p:txBody>
      </p:sp>
      <p:cxnSp>
        <p:nvCxnSpPr>
          <p:cNvPr id="39" name="connector 39"/>
          <p:cNvCxnSpPr/>
          <p:nvPr/>
        </p:nvCxnSpPr>
        <p:spPr>
          <a:xfrm>
            <a:off x="5090160" y="5676900"/>
            <a:ext cx="65938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0" name="shape 40"/>
          <p:cNvSpPr/>
          <p:nvPr/>
        </p:nvSpPr>
        <p:spPr>
          <a:xfrm>
            <a:off x="508000" y="5740400"/>
            <a:ext cx="11176000" cy="546100"/>
          </a:xfrm>
          <a:prstGeom prst="rect">
            <a:avLst/>
          </a:prstGeom>
          <a:solidFill>
            <a:srgbClr val="282A27"/>
          </a:solidFill>
          <a:ln>
            <a:noFill/>
          </a:ln>
        </p:spPr>
      </p:sp>
      <p:sp>
        <p:nvSpPr>
          <p:cNvPr id="41" name="text 41"/>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No live deployment, real customer results or release acceptance was inferred from static source review.</a:t>
            </a:r>
            <a:endParaRPr lang="en-US" sz="1600"/>
          </a:p>
        </p:txBody>
      </p:sp>
      <p:cxnSp>
        <p:nvCxnSpPr>
          <p:cNvPr id="42" name="connector 42"/>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3" name="text 43"/>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4" name="text 44"/>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78 / 87</a:t>
            </a:r>
            <a:endParaRPr lang="en-US" sz="10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TERMS</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Use consistent language for data, analysis and workflow</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Key abbreviations and decision terms used throughout the deck.</a:t>
            </a:r>
            <a:endParaRPr lang="en-US" sz="1500"/>
          </a:p>
        </p:txBody>
      </p:sp>
      <p:sp>
        <p:nvSpPr>
          <p:cNvPr id="6" name="shape 6"/>
          <p:cNvSpPr/>
          <p:nvPr/>
        </p:nvSpPr>
        <p:spPr>
          <a:xfrm>
            <a:off x="508000" y="2197100"/>
            <a:ext cx="1564640" cy="457200"/>
          </a:xfrm>
          <a:prstGeom prst="rect">
            <a:avLst/>
          </a:prstGeom>
          <a:solidFill>
            <a:srgbClr val="282A27"/>
          </a:solidFill>
          <a:ln>
            <a:noFill/>
          </a:ln>
        </p:spPr>
      </p:sp>
      <p:sp>
        <p:nvSpPr>
          <p:cNvPr id="7" name="text 7"/>
          <p:cNvSpPr/>
          <p:nvPr/>
        </p:nvSpPr>
        <p:spPr>
          <a:xfrm>
            <a:off x="635000" y="2311400"/>
            <a:ext cx="13106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Term</a:t>
            </a:r>
            <a:endParaRPr lang="en-US" sz="1200"/>
          </a:p>
        </p:txBody>
      </p:sp>
      <p:sp>
        <p:nvSpPr>
          <p:cNvPr id="8" name="shape 8"/>
          <p:cNvSpPr/>
          <p:nvPr/>
        </p:nvSpPr>
        <p:spPr>
          <a:xfrm>
            <a:off x="2072640" y="2197100"/>
            <a:ext cx="4023360" cy="457200"/>
          </a:xfrm>
          <a:prstGeom prst="rect">
            <a:avLst/>
          </a:prstGeom>
          <a:solidFill>
            <a:srgbClr val="282A27"/>
          </a:solidFill>
          <a:ln>
            <a:noFill/>
          </a:ln>
        </p:spPr>
      </p:sp>
      <p:sp>
        <p:nvSpPr>
          <p:cNvPr id="9" name="text 9"/>
          <p:cNvSpPr/>
          <p:nvPr/>
        </p:nvSpPr>
        <p:spPr>
          <a:xfrm>
            <a:off x="2199640" y="2311400"/>
            <a:ext cx="37693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Meaning</a:t>
            </a:r>
            <a:endParaRPr lang="en-US" sz="1200"/>
          </a:p>
        </p:txBody>
      </p:sp>
      <p:sp>
        <p:nvSpPr>
          <p:cNvPr id="10" name="shape 10"/>
          <p:cNvSpPr/>
          <p:nvPr/>
        </p:nvSpPr>
        <p:spPr>
          <a:xfrm>
            <a:off x="6096000" y="2197100"/>
            <a:ext cx="1564640" cy="457200"/>
          </a:xfrm>
          <a:prstGeom prst="rect">
            <a:avLst/>
          </a:prstGeom>
          <a:solidFill>
            <a:srgbClr val="282A27"/>
          </a:solidFill>
          <a:ln>
            <a:noFill/>
          </a:ln>
        </p:spPr>
      </p:sp>
      <p:sp>
        <p:nvSpPr>
          <p:cNvPr id="11" name="text 11"/>
          <p:cNvSpPr/>
          <p:nvPr/>
        </p:nvSpPr>
        <p:spPr>
          <a:xfrm>
            <a:off x="6223000" y="2311400"/>
            <a:ext cx="13106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Term</a:t>
            </a:r>
            <a:endParaRPr lang="en-US" sz="1200"/>
          </a:p>
        </p:txBody>
      </p:sp>
      <p:sp>
        <p:nvSpPr>
          <p:cNvPr id="12" name="shape 12"/>
          <p:cNvSpPr/>
          <p:nvPr/>
        </p:nvSpPr>
        <p:spPr>
          <a:xfrm>
            <a:off x="7660640" y="2197100"/>
            <a:ext cx="4023360" cy="457200"/>
          </a:xfrm>
          <a:prstGeom prst="rect">
            <a:avLst/>
          </a:prstGeom>
          <a:solidFill>
            <a:srgbClr val="282A27"/>
          </a:solidFill>
          <a:ln>
            <a:noFill/>
          </a:ln>
        </p:spPr>
      </p:sp>
      <p:sp>
        <p:nvSpPr>
          <p:cNvPr id="13" name="text 13"/>
          <p:cNvSpPr/>
          <p:nvPr/>
        </p:nvSpPr>
        <p:spPr>
          <a:xfrm>
            <a:off x="7787640" y="2311400"/>
            <a:ext cx="376936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Meaning</a:t>
            </a:r>
            <a:endParaRPr lang="en-US" sz="1200"/>
          </a:p>
        </p:txBody>
      </p:sp>
      <p:sp>
        <p:nvSpPr>
          <p:cNvPr id="14" name="shape 14"/>
          <p:cNvSpPr/>
          <p:nvPr/>
        </p:nvSpPr>
        <p:spPr>
          <a:xfrm>
            <a:off x="508000" y="2654300"/>
            <a:ext cx="1564640" cy="529167"/>
          </a:xfrm>
          <a:prstGeom prst="rect">
            <a:avLst/>
          </a:prstGeom>
          <a:solidFill>
            <a:srgbClr val="FFFFFF"/>
          </a:solidFill>
          <a:ln>
            <a:noFill/>
          </a:ln>
        </p:spPr>
      </p:sp>
      <p:sp>
        <p:nvSpPr>
          <p:cNvPr id="15" name="text 15"/>
          <p:cNvSpPr/>
          <p:nvPr/>
        </p:nvSpPr>
        <p:spPr>
          <a:xfrm>
            <a:off x="635000" y="2705100"/>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1" dirty="0">
                <a:solidFill>
                  <a:srgbClr val="181C23"/>
                </a:solidFill>
                <a:latin typeface="Funnel Sans"/>
              </a:rPr>
              <a:t>DQ</a:t>
            </a:r>
            <a:endParaRPr lang="en-US" sz="1450"/>
          </a:p>
        </p:txBody>
      </p:sp>
      <p:cxnSp>
        <p:nvCxnSpPr>
          <p:cNvPr id="16" name="connector 16"/>
          <p:cNvCxnSpPr/>
          <p:nvPr/>
        </p:nvCxnSpPr>
        <p:spPr>
          <a:xfrm>
            <a:off x="508000" y="3183467"/>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7" name="shape 17"/>
          <p:cNvSpPr/>
          <p:nvPr/>
        </p:nvSpPr>
        <p:spPr>
          <a:xfrm>
            <a:off x="2072640" y="2654300"/>
            <a:ext cx="4023360" cy="529167"/>
          </a:xfrm>
          <a:prstGeom prst="rect">
            <a:avLst/>
          </a:prstGeom>
          <a:solidFill>
            <a:srgbClr val="FFFFFF"/>
          </a:solidFill>
          <a:ln>
            <a:noFill/>
          </a:ln>
        </p:spPr>
      </p:sp>
      <p:sp>
        <p:nvSpPr>
          <p:cNvPr id="18" name="text 18"/>
          <p:cNvSpPr/>
          <p:nvPr/>
        </p:nvSpPr>
        <p:spPr>
          <a:xfrm>
            <a:off x="2199640" y="2705100"/>
            <a:ext cx="376936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Data quality</a:t>
            </a:r>
            <a:endParaRPr lang="en-US" sz="1450"/>
          </a:p>
        </p:txBody>
      </p:sp>
      <p:cxnSp>
        <p:nvCxnSpPr>
          <p:cNvPr id="19" name="connector 19"/>
          <p:cNvCxnSpPr/>
          <p:nvPr/>
        </p:nvCxnSpPr>
        <p:spPr>
          <a:xfrm>
            <a:off x="2072640" y="3183467"/>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0" name="shape 20"/>
          <p:cNvSpPr/>
          <p:nvPr/>
        </p:nvSpPr>
        <p:spPr>
          <a:xfrm>
            <a:off x="6096000" y="2654300"/>
            <a:ext cx="1564640" cy="529167"/>
          </a:xfrm>
          <a:prstGeom prst="rect">
            <a:avLst/>
          </a:prstGeom>
          <a:solidFill>
            <a:srgbClr val="FFFFFF"/>
          </a:solidFill>
          <a:ln>
            <a:noFill/>
          </a:ln>
        </p:spPr>
      </p:sp>
      <p:sp>
        <p:nvSpPr>
          <p:cNvPr id="21" name="text 21"/>
          <p:cNvSpPr/>
          <p:nvPr/>
        </p:nvSpPr>
        <p:spPr>
          <a:xfrm>
            <a:off x="6223000" y="2705100"/>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RCA</a:t>
            </a:r>
            <a:endParaRPr lang="en-US" sz="1450"/>
          </a:p>
        </p:txBody>
      </p:sp>
      <p:cxnSp>
        <p:nvCxnSpPr>
          <p:cNvPr id="22" name="connector 22"/>
          <p:cNvCxnSpPr/>
          <p:nvPr/>
        </p:nvCxnSpPr>
        <p:spPr>
          <a:xfrm>
            <a:off x="6096000" y="3183467"/>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3" name="shape 23"/>
          <p:cNvSpPr/>
          <p:nvPr/>
        </p:nvSpPr>
        <p:spPr>
          <a:xfrm>
            <a:off x="7660640" y="2654300"/>
            <a:ext cx="4023360" cy="529167"/>
          </a:xfrm>
          <a:prstGeom prst="rect">
            <a:avLst/>
          </a:prstGeom>
          <a:solidFill>
            <a:srgbClr val="FFFFFF"/>
          </a:solidFill>
          <a:ln>
            <a:noFill/>
          </a:ln>
        </p:spPr>
      </p:sp>
      <p:sp>
        <p:nvSpPr>
          <p:cNvPr id="24" name="text 24"/>
          <p:cNvSpPr/>
          <p:nvPr/>
        </p:nvSpPr>
        <p:spPr>
          <a:xfrm>
            <a:off x="7787640" y="2705100"/>
            <a:ext cx="376936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Root-cause analysis</a:t>
            </a:r>
            <a:endParaRPr lang="en-US" sz="1450"/>
          </a:p>
        </p:txBody>
      </p:sp>
      <p:cxnSp>
        <p:nvCxnSpPr>
          <p:cNvPr id="25" name="connector 25"/>
          <p:cNvCxnSpPr/>
          <p:nvPr/>
        </p:nvCxnSpPr>
        <p:spPr>
          <a:xfrm>
            <a:off x="7660640" y="3183467"/>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6" name="shape 26"/>
          <p:cNvSpPr/>
          <p:nvPr/>
        </p:nvSpPr>
        <p:spPr>
          <a:xfrm>
            <a:off x="508000" y="3183467"/>
            <a:ext cx="1564640" cy="529167"/>
          </a:xfrm>
          <a:prstGeom prst="rect">
            <a:avLst/>
          </a:prstGeom>
          <a:solidFill>
            <a:srgbClr val="EFEEE9"/>
          </a:solidFill>
          <a:ln>
            <a:noFill/>
          </a:ln>
        </p:spPr>
      </p:sp>
      <p:sp>
        <p:nvSpPr>
          <p:cNvPr id="27" name="text 27"/>
          <p:cNvSpPr/>
          <p:nvPr/>
        </p:nvSpPr>
        <p:spPr>
          <a:xfrm>
            <a:off x="635000" y="3234267"/>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1" dirty="0">
                <a:solidFill>
                  <a:srgbClr val="181C23"/>
                </a:solidFill>
                <a:latin typeface="Funnel Sans"/>
              </a:rPr>
              <a:t>SME</a:t>
            </a:r>
            <a:endParaRPr lang="en-US" sz="1450"/>
          </a:p>
        </p:txBody>
      </p:sp>
      <p:cxnSp>
        <p:nvCxnSpPr>
          <p:cNvPr id="28" name="connector 28"/>
          <p:cNvCxnSpPr/>
          <p:nvPr/>
        </p:nvCxnSpPr>
        <p:spPr>
          <a:xfrm>
            <a:off x="508000" y="3712633"/>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9" name="shape 29"/>
          <p:cNvSpPr/>
          <p:nvPr/>
        </p:nvSpPr>
        <p:spPr>
          <a:xfrm>
            <a:off x="2072640" y="3183467"/>
            <a:ext cx="4023360" cy="529167"/>
          </a:xfrm>
          <a:prstGeom prst="rect">
            <a:avLst/>
          </a:prstGeom>
          <a:solidFill>
            <a:srgbClr val="EFEEE9"/>
          </a:solidFill>
          <a:ln>
            <a:noFill/>
          </a:ln>
        </p:spPr>
      </p:sp>
      <p:sp>
        <p:nvSpPr>
          <p:cNvPr id="30" name="text 30"/>
          <p:cNvSpPr/>
          <p:nvPr/>
        </p:nvSpPr>
        <p:spPr>
          <a:xfrm>
            <a:off x="2199640" y="3234267"/>
            <a:ext cx="376936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Subject-matter expert</a:t>
            </a:r>
            <a:endParaRPr lang="en-US" sz="1450"/>
          </a:p>
        </p:txBody>
      </p:sp>
      <p:cxnSp>
        <p:nvCxnSpPr>
          <p:cNvPr id="31" name="connector 31"/>
          <p:cNvCxnSpPr/>
          <p:nvPr/>
        </p:nvCxnSpPr>
        <p:spPr>
          <a:xfrm>
            <a:off x="2072640" y="3712633"/>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2" name="shape 32"/>
          <p:cNvSpPr/>
          <p:nvPr/>
        </p:nvSpPr>
        <p:spPr>
          <a:xfrm>
            <a:off x="6096000" y="3183467"/>
            <a:ext cx="1564640" cy="529167"/>
          </a:xfrm>
          <a:prstGeom prst="rect">
            <a:avLst/>
          </a:prstGeom>
          <a:solidFill>
            <a:srgbClr val="EFEEE9"/>
          </a:solidFill>
          <a:ln>
            <a:noFill/>
          </a:ln>
        </p:spPr>
      </p:sp>
      <p:sp>
        <p:nvSpPr>
          <p:cNvPr id="33" name="text 33"/>
          <p:cNvSpPr/>
          <p:nvPr/>
        </p:nvSpPr>
        <p:spPr>
          <a:xfrm>
            <a:off x="6223000" y="3234267"/>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RBAC</a:t>
            </a:r>
            <a:endParaRPr lang="en-US" sz="1450"/>
          </a:p>
        </p:txBody>
      </p:sp>
      <p:cxnSp>
        <p:nvCxnSpPr>
          <p:cNvPr id="34" name="connector 34"/>
          <p:cNvCxnSpPr/>
          <p:nvPr/>
        </p:nvCxnSpPr>
        <p:spPr>
          <a:xfrm>
            <a:off x="6096000" y="3712633"/>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5" name="shape 35"/>
          <p:cNvSpPr/>
          <p:nvPr/>
        </p:nvSpPr>
        <p:spPr>
          <a:xfrm>
            <a:off x="7660640" y="3183467"/>
            <a:ext cx="4023360" cy="529167"/>
          </a:xfrm>
          <a:prstGeom prst="rect">
            <a:avLst/>
          </a:prstGeom>
          <a:solidFill>
            <a:srgbClr val="EFEEE9"/>
          </a:solidFill>
          <a:ln>
            <a:noFill/>
          </a:ln>
        </p:spPr>
      </p:sp>
      <p:sp>
        <p:nvSpPr>
          <p:cNvPr id="36" name="text 36"/>
          <p:cNvSpPr/>
          <p:nvPr/>
        </p:nvSpPr>
        <p:spPr>
          <a:xfrm>
            <a:off x="7787640" y="3234267"/>
            <a:ext cx="376936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Role-based access control</a:t>
            </a:r>
            <a:endParaRPr lang="en-US" sz="1450"/>
          </a:p>
        </p:txBody>
      </p:sp>
      <p:cxnSp>
        <p:nvCxnSpPr>
          <p:cNvPr id="37" name="connector 37"/>
          <p:cNvCxnSpPr/>
          <p:nvPr/>
        </p:nvCxnSpPr>
        <p:spPr>
          <a:xfrm>
            <a:off x="7660640" y="3712633"/>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8" name="shape 38"/>
          <p:cNvSpPr/>
          <p:nvPr/>
        </p:nvSpPr>
        <p:spPr>
          <a:xfrm>
            <a:off x="508000" y="3712633"/>
            <a:ext cx="1564640" cy="529167"/>
          </a:xfrm>
          <a:prstGeom prst="rect">
            <a:avLst/>
          </a:prstGeom>
          <a:solidFill>
            <a:srgbClr val="FFFFFF"/>
          </a:solidFill>
          <a:ln>
            <a:noFill/>
          </a:ln>
        </p:spPr>
      </p:sp>
      <p:sp>
        <p:nvSpPr>
          <p:cNvPr id="39" name="text 39"/>
          <p:cNvSpPr/>
          <p:nvPr/>
        </p:nvSpPr>
        <p:spPr>
          <a:xfrm>
            <a:off x="635000" y="3763433"/>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1" dirty="0">
                <a:solidFill>
                  <a:srgbClr val="181C23"/>
                </a:solidFill>
                <a:latin typeface="Funnel Sans"/>
              </a:rPr>
              <a:t>KB</a:t>
            </a:r>
            <a:endParaRPr lang="en-US" sz="1450"/>
          </a:p>
        </p:txBody>
      </p:sp>
      <p:cxnSp>
        <p:nvCxnSpPr>
          <p:cNvPr id="40" name="connector 40"/>
          <p:cNvCxnSpPr/>
          <p:nvPr/>
        </p:nvCxnSpPr>
        <p:spPr>
          <a:xfrm>
            <a:off x="508000" y="4241800"/>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1" name="shape 41"/>
          <p:cNvSpPr/>
          <p:nvPr/>
        </p:nvSpPr>
        <p:spPr>
          <a:xfrm>
            <a:off x="2072640" y="3712633"/>
            <a:ext cx="4023360" cy="529167"/>
          </a:xfrm>
          <a:prstGeom prst="rect">
            <a:avLst/>
          </a:prstGeom>
          <a:solidFill>
            <a:srgbClr val="FFFFFF"/>
          </a:solidFill>
          <a:ln>
            <a:noFill/>
          </a:ln>
        </p:spPr>
      </p:sp>
      <p:sp>
        <p:nvSpPr>
          <p:cNvPr id="42" name="text 42"/>
          <p:cNvSpPr/>
          <p:nvPr/>
        </p:nvSpPr>
        <p:spPr>
          <a:xfrm>
            <a:off x="2199640" y="3763433"/>
            <a:ext cx="376936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Knowledge Base</a:t>
            </a:r>
            <a:endParaRPr lang="en-US" sz="1450"/>
          </a:p>
        </p:txBody>
      </p:sp>
      <p:cxnSp>
        <p:nvCxnSpPr>
          <p:cNvPr id="43" name="connector 43"/>
          <p:cNvCxnSpPr/>
          <p:nvPr/>
        </p:nvCxnSpPr>
        <p:spPr>
          <a:xfrm>
            <a:off x="2072640" y="4241800"/>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4" name="shape 44"/>
          <p:cNvSpPr/>
          <p:nvPr/>
        </p:nvSpPr>
        <p:spPr>
          <a:xfrm>
            <a:off x="6096000" y="3712633"/>
            <a:ext cx="1564640" cy="529167"/>
          </a:xfrm>
          <a:prstGeom prst="rect">
            <a:avLst/>
          </a:prstGeom>
          <a:solidFill>
            <a:srgbClr val="FFFFFF"/>
          </a:solidFill>
          <a:ln>
            <a:noFill/>
          </a:ln>
        </p:spPr>
      </p:sp>
      <p:sp>
        <p:nvSpPr>
          <p:cNvPr id="45" name="text 45"/>
          <p:cNvSpPr/>
          <p:nvPr/>
        </p:nvSpPr>
        <p:spPr>
          <a:xfrm>
            <a:off x="6223000" y="3763433"/>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AAR</a:t>
            </a:r>
            <a:endParaRPr lang="en-US" sz="1450"/>
          </a:p>
        </p:txBody>
      </p:sp>
      <p:cxnSp>
        <p:nvCxnSpPr>
          <p:cNvPr id="46" name="connector 46"/>
          <p:cNvCxnSpPr/>
          <p:nvPr/>
        </p:nvCxnSpPr>
        <p:spPr>
          <a:xfrm>
            <a:off x="6096000" y="4241800"/>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7" name="shape 47"/>
          <p:cNvSpPr/>
          <p:nvPr/>
        </p:nvSpPr>
        <p:spPr>
          <a:xfrm>
            <a:off x="7660640" y="3712633"/>
            <a:ext cx="4023360" cy="529167"/>
          </a:xfrm>
          <a:prstGeom prst="rect">
            <a:avLst/>
          </a:prstGeom>
          <a:solidFill>
            <a:srgbClr val="FFFFFF"/>
          </a:solidFill>
          <a:ln>
            <a:noFill/>
          </a:ln>
        </p:spPr>
      </p:sp>
      <p:sp>
        <p:nvSpPr>
          <p:cNvPr id="48" name="text 48"/>
          <p:cNvSpPr/>
          <p:nvPr/>
        </p:nvSpPr>
        <p:spPr>
          <a:xfrm>
            <a:off x="7787640" y="3763433"/>
            <a:ext cx="376936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Analysis / Analytics Artifact Repository</a:t>
            </a:r>
            <a:endParaRPr lang="en-US" sz="1450"/>
          </a:p>
        </p:txBody>
      </p:sp>
      <p:cxnSp>
        <p:nvCxnSpPr>
          <p:cNvPr id="49" name="connector 49"/>
          <p:cNvCxnSpPr/>
          <p:nvPr/>
        </p:nvCxnSpPr>
        <p:spPr>
          <a:xfrm>
            <a:off x="7660640" y="4241800"/>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0" name="shape 50"/>
          <p:cNvSpPr/>
          <p:nvPr/>
        </p:nvSpPr>
        <p:spPr>
          <a:xfrm>
            <a:off x="508000" y="4241800"/>
            <a:ext cx="1564640" cy="529167"/>
          </a:xfrm>
          <a:prstGeom prst="rect">
            <a:avLst/>
          </a:prstGeom>
          <a:solidFill>
            <a:srgbClr val="EFEEE9"/>
          </a:solidFill>
          <a:ln>
            <a:noFill/>
          </a:ln>
        </p:spPr>
      </p:sp>
      <p:sp>
        <p:nvSpPr>
          <p:cNvPr id="51" name="text 51"/>
          <p:cNvSpPr/>
          <p:nvPr/>
        </p:nvSpPr>
        <p:spPr>
          <a:xfrm>
            <a:off x="635000" y="4292600"/>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1" dirty="0">
                <a:solidFill>
                  <a:srgbClr val="181C23"/>
                </a:solidFill>
                <a:latin typeface="Funnel Sans"/>
              </a:rPr>
              <a:t>ROC / AUC</a:t>
            </a:r>
            <a:endParaRPr lang="en-US" sz="1450"/>
          </a:p>
        </p:txBody>
      </p:sp>
      <p:cxnSp>
        <p:nvCxnSpPr>
          <p:cNvPr id="52" name="connector 52"/>
          <p:cNvCxnSpPr/>
          <p:nvPr/>
        </p:nvCxnSpPr>
        <p:spPr>
          <a:xfrm>
            <a:off x="508000" y="4770967"/>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3" name="shape 53"/>
          <p:cNvSpPr/>
          <p:nvPr/>
        </p:nvSpPr>
        <p:spPr>
          <a:xfrm>
            <a:off x="2072640" y="4241800"/>
            <a:ext cx="4023360" cy="529167"/>
          </a:xfrm>
          <a:prstGeom prst="rect">
            <a:avLst/>
          </a:prstGeom>
          <a:solidFill>
            <a:srgbClr val="EFEEE9"/>
          </a:solidFill>
          <a:ln>
            <a:noFill/>
          </a:ln>
        </p:spPr>
      </p:sp>
      <p:sp>
        <p:nvSpPr>
          <p:cNvPr id="54" name="text 54"/>
          <p:cNvSpPr/>
          <p:nvPr/>
        </p:nvSpPr>
        <p:spPr>
          <a:xfrm>
            <a:off x="2199640" y="4292600"/>
            <a:ext cx="3769360" cy="42756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Receiver operating characteristic / area</a:t>
            </a:r>
            <a:endParaRPr lang="en-US" sz="1400"/>
          </a:p>
          <a:p>
            <a:pPr algn="l">
              <a:lnSpc>
                <a:spcPts val="1596"/>
              </a:lnSpc>
              <a:spcAft>
                <a:spcPts val="0"/>
              </a:spcAft>
            </a:pPr>
            <a:r>
              <a:rPr lang="en-US" sz="1400" b="0" dirty="0">
                <a:solidFill>
                  <a:srgbClr val="181C23"/>
                </a:solidFill>
                <a:latin typeface="Funnel Sans"/>
              </a:rPr>
              <a:t>under its curve</a:t>
            </a:r>
            <a:endParaRPr lang="en-US" sz="1400"/>
          </a:p>
        </p:txBody>
      </p:sp>
      <p:cxnSp>
        <p:nvCxnSpPr>
          <p:cNvPr id="55" name="connector 55"/>
          <p:cNvCxnSpPr/>
          <p:nvPr/>
        </p:nvCxnSpPr>
        <p:spPr>
          <a:xfrm>
            <a:off x="2072640" y="4770967"/>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6" name="shape 56"/>
          <p:cNvSpPr/>
          <p:nvPr/>
        </p:nvSpPr>
        <p:spPr>
          <a:xfrm>
            <a:off x="6096000" y="4241800"/>
            <a:ext cx="1564640" cy="529167"/>
          </a:xfrm>
          <a:prstGeom prst="rect">
            <a:avLst/>
          </a:prstGeom>
          <a:solidFill>
            <a:srgbClr val="EFEEE9"/>
          </a:solidFill>
          <a:ln>
            <a:noFill/>
          </a:ln>
        </p:spPr>
      </p:sp>
      <p:sp>
        <p:nvSpPr>
          <p:cNvPr id="57" name="text 57"/>
          <p:cNvSpPr/>
          <p:nvPr/>
        </p:nvSpPr>
        <p:spPr>
          <a:xfrm>
            <a:off x="6223000" y="4292600"/>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IV / WOE</a:t>
            </a:r>
            <a:endParaRPr lang="en-US" sz="1450"/>
          </a:p>
        </p:txBody>
      </p:sp>
      <p:cxnSp>
        <p:nvCxnSpPr>
          <p:cNvPr id="58" name="connector 58"/>
          <p:cNvCxnSpPr/>
          <p:nvPr/>
        </p:nvCxnSpPr>
        <p:spPr>
          <a:xfrm>
            <a:off x="6096000" y="4770967"/>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9" name="shape 59"/>
          <p:cNvSpPr/>
          <p:nvPr/>
        </p:nvSpPr>
        <p:spPr>
          <a:xfrm>
            <a:off x="7660640" y="4241800"/>
            <a:ext cx="4023360" cy="529167"/>
          </a:xfrm>
          <a:prstGeom prst="rect">
            <a:avLst/>
          </a:prstGeom>
          <a:solidFill>
            <a:srgbClr val="EFEEE9"/>
          </a:solidFill>
          <a:ln>
            <a:noFill/>
          </a:ln>
        </p:spPr>
      </p:sp>
      <p:sp>
        <p:nvSpPr>
          <p:cNvPr id="60" name="text 60"/>
          <p:cNvSpPr/>
          <p:nvPr/>
        </p:nvSpPr>
        <p:spPr>
          <a:xfrm>
            <a:off x="7787640" y="4292600"/>
            <a:ext cx="376936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Information Value / weight of evidence</a:t>
            </a:r>
            <a:endParaRPr lang="en-US" sz="1450"/>
          </a:p>
        </p:txBody>
      </p:sp>
      <p:cxnSp>
        <p:nvCxnSpPr>
          <p:cNvPr id="61" name="connector 61"/>
          <p:cNvCxnSpPr/>
          <p:nvPr/>
        </p:nvCxnSpPr>
        <p:spPr>
          <a:xfrm>
            <a:off x="7660640" y="4770967"/>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2" name="shape 62"/>
          <p:cNvSpPr/>
          <p:nvPr/>
        </p:nvSpPr>
        <p:spPr>
          <a:xfrm>
            <a:off x="508000" y="4770967"/>
            <a:ext cx="1564640" cy="529167"/>
          </a:xfrm>
          <a:prstGeom prst="rect">
            <a:avLst/>
          </a:prstGeom>
          <a:solidFill>
            <a:srgbClr val="FFFFFF"/>
          </a:solidFill>
          <a:ln>
            <a:noFill/>
          </a:ln>
        </p:spPr>
      </p:sp>
      <p:sp>
        <p:nvSpPr>
          <p:cNvPr id="63" name="text 63"/>
          <p:cNvSpPr/>
          <p:nvPr/>
        </p:nvSpPr>
        <p:spPr>
          <a:xfrm>
            <a:off x="635000" y="4821767"/>
            <a:ext cx="1310640" cy="427567"/>
          </a:xfrm>
          <a:prstGeom prst="rect">
            <a:avLst/>
          </a:prstGeom>
          <a:noFill/>
          <a:ln>
            <a:noFill/>
          </a:ln>
        </p:spPr>
        <p:txBody>
          <a:bodyPr wrap="none" lIns="0" tIns="0" rIns="0" bIns="0" anchor="t">
            <a:noAutofit/>
          </a:bodyPr>
          <a:lstStyle/>
          <a:p>
            <a:pPr algn="l">
              <a:lnSpc>
                <a:spcPts val="1653"/>
              </a:lnSpc>
              <a:spcAft>
                <a:spcPts val="0"/>
              </a:spcAft>
            </a:pPr>
            <a:r>
              <a:rPr lang="en-US" sz="1450" b="1" dirty="0">
                <a:solidFill>
                  <a:srgbClr val="181C23"/>
                </a:solidFill>
                <a:latin typeface="Funnel Sans"/>
              </a:rPr>
              <a:t>PSI</a:t>
            </a:r>
            <a:endParaRPr lang="en-US" sz="1450"/>
          </a:p>
        </p:txBody>
      </p:sp>
      <p:cxnSp>
        <p:nvCxnSpPr>
          <p:cNvPr id="64" name="connector 64"/>
          <p:cNvCxnSpPr/>
          <p:nvPr/>
        </p:nvCxnSpPr>
        <p:spPr>
          <a:xfrm>
            <a:off x="508000" y="5300133"/>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5" name="shape 65"/>
          <p:cNvSpPr/>
          <p:nvPr/>
        </p:nvSpPr>
        <p:spPr>
          <a:xfrm>
            <a:off x="2072640" y="4770967"/>
            <a:ext cx="4023360" cy="529167"/>
          </a:xfrm>
          <a:prstGeom prst="rect">
            <a:avLst/>
          </a:prstGeom>
          <a:solidFill>
            <a:srgbClr val="FFFFFF"/>
          </a:solidFill>
          <a:ln>
            <a:noFill/>
          </a:ln>
        </p:spPr>
      </p:sp>
      <p:sp>
        <p:nvSpPr>
          <p:cNvPr id="66" name="text 66"/>
          <p:cNvSpPr/>
          <p:nvPr/>
        </p:nvSpPr>
        <p:spPr>
          <a:xfrm>
            <a:off x="2199640" y="4821767"/>
            <a:ext cx="3769360" cy="427567"/>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Population Stability Index</a:t>
            </a:r>
            <a:endParaRPr lang="en-US" sz="1450"/>
          </a:p>
        </p:txBody>
      </p:sp>
      <p:cxnSp>
        <p:nvCxnSpPr>
          <p:cNvPr id="67" name="connector 67"/>
          <p:cNvCxnSpPr/>
          <p:nvPr/>
        </p:nvCxnSpPr>
        <p:spPr>
          <a:xfrm>
            <a:off x="2072640" y="5300133"/>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8" name="shape 68"/>
          <p:cNvSpPr/>
          <p:nvPr/>
        </p:nvSpPr>
        <p:spPr>
          <a:xfrm>
            <a:off x="6096000" y="4770967"/>
            <a:ext cx="1564640" cy="529167"/>
          </a:xfrm>
          <a:prstGeom prst="rect">
            <a:avLst/>
          </a:prstGeom>
          <a:solidFill>
            <a:srgbClr val="FFFFFF"/>
          </a:solidFill>
          <a:ln>
            <a:noFill/>
          </a:ln>
        </p:spPr>
      </p:sp>
      <p:sp>
        <p:nvSpPr>
          <p:cNvPr id="69" name="text 69"/>
          <p:cNvSpPr/>
          <p:nvPr/>
        </p:nvSpPr>
        <p:spPr>
          <a:xfrm>
            <a:off x="6223000" y="4821767"/>
            <a:ext cx="1310640" cy="42756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PD / LGD / EAD</a:t>
            </a:r>
            <a:endParaRPr lang="en-US" sz="1400"/>
          </a:p>
        </p:txBody>
      </p:sp>
      <p:cxnSp>
        <p:nvCxnSpPr>
          <p:cNvPr id="70" name="connector 70"/>
          <p:cNvCxnSpPr/>
          <p:nvPr/>
        </p:nvCxnSpPr>
        <p:spPr>
          <a:xfrm>
            <a:off x="6096000" y="5300133"/>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1" name="shape 71"/>
          <p:cNvSpPr/>
          <p:nvPr/>
        </p:nvSpPr>
        <p:spPr>
          <a:xfrm>
            <a:off x="7660640" y="4770967"/>
            <a:ext cx="4023360" cy="529167"/>
          </a:xfrm>
          <a:prstGeom prst="rect">
            <a:avLst/>
          </a:prstGeom>
          <a:solidFill>
            <a:srgbClr val="FFFFFF"/>
          </a:solidFill>
          <a:ln>
            <a:noFill/>
          </a:ln>
        </p:spPr>
      </p:sp>
      <p:sp>
        <p:nvSpPr>
          <p:cNvPr id="72" name="text 72"/>
          <p:cNvSpPr/>
          <p:nvPr/>
        </p:nvSpPr>
        <p:spPr>
          <a:xfrm>
            <a:off x="7787640" y="4821767"/>
            <a:ext cx="3769360" cy="42756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Probability of default / loss given default /</a:t>
            </a:r>
            <a:endParaRPr lang="en-US" sz="1400"/>
          </a:p>
          <a:p>
            <a:pPr algn="l">
              <a:lnSpc>
                <a:spcPts val="1596"/>
              </a:lnSpc>
              <a:spcAft>
                <a:spcPts val="0"/>
              </a:spcAft>
            </a:pPr>
            <a:r>
              <a:rPr lang="en-US" sz="1400" b="0" dirty="0">
                <a:solidFill>
                  <a:srgbClr val="181C23"/>
                </a:solidFill>
                <a:latin typeface="Funnel Sans"/>
              </a:rPr>
              <a:t>exposure at default</a:t>
            </a:r>
            <a:endParaRPr lang="en-US" sz="1400"/>
          </a:p>
        </p:txBody>
      </p:sp>
      <p:cxnSp>
        <p:nvCxnSpPr>
          <p:cNvPr id="73" name="connector 73"/>
          <p:cNvCxnSpPr/>
          <p:nvPr/>
        </p:nvCxnSpPr>
        <p:spPr>
          <a:xfrm>
            <a:off x="7660640" y="5300133"/>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4" name="shape 74"/>
          <p:cNvSpPr/>
          <p:nvPr/>
        </p:nvSpPr>
        <p:spPr>
          <a:xfrm>
            <a:off x="508000" y="5300133"/>
            <a:ext cx="1564640" cy="529167"/>
          </a:xfrm>
          <a:prstGeom prst="rect">
            <a:avLst/>
          </a:prstGeom>
          <a:solidFill>
            <a:srgbClr val="EFEEE9"/>
          </a:solidFill>
          <a:ln>
            <a:noFill/>
          </a:ln>
        </p:spPr>
      </p:sp>
      <p:sp>
        <p:nvSpPr>
          <p:cNvPr id="75" name="text 75"/>
          <p:cNvSpPr/>
          <p:nvPr/>
        </p:nvSpPr>
        <p:spPr>
          <a:xfrm>
            <a:off x="635000" y="5350933"/>
            <a:ext cx="1310640" cy="427567"/>
          </a:xfrm>
          <a:prstGeom prst="rect">
            <a:avLst/>
          </a:prstGeom>
          <a:noFill/>
          <a:ln>
            <a:noFill/>
          </a:ln>
        </p:spPr>
        <p:txBody>
          <a:bodyPr wrap="none" lIns="0" tIns="0" rIns="0" bIns="0" anchor="t">
            <a:noAutofit/>
          </a:bodyPr>
          <a:lstStyle/>
          <a:p>
            <a:pPr algn="l">
              <a:lnSpc>
                <a:spcPts val="1596"/>
              </a:lnSpc>
              <a:spcAft>
                <a:spcPts val="0"/>
              </a:spcAft>
            </a:pPr>
            <a:r>
              <a:rPr lang="en-US" sz="1400" b="1" dirty="0">
                <a:solidFill>
                  <a:srgbClr val="181C23"/>
                </a:solidFill>
                <a:latin typeface="Funnel Sans"/>
              </a:rPr>
              <a:t>MCAR / MAR /</a:t>
            </a:r>
            <a:endParaRPr lang="en-US" sz="1400"/>
          </a:p>
          <a:p>
            <a:pPr algn="l">
              <a:lnSpc>
                <a:spcPts val="1596"/>
              </a:lnSpc>
              <a:spcAft>
                <a:spcPts val="0"/>
              </a:spcAft>
            </a:pPr>
            <a:r>
              <a:rPr lang="en-US" sz="1400" b="1" dirty="0">
                <a:solidFill>
                  <a:srgbClr val="181C23"/>
                </a:solidFill>
                <a:latin typeface="Funnel Sans"/>
              </a:rPr>
              <a:t>MNAR</a:t>
            </a:r>
            <a:endParaRPr lang="en-US" sz="1400"/>
          </a:p>
        </p:txBody>
      </p:sp>
      <p:cxnSp>
        <p:nvCxnSpPr>
          <p:cNvPr id="76" name="connector 76"/>
          <p:cNvCxnSpPr/>
          <p:nvPr/>
        </p:nvCxnSpPr>
        <p:spPr>
          <a:xfrm>
            <a:off x="508000" y="5829300"/>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7" name="shape 77"/>
          <p:cNvSpPr/>
          <p:nvPr/>
        </p:nvSpPr>
        <p:spPr>
          <a:xfrm>
            <a:off x="2072640" y="5300133"/>
            <a:ext cx="4023360" cy="529167"/>
          </a:xfrm>
          <a:prstGeom prst="rect">
            <a:avLst/>
          </a:prstGeom>
          <a:solidFill>
            <a:srgbClr val="EFEEE9"/>
          </a:solidFill>
          <a:ln>
            <a:noFill/>
          </a:ln>
        </p:spPr>
      </p:sp>
      <p:sp>
        <p:nvSpPr>
          <p:cNvPr id="78" name="text 78"/>
          <p:cNvSpPr/>
          <p:nvPr/>
        </p:nvSpPr>
        <p:spPr>
          <a:xfrm>
            <a:off x="2199640" y="5350933"/>
            <a:ext cx="3769360" cy="42756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Missing completely at random / at random /</a:t>
            </a:r>
            <a:endParaRPr lang="en-US" sz="1400"/>
          </a:p>
          <a:p>
            <a:pPr algn="l">
              <a:lnSpc>
                <a:spcPts val="1596"/>
              </a:lnSpc>
              <a:spcAft>
                <a:spcPts val="0"/>
              </a:spcAft>
            </a:pPr>
            <a:r>
              <a:rPr lang="en-US" sz="1400" b="0" dirty="0">
                <a:solidFill>
                  <a:srgbClr val="181C23"/>
                </a:solidFill>
                <a:latin typeface="Funnel Sans"/>
              </a:rPr>
              <a:t>not at random</a:t>
            </a:r>
            <a:endParaRPr lang="en-US" sz="1400"/>
          </a:p>
        </p:txBody>
      </p:sp>
      <p:cxnSp>
        <p:nvCxnSpPr>
          <p:cNvPr id="79" name="connector 79"/>
          <p:cNvCxnSpPr/>
          <p:nvPr/>
        </p:nvCxnSpPr>
        <p:spPr>
          <a:xfrm>
            <a:off x="2072640" y="5829300"/>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80" name="shape 80"/>
          <p:cNvSpPr/>
          <p:nvPr/>
        </p:nvSpPr>
        <p:spPr>
          <a:xfrm>
            <a:off x="6096000" y="5300133"/>
            <a:ext cx="1564640" cy="529167"/>
          </a:xfrm>
          <a:prstGeom prst="rect">
            <a:avLst/>
          </a:prstGeom>
          <a:solidFill>
            <a:srgbClr val="EFEEE9"/>
          </a:solidFill>
          <a:ln>
            <a:noFill/>
          </a:ln>
        </p:spPr>
      </p:sp>
      <p:sp>
        <p:nvSpPr>
          <p:cNvPr id="81" name="text 81"/>
          <p:cNvSpPr/>
          <p:nvPr/>
        </p:nvSpPr>
        <p:spPr>
          <a:xfrm>
            <a:off x="6223000" y="5350933"/>
            <a:ext cx="1310640" cy="42756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Snapshot /</a:t>
            </a:r>
            <a:endParaRPr lang="en-US" sz="1400"/>
          </a:p>
          <a:p>
            <a:pPr algn="l">
              <a:lnSpc>
                <a:spcPts val="1596"/>
              </a:lnSpc>
              <a:spcAft>
                <a:spcPts val="0"/>
              </a:spcAft>
            </a:pPr>
            <a:r>
              <a:rPr lang="en-US" sz="1400" b="0" dirty="0">
                <a:solidFill>
                  <a:srgbClr val="181C23"/>
                </a:solidFill>
                <a:latin typeface="Funnel Sans"/>
              </a:rPr>
              <a:t>manifest</a:t>
            </a:r>
            <a:endParaRPr lang="en-US" sz="1400"/>
          </a:p>
        </p:txBody>
      </p:sp>
      <p:cxnSp>
        <p:nvCxnSpPr>
          <p:cNvPr id="82" name="connector 82"/>
          <p:cNvCxnSpPr/>
          <p:nvPr/>
        </p:nvCxnSpPr>
        <p:spPr>
          <a:xfrm>
            <a:off x="6096000" y="5829300"/>
            <a:ext cx="15646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83" name="shape 83"/>
          <p:cNvSpPr/>
          <p:nvPr/>
        </p:nvSpPr>
        <p:spPr>
          <a:xfrm>
            <a:off x="7660640" y="5300133"/>
            <a:ext cx="4023360" cy="529167"/>
          </a:xfrm>
          <a:prstGeom prst="rect">
            <a:avLst/>
          </a:prstGeom>
          <a:solidFill>
            <a:srgbClr val="EFEEE9"/>
          </a:solidFill>
          <a:ln>
            <a:noFill/>
          </a:ln>
        </p:spPr>
      </p:sp>
      <p:sp>
        <p:nvSpPr>
          <p:cNvPr id="84" name="text 84"/>
          <p:cNvSpPr/>
          <p:nvPr/>
        </p:nvSpPr>
        <p:spPr>
          <a:xfrm>
            <a:off x="7787640" y="5350933"/>
            <a:ext cx="3769360" cy="427567"/>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Versioned data state / frozen record of run</a:t>
            </a:r>
            <a:endParaRPr lang="en-US" sz="1400"/>
          </a:p>
          <a:p>
            <a:pPr algn="l">
              <a:lnSpc>
                <a:spcPts val="1596"/>
              </a:lnSpc>
              <a:spcAft>
                <a:spcPts val="0"/>
              </a:spcAft>
            </a:pPr>
            <a:r>
              <a:rPr lang="en-US" sz="1400" b="0" dirty="0">
                <a:solidFill>
                  <a:srgbClr val="181C23"/>
                </a:solidFill>
                <a:latin typeface="Funnel Sans"/>
              </a:rPr>
              <a:t>scope</a:t>
            </a:r>
            <a:endParaRPr lang="en-US" sz="1400"/>
          </a:p>
        </p:txBody>
      </p:sp>
      <p:cxnSp>
        <p:nvCxnSpPr>
          <p:cNvPr id="85" name="connector 85"/>
          <p:cNvCxnSpPr/>
          <p:nvPr/>
        </p:nvCxnSpPr>
        <p:spPr>
          <a:xfrm>
            <a:off x="7660640" y="5829300"/>
            <a:ext cx="402336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cxnSp>
        <p:nvCxnSpPr>
          <p:cNvPr id="86" name="connector 86"/>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87" name="text 87"/>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88" name="text 88"/>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79 / 87</a:t>
            </a:r>
            <a:endParaRPr lang="en-US" sz="100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SOURCE MATRIX</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Trace major claims to their source families (1/3)</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Every slide also carries file-level and section/function references in its speaker notes.</a:t>
            </a:r>
            <a:endParaRPr lang="en-US" sz="1500"/>
          </a:p>
        </p:txBody>
      </p:sp>
      <p:sp>
        <p:nvSpPr>
          <p:cNvPr id="6" name="shape 6"/>
          <p:cNvSpPr/>
          <p:nvPr/>
        </p:nvSpPr>
        <p:spPr>
          <a:xfrm>
            <a:off x="508000" y="2235200"/>
            <a:ext cx="2123440" cy="457200"/>
          </a:xfrm>
          <a:prstGeom prst="rect">
            <a:avLst/>
          </a:prstGeom>
          <a:solidFill>
            <a:srgbClr val="282A27"/>
          </a:solidFill>
          <a:ln>
            <a:noFill/>
          </a:ln>
        </p:spPr>
      </p:sp>
      <p:sp>
        <p:nvSpPr>
          <p:cNvPr id="7" name="text 7"/>
          <p:cNvSpPr/>
          <p:nvPr/>
        </p:nvSpPr>
        <p:spPr>
          <a:xfrm>
            <a:off x="635000" y="2349500"/>
            <a:ext cx="18694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Source key</a:t>
            </a:r>
            <a:endParaRPr lang="en-US" sz="1200"/>
          </a:p>
        </p:txBody>
      </p:sp>
      <p:sp>
        <p:nvSpPr>
          <p:cNvPr id="8" name="shape 8"/>
          <p:cNvSpPr/>
          <p:nvPr/>
        </p:nvSpPr>
        <p:spPr>
          <a:xfrm>
            <a:off x="2631440" y="2235200"/>
            <a:ext cx="4135120" cy="457200"/>
          </a:xfrm>
          <a:prstGeom prst="rect">
            <a:avLst/>
          </a:prstGeom>
          <a:solidFill>
            <a:srgbClr val="282A27"/>
          </a:solidFill>
          <a:ln>
            <a:noFill/>
          </a:ln>
        </p:spPr>
      </p:sp>
      <p:sp>
        <p:nvSpPr>
          <p:cNvPr id="9" name="text 9"/>
          <p:cNvSpPr/>
          <p:nvPr/>
        </p:nvSpPr>
        <p:spPr>
          <a:xfrm>
            <a:off x="2758440" y="2349500"/>
            <a:ext cx="38811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Claim family</a:t>
            </a:r>
            <a:endParaRPr lang="en-US" sz="1200"/>
          </a:p>
        </p:txBody>
      </p:sp>
      <p:sp>
        <p:nvSpPr>
          <p:cNvPr id="10" name="shape 10"/>
          <p:cNvSpPr/>
          <p:nvPr/>
        </p:nvSpPr>
        <p:spPr>
          <a:xfrm>
            <a:off x="6766560" y="2235200"/>
            <a:ext cx="4917440" cy="457200"/>
          </a:xfrm>
          <a:prstGeom prst="rect">
            <a:avLst/>
          </a:prstGeom>
          <a:solidFill>
            <a:srgbClr val="282A27"/>
          </a:solidFill>
          <a:ln>
            <a:noFill/>
          </a:ln>
        </p:spPr>
      </p:sp>
      <p:sp>
        <p:nvSpPr>
          <p:cNvPr id="11" name="text 11"/>
          <p:cNvSpPr/>
          <p:nvPr/>
        </p:nvSpPr>
        <p:spPr>
          <a:xfrm>
            <a:off x="6893560" y="2349500"/>
            <a:ext cx="46634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Repository location / document</a:t>
            </a:r>
            <a:endParaRPr lang="en-US" sz="1200"/>
          </a:p>
        </p:txBody>
      </p:sp>
      <p:sp>
        <p:nvSpPr>
          <p:cNvPr id="12" name="shape 12"/>
          <p:cNvSpPr/>
          <p:nvPr/>
        </p:nvSpPr>
        <p:spPr>
          <a:xfrm>
            <a:off x="508000" y="2692400"/>
            <a:ext cx="2123440" cy="614680"/>
          </a:xfrm>
          <a:prstGeom prst="rect">
            <a:avLst/>
          </a:prstGeom>
          <a:solidFill>
            <a:srgbClr val="FFFFFF"/>
          </a:solidFill>
          <a:ln>
            <a:noFill/>
          </a:ln>
        </p:spPr>
      </p:sp>
      <p:sp>
        <p:nvSpPr>
          <p:cNvPr id="13" name="text 13"/>
          <p:cNvSpPr/>
          <p:nvPr/>
        </p:nvSpPr>
        <p:spPr>
          <a:xfrm>
            <a:off x="635000" y="2743200"/>
            <a:ext cx="1869440" cy="51308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S05–S07</a:t>
            </a:r>
            <a:endParaRPr lang="en-US" sz="1550"/>
          </a:p>
        </p:txBody>
      </p:sp>
      <p:cxnSp>
        <p:nvCxnSpPr>
          <p:cNvPr id="14" name="connector 14"/>
          <p:cNvCxnSpPr/>
          <p:nvPr/>
        </p:nvCxnSpPr>
        <p:spPr>
          <a:xfrm>
            <a:off x="508000" y="330708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631440" y="2692400"/>
            <a:ext cx="4135120" cy="614680"/>
          </a:xfrm>
          <a:prstGeom prst="rect">
            <a:avLst/>
          </a:prstGeom>
          <a:solidFill>
            <a:srgbClr val="FFFFFF"/>
          </a:solidFill>
          <a:ln>
            <a:noFill/>
          </a:ln>
        </p:spPr>
      </p:sp>
      <p:sp>
        <p:nvSpPr>
          <p:cNvPr id="16" name="text 16"/>
          <p:cNvSpPr/>
          <p:nvPr/>
        </p:nvSpPr>
        <p:spPr>
          <a:xfrm>
            <a:off x="2758440" y="2743200"/>
            <a:ext cx="388112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Product / workflow / technical baseline</a:t>
            </a:r>
            <a:endParaRPr lang="en-US" sz="1550"/>
          </a:p>
        </p:txBody>
      </p:sp>
      <p:cxnSp>
        <p:nvCxnSpPr>
          <p:cNvPr id="17" name="connector 17"/>
          <p:cNvCxnSpPr/>
          <p:nvPr/>
        </p:nvCxnSpPr>
        <p:spPr>
          <a:xfrm>
            <a:off x="2631440" y="330708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6766560" y="2692400"/>
            <a:ext cx="4917440" cy="614680"/>
          </a:xfrm>
          <a:prstGeom prst="rect">
            <a:avLst/>
          </a:prstGeom>
          <a:solidFill>
            <a:srgbClr val="FFFFFF"/>
          </a:solidFill>
          <a:ln>
            <a:noFill/>
          </a:ln>
        </p:spPr>
      </p:sp>
      <p:sp>
        <p:nvSpPr>
          <p:cNvPr id="19" name="text 19"/>
          <p:cNvSpPr/>
          <p:nvPr/>
        </p:nvSpPr>
        <p:spPr>
          <a:xfrm>
            <a:off x="6893560" y="2743200"/>
            <a:ext cx="466344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README.md; USER_GUIDE.md; TSD.md</a:t>
            </a:r>
            <a:endParaRPr lang="en-US" sz="1550"/>
          </a:p>
        </p:txBody>
      </p:sp>
      <p:cxnSp>
        <p:nvCxnSpPr>
          <p:cNvPr id="20" name="connector 20"/>
          <p:cNvCxnSpPr/>
          <p:nvPr/>
        </p:nvCxnSpPr>
        <p:spPr>
          <a:xfrm>
            <a:off x="6766560" y="330708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307080"/>
            <a:ext cx="2123440" cy="614680"/>
          </a:xfrm>
          <a:prstGeom prst="rect">
            <a:avLst/>
          </a:prstGeom>
          <a:solidFill>
            <a:srgbClr val="EFEEE9"/>
          </a:solidFill>
          <a:ln>
            <a:noFill/>
          </a:ln>
        </p:spPr>
      </p:sp>
      <p:sp>
        <p:nvSpPr>
          <p:cNvPr id="22" name="text 22"/>
          <p:cNvSpPr/>
          <p:nvPr/>
        </p:nvSpPr>
        <p:spPr>
          <a:xfrm>
            <a:off x="635000" y="3357880"/>
            <a:ext cx="1869440" cy="51308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S08–S13</a:t>
            </a:r>
            <a:endParaRPr lang="en-US" sz="1550"/>
          </a:p>
        </p:txBody>
      </p:sp>
      <p:cxnSp>
        <p:nvCxnSpPr>
          <p:cNvPr id="23" name="connector 23"/>
          <p:cNvCxnSpPr/>
          <p:nvPr/>
        </p:nvCxnSpPr>
        <p:spPr>
          <a:xfrm>
            <a:off x="508000" y="392176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2631440" y="3307080"/>
            <a:ext cx="4135120" cy="614680"/>
          </a:xfrm>
          <a:prstGeom prst="rect">
            <a:avLst/>
          </a:prstGeom>
          <a:solidFill>
            <a:srgbClr val="EFEEE9"/>
          </a:solidFill>
          <a:ln>
            <a:noFill/>
          </a:ln>
        </p:spPr>
      </p:sp>
      <p:sp>
        <p:nvSpPr>
          <p:cNvPr id="25" name="text 25"/>
          <p:cNvSpPr/>
          <p:nvPr/>
        </p:nvSpPr>
        <p:spPr>
          <a:xfrm>
            <a:off x="2758440" y="3357880"/>
            <a:ext cx="388112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Availability and execution gates</a:t>
            </a:r>
            <a:endParaRPr lang="en-US" sz="1550"/>
          </a:p>
        </p:txBody>
      </p:sp>
      <p:cxnSp>
        <p:nvCxnSpPr>
          <p:cNvPr id="26" name="connector 26"/>
          <p:cNvCxnSpPr/>
          <p:nvPr/>
        </p:nvCxnSpPr>
        <p:spPr>
          <a:xfrm>
            <a:off x="2631440" y="392176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6766560" y="3307080"/>
            <a:ext cx="4917440" cy="614680"/>
          </a:xfrm>
          <a:prstGeom prst="rect">
            <a:avLst/>
          </a:prstGeom>
          <a:solidFill>
            <a:srgbClr val="EFEEE9"/>
          </a:solidFill>
          <a:ln>
            <a:noFill/>
          </a:ln>
        </p:spPr>
      </p:sp>
      <p:sp>
        <p:nvSpPr>
          <p:cNvPr id="28" name="text 28"/>
          <p:cNvSpPr/>
          <p:nvPr/>
        </p:nvSpPr>
        <p:spPr>
          <a:xfrm>
            <a:off x="6893560" y="3357880"/>
            <a:ext cx="466344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dq_framework_data.json; diagnostic register /</a:t>
            </a:r>
            <a:endParaRPr lang="en-US" sz="1550"/>
          </a:p>
          <a:p>
            <a:pPr algn="l">
              <a:lnSpc>
                <a:spcPts val="1767"/>
              </a:lnSpc>
              <a:spcAft>
                <a:spcPts val="0"/>
              </a:spcAft>
            </a:pPr>
            <a:r>
              <a:rPr lang="en-US" sz="1550" b="0" dirty="0">
                <a:solidFill>
                  <a:srgbClr val="181C23"/>
                </a:solidFill>
                <a:latin typeface="Funnel Sans"/>
              </a:rPr>
              <a:t>dispatch / readiness; run_state.py</a:t>
            </a:r>
            <a:endParaRPr lang="en-US" sz="1550"/>
          </a:p>
        </p:txBody>
      </p:sp>
      <p:cxnSp>
        <p:nvCxnSpPr>
          <p:cNvPr id="29" name="connector 29"/>
          <p:cNvCxnSpPr/>
          <p:nvPr/>
        </p:nvCxnSpPr>
        <p:spPr>
          <a:xfrm>
            <a:off x="6766560" y="392176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921760"/>
            <a:ext cx="2123440" cy="614680"/>
          </a:xfrm>
          <a:prstGeom prst="rect">
            <a:avLst/>
          </a:prstGeom>
          <a:solidFill>
            <a:srgbClr val="FFFFFF"/>
          </a:solidFill>
          <a:ln>
            <a:noFill/>
          </a:ln>
        </p:spPr>
      </p:sp>
      <p:sp>
        <p:nvSpPr>
          <p:cNvPr id="31" name="text 31"/>
          <p:cNvSpPr/>
          <p:nvPr/>
        </p:nvSpPr>
        <p:spPr>
          <a:xfrm>
            <a:off x="635000" y="3972560"/>
            <a:ext cx="1869440" cy="51308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S14–S16</a:t>
            </a:r>
            <a:endParaRPr lang="en-US" sz="1550"/>
          </a:p>
        </p:txBody>
      </p:sp>
      <p:cxnSp>
        <p:nvCxnSpPr>
          <p:cNvPr id="32" name="connector 32"/>
          <p:cNvCxnSpPr/>
          <p:nvPr/>
        </p:nvCxnSpPr>
        <p:spPr>
          <a:xfrm>
            <a:off x="508000" y="453644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631440" y="3921760"/>
            <a:ext cx="4135120" cy="614680"/>
          </a:xfrm>
          <a:prstGeom prst="rect">
            <a:avLst/>
          </a:prstGeom>
          <a:solidFill>
            <a:srgbClr val="FFFFFF"/>
          </a:solidFill>
          <a:ln>
            <a:noFill/>
          </a:ln>
        </p:spPr>
      </p:sp>
      <p:sp>
        <p:nvSpPr>
          <p:cNvPr id="34" name="text 34"/>
          <p:cNvSpPr/>
          <p:nvPr/>
        </p:nvSpPr>
        <p:spPr>
          <a:xfrm>
            <a:off x="2758440" y="3972560"/>
            <a:ext cx="388112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Issue, RCA and remediation boundaries</a:t>
            </a:r>
            <a:endParaRPr lang="en-US" sz="1550"/>
          </a:p>
        </p:txBody>
      </p:sp>
      <p:cxnSp>
        <p:nvCxnSpPr>
          <p:cNvPr id="35" name="connector 35"/>
          <p:cNvCxnSpPr/>
          <p:nvPr/>
        </p:nvCxnSpPr>
        <p:spPr>
          <a:xfrm>
            <a:off x="2631440" y="453644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6766560" y="3921760"/>
            <a:ext cx="4917440" cy="614680"/>
          </a:xfrm>
          <a:prstGeom prst="rect">
            <a:avLst/>
          </a:prstGeom>
          <a:solidFill>
            <a:srgbClr val="FFFFFF"/>
          </a:solidFill>
          <a:ln>
            <a:noFill/>
          </a:ln>
        </p:spPr>
      </p:sp>
      <p:sp>
        <p:nvSpPr>
          <p:cNvPr id="37" name="text 37"/>
          <p:cNvSpPr/>
          <p:nvPr/>
        </p:nvSpPr>
        <p:spPr>
          <a:xfrm>
            <a:off x="6893560" y="3972560"/>
            <a:ext cx="466344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ai/v2/issues.py; domains/rca/service.py;</a:t>
            </a:r>
            <a:endParaRPr lang="en-US" sz="1550"/>
          </a:p>
          <a:p>
            <a:pPr algn="l">
              <a:lnSpc>
                <a:spcPts val="1767"/>
              </a:lnSpc>
              <a:spcAft>
                <a:spcPts val="0"/>
              </a:spcAft>
            </a:pPr>
            <a:r>
              <a:rPr lang="en-US" sz="1550" b="0" dirty="0">
                <a:solidFill>
                  <a:srgbClr val="181C23"/>
                </a:solidFill>
                <a:latin typeface="Funnel Sans"/>
              </a:rPr>
              <a:t>RcaCase.jsx</a:t>
            </a:r>
            <a:endParaRPr lang="en-US" sz="1550"/>
          </a:p>
        </p:txBody>
      </p:sp>
      <p:cxnSp>
        <p:nvCxnSpPr>
          <p:cNvPr id="38" name="connector 38"/>
          <p:cNvCxnSpPr/>
          <p:nvPr/>
        </p:nvCxnSpPr>
        <p:spPr>
          <a:xfrm>
            <a:off x="6766560" y="453644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536440"/>
            <a:ext cx="2123440" cy="614680"/>
          </a:xfrm>
          <a:prstGeom prst="rect">
            <a:avLst/>
          </a:prstGeom>
          <a:solidFill>
            <a:srgbClr val="EFEEE9"/>
          </a:solidFill>
          <a:ln>
            <a:noFill/>
          </a:ln>
        </p:spPr>
      </p:sp>
      <p:sp>
        <p:nvSpPr>
          <p:cNvPr id="40" name="text 40"/>
          <p:cNvSpPr/>
          <p:nvPr/>
        </p:nvSpPr>
        <p:spPr>
          <a:xfrm>
            <a:off x="635000" y="4587240"/>
            <a:ext cx="1869440" cy="51308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S17–S20</a:t>
            </a:r>
            <a:endParaRPr lang="en-US" sz="1550"/>
          </a:p>
        </p:txBody>
      </p:sp>
      <p:cxnSp>
        <p:nvCxnSpPr>
          <p:cNvPr id="41" name="connector 41"/>
          <p:cNvCxnSpPr/>
          <p:nvPr/>
        </p:nvCxnSpPr>
        <p:spPr>
          <a:xfrm>
            <a:off x="508000" y="515112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2631440" y="4536440"/>
            <a:ext cx="4135120" cy="614680"/>
          </a:xfrm>
          <a:prstGeom prst="rect">
            <a:avLst/>
          </a:prstGeom>
          <a:solidFill>
            <a:srgbClr val="EFEEE9"/>
          </a:solidFill>
          <a:ln>
            <a:noFill/>
          </a:ln>
        </p:spPr>
      </p:sp>
      <p:sp>
        <p:nvSpPr>
          <p:cNvPr id="43" name="text 43"/>
          <p:cNvSpPr/>
          <p:nvPr/>
        </p:nvSpPr>
        <p:spPr>
          <a:xfrm>
            <a:off x="2758440" y="4587240"/>
            <a:ext cx="388112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Roles and knowledge controls</a:t>
            </a:r>
            <a:endParaRPr lang="en-US" sz="1550"/>
          </a:p>
        </p:txBody>
      </p:sp>
      <p:cxnSp>
        <p:nvCxnSpPr>
          <p:cNvPr id="44" name="connector 44"/>
          <p:cNvCxnSpPr/>
          <p:nvPr/>
        </p:nvCxnSpPr>
        <p:spPr>
          <a:xfrm>
            <a:off x="2631440" y="515112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6766560" y="4536440"/>
            <a:ext cx="4917440" cy="614680"/>
          </a:xfrm>
          <a:prstGeom prst="rect">
            <a:avLst/>
          </a:prstGeom>
          <a:solidFill>
            <a:srgbClr val="EFEEE9"/>
          </a:solidFill>
          <a:ln>
            <a:noFill/>
          </a:ln>
        </p:spPr>
      </p:sp>
      <p:sp>
        <p:nvSpPr>
          <p:cNvPr id="46" name="text 46"/>
          <p:cNvSpPr/>
          <p:nvPr/>
        </p:nvSpPr>
        <p:spPr>
          <a:xfrm>
            <a:off x="6893560" y="4587240"/>
            <a:ext cx="466344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routers/admin.py; auth.py; kb.py; RCA contracts</a:t>
            </a:r>
            <a:endParaRPr lang="en-US" sz="1550"/>
          </a:p>
        </p:txBody>
      </p:sp>
      <p:cxnSp>
        <p:nvCxnSpPr>
          <p:cNvPr id="47" name="connector 47"/>
          <p:cNvCxnSpPr/>
          <p:nvPr/>
        </p:nvCxnSpPr>
        <p:spPr>
          <a:xfrm>
            <a:off x="6766560" y="515112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5151120"/>
            <a:ext cx="2123440" cy="614680"/>
          </a:xfrm>
          <a:prstGeom prst="rect">
            <a:avLst/>
          </a:prstGeom>
          <a:solidFill>
            <a:srgbClr val="FFFFFF"/>
          </a:solidFill>
          <a:ln>
            <a:noFill/>
          </a:ln>
        </p:spPr>
      </p:sp>
      <p:sp>
        <p:nvSpPr>
          <p:cNvPr id="49" name="text 49"/>
          <p:cNvSpPr/>
          <p:nvPr/>
        </p:nvSpPr>
        <p:spPr>
          <a:xfrm>
            <a:off x="635000" y="5201920"/>
            <a:ext cx="1869440" cy="513080"/>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S21–S24</a:t>
            </a:r>
            <a:endParaRPr lang="en-US" sz="1550"/>
          </a:p>
        </p:txBody>
      </p:sp>
      <p:cxnSp>
        <p:nvCxnSpPr>
          <p:cNvPr id="50" name="connector 50"/>
          <p:cNvCxnSpPr/>
          <p:nvPr/>
        </p:nvCxnSpPr>
        <p:spPr>
          <a:xfrm>
            <a:off x="508000" y="576580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2631440" y="5151120"/>
            <a:ext cx="4135120" cy="614680"/>
          </a:xfrm>
          <a:prstGeom prst="rect">
            <a:avLst/>
          </a:prstGeom>
          <a:solidFill>
            <a:srgbClr val="FFFFFF"/>
          </a:solidFill>
          <a:ln>
            <a:noFill/>
          </a:ln>
        </p:spPr>
      </p:sp>
      <p:sp>
        <p:nvSpPr>
          <p:cNvPr id="52" name="text 52"/>
          <p:cNvSpPr/>
          <p:nvPr/>
        </p:nvSpPr>
        <p:spPr>
          <a:xfrm>
            <a:off x="2758440" y="5201920"/>
            <a:ext cx="388112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Evidence, ingestion and supporting</a:t>
            </a:r>
            <a:endParaRPr lang="en-US" sz="1550"/>
          </a:p>
          <a:p>
            <a:pPr algn="l">
              <a:lnSpc>
                <a:spcPts val="1767"/>
              </a:lnSpc>
              <a:spcAft>
                <a:spcPts val="0"/>
              </a:spcAft>
            </a:pPr>
            <a:r>
              <a:rPr lang="en-US" sz="1550" b="0" dirty="0">
                <a:solidFill>
                  <a:srgbClr val="181C23"/>
                </a:solidFill>
                <a:latin typeface="Funnel Sans"/>
              </a:rPr>
              <a:t>analytics</a:t>
            </a:r>
            <a:endParaRPr lang="en-US" sz="1550"/>
          </a:p>
        </p:txBody>
      </p:sp>
      <p:cxnSp>
        <p:nvCxnSpPr>
          <p:cNvPr id="53" name="connector 53"/>
          <p:cNvCxnSpPr/>
          <p:nvPr/>
        </p:nvCxnSpPr>
        <p:spPr>
          <a:xfrm>
            <a:off x="2631440" y="576580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6766560" y="5151120"/>
            <a:ext cx="4917440" cy="614680"/>
          </a:xfrm>
          <a:prstGeom prst="rect">
            <a:avLst/>
          </a:prstGeom>
          <a:solidFill>
            <a:srgbClr val="FFFFFF"/>
          </a:solidFill>
          <a:ln>
            <a:noFill/>
          </a:ln>
        </p:spPr>
      </p:sp>
      <p:sp>
        <p:nvSpPr>
          <p:cNvPr id="55" name="text 55"/>
          <p:cNvSpPr/>
          <p:nvPr/>
        </p:nvSpPr>
        <p:spPr>
          <a:xfrm>
            <a:off x="6893560" y="5201920"/>
            <a:ext cx="4663440" cy="513080"/>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AAR domain; sourcing/profiling architecture;</a:t>
            </a:r>
            <a:endParaRPr lang="en-US" sz="1550"/>
          </a:p>
          <a:p>
            <a:pPr algn="l">
              <a:lnSpc>
                <a:spcPts val="1767"/>
              </a:lnSpc>
              <a:spcAft>
                <a:spcPts val="0"/>
              </a:spcAft>
            </a:pPr>
            <a:r>
              <a:rPr lang="en-US" sz="1550" b="0" dirty="0">
                <a:solidFill>
                  <a:srgbClr val="181C23"/>
                </a:solidFill>
                <a:latin typeface="Funnel Sans"/>
              </a:rPr>
              <a:t>missingness</a:t>
            </a:r>
            <a:endParaRPr lang="en-US" sz="1550"/>
          </a:p>
        </p:txBody>
      </p:sp>
      <p:cxnSp>
        <p:nvCxnSpPr>
          <p:cNvPr id="56" name="connector 56"/>
          <p:cNvCxnSpPr/>
          <p:nvPr/>
        </p:nvCxnSpPr>
        <p:spPr>
          <a:xfrm>
            <a:off x="6766560" y="576580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5740400"/>
            <a:ext cx="11176000" cy="546100"/>
          </a:xfrm>
          <a:prstGeom prst="rect">
            <a:avLst/>
          </a:prstGeom>
          <a:solidFill>
            <a:srgbClr val="282A27"/>
          </a:solidFill>
          <a:ln>
            <a:noFill/>
          </a:ln>
        </p:spPr>
      </p:sp>
      <p:sp>
        <p:nvSpPr>
          <p:cNvPr id="58" name="text 58"/>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Speaker notes contain the full source paths and the specific contract, function or worksheet reference.</a:t>
            </a:r>
            <a:endParaRPr lang="en-US" sz="1600"/>
          </a:p>
        </p:txBody>
      </p:sp>
      <p:cxnSp>
        <p:nvCxnSpPr>
          <p:cNvPr id="59" name="connector 59"/>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text 60"/>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61" name="text 61"/>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80 / 87</a:t>
            </a:r>
            <a:endParaRPr lang="en-US" sz="100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SOURCE MATRIX</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Trace major claims to their source families (2/3)</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Every slide also carries file-level and section/function references in its speaker notes.</a:t>
            </a:r>
            <a:endParaRPr lang="en-US" sz="1500"/>
          </a:p>
        </p:txBody>
      </p:sp>
      <p:sp>
        <p:nvSpPr>
          <p:cNvPr id="6" name="shape 6"/>
          <p:cNvSpPr/>
          <p:nvPr/>
        </p:nvSpPr>
        <p:spPr>
          <a:xfrm>
            <a:off x="508000" y="2235200"/>
            <a:ext cx="2123440" cy="457200"/>
          </a:xfrm>
          <a:prstGeom prst="rect">
            <a:avLst/>
          </a:prstGeom>
          <a:solidFill>
            <a:srgbClr val="282A27"/>
          </a:solidFill>
          <a:ln>
            <a:noFill/>
          </a:ln>
        </p:spPr>
      </p:sp>
      <p:sp>
        <p:nvSpPr>
          <p:cNvPr id="7" name="text 7"/>
          <p:cNvSpPr/>
          <p:nvPr/>
        </p:nvSpPr>
        <p:spPr>
          <a:xfrm>
            <a:off x="635000" y="2349500"/>
            <a:ext cx="18694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Source key</a:t>
            </a:r>
            <a:endParaRPr lang="en-US" sz="1200"/>
          </a:p>
        </p:txBody>
      </p:sp>
      <p:sp>
        <p:nvSpPr>
          <p:cNvPr id="8" name="shape 8"/>
          <p:cNvSpPr/>
          <p:nvPr/>
        </p:nvSpPr>
        <p:spPr>
          <a:xfrm>
            <a:off x="2631440" y="2235200"/>
            <a:ext cx="4135120" cy="457200"/>
          </a:xfrm>
          <a:prstGeom prst="rect">
            <a:avLst/>
          </a:prstGeom>
          <a:solidFill>
            <a:srgbClr val="282A27"/>
          </a:solidFill>
          <a:ln>
            <a:noFill/>
          </a:ln>
        </p:spPr>
      </p:sp>
      <p:sp>
        <p:nvSpPr>
          <p:cNvPr id="9" name="text 9"/>
          <p:cNvSpPr/>
          <p:nvPr/>
        </p:nvSpPr>
        <p:spPr>
          <a:xfrm>
            <a:off x="2758440" y="2349500"/>
            <a:ext cx="38811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Claim family</a:t>
            </a:r>
            <a:endParaRPr lang="en-US" sz="1200"/>
          </a:p>
        </p:txBody>
      </p:sp>
      <p:sp>
        <p:nvSpPr>
          <p:cNvPr id="10" name="shape 10"/>
          <p:cNvSpPr/>
          <p:nvPr/>
        </p:nvSpPr>
        <p:spPr>
          <a:xfrm>
            <a:off x="6766560" y="2235200"/>
            <a:ext cx="4917440" cy="457200"/>
          </a:xfrm>
          <a:prstGeom prst="rect">
            <a:avLst/>
          </a:prstGeom>
          <a:solidFill>
            <a:srgbClr val="282A27"/>
          </a:solidFill>
          <a:ln>
            <a:noFill/>
          </a:ln>
        </p:spPr>
      </p:sp>
      <p:sp>
        <p:nvSpPr>
          <p:cNvPr id="11" name="text 11"/>
          <p:cNvSpPr/>
          <p:nvPr/>
        </p:nvSpPr>
        <p:spPr>
          <a:xfrm>
            <a:off x="6893560" y="2349500"/>
            <a:ext cx="46634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Repository location / document</a:t>
            </a:r>
            <a:endParaRPr lang="en-US" sz="1200"/>
          </a:p>
        </p:txBody>
      </p:sp>
      <p:sp>
        <p:nvSpPr>
          <p:cNvPr id="12" name="shape 12"/>
          <p:cNvSpPr/>
          <p:nvPr/>
        </p:nvSpPr>
        <p:spPr>
          <a:xfrm>
            <a:off x="508000" y="2692400"/>
            <a:ext cx="2123440" cy="512233"/>
          </a:xfrm>
          <a:prstGeom prst="rect">
            <a:avLst/>
          </a:prstGeom>
          <a:solidFill>
            <a:srgbClr val="FFFFFF"/>
          </a:solidFill>
          <a:ln>
            <a:noFill/>
          </a:ln>
        </p:spPr>
      </p:sp>
      <p:sp>
        <p:nvSpPr>
          <p:cNvPr id="13" name="text 13"/>
          <p:cNvSpPr/>
          <p:nvPr/>
        </p:nvSpPr>
        <p:spPr>
          <a:xfrm>
            <a:off x="635000" y="2743200"/>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D02R/M/X/E/C</a:t>
            </a:r>
            <a:endParaRPr lang="en-US" sz="1550"/>
          </a:p>
        </p:txBody>
      </p:sp>
      <p:cxnSp>
        <p:nvCxnSpPr>
          <p:cNvPr id="14" name="connector 14"/>
          <p:cNvCxnSpPr/>
          <p:nvPr/>
        </p:nvCxnSpPr>
        <p:spPr>
          <a:xfrm>
            <a:off x="508000" y="3204633"/>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631440" y="2692400"/>
            <a:ext cx="4135120" cy="512233"/>
          </a:xfrm>
          <a:prstGeom prst="rect">
            <a:avLst/>
          </a:prstGeom>
          <a:solidFill>
            <a:srgbClr val="FFFFFF"/>
          </a:solidFill>
          <a:ln>
            <a:noFill/>
          </a:ln>
        </p:spPr>
      </p:sp>
      <p:sp>
        <p:nvSpPr>
          <p:cNvPr id="16" name="text 16"/>
          <p:cNvSpPr/>
          <p:nvPr/>
        </p:nvSpPr>
        <p:spPr>
          <a:xfrm>
            <a:off x="2758440" y="2743200"/>
            <a:ext cx="3881120" cy="410633"/>
          </a:xfrm>
          <a:prstGeom prst="rect">
            <a:avLst/>
          </a:prstGeom>
          <a:noFill/>
          <a:ln>
            <a:noFill/>
          </a:ln>
        </p:spPr>
        <p:txBody>
          <a:bodyPr wrap="none" lIns="0" tIns="0" rIns="0" bIns="0" anchor="t">
            <a:noAutofit/>
          </a:bodyPr>
          <a:lstStyle/>
          <a:p>
            <a:pPr algn="l">
              <a:lnSpc>
                <a:spcPts val="1653"/>
              </a:lnSpc>
              <a:spcAft>
                <a:spcPts val="0"/>
              </a:spcAft>
            </a:pPr>
            <a:r>
              <a:rPr lang="en-US" sz="1450" b="0" dirty="0">
                <a:solidFill>
                  <a:srgbClr val="181C23"/>
                </a:solidFill>
                <a:latin typeface="Funnel Sans"/>
              </a:rPr>
              <a:t>D02 method, scope, evidence and workflow</a:t>
            </a:r>
            <a:endParaRPr lang="en-US" sz="1450"/>
          </a:p>
        </p:txBody>
      </p:sp>
      <p:cxnSp>
        <p:nvCxnSpPr>
          <p:cNvPr id="17" name="connector 17"/>
          <p:cNvCxnSpPr/>
          <p:nvPr/>
        </p:nvCxnSpPr>
        <p:spPr>
          <a:xfrm>
            <a:off x="2631440" y="3204633"/>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6766560" y="2692400"/>
            <a:ext cx="4917440" cy="512233"/>
          </a:xfrm>
          <a:prstGeom prst="rect">
            <a:avLst/>
          </a:prstGeom>
          <a:solidFill>
            <a:srgbClr val="FFFFFF"/>
          </a:solidFill>
          <a:ln>
            <a:noFill/>
          </a:ln>
        </p:spPr>
      </p:sp>
      <p:sp>
        <p:nvSpPr>
          <p:cNvPr id="19" name="text 19"/>
          <p:cNvSpPr/>
          <p:nvPr/>
        </p:nvSpPr>
        <p:spPr>
          <a:xfrm>
            <a:off x="6893560" y="2743200"/>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t1_d02_feature_target_separation/</a:t>
            </a:r>
            <a:endParaRPr lang="en-US" sz="1550"/>
          </a:p>
        </p:txBody>
      </p:sp>
      <p:cxnSp>
        <p:nvCxnSpPr>
          <p:cNvPr id="20" name="connector 20"/>
          <p:cNvCxnSpPr/>
          <p:nvPr/>
        </p:nvCxnSpPr>
        <p:spPr>
          <a:xfrm>
            <a:off x="6766560" y="3204633"/>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204633"/>
            <a:ext cx="2123440" cy="512233"/>
          </a:xfrm>
          <a:prstGeom prst="rect">
            <a:avLst/>
          </a:prstGeom>
          <a:solidFill>
            <a:srgbClr val="EFEEE9"/>
          </a:solidFill>
          <a:ln>
            <a:noFill/>
          </a:ln>
        </p:spPr>
      </p:sp>
      <p:sp>
        <p:nvSpPr>
          <p:cNvPr id="22" name="text 22"/>
          <p:cNvSpPr/>
          <p:nvPr/>
        </p:nvSpPr>
        <p:spPr>
          <a:xfrm>
            <a:off x="635000" y="3255433"/>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D04R/M/X/E</a:t>
            </a:r>
            <a:endParaRPr lang="en-US" sz="1550"/>
          </a:p>
        </p:txBody>
      </p:sp>
      <p:cxnSp>
        <p:nvCxnSpPr>
          <p:cNvPr id="23" name="connector 23"/>
          <p:cNvCxnSpPr/>
          <p:nvPr/>
        </p:nvCxnSpPr>
        <p:spPr>
          <a:xfrm>
            <a:off x="508000" y="3716867"/>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2631440" y="3204633"/>
            <a:ext cx="4135120" cy="512233"/>
          </a:xfrm>
          <a:prstGeom prst="rect">
            <a:avLst/>
          </a:prstGeom>
          <a:solidFill>
            <a:srgbClr val="EFEEE9"/>
          </a:solidFill>
          <a:ln>
            <a:noFill/>
          </a:ln>
        </p:spPr>
      </p:sp>
      <p:sp>
        <p:nvSpPr>
          <p:cNvPr id="25" name="text 25"/>
          <p:cNvSpPr/>
          <p:nvPr/>
        </p:nvSpPr>
        <p:spPr>
          <a:xfrm>
            <a:off x="2758440" y="3255433"/>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D04 engine and paused workflow</a:t>
            </a:r>
            <a:endParaRPr lang="en-US" sz="1550"/>
          </a:p>
        </p:txBody>
      </p:sp>
      <p:cxnSp>
        <p:nvCxnSpPr>
          <p:cNvPr id="26" name="connector 26"/>
          <p:cNvCxnSpPr/>
          <p:nvPr/>
        </p:nvCxnSpPr>
        <p:spPr>
          <a:xfrm>
            <a:off x="2631440" y="3716867"/>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6766560" y="3204633"/>
            <a:ext cx="4917440" cy="512233"/>
          </a:xfrm>
          <a:prstGeom prst="rect">
            <a:avLst/>
          </a:prstGeom>
          <a:solidFill>
            <a:srgbClr val="EFEEE9"/>
          </a:solidFill>
          <a:ln>
            <a:noFill/>
          </a:ln>
        </p:spPr>
      </p:sp>
      <p:sp>
        <p:nvSpPr>
          <p:cNvPr id="28" name="text 28"/>
          <p:cNvSpPr/>
          <p:nvPr/>
        </p:nvSpPr>
        <p:spPr>
          <a:xfrm>
            <a:off x="6893560" y="3255433"/>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t2_d04_cross_field_business_rule/</a:t>
            </a:r>
            <a:endParaRPr lang="en-US" sz="1550"/>
          </a:p>
        </p:txBody>
      </p:sp>
      <p:cxnSp>
        <p:nvCxnSpPr>
          <p:cNvPr id="29" name="connector 29"/>
          <p:cNvCxnSpPr/>
          <p:nvPr/>
        </p:nvCxnSpPr>
        <p:spPr>
          <a:xfrm>
            <a:off x="6766560" y="3716867"/>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716867"/>
            <a:ext cx="2123440" cy="512233"/>
          </a:xfrm>
          <a:prstGeom prst="rect">
            <a:avLst/>
          </a:prstGeom>
          <a:solidFill>
            <a:srgbClr val="FFFFFF"/>
          </a:solidFill>
          <a:ln>
            <a:noFill/>
          </a:ln>
        </p:spPr>
      </p:sp>
      <p:sp>
        <p:nvSpPr>
          <p:cNvPr id="31" name="text 31"/>
          <p:cNvSpPr/>
          <p:nvPr/>
        </p:nvSpPr>
        <p:spPr>
          <a:xfrm>
            <a:off x="635000" y="3767667"/>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D06R/M/X/E/T</a:t>
            </a:r>
            <a:endParaRPr lang="en-US" sz="1550"/>
          </a:p>
        </p:txBody>
      </p:sp>
      <p:cxnSp>
        <p:nvCxnSpPr>
          <p:cNvPr id="32" name="connector 32"/>
          <p:cNvCxnSpPr/>
          <p:nvPr/>
        </p:nvCxnSpPr>
        <p:spPr>
          <a:xfrm>
            <a:off x="508000" y="422910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631440" y="3716867"/>
            <a:ext cx="4135120" cy="512233"/>
          </a:xfrm>
          <a:prstGeom prst="rect">
            <a:avLst/>
          </a:prstGeom>
          <a:solidFill>
            <a:srgbClr val="FFFFFF"/>
          </a:solidFill>
          <a:ln>
            <a:noFill/>
          </a:ln>
        </p:spPr>
      </p:sp>
      <p:sp>
        <p:nvSpPr>
          <p:cNvPr id="34" name="text 34"/>
          <p:cNvSpPr/>
          <p:nvPr/>
        </p:nvSpPr>
        <p:spPr>
          <a:xfrm>
            <a:off x="2758440" y="3767667"/>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D06 continuity method and synthetic test</a:t>
            </a:r>
            <a:endParaRPr lang="en-US" sz="1550"/>
          </a:p>
        </p:txBody>
      </p:sp>
      <p:cxnSp>
        <p:nvCxnSpPr>
          <p:cNvPr id="35" name="connector 35"/>
          <p:cNvCxnSpPr/>
          <p:nvPr/>
        </p:nvCxnSpPr>
        <p:spPr>
          <a:xfrm>
            <a:off x="2631440" y="422910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6766560" y="3716867"/>
            <a:ext cx="4917440" cy="512233"/>
          </a:xfrm>
          <a:prstGeom prst="rect">
            <a:avLst/>
          </a:prstGeom>
          <a:solidFill>
            <a:srgbClr val="FFFFFF"/>
          </a:solidFill>
          <a:ln>
            <a:noFill/>
          </a:ln>
        </p:spPr>
      </p:sp>
      <p:sp>
        <p:nvSpPr>
          <p:cNvPr id="37" name="text 37"/>
          <p:cNvSpPr/>
          <p:nvPr/>
        </p:nvSpPr>
        <p:spPr>
          <a:xfrm>
            <a:off x="6893560" y="3767667"/>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t2_d06_row_completeness/</a:t>
            </a:r>
            <a:endParaRPr lang="en-US" sz="1550"/>
          </a:p>
        </p:txBody>
      </p:sp>
      <p:cxnSp>
        <p:nvCxnSpPr>
          <p:cNvPr id="38" name="connector 38"/>
          <p:cNvCxnSpPr/>
          <p:nvPr/>
        </p:nvCxnSpPr>
        <p:spPr>
          <a:xfrm>
            <a:off x="6766560" y="422910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229100"/>
            <a:ext cx="2123440" cy="512233"/>
          </a:xfrm>
          <a:prstGeom prst="rect">
            <a:avLst/>
          </a:prstGeom>
          <a:solidFill>
            <a:srgbClr val="EFEEE9"/>
          </a:solidFill>
          <a:ln>
            <a:noFill/>
          </a:ln>
        </p:spPr>
      </p:sp>
      <p:sp>
        <p:nvSpPr>
          <p:cNvPr id="40" name="text 40"/>
          <p:cNvSpPr/>
          <p:nvPr/>
        </p:nvSpPr>
        <p:spPr>
          <a:xfrm>
            <a:off x="635000" y="4279900"/>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D08R/M/X/E/K</a:t>
            </a:r>
            <a:endParaRPr lang="en-US" sz="1550"/>
          </a:p>
        </p:txBody>
      </p:sp>
      <p:cxnSp>
        <p:nvCxnSpPr>
          <p:cNvPr id="41" name="connector 41"/>
          <p:cNvCxnSpPr/>
          <p:nvPr/>
        </p:nvCxnSpPr>
        <p:spPr>
          <a:xfrm>
            <a:off x="508000" y="4741333"/>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2631440" y="4229100"/>
            <a:ext cx="4135120" cy="512233"/>
          </a:xfrm>
          <a:prstGeom prst="rect">
            <a:avLst/>
          </a:prstGeom>
          <a:solidFill>
            <a:srgbClr val="EFEEE9"/>
          </a:solidFill>
          <a:ln>
            <a:noFill/>
          </a:ln>
        </p:spPr>
      </p:sp>
      <p:sp>
        <p:nvSpPr>
          <p:cNvPr id="43" name="text 43"/>
          <p:cNvSpPr/>
          <p:nvPr/>
        </p:nvSpPr>
        <p:spPr>
          <a:xfrm>
            <a:off x="2758440" y="4279900"/>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D08 roles, tags, coverage and artifacts</a:t>
            </a:r>
            <a:endParaRPr lang="en-US" sz="1550"/>
          </a:p>
        </p:txBody>
      </p:sp>
      <p:cxnSp>
        <p:nvCxnSpPr>
          <p:cNvPr id="44" name="connector 44"/>
          <p:cNvCxnSpPr/>
          <p:nvPr/>
        </p:nvCxnSpPr>
        <p:spPr>
          <a:xfrm>
            <a:off x="2631440" y="4741333"/>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6766560" y="4229100"/>
            <a:ext cx="4917440" cy="512233"/>
          </a:xfrm>
          <a:prstGeom prst="rect">
            <a:avLst/>
          </a:prstGeom>
          <a:solidFill>
            <a:srgbClr val="EFEEE9"/>
          </a:solidFill>
          <a:ln>
            <a:noFill/>
          </a:ln>
        </p:spPr>
      </p:sp>
      <p:sp>
        <p:nvSpPr>
          <p:cNvPr id="46" name="text 46"/>
          <p:cNvSpPr/>
          <p:nvPr/>
        </p:nvSpPr>
        <p:spPr>
          <a:xfrm>
            <a:off x="6893560" y="4279900"/>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t2_d08_value_semantics/; KB v0.2</a:t>
            </a:r>
            <a:endParaRPr lang="en-US" sz="1550"/>
          </a:p>
        </p:txBody>
      </p:sp>
      <p:cxnSp>
        <p:nvCxnSpPr>
          <p:cNvPr id="47" name="connector 47"/>
          <p:cNvCxnSpPr/>
          <p:nvPr/>
        </p:nvCxnSpPr>
        <p:spPr>
          <a:xfrm>
            <a:off x="6766560" y="4741333"/>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4741333"/>
            <a:ext cx="2123440" cy="512233"/>
          </a:xfrm>
          <a:prstGeom prst="rect">
            <a:avLst/>
          </a:prstGeom>
          <a:solidFill>
            <a:srgbClr val="FFFFFF"/>
          </a:solidFill>
          <a:ln>
            <a:noFill/>
          </a:ln>
        </p:spPr>
      </p:sp>
      <p:sp>
        <p:nvSpPr>
          <p:cNvPr id="49" name="text 49"/>
          <p:cNvSpPr/>
          <p:nvPr/>
        </p:nvSpPr>
        <p:spPr>
          <a:xfrm>
            <a:off x="635000" y="4792133"/>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D11R/M/X/E/K</a:t>
            </a:r>
            <a:endParaRPr lang="en-US" sz="1550"/>
          </a:p>
        </p:txBody>
      </p:sp>
      <p:cxnSp>
        <p:nvCxnSpPr>
          <p:cNvPr id="50" name="connector 50"/>
          <p:cNvCxnSpPr/>
          <p:nvPr/>
        </p:nvCxnSpPr>
        <p:spPr>
          <a:xfrm>
            <a:off x="508000" y="5253567"/>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2631440" y="4741333"/>
            <a:ext cx="4135120" cy="512233"/>
          </a:xfrm>
          <a:prstGeom prst="rect">
            <a:avLst/>
          </a:prstGeom>
          <a:solidFill>
            <a:srgbClr val="FFFFFF"/>
          </a:solidFill>
          <a:ln>
            <a:noFill/>
          </a:ln>
        </p:spPr>
      </p:sp>
      <p:sp>
        <p:nvSpPr>
          <p:cNvPr id="52" name="text 52"/>
          <p:cNvSpPr/>
          <p:nvPr/>
        </p:nvSpPr>
        <p:spPr>
          <a:xfrm>
            <a:off x="2758440" y="4792133"/>
            <a:ext cx="3881120" cy="410633"/>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D11 methodology and expected risk knowledge</a:t>
            </a:r>
            <a:endParaRPr lang="en-US" sz="1350"/>
          </a:p>
        </p:txBody>
      </p:sp>
      <p:cxnSp>
        <p:nvCxnSpPr>
          <p:cNvPr id="53" name="connector 53"/>
          <p:cNvCxnSpPr/>
          <p:nvPr/>
        </p:nvCxnSpPr>
        <p:spPr>
          <a:xfrm>
            <a:off x="2631440" y="5253567"/>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6766560" y="4741333"/>
            <a:ext cx="4917440" cy="512233"/>
          </a:xfrm>
          <a:prstGeom prst="rect">
            <a:avLst/>
          </a:prstGeom>
          <a:solidFill>
            <a:srgbClr val="FFFFFF"/>
          </a:solidFill>
          <a:ln>
            <a:noFill/>
          </a:ln>
        </p:spPr>
      </p:sp>
      <p:sp>
        <p:nvSpPr>
          <p:cNvPr id="55" name="text 55"/>
          <p:cNvSpPr/>
          <p:nvPr/>
        </p:nvSpPr>
        <p:spPr>
          <a:xfrm>
            <a:off x="6893560" y="4792133"/>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t2_d11_directional_monotonic_consistency/</a:t>
            </a:r>
            <a:endParaRPr lang="en-US" sz="1550"/>
          </a:p>
        </p:txBody>
      </p:sp>
      <p:cxnSp>
        <p:nvCxnSpPr>
          <p:cNvPr id="56" name="connector 56"/>
          <p:cNvCxnSpPr/>
          <p:nvPr/>
        </p:nvCxnSpPr>
        <p:spPr>
          <a:xfrm>
            <a:off x="6766560" y="5253567"/>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5253567"/>
            <a:ext cx="2123440" cy="512233"/>
          </a:xfrm>
          <a:prstGeom prst="rect">
            <a:avLst/>
          </a:prstGeom>
          <a:solidFill>
            <a:srgbClr val="EFEEE9"/>
          </a:solidFill>
          <a:ln>
            <a:noFill/>
          </a:ln>
        </p:spPr>
      </p:sp>
      <p:sp>
        <p:nvSpPr>
          <p:cNvPr id="58" name="text 58"/>
          <p:cNvSpPr/>
          <p:nvPr/>
        </p:nvSpPr>
        <p:spPr>
          <a:xfrm>
            <a:off x="635000" y="5304367"/>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D14R/M/X/E/T</a:t>
            </a:r>
            <a:endParaRPr lang="en-US" sz="1550"/>
          </a:p>
        </p:txBody>
      </p:sp>
      <p:cxnSp>
        <p:nvCxnSpPr>
          <p:cNvPr id="59" name="connector 59"/>
          <p:cNvCxnSpPr/>
          <p:nvPr/>
        </p:nvCxnSpPr>
        <p:spPr>
          <a:xfrm>
            <a:off x="508000" y="576580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shape 60"/>
          <p:cNvSpPr/>
          <p:nvPr/>
        </p:nvSpPr>
        <p:spPr>
          <a:xfrm>
            <a:off x="2631440" y="5253567"/>
            <a:ext cx="4135120" cy="512233"/>
          </a:xfrm>
          <a:prstGeom prst="rect">
            <a:avLst/>
          </a:prstGeom>
          <a:solidFill>
            <a:srgbClr val="EFEEE9"/>
          </a:solidFill>
          <a:ln>
            <a:noFill/>
          </a:ln>
        </p:spPr>
      </p:sp>
      <p:sp>
        <p:nvSpPr>
          <p:cNvPr id="61" name="text 61"/>
          <p:cNvSpPr/>
          <p:nvPr/>
        </p:nvSpPr>
        <p:spPr>
          <a:xfrm>
            <a:off x="2758440" y="5304367"/>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D14 populations, bins, PSI and tests</a:t>
            </a:r>
            <a:endParaRPr lang="en-US" sz="1550"/>
          </a:p>
        </p:txBody>
      </p:sp>
      <p:cxnSp>
        <p:nvCxnSpPr>
          <p:cNvPr id="62" name="connector 62"/>
          <p:cNvCxnSpPr/>
          <p:nvPr/>
        </p:nvCxnSpPr>
        <p:spPr>
          <a:xfrm>
            <a:off x="2631440" y="576580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shape 63"/>
          <p:cNvSpPr/>
          <p:nvPr/>
        </p:nvSpPr>
        <p:spPr>
          <a:xfrm>
            <a:off x="6766560" y="5253567"/>
            <a:ext cx="4917440" cy="512233"/>
          </a:xfrm>
          <a:prstGeom prst="rect">
            <a:avLst/>
          </a:prstGeom>
          <a:solidFill>
            <a:srgbClr val="EFEEE9"/>
          </a:solidFill>
          <a:ln>
            <a:noFill/>
          </a:ln>
        </p:spPr>
      </p:sp>
      <p:sp>
        <p:nvSpPr>
          <p:cNvPr id="64" name="text 64"/>
          <p:cNvSpPr/>
          <p:nvPr/>
        </p:nvSpPr>
        <p:spPr>
          <a:xfrm>
            <a:off x="6893560" y="5304367"/>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t4_d14_population_stability/</a:t>
            </a:r>
            <a:endParaRPr lang="en-US" sz="1550"/>
          </a:p>
        </p:txBody>
      </p:sp>
      <p:cxnSp>
        <p:nvCxnSpPr>
          <p:cNvPr id="65" name="connector 65"/>
          <p:cNvCxnSpPr/>
          <p:nvPr/>
        </p:nvCxnSpPr>
        <p:spPr>
          <a:xfrm>
            <a:off x="6766560" y="576580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shape 66"/>
          <p:cNvSpPr/>
          <p:nvPr/>
        </p:nvSpPr>
        <p:spPr>
          <a:xfrm>
            <a:off x="508000" y="5740400"/>
            <a:ext cx="11176000" cy="546100"/>
          </a:xfrm>
          <a:prstGeom prst="rect">
            <a:avLst/>
          </a:prstGeom>
          <a:solidFill>
            <a:srgbClr val="282A27"/>
          </a:solidFill>
          <a:ln>
            <a:noFill/>
          </a:ln>
        </p:spPr>
      </p:sp>
      <p:sp>
        <p:nvSpPr>
          <p:cNvPr id="67" name="text 6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Speaker notes contain the full source paths and the specific contract, function or worksheet reference.</a:t>
            </a:r>
            <a:endParaRPr lang="en-US" sz="1600"/>
          </a:p>
        </p:txBody>
      </p:sp>
      <p:cxnSp>
        <p:nvCxnSpPr>
          <p:cNvPr id="68" name="connector 6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69" name="text 6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0" name="text 7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81 / 87</a:t>
            </a:r>
            <a:endParaRPr lang="en-US" sz="100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SOURCE MATRIX</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Trace major claims to their source families (3/3)</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Every slide also carries file-level and section/function references in its speaker notes.</a:t>
            </a:r>
            <a:endParaRPr lang="en-US" sz="1500"/>
          </a:p>
        </p:txBody>
      </p:sp>
      <p:sp>
        <p:nvSpPr>
          <p:cNvPr id="6" name="shape 6"/>
          <p:cNvSpPr/>
          <p:nvPr/>
        </p:nvSpPr>
        <p:spPr>
          <a:xfrm>
            <a:off x="508000" y="2235200"/>
            <a:ext cx="2123440" cy="457200"/>
          </a:xfrm>
          <a:prstGeom prst="rect">
            <a:avLst/>
          </a:prstGeom>
          <a:solidFill>
            <a:srgbClr val="282A27"/>
          </a:solidFill>
          <a:ln>
            <a:noFill/>
          </a:ln>
        </p:spPr>
      </p:sp>
      <p:sp>
        <p:nvSpPr>
          <p:cNvPr id="7" name="text 7"/>
          <p:cNvSpPr/>
          <p:nvPr/>
        </p:nvSpPr>
        <p:spPr>
          <a:xfrm>
            <a:off x="635000" y="2349500"/>
            <a:ext cx="18694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Source key</a:t>
            </a:r>
            <a:endParaRPr lang="en-US" sz="1200"/>
          </a:p>
        </p:txBody>
      </p:sp>
      <p:sp>
        <p:nvSpPr>
          <p:cNvPr id="8" name="shape 8"/>
          <p:cNvSpPr/>
          <p:nvPr/>
        </p:nvSpPr>
        <p:spPr>
          <a:xfrm>
            <a:off x="2631440" y="2235200"/>
            <a:ext cx="4135120" cy="457200"/>
          </a:xfrm>
          <a:prstGeom prst="rect">
            <a:avLst/>
          </a:prstGeom>
          <a:solidFill>
            <a:srgbClr val="282A27"/>
          </a:solidFill>
          <a:ln>
            <a:noFill/>
          </a:ln>
        </p:spPr>
      </p:sp>
      <p:sp>
        <p:nvSpPr>
          <p:cNvPr id="9" name="text 9"/>
          <p:cNvSpPr/>
          <p:nvPr/>
        </p:nvSpPr>
        <p:spPr>
          <a:xfrm>
            <a:off x="2758440" y="2349500"/>
            <a:ext cx="38811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Claim family</a:t>
            </a:r>
            <a:endParaRPr lang="en-US" sz="1200"/>
          </a:p>
        </p:txBody>
      </p:sp>
      <p:sp>
        <p:nvSpPr>
          <p:cNvPr id="10" name="shape 10"/>
          <p:cNvSpPr/>
          <p:nvPr/>
        </p:nvSpPr>
        <p:spPr>
          <a:xfrm>
            <a:off x="6766560" y="2235200"/>
            <a:ext cx="4917440" cy="457200"/>
          </a:xfrm>
          <a:prstGeom prst="rect">
            <a:avLst/>
          </a:prstGeom>
          <a:solidFill>
            <a:srgbClr val="282A27"/>
          </a:solidFill>
          <a:ln>
            <a:noFill/>
          </a:ln>
        </p:spPr>
      </p:sp>
      <p:sp>
        <p:nvSpPr>
          <p:cNvPr id="11" name="text 11"/>
          <p:cNvSpPr/>
          <p:nvPr/>
        </p:nvSpPr>
        <p:spPr>
          <a:xfrm>
            <a:off x="6893560" y="2349500"/>
            <a:ext cx="466344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Repository location / document</a:t>
            </a:r>
            <a:endParaRPr lang="en-US" sz="1200"/>
          </a:p>
        </p:txBody>
      </p:sp>
      <p:sp>
        <p:nvSpPr>
          <p:cNvPr id="12" name="shape 12"/>
          <p:cNvSpPr/>
          <p:nvPr/>
        </p:nvSpPr>
        <p:spPr>
          <a:xfrm>
            <a:off x="508000" y="2692400"/>
            <a:ext cx="2123440" cy="512233"/>
          </a:xfrm>
          <a:prstGeom prst="rect">
            <a:avLst/>
          </a:prstGeom>
          <a:solidFill>
            <a:srgbClr val="FFFFFF"/>
          </a:solidFill>
          <a:ln>
            <a:noFill/>
          </a:ln>
        </p:spPr>
      </p:sp>
      <p:sp>
        <p:nvSpPr>
          <p:cNvPr id="13" name="text 13"/>
          <p:cNvSpPr/>
          <p:nvPr/>
        </p:nvSpPr>
        <p:spPr>
          <a:xfrm>
            <a:off x="635000" y="2743200"/>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S01 / S02</a:t>
            </a:r>
            <a:endParaRPr lang="en-US" sz="1550"/>
          </a:p>
        </p:txBody>
      </p:sp>
      <p:cxnSp>
        <p:nvCxnSpPr>
          <p:cNvPr id="14" name="connector 14"/>
          <p:cNvCxnSpPr/>
          <p:nvPr/>
        </p:nvCxnSpPr>
        <p:spPr>
          <a:xfrm>
            <a:off x="508000" y="3204633"/>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2631440" y="2692400"/>
            <a:ext cx="4135120" cy="512233"/>
          </a:xfrm>
          <a:prstGeom prst="rect">
            <a:avLst/>
          </a:prstGeom>
          <a:solidFill>
            <a:srgbClr val="FFFFFF"/>
          </a:solidFill>
          <a:ln>
            <a:noFill/>
          </a:ln>
        </p:spPr>
      </p:sp>
      <p:sp>
        <p:nvSpPr>
          <p:cNvPr id="16" name="text 16"/>
          <p:cNvSpPr/>
          <p:nvPr/>
        </p:nvSpPr>
        <p:spPr>
          <a:xfrm>
            <a:off x="2758440" y="2743200"/>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Framework and 20-row inventory</a:t>
            </a:r>
            <a:endParaRPr lang="en-US" sz="1550"/>
          </a:p>
        </p:txBody>
      </p:sp>
      <p:cxnSp>
        <p:nvCxnSpPr>
          <p:cNvPr id="17" name="connector 17"/>
          <p:cNvCxnSpPr/>
          <p:nvPr/>
        </p:nvCxnSpPr>
        <p:spPr>
          <a:xfrm>
            <a:off x="2631440" y="3204633"/>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6766560" y="2692400"/>
            <a:ext cx="4917440" cy="512233"/>
          </a:xfrm>
          <a:prstGeom prst="rect">
            <a:avLst/>
          </a:prstGeom>
          <a:solidFill>
            <a:srgbClr val="FFFFFF"/>
          </a:solidFill>
          <a:ln>
            <a:noFill/>
          </a:ln>
        </p:spPr>
      </p:sp>
      <p:sp>
        <p:nvSpPr>
          <p:cNvPr id="19" name="text 19"/>
          <p:cNvSpPr/>
          <p:nvPr/>
        </p:nvSpPr>
        <p:spPr>
          <a:xfrm>
            <a:off x="6893560" y="2743200"/>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Supplied framework and MVP workbooks</a:t>
            </a:r>
            <a:endParaRPr lang="en-US" sz="1550"/>
          </a:p>
        </p:txBody>
      </p:sp>
      <p:cxnSp>
        <p:nvCxnSpPr>
          <p:cNvPr id="20" name="connector 20"/>
          <p:cNvCxnSpPr/>
          <p:nvPr/>
        </p:nvCxnSpPr>
        <p:spPr>
          <a:xfrm>
            <a:off x="6766560" y="3204633"/>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204633"/>
            <a:ext cx="2123440" cy="512233"/>
          </a:xfrm>
          <a:prstGeom prst="rect">
            <a:avLst/>
          </a:prstGeom>
          <a:solidFill>
            <a:srgbClr val="EFEEE9"/>
          </a:solidFill>
          <a:ln>
            <a:noFill/>
          </a:ln>
        </p:spPr>
      </p:sp>
      <p:sp>
        <p:nvSpPr>
          <p:cNvPr id="22" name="text 22"/>
          <p:cNvSpPr/>
          <p:nvPr/>
        </p:nvSpPr>
        <p:spPr>
          <a:xfrm>
            <a:off x="635000" y="3255433"/>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S03 / S04</a:t>
            </a:r>
            <a:endParaRPr lang="en-US" sz="1550"/>
          </a:p>
        </p:txBody>
      </p:sp>
      <p:cxnSp>
        <p:nvCxnSpPr>
          <p:cNvPr id="23" name="connector 23"/>
          <p:cNvCxnSpPr/>
          <p:nvPr/>
        </p:nvCxnSpPr>
        <p:spPr>
          <a:xfrm>
            <a:off x="508000" y="3716867"/>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2631440" y="3204633"/>
            <a:ext cx="4135120" cy="512233"/>
          </a:xfrm>
          <a:prstGeom prst="rect">
            <a:avLst/>
          </a:prstGeom>
          <a:solidFill>
            <a:srgbClr val="EFEEE9"/>
          </a:solidFill>
          <a:ln>
            <a:noFill/>
          </a:ln>
        </p:spPr>
      </p:sp>
      <p:sp>
        <p:nvSpPr>
          <p:cNvPr id="25" name="text 25"/>
          <p:cNvSpPr/>
          <p:nvPr/>
        </p:nvSpPr>
        <p:spPr>
          <a:xfrm>
            <a:off x="2758440" y="3255433"/>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Historical framing and visual design</a:t>
            </a:r>
            <a:endParaRPr lang="en-US" sz="1550"/>
          </a:p>
        </p:txBody>
      </p:sp>
      <p:cxnSp>
        <p:nvCxnSpPr>
          <p:cNvPr id="26" name="connector 26"/>
          <p:cNvCxnSpPr/>
          <p:nvPr/>
        </p:nvCxnSpPr>
        <p:spPr>
          <a:xfrm>
            <a:off x="2631440" y="3716867"/>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6766560" y="3204633"/>
            <a:ext cx="4917440" cy="512233"/>
          </a:xfrm>
          <a:prstGeom prst="rect">
            <a:avLst/>
          </a:prstGeom>
          <a:solidFill>
            <a:srgbClr val="EFEEE9"/>
          </a:solidFill>
          <a:ln>
            <a:noFill/>
          </a:ln>
        </p:spPr>
      </p:sp>
      <p:sp>
        <p:nvSpPr>
          <p:cNvPr id="28" name="text 28"/>
          <p:cNvSpPr/>
          <p:nvPr/>
        </p:nvSpPr>
        <p:spPr>
          <a:xfrm>
            <a:off x="6893560" y="3255433"/>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Supplied presentations; reference slide 4</a:t>
            </a:r>
            <a:endParaRPr lang="en-US" sz="1550"/>
          </a:p>
        </p:txBody>
      </p:sp>
      <p:cxnSp>
        <p:nvCxnSpPr>
          <p:cNvPr id="29" name="connector 29"/>
          <p:cNvCxnSpPr/>
          <p:nvPr/>
        </p:nvCxnSpPr>
        <p:spPr>
          <a:xfrm>
            <a:off x="6766560" y="3716867"/>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716867"/>
            <a:ext cx="2123440" cy="512233"/>
          </a:xfrm>
          <a:prstGeom prst="rect">
            <a:avLst/>
          </a:prstGeom>
          <a:solidFill>
            <a:srgbClr val="FFFFFF"/>
          </a:solidFill>
          <a:ln>
            <a:noFill/>
          </a:ln>
        </p:spPr>
      </p:sp>
      <p:sp>
        <p:nvSpPr>
          <p:cNvPr id="31" name="text 31"/>
          <p:cNvSpPr/>
          <p:nvPr/>
        </p:nvSpPr>
        <p:spPr>
          <a:xfrm>
            <a:off x="635000" y="3767667"/>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S25 / S26 / S34</a:t>
            </a:r>
            <a:endParaRPr lang="en-US" sz="1550"/>
          </a:p>
        </p:txBody>
      </p:sp>
      <p:cxnSp>
        <p:nvCxnSpPr>
          <p:cNvPr id="32" name="connector 32"/>
          <p:cNvCxnSpPr/>
          <p:nvPr/>
        </p:nvCxnSpPr>
        <p:spPr>
          <a:xfrm>
            <a:off x="508000" y="422910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2631440" y="3716867"/>
            <a:ext cx="4135120" cy="512233"/>
          </a:xfrm>
          <a:prstGeom prst="rect">
            <a:avLst/>
          </a:prstGeom>
          <a:solidFill>
            <a:srgbClr val="FFFFFF"/>
          </a:solidFill>
          <a:ln>
            <a:noFill/>
          </a:ln>
        </p:spPr>
      </p:sp>
      <p:sp>
        <p:nvSpPr>
          <p:cNvPr id="34" name="text 34"/>
          <p:cNvSpPr/>
          <p:nvPr/>
        </p:nvSpPr>
        <p:spPr>
          <a:xfrm>
            <a:off x="2758440" y="3767667"/>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Retired library and successor mapping</a:t>
            </a:r>
            <a:endParaRPr lang="en-US" sz="1550"/>
          </a:p>
        </p:txBody>
      </p:sp>
      <p:cxnSp>
        <p:nvCxnSpPr>
          <p:cNvPr id="35" name="connector 35"/>
          <p:cNvCxnSpPr/>
          <p:nvPr/>
        </p:nvCxnSpPr>
        <p:spPr>
          <a:xfrm>
            <a:off x="2631440" y="422910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6766560" y="3716867"/>
            <a:ext cx="4917440" cy="512233"/>
          </a:xfrm>
          <a:prstGeom prst="rect">
            <a:avLst/>
          </a:prstGeom>
          <a:solidFill>
            <a:srgbClr val="FFFFFF"/>
          </a:solidFill>
          <a:ln>
            <a:noFill/>
          </a:ln>
        </p:spPr>
      </p:sp>
      <p:sp>
        <p:nvSpPr>
          <p:cNvPr id="37" name="text 37"/>
          <p:cNvSpPr/>
          <p:nvPr/>
        </p:nvSpPr>
        <p:spPr>
          <a:xfrm>
            <a:off x="6893560" y="3767667"/>
            <a:ext cx="4663440" cy="410633"/>
          </a:xfrm>
          <a:prstGeom prst="rect">
            <a:avLst/>
          </a:prstGeom>
          <a:noFill/>
          <a:ln>
            <a:noFill/>
          </a:ln>
        </p:spPr>
        <p:txBody>
          <a:bodyPr wrap="none" lIns="0" tIns="0" rIns="0" bIns="0" anchor="t">
            <a:noAutofit/>
          </a:bodyPr>
          <a:lstStyle/>
          <a:p>
            <a:pPr algn="l">
              <a:lnSpc>
                <a:spcPts val="1539"/>
              </a:lnSpc>
              <a:spcAft>
                <a:spcPts val="0"/>
              </a:spcAft>
            </a:pPr>
            <a:r>
              <a:rPr lang="en-US" sz="1350" b="0" dirty="0">
                <a:solidFill>
                  <a:srgbClr val="181C23"/>
                </a:solidFill>
                <a:latin typeface="Funnel Sans"/>
              </a:rPr>
              <a:t>dq_tests/registry.py; 01-disposition.md; historical</a:t>
            </a:r>
            <a:endParaRPr lang="en-US" sz="1350"/>
          </a:p>
          <a:p>
            <a:pPr algn="l">
              <a:lnSpc>
                <a:spcPts val="1539"/>
              </a:lnSpc>
              <a:spcAft>
                <a:spcPts val="0"/>
              </a:spcAft>
            </a:pPr>
            <a:r>
              <a:rPr lang="en-US" sz="1350" b="0" dirty="0">
                <a:solidFill>
                  <a:srgbClr val="181C23"/>
                </a:solidFill>
                <a:latin typeface="Funnel Sans"/>
              </a:rPr>
              <a:t>README</a:t>
            </a:r>
            <a:endParaRPr lang="en-US" sz="1350"/>
          </a:p>
        </p:txBody>
      </p:sp>
      <p:cxnSp>
        <p:nvCxnSpPr>
          <p:cNvPr id="38" name="connector 38"/>
          <p:cNvCxnSpPr/>
          <p:nvPr/>
        </p:nvCxnSpPr>
        <p:spPr>
          <a:xfrm>
            <a:off x="6766560" y="422910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229100"/>
            <a:ext cx="2123440" cy="512233"/>
          </a:xfrm>
          <a:prstGeom prst="rect">
            <a:avLst/>
          </a:prstGeom>
          <a:solidFill>
            <a:srgbClr val="EFEEE9"/>
          </a:solidFill>
          <a:ln>
            <a:noFill/>
          </a:ln>
        </p:spPr>
      </p:sp>
      <p:sp>
        <p:nvSpPr>
          <p:cNvPr id="40" name="text 40"/>
          <p:cNvSpPr/>
          <p:nvPr/>
        </p:nvSpPr>
        <p:spPr>
          <a:xfrm>
            <a:off x="635000" y="4279900"/>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S27 / S28</a:t>
            </a:r>
            <a:endParaRPr lang="en-US" sz="1550"/>
          </a:p>
        </p:txBody>
      </p:sp>
      <p:cxnSp>
        <p:nvCxnSpPr>
          <p:cNvPr id="41" name="connector 41"/>
          <p:cNvCxnSpPr/>
          <p:nvPr/>
        </p:nvCxnSpPr>
        <p:spPr>
          <a:xfrm>
            <a:off x="508000" y="4741333"/>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2631440" y="4229100"/>
            <a:ext cx="4135120" cy="512233"/>
          </a:xfrm>
          <a:prstGeom prst="rect">
            <a:avLst/>
          </a:prstGeom>
          <a:solidFill>
            <a:srgbClr val="EFEEE9"/>
          </a:solidFill>
          <a:ln>
            <a:noFill/>
          </a:ln>
        </p:spPr>
      </p:sp>
      <p:sp>
        <p:nvSpPr>
          <p:cNvPr id="43" name="text 43"/>
          <p:cNvSpPr/>
          <p:nvPr/>
        </p:nvSpPr>
        <p:spPr>
          <a:xfrm>
            <a:off x="2758440" y="4279900"/>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Personas and older framework metadata</a:t>
            </a:r>
            <a:endParaRPr lang="en-US" sz="1550"/>
          </a:p>
        </p:txBody>
      </p:sp>
      <p:cxnSp>
        <p:nvCxnSpPr>
          <p:cNvPr id="44" name="connector 44"/>
          <p:cNvCxnSpPr/>
          <p:nvPr/>
        </p:nvCxnSpPr>
        <p:spPr>
          <a:xfrm>
            <a:off x="2631440" y="4741333"/>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6766560" y="4229100"/>
            <a:ext cx="4917440" cy="512233"/>
          </a:xfrm>
          <a:prstGeom prst="rect">
            <a:avLst/>
          </a:prstGeom>
          <a:solidFill>
            <a:srgbClr val="EFEEE9"/>
          </a:solidFill>
          <a:ln>
            <a:noFill/>
          </a:ln>
        </p:spPr>
      </p:sp>
      <p:sp>
        <p:nvSpPr>
          <p:cNvPr id="46" name="text 46"/>
          <p:cNvSpPr/>
          <p:nvPr/>
        </p:nvSpPr>
        <p:spPr>
          <a:xfrm>
            <a:off x="6893560" y="4279900"/>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Product specification; 00-framework.md</a:t>
            </a:r>
            <a:endParaRPr lang="en-US" sz="1550"/>
          </a:p>
        </p:txBody>
      </p:sp>
      <p:cxnSp>
        <p:nvCxnSpPr>
          <p:cNvPr id="47" name="connector 47"/>
          <p:cNvCxnSpPr/>
          <p:nvPr/>
        </p:nvCxnSpPr>
        <p:spPr>
          <a:xfrm>
            <a:off x="6766560" y="4741333"/>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4741333"/>
            <a:ext cx="2123440" cy="512233"/>
          </a:xfrm>
          <a:prstGeom prst="rect">
            <a:avLst/>
          </a:prstGeom>
          <a:solidFill>
            <a:srgbClr val="FFFFFF"/>
          </a:solidFill>
          <a:ln>
            <a:noFill/>
          </a:ln>
        </p:spPr>
      </p:sp>
      <p:sp>
        <p:nvSpPr>
          <p:cNvPr id="49" name="text 49"/>
          <p:cNvSpPr/>
          <p:nvPr/>
        </p:nvSpPr>
        <p:spPr>
          <a:xfrm>
            <a:off x="635000" y="4792133"/>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S29 / S30</a:t>
            </a:r>
            <a:endParaRPr lang="en-US" sz="1550"/>
          </a:p>
        </p:txBody>
      </p:sp>
      <p:cxnSp>
        <p:nvCxnSpPr>
          <p:cNvPr id="50" name="connector 50"/>
          <p:cNvCxnSpPr/>
          <p:nvPr/>
        </p:nvCxnSpPr>
        <p:spPr>
          <a:xfrm>
            <a:off x="508000" y="5253567"/>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2631440" y="4741333"/>
            <a:ext cx="4135120" cy="512233"/>
          </a:xfrm>
          <a:prstGeom prst="rect">
            <a:avLst/>
          </a:prstGeom>
          <a:solidFill>
            <a:srgbClr val="FFFFFF"/>
          </a:solidFill>
          <a:ln>
            <a:noFill/>
          </a:ln>
        </p:spPr>
      </p:sp>
      <p:sp>
        <p:nvSpPr>
          <p:cNvPr id="52" name="text 52"/>
          <p:cNvSpPr/>
          <p:nvPr/>
        </p:nvSpPr>
        <p:spPr>
          <a:xfrm>
            <a:off x="2758440" y="4792133"/>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Artifact schemas, integrity and reuse</a:t>
            </a:r>
            <a:endParaRPr lang="en-US" sz="1550"/>
          </a:p>
        </p:txBody>
      </p:sp>
      <p:cxnSp>
        <p:nvCxnSpPr>
          <p:cNvPr id="53" name="connector 53"/>
          <p:cNvCxnSpPr/>
          <p:nvPr/>
        </p:nvCxnSpPr>
        <p:spPr>
          <a:xfrm>
            <a:off x="2631440" y="5253567"/>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6766560" y="4741333"/>
            <a:ext cx="4917440" cy="512233"/>
          </a:xfrm>
          <a:prstGeom prst="rect">
            <a:avLst/>
          </a:prstGeom>
          <a:solidFill>
            <a:srgbClr val="FFFFFF"/>
          </a:solidFill>
          <a:ln>
            <a:noFill/>
          </a:ln>
        </p:spPr>
      </p:sp>
      <p:sp>
        <p:nvSpPr>
          <p:cNvPr id="55" name="text 55"/>
          <p:cNvSpPr/>
          <p:nvPr/>
        </p:nvSpPr>
        <p:spPr>
          <a:xfrm>
            <a:off x="6893560" y="4792133"/>
            <a:ext cx="466344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domains/aar/types.py; repository.py</a:t>
            </a:r>
            <a:endParaRPr lang="en-US" sz="1550"/>
          </a:p>
        </p:txBody>
      </p:sp>
      <p:cxnSp>
        <p:nvCxnSpPr>
          <p:cNvPr id="56" name="connector 56"/>
          <p:cNvCxnSpPr/>
          <p:nvPr/>
        </p:nvCxnSpPr>
        <p:spPr>
          <a:xfrm>
            <a:off x="6766560" y="5253567"/>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5253567"/>
            <a:ext cx="2123440" cy="512233"/>
          </a:xfrm>
          <a:prstGeom prst="rect">
            <a:avLst/>
          </a:prstGeom>
          <a:solidFill>
            <a:srgbClr val="EFEEE9"/>
          </a:solidFill>
          <a:ln>
            <a:noFill/>
          </a:ln>
        </p:spPr>
      </p:sp>
      <p:sp>
        <p:nvSpPr>
          <p:cNvPr id="58" name="text 58"/>
          <p:cNvSpPr/>
          <p:nvPr/>
        </p:nvSpPr>
        <p:spPr>
          <a:xfrm>
            <a:off x="635000" y="5304367"/>
            <a:ext cx="1869440" cy="410633"/>
          </a:xfrm>
          <a:prstGeom prst="rect">
            <a:avLst/>
          </a:prstGeom>
          <a:noFill/>
          <a:ln>
            <a:noFill/>
          </a:ln>
        </p:spPr>
        <p:txBody>
          <a:bodyPr wrap="none" lIns="0" tIns="0" rIns="0" bIns="0" anchor="t">
            <a:noAutofit/>
          </a:bodyPr>
          <a:lstStyle/>
          <a:p>
            <a:pPr algn="l">
              <a:lnSpc>
                <a:spcPts val="1767"/>
              </a:lnSpc>
              <a:spcAft>
                <a:spcPts val="0"/>
              </a:spcAft>
            </a:pPr>
            <a:r>
              <a:rPr lang="en-US" sz="1550" b="1" dirty="0">
                <a:solidFill>
                  <a:srgbClr val="181C23"/>
                </a:solidFill>
                <a:latin typeface="Funnel Sans"/>
              </a:rPr>
              <a:t>S31–S33</a:t>
            </a:r>
            <a:endParaRPr lang="en-US" sz="1550"/>
          </a:p>
        </p:txBody>
      </p:sp>
      <p:cxnSp>
        <p:nvCxnSpPr>
          <p:cNvPr id="59" name="connector 59"/>
          <p:cNvCxnSpPr/>
          <p:nvPr/>
        </p:nvCxnSpPr>
        <p:spPr>
          <a:xfrm>
            <a:off x="508000" y="5765800"/>
            <a:ext cx="2123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shape 60"/>
          <p:cNvSpPr/>
          <p:nvPr/>
        </p:nvSpPr>
        <p:spPr>
          <a:xfrm>
            <a:off x="2631440" y="5253567"/>
            <a:ext cx="4135120" cy="512233"/>
          </a:xfrm>
          <a:prstGeom prst="rect">
            <a:avLst/>
          </a:prstGeom>
          <a:solidFill>
            <a:srgbClr val="EFEEE9"/>
          </a:solidFill>
          <a:ln>
            <a:noFill/>
          </a:ln>
        </p:spPr>
      </p:sp>
      <p:sp>
        <p:nvSpPr>
          <p:cNvPr id="61" name="text 61"/>
          <p:cNvSpPr/>
          <p:nvPr/>
        </p:nvSpPr>
        <p:spPr>
          <a:xfrm>
            <a:off x="2758440" y="5304367"/>
            <a:ext cx="3881120" cy="410633"/>
          </a:xfrm>
          <a:prstGeom prst="rect">
            <a:avLst/>
          </a:prstGeom>
          <a:noFill/>
          <a:ln>
            <a:noFill/>
          </a:ln>
        </p:spPr>
        <p:txBody>
          <a:bodyPr wrap="none" lIns="0" tIns="0" rIns="0" bIns="0" anchor="t">
            <a:noAutofit/>
          </a:bodyPr>
          <a:lstStyle/>
          <a:p>
            <a:pPr algn="l">
              <a:lnSpc>
                <a:spcPts val="1767"/>
              </a:lnSpc>
              <a:spcAft>
                <a:spcPts val="0"/>
              </a:spcAft>
            </a:pPr>
            <a:r>
              <a:rPr lang="en-US" sz="1550" b="0" dirty="0">
                <a:solidFill>
                  <a:srgbClr val="181C23"/>
                </a:solidFill>
                <a:latin typeface="Funnel Sans"/>
              </a:rPr>
              <a:t>Sourcing, coverage reporting and tests</a:t>
            </a:r>
            <a:endParaRPr lang="en-US" sz="1550"/>
          </a:p>
        </p:txBody>
      </p:sp>
      <p:cxnSp>
        <p:nvCxnSpPr>
          <p:cNvPr id="62" name="connector 62"/>
          <p:cNvCxnSpPr/>
          <p:nvPr/>
        </p:nvCxnSpPr>
        <p:spPr>
          <a:xfrm>
            <a:off x="2631440" y="5765800"/>
            <a:ext cx="41351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shape 63"/>
          <p:cNvSpPr/>
          <p:nvPr/>
        </p:nvSpPr>
        <p:spPr>
          <a:xfrm>
            <a:off x="6766560" y="5253567"/>
            <a:ext cx="4917440" cy="512233"/>
          </a:xfrm>
          <a:prstGeom prst="rect">
            <a:avLst/>
          </a:prstGeom>
          <a:solidFill>
            <a:srgbClr val="EFEEE9"/>
          </a:solidFill>
          <a:ln>
            <a:noFill/>
          </a:ln>
        </p:spPr>
      </p:sp>
      <p:sp>
        <p:nvSpPr>
          <p:cNvPr id="64" name="text 64"/>
          <p:cNvSpPr/>
          <p:nvPr/>
        </p:nvSpPr>
        <p:spPr>
          <a:xfrm>
            <a:off x="6893560" y="5304367"/>
            <a:ext cx="4663440" cy="410633"/>
          </a:xfrm>
          <a:prstGeom prst="rect">
            <a:avLst/>
          </a:prstGeom>
          <a:noFill/>
          <a:ln>
            <a:noFill/>
          </a:ln>
        </p:spPr>
        <p:txBody>
          <a:bodyPr wrap="none" lIns="0" tIns="0" rIns="0" bIns="0" anchor="t">
            <a:noAutofit/>
          </a:bodyPr>
          <a:lstStyle/>
          <a:p>
            <a:pPr algn="l">
              <a:lnSpc>
                <a:spcPts val="1596"/>
              </a:lnSpc>
              <a:spcAft>
                <a:spcPts val="0"/>
              </a:spcAft>
            </a:pPr>
            <a:r>
              <a:rPr lang="en-US" sz="1400" b="0" dirty="0">
                <a:solidFill>
                  <a:srgbClr val="181C23"/>
                </a:solidFill>
                <a:latin typeface="Funnel Sans"/>
              </a:rPr>
              <a:t>routers/sourcing.py; ScorePanel.jsx; missingness tests</a:t>
            </a:r>
            <a:endParaRPr lang="en-US" sz="1400"/>
          </a:p>
        </p:txBody>
      </p:sp>
      <p:cxnSp>
        <p:nvCxnSpPr>
          <p:cNvPr id="65" name="connector 65"/>
          <p:cNvCxnSpPr/>
          <p:nvPr/>
        </p:nvCxnSpPr>
        <p:spPr>
          <a:xfrm>
            <a:off x="6766560" y="5765800"/>
            <a:ext cx="491744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shape 66"/>
          <p:cNvSpPr/>
          <p:nvPr/>
        </p:nvSpPr>
        <p:spPr>
          <a:xfrm>
            <a:off x="508000" y="5740400"/>
            <a:ext cx="11176000" cy="546100"/>
          </a:xfrm>
          <a:prstGeom prst="rect">
            <a:avLst/>
          </a:prstGeom>
          <a:solidFill>
            <a:srgbClr val="282A27"/>
          </a:solidFill>
          <a:ln>
            <a:noFill/>
          </a:ln>
        </p:spPr>
      </p:sp>
      <p:sp>
        <p:nvSpPr>
          <p:cNvPr id="67" name="text 67"/>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Speaker notes contain the full source paths and the specific contract, function or worksheet reference.</a:t>
            </a:r>
            <a:endParaRPr lang="en-US" sz="1600"/>
          </a:p>
        </p:txBody>
      </p:sp>
      <p:cxnSp>
        <p:nvCxnSpPr>
          <p:cNvPr id="68" name="connector 68"/>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69" name="text 69"/>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0" name="text 70"/>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82 / 87</a:t>
            </a:r>
            <a:endParaRPr lang="en-US" sz="100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SLIDE INDEX</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Navigate from a presentation section to its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slide range and source keys form a concise traceability index.</a:t>
            </a:r>
            <a:endParaRPr lang="en-US" sz="1500"/>
          </a:p>
        </p:txBody>
      </p:sp>
      <p:sp>
        <p:nvSpPr>
          <p:cNvPr id="6" name="shape 6"/>
          <p:cNvSpPr/>
          <p:nvPr/>
        </p:nvSpPr>
        <p:spPr>
          <a:xfrm>
            <a:off x="508000" y="2197100"/>
            <a:ext cx="1117600" cy="457200"/>
          </a:xfrm>
          <a:prstGeom prst="rect">
            <a:avLst/>
          </a:prstGeom>
          <a:solidFill>
            <a:srgbClr val="282A27"/>
          </a:solidFill>
          <a:ln>
            <a:noFill/>
          </a:ln>
        </p:spPr>
      </p:sp>
      <p:sp>
        <p:nvSpPr>
          <p:cNvPr id="7" name="text 7"/>
          <p:cNvSpPr/>
          <p:nvPr/>
        </p:nvSpPr>
        <p:spPr>
          <a:xfrm>
            <a:off x="635000" y="2311400"/>
            <a:ext cx="8636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Slides</a:t>
            </a:r>
            <a:endParaRPr lang="en-US" sz="1200"/>
          </a:p>
        </p:txBody>
      </p:sp>
      <p:sp>
        <p:nvSpPr>
          <p:cNvPr id="8" name="shape 8"/>
          <p:cNvSpPr/>
          <p:nvPr/>
        </p:nvSpPr>
        <p:spPr>
          <a:xfrm>
            <a:off x="1625600" y="2197100"/>
            <a:ext cx="4805680" cy="457200"/>
          </a:xfrm>
          <a:prstGeom prst="rect">
            <a:avLst/>
          </a:prstGeom>
          <a:solidFill>
            <a:srgbClr val="282A27"/>
          </a:solidFill>
          <a:ln>
            <a:noFill/>
          </a:ln>
        </p:spPr>
      </p:sp>
      <p:sp>
        <p:nvSpPr>
          <p:cNvPr id="9" name="text 9"/>
          <p:cNvSpPr/>
          <p:nvPr/>
        </p:nvSpPr>
        <p:spPr>
          <a:xfrm>
            <a:off x="1752600" y="2311400"/>
            <a:ext cx="45516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Section / diagnostic</a:t>
            </a:r>
            <a:endParaRPr lang="en-US" sz="1200"/>
          </a:p>
        </p:txBody>
      </p:sp>
      <p:sp>
        <p:nvSpPr>
          <p:cNvPr id="10" name="shape 10"/>
          <p:cNvSpPr/>
          <p:nvPr/>
        </p:nvSpPr>
        <p:spPr>
          <a:xfrm>
            <a:off x="6431280" y="2197100"/>
            <a:ext cx="5252720" cy="457200"/>
          </a:xfrm>
          <a:prstGeom prst="rect">
            <a:avLst/>
          </a:prstGeom>
          <a:solidFill>
            <a:srgbClr val="282A27"/>
          </a:solidFill>
          <a:ln>
            <a:noFill/>
          </a:ln>
        </p:spPr>
      </p:sp>
      <p:sp>
        <p:nvSpPr>
          <p:cNvPr id="11" name="text 11"/>
          <p:cNvSpPr/>
          <p:nvPr/>
        </p:nvSpPr>
        <p:spPr>
          <a:xfrm>
            <a:off x="6558280" y="2311400"/>
            <a:ext cx="49987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Primary source keys</a:t>
            </a:r>
            <a:endParaRPr lang="en-US" sz="1200"/>
          </a:p>
        </p:txBody>
      </p:sp>
      <p:sp>
        <p:nvSpPr>
          <p:cNvPr id="12" name="shape 12"/>
          <p:cNvSpPr/>
          <p:nvPr/>
        </p:nvSpPr>
        <p:spPr>
          <a:xfrm>
            <a:off x="508000" y="2654300"/>
            <a:ext cx="1117600" cy="484414"/>
          </a:xfrm>
          <a:prstGeom prst="rect">
            <a:avLst/>
          </a:prstGeom>
          <a:solidFill>
            <a:srgbClr val="FFFFFF"/>
          </a:solidFill>
          <a:ln>
            <a:noFill/>
          </a:ln>
        </p:spPr>
      </p:sp>
      <p:sp>
        <p:nvSpPr>
          <p:cNvPr id="13" name="text 13"/>
          <p:cNvSpPr/>
          <p:nvPr/>
        </p:nvSpPr>
        <p:spPr>
          <a:xfrm>
            <a:off x="635000" y="2705100"/>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1–4</a:t>
            </a:r>
            <a:endParaRPr lang="en-US" sz="1300"/>
          </a:p>
        </p:txBody>
      </p:sp>
      <p:cxnSp>
        <p:nvCxnSpPr>
          <p:cNvPr id="14" name="connector 14"/>
          <p:cNvCxnSpPr/>
          <p:nvPr/>
        </p:nvCxnSpPr>
        <p:spPr>
          <a:xfrm>
            <a:off x="508000" y="3138714"/>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1625600" y="2654300"/>
            <a:ext cx="4805680" cy="484414"/>
          </a:xfrm>
          <a:prstGeom prst="rect">
            <a:avLst/>
          </a:prstGeom>
          <a:solidFill>
            <a:srgbClr val="FFFFFF"/>
          </a:solidFill>
          <a:ln>
            <a:noFill/>
          </a:ln>
        </p:spPr>
      </p:sp>
      <p:sp>
        <p:nvSpPr>
          <p:cNvPr id="16" name="text 16"/>
          <p:cNvSpPr/>
          <p:nvPr/>
        </p:nvSpPr>
        <p:spPr>
          <a:xfrm>
            <a:off x="1752600" y="2705100"/>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01 / Product</a:t>
            </a:r>
            <a:endParaRPr lang="en-US" sz="1300"/>
          </a:p>
        </p:txBody>
      </p:sp>
      <p:cxnSp>
        <p:nvCxnSpPr>
          <p:cNvPr id="17" name="connector 17"/>
          <p:cNvCxnSpPr/>
          <p:nvPr/>
        </p:nvCxnSpPr>
        <p:spPr>
          <a:xfrm>
            <a:off x="1625600" y="3138714"/>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6431280" y="2654300"/>
            <a:ext cx="5252720" cy="484414"/>
          </a:xfrm>
          <a:prstGeom prst="rect">
            <a:avLst/>
          </a:prstGeom>
          <a:solidFill>
            <a:srgbClr val="FFFFFF"/>
          </a:solidFill>
          <a:ln>
            <a:noFill/>
          </a:ln>
        </p:spPr>
      </p:sp>
      <p:sp>
        <p:nvSpPr>
          <p:cNvPr id="19" name="text 19"/>
          <p:cNvSpPr/>
          <p:nvPr/>
        </p:nvSpPr>
        <p:spPr>
          <a:xfrm>
            <a:off x="6558280" y="2705100"/>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S05, S06, S04, S01, S08, S03, S21 + notes</a:t>
            </a:r>
            <a:endParaRPr lang="en-US" sz="1300"/>
          </a:p>
        </p:txBody>
      </p:sp>
      <p:cxnSp>
        <p:nvCxnSpPr>
          <p:cNvPr id="20" name="connector 20"/>
          <p:cNvCxnSpPr/>
          <p:nvPr/>
        </p:nvCxnSpPr>
        <p:spPr>
          <a:xfrm>
            <a:off x="6431280" y="3138714"/>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138714"/>
            <a:ext cx="1117600" cy="484414"/>
          </a:xfrm>
          <a:prstGeom prst="rect">
            <a:avLst/>
          </a:prstGeom>
          <a:solidFill>
            <a:srgbClr val="EFEEE9"/>
          </a:solidFill>
          <a:ln>
            <a:noFill/>
          </a:ln>
        </p:spPr>
      </p:sp>
      <p:sp>
        <p:nvSpPr>
          <p:cNvPr id="22" name="text 22"/>
          <p:cNvSpPr/>
          <p:nvPr/>
        </p:nvSpPr>
        <p:spPr>
          <a:xfrm>
            <a:off x="635000" y="3189514"/>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5–6</a:t>
            </a:r>
            <a:endParaRPr lang="en-US" sz="1300"/>
          </a:p>
        </p:txBody>
      </p:sp>
      <p:cxnSp>
        <p:nvCxnSpPr>
          <p:cNvPr id="23" name="connector 23"/>
          <p:cNvCxnSpPr/>
          <p:nvPr/>
        </p:nvCxnSpPr>
        <p:spPr>
          <a:xfrm>
            <a:off x="508000" y="3623129"/>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1625600" y="3138714"/>
            <a:ext cx="4805680" cy="484414"/>
          </a:xfrm>
          <a:prstGeom prst="rect">
            <a:avLst/>
          </a:prstGeom>
          <a:solidFill>
            <a:srgbClr val="EFEEE9"/>
          </a:solidFill>
          <a:ln>
            <a:noFill/>
          </a:ln>
        </p:spPr>
      </p:sp>
      <p:sp>
        <p:nvSpPr>
          <p:cNvPr id="25" name="text 25"/>
          <p:cNvSpPr/>
          <p:nvPr/>
        </p:nvSpPr>
        <p:spPr>
          <a:xfrm>
            <a:off x="1752600" y="3189514"/>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01 / Framework</a:t>
            </a:r>
            <a:endParaRPr lang="en-US" sz="1300"/>
          </a:p>
        </p:txBody>
      </p:sp>
      <p:cxnSp>
        <p:nvCxnSpPr>
          <p:cNvPr id="26" name="connector 26"/>
          <p:cNvCxnSpPr/>
          <p:nvPr/>
        </p:nvCxnSpPr>
        <p:spPr>
          <a:xfrm>
            <a:off x="1625600" y="3623129"/>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6431280" y="3138714"/>
            <a:ext cx="5252720" cy="484414"/>
          </a:xfrm>
          <a:prstGeom prst="rect">
            <a:avLst/>
          </a:prstGeom>
          <a:solidFill>
            <a:srgbClr val="EFEEE9"/>
          </a:solidFill>
          <a:ln>
            <a:noFill/>
          </a:ln>
        </p:spPr>
      </p:sp>
      <p:sp>
        <p:nvSpPr>
          <p:cNvPr id="28" name="text 28"/>
          <p:cNvSpPr/>
          <p:nvPr/>
        </p:nvSpPr>
        <p:spPr>
          <a:xfrm>
            <a:off x="6558280" y="3189514"/>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S04, S06, S08, S15, S01, S23</a:t>
            </a:r>
            <a:endParaRPr lang="en-US" sz="1300"/>
          </a:p>
        </p:txBody>
      </p:sp>
      <p:cxnSp>
        <p:nvCxnSpPr>
          <p:cNvPr id="29" name="connector 29"/>
          <p:cNvCxnSpPr/>
          <p:nvPr/>
        </p:nvCxnSpPr>
        <p:spPr>
          <a:xfrm>
            <a:off x="6431280" y="3623129"/>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623129"/>
            <a:ext cx="1117600" cy="484414"/>
          </a:xfrm>
          <a:prstGeom prst="rect">
            <a:avLst/>
          </a:prstGeom>
          <a:solidFill>
            <a:srgbClr val="FFFFFF"/>
          </a:solidFill>
          <a:ln>
            <a:noFill/>
          </a:ln>
        </p:spPr>
      </p:sp>
      <p:sp>
        <p:nvSpPr>
          <p:cNvPr id="31" name="text 31"/>
          <p:cNvSpPr/>
          <p:nvPr/>
        </p:nvSpPr>
        <p:spPr>
          <a:xfrm>
            <a:off x="635000" y="3673929"/>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7</a:t>
            </a:r>
            <a:endParaRPr lang="en-US" sz="1300"/>
          </a:p>
        </p:txBody>
      </p:sp>
      <p:cxnSp>
        <p:nvCxnSpPr>
          <p:cNvPr id="32" name="connector 32"/>
          <p:cNvCxnSpPr/>
          <p:nvPr/>
        </p:nvCxnSpPr>
        <p:spPr>
          <a:xfrm>
            <a:off x="508000" y="4107543"/>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1625600" y="3623129"/>
            <a:ext cx="4805680" cy="484414"/>
          </a:xfrm>
          <a:prstGeom prst="rect">
            <a:avLst/>
          </a:prstGeom>
          <a:solidFill>
            <a:srgbClr val="FFFFFF"/>
          </a:solidFill>
          <a:ln>
            <a:noFill/>
          </a:ln>
        </p:spPr>
      </p:sp>
      <p:sp>
        <p:nvSpPr>
          <p:cNvPr id="34" name="text 34"/>
          <p:cNvSpPr/>
          <p:nvPr/>
        </p:nvSpPr>
        <p:spPr>
          <a:xfrm>
            <a:off x="1752600" y="3673929"/>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01 / People</a:t>
            </a:r>
            <a:endParaRPr lang="en-US" sz="1300"/>
          </a:p>
        </p:txBody>
      </p:sp>
      <p:cxnSp>
        <p:nvCxnSpPr>
          <p:cNvPr id="35" name="connector 35"/>
          <p:cNvCxnSpPr/>
          <p:nvPr/>
        </p:nvCxnSpPr>
        <p:spPr>
          <a:xfrm>
            <a:off x="1625600" y="4107543"/>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6431280" y="3623129"/>
            <a:ext cx="5252720" cy="484414"/>
          </a:xfrm>
          <a:prstGeom prst="rect">
            <a:avLst/>
          </a:prstGeom>
          <a:solidFill>
            <a:srgbClr val="FFFFFF"/>
          </a:solidFill>
          <a:ln>
            <a:noFill/>
          </a:ln>
        </p:spPr>
      </p:sp>
      <p:sp>
        <p:nvSpPr>
          <p:cNvPr id="37" name="text 37"/>
          <p:cNvSpPr/>
          <p:nvPr/>
        </p:nvSpPr>
        <p:spPr>
          <a:xfrm>
            <a:off x="6558280" y="3673929"/>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S01, S27, S06, S16</a:t>
            </a:r>
            <a:endParaRPr lang="en-US" sz="1300"/>
          </a:p>
        </p:txBody>
      </p:sp>
      <p:cxnSp>
        <p:nvCxnSpPr>
          <p:cNvPr id="38" name="connector 38"/>
          <p:cNvCxnSpPr/>
          <p:nvPr/>
        </p:nvCxnSpPr>
        <p:spPr>
          <a:xfrm>
            <a:off x="6431280" y="4107543"/>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107543"/>
            <a:ext cx="1117600" cy="484414"/>
          </a:xfrm>
          <a:prstGeom prst="rect">
            <a:avLst/>
          </a:prstGeom>
          <a:solidFill>
            <a:srgbClr val="EFEEE9"/>
          </a:solidFill>
          <a:ln>
            <a:noFill/>
          </a:ln>
        </p:spPr>
      </p:sp>
      <p:sp>
        <p:nvSpPr>
          <p:cNvPr id="40" name="text 40"/>
          <p:cNvSpPr/>
          <p:nvPr/>
        </p:nvSpPr>
        <p:spPr>
          <a:xfrm>
            <a:off x="635000" y="4158343"/>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8</a:t>
            </a:r>
            <a:endParaRPr lang="en-US" sz="1300"/>
          </a:p>
        </p:txBody>
      </p:sp>
      <p:cxnSp>
        <p:nvCxnSpPr>
          <p:cNvPr id="41" name="connector 41"/>
          <p:cNvCxnSpPr/>
          <p:nvPr/>
        </p:nvCxnSpPr>
        <p:spPr>
          <a:xfrm>
            <a:off x="508000" y="4591957"/>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1625600" y="4107543"/>
            <a:ext cx="4805680" cy="484414"/>
          </a:xfrm>
          <a:prstGeom prst="rect">
            <a:avLst/>
          </a:prstGeom>
          <a:solidFill>
            <a:srgbClr val="EFEEE9"/>
          </a:solidFill>
          <a:ln>
            <a:noFill/>
          </a:ln>
        </p:spPr>
      </p:sp>
      <p:sp>
        <p:nvSpPr>
          <p:cNvPr id="43" name="text 43"/>
          <p:cNvSpPr/>
          <p:nvPr/>
        </p:nvSpPr>
        <p:spPr>
          <a:xfrm>
            <a:off x="1752600" y="4158343"/>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01 / Access</a:t>
            </a:r>
            <a:endParaRPr lang="en-US" sz="1300"/>
          </a:p>
        </p:txBody>
      </p:sp>
      <p:cxnSp>
        <p:nvCxnSpPr>
          <p:cNvPr id="44" name="connector 44"/>
          <p:cNvCxnSpPr/>
          <p:nvPr/>
        </p:nvCxnSpPr>
        <p:spPr>
          <a:xfrm>
            <a:off x="1625600" y="4591957"/>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6431280" y="4107543"/>
            <a:ext cx="5252720" cy="484414"/>
          </a:xfrm>
          <a:prstGeom prst="rect">
            <a:avLst/>
          </a:prstGeom>
          <a:solidFill>
            <a:srgbClr val="EFEEE9"/>
          </a:solidFill>
          <a:ln>
            <a:noFill/>
          </a:ln>
        </p:spPr>
      </p:sp>
      <p:sp>
        <p:nvSpPr>
          <p:cNvPr id="46" name="text 46"/>
          <p:cNvSpPr/>
          <p:nvPr/>
        </p:nvSpPr>
        <p:spPr>
          <a:xfrm>
            <a:off x="6558280" y="4158343"/>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S17, S18, S19, S20</a:t>
            </a:r>
            <a:endParaRPr lang="en-US" sz="1300"/>
          </a:p>
        </p:txBody>
      </p:sp>
      <p:cxnSp>
        <p:nvCxnSpPr>
          <p:cNvPr id="47" name="connector 47"/>
          <p:cNvCxnSpPr/>
          <p:nvPr/>
        </p:nvCxnSpPr>
        <p:spPr>
          <a:xfrm>
            <a:off x="6431280" y="4591957"/>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4591957"/>
            <a:ext cx="1117600" cy="484414"/>
          </a:xfrm>
          <a:prstGeom prst="rect">
            <a:avLst/>
          </a:prstGeom>
          <a:solidFill>
            <a:srgbClr val="FFFFFF"/>
          </a:solidFill>
          <a:ln>
            <a:noFill/>
          </a:ln>
        </p:spPr>
      </p:sp>
      <p:sp>
        <p:nvSpPr>
          <p:cNvPr id="49" name="text 49"/>
          <p:cNvSpPr/>
          <p:nvPr/>
        </p:nvSpPr>
        <p:spPr>
          <a:xfrm>
            <a:off x="635000" y="4642757"/>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9–12</a:t>
            </a:r>
            <a:endParaRPr lang="en-US" sz="1300"/>
          </a:p>
        </p:txBody>
      </p:sp>
      <p:cxnSp>
        <p:nvCxnSpPr>
          <p:cNvPr id="50" name="connector 50"/>
          <p:cNvCxnSpPr/>
          <p:nvPr/>
        </p:nvCxnSpPr>
        <p:spPr>
          <a:xfrm>
            <a:off x="508000" y="5076371"/>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1625600" y="4591957"/>
            <a:ext cx="4805680" cy="484414"/>
          </a:xfrm>
          <a:prstGeom prst="rect">
            <a:avLst/>
          </a:prstGeom>
          <a:solidFill>
            <a:srgbClr val="FFFFFF"/>
          </a:solidFill>
          <a:ln>
            <a:noFill/>
          </a:ln>
        </p:spPr>
      </p:sp>
      <p:sp>
        <p:nvSpPr>
          <p:cNvPr id="52" name="text 52"/>
          <p:cNvSpPr/>
          <p:nvPr/>
        </p:nvSpPr>
        <p:spPr>
          <a:xfrm>
            <a:off x="1752600" y="4642757"/>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02 / Journey</a:t>
            </a:r>
            <a:endParaRPr lang="en-US" sz="1300"/>
          </a:p>
        </p:txBody>
      </p:sp>
      <p:cxnSp>
        <p:nvCxnSpPr>
          <p:cNvPr id="53" name="connector 53"/>
          <p:cNvCxnSpPr/>
          <p:nvPr/>
        </p:nvCxnSpPr>
        <p:spPr>
          <a:xfrm>
            <a:off x="1625600" y="5076371"/>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6431280" y="4591957"/>
            <a:ext cx="5252720" cy="484414"/>
          </a:xfrm>
          <a:prstGeom prst="rect">
            <a:avLst/>
          </a:prstGeom>
          <a:solidFill>
            <a:srgbClr val="FFFFFF"/>
          </a:solidFill>
          <a:ln>
            <a:noFill/>
          </a:ln>
        </p:spPr>
      </p:sp>
      <p:sp>
        <p:nvSpPr>
          <p:cNvPr id="55" name="text 55"/>
          <p:cNvSpPr/>
          <p:nvPr/>
        </p:nvSpPr>
        <p:spPr>
          <a:xfrm>
            <a:off x="6558280" y="4642757"/>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S06, S16, S15, S22, S11, S13, D02X + notes</a:t>
            </a:r>
            <a:endParaRPr lang="en-US" sz="1300"/>
          </a:p>
        </p:txBody>
      </p:sp>
      <p:cxnSp>
        <p:nvCxnSpPr>
          <p:cNvPr id="56" name="connector 56"/>
          <p:cNvCxnSpPr/>
          <p:nvPr/>
        </p:nvCxnSpPr>
        <p:spPr>
          <a:xfrm>
            <a:off x="6431280" y="5076371"/>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5076371"/>
            <a:ext cx="1117600" cy="484414"/>
          </a:xfrm>
          <a:prstGeom prst="rect">
            <a:avLst/>
          </a:prstGeom>
          <a:solidFill>
            <a:srgbClr val="EFEEE9"/>
          </a:solidFill>
          <a:ln>
            <a:noFill/>
          </a:ln>
        </p:spPr>
      </p:sp>
      <p:sp>
        <p:nvSpPr>
          <p:cNvPr id="58" name="text 58"/>
          <p:cNvSpPr/>
          <p:nvPr/>
        </p:nvSpPr>
        <p:spPr>
          <a:xfrm>
            <a:off x="635000" y="5127171"/>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13</a:t>
            </a:r>
            <a:endParaRPr lang="en-US" sz="1300"/>
          </a:p>
        </p:txBody>
      </p:sp>
      <p:cxnSp>
        <p:nvCxnSpPr>
          <p:cNvPr id="59" name="connector 59"/>
          <p:cNvCxnSpPr/>
          <p:nvPr/>
        </p:nvCxnSpPr>
        <p:spPr>
          <a:xfrm>
            <a:off x="508000" y="5560786"/>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shape 60"/>
          <p:cNvSpPr/>
          <p:nvPr/>
        </p:nvSpPr>
        <p:spPr>
          <a:xfrm>
            <a:off x="1625600" y="5076371"/>
            <a:ext cx="4805680" cy="484414"/>
          </a:xfrm>
          <a:prstGeom prst="rect">
            <a:avLst/>
          </a:prstGeom>
          <a:solidFill>
            <a:srgbClr val="EFEEE9"/>
          </a:solidFill>
          <a:ln>
            <a:noFill/>
          </a:ln>
        </p:spPr>
      </p:sp>
      <p:sp>
        <p:nvSpPr>
          <p:cNvPr id="61" name="text 61"/>
          <p:cNvSpPr/>
          <p:nvPr/>
        </p:nvSpPr>
        <p:spPr>
          <a:xfrm>
            <a:off x="1752600" y="5127171"/>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02 / Lifecycle</a:t>
            </a:r>
            <a:endParaRPr lang="en-US" sz="1300"/>
          </a:p>
        </p:txBody>
      </p:sp>
      <p:cxnSp>
        <p:nvCxnSpPr>
          <p:cNvPr id="62" name="connector 62"/>
          <p:cNvCxnSpPr/>
          <p:nvPr/>
        </p:nvCxnSpPr>
        <p:spPr>
          <a:xfrm>
            <a:off x="1625600" y="5560786"/>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shape 63"/>
          <p:cNvSpPr/>
          <p:nvPr/>
        </p:nvSpPr>
        <p:spPr>
          <a:xfrm>
            <a:off x="6431280" y="5076371"/>
            <a:ext cx="5252720" cy="484414"/>
          </a:xfrm>
          <a:prstGeom prst="rect">
            <a:avLst/>
          </a:prstGeom>
          <a:solidFill>
            <a:srgbClr val="EFEEE9"/>
          </a:solidFill>
          <a:ln>
            <a:noFill/>
          </a:ln>
        </p:spPr>
      </p:sp>
      <p:sp>
        <p:nvSpPr>
          <p:cNvPr id="64" name="text 64"/>
          <p:cNvSpPr/>
          <p:nvPr/>
        </p:nvSpPr>
        <p:spPr>
          <a:xfrm>
            <a:off x="6558280" y="5127171"/>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S13, D06X, S14, S15</a:t>
            </a:r>
            <a:endParaRPr lang="en-US" sz="1300"/>
          </a:p>
        </p:txBody>
      </p:sp>
      <p:cxnSp>
        <p:nvCxnSpPr>
          <p:cNvPr id="65" name="connector 65"/>
          <p:cNvCxnSpPr/>
          <p:nvPr/>
        </p:nvCxnSpPr>
        <p:spPr>
          <a:xfrm>
            <a:off x="6431280" y="5560786"/>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shape 66"/>
          <p:cNvSpPr/>
          <p:nvPr/>
        </p:nvSpPr>
        <p:spPr>
          <a:xfrm>
            <a:off x="508000" y="5560786"/>
            <a:ext cx="1117600" cy="484414"/>
          </a:xfrm>
          <a:prstGeom prst="rect">
            <a:avLst/>
          </a:prstGeom>
          <a:solidFill>
            <a:srgbClr val="FFFFFF"/>
          </a:solidFill>
          <a:ln>
            <a:noFill/>
          </a:ln>
        </p:spPr>
      </p:sp>
      <p:sp>
        <p:nvSpPr>
          <p:cNvPr id="67" name="text 67"/>
          <p:cNvSpPr/>
          <p:nvPr/>
        </p:nvSpPr>
        <p:spPr>
          <a:xfrm>
            <a:off x="635000" y="5611586"/>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14</a:t>
            </a:r>
            <a:endParaRPr lang="en-US" sz="1300"/>
          </a:p>
        </p:txBody>
      </p:sp>
      <p:cxnSp>
        <p:nvCxnSpPr>
          <p:cNvPr id="68" name="connector 68"/>
          <p:cNvCxnSpPr/>
          <p:nvPr/>
        </p:nvCxnSpPr>
        <p:spPr>
          <a:xfrm>
            <a:off x="508000" y="6045200"/>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9" name="shape 69"/>
          <p:cNvSpPr/>
          <p:nvPr/>
        </p:nvSpPr>
        <p:spPr>
          <a:xfrm>
            <a:off x="1625600" y="5560786"/>
            <a:ext cx="4805680" cy="484414"/>
          </a:xfrm>
          <a:prstGeom prst="rect">
            <a:avLst/>
          </a:prstGeom>
          <a:solidFill>
            <a:srgbClr val="FFFFFF"/>
          </a:solidFill>
          <a:ln>
            <a:noFill/>
          </a:ln>
        </p:spPr>
      </p:sp>
      <p:sp>
        <p:nvSpPr>
          <p:cNvPr id="70" name="text 70"/>
          <p:cNvSpPr/>
          <p:nvPr/>
        </p:nvSpPr>
        <p:spPr>
          <a:xfrm>
            <a:off x="1752600" y="5611586"/>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02 / Review</a:t>
            </a:r>
            <a:endParaRPr lang="en-US" sz="1300"/>
          </a:p>
        </p:txBody>
      </p:sp>
      <p:cxnSp>
        <p:nvCxnSpPr>
          <p:cNvPr id="71" name="connector 71"/>
          <p:cNvCxnSpPr/>
          <p:nvPr/>
        </p:nvCxnSpPr>
        <p:spPr>
          <a:xfrm>
            <a:off x="1625600" y="6045200"/>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2" name="shape 72"/>
          <p:cNvSpPr/>
          <p:nvPr/>
        </p:nvSpPr>
        <p:spPr>
          <a:xfrm>
            <a:off x="6431280" y="5560786"/>
            <a:ext cx="5252720" cy="484414"/>
          </a:xfrm>
          <a:prstGeom prst="rect">
            <a:avLst/>
          </a:prstGeom>
          <a:solidFill>
            <a:srgbClr val="FFFFFF"/>
          </a:solidFill>
          <a:ln>
            <a:noFill/>
          </a:ln>
        </p:spPr>
      </p:sp>
      <p:sp>
        <p:nvSpPr>
          <p:cNvPr id="73" name="text 73"/>
          <p:cNvSpPr/>
          <p:nvPr/>
        </p:nvSpPr>
        <p:spPr>
          <a:xfrm>
            <a:off x="6558280" y="5611586"/>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D02R, D11R, D14R, S14</a:t>
            </a:r>
            <a:endParaRPr lang="en-US" sz="1300"/>
          </a:p>
        </p:txBody>
      </p:sp>
      <p:cxnSp>
        <p:nvCxnSpPr>
          <p:cNvPr id="74" name="connector 74"/>
          <p:cNvCxnSpPr/>
          <p:nvPr/>
        </p:nvCxnSpPr>
        <p:spPr>
          <a:xfrm>
            <a:off x="6431280" y="6045200"/>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cxnSp>
        <p:nvCxnSpPr>
          <p:cNvPr id="75" name="connector 75"/>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76" name="text 76"/>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7" name="text 77"/>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83 / 87</a:t>
            </a:r>
            <a:endParaRPr lang="en-US" sz="10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SLIDE INDEX</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Navigate from a presentation section to its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slide range and source keys form a concise traceability index.</a:t>
            </a:r>
            <a:endParaRPr lang="en-US" sz="1500"/>
          </a:p>
        </p:txBody>
      </p:sp>
      <p:sp>
        <p:nvSpPr>
          <p:cNvPr id="6" name="shape 6"/>
          <p:cNvSpPr/>
          <p:nvPr/>
        </p:nvSpPr>
        <p:spPr>
          <a:xfrm>
            <a:off x="508000" y="2197100"/>
            <a:ext cx="1117600" cy="457200"/>
          </a:xfrm>
          <a:prstGeom prst="rect">
            <a:avLst/>
          </a:prstGeom>
          <a:solidFill>
            <a:srgbClr val="282A27"/>
          </a:solidFill>
          <a:ln>
            <a:noFill/>
          </a:ln>
        </p:spPr>
      </p:sp>
      <p:sp>
        <p:nvSpPr>
          <p:cNvPr id="7" name="text 7"/>
          <p:cNvSpPr/>
          <p:nvPr/>
        </p:nvSpPr>
        <p:spPr>
          <a:xfrm>
            <a:off x="635000" y="2311400"/>
            <a:ext cx="8636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Slides</a:t>
            </a:r>
            <a:endParaRPr lang="en-US" sz="1200"/>
          </a:p>
        </p:txBody>
      </p:sp>
      <p:sp>
        <p:nvSpPr>
          <p:cNvPr id="8" name="shape 8"/>
          <p:cNvSpPr/>
          <p:nvPr/>
        </p:nvSpPr>
        <p:spPr>
          <a:xfrm>
            <a:off x="1625600" y="2197100"/>
            <a:ext cx="4805680" cy="457200"/>
          </a:xfrm>
          <a:prstGeom prst="rect">
            <a:avLst/>
          </a:prstGeom>
          <a:solidFill>
            <a:srgbClr val="282A27"/>
          </a:solidFill>
          <a:ln>
            <a:noFill/>
          </a:ln>
        </p:spPr>
      </p:sp>
      <p:sp>
        <p:nvSpPr>
          <p:cNvPr id="9" name="text 9"/>
          <p:cNvSpPr/>
          <p:nvPr/>
        </p:nvSpPr>
        <p:spPr>
          <a:xfrm>
            <a:off x="1752600" y="2311400"/>
            <a:ext cx="45516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Section / diagnostic</a:t>
            </a:r>
            <a:endParaRPr lang="en-US" sz="1200"/>
          </a:p>
        </p:txBody>
      </p:sp>
      <p:sp>
        <p:nvSpPr>
          <p:cNvPr id="10" name="shape 10"/>
          <p:cNvSpPr/>
          <p:nvPr/>
        </p:nvSpPr>
        <p:spPr>
          <a:xfrm>
            <a:off x="6431280" y="2197100"/>
            <a:ext cx="5252720" cy="457200"/>
          </a:xfrm>
          <a:prstGeom prst="rect">
            <a:avLst/>
          </a:prstGeom>
          <a:solidFill>
            <a:srgbClr val="282A27"/>
          </a:solidFill>
          <a:ln>
            <a:noFill/>
          </a:ln>
        </p:spPr>
      </p:sp>
      <p:sp>
        <p:nvSpPr>
          <p:cNvPr id="11" name="text 11"/>
          <p:cNvSpPr/>
          <p:nvPr/>
        </p:nvSpPr>
        <p:spPr>
          <a:xfrm>
            <a:off x="6558280" y="2311400"/>
            <a:ext cx="49987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Primary source keys</a:t>
            </a:r>
            <a:endParaRPr lang="en-US" sz="1200"/>
          </a:p>
        </p:txBody>
      </p:sp>
      <p:sp>
        <p:nvSpPr>
          <p:cNvPr id="12" name="shape 12"/>
          <p:cNvSpPr/>
          <p:nvPr/>
        </p:nvSpPr>
        <p:spPr>
          <a:xfrm>
            <a:off x="508000" y="2654300"/>
            <a:ext cx="1117600" cy="484414"/>
          </a:xfrm>
          <a:prstGeom prst="rect">
            <a:avLst/>
          </a:prstGeom>
          <a:solidFill>
            <a:srgbClr val="FFFFFF"/>
          </a:solidFill>
          <a:ln>
            <a:noFill/>
          </a:ln>
        </p:spPr>
      </p:sp>
      <p:sp>
        <p:nvSpPr>
          <p:cNvPr id="13" name="text 13"/>
          <p:cNvSpPr/>
          <p:nvPr/>
        </p:nvSpPr>
        <p:spPr>
          <a:xfrm>
            <a:off x="635000" y="2705100"/>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15</a:t>
            </a:r>
            <a:endParaRPr lang="en-US" sz="1300"/>
          </a:p>
        </p:txBody>
      </p:sp>
      <p:cxnSp>
        <p:nvCxnSpPr>
          <p:cNvPr id="14" name="connector 14"/>
          <p:cNvCxnSpPr/>
          <p:nvPr/>
        </p:nvCxnSpPr>
        <p:spPr>
          <a:xfrm>
            <a:off x="508000" y="3138714"/>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1625600" y="2654300"/>
            <a:ext cx="4805680" cy="484414"/>
          </a:xfrm>
          <a:prstGeom prst="rect">
            <a:avLst/>
          </a:prstGeom>
          <a:solidFill>
            <a:srgbClr val="FFFFFF"/>
          </a:solidFill>
          <a:ln>
            <a:noFill/>
          </a:ln>
        </p:spPr>
      </p:sp>
      <p:sp>
        <p:nvSpPr>
          <p:cNvPr id="16" name="text 16"/>
          <p:cNvSpPr/>
          <p:nvPr/>
        </p:nvSpPr>
        <p:spPr>
          <a:xfrm>
            <a:off x="1752600" y="2705100"/>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02 / Root-cause analysis</a:t>
            </a:r>
            <a:endParaRPr lang="en-US" sz="1300"/>
          </a:p>
        </p:txBody>
      </p:sp>
      <p:cxnSp>
        <p:nvCxnSpPr>
          <p:cNvPr id="17" name="connector 17"/>
          <p:cNvCxnSpPr/>
          <p:nvPr/>
        </p:nvCxnSpPr>
        <p:spPr>
          <a:xfrm>
            <a:off x="1625600" y="3138714"/>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6431280" y="2654300"/>
            <a:ext cx="5252720" cy="484414"/>
          </a:xfrm>
          <a:prstGeom prst="rect">
            <a:avLst/>
          </a:prstGeom>
          <a:solidFill>
            <a:srgbClr val="FFFFFF"/>
          </a:solidFill>
          <a:ln>
            <a:noFill/>
          </a:ln>
        </p:spPr>
      </p:sp>
      <p:sp>
        <p:nvSpPr>
          <p:cNvPr id="19" name="text 19"/>
          <p:cNvSpPr/>
          <p:nvPr/>
        </p:nvSpPr>
        <p:spPr>
          <a:xfrm>
            <a:off x="6558280" y="2705100"/>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S16, S15</a:t>
            </a:r>
            <a:endParaRPr lang="en-US" sz="1300"/>
          </a:p>
        </p:txBody>
      </p:sp>
      <p:cxnSp>
        <p:nvCxnSpPr>
          <p:cNvPr id="20" name="connector 20"/>
          <p:cNvCxnSpPr/>
          <p:nvPr/>
        </p:nvCxnSpPr>
        <p:spPr>
          <a:xfrm>
            <a:off x="6431280" y="3138714"/>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138714"/>
            <a:ext cx="1117600" cy="484414"/>
          </a:xfrm>
          <a:prstGeom prst="rect">
            <a:avLst/>
          </a:prstGeom>
          <a:solidFill>
            <a:srgbClr val="EFEEE9"/>
          </a:solidFill>
          <a:ln>
            <a:noFill/>
          </a:ln>
        </p:spPr>
      </p:sp>
      <p:sp>
        <p:nvSpPr>
          <p:cNvPr id="22" name="text 22"/>
          <p:cNvSpPr/>
          <p:nvPr/>
        </p:nvSpPr>
        <p:spPr>
          <a:xfrm>
            <a:off x="635000" y="3189514"/>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16</a:t>
            </a:r>
            <a:endParaRPr lang="en-US" sz="1300"/>
          </a:p>
        </p:txBody>
      </p:sp>
      <p:cxnSp>
        <p:nvCxnSpPr>
          <p:cNvPr id="23" name="connector 23"/>
          <p:cNvCxnSpPr/>
          <p:nvPr/>
        </p:nvCxnSpPr>
        <p:spPr>
          <a:xfrm>
            <a:off x="508000" y="3623129"/>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1625600" y="3138714"/>
            <a:ext cx="4805680" cy="484414"/>
          </a:xfrm>
          <a:prstGeom prst="rect">
            <a:avLst/>
          </a:prstGeom>
          <a:solidFill>
            <a:srgbClr val="EFEEE9"/>
          </a:solidFill>
          <a:ln>
            <a:noFill/>
          </a:ln>
        </p:spPr>
      </p:sp>
      <p:sp>
        <p:nvSpPr>
          <p:cNvPr id="25" name="text 25"/>
          <p:cNvSpPr/>
          <p:nvPr/>
        </p:nvSpPr>
        <p:spPr>
          <a:xfrm>
            <a:off x="1752600" y="3189514"/>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02 / Knowledge</a:t>
            </a:r>
            <a:endParaRPr lang="en-US" sz="1300"/>
          </a:p>
        </p:txBody>
      </p:sp>
      <p:cxnSp>
        <p:nvCxnSpPr>
          <p:cNvPr id="26" name="connector 26"/>
          <p:cNvCxnSpPr/>
          <p:nvPr/>
        </p:nvCxnSpPr>
        <p:spPr>
          <a:xfrm>
            <a:off x="1625600" y="3623129"/>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6431280" y="3138714"/>
            <a:ext cx="5252720" cy="484414"/>
          </a:xfrm>
          <a:prstGeom prst="rect">
            <a:avLst/>
          </a:prstGeom>
          <a:solidFill>
            <a:srgbClr val="EFEEE9"/>
          </a:solidFill>
          <a:ln>
            <a:noFill/>
          </a:ln>
        </p:spPr>
      </p:sp>
      <p:sp>
        <p:nvSpPr>
          <p:cNvPr id="28" name="text 28"/>
          <p:cNvSpPr/>
          <p:nvPr/>
        </p:nvSpPr>
        <p:spPr>
          <a:xfrm>
            <a:off x="6558280" y="3189514"/>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S06, S19, D08R, D11R, S16</a:t>
            </a:r>
            <a:endParaRPr lang="en-US" sz="1300"/>
          </a:p>
        </p:txBody>
      </p:sp>
      <p:cxnSp>
        <p:nvCxnSpPr>
          <p:cNvPr id="29" name="connector 29"/>
          <p:cNvCxnSpPr/>
          <p:nvPr/>
        </p:nvCxnSpPr>
        <p:spPr>
          <a:xfrm>
            <a:off x="6431280" y="3623129"/>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623129"/>
            <a:ext cx="1117600" cy="484414"/>
          </a:xfrm>
          <a:prstGeom prst="rect">
            <a:avLst/>
          </a:prstGeom>
          <a:solidFill>
            <a:srgbClr val="FFFFFF"/>
          </a:solidFill>
          <a:ln>
            <a:noFill/>
          </a:ln>
        </p:spPr>
      </p:sp>
      <p:sp>
        <p:nvSpPr>
          <p:cNvPr id="31" name="text 31"/>
          <p:cNvSpPr/>
          <p:nvPr/>
        </p:nvSpPr>
        <p:spPr>
          <a:xfrm>
            <a:off x="635000" y="3673929"/>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17</a:t>
            </a:r>
            <a:endParaRPr lang="en-US" sz="1300"/>
          </a:p>
        </p:txBody>
      </p:sp>
      <p:cxnSp>
        <p:nvCxnSpPr>
          <p:cNvPr id="32" name="connector 32"/>
          <p:cNvCxnSpPr/>
          <p:nvPr/>
        </p:nvCxnSpPr>
        <p:spPr>
          <a:xfrm>
            <a:off x="508000" y="4107543"/>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1625600" y="3623129"/>
            <a:ext cx="4805680" cy="484414"/>
          </a:xfrm>
          <a:prstGeom prst="rect">
            <a:avLst/>
          </a:prstGeom>
          <a:solidFill>
            <a:srgbClr val="FFFFFF"/>
          </a:solidFill>
          <a:ln>
            <a:noFill/>
          </a:ln>
        </p:spPr>
      </p:sp>
      <p:sp>
        <p:nvSpPr>
          <p:cNvPr id="34" name="text 34"/>
          <p:cNvSpPr/>
          <p:nvPr/>
        </p:nvSpPr>
        <p:spPr>
          <a:xfrm>
            <a:off x="1752600" y="3673929"/>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02 / Traceability</a:t>
            </a:r>
            <a:endParaRPr lang="en-US" sz="1300"/>
          </a:p>
        </p:txBody>
      </p:sp>
      <p:cxnSp>
        <p:nvCxnSpPr>
          <p:cNvPr id="35" name="connector 35"/>
          <p:cNvCxnSpPr/>
          <p:nvPr/>
        </p:nvCxnSpPr>
        <p:spPr>
          <a:xfrm>
            <a:off x="1625600" y="4107543"/>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6431280" y="3623129"/>
            <a:ext cx="5252720" cy="484414"/>
          </a:xfrm>
          <a:prstGeom prst="rect">
            <a:avLst/>
          </a:prstGeom>
          <a:solidFill>
            <a:srgbClr val="FFFFFF"/>
          </a:solidFill>
          <a:ln>
            <a:noFill/>
          </a:ln>
        </p:spPr>
      </p:sp>
      <p:sp>
        <p:nvSpPr>
          <p:cNvPr id="37" name="text 37"/>
          <p:cNvSpPr/>
          <p:nvPr/>
        </p:nvSpPr>
        <p:spPr>
          <a:xfrm>
            <a:off x="6558280" y="3673929"/>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S21, S22, S30, D08R, D11R, S15</a:t>
            </a:r>
            <a:endParaRPr lang="en-US" sz="1300"/>
          </a:p>
        </p:txBody>
      </p:sp>
      <p:cxnSp>
        <p:nvCxnSpPr>
          <p:cNvPr id="38" name="connector 38"/>
          <p:cNvCxnSpPr/>
          <p:nvPr/>
        </p:nvCxnSpPr>
        <p:spPr>
          <a:xfrm>
            <a:off x="6431280" y="4107543"/>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107543"/>
            <a:ext cx="1117600" cy="484414"/>
          </a:xfrm>
          <a:prstGeom prst="rect">
            <a:avLst/>
          </a:prstGeom>
          <a:solidFill>
            <a:srgbClr val="EFEEE9"/>
          </a:solidFill>
          <a:ln>
            <a:noFill/>
          </a:ln>
        </p:spPr>
      </p:sp>
      <p:sp>
        <p:nvSpPr>
          <p:cNvPr id="40" name="text 40"/>
          <p:cNvSpPr/>
          <p:nvPr/>
        </p:nvSpPr>
        <p:spPr>
          <a:xfrm>
            <a:off x="635000" y="4158343"/>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18</a:t>
            </a:r>
            <a:endParaRPr lang="en-US" sz="1300"/>
          </a:p>
        </p:txBody>
      </p:sp>
      <p:cxnSp>
        <p:nvCxnSpPr>
          <p:cNvPr id="41" name="connector 41"/>
          <p:cNvCxnSpPr/>
          <p:nvPr/>
        </p:nvCxnSpPr>
        <p:spPr>
          <a:xfrm>
            <a:off x="508000" y="4591957"/>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1625600" y="4107543"/>
            <a:ext cx="4805680" cy="484414"/>
          </a:xfrm>
          <a:prstGeom prst="rect">
            <a:avLst/>
          </a:prstGeom>
          <a:solidFill>
            <a:srgbClr val="EFEEE9"/>
          </a:solidFill>
          <a:ln>
            <a:noFill/>
          </a:ln>
        </p:spPr>
      </p:sp>
      <p:sp>
        <p:nvSpPr>
          <p:cNvPr id="43" name="text 43"/>
          <p:cNvSpPr/>
          <p:nvPr/>
        </p:nvSpPr>
        <p:spPr>
          <a:xfrm>
            <a:off x="1752600" y="4158343"/>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02 / Platform</a:t>
            </a:r>
            <a:endParaRPr lang="en-US" sz="1300"/>
          </a:p>
        </p:txBody>
      </p:sp>
      <p:cxnSp>
        <p:nvCxnSpPr>
          <p:cNvPr id="44" name="connector 44"/>
          <p:cNvCxnSpPr/>
          <p:nvPr/>
        </p:nvCxnSpPr>
        <p:spPr>
          <a:xfrm>
            <a:off x="1625600" y="4591957"/>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6431280" y="4107543"/>
            <a:ext cx="5252720" cy="484414"/>
          </a:xfrm>
          <a:prstGeom prst="rect">
            <a:avLst/>
          </a:prstGeom>
          <a:solidFill>
            <a:srgbClr val="EFEEE9"/>
          </a:solidFill>
          <a:ln>
            <a:noFill/>
          </a:ln>
        </p:spPr>
      </p:sp>
      <p:sp>
        <p:nvSpPr>
          <p:cNvPr id="46" name="text 46"/>
          <p:cNvSpPr/>
          <p:nvPr/>
        </p:nvSpPr>
        <p:spPr>
          <a:xfrm>
            <a:off x="6558280" y="4158343"/>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S05, S07, S21, S22, D14R</a:t>
            </a:r>
            <a:endParaRPr lang="en-US" sz="1300"/>
          </a:p>
        </p:txBody>
      </p:sp>
      <p:cxnSp>
        <p:nvCxnSpPr>
          <p:cNvPr id="47" name="connector 47"/>
          <p:cNvCxnSpPr/>
          <p:nvPr/>
        </p:nvCxnSpPr>
        <p:spPr>
          <a:xfrm>
            <a:off x="6431280" y="4591957"/>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4591957"/>
            <a:ext cx="1117600" cy="484414"/>
          </a:xfrm>
          <a:prstGeom prst="rect">
            <a:avLst/>
          </a:prstGeom>
          <a:solidFill>
            <a:srgbClr val="FFFFFF"/>
          </a:solidFill>
          <a:ln>
            <a:noFill/>
          </a:ln>
        </p:spPr>
      </p:sp>
      <p:sp>
        <p:nvSpPr>
          <p:cNvPr id="49" name="text 49"/>
          <p:cNvSpPr/>
          <p:nvPr/>
        </p:nvSpPr>
        <p:spPr>
          <a:xfrm>
            <a:off x="635000" y="4642757"/>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19–22</a:t>
            </a:r>
            <a:endParaRPr lang="en-US" sz="1300"/>
          </a:p>
        </p:txBody>
      </p:sp>
      <p:cxnSp>
        <p:nvCxnSpPr>
          <p:cNvPr id="50" name="connector 50"/>
          <p:cNvCxnSpPr/>
          <p:nvPr/>
        </p:nvCxnSpPr>
        <p:spPr>
          <a:xfrm>
            <a:off x="508000" y="5076371"/>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1625600" y="4591957"/>
            <a:ext cx="4805680" cy="484414"/>
          </a:xfrm>
          <a:prstGeom prst="rect">
            <a:avLst/>
          </a:prstGeom>
          <a:solidFill>
            <a:srgbClr val="FFFFFF"/>
          </a:solidFill>
          <a:ln>
            <a:noFill/>
          </a:ln>
        </p:spPr>
      </p:sp>
      <p:sp>
        <p:nvSpPr>
          <p:cNvPr id="52" name="text 52"/>
          <p:cNvSpPr/>
          <p:nvPr/>
        </p:nvSpPr>
        <p:spPr>
          <a:xfrm>
            <a:off x="1752600" y="4642757"/>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03 / Diagnostic catalog</a:t>
            </a:r>
            <a:endParaRPr lang="en-US" sz="1300"/>
          </a:p>
        </p:txBody>
      </p:sp>
      <p:cxnSp>
        <p:nvCxnSpPr>
          <p:cNvPr id="53" name="connector 53"/>
          <p:cNvCxnSpPr/>
          <p:nvPr/>
        </p:nvCxnSpPr>
        <p:spPr>
          <a:xfrm>
            <a:off x="1625600" y="5076371"/>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6431280" y="4591957"/>
            <a:ext cx="5252720" cy="484414"/>
          </a:xfrm>
          <a:prstGeom prst="rect">
            <a:avLst/>
          </a:prstGeom>
          <a:solidFill>
            <a:srgbClr val="FFFFFF"/>
          </a:solidFill>
          <a:ln>
            <a:noFill/>
          </a:ln>
        </p:spPr>
      </p:sp>
      <p:sp>
        <p:nvSpPr>
          <p:cNvPr id="55" name="text 55"/>
          <p:cNvSpPr/>
          <p:nvPr/>
        </p:nvSpPr>
        <p:spPr>
          <a:xfrm>
            <a:off x="6558280" y="4642757"/>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S08, S10, D02R, D04R, D06R, D08R, D11R + notes</a:t>
            </a:r>
            <a:endParaRPr lang="en-US" sz="1300"/>
          </a:p>
        </p:txBody>
      </p:sp>
      <p:cxnSp>
        <p:nvCxnSpPr>
          <p:cNvPr id="56" name="connector 56"/>
          <p:cNvCxnSpPr/>
          <p:nvPr/>
        </p:nvCxnSpPr>
        <p:spPr>
          <a:xfrm>
            <a:off x="6431280" y="5076371"/>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5076371"/>
            <a:ext cx="1117600" cy="484414"/>
          </a:xfrm>
          <a:prstGeom prst="rect">
            <a:avLst/>
          </a:prstGeom>
          <a:solidFill>
            <a:srgbClr val="EFEEE9"/>
          </a:solidFill>
          <a:ln>
            <a:noFill/>
          </a:ln>
        </p:spPr>
      </p:sp>
      <p:sp>
        <p:nvSpPr>
          <p:cNvPr id="58" name="text 58"/>
          <p:cNvSpPr/>
          <p:nvPr/>
        </p:nvSpPr>
        <p:spPr>
          <a:xfrm>
            <a:off x="635000" y="5127171"/>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23–24</a:t>
            </a:r>
            <a:endParaRPr lang="en-US" sz="1300"/>
          </a:p>
        </p:txBody>
      </p:sp>
      <p:cxnSp>
        <p:nvCxnSpPr>
          <p:cNvPr id="59" name="connector 59"/>
          <p:cNvCxnSpPr/>
          <p:nvPr/>
        </p:nvCxnSpPr>
        <p:spPr>
          <a:xfrm>
            <a:off x="508000" y="5560786"/>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shape 60"/>
          <p:cNvSpPr/>
          <p:nvPr/>
        </p:nvSpPr>
        <p:spPr>
          <a:xfrm>
            <a:off x="1625600" y="5076371"/>
            <a:ext cx="4805680" cy="484414"/>
          </a:xfrm>
          <a:prstGeom prst="rect">
            <a:avLst/>
          </a:prstGeom>
          <a:solidFill>
            <a:srgbClr val="EFEEE9"/>
          </a:solidFill>
          <a:ln>
            <a:noFill/>
          </a:ln>
        </p:spPr>
      </p:sp>
      <p:sp>
        <p:nvSpPr>
          <p:cNvPr id="61" name="text 61"/>
          <p:cNvSpPr/>
          <p:nvPr/>
        </p:nvSpPr>
        <p:spPr>
          <a:xfrm>
            <a:off x="1752600" y="5127171"/>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03 / Extended catalog</a:t>
            </a:r>
            <a:endParaRPr lang="en-US" sz="1300"/>
          </a:p>
        </p:txBody>
      </p:sp>
      <p:cxnSp>
        <p:nvCxnSpPr>
          <p:cNvPr id="62" name="connector 62"/>
          <p:cNvCxnSpPr/>
          <p:nvPr/>
        </p:nvCxnSpPr>
        <p:spPr>
          <a:xfrm>
            <a:off x="1625600" y="5560786"/>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shape 63"/>
          <p:cNvSpPr/>
          <p:nvPr/>
        </p:nvSpPr>
        <p:spPr>
          <a:xfrm>
            <a:off x="6431280" y="5076371"/>
            <a:ext cx="5252720" cy="484414"/>
          </a:xfrm>
          <a:prstGeom prst="rect">
            <a:avLst/>
          </a:prstGeom>
          <a:solidFill>
            <a:srgbClr val="EFEEE9"/>
          </a:solidFill>
          <a:ln>
            <a:noFill/>
          </a:ln>
        </p:spPr>
      </p:sp>
      <p:sp>
        <p:nvSpPr>
          <p:cNvPr id="64" name="text 64"/>
          <p:cNvSpPr/>
          <p:nvPr/>
        </p:nvSpPr>
        <p:spPr>
          <a:xfrm>
            <a:off x="6558280" y="5127171"/>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S01, S02, S22, D14R, S25</a:t>
            </a:r>
            <a:endParaRPr lang="en-US" sz="1300"/>
          </a:p>
        </p:txBody>
      </p:sp>
      <p:cxnSp>
        <p:nvCxnSpPr>
          <p:cNvPr id="65" name="connector 65"/>
          <p:cNvCxnSpPr/>
          <p:nvPr/>
        </p:nvCxnSpPr>
        <p:spPr>
          <a:xfrm>
            <a:off x="6431280" y="5560786"/>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shape 66"/>
          <p:cNvSpPr/>
          <p:nvPr/>
        </p:nvSpPr>
        <p:spPr>
          <a:xfrm>
            <a:off x="508000" y="5560786"/>
            <a:ext cx="1117600" cy="484414"/>
          </a:xfrm>
          <a:prstGeom prst="rect">
            <a:avLst/>
          </a:prstGeom>
          <a:solidFill>
            <a:srgbClr val="FFFFFF"/>
          </a:solidFill>
          <a:ln>
            <a:noFill/>
          </a:ln>
        </p:spPr>
      </p:sp>
      <p:sp>
        <p:nvSpPr>
          <p:cNvPr id="67" name="text 67"/>
          <p:cNvSpPr/>
          <p:nvPr/>
        </p:nvSpPr>
        <p:spPr>
          <a:xfrm>
            <a:off x="635000" y="5611586"/>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25–26</a:t>
            </a:r>
            <a:endParaRPr lang="en-US" sz="1300"/>
          </a:p>
        </p:txBody>
      </p:sp>
      <p:cxnSp>
        <p:nvCxnSpPr>
          <p:cNvPr id="68" name="connector 68"/>
          <p:cNvCxnSpPr/>
          <p:nvPr/>
        </p:nvCxnSpPr>
        <p:spPr>
          <a:xfrm>
            <a:off x="508000" y="6045200"/>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9" name="shape 69"/>
          <p:cNvSpPr/>
          <p:nvPr/>
        </p:nvSpPr>
        <p:spPr>
          <a:xfrm>
            <a:off x="1625600" y="5560786"/>
            <a:ext cx="4805680" cy="484414"/>
          </a:xfrm>
          <a:prstGeom prst="rect">
            <a:avLst/>
          </a:prstGeom>
          <a:solidFill>
            <a:srgbClr val="FFFFFF"/>
          </a:solidFill>
          <a:ln>
            <a:noFill/>
          </a:ln>
        </p:spPr>
      </p:sp>
      <p:sp>
        <p:nvSpPr>
          <p:cNvPr id="70" name="text 70"/>
          <p:cNvSpPr/>
          <p:nvPr/>
        </p:nvSpPr>
        <p:spPr>
          <a:xfrm>
            <a:off x="1752600" y="5611586"/>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03 / Historical catalog</a:t>
            </a:r>
            <a:endParaRPr lang="en-US" sz="1300"/>
          </a:p>
        </p:txBody>
      </p:sp>
      <p:cxnSp>
        <p:nvCxnSpPr>
          <p:cNvPr id="71" name="connector 71"/>
          <p:cNvCxnSpPr/>
          <p:nvPr/>
        </p:nvCxnSpPr>
        <p:spPr>
          <a:xfrm>
            <a:off x="1625600" y="6045200"/>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2" name="shape 72"/>
          <p:cNvSpPr/>
          <p:nvPr/>
        </p:nvSpPr>
        <p:spPr>
          <a:xfrm>
            <a:off x="6431280" y="5560786"/>
            <a:ext cx="5252720" cy="484414"/>
          </a:xfrm>
          <a:prstGeom prst="rect">
            <a:avLst/>
          </a:prstGeom>
          <a:solidFill>
            <a:srgbClr val="FFFFFF"/>
          </a:solidFill>
          <a:ln>
            <a:noFill/>
          </a:ln>
        </p:spPr>
      </p:sp>
      <p:sp>
        <p:nvSpPr>
          <p:cNvPr id="73" name="text 73"/>
          <p:cNvSpPr/>
          <p:nvPr/>
        </p:nvSpPr>
        <p:spPr>
          <a:xfrm>
            <a:off x="6558280" y="5611586"/>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S34, S25, S26</a:t>
            </a:r>
            <a:endParaRPr lang="en-US" sz="1300"/>
          </a:p>
        </p:txBody>
      </p:sp>
      <p:cxnSp>
        <p:nvCxnSpPr>
          <p:cNvPr id="74" name="connector 74"/>
          <p:cNvCxnSpPr/>
          <p:nvPr/>
        </p:nvCxnSpPr>
        <p:spPr>
          <a:xfrm>
            <a:off x="6431280" y="6045200"/>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cxnSp>
        <p:nvCxnSpPr>
          <p:cNvPr id="75" name="connector 75"/>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76" name="text 76"/>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7" name="text 77"/>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84 / 87</a:t>
            </a:r>
            <a:endParaRPr lang="en-US" sz="100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SLIDE INDEX</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Navigate from a presentation section to its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slide range and source keys form a concise traceability index.</a:t>
            </a:r>
            <a:endParaRPr lang="en-US" sz="1500"/>
          </a:p>
        </p:txBody>
      </p:sp>
      <p:sp>
        <p:nvSpPr>
          <p:cNvPr id="6" name="shape 6"/>
          <p:cNvSpPr/>
          <p:nvPr/>
        </p:nvSpPr>
        <p:spPr>
          <a:xfrm>
            <a:off x="508000" y="2197100"/>
            <a:ext cx="1117600" cy="457200"/>
          </a:xfrm>
          <a:prstGeom prst="rect">
            <a:avLst/>
          </a:prstGeom>
          <a:solidFill>
            <a:srgbClr val="282A27"/>
          </a:solidFill>
          <a:ln>
            <a:noFill/>
          </a:ln>
        </p:spPr>
      </p:sp>
      <p:sp>
        <p:nvSpPr>
          <p:cNvPr id="7" name="text 7"/>
          <p:cNvSpPr/>
          <p:nvPr/>
        </p:nvSpPr>
        <p:spPr>
          <a:xfrm>
            <a:off x="635000" y="2311400"/>
            <a:ext cx="8636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Slides</a:t>
            </a:r>
            <a:endParaRPr lang="en-US" sz="1200"/>
          </a:p>
        </p:txBody>
      </p:sp>
      <p:sp>
        <p:nvSpPr>
          <p:cNvPr id="8" name="shape 8"/>
          <p:cNvSpPr/>
          <p:nvPr/>
        </p:nvSpPr>
        <p:spPr>
          <a:xfrm>
            <a:off x="1625600" y="2197100"/>
            <a:ext cx="4805680" cy="457200"/>
          </a:xfrm>
          <a:prstGeom prst="rect">
            <a:avLst/>
          </a:prstGeom>
          <a:solidFill>
            <a:srgbClr val="282A27"/>
          </a:solidFill>
          <a:ln>
            <a:noFill/>
          </a:ln>
        </p:spPr>
      </p:sp>
      <p:sp>
        <p:nvSpPr>
          <p:cNvPr id="9" name="text 9"/>
          <p:cNvSpPr/>
          <p:nvPr/>
        </p:nvSpPr>
        <p:spPr>
          <a:xfrm>
            <a:off x="1752600" y="2311400"/>
            <a:ext cx="45516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Section / diagnostic</a:t>
            </a:r>
            <a:endParaRPr lang="en-US" sz="1200"/>
          </a:p>
        </p:txBody>
      </p:sp>
      <p:sp>
        <p:nvSpPr>
          <p:cNvPr id="10" name="shape 10"/>
          <p:cNvSpPr/>
          <p:nvPr/>
        </p:nvSpPr>
        <p:spPr>
          <a:xfrm>
            <a:off x="6431280" y="2197100"/>
            <a:ext cx="5252720" cy="457200"/>
          </a:xfrm>
          <a:prstGeom prst="rect">
            <a:avLst/>
          </a:prstGeom>
          <a:solidFill>
            <a:srgbClr val="282A27"/>
          </a:solidFill>
          <a:ln>
            <a:noFill/>
          </a:ln>
        </p:spPr>
      </p:sp>
      <p:sp>
        <p:nvSpPr>
          <p:cNvPr id="11" name="text 11"/>
          <p:cNvSpPr/>
          <p:nvPr/>
        </p:nvSpPr>
        <p:spPr>
          <a:xfrm>
            <a:off x="6558280" y="2311400"/>
            <a:ext cx="49987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Primary source keys</a:t>
            </a:r>
            <a:endParaRPr lang="en-US" sz="1200"/>
          </a:p>
        </p:txBody>
      </p:sp>
      <p:sp>
        <p:nvSpPr>
          <p:cNvPr id="12" name="shape 12"/>
          <p:cNvSpPr/>
          <p:nvPr/>
        </p:nvSpPr>
        <p:spPr>
          <a:xfrm>
            <a:off x="508000" y="2654300"/>
            <a:ext cx="1117600" cy="484414"/>
          </a:xfrm>
          <a:prstGeom prst="rect">
            <a:avLst/>
          </a:prstGeom>
          <a:solidFill>
            <a:srgbClr val="FFFFFF"/>
          </a:solidFill>
          <a:ln>
            <a:noFill/>
          </a:ln>
        </p:spPr>
      </p:sp>
      <p:sp>
        <p:nvSpPr>
          <p:cNvPr id="13" name="text 13"/>
          <p:cNvSpPr/>
          <p:nvPr/>
        </p:nvSpPr>
        <p:spPr>
          <a:xfrm>
            <a:off x="635000" y="2705100"/>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27–31</a:t>
            </a:r>
            <a:endParaRPr lang="en-US" sz="1300"/>
          </a:p>
        </p:txBody>
      </p:sp>
      <p:cxnSp>
        <p:nvCxnSpPr>
          <p:cNvPr id="14" name="connector 14"/>
          <p:cNvCxnSpPr/>
          <p:nvPr/>
        </p:nvCxnSpPr>
        <p:spPr>
          <a:xfrm>
            <a:off x="508000" y="3138714"/>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1625600" y="2654300"/>
            <a:ext cx="4805680" cy="484414"/>
          </a:xfrm>
          <a:prstGeom prst="rect">
            <a:avLst/>
          </a:prstGeom>
          <a:solidFill>
            <a:srgbClr val="FFFFFF"/>
          </a:solidFill>
          <a:ln>
            <a:noFill/>
          </a:ln>
        </p:spPr>
      </p:sp>
      <p:sp>
        <p:nvSpPr>
          <p:cNvPr id="16" name="text 16"/>
          <p:cNvSpPr/>
          <p:nvPr/>
        </p:nvSpPr>
        <p:spPr>
          <a:xfrm>
            <a:off x="1752600" y="2705100"/>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04 / T1-D02</a:t>
            </a:r>
            <a:endParaRPr lang="en-US" sz="1300"/>
          </a:p>
        </p:txBody>
      </p:sp>
      <p:cxnSp>
        <p:nvCxnSpPr>
          <p:cNvPr id="17" name="connector 17"/>
          <p:cNvCxnSpPr/>
          <p:nvPr/>
        </p:nvCxnSpPr>
        <p:spPr>
          <a:xfrm>
            <a:off x="1625600" y="3138714"/>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6431280" y="2654300"/>
            <a:ext cx="5252720" cy="484414"/>
          </a:xfrm>
          <a:prstGeom prst="rect">
            <a:avLst/>
          </a:prstGeom>
          <a:solidFill>
            <a:srgbClr val="FFFFFF"/>
          </a:solidFill>
          <a:ln>
            <a:noFill/>
          </a:ln>
        </p:spPr>
      </p:sp>
      <p:sp>
        <p:nvSpPr>
          <p:cNvPr id="19" name="text 19"/>
          <p:cNvSpPr/>
          <p:nvPr/>
        </p:nvSpPr>
        <p:spPr>
          <a:xfrm>
            <a:off x="6558280" y="2705100"/>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D02R, D02E, D02C, D02M, D02X, S08</a:t>
            </a:r>
            <a:endParaRPr lang="en-US" sz="1300"/>
          </a:p>
        </p:txBody>
      </p:sp>
      <p:cxnSp>
        <p:nvCxnSpPr>
          <p:cNvPr id="20" name="connector 20"/>
          <p:cNvCxnSpPr/>
          <p:nvPr/>
        </p:nvCxnSpPr>
        <p:spPr>
          <a:xfrm>
            <a:off x="6431280" y="3138714"/>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138714"/>
            <a:ext cx="1117600" cy="484414"/>
          </a:xfrm>
          <a:prstGeom prst="rect">
            <a:avLst/>
          </a:prstGeom>
          <a:solidFill>
            <a:srgbClr val="EFEEE9"/>
          </a:solidFill>
          <a:ln>
            <a:noFill/>
          </a:ln>
        </p:spPr>
      </p:sp>
      <p:sp>
        <p:nvSpPr>
          <p:cNvPr id="22" name="text 22"/>
          <p:cNvSpPr/>
          <p:nvPr/>
        </p:nvSpPr>
        <p:spPr>
          <a:xfrm>
            <a:off x="635000" y="3189514"/>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32–36</a:t>
            </a:r>
            <a:endParaRPr lang="en-US" sz="1300"/>
          </a:p>
        </p:txBody>
      </p:sp>
      <p:cxnSp>
        <p:nvCxnSpPr>
          <p:cNvPr id="23" name="connector 23"/>
          <p:cNvCxnSpPr/>
          <p:nvPr/>
        </p:nvCxnSpPr>
        <p:spPr>
          <a:xfrm>
            <a:off x="508000" y="3623129"/>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1625600" y="3138714"/>
            <a:ext cx="4805680" cy="484414"/>
          </a:xfrm>
          <a:prstGeom prst="rect">
            <a:avLst/>
          </a:prstGeom>
          <a:solidFill>
            <a:srgbClr val="EFEEE9"/>
          </a:solidFill>
          <a:ln>
            <a:noFill/>
          </a:ln>
        </p:spPr>
      </p:sp>
      <p:sp>
        <p:nvSpPr>
          <p:cNvPr id="25" name="text 25"/>
          <p:cNvSpPr/>
          <p:nvPr/>
        </p:nvSpPr>
        <p:spPr>
          <a:xfrm>
            <a:off x="1752600" y="3189514"/>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04 / T2-D04</a:t>
            </a:r>
            <a:endParaRPr lang="en-US" sz="1300"/>
          </a:p>
        </p:txBody>
      </p:sp>
      <p:cxnSp>
        <p:nvCxnSpPr>
          <p:cNvPr id="26" name="connector 26"/>
          <p:cNvCxnSpPr/>
          <p:nvPr/>
        </p:nvCxnSpPr>
        <p:spPr>
          <a:xfrm>
            <a:off x="1625600" y="3623129"/>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6431280" y="3138714"/>
            <a:ext cx="5252720" cy="484414"/>
          </a:xfrm>
          <a:prstGeom prst="rect">
            <a:avLst/>
          </a:prstGeom>
          <a:solidFill>
            <a:srgbClr val="EFEEE9"/>
          </a:solidFill>
          <a:ln>
            <a:noFill/>
          </a:ln>
        </p:spPr>
      </p:sp>
      <p:sp>
        <p:nvSpPr>
          <p:cNvPr id="28" name="text 28"/>
          <p:cNvSpPr/>
          <p:nvPr/>
        </p:nvSpPr>
        <p:spPr>
          <a:xfrm>
            <a:off x="6558280" y="3189514"/>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S08, D04R, D04E, D04M, D04X, S14</a:t>
            </a:r>
            <a:endParaRPr lang="en-US" sz="1300"/>
          </a:p>
        </p:txBody>
      </p:sp>
      <p:cxnSp>
        <p:nvCxnSpPr>
          <p:cNvPr id="29" name="connector 29"/>
          <p:cNvCxnSpPr/>
          <p:nvPr/>
        </p:nvCxnSpPr>
        <p:spPr>
          <a:xfrm>
            <a:off x="6431280" y="3623129"/>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3623129"/>
            <a:ext cx="1117600" cy="484414"/>
          </a:xfrm>
          <a:prstGeom prst="rect">
            <a:avLst/>
          </a:prstGeom>
          <a:solidFill>
            <a:srgbClr val="FFFFFF"/>
          </a:solidFill>
          <a:ln>
            <a:noFill/>
          </a:ln>
        </p:spPr>
      </p:sp>
      <p:sp>
        <p:nvSpPr>
          <p:cNvPr id="31" name="text 31"/>
          <p:cNvSpPr/>
          <p:nvPr/>
        </p:nvSpPr>
        <p:spPr>
          <a:xfrm>
            <a:off x="635000" y="3673929"/>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37–41</a:t>
            </a:r>
            <a:endParaRPr lang="en-US" sz="1300"/>
          </a:p>
        </p:txBody>
      </p:sp>
      <p:cxnSp>
        <p:nvCxnSpPr>
          <p:cNvPr id="32" name="connector 32"/>
          <p:cNvCxnSpPr/>
          <p:nvPr/>
        </p:nvCxnSpPr>
        <p:spPr>
          <a:xfrm>
            <a:off x="508000" y="4107543"/>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1625600" y="3623129"/>
            <a:ext cx="4805680" cy="484414"/>
          </a:xfrm>
          <a:prstGeom prst="rect">
            <a:avLst/>
          </a:prstGeom>
          <a:solidFill>
            <a:srgbClr val="FFFFFF"/>
          </a:solidFill>
          <a:ln>
            <a:noFill/>
          </a:ln>
        </p:spPr>
      </p:sp>
      <p:sp>
        <p:nvSpPr>
          <p:cNvPr id="34" name="text 34"/>
          <p:cNvSpPr/>
          <p:nvPr/>
        </p:nvSpPr>
        <p:spPr>
          <a:xfrm>
            <a:off x="1752600" y="3673929"/>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04 / T2-D06</a:t>
            </a:r>
            <a:endParaRPr lang="en-US" sz="1300"/>
          </a:p>
        </p:txBody>
      </p:sp>
      <p:cxnSp>
        <p:nvCxnSpPr>
          <p:cNvPr id="35" name="connector 35"/>
          <p:cNvCxnSpPr/>
          <p:nvPr/>
        </p:nvCxnSpPr>
        <p:spPr>
          <a:xfrm>
            <a:off x="1625600" y="4107543"/>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6431280" y="3623129"/>
            <a:ext cx="5252720" cy="484414"/>
          </a:xfrm>
          <a:prstGeom prst="rect">
            <a:avLst/>
          </a:prstGeom>
          <a:solidFill>
            <a:srgbClr val="FFFFFF"/>
          </a:solidFill>
          <a:ln>
            <a:noFill/>
          </a:ln>
        </p:spPr>
      </p:sp>
      <p:sp>
        <p:nvSpPr>
          <p:cNvPr id="37" name="text 37"/>
          <p:cNvSpPr/>
          <p:nvPr/>
        </p:nvSpPr>
        <p:spPr>
          <a:xfrm>
            <a:off x="6558280" y="3673929"/>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D06R, D06E, D06M, D06X, D06T, S08</a:t>
            </a:r>
            <a:endParaRPr lang="en-US" sz="1300"/>
          </a:p>
        </p:txBody>
      </p:sp>
      <p:cxnSp>
        <p:nvCxnSpPr>
          <p:cNvPr id="38" name="connector 38"/>
          <p:cNvCxnSpPr/>
          <p:nvPr/>
        </p:nvCxnSpPr>
        <p:spPr>
          <a:xfrm>
            <a:off x="6431280" y="4107543"/>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9" name="shape 39"/>
          <p:cNvSpPr/>
          <p:nvPr/>
        </p:nvSpPr>
        <p:spPr>
          <a:xfrm>
            <a:off x="508000" y="4107543"/>
            <a:ext cx="1117600" cy="484414"/>
          </a:xfrm>
          <a:prstGeom prst="rect">
            <a:avLst/>
          </a:prstGeom>
          <a:solidFill>
            <a:srgbClr val="EFEEE9"/>
          </a:solidFill>
          <a:ln>
            <a:noFill/>
          </a:ln>
        </p:spPr>
      </p:sp>
      <p:sp>
        <p:nvSpPr>
          <p:cNvPr id="40" name="text 40"/>
          <p:cNvSpPr/>
          <p:nvPr/>
        </p:nvSpPr>
        <p:spPr>
          <a:xfrm>
            <a:off x="635000" y="4158343"/>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42–46</a:t>
            </a:r>
            <a:endParaRPr lang="en-US" sz="1300"/>
          </a:p>
        </p:txBody>
      </p:sp>
      <p:cxnSp>
        <p:nvCxnSpPr>
          <p:cNvPr id="41" name="connector 41"/>
          <p:cNvCxnSpPr/>
          <p:nvPr/>
        </p:nvCxnSpPr>
        <p:spPr>
          <a:xfrm>
            <a:off x="508000" y="4591957"/>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2" name="shape 42"/>
          <p:cNvSpPr/>
          <p:nvPr/>
        </p:nvSpPr>
        <p:spPr>
          <a:xfrm>
            <a:off x="1625600" y="4107543"/>
            <a:ext cx="4805680" cy="484414"/>
          </a:xfrm>
          <a:prstGeom prst="rect">
            <a:avLst/>
          </a:prstGeom>
          <a:solidFill>
            <a:srgbClr val="EFEEE9"/>
          </a:solidFill>
          <a:ln>
            <a:noFill/>
          </a:ln>
        </p:spPr>
      </p:sp>
      <p:sp>
        <p:nvSpPr>
          <p:cNvPr id="43" name="text 43"/>
          <p:cNvSpPr/>
          <p:nvPr/>
        </p:nvSpPr>
        <p:spPr>
          <a:xfrm>
            <a:off x="1752600" y="4158343"/>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04 / T2-D08</a:t>
            </a:r>
            <a:endParaRPr lang="en-US" sz="1300"/>
          </a:p>
        </p:txBody>
      </p:sp>
      <p:cxnSp>
        <p:nvCxnSpPr>
          <p:cNvPr id="44" name="connector 44"/>
          <p:cNvCxnSpPr/>
          <p:nvPr/>
        </p:nvCxnSpPr>
        <p:spPr>
          <a:xfrm>
            <a:off x="1625600" y="4591957"/>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5" name="shape 45"/>
          <p:cNvSpPr/>
          <p:nvPr/>
        </p:nvSpPr>
        <p:spPr>
          <a:xfrm>
            <a:off x="6431280" y="4107543"/>
            <a:ext cx="5252720" cy="484414"/>
          </a:xfrm>
          <a:prstGeom prst="rect">
            <a:avLst/>
          </a:prstGeom>
          <a:solidFill>
            <a:srgbClr val="EFEEE9"/>
          </a:solidFill>
          <a:ln>
            <a:noFill/>
          </a:ln>
        </p:spPr>
      </p:sp>
      <p:sp>
        <p:nvSpPr>
          <p:cNvPr id="46" name="text 46"/>
          <p:cNvSpPr/>
          <p:nvPr/>
        </p:nvSpPr>
        <p:spPr>
          <a:xfrm>
            <a:off x="6558280" y="4158343"/>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D08R, D08M, D08E, D08X, D08K, S08</a:t>
            </a:r>
            <a:endParaRPr lang="en-US" sz="1300"/>
          </a:p>
        </p:txBody>
      </p:sp>
      <p:cxnSp>
        <p:nvCxnSpPr>
          <p:cNvPr id="47" name="connector 47"/>
          <p:cNvCxnSpPr/>
          <p:nvPr/>
        </p:nvCxnSpPr>
        <p:spPr>
          <a:xfrm>
            <a:off x="6431280" y="4591957"/>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48" name="shape 48"/>
          <p:cNvSpPr/>
          <p:nvPr/>
        </p:nvSpPr>
        <p:spPr>
          <a:xfrm>
            <a:off x="508000" y="4591957"/>
            <a:ext cx="1117600" cy="484414"/>
          </a:xfrm>
          <a:prstGeom prst="rect">
            <a:avLst/>
          </a:prstGeom>
          <a:solidFill>
            <a:srgbClr val="FFFFFF"/>
          </a:solidFill>
          <a:ln>
            <a:noFill/>
          </a:ln>
        </p:spPr>
      </p:sp>
      <p:sp>
        <p:nvSpPr>
          <p:cNvPr id="49" name="text 49"/>
          <p:cNvSpPr/>
          <p:nvPr/>
        </p:nvSpPr>
        <p:spPr>
          <a:xfrm>
            <a:off x="635000" y="4642757"/>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47–51</a:t>
            </a:r>
            <a:endParaRPr lang="en-US" sz="1300"/>
          </a:p>
        </p:txBody>
      </p:sp>
      <p:cxnSp>
        <p:nvCxnSpPr>
          <p:cNvPr id="50" name="connector 50"/>
          <p:cNvCxnSpPr/>
          <p:nvPr/>
        </p:nvCxnSpPr>
        <p:spPr>
          <a:xfrm>
            <a:off x="508000" y="5076371"/>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1" name="shape 51"/>
          <p:cNvSpPr/>
          <p:nvPr/>
        </p:nvSpPr>
        <p:spPr>
          <a:xfrm>
            <a:off x="1625600" y="4591957"/>
            <a:ext cx="4805680" cy="484414"/>
          </a:xfrm>
          <a:prstGeom prst="rect">
            <a:avLst/>
          </a:prstGeom>
          <a:solidFill>
            <a:srgbClr val="FFFFFF"/>
          </a:solidFill>
          <a:ln>
            <a:noFill/>
          </a:ln>
        </p:spPr>
      </p:sp>
      <p:sp>
        <p:nvSpPr>
          <p:cNvPr id="52" name="text 52"/>
          <p:cNvSpPr/>
          <p:nvPr/>
        </p:nvSpPr>
        <p:spPr>
          <a:xfrm>
            <a:off x="1752600" y="4642757"/>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04 / T2-D11</a:t>
            </a:r>
            <a:endParaRPr lang="en-US" sz="1300"/>
          </a:p>
        </p:txBody>
      </p:sp>
      <p:cxnSp>
        <p:nvCxnSpPr>
          <p:cNvPr id="53" name="connector 53"/>
          <p:cNvCxnSpPr/>
          <p:nvPr/>
        </p:nvCxnSpPr>
        <p:spPr>
          <a:xfrm>
            <a:off x="1625600" y="5076371"/>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4" name="shape 54"/>
          <p:cNvSpPr/>
          <p:nvPr/>
        </p:nvSpPr>
        <p:spPr>
          <a:xfrm>
            <a:off x="6431280" y="4591957"/>
            <a:ext cx="5252720" cy="484414"/>
          </a:xfrm>
          <a:prstGeom prst="rect">
            <a:avLst/>
          </a:prstGeom>
          <a:solidFill>
            <a:srgbClr val="FFFFFF"/>
          </a:solidFill>
          <a:ln>
            <a:noFill/>
          </a:ln>
        </p:spPr>
      </p:sp>
      <p:sp>
        <p:nvSpPr>
          <p:cNvPr id="55" name="text 55"/>
          <p:cNvSpPr/>
          <p:nvPr/>
        </p:nvSpPr>
        <p:spPr>
          <a:xfrm>
            <a:off x="6558280" y="4642757"/>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D11R, D11M, D11E, D11X, D11K, S08</a:t>
            </a:r>
            <a:endParaRPr lang="en-US" sz="1300"/>
          </a:p>
        </p:txBody>
      </p:sp>
      <p:cxnSp>
        <p:nvCxnSpPr>
          <p:cNvPr id="56" name="connector 56"/>
          <p:cNvCxnSpPr/>
          <p:nvPr/>
        </p:nvCxnSpPr>
        <p:spPr>
          <a:xfrm>
            <a:off x="6431280" y="5076371"/>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57" name="shape 57"/>
          <p:cNvSpPr/>
          <p:nvPr/>
        </p:nvSpPr>
        <p:spPr>
          <a:xfrm>
            <a:off x="508000" y="5076371"/>
            <a:ext cx="1117600" cy="484414"/>
          </a:xfrm>
          <a:prstGeom prst="rect">
            <a:avLst/>
          </a:prstGeom>
          <a:solidFill>
            <a:srgbClr val="EFEEE9"/>
          </a:solidFill>
          <a:ln>
            <a:noFill/>
          </a:ln>
        </p:spPr>
      </p:sp>
      <p:sp>
        <p:nvSpPr>
          <p:cNvPr id="58" name="text 58"/>
          <p:cNvSpPr/>
          <p:nvPr/>
        </p:nvSpPr>
        <p:spPr>
          <a:xfrm>
            <a:off x="635000" y="5127171"/>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52–56</a:t>
            </a:r>
            <a:endParaRPr lang="en-US" sz="1300"/>
          </a:p>
        </p:txBody>
      </p:sp>
      <p:cxnSp>
        <p:nvCxnSpPr>
          <p:cNvPr id="59" name="connector 59"/>
          <p:cNvCxnSpPr/>
          <p:nvPr/>
        </p:nvCxnSpPr>
        <p:spPr>
          <a:xfrm>
            <a:off x="508000" y="5560786"/>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0" name="shape 60"/>
          <p:cNvSpPr/>
          <p:nvPr/>
        </p:nvSpPr>
        <p:spPr>
          <a:xfrm>
            <a:off x="1625600" y="5076371"/>
            <a:ext cx="4805680" cy="484414"/>
          </a:xfrm>
          <a:prstGeom prst="rect">
            <a:avLst/>
          </a:prstGeom>
          <a:solidFill>
            <a:srgbClr val="EFEEE9"/>
          </a:solidFill>
          <a:ln>
            <a:noFill/>
          </a:ln>
        </p:spPr>
      </p:sp>
      <p:sp>
        <p:nvSpPr>
          <p:cNvPr id="61" name="text 61"/>
          <p:cNvSpPr/>
          <p:nvPr/>
        </p:nvSpPr>
        <p:spPr>
          <a:xfrm>
            <a:off x="1752600" y="5127171"/>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04 / T4-D14</a:t>
            </a:r>
            <a:endParaRPr lang="en-US" sz="1300"/>
          </a:p>
        </p:txBody>
      </p:sp>
      <p:cxnSp>
        <p:nvCxnSpPr>
          <p:cNvPr id="62" name="connector 62"/>
          <p:cNvCxnSpPr/>
          <p:nvPr/>
        </p:nvCxnSpPr>
        <p:spPr>
          <a:xfrm>
            <a:off x="1625600" y="5560786"/>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3" name="shape 63"/>
          <p:cNvSpPr/>
          <p:nvPr/>
        </p:nvSpPr>
        <p:spPr>
          <a:xfrm>
            <a:off x="6431280" y="5076371"/>
            <a:ext cx="5252720" cy="484414"/>
          </a:xfrm>
          <a:prstGeom prst="rect">
            <a:avLst/>
          </a:prstGeom>
          <a:solidFill>
            <a:srgbClr val="EFEEE9"/>
          </a:solidFill>
          <a:ln>
            <a:noFill/>
          </a:ln>
        </p:spPr>
      </p:sp>
      <p:sp>
        <p:nvSpPr>
          <p:cNvPr id="64" name="text 64"/>
          <p:cNvSpPr/>
          <p:nvPr/>
        </p:nvSpPr>
        <p:spPr>
          <a:xfrm>
            <a:off x="6558280" y="5127171"/>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D14R, D14E, D14M, D14X, D14T, S08</a:t>
            </a:r>
            <a:endParaRPr lang="en-US" sz="1300"/>
          </a:p>
        </p:txBody>
      </p:sp>
      <p:cxnSp>
        <p:nvCxnSpPr>
          <p:cNvPr id="65" name="connector 65"/>
          <p:cNvCxnSpPr/>
          <p:nvPr/>
        </p:nvCxnSpPr>
        <p:spPr>
          <a:xfrm>
            <a:off x="6431280" y="5560786"/>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6" name="shape 66"/>
          <p:cNvSpPr/>
          <p:nvPr/>
        </p:nvSpPr>
        <p:spPr>
          <a:xfrm>
            <a:off x="508000" y="5560786"/>
            <a:ext cx="1117600" cy="484414"/>
          </a:xfrm>
          <a:prstGeom prst="rect">
            <a:avLst/>
          </a:prstGeom>
          <a:solidFill>
            <a:srgbClr val="FFFFFF"/>
          </a:solidFill>
          <a:ln>
            <a:noFill/>
          </a:ln>
        </p:spPr>
      </p:sp>
      <p:sp>
        <p:nvSpPr>
          <p:cNvPr id="67" name="text 67"/>
          <p:cNvSpPr/>
          <p:nvPr/>
        </p:nvSpPr>
        <p:spPr>
          <a:xfrm>
            <a:off x="635000" y="5611586"/>
            <a:ext cx="863600" cy="382814"/>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57–59</a:t>
            </a:r>
            <a:endParaRPr lang="en-US" sz="1300"/>
          </a:p>
        </p:txBody>
      </p:sp>
      <p:cxnSp>
        <p:nvCxnSpPr>
          <p:cNvPr id="68" name="connector 68"/>
          <p:cNvCxnSpPr/>
          <p:nvPr/>
        </p:nvCxnSpPr>
        <p:spPr>
          <a:xfrm>
            <a:off x="508000" y="6045200"/>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69" name="shape 69"/>
          <p:cNvSpPr/>
          <p:nvPr/>
        </p:nvSpPr>
        <p:spPr>
          <a:xfrm>
            <a:off x="1625600" y="5560786"/>
            <a:ext cx="4805680" cy="484414"/>
          </a:xfrm>
          <a:prstGeom prst="rect">
            <a:avLst/>
          </a:prstGeom>
          <a:solidFill>
            <a:srgbClr val="FFFFFF"/>
          </a:solidFill>
          <a:ln>
            <a:noFill/>
          </a:ln>
        </p:spPr>
      </p:sp>
      <p:sp>
        <p:nvSpPr>
          <p:cNvPr id="70" name="text 70"/>
          <p:cNvSpPr/>
          <p:nvPr/>
        </p:nvSpPr>
        <p:spPr>
          <a:xfrm>
            <a:off x="1752600" y="5611586"/>
            <a:ext cx="455168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05 / Supporting investigation</a:t>
            </a:r>
            <a:endParaRPr lang="en-US" sz="1300"/>
          </a:p>
        </p:txBody>
      </p:sp>
      <p:cxnSp>
        <p:nvCxnSpPr>
          <p:cNvPr id="71" name="connector 71"/>
          <p:cNvCxnSpPr/>
          <p:nvPr/>
        </p:nvCxnSpPr>
        <p:spPr>
          <a:xfrm>
            <a:off x="1625600" y="6045200"/>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72" name="shape 72"/>
          <p:cNvSpPr/>
          <p:nvPr/>
        </p:nvSpPr>
        <p:spPr>
          <a:xfrm>
            <a:off x="6431280" y="5560786"/>
            <a:ext cx="5252720" cy="484414"/>
          </a:xfrm>
          <a:prstGeom prst="rect">
            <a:avLst/>
          </a:prstGeom>
          <a:solidFill>
            <a:srgbClr val="FFFFFF"/>
          </a:solidFill>
          <a:ln>
            <a:noFill/>
          </a:ln>
        </p:spPr>
      </p:sp>
      <p:sp>
        <p:nvSpPr>
          <p:cNvPr id="73" name="text 73"/>
          <p:cNvSpPr/>
          <p:nvPr/>
        </p:nvSpPr>
        <p:spPr>
          <a:xfrm>
            <a:off x="6558280" y="5611586"/>
            <a:ext cx="4998720" cy="382814"/>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S23, S24, S33, S16</a:t>
            </a:r>
            <a:endParaRPr lang="en-US" sz="1300"/>
          </a:p>
        </p:txBody>
      </p:sp>
      <p:cxnSp>
        <p:nvCxnSpPr>
          <p:cNvPr id="74" name="connector 74"/>
          <p:cNvCxnSpPr/>
          <p:nvPr/>
        </p:nvCxnSpPr>
        <p:spPr>
          <a:xfrm>
            <a:off x="6431280" y="6045200"/>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cxnSp>
        <p:nvCxnSpPr>
          <p:cNvPr id="75" name="connector 75"/>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76" name="text 76"/>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77" name="text 77"/>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85 / 87</a:t>
            </a:r>
            <a:endParaRPr lang="en-US" sz="100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SLIDE INDEX</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Navigate from a presentation section to its evidence</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slide range and source keys form a concise traceability index.</a:t>
            </a:r>
            <a:endParaRPr lang="en-US" sz="1500"/>
          </a:p>
        </p:txBody>
      </p:sp>
      <p:sp>
        <p:nvSpPr>
          <p:cNvPr id="6" name="shape 6"/>
          <p:cNvSpPr/>
          <p:nvPr/>
        </p:nvSpPr>
        <p:spPr>
          <a:xfrm>
            <a:off x="508000" y="2197100"/>
            <a:ext cx="1117600" cy="457200"/>
          </a:xfrm>
          <a:prstGeom prst="rect">
            <a:avLst/>
          </a:prstGeom>
          <a:solidFill>
            <a:srgbClr val="282A27"/>
          </a:solidFill>
          <a:ln>
            <a:noFill/>
          </a:ln>
        </p:spPr>
      </p:sp>
      <p:sp>
        <p:nvSpPr>
          <p:cNvPr id="7" name="text 7"/>
          <p:cNvSpPr/>
          <p:nvPr/>
        </p:nvSpPr>
        <p:spPr>
          <a:xfrm>
            <a:off x="635000" y="2311400"/>
            <a:ext cx="86360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Slides</a:t>
            </a:r>
            <a:endParaRPr lang="en-US" sz="1200"/>
          </a:p>
        </p:txBody>
      </p:sp>
      <p:sp>
        <p:nvSpPr>
          <p:cNvPr id="8" name="shape 8"/>
          <p:cNvSpPr/>
          <p:nvPr/>
        </p:nvSpPr>
        <p:spPr>
          <a:xfrm>
            <a:off x="1625600" y="2197100"/>
            <a:ext cx="4805680" cy="457200"/>
          </a:xfrm>
          <a:prstGeom prst="rect">
            <a:avLst/>
          </a:prstGeom>
          <a:solidFill>
            <a:srgbClr val="282A27"/>
          </a:solidFill>
          <a:ln>
            <a:noFill/>
          </a:ln>
        </p:spPr>
      </p:sp>
      <p:sp>
        <p:nvSpPr>
          <p:cNvPr id="9" name="text 9"/>
          <p:cNvSpPr/>
          <p:nvPr/>
        </p:nvSpPr>
        <p:spPr>
          <a:xfrm>
            <a:off x="1752600" y="2311400"/>
            <a:ext cx="455168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Section / diagnostic</a:t>
            </a:r>
            <a:endParaRPr lang="en-US" sz="1200"/>
          </a:p>
        </p:txBody>
      </p:sp>
      <p:sp>
        <p:nvSpPr>
          <p:cNvPr id="10" name="shape 10"/>
          <p:cNvSpPr/>
          <p:nvPr/>
        </p:nvSpPr>
        <p:spPr>
          <a:xfrm>
            <a:off x="6431280" y="2197100"/>
            <a:ext cx="5252720" cy="457200"/>
          </a:xfrm>
          <a:prstGeom prst="rect">
            <a:avLst/>
          </a:prstGeom>
          <a:solidFill>
            <a:srgbClr val="282A27"/>
          </a:solidFill>
          <a:ln>
            <a:noFill/>
          </a:ln>
        </p:spPr>
      </p:sp>
      <p:sp>
        <p:nvSpPr>
          <p:cNvPr id="11" name="text 11"/>
          <p:cNvSpPr/>
          <p:nvPr/>
        </p:nvSpPr>
        <p:spPr>
          <a:xfrm>
            <a:off x="6558280" y="2311400"/>
            <a:ext cx="4998720" cy="304800"/>
          </a:xfrm>
          <a:prstGeom prst="rect">
            <a:avLst/>
          </a:prstGeom>
          <a:noFill/>
          <a:ln>
            <a:noFill/>
          </a:ln>
        </p:spPr>
        <p:txBody>
          <a:bodyPr wrap="none" lIns="0" tIns="0" rIns="0" bIns="0" anchor="t">
            <a:noAutofit/>
          </a:bodyPr>
          <a:lstStyle/>
          <a:p>
            <a:pPr algn="l">
              <a:lnSpc>
                <a:spcPts val="1368"/>
              </a:lnSpc>
              <a:spcAft>
                <a:spcPts val="0"/>
              </a:spcAft>
            </a:pPr>
            <a:r>
              <a:rPr lang="en-US" sz="1200" b="1" dirty="0">
                <a:solidFill>
                  <a:srgbClr val="FFFFFF"/>
                </a:solidFill>
                <a:latin typeface="Funnel Sans"/>
              </a:rPr>
              <a:t>Primary source keys</a:t>
            </a:r>
            <a:endParaRPr lang="en-US" sz="1200"/>
          </a:p>
        </p:txBody>
      </p:sp>
      <p:sp>
        <p:nvSpPr>
          <p:cNvPr id="12" name="shape 12"/>
          <p:cNvSpPr/>
          <p:nvPr/>
        </p:nvSpPr>
        <p:spPr>
          <a:xfrm>
            <a:off x="508000" y="2654300"/>
            <a:ext cx="1117600" cy="1130300"/>
          </a:xfrm>
          <a:prstGeom prst="rect">
            <a:avLst/>
          </a:prstGeom>
          <a:solidFill>
            <a:srgbClr val="FFFFFF"/>
          </a:solidFill>
          <a:ln>
            <a:noFill/>
          </a:ln>
        </p:spPr>
      </p:sp>
      <p:sp>
        <p:nvSpPr>
          <p:cNvPr id="13" name="text 13"/>
          <p:cNvSpPr/>
          <p:nvPr/>
        </p:nvSpPr>
        <p:spPr>
          <a:xfrm>
            <a:off x="635000" y="2705100"/>
            <a:ext cx="863600" cy="1028700"/>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60–62</a:t>
            </a:r>
            <a:endParaRPr lang="en-US" sz="1300"/>
          </a:p>
        </p:txBody>
      </p:sp>
      <p:cxnSp>
        <p:nvCxnSpPr>
          <p:cNvPr id="14" name="connector 14"/>
          <p:cNvCxnSpPr/>
          <p:nvPr/>
        </p:nvCxnSpPr>
        <p:spPr>
          <a:xfrm>
            <a:off x="508000" y="3784600"/>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5" name="shape 15"/>
          <p:cNvSpPr/>
          <p:nvPr/>
        </p:nvSpPr>
        <p:spPr>
          <a:xfrm>
            <a:off x="1625600" y="2654300"/>
            <a:ext cx="4805680" cy="1130300"/>
          </a:xfrm>
          <a:prstGeom prst="rect">
            <a:avLst/>
          </a:prstGeom>
          <a:solidFill>
            <a:srgbClr val="FFFFFF"/>
          </a:solidFill>
          <a:ln>
            <a:noFill/>
          </a:ln>
        </p:spPr>
      </p:sp>
      <p:sp>
        <p:nvSpPr>
          <p:cNvPr id="16" name="text 16"/>
          <p:cNvSpPr/>
          <p:nvPr/>
        </p:nvSpPr>
        <p:spPr>
          <a:xfrm>
            <a:off x="1752600" y="2705100"/>
            <a:ext cx="4551680" cy="10287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06 / Planned</a:t>
            </a:r>
            <a:endParaRPr lang="en-US" sz="1300"/>
          </a:p>
        </p:txBody>
      </p:sp>
      <p:cxnSp>
        <p:nvCxnSpPr>
          <p:cNvPr id="17" name="connector 17"/>
          <p:cNvCxnSpPr/>
          <p:nvPr/>
        </p:nvCxnSpPr>
        <p:spPr>
          <a:xfrm>
            <a:off x="1625600" y="3784600"/>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18" name="shape 18"/>
          <p:cNvSpPr/>
          <p:nvPr/>
        </p:nvSpPr>
        <p:spPr>
          <a:xfrm>
            <a:off x="6431280" y="2654300"/>
            <a:ext cx="5252720" cy="1130300"/>
          </a:xfrm>
          <a:prstGeom prst="rect">
            <a:avLst/>
          </a:prstGeom>
          <a:solidFill>
            <a:srgbClr val="FFFFFF"/>
          </a:solidFill>
          <a:ln>
            <a:noFill/>
          </a:ln>
        </p:spPr>
      </p:sp>
      <p:sp>
        <p:nvSpPr>
          <p:cNvPr id="19" name="text 19"/>
          <p:cNvSpPr/>
          <p:nvPr/>
        </p:nvSpPr>
        <p:spPr>
          <a:xfrm>
            <a:off x="6558280" y="2705100"/>
            <a:ext cx="4998720" cy="10287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S08, S02, S10</a:t>
            </a:r>
            <a:endParaRPr lang="en-US" sz="1300"/>
          </a:p>
        </p:txBody>
      </p:sp>
      <p:cxnSp>
        <p:nvCxnSpPr>
          <p:cNvPr id="20" name="connector 20"/>
          <p:cNvCxnSpPr/>
          <p:nvPr/>
        </p:nvCxnSpPr>
        <p:spPr>
          <a:xfrm>
            <a:off x="6431280" y="3784600"/>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1" name="shape 21"/>
          <p:cNvSpPr/>
          <p:nvPr/>
        </p:nvSpPr>
        <p:spPr>
          <a:xfrm>
            <a:off x="508000" y="3784600"/>
            <a:ext cx="1117600" cy="1130300"/>
          </a:xfrm>
          <a:prstGeom prst="rect">
            <a:avLst/>
          </a:prstGeom>
          <a:solidFill>
            <a:srgbClr val="EFEEE9"/>
          </a:solidFill>
          <a:ln>
            <a:noFill/>
          </a:ln>
        </p:spPr>
      </p:sp>
      <p:sp>
        <p:nvSpPr>
          <p:cNvPr id="22" name="text 22"/>
          <p:cNvSpPr/>
          <p:nvPr/>
        </p:nvSpPr>
        <p:spPr>
          <a:xfrm>
            <a:off x="635000" y="3835400"/>
            <a:ext cx="863600" cy="1028700"/>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63–73</a:t>
            </a:r>
            <a:endParaRPr lang="en-US" sz="1300"/>
          </a:p>
        </p:txBody>
      </p:sp>
      <p:cxnSp>
        <p:nvCxnSpPr>
          <p:cNvPr id="23" name="connector 23"/>
          <p:cNvCxnSpPr/>
          <p:nvPr/>
        </p:nvCxnSpPr>
        <p:spPr>
          <a:xfrm>
            <a:off x="508000" y="4914900"/>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4" name="shape 24"/>
          <p:cNvSpPr/>
          <p:nvPr/>
        </p:nvSpPr>
        <p:spPr>
          <a:xfrm>
            <a:off x="1625600" y="3784600"/>
            <a:ext cx="4805680" cy="1130300"/>
          </a:xfrm>
          <a:prstGeom prst="rect">
            <a:avLst/>
          </a:prstGeom>
          <a:solidFill>
            <a:srgbClr val="EFEEE9"/>
          </a:solidFill>
          <a:ln>
            <a:noFill/>
          </a:ln>
        </p:spPr>
      </p:sp>
      <p:sp>
        <p:nvSpPr>
          <p:cNvPr id="25" name="text 25"/>
          <p:cNvSpPr/>
          <p:nvPr/>
        </p:nvSpPr>
        <p:spPr>
          <a:xfrm>
            <a:off x="1752600" y="3835400"/>
            <a:ext cx="4551680" cy="10287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06 / Deferred</a:t>
            </a:r>
            <a:endParaRPr lang="en-US" sz="1300"/>
          </a:p>
        </p:txBody>
      </p:sp>
      <p:cxnSp>
        <p:nvCxnSpPr>
          <p:cNvPr id="26" name="connector 26"/>
          <p:cNvCxnSpPr/>
          <p:nvPr/>
        </p:nvCxnSpPr>
        <p:spPr>
          <a:xfrm>
            <a:off x="1625600" y="4914900"/>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27" name="shape 27"/>
          <p:cNvSpPr/>
          <p:nvPr/>
        </p:nvSpPr>
        <p:spPr>
          <a:xfrm>
            <a:off x="6431280" y="3784600"/>
            <a:ext cx="5252720" cy="1130300"/>
          </a:xfrm>
          <a:prstGeom prst="rect">
            <a:avLst/>
          </a:prstGeom>
          <a:solidFill>
            <a:srgbClr val="EFEEE9"/>
          </a:solidFill>
          <a:ln>
            <a:noFill/>
          </a:ln>
        </p:spPr>
      </p:sp>
      <p:sp>
        <p:nvSpPr>
          <p:cNvPr id="28" name="text 28"/>
          <p:cNvSpPr/>
          <p:nvPr/>
        </p:nvSpPr>
        <p:spPr>
          <a:xfrm>
            <a:off x="6558280" y="3835400"/>
            <a:ext cx="4998720" cy="10287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S02, S28, S09</a:t>
            </a:r>
            <a:endParaRPr lang="en-US" sz="1300"/>
          </a:p>
        </p:txBody>
      </p:sp>
      <p:cxnSp>
        <p:nvCxnSpPr>
          <p:cNvPr id="29" name="connector 29"/>
          <p:cNvCxnSpPr/>
          <p:nvPr/>
        </p:nvCxnSpPr>
        <p:spPr>
          <a:xfrm>
            <a:off x="6431280" y="4914900"/>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shape 30"/>
          <p:cNvSpPr/>
          <p:nvPr/>
        </p:nvSpPr>
        <p:spPr>
          <a:xfrm>
            <a:off x="508000" y="4914900"/>
            <a:ext cx="1117600" cy="1130300"/>
          </a:xfrm>
          <a:prstGeom prst="rect">
            <a:avLst/>
          </a:prstGeom>
          <a:solidFill>
            <a:srgbClr val="FFFFFF"/>
          </a:solidFill>
          <a:ln>
            <a:noFill/>
          </a:ln>
        </p:spPr>
      </p:sp>
      <p:sp>
        <p:nvSpPr>
          <p:cNvPr id="31" name="text 31"/>
          <p:cNvSpPr/>
          <p:nvPr/>
        </p:nvSpPr>
        <p:spPr>
          <a:xfrm>
            <a:off x="635000" y="4965700"/>
            <a:ext cx="863600" cy="1028700"/>
          </a:xfrm>
          <a:prstGeom prst="rect">
            <a:avLst/>
          </a:prstGeom>
          <a:noFill/>
          <a:ln>
            <a:noFill/>
          </a:ln>
        </p:spPr>
        <p:txBody>
          <a:bodyPr wrap="none" lIns="0" tIns="0" rIns="0" bIns="0" anchor="t">
            <a:noAutofit/>
          </a:bodyPr>
          <a:lstStyle/>
          <a:p>
            <a:pPr algn="l">
              <a:lnSpc>
                <a:spcPts val="1482"/>
              </a:lnSpc>
              <a:spcAft>
                <a:spcPts val="0"/>
              </a:spcAft>
            </a:pPr>
            <a:r>
              <a:rPr lang="en-US" sz="1300" b="1" dirty="0">
                <a:solidFill>
                  <a:srgbClr val="181C23"/>
                </a:solidFill>
                <a:latin typeface="Funnel Sans"/>
              </a:rPr>
              <a:t>74–82</a:t>
            </a:r>
            <a:endParaRPr lang="en-US" sz="1300"/>
          </a:p>
        </p:txBody>
      </p:sp>
      <p:cxnSp>
        <p:nvCxnSpPr>
          <p:cNvPr id="32" name="connector 32"/>
          <p:cNvCxnSpPr/>
          <p:nvPr/>
        </p:nvCxnSpPr>
        <p:spPr>
          <a:xfrm>
            <a:off x="508000" y="6045200"/>
            <a:ext cx="111760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3" name="shape 33"/>
          <p:cNvSpPr/>
          <p:nvPr/>
        </p:nvSpPr>
        <p:spPr>
          <a:xfrm>
            <a:off x="1625600" y="4914900"/>
            <a:ext cx="4805680" cy="1130300"/>
          </a:xfrm>
          <a:prstGeom prst="rect">
            <a:avLst/>
          </a:prstGeom>
          <a:solidFill>
            <a:srgbClr val="FFFFFF"/>
          </a:solidFill>
          <a:ln>
            <a:noFill/>
          </a:ln>
        </p:spPr>
      </p:sp>
      <p:sp>
        <p:nvSpPr>
          <p:cNvPr id="34" name="text 34"/>
          <p:cNvSpPr/>
          <p:nvPr/>
        </p:nvSpPr>
        <p:spPr>
          <a:xfrm>
            <a:off x="1752600" y="4965700"/>
            <a:ext cx="4551680" cy="10287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07 / Appendix</a:t>
            </a:r>
            <a:endParaRPr lang="en-US" sz="1300"/>
          </a:p>
        </p:txBody>
      </p:sp>
      <p:cxnSp>
        <p:nvCxnSpPr>
          <p:cNvPr id="35" name="connector 35"/>
          <p:cNvCxnSpPr/>
          <p:nvPr/>
        </p:nvCxnSpPr>
        <p:spPr>
          <a:xfrm>
            <a:off x="1625600" y="6045200"/>
            <a:ext cx="480568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sp>
        <p:nvSpPr>
          <p:cNvPr id="36" name="shape 36"/>
          <p:cNvSpPr/>
          <p:nvPr/>
        </p:nvSpPr>
        <p:spPr>
          <a:xfrm>
            <a:off x="6431280" y="4914900"/>
            <a:ext cx="5252720" cy="1130300"/>
          </a:xfrm>
          <a:prstGeom prst="rect">
            <a:avLst/>
          </a:prstGeom>
          <a:solidFill>
            <a:srgbClr val="FFFFFF"/>
          </a:solidFill>
          <a:ln>
            <a:noFill/>
          </a:ln>
        </p:spPr>
      </p:sp>
      <p:sp>
        <p:nvSpPr>
          <p:cNvPr id="37" name="text 37"/>
          <p:cNvSpPr/>
          <p:nvPr/>
        </p:nvSpPr>
        <p:spPr>
          <a:xfrm>
            <a:off x="6558280" y="4965700"/>
            <a:ext cx="4998720" cy="1028700"/>
          </a:xfrm>
          <a:prstGeom prst="rect">
            <a:avLst/>
          </a:prstGeom>
          <a:noFill/>
          <a:ln>
            <a:noFill/>
          </a:ln>
        </p:spPr>
        <p:txBody>
          <a:bodyPr wrap="none" lIns="0" tIns="0" rIns="0" bIns="0" anchor="t">
            <a:noAutofit/>
          </a:bodyPr>
          <a:lstStyle/>
          <a:p>
            <a:pPr algn="l">
              <a:lnSpc>
                <a:spcPts val="1482"/>
              </a:lnSpc>
              <a:spcAft>
                <a:spcPts val="0"/>
              </a:spcAft>
            </a:pPr>
            <a:r>
              <a:rPr lang="en-US" sz="1300" b="0" dirty="0">
                <a:solidFill>
                  <a:srgbClr val="181C23"/>
                </a:solidFill>
                <a:latin typeface="Funnel Sans"/>
              </a:rPr>
              <a:t>S08, S10, S02, S23, S25, D06T, D06E + notes</a:t>
            </a:r>
            <a:endParaRPr lang="en-US" sz="1300"/>
          </a:p>
        </p:txBody>
      </p:sp>
      <p:cxnSp>
        <p:nvCxnSpPr>
          <p:cNvPr id="38" name="connector 38"/>
          <p:cNvCxnSpPr/>
          <p:nvPr/>
        </p:nvCxnSpPr>
        <p:spPr>
          <a:xfrm>
            <a:off x="6431280" y="6045200"/>
            <a:ext cx="5252720" cy="0"/>
          </a:xfrm>
          <a:prstGeom prst="line">
            <a:avLst/>
          </a:prstGeom>
          <a:ln w="6350">
            <a:solidFill>
              <a:srgbClr val="DEDCD6"/>
            </a:solidFill>
          </a:ln>
        </p:spPr>
        <p:style>
          <a:lnRef idx="0">
            <a:schemeClr val="accent1"/>
          </a:lnRef>
          <a:fillRef idx="0">
            <a:schemeClr val="accent1"/>
          </a:fillRef>
          <a:effectRef idx="0">
            <a:schemeClr val="accent1"/>
          </a:effectRef>
          <a:fontRef idx="minor">
            <a:schemeClr val="tx1"/>
          </a:fontRef>
        </p:style>
      </p:cxnSp>
      <p:cxnSp>
        <p:nvCxnSpPr>
          <p:cNvPr id="39" name="connector 39"/>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40" name="text 40"/>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41" name="text 41"/>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86 / 87</a:t>
            </a:r>
            <a:endParaRPr lang="en-US" sz="100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FCFBF8"/>
          </a:solidFill>
          <a:ln>
            <a:noFill/>
          </a:ln>
        </p:spPr>
      </p:sp>
      <p:sp>
        <p:nvSpPr>
          <p:cNvPr id="3" name="text 3"/>
          <p:cNvSpPr/>
          <p:nvPr/>
        </p:nvSpPr>
        <p:spPr>
          <a:xfrm>
            <a:off x="508000" y="254000"/>
            <a:ext cx="10731500" cy="228600"/>
          </a:xfrm>
          <a:prstGeom prst="rect">
            <a:avLst/>
          </a:prstGeom>
          <a:noFill/>
          <a:ln>
            <a:noFill/>
          </a:ln>
        </p:spPr>
        <p:txBody>
          <a:bodyPr wrap="none" lIns="0" tIns="0" rIns="0" bIns="0" anchor="t">
            <a:noAutofit/>
          </a:bodyPr>
          <a:lstStyle/>
          <a:p>
            <a:pPr algn="l">
              <a:lnSpc>
                <a:spcPts val="1197"/>
              </a:lnSpc>
              <a:spcAft>
                <a:spcPts val="0"/>
              </a:spcAft>
            </a:pPr>
            <a:r>
              <a:rPr lang="en-US" sz="1050" b="1" dirty="0">
                <a:solidFill>
                  <a:srgbClr val="6D706B"/>
                </a:solidFill>
                <a:latin typeface="Funnel Sans"/>
              </a:rPr>
              <a:t>07 / APPENDIX • VALIDATION</a:t>
            </a:r>
            <a:endParaRPr lang="en-US" sz="1050"/>
          </a:p>
        </p:txBody>
      </p:sp>
      <p:sp>
        <p:nvSpPr>
          <p:cNvPr id="4" name="text 4"/>
          <p:cNvSpPr/>
          <p:nvPr/>
        </p:nvSpPr>
        <p:spPr>
          <a:xfrm>
            <a:off x="508000" y="647700"/>
            <a:ext cx="11176000" cy="927100"/>
          </a:xfrm>
          <a:prstGeom prst="rect">
            <a:avLst/>
          </a:prstGeom>
          <a:noFill/>
          <a:ln>
            <a:noFill/>
          </a:ln>
        </p:spPr>
        <p:txBody>
          <a:bodyPr wrap="none" lIns="0" tIns="0" rIns="0" bIns="0" anchor="t">
            <a:noAutofit/>
          </a:bodyPr>
          <a:lstStyle/>
          <a:p>
            <a:pPr algn="l">
              <a:lnSpc>
                <a:spcPts val="3306"/>
              </a:lnSpc>
              <a:spcAft>
                <a:spcPts val="0"/>
              </a:spcAft>
            </a:pPr>
            <a:r>
              <a:rPr lang="en-US" sz="2900" b="1" dirty="0">
                <a:solidFill>
                  <a:srgbClr val="181C23"/>
                </a:solidFill>
                <a:latin typeface="Funnel Sans"/>
              </a:rPr>
              <a:t>Review the few decisions that affect enterprise adoption</a:t>
            </a:r>
            <a:endParaRPr lang="en-US" sz="2900"/>
          </a:p>
        </p:txBody>
      </p:sp>
      <p:sp>
        <p:nvSpPr>
          <p:cNvPr id="5" name="text 5"/>
          <p:cNvSpPr/>
          <p:nvPr/>
        </p:nvSpPr>
        <p:spPr>
          <a:xfrm>
            <a:off x="520700" y="1498600"/>
            <a:ext cx="11112500" cy="520700"/>
          </a:xfrm>
          <a:prstGeom prst="rect">
            <a:avLst/>
          </a:prstGeom>
          <a:noFill/>
          <a:ln>
            <a:noFill/>
          </a:ln>
        </p:spPr>
        <p:txBody>
          <a:bodyPr wrap="none" lIns="0" tIns="0" rIns="0" bIns="0" anchor="t">
            <a:noAutofit/>
          </a:bodyPr>
          <a:lstStyle/>
          <a:p>
            <a:pPr algn="l">
              <a:lnSpc>
                <a:spcPts val="1710"/>
              </a:lnSpc>
              <a:spcAft>
                <a:spcPts val="0"/>
              </a:spcAft>
            </a:pPr>
            <a:r>
              <a:rPr lang="en-US" sz="1500" b="0" dirty="0">
                <a:solidFill>
                  <a:srgbClr val="6D706B"/>
                </a:solidFill>
                <a:latin typeface="Funnel Sans"/>
              </a:rPr>
              <a:t>The repository evidence supports a clear product story with explicit current limits.</a:t>
            </a:r>
            <a:endParaRPr lang="en-US" sz="1500"/>
          </a:p>
        </p:txBody>
      </p:sp>
      <p:sp>
        <p:nvSpPr>
          <p:cNvPr id="6" name="shape 6"/>
          <p:cNvSpPr/>
          <p:nvPr/>
        </p:nvSpPr>
        <p:spPr>
          <a:xfrm>
            <a:off x="508000" y="2273300"/>
            <a:ext cx="3589867" cy="3213100"/>
          </a:xfrm>
          <a:prstGeom prst="rect">
            <a:avLst/>
          </a:prstGeom>
          <a:solidFill>
            <a:srgbClr val="FFFFFF"/>
          </a:solidFill>
          <a:ln w="12700">
            <a:solidFill>
              <a:srgbClr val="DEDCD6"/>
            </a:solidFill>
          </a:ln>
        </p:spPr>
      </p:sp>
      <p:sp>
        <p:nvSpPr>
          <p:cNvPr id="7" name="shape 7"/>
          <p:cNvSpPr/>
          <p:nvPr/>
        </p:nvSpPr>
        <p:spPr>
          <a:xfrm>
            <a:off x="508000" y="2273300"/>
            <a:ext cx="38100" cy="3213100"/>
          </a:xfrm>
          <a:prstGeom prst="rect">
            <a:avLst/>
          </a:prstGeom>
          <a:solidFill>
            <a:srgbClr val="FF4F59"/>
          </a:solidFill>
          <a:ln>
            <a:noFill/>
          </a:ln>
        </p:spPr>
      </p:sp>
      <p:sp>
        <p:nvSpPr>
          <p:cNvPr id="8" name="shape 8"/>
          <p:cNvSpPr/>
          <p:nvPr/>
        </p:nvSpPr>
        <p:spPr>
          <a:xfrm>
            <a:off x="711200" y="2463800"/>
            <a:ext cx="342900" cy="342900"/>
          </a:xfrm>
          <a:prstGeom prst="ellipse">
            <a:avLst/>
          </a:prstGeom>
          <a:noFill/>
          <a:ln w="19050">
            <a:solidFill>
              <a:srgbClr val="FF4F59"/>
            </a:solidFill>
          </a:ln>
        </p:spPr>
      </p:sp>
      <p:cxnSp>
        <p:nvCxnSpPr>
          <p:cNvPr id="9" name="connector 9"/>
          <p:cNvCxnSpPr/>
          <p:nvPr/>
        </p:nvCxnSpPr>
        <p:spPr>
          <a:xfrm>
            <a:off x="787400" y="2641600"/>
            <a:ext cx="63500" cy="635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10" name="connector 10"/>
          <p:cNvCxnSpPr/>
          <p:nvPr/>
        </p:nvCxnSpPr>
        <p:spPr>
          <a:xfrm flipV="1">
            <a:off x="850900" y="2565400"/>
            <a:ext cx="139700" cy="139700"/>
          </a:xfrm>
          <a:prstGeom prst="line">
            <a:avLst/>
          </a:prstGeom>
          <a:ln w="25400">
            <a:solidFill>
              <a:srgbClr val="FF4F59"/>
            </a:solidFill>
          </a:ln>
        </p:spPr>
        <p:style>
          <a:lnRef idx="0">
            <a:schemeClr val="accent1"/>
          </a:lnRef>
          <a:fillRef idx="0">
            <a:schemeClr val="accent1"/>
          </a:fillRef>
          <a:effectRef idx="0">
            <a:schemeClr val="accent1"/>
          </a:effectRef>
          <a:fontRef idx="minor">
            <a:schemeClr val="tx1"/>
          </a:fontRef>
        </p:style>
      </p:cxnSp>
      <p:sp>
        <p:nvSpPr>
          <p:cNvPr id="11" name="text 11"/>
          <p:cNvSpPr/>
          <p:nvPr/>
        </p:nvSpPr>
        <p:spPr>
          <a:xfrm>
            <a:off x="1193800"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Confirm the release</a:t>
            </a:r>
            <a:endParaRPr lang="en-US" sz="1900"/>
          </a:p>
        </p:txBody>
      </p:sp>
      <p:sp>
        <p:nvSpPr>
          <p:cNvPr id="12" name="text 12"/>
          <p:cNvSpPr/>
          <p:nvPr/>
        </p:nvSpPr>
        <p:spPr>
          <a:xfrm>
            <a:off x="723900"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Validate the deployed</a:t>
            </a:r>
            <a:endParaRPr lang="en-US" sz="1700"/>
          </a:p>
          <a:p>
            <a:pPr algn="l">
              <a:lnSpc>
                <a:spcPts val="1938"/>
              </a:lnSpc>
              <a:spcAft>
                <a:spcPts val="0"/>
              </a:spcAft>
            </a:pPr>
            <a:r>
              <a:rPr lang="en-US" sz="1700" b="0" dirty="0">
                <a:solidFill>
                  <a:srgbClr val="181C23"/>
                </a:solidFill>
                <a:latin typeface="Funnel Sans"/>
              </a:rPr>
              <a:t>diagnostic register and</a:t>
            </a:r>
            <a:endParaRPr lang="en-US" sz="1700"/>
          </a:p>
          <a:p>
            <a:pPr algn="l">
              <a:lnSpc>
                <a:spcPts val="1938"/>
              </a:lnSpc>
              <a:spcAft>
                <a:spcPts val="0"/>
              </a:spcAft>
            </a:pPr>
            <a:r>
              <a:rPr lang="en-US" sz="1700" b="0" dirty="0">
                <a:solidFill>
                  <a:srgbClr val="181C23"/>
                </a:solidFill>
                <a:latin typeface="Funnel Sans"/>
              </a:rPr>
              <a:t>acceptance of recent D08/D11</a:t>
            </a:r>
            <a:endParaRPr lang="en-US" sz="1700"/>
          </a:p>
          <a:p>
            <a:pPr algn="l">
              <a:lnSpc>
                <a:spcPts val="1938"/>
              </a:lnSpc>
              <a:spcAft>
                <a:spcPts val="0"/>
              </a:spcAft>
            </a:pPr>
            <a:r>
              <a:rPr lang="en-US" sz="1700" b="0" dirty="0">
                <a:solidFill>
                  <a:srgbClr val="181C23"/>
                </a:solidFill>
                <a:latin typeface="Funnel Sans"/>
              </a:rPr>
              <a:t>changes.</a:t>
            </a:r>
            <a:endParaRPr lang="en-US" sz="1700"/>
          </a:p>
        </p:txBody>
      </p:sp>
      <p:sp>
        <p:nvSpPr>
          <p:cNvPr id="13" name="shape 13"/>
          <p:cNvSpPr/>
          <p:nvPr/>
        </p:nvSpPr>
        <p:spPr>
          <a:xfrm>
            <a:off x="4301067" y="2273300"/>
            <a:ext cx="3589867" cy="3213100"/>
          </a:xfrm>
          <a:prstGeom prst="rect">
            <a:avLst/>
          </a:prstGeom>
          <a:solidFill>
            <a:srgbClr val="FFFFFF"/>
          </a:solidFill>
          <a:ln w="12700">
            <a:solidFill>
              <a:srgbClr val="DEDCD6"/>
            </a:solidFill>
          </a:ln>
        </p:spPr>
      </p:sp>
      <p:sp>
        <p:nvSpPr>
          <p:cNvPr id="14" name="shape 14"/>
          <p:cNvSpPr/>
          <p:nvPr/>
        </p:nvSpPr>
        <p:spPr>
          <a:xfrm>
            <a:off x="4301067" y="2273300"/>
            <a:ext cx="38100" cy="3213100"/>
          </a:xfrm>
          <a:prstGeom prst="rect">
            <a:avLst/>
          </a:prstGeom>
          <a:solidFill>
            <a:srgbClr val="FF4F59"/>
          </a:solidFill>
          <a:ln>
            <a:noFill/>
          </a:ln>
        </p:spPr>
      </p:sp>
      <p:sp>
        <p:nvSpPr>
          <p:cNvPr id="15" name="shape 15"/>
          <p:cNvSpPr/>
          <p:nvPr/>
        </p:nvSpPr>
        <p:spPr>
          <a:xfrm>
            <a:off x="4605867" y="2463800"/>
            <a:ext cx="139700" cy="139700"/>
          </a:xfrm>
          <a:prstGeom prst="ellipse">
            <a:avLst/>
          </a:prstGeom>
          <a:noFill/>
          <a:ln w="20320">
            <a:solidFill>
              <a:srgbClr val="FF4F59"/>
            </a:solidFill>
          </a:ln>
        </p:spPr>
      </p:sp>
      <p:sp>
        <p:nvSpPr>
          <p:cNvPr id="16" name="shape 16"/>
          <p:cNvSpPr/>
          <p:nvPr/>
        </p:nvSpPr>
        <p:spPr>
          <a:xfrm>
            <a:off x="4529667" y="2641600"/>
            <a:ext cx="292100" cy="190500"/>
          </a:xfrm>
          <a:prstGeom prst="arc">
            <a:avLst/>
          </a:prstGeom>
          <a:noFill/>
          <a:ln w="20320">
            <a:solidFill>
              <a:srgbClr val="FF4F59"/>
            </a:solidFill>
          </a:ln>
        </p:spPr>
      </p:sp>
      <p:sp>
        <p:nvSpPr>
          <p:cNvPr id="17" name="text 17"/>
          <p:cNvSpPr/>
          <p:nvPr/>
        </p:nvSpPr>
        <p:spPr>
          <a:xfrm>
            <a:off x="4986867"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Confirm the operating</a:t>
            </a:r>
            <a:endParaRPr lang="en-US" sz="1900"/>
          </a:p>
          <a:p>
            <a:pPr algn="l">
              <a:lnSpc>
                <a:spcPts val="2166"/>
              </a:lnSpc>
              <a:spcAft>
                <a:spcPts val="0"/>
              </a:spcAft>
            </a:pPr>
            <a:r>
              <a:rPr lang="en-US" sz="1900" b="1" dirty="0">
                <a:solidFill>
                  <a:srgbClr val="181C23"/>
                </a:solidFill>
                <a:latin typeface="Funnel Sans"/>
              </a:rPr>
              <a:t>policy</a:t>
            </a:r>
            <a:endParaRPr lang="en-US" sz="1900"/>
          </a:p>
        </p:txBody>
      </p:sp>
      <p:sp>
        <p:nvSpPr>
          <p:cNvPr id="18" name="text 18"/>
          <p:cNvSpPr/>
          <p:nvPr/>
        </p:nvSpPr>
        <p:spPr>
          <a:xfrm>
            <a:off x="4516967"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Agree RCA conclusion</a:t>
            </a:r>
            <a:endParaRPr lang="en-US" sz="1700"/>
          </a:p>
          <a:p>
            <a:pPr algn="l">
              <a:lnSpc>
                <a:spcPts val="1938"/>
              </a:lnSpc>
              <a:spcAft>
                <a:spcPts val="0"/>
              </a:spcAft>
            </a:pPr>
            <a:r>
              <a:rPr lang="en-US" sz="1700" b="0" dirty="0">
                <a:solidFill>
                  <a:srgbClr val="181C23"/>
                </a:solidFill>
                <a:latin typeface="Funnel Sans"/>
              </a:rPr>
              <a:t>approval, remediation</a:t>
            </a:r>
            <a:endParaRPr lang="en-US" sz="1700"/>
          </a:p>
          <a:p>
            <a:pPr algn="l">
              <a:lnSpc>
                <a:spcPts val="1938"/>
              </a:lnSpc>
              <a:spcAft>
                <a:spcPts val="0"/>
              </a:spcAft>
            </a:pPr>
            <a:r>
              <a:rPr lang="en-US" sz="1700" b="0" dirty="0">
                <a:solidFill>
                  <a:srgbClr val="181C23"/>
                </a:solidFill>
                <a:latin typeface="Funnel Sans"/>
              </a:rPr>
              <a:t>ownership and fresh-data</a:t>
            </a:r>
            <a:endParaRPr lang="en-US" sz="1700"/>
          </a:p>
          <a:p>
            <a:pPr algn="l">
              <a:lnSpc>
                <a:spcPts val="1938"/>
              </a:lnSpc>
              <a:spcAft>
                <a:spcPts val="0"/>
              </a:spcAft>
            </a:pPr>
            <a:r>
              <a:rPr lang="en-US" sz="1700" b="0" dirty="0">
                <a:solidFill>
                  <a:srgbClr val="181C23"/>
                </a:solidFill>
                <a:latin typeface="Funnel Sans"/>
              </a:rPr>
              <a:t>retest expectations.</a:t>
            </a:r>
            <a:endParaRPr lang="en-US" sz="1700"/>
          </a:p>
        </p:txBody>
      </p:sp>
      <p:sp>
        <p:nvSpPr>
          <p:cNvPr id="19" name="shape 19"/>
          <p:cNvSpPr/>
          <p:nvPr/>
        </p:nvSpPr>
        <p:spPr>
          <a:xfrm>
            <a:off x="8094133" y="2273300"/>
            <a:ext cx="3589867" cy="3213100"/>
          </a:xfrm>
          <a:prstGeom prst="rect">
            <a:avLst/>
          </a:prstGeom>
          <a:solidFill>
            <a:srgbClr val="FFFFFF"/>
          </a:solidFill>
          <a:ln w="12700">
            <a:solidFill>
              <a:srgbClr val="DEDCD6"/>
            </a:solidFill>
          </a:ln>
        </p:spPr>
      </p:sp>
      <p:sp>
        <p:nvSpPr>
          <p:cNvPr id="20" name="shape 20"/>
          <p:cNvSpPr/>
          <p:nvPr/>
        </p:nvSpPr>
        <p:spPr>
          <a:xfrm>
            <a:off x="8094133" y="2273300"/>
            <a:ext cx="38100" cy="3213100"/>
          </a:xfrm>
          <a:prstGeom prst="rect">
            <a:avLst/>
          </a:prstGeom>
          <a:solidFill>
            <a:srgbClr val="FF4F59"/>
          </a:solidFill>
          <a:ln>
            <a:noFill/>
          </a:ln>
        </p:spPr>
      </p:sp>
      <p:sp>
        <p:nvSpPr>
          <p:cNvPr id="21" name="shape 21"/>
          <p:cNvSpPr/>
          <p:nvPr/>
        </p:nvSpPr>
        <p:spPr>
          <a:xfrm>
            <a:off x="8322733" y="2463800"/>
            <a:ext cx="292100" cy="342900"/>
          </a:xfrm>
          <a:prstGeom prst="rect">
            <a:avLst/>
          </a:prstGeom>
          <a:noFill/>
          <a:ln w="12700">
            <a:solidFill>
              <a:srgbClr val="FF4F59"/>
            </a:solidFill>
          </a:ln>
        </p:spPr>
      </p:sp>
      <p:cxnSp>
        <p:nvCxnSpPr>
          <p:cNvPr id="22" name="connector 22"/>
          <p:cNvCxnSpPr/>
          <p:nvPr/>
        </p:nvCxnSpPr>
        <p:spPr>
          <a:xfrm>
            <a:off x="8386233" y="25654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3" name="connector 23"/>
          <p:cNvCxnSpPr/>
          <p:nvPr/>
        </p:nvCxnSpPr>
        <p:spPr>
          <a:xfrm>
            <a:off x="8386233" y="2641600"/>
            <a:ext cx="1651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cxnSp>
        <p:nvCxnSpPr>
          <p:cNvPr id="24" name="connector 24"/>
          <p:cNvCxnSpPr/>
          <p:nvPr/>
        </p:nvCxnSpPr>
        <p:spPr>
          <a:xfrm>
            <a:off x="8386233" y="2717800"/>
            <a:ext cx="127000" cy="0"/>
          </a:xfrm>
          <a:prstGeom prst="line">
            <a:avLst/>
          </a:prstGeom>
          <a:ln w="19050">
            <a:solidFill>
              <a:srgbClr val="FF4F59"/>
            </a:solidFill>
          </a:ln>
        </p:spPr>
        <p:style>
          <a:lnRef idx="0">
            <a:schemeClr val="accent1"/>
          </a:lnRef>
          <a:fillRef idx="0">
            <a:schemeClr val="accent1"/>
          </a:fillRef>
          <a:effectRef idx="0">
            <a:schemeClr val="accent1"/>
          </a:effectRef>
          <a:fontRef idx="minor">
            <a:schemeClr val="tx1"/>
          </a:fontRef>
        </p:style>
      </p:cxnSp>
      <p:sp>
        <p:nvSpPr>
          <p:cNvPr id="25" name="text 25"/>
          <p:cNvSpPr/>
          <p:nvPr/>
        </p:nvSpPr>
        <p:spPr>
          <a:xfrm>
            <a:off x="8779933" y="2476500"/>
            <a:ext cx="2713567" cy="622300"/>
          </a:xfrm>
          <a:prstGeom prst="rect">
            <a:avLst/>
          </a:prstGeom>
          <a:noFill/>
          <a:ln>
            <a:noFill/>
          </a:ln>
        </p:spPr>
        <p:txBody>
          <a:bodyPr wrap="none" lIns="0" tIns="0" rIns="0" bIns="0" anchor="t">
            <a:noAutofit/>
          </a:bodyPr>
          <a:lstStyle/>
          <a:p>
            <a:pPr algn="l">
              <a:lnSpc>
                <a:spcPts val="2166"/>
              </a:lnSpc>
              <a:spcAft>
                <a:spcPts val="0"/>
              </a:spcAft>
            </a:pPr>
            <a:r>
              <a:rPr lang="en-US" sz="1900" b="1" dirty="0">
                <a:solidFill>
                  <a:srgbClr val="181C23"/>
                </a:solidFill>
                <a:latin typeface="Funnel Sans"/>
              </a:rPr>
              <a:t>Confirm enterprise</a:t>
            </a:r>
            <a:endParaRPr lang="en-US" sz="1900"/>
          </a:p>
          <a:p>
            <a:pPr algn="l">
              <a:lnSpc>
                <a:spcPts val="2166"/>
              </a:lnSpc>
              <a:spcAft>
                <a:spcPts val="0"/>
              </a:spcAft>
            </a:pPr>
            <a:r>
              <a:rPr lang="en-US" sz="1900" b="1" dirty="0">
                <a:solidFill>
                  <a:srgbClr val="181C23"/>
                </a:solidFill>
                <a:latin typeface="Funnel Sans"/>
              </a:rPr>
              <a:t>readiness</a:t>
            </a:r>
            <a:endParaRPr lang="en-US" sz="1900"/>
          </a:p>
        </p:txBody>
      </p:sp>
      <p:sp>
        <p:nvSpPr>
          <p:cNvPr id="26" name="text 26"/>
          <p:cNvSpPr/>
          <p:nvPr/>
        </p:nvSpPr>
        <p:spPr>
          <a:xfrm>
            <a:off x="8310033" y="3238500"/>
            <a:ext cx="3158067" cy="2057400"/>
          </a:xfrm>
          <a:prstGeom prst="rect">
            <a:avLst/>
          </a:prstGeom>
          <a:noFill/>
          <a:ln>
            <a:noFill/>
          </a:ln>
        </p:spPr>
        <p:txBody>
          <a:bodyPr wrap="none" lIns="0" tIns="0" rIns="0" bIns="0" anchor="t">
            <a:noAutofit/>
          </a:bodyPr>
          <a:lstStyle/>
          <a:p>
            <a:pPr algn="l">
              <a:lnSpc>
                <a:spcPts val="1938"/>
              </a:lnSpc>
              <a:spcAft>
                <a:spcPts val="0"/>
              </a:spcAft>
            </a:pPr>
            <a:r>
              <a:rPr lang="en-US" sz="1700" b="0" dirty="0">
                <a:solidFill>
                  <a:srgbClr val="181C23"/>
                </a:solidFill>
                <a:latin typeface="Funnel Sans"/>
              </a:rPr>
              <a:t>Validate identity/access,</a:t>
            </a:r>
            <a:endParaRPr lang="en-US" sz="1700"/>
          </a:p>
          <a:p>
            <a:pPr algn="l">
              <a:lnSpc>
                <a:spcPts val="1938"/>
              </a:lnSpc>
              <a:spcAft>
                <a:spcPts val="0"/>
              </a:spcAft>
            </a:pPr>
            <a:r>
              <a:rPr lang="en-US" sz="1700" b="0" dirty="0">
                <a:solidFill>
                  <a:srgbClr val="181C23"/>
                </a:solidFill>
                <a:latin typeface="Funnel Sans"/>
              </a:rPr>
              <a:t>portfolio-specific defaults and</a:t>
            </a:r>
            <a:endParaRPr lang="en-US" sz="1700"/>
          </a:p>
          <a:p>
            <a:pPr algn="l">
              <a:lnSpc>
                <a:spcPts val="1938"/>
              </a:lnSpc>
              <a:spcAft>
                <a:spcPts val="0"/>
              </a:spcAft>
            </a:pPr>
            <a:r>
              <a:rPr lang="en-US" sz="1700" b="0" dirty="0">
                <a:solidFill>
                  <a:srgbClr val="181C23"/>
                </a:solidFill>
                <a:latin typeface="Funnel Sans"/>
              </a:rPr>
              <a:t>intended monitoring scope.</a:t>
            </a:r>
            <a:endParaRPr lang="en-US" sz="1700"/>
          </a:p>
        </p:txBody>
      </p:sp>
      <p:sp>
        <p:nvSpPr>
          <p:cNvPr id="27" name="shape 27"/>
          <p:cNvSpPr/>
          <p:nvPr/>
        </p:nvSpPr>
        <p:spPr>
          <a:xfrm>
            <a:off x="508000" y="5740400"/>
            <a:ext cx="11176000" cy="546100"/>
          </a:xfrm>
          <a:prstGeom prst="rect">
            <a:avLst/>
          </a:prstGeom>
          <a:solidFill>
            <a:srgbClr val="282A27"/>
          </a:solidFill>
          <a:ln>
            <a:noFill/>
          </a:ln>
        </p:spPr>
      </p:sp>
      <p:sp>
        <p:nvSpPr>
          <p:cNvPr id="28" name="text 28"/>
          <p:cNvSpPr/>
          <p:nvPr/>
        </p:nvSpPr>
        <p:spPr>
          <a:xfrm>
            <a:off x="698500" y="5880100"/>
            <a:ext cx="10795000" cy="317500"/>
          </a:xfrm>
          <a:prstGeom prst="rect">
            <a:avLst/>
          </a:prstGeom>
          <a:noFill/>
          <a:ln>
            <a:noFill/>
          </a:ln>
        </p:spPr>
        <p:txBody>
          <a:bodyPr wrap="none" lIns="0" tIns="0" rIns="0" bIns="0" anchor="t">
            <a:noAutofit/>
          </a:bodyPr>
          <a:lstStyle/>
          <a:p>
            <a:pPr algn="l">
              <a:lnSpc>
                <a:spcPts val="1824"/>
              </a:lnSpc>
              <a:spcAft>
                <a:spcPts val="0"/>
              </a:spcAft>
            </a:pPr>
            <a:r>
              <a:rPr lang="en-US" sz="1600" b="1" dirty="0">
                <a:solidFill>
                  <a:srgbClr val="FFFFFF"/>
                </a:solidFill>
                <a:latin typeface="Funnel Sans"/>
              </a:rPr>
              <a:t>The next decision is a scoped product review supported by the source-linked evidence in this deck.</a:t>
            </a:r>
            <a:endParaRPr lang="en-US" sz="1600"/>
          </a:p>
        </p:txBody>
      </p:sp>
      <p:cxnSp>
        <p:nvCxnSpPr>
          <p:cNvPr id="29" name="connector 29"/>
          <p:cNvCxnSpPr/>
          <p:nvPr/>
        </p:nvCxnSpPr>
        <p:spPr>
          <a:xfrm>
            <a:off x="508000" y="6477000"/>
            <a:ext cx="11176000" cy="0"/>
          </a:xfrm>
          <a:prstGeom prst="line">
            <a:avLst/>
          </a:prstGeom>
          <a:ln w="8255">
            <a:solidFill>
              <a:srgbClr val="DEDCD6"/>
            </a:solidFill>
          </a:ln>
        </p:spPr>
        <p:style>
          <a:lnRef idx="0">
            <a:schemeClr val="accent1"/>
          </a:lnRef>
          <a:fillRef idx="0">
            <a:schemeClr val="accent1"/>
          </a:fillRef>
          <a:effectRef idx="0">
            <a:schemeClr val="accent1"/>
          </a:effectRef>
          <a:fontRef idx="minor">
            <a:schemeClr val="tx1"/>
          </a:fontRef>
        </p:style>
      </p:cxnSp>
      <p:sp>
        <p:nvSpPr>
          <p:cNvPr id="30" name="text 30"/>
          <p:cNvSpPr/>
          <p:nvPr/>
        </p:nvSpPr>
        <p:spPr>
          <a:xfrm>
            <a:off x="508000" y="6591300"/>
            <a:ext cx="8001000" cy="177800"/>
          </a:xfrm>
          <a:prstGeom prst="rect">
            <a:avLst/>
          </a:prstGeom>
          <a:noFill/>
          <a:ln>
            <a:noFill/>
          </a:ln>
        </p:spPr>
        <p:txBody>
          <a:bodyPr wrap="none" lIns="0" tIns="0" rIns="0" bIns="0" anchor="t">
            <a:noAutofit/>
          </a:bodyPr>
          <a:lstStyle/>
          <a:p>
            <a:pPr algn="l">
              <a:lnSpc>
                <a:spcPts val="1026"/>
              </a:lnSpc>
              <a:spcAft>
                <a:spcPts val="0"/>
              </a:spcAft>
            </a:pPr>
            <a:r>
              <a:rPr lang="en-US" sz="900" b="0" dirty="0">
                <a:solidFill>
                  <a:srgbClr val="6D706B"/>
                </a:solidFill>
                <a:latin typeface="Funnel Sans"/>
              </a:rPr>
              <a:t>DATA WORKBENCH / Product &amp; diagnostic reference</a:t>
            </a:r>
            <a:endParaRPr lang="en-US" sz="900"/>
          </a:p>
        </p:txBody>
      </p:sp>
      <p:sp>
        <p:nvSpPr>
          <p:cNvPr id="31" name="text 31"/>
          <p:cNvSpPr/>
          <p:nvPr/>
        </p:nvSpPr>
        <p:spPr>
          <a:xfrm>
            <a:off x="10541000" y="6565900"/>
            <a:ext cx="1143000" cy="215900"/>
          </a:xfrm>
          <a:prstGeom prst="rect">
            <a:avLst/>
          </a:prstGeom>
          <a:noFill/>
          <a:ln>
            <a:noFill/>
          </a:ln>
        </p:spPr>
        <p:txBody>
          <a:bodyPr wrap="none" lIns="0" tIns="0" rIns="0" bIns="0" anchor="t">
            <a:noAutofit/>
          </a:bodyPr>
          <a:lstStyle/>
          <a:p>
            <a:pPr algn="r">
              <a:lnSpc>
                <a:spcPts val="1140"/>
              </a:lnSpc>
              <a:spcAft>
                <a:spcPts val="0"/>
              </a:spcAft>
            </a:pPr>
            <a:r>
              <a:rPr lang="en-US" sz="1000" b="0" dirty="0">
                <a:solidFill>
                  <a:srgbClr val="6D706B"/>
                </a:solidFill>
                <a:latin typeface="Funnel Sans"/>
              </a:rPr>
              <a:t>87 / 87</a:t>
            </a:r>
            <a:endParaRPr lang="en-US" sz="10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FF4F59"/>
      </a:accent1>
      <a:accent2>
        <a:srgbClr val="181C23"/>
      </a:accent2>
      <a:accent3>
        <a:srgbClr val="FFF2DF"/>
      </a:accent3>
      <a:accent4>
        <a:srgbClr val="276B57"/>
      </a:accent4>
      <a:accent5>
        <a:srgbClr val="6A557F"/>
      </a:accent5>
      <a:accent6>
        <a:srgbClr val="6D706B"/>
      </a:accent6>
      <a:hlink>
        <a:srgbClr val="467886"/>
      </a:hlink>
      <a:folHlink>
        <a:srgbClr val="96607D"/>
      </a:folHlink>
    </a:clrScheme>
    <a:fontScheme name="Office">
      <a:majorFont>
        <a:latin typeface="Funnel Sans"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unnel San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31837</Words>
  <Application>Microsoft Office PowerPoint</Application>
  <PresentationFormat>Widescreen</PresentationFormat>
  <Paragraphs>3626</Paragraphs>
  <Slides>87</Slides>
  <Notes>87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Aptos</vt:lpstr>
      <vt:lpstr>Arial</vt:lpstr>
      <vt:lpstr>Funnel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Genpact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Bollineni, Harsha</dc:creator>
  <cp:lastModifiedBy>Bollineni, Harsha</cp:lastModifiedBy>
  <cp:revision>3</cp:revision>
  <dcterms:created xsi:type="dcterms:W3CDTF">2026-09-07T05:42:15Z</dcterms:created>
  <dcterms:modified xsi:type="dcterms:W3CDTF">2026-09-07T06:12:14Z</dcterms:modified>
</cp:coreProperties>
</file>