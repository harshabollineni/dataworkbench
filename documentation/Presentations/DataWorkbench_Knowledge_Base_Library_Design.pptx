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49A7-60C6-47D9-AE8A-1F964BF5BDBA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0524B-625A-43DD-9139-EFC19AAB9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63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Knowledge Base (KB) Library</a:t>
            </a:r>
          </a:p>
          <a:p>
            <a:endParaRPr/>
          </a:p>
          <a:p>
            <a:r>
              <a:t>Proposed design agreed in the design conversation. The framework has nine registered diagnostics; remaining numbered diagnostics are deferred framework coverage. Future adoption below means future adoption of this Library design, not a claim that all listed diagnostics are unimplemented. T2-D04 already has a KB path. All six test areas have KB dependencies of varying strength. No additional diagnostic enablement is authorized by this deck. RCA knowledge access continues to respect evidence and case-history boundaries; reusable learning requires validation and promotion.</a:t>
            </a:r>
          </a:p>
          <a:p>
            <a:endParaRPr/>
          </a:p>
          <a:p>
            <a:r>
              <a:t>SOURCES</a:t>
            </a:r>
          </a:p>
          <a:p>
            <a:r>
              <a:t>[source-codes/backend/knowledge_base/dq_framework_data.json] source-codes/backend/knowledge_base/dq_framework_data.json</a:t>
            </a:r>
          </a:p>
          <a:p>
            <a:r>
              <a:t>[source-codes/docs/0.4.0/00-framework.md] source-codes/docs/0.4.0/00-framework.md</a:t>
            </a:r>
          </a:p>
          <a:p>
            <a:r>
              <a:t>[dev-requirements/ai_proposal_loop_workflow.md] dev-requirements/ai_proposal_loop_workflow.md</a:t>
            </a:r>
          </a:p>
          <a:p>
            <a:r>
              <a:t>[User-approved design discussion] User-approved design discussion</a:t>
            </a:r>
          </a:p>
          <a:p>
            <a:endParaRPr/>
          </a:p>
          <a:p>
            <a:r>
              <a:t>Design checkpoint: 15 September 2026. Proposed states based on the agreed conversation; D08 detailed redesign remains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24B-625A-43DD-9139-EFC19AAB905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7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Library and the working journey</a:t>
            </a:r>
          </a:p>
          <a:p>
            <a:endParaRPr/>
          </a:p>
          <a:p>
            <a:r>
              <a:t>A Working Draft is mutable. Every test captures an immutable content revision and hash, so a later draft edit cannot change earlier test evidence. A new KB can have no active version until its first promotion. A source file is evidence/input and does not become consumed knowledge merely through upload. The UI terminology and workflow are proposed; formal personas and RBAC remain deferred.</a:t>
            </a:r>
          </a:p>
          <a:p>
            <a:endParaRPr/>
          </a:p>
          <a:p>
            <a:r>
              <a:t>SOURCES</a:t>
            </a:r>
          </a:p>
          <a:p>
            <a:r>
              <a:t>[User-approved design discussion] User-approved design discussion</a:t>
            </a:r>
          </a:p>
          <a:p>
            <a:endParaRPr/>
          </a:p>
          <a:p>
            <a:r>
              <a:t>Design checkpoint: 15 September 2026. Proposed states based on the agreed conversation; D08 detailed redesign remains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24B-625A-43DD-9139-EFC19AAB90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76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Structure, local choices and promotion</a:t>
            </a:r>
          </a:p>
          <a:p>
            <a:endParaRPr/>
          </a:p>
          <a:p>
            <a:r>
              <a:t>DSC context v2 supports confirmed default entity/time bindings and expected cadence. It does not supply business semantic roles, target orientation, or implicit joins. The KB declares supported required/advisory predicates. Confirmed evidence replaces localized structural inference only where compatible with the consumer. Missing or conflicting required evidence leads to an explicit run-local choice or an unassessable scope. A temporal candidate is not automatically a reporting period; cadence is not reporting grain. Run-local overrides are limited to supported controls. Testing a draft pins the exact tested content. Changes after validation invalidate that validation. Promote for use records approval and activation separately; approve-only is optional. Stale dependencies/base versions must be reconciled before promotion. Historical frozen runs are retained.</a:t>
            </a:r>
          </a:p>
          <a:p>
            <a:endParaRPr/>
          </a:p>
          <a:p>
            <a:r>
              <a:t>SOURCES</a:t>
            </a:r>
          </a:p>
          <a:p>
            <a:r>
              <a:t>[source-codes/docs/architecture/dataset-structure-context-data-sourcing-review.md] source-codes/docs/architecture/dataset-structure-context-data-sourcing-review.md</a:t>
            </a:r>
          </a:p>
          <a:p>
            <a:r>
              <a:t>[source-codes/backend/analysis_runtime/dataset_structure_context.py] source-codes/backend/analysis_runtime/dataset_structure_context.py</a:t>
            </a:r>
          </a:p>
          <a:p>
            <a:r>
              <a:t>[User-approved design discussion] User-approved design discussion</a:t>
            </a:r>
          </a:p>
          <a:p>
            <a:endParaRPr/>
          </a:p>
          <a:p>
            <a:r>
              <a:t>Design checkpoint: 15 September 2026. Proposed states based on the agreed conversation; D08 detailed redesign remains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24B-625A-43DD-9139-EFC19AAB90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7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T2-D06  |  Row completeness</a:t>
            </a:r>
          </a:p>
          <a:p>
            <a:endParaRPr/>
          </a:p>
          <a:p>
            <a:r>
              <a:t>Proposed Library/DSC adoption with existing D06 methodology retained. The six rules and observed-span limitation come from row_completeness_v1.json. The example is illustrative, not a measured user dataset. It illustrates T2D6-05 only. Per-rule outcomes and inability to assess must stay explicit; optional segment does not automatically become required. All runtime inputs, local overrides and evidence pins belong in the new frozen contract.</a:t>
            </a:r>
          </a:p>
          <a:p>
            <a:endParaRPr/>
          </a:p>
          <a:p>
            <a:r>
              <a:t>SOURCES</a:t>
            </a:r>
          </a:p>
          <a:p>
            <a:r>
              <a:t>[source-codes/backend/knowledge_base/row_completeness_v1.json] source-codes/backend/knowledge_base/row_completeness_v1.json</a:t>
            </a:r>
          </a:p>
          <a:p>
            <a:r>
              <a:t>[source-codes/backend/domains/test_lab/diagnostics/t2_d06_row_completeness/knowledge.py] source-codes/backend/domains/test_lab/diagnostics/t2_d06_row_completeness/knowledge.py</a:t>
            </a:r>
          </a:p>
          <a:p>
            <a:r>
              <a:t>[source-codes/backend/domains/test_lab/diagnostics/t2_d06_row_completeness/dsc_assist.py] source-codes/backend/domains/test_lab/diagnostics/t2_d06_row_completeness/dsc_assist.py</a:t>
            </a:r>
          </a:p>
          <a:p>
            <a:endParaRPr/>
          </a:p>
          <a:p>
            <a:r>
              <a:t>Design checkpoint: 15 September 2026. Proposed states based on the agreed conversation; D08 detailed redesign remains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24B-625A-43DD-9139-EFC19AAB905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76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T2-D11  |  Directional monotonic consistency</a:t>
            </a:r>
          </a:p>
          <a:p>
            <a:endParaRPr/>
          </a:p>
          <a:p>
            <a:r>
              <a:t>Proposed state: D11 proposals are incorporated into versioned KB releases, closing the present generic-publication/source-YAML gap. The current expected-risk KB is scoped to probability of default; broader outcomes need explicit future curation and compatibility review. The example is illustrative, not proof of a defect or causality. Existing empirical execution uses binned behavior, rank correlation and regression with evidence/sample guards. DSC does not currently supply semantic grouping/target predicates; do not infer that integration exists. Segmentation remains a confirmed diagnostic decision.</a:t>
            </a:r>
          </a:p>
          <a:p>
            <a:endParaRPr/>
          </a:p>
          <a:p>
            <a:r>
              <a:t>SOURCES</a:t>
            </a:r>
          </a:p>
          <a:p>
            <a:r>
              <a:t>[source-codes/backend/knowledge_base/pd_directionality_kb_v0_3.yaml] source-codes/backend/knowledge_base/pd_directionality_kb_v0_3.yaml</a:t>
            </a:r>
          </a:p>
          <a:p>
            <a:r>
              <a:t>[source-codes/backend/domains/test_lab/diagnostics/t2_d11_directional_monotonic_consistency/README.md] source-codes/backend/domains/test_lab/diagnostics/t2_d11_directional_monotonic_consistency/README.md</a:t>
            </a:r>
          </a:p>
          <a:p>
            <a:r>
              <a:t>[source-codes/backend/domains/test_lab/diagnostics/t2_d11_directional_monotonic_consistency/knowledge.py] source-codes/backend/domains/test_lab/diagnostics/t2_d11_directional_monotonic_consistency/knowledge.py</a:t>
            </a:r>
          </a:p>
          <a:p>
            <a:endParaRPr/>
          </a:p>
          <a:p>
            <a:r>
              <a:t>Design checkpoint: 15 September 2026. Proposed states based on the agreed conversation; D08 detailed redesign remains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24B-625A-43DD-9139-EFC19AAB905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7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T2-D08  |  Value semantics</a:t>
            </a:r>
          </a:p>
          <a:p>
            <a:endParaRPr/>
          </a:p>
          <a:p>
            <a:r>
              <a:t>This slide frames the current three-tag vocabulary and agreed Library/DSC architecture. It does not approve a D08 v0.3 schema, new tags, expanded diagnostic scope, or automatic downstream treatment. The current KB has 36 semantic roles; contains roles, matching contract, declarations, guards and classification entries. DSC supplies structural evidence only. Gaps concerning field-level business meaning, observability, stale evidence, sentinel interpretation and supported temporal units need the forthcoming design review. The forward-window example assumes confirmed horizon, observability and applicable prerequisites; external observation can change the conclusion. Source values remain immutable and NO_TAG provides no positive validity assurance.</a:t>
            </a:r>
          </a:p>
          <a:p>
            <a:endParaRPr/>
          </a:p>
          <a:p>
            <a:r>
              <a:t>SOURCES</a:t>
            </a:r>
          </a:p>
          <a:p>
            <a:r>
              <a:t>[source-codes/backend/knowledge_base/value_semantics_kb_v0_2.yaml] source-codes/backend/knowledge_base/value_semantics_kb_v0_2.yaml</a:t>
            </a:r>
          </a:p>
          <a:p>
            <a:r>
              <a:t>[source-codes/docs/diagnostics/value-semantics/contract.md] source-codes/docs/diagnostics/value-semantics/contract.md</a:t>
            </a:r>
          </a:p>
          <a:p>
            <a:r>
              <a:t>[source-codes/backend/domains/test_lab/diagnostics/t2_d08_value_semantics/engine.py] source-codes/backend/domains/test_lab/diagnostics/t2_d08_value_semantics/engine.py</a:t>
            </a:r>
          </a:p>
          <a:p>
            <a:endParaRPr/>
          </a:p>
          <a:p>
            <a:r>
              <a:t>Design checkpoint: 15 September 2026. Proposed states based on the agreed conversation; D08 detailed redesign remains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24B-625A-43DD-9139-EFC19AAB905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76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966D-9E49-1932-5A86-A6CB7111A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3CA9A-636A-57DC-143F-C371A653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D917F-AC5F-AF1D-7B3E-48EB9622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0C9C5-1474-F364-8645-67CA238B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1AD92-21C0-8245-9FC5-BDD5C150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13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6169-2CD9-D1C1-11E2-116DFAB8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E458-1872-5BC7-F244-F78278438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6CA9A-E7FA-7DE2-F462-94B89FBC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F0F37-B572-0EF2-63F2-99A4E190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B0A4-1427-626A-C4AE-0F4CCD20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7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4084-BA4B-74CB-EBB4-AC37F1444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47E87-AEC1-67FD-1C71-2D3EECB66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39E57-DE80-8CBD-9662-7CEB7F6F6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997F5-9CD8-92CF-6CCD-2510E352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BD19-9759-ABEE-5638-B4CAB8D9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2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BCA8-AEA9-484A-79F5-DF6FDBEA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2680-D470-01FE-DA29-410753739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E9518-8C8A-4C0F-0247-F66D8F5B0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D496B-7A7E-B40E-1C31-869E5EBA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C3C5A-AF76-75B1-B923-0B5B43B3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43CFF-C14D-22C1-04B4-0FA59286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72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B2B7-83D5-8DF1-D97A-A7EA304B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8E37B-4BE9-4C58-D243-BEAD8847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62EC9-677F-8729-8FAD-0986AB709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84358-82B6-72D1-0D06-681B2A6CA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D33B7-920A-E10E-F2F1-127CF3BBC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DCC21-F8F9-AE25-32BC-2B1EA50A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0BB4D-8C22-D98C-2C2B-3B5E3970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4F82B-F428-10D9-3593-ACE133B1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6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51CA-F55B-6DB6-7284-21EE64D6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F3874-FA25-E1D5-C9E6-6D6DFD7A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883E4-2D04-CAF4-E5BC-62AC9E9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56151-4938-DFDB-BAA1-11598B08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7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95A2D-AF60-A226-5B13-60BE943F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AE7D61-9DB6-EF94-02B9-63E9D3C8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9A420-0746-4494-FAB0-9912B1EF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12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7EF0-5C60-D483-5301-39A5253F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43510-E650-A6D8-5E31-2DA5A186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30D3D-7C49-B9F5-3AEC-C6BFBC368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63FFD-A3EE-F7EB-5CF7-ECB5E0AF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361E7-98A8-E1A8-AFF6-4269DCC2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AFDC9-70E9-DB7D-04D1-A1AF168E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7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F15A-CC24-DD32-53E0-3485B5F3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9D165-0CCD-7B7F-3991-9A5CAC2C5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5ED30-BEE2-8715-1436-4FE9AC431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9F66D-3BD2-1E4C-8D62-09C122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85FD4-DAF7-0E29-40D0-2D339B3D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DF562-2FC2-A4C2-A97C-E7A74A6C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38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BF8A-E1F4-EFB6-FE00-90928F9B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70753-A3AD-3378-24F5-D40BFC4C5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06E09-D90C-2E3E-5B31-A475087B2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1AF67-F125-98DE-CB5E-F50D0B01F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5F174-594F-0215-89A2-2E5AD1E9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B400F0-1B14-5D8D-C4BC-D26F02AA0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689DA-50AA-9D8C-32B3-2BFD97787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791FF-E1D8-822C-4B8F-BEE942E0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5D092-1458-3A60-4F00-23BE895D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E7A3D-2490-B619-59ED-78F98B26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53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8842F-38DF-A2B3-05E1-70FC5D000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D2986-4EBF-D7C6-80D1-0717D7BA1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6D749-0631-E9DC-C090-75879299A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D9F8E-DEB9-487D-920A-CEF9A318693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BB514-651D-D331-ED69-36A4BCD2D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289C-4617-40D3-CBDE-73F351467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E2321-9154-4AA3-82C0-AEF1CBDAC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66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406400" y="2540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DATA WORKBENCH / PROPOSED DESIGN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9842500" y="203200"/>
            <a:ext cx="1943100" cy="317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9956800" y="279400"/>
            <a:ext cx="1714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98641E"/>
                </a:solidFill>
                <a:latin typeface="Funnel Sans"/>
              </a:rPr>
              <a:t>PROPOSED DESIGN</a:t>
            </a:r>
            <a:endParaRPr lang="en-US" sz="1050"/>
          </a:p>
        </p:txBody>
      </p:sp>
      <p:sp>
        <p:nvSpPr>
          <p:cNvPr id="6" name="text 6"/>
          <p:cNvSpPr/>
          <p:nvPr/>
        </p:nvSpPr>
        <p:spPr>
          <a:xfrm>
            <a:off x="419100" y="469900"/>
            <a:ext cx="113792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6"/>
              </a:lnSpc>
              <a:spcAft>
                <a:spcPts val="0"/>
              </a:spcAft>
            </a:pPr>
            <a:r>
              <a:rPr lang="en-US" sz="2900" b="1" dirty="0">
                <a:solidFill>
                  <a:srgbClr val="181C23"/>
                </a:solidFill>
                <a:latin typeface="Funnel Sans"/>
              </a:rPr>
              <a:t>Knowledge Base (KB) Library</a:t>
            </a:r>
            <a:endParaRPr lang="en-US" sz="2900" dirty="0"/>
          </a:p>
        </p:txBody>
      </p:sp>
      <p:sp>
        <p:nvSpPr>
          <p:cNvPr id="7" name="text 7"/>
          <p:cNvSpPr/>
          <p:nvPr/>
        </p:nvSpPr>
        <p:spPr>
          <a:xfrm>
            <a:off x="406400" y="965200"/>
            <a:ext cx="113538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6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6D706B"/>
                </a:solidFill>
                <a:latin typeface="Funnel Sans"/>
              </a:rPr>
              <a:t>Reusable knowledge for diagnostics and Root Cause Analysis (RCA) throughout the Minimum Viable Product (MVP).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386825" y="1333500"/>
            <a:ext cx="11379200" cy="1536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564625" y="1411991"/>
            <a:ext cx="11023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OBJECTIVE, SCOPE &amp; DESIGN</a:t>
            </a:r>
            <a:endParaRPr lang="en-US" sz="1050" dirty="0"/>
          </a:p>
        </p:txBody>
      </p:sp>
      <p:sp>
        <p:nvSpPr>
          <p:cNvPr id="10" name="text 10"/>
          <p:cNvSpPr/>
          <p:nvPr/>
        </p:nvSpPr>
        <p:spPr>
          <a:xfrm>
            <a:off x="551925" y="1638300"/>
            <a:ext cx="10959712" cy="1138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482"/>
              </a:lnSpc>
            </a:pPr>
            <a:r>
              <a:rPr lang="en-US" sz="1300" b="0" dirty="0">
                <a:solidFill>
                  <a:srgbClr val="181C23"/>
                </a:solidFill>
                <a:latin typeface="Funnel Sans"/>
              </a:rPr>
              <a:t>Manage each KB as reusable, versioned knowledge with a named consumer and a clear purpose.</a:t>
            </a:r>
            <a:r>
              <a:rPr lang="en-US" sz="1300" dirty="0">
                <a:solidFill>
                  <a:srgbClr val="181C23"/>
                </a:solidFill>
              </a:rPr>
              <a:t> Source Documents supply evidence. Users can </a:t>
            </a:r>
          </a:p>
          <a:p>
            <a:pPr>
              <a:lnSpc>
                <a:spcPts val="1482"/>
              </a:lnSpc>
            </a:pPr>
            <a:r>
              <a:rPr lang="en-US" sz="1300" dirty="0">
                <a:solidFill>
                  <a:srgbClr val="181C23"/>
                </a:solidFill>
              </a:rPr>
              <a:t>build, test and promote KBs, or change settings for one run.</a:t>
            </a:r>
            <a:endParaRPr lang="en-US" sz="1300" dirty="0"/>
          </a:p>
          <a:p>
            <a:pPr algn="ctr">
              <a:lnSpc>
                <a:spcPts val="1482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81C23"/>
                </a:solidFill>
                <a:latin typeface="Funnel Sans"/>
              </a:rPr>
              <a:t>Library = workspace</a:t>
            </a:r>
          </a:p>
          <a:p>
            <a:pPr algn="ctr">
              <a:lnSpc>
                <a:spcPts val="1482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81C23"/>
                </a:solidFill>
                <a:latin typeface="Funnel Sans"/>
              </a:rPr>
              <a:t>KB = governed collection</a:t>
            </a:r>
          </a:p>
          <a:p>
            <a:pPr algn="ctr">
              <a:lnSpc>
                <a:spcPts val="1482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81C23"/>
                </a:solidFill>
                <a:latin typeface="Funnel Sans"/>
              </a:rPr>
              <a:t>Version = a saved edition</a:t>
            </a:r>
          </a:p>
          <a:p>
            <a:pPr algn="ctr">
              <a:lnSpc>
                <a:spcPts val="1482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81C23"/>
                </a:solidFill>
                <a:latin typeface="Funnel Sans"/>
              </a:rPr>
              <a:t>Entry = a rule or concept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386825" y="3096509"/>
            <a:ext cx="70485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564625" y="3248909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DIAGNOSTIC FRAMEWORK CONSUMPTION</a:t>
            </a:r>
            <a:endParaRPr lang="en-US" sz="1050"/>
          </a:p>
        </p:txBody>
      </p:sp>
      <p:sp>
        <p:nvSpPr>
          <p:cNvPr id="13" name="text 13"/>
          <p:cNvSpPr/>
          <p:nvPr/>
        </p:nvSpPr>
        <p:spPr>
          <a:xfrm>
            <a:off x="564625" y="3566409"/>
            <a:ext cx="66675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Design focus: 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	T2-D06 Row completeness · 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dirty="0">
                <a:solidFill>
                  <a:srgbClr val="181C23"/>
                </a:solidFill>
                <a:latin typeface="Funnel Sans"/>
              </a:rPr>
              <a:t>	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T2-D11 Directionality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	T2-D08 Value semantics (detailed design to follow)</a:t>
            </a:r>
            <a:endParaRPr lang="en-US" sz="1250" dirty="0"/>
          </a:p>
        </p:txBody>
      </p:sp>
      <p:sp>
        <p:nvSpPr>
          <p:cNvPr id="14" name="text 14"/>
          <p:cNvSpPr/>
          <p:nvPr/>
        </p:nvSpPr>
        <p:spPr>
          <a:xfrm>
            <a:off x="564625" y="4360159"/>
            <a:ext cx="6667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Aft>
                <a:spcPts val="0"/>
              </a:spcAft>
            </a:pPr>
            <a:r>
              <a:rPr lang="en-US" sz="950" b="1" dirty="0">
                <a:solidFill>
                  <a:srgbClr val="FF4F59"/>
                </a:solidFill>
                <a:latin typeface="Funnel Sans"/>
              </a:rPr>
              <a:t>FUTURE LIBRARY ADOPTION — LIST ONLY</a:t>
            </a:r>
            <a:endParaRPr lang="en-US" sz="950" dirty="0"/>
          </a:p>
        </p:txBody>
      </p:sp>
      <p:sp>
        <p:nvSpPr>
          <p:cNvPr id="15" name="text 15"/>
          <p:cNvSpPr/>
          <p:nvPr/>
        </p:nvSpPr>
        <p:spPr>
          <a:xfrm>
            <a:off x="628125" y="4569709"/>
            <a:ext cx="34290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1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81C23"/>
                </a:solidFill>
                <a:latin typeface="Funnel Sans"/>
              </a:rPr>
              <a:t>T2-D04 Cross-field business rules</a:t>
            </a:r>
            <a:endParaRPr lang="en-US" sz="1150" dirty="0"/>
          </a:p>
          <a:p>
            <a:pPr algn="l">
              <a:lnSpc>
                <a:spcPts val="1311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81C23"/>
                </a:solidFill>
                <a:latin typeface="Funnel Sans"/>
              </a:rPr>
              <a:t>T3-D12 Label consistency</a:t>
            </a:r>
            <a:endParaRPr lang="en-US" sz="1150" dirty="0"/>
          </a:p>
          <a:p>
            <a:pPr algn="l">
              <a:lnSpc>
                <a:spcPts val="1311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81C23"/>
                </a:solidFill>
                <a:latin typeface="Funnel Sans"/>
              </a:rPr>
              <a:t>T5-D17 Resolution / maturity by vintage</a:t>
            </a:r>
            <a:endParaRPr lang="en-US" sz="1150" dirty="0"/>
          </a:p>
          <a:p>
            <a:pPr algn="l">
              <a:lnSpc>
                <a:spcPts val="1311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81C23"/>
                </a:solidFill>
                <a:latin typeface="Funnel Sans"/>
              </a:rPr>
              <a:t>T6-D20 Artificial Intelligence (AI) proposals</a:t>
            </a:r>
            <a:endParaRPr lang="en-US" sz="1150" dirty="0"/>
          </a:p>
        </p:txBody>
      </p:sp>
      <p:sp>
        <p:nvSpPr>
          <p:cNvPr id="16" name="text 16"/>
          <p:cNvSpPr/>
          <p:nvPr/>
        </p:nvSpPr>
        <p:spPr>
          <a:xfrm>
            <a:off x="4057125" y="4461759"/>
            <a:ext cx="3175000" cy="140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181C23"/>
                </a:solidFill>
                <a:latin typeface="Funnel Sans"/>
              </a:rPr>
              <a:t>Deferred framework coverage:</a:t>
            </a:r>
            <a:endParaRPr lang="en-US" sz="1050" dirty="0"/>
          </a:p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181C23"/>
                </a:solidFill>
                <a:latin typeface="Funnel Sans"/>
              </a:rPr>
              <a:t>T1-D01 Look-ahead; </a:t>
            </a:r>
            <a:endParaRPr lang="en-US" sz="1050" dirty="0"/>
          </a:p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181C23"/>
                </a:solidFill>
                <a:latin typeface="Funnel Sans"/>
              </a:rPr>
              <a:t>T2-D05 Derivation; D07 Disguised missingness</a:t>
            </a:r>
            <a:endParaRPr lang="en-US" sz="1050" dirty="0"/>
          </a:p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181C23"/>
                </a:solidFill>
                <a:latin typeface="Funnel Sans"/>
              </a:rPr>
              <a:t>T3-D13 Target-rate breaks</a:t>
            </a:r>
            <a:endParaRPr lang="en-US" sz="1050" dirty="0"/>
          </a:p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181C23"/>
                </a:solidFill>
                <a:latin typeface="Funnel Sans"/>
              </a:rPr>
              <a:t>T5-D18 Resolved vs all; D19 Seasoning profile</a:t>
            </a:r>
            <a:endParaRPr lang="en-US" sz="1050" dirty="0"/>
          </a:p>
        </p:txBody>
      </p:sp>
      <p:sp>
        <p:nvSpPr>
          <p:cNvPr id="17" name="shape 17"/>
          <p:cNvSpPr/>
          <p:nvPr/>
        </p:nvSpPr>
        <p:spPr>
          <a:xfrm>
            <a:off x="7663925" y="3096509"/>
            <a:ext cx="4102100" cy="27305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7841725" y="3248909"/>
            <a:ext cx="3746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RCA &amp; ISSUE RESOLUTION</a:t>
            </a:r>
            <a:endParaRPr lang="en-US" sz="1050"/>
          </a:p>
        </p:txBody>
      </p:sp>
      <p:sp>
        <p:nvSpPr>
          <p:cNvPr id="19" name="text 19"/>
          <p:cNvSpPr/>
          <p:nvPr/>
        </p:nvSpPr>
        <p:spPr>
          <a:xfrm>
            <a:off x="7841725" y="3528309"/>
            <a:ext cx="37465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Use applicable KB rules, definitions and source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evidence to investigate an issue.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Finding → reviewed issue → RCA → confirmed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cause or unresolved outcome.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Reusable learning → proposed KB change →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validate and promote → future use.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Confirm a correction by reassessing data.</a:t>
            </a:r>
            <a:endParaRPr lang="en-US" sz="1250" dirty="0"/>
          </a:p>
        </p:txBody>
      </p:sp>
      <p:sp>
        <p:nvSpPr>
          <p:cNvPr id="20" name="text 20"/>
          <p:cNvSpPr/>
          <p:nvPr/>
        </p:nvSpPr>
        <p:spPr>
          <a:xfrm>
            <a:off x="419100" y="6172200"/>
            <a:ext cx="11328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40"/>
              </a:lnSpc>
              <a:spcAft>
                <a:spcPts val="0"/>
              </a:spcAft>
            </a:pPr>
            <a:r>
              <a:rPr lang="en-US" sz="1000" b="0" dirty="0">
                <a:solidFill>
                  <a:srgbClr val="6D706B"/>
                </a:solidFill>
                <a:latin typeface="Funnel Sans"/>
              </a:rPr>
              <a:t>Future enhancement: Role-Based Access Control (RBAC) and separation of duties. MVP records actors and decisions; self-review is allowed.</a:t>
            </a:r>
            <a:endParaRPr lang="en-US" sz="1000"/>
          </a:p>
        </p:txBody>
      </p:sp>
      <p:cxnSp>
        <p:nvCxnSpPr>
          <p:cNvPr id="21" name="connector 21"/>
          <p:cNvCxnSpPr/>
          <p:nvPr/>
        </p:nvCxnSpPr>
        <p:spPr>
          <a:xfrm>
            <a:off x="406400" y="6515100"/>
            <a:ext cx="11379200" cy="0"/>
          </a:xfrm>
          <a:prstGeom prst="line">
            <a:avLst/>
          </a:prstGeom>
          <a:ln w="8255">
            <a:solidFill>
              <a:srgbClr val="DEDCD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22"/>
          <p:cNvSpPr/>
          <p:nvPr/>
        </p:nvSpPr>
        <p:spPr>
          <a:xfrm>
            <a:off x="406400" y="66294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9"/>
              </a:lnSpc>
              <a:spcAft>
                <a:spcPts val="0"/>
              </a:spcAft>
            </a:pPr>
            <a:r>
              <a:rPr lang="en-US" sz="850" b="0" dirty="0">
                <a:solidFill>
                  <a:srgbClr val="6D706B"/>
                </a:solidFill>
                <a:latin typeface="Funnel Sans"/>
              </a:rPr>
              <a:t>DATA WORKBENCH / Knowledge Base Library / Proposed state</a:t>
            </a:r>
            <a:endParaRPr lang="en-US" sz="850"/>
          </a:p>
        </p:txBody>
      </p:sp>
      <p:sp>
        <p:nvSpPr>
          <p:cNvPr id="23" name="text 23"/>
          <p:cNvSpPr/>
          <p:nvPr/>
        </p:nvSpPr>
        <p:spPr>
          <a:xfrm>
            <a:off x="10922000" y="6604000"/>
            <a:ext cx="863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40"/>
              </a:lnSpc>
              <a:spcAft>
                <a:spcPts val="0"/>
              </a:spcAft>
            </a:pPr>
            <a:r>
              <a:rPr lang="en-US" sz="1000" b="0" dirty="0">
                <a:solidFill>
                  <a:srgbClr val="6D706B"/>
                </a:solidFill>
                <a:latin typeface="Funnel Sans"/>
              </a:rPr>
              <a:t>01 / 06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406400" y="2540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DATA WORKBENCH / PROPOSED DESIGN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9842500" y="203200"/>
            <a:ext cx="1943100" cy="317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9956800" y="279400"/>
            <a:ext cx="1714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98641E"/>
                </a:solidFill>
                <a:latin typeface="Funnel Sans"/>
              </a:rPr>
              <a:t>MVP DESIGN</a:t>
            </a:r>
            <a:endParaRPr lang="en-US" sz="1050"/>
          </a:p>
        </p:txBody>
      </p:sp>
      <p:sp>
        <p:nvSpPr>
          <p:cNvPr id="6" name="text 6"/>
          <p:cNvSpPr/>
          <p:nvPr/>
        </p:nvSpPr>
        <p:spPr>
          <a:xfrm>
            <a:off x="406400" y="673100"/>
            <a:ext cx="113792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6"/>
              </a:lnSpc>
              <a:spcAft>
                <a:spcPts val="0"/>
              </a:spcAft>
            </a:pPr>
            <a:r>
              <a:rPr lang="en-US" sz="2900" b="1" dirty="0">
                <a:solidFill>
                  <a:srgbClr val="181C23"/>
                </a:solidFill>
                <a:latin typeface="Funnel Sans"/>
              </a:rPr>
              <a:t>The Library and the working journey</a:t>
            </a:r>
            <a:endParaRPr lang="en-US" sz="2900"/>
          </a:p>
        </p:txBody>
      </p:sp>
      <p:sp>
        <p:nvSpPr>
          <p:cNvPr id="7" name="text 7"/>
          <p:cNvSpPr/>
          <p:nvPr/>
        </p:nvSpPr>
        <p:spPr>
          <a:xfrm>
            <a:off x="419100" y="1282700"/>
            <a:ext cx="113538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6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6D706B"/>
                </a:solidFill>
                <a:latin typeface="Funnel Sans"/>
              </a:rPr>
              <a:t>Create a KB from scratch or refine an existing version through repeated edit, validate and test cycles.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06400" y="1816100"/>
            <a:ext cx="3556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584200" y="1968500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PROPOSED LIBRARY</a:t>
            </a:r>
            <a:endParaRPr lang="en-US" sz="1050"/>
          </a:p>
        </p:txBody>
      </p:sp>
      <p:sp>
        <p:nvSpPr>
          <p:cNvPr id="10" name="text 10"/>
          <p:cNvSpPr/>
          <p:nvPr/>
        </p:nvSpPr>
        <p:spPr>
          <a:xfrm>
            <a:off x="584200" y="2247900"/>
            <a:ext cx="3340100" cy="156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Knowledge Bases</a:t>
            </a:r>
            <a:endParaRPr lang="en-US" sz="1250" dirty="0"/>
          </a:p>
          <a:p>
            <a:pPr marL="285750" indent="-285750" algn="l">
              <a:lnSpc>
                <a:spcPts val="1425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Purpose, active version and pending changes</a:t>
            </a:r>
            <a:endParaRPr lang="en-US" sz="1250" dirty="0"/>
          </a:p>
          <a:p>
            <a:pPr marL="285750" indent="-285750" algn="l">
              <a:lnSpc>
                <a:spcPts val="1425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Proposed Changes</a:t>
            </a:r>
            <a:endParaRPr lang="en-US" sz="1250" dirty="0"/>
          </a:p>
          <a:p>
            <a:pPr marL="285750" indent="-285750" algn="l">
              <a:lnSpc>
                <a:spcPts val="1425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Manual edits, run proposals and RCA</a:t>
            </a:r>
            <a:endParaRPr lang="en-US" sz="1250" dirty="0"/>
          </a:p>
          <a:p>
            <a:pPr marL="285750" indent="-285750" algn="l">
              <a:lnSpc>
                <a:spcPts val="1425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learning</a:t>
            </a:r>
            <a:endParaRPr lang="en-US" sz="1250" dirty="0"/>
          </a:p>
          <a:p>
            <a:pPr marL="285750" indent="-285750" algn="l">
              <a:lnSpc>
                <a:spcPts val="1425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Source Documents</a:t>
            </a:r>
            <a:endParaRPr lang="en-US" sz="1250" dirty="0"/>
          </a:p>
          <a:p>
            <a:pPr marL="285750" indent="-285750" algn="l">
              <a:lnSpc>
                <a:spcPts val="1425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Uploads and supporting evidence</a:t>
            </a:r>
            <a:endParaRPr lang="en-US" sz="1250" dirty="0"/>
          </a:p>
        </p:txBody>
      </p:sp>
      <p:sp>
        <p:nvSpPr>
          <p:cNvPr id="11" name="shape 11"/>
          <p:cNvSpPr/>
          <p:nvPr/>
        </p:nvSpPr>
        <p:spPr>
          <a:xfrm>
            <a:off x="4152900" y="1816100"/>
            <a:ext cx="3632200" cy="21082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4330700" y="19685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CORE TERMINOLOGY</a:t>
            </a:r>
            <a:endParaRPr lang="en-US" sz="1050"/>
          </a:p>
        </p:txBody>
      </p:sp>
      <p:sp>
        <p:nvSpPr>
          <p:cNvPr id="13" name="text 13"/>
          <p:cNvSpPr/>
          <p:nvPr/>
        </p:nvSpPr>
        <p:spPr>
          <a:xfrm>
            <a:off x="4330700" y="2247900"/>
            <a:ext cx="3276600" cy="156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KB</a:t>
            </a:r>
            <a:r>
              <a:rPr lang="en-US" sz="1250" dirty="0">
                <a:solidFill>
                  <a:srgbClr val="181C23"/>
                </a:solidFill>
                <a:latin typeface="Funnel Sans"/>
              </a:rPr>
              <a:t> – 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 A governed collection of knowledge.</a:t>
            </a:r>
            <a:endParaRPr lang="en-US" sz="1250" dirty="0"/>
          </a:p>
          <a:p>
            <a:pPr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Version</a:t>
            </a:r>
            <a:r>
              <a:rPr lang="en-US" sz="1250" dirty="0">
                <a:solidFill>
                  <a:srgbClr val="181C23"/>
                </a:solidFill>
              </a:rPr>
              <a:t> – A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 named edition with a lifecycle.</a:t>
            </a:r>
            <a:endParaRPr lang="en-US" sz="1250" dirty="0"/>
          </a:p>
          <a:p>
            <a:pPr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Entry</a:t>
            </a:r>
            <a:r>
              <a:rPr lang="en-US" sz="1250" dirty="0">
                <a:solidFill>
                  <a:srgbClr val="181C23"/>
                </a:solidFill>
              </a:rPr>
              <a:t> – A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 rule, role, concept or definition.</a:t>
            </a:r>
            <a:endParaRPr lang="en-US" sz="1250" dirty="0"/>
          </a:p>
          <a:p>
            <a:pPr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Source Document</a:t>
            </a:r>
            <a:r>
              <a:rPr lang="en-US" sz="1250" dirty="0">
                <a:solidFill>
                  <a:srgbClr val="181C23"/>
                </a:solidFill>
              </a:rPr>
              <a:t> – 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evidence or input.</a:t>
            </a:r>
            <a:endParaRPr lang="en-US" sz="1250" dirty="0"/>
          </a:p>
          <a:p>
            <a:pPr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Active</a:t>
            </a:r>
            <a:r>
              <a:rPr lang="en-US" sz="1250" dirty="0">
                <a:solidFill>
                  <a:srgbClr val="181C23"/>
                </a:solidFill>
              </a:rPr>
              <a:t> – 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default for new diagnostic drafts.</a:t>
            </a:r>
            <a:endParaRPr lang="en-US" sz="1250" dirty="0"/>
          </a:p>
          <a:p>
            <a:pPr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Used by</a:t>
            </a:r>
            <a:r>
              <a:rPr lang="en-US" sz="1250" dirty="0">
                <a:solidFill>
                  <a:srgbClr val="181C23"/>
                </a:solidFill>
              </a:rPr>
              <a:t> – 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named workflow and stage.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7975600" y="1816100"/>
            <a:ext cx="3810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8153400" y="1968500"/>
            <a:ext cx="3454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INSIDE A KB</a:t>
            </a:r>
            <a:endParaRPr lang="en-US" sz="1050"/>
          </a:p>
        </p:txBody>
      </p:sp>
      <p:sp>
        <p:nvSpPr>
          <p:cNvPr id="16" name="text 16"/>
          <p:cNvSpPr/>
          <p:nvPr/>
        </p:nvSpPr>
        <p:spPr>
          <a:xfrm>
            <a:off x="8153400" y="2203449"/>
            <a:ext cx="3454400" cy="1606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Overview, Rules / Concepts, Versions &amp; Changes, Dependencies, Usage, 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>
              <a:solidFill>
                <a:srgbClr val="181C23"/>
              </a:solidFill>
              <a:latin typeface="Funnel Sans"/>
            </a:endParaRP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History</a:t>
            </a:r>
            <a:r>
              <a:rPr lang="en-US" sz="1250" dirty="0"/>
              <a:t>: 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Show what changed, why, its source,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validation and affected consumers.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Start with “Create KB” or “Create version”.</a:t>
            </a:r>
            <a:endParaRPr lang="en-US" sz="1250" dirty="0"/>
          </a:p>
        </p:txBody>
      </p:sp>
      <p:sp>
        <p:nvSpPr>
          <p:cNvPr id="17" name="shape 17"/>
          <p:cNvSpPr/>
          <p:nvPr/>
        </p:nvSpPr>
        <p:spPr>
          <a:xfrm>
            <a:off x="406400" y="4127500"/>
            <a:ext cx="2123440" cy="825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520700" y="42418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01</a:t>
            </a:r>
            <a:endParaRPr lang="en-US" sz="1100"/>
          </a:p>
        </p:txBody>
      </p:sp>
      <p:sp>
        <p:nvSpPr>
          <p:cNvPr id="19" name="text 19"/>
          <p:cNvSpPr/>
          <p:nvPr/>
        </p:nvSpPr>
        <p:spPr>
          <a:xfrm>
            <a:off x="825500" y="42418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Create</a:t>
            </a:r>
            <a:endParaRPr lang="en-US" sz="1200"/>
          </a:p>
        </p:txBody>
      </p:sp>
      <p:sp>
        <p:nvSpPr>
          <p:cNvPr id="20" name="text 20"/>
          <p:cNvSpPr/>
          <p:nvPr/>
        </p:nvSpPr>
        <p:spPr>
          <a:xfrm>
            <a:off x="533400" y="4546600"/>
            <a:ext cx="186944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New KB or new version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>
            <a:off x="2555240" y="454025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22"/>
          <p:cNvSpPr/>
          <p:nvPr/>
        </p:nvSpPr>
        <p:spPr>
          <a:xfrm>
            <a:off x="2720340" y="4127500"/>
            <a:ext cx="2123440" cy="825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2834640" y="42418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02</a:t>
            </a:r>
            <a:endParaRPr lang="en-US" sz="1100"/>
          </a:p>
        </p:txBody>
      </p:sp>
      <p:sp>
        <p:nvSpPr>
          <p:cNvPr id="24" name="text 24"/>
          <p:cNvSpPr/>
          <p:nvPr/>
        </p:nvSpPr>
        <p:spPr>
          <a:xfrm>
            <a:off x="3139440" y="42418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Edit</a:t>
            </a:r>
            <a:endParaRPr lang="en-US" sz="1200"/>
          </a:p>
        </p:txBody>
      </p:sp>
      <p:sp>
        <p:nvSpPr>
          <p:cNvPr id="25" name="text 25"/>
          <p:cNvSpPr/>
          <p:nvPr/>
        </p:nvSpPr>
        <p:spPr>
          <a:xfrm>
            <a:off x="2847340" y="4546600"/>
            <a:ext cx="186944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Entries + change reason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>
            <a:off x="4869180" y="454025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27"/>
          <p:cNvSpPr/>
          <p:nvPr/>
        </p:nvSpPr>
        <p:spPr>
          <a:xfrm>
            <a:off x="5034280" y="4127500"/>
            <a:ext cx="2123440" cy="825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5148580" y="42418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03</a:t>
            </a:r>
            <a:endParaRPr lang="en-US" sz="1100"/>
          </a:p>
        </p:txBody>
      </p:sp>
      <p:sp>
        <p:nvSpPr>
          <p:cNvPr id="29" name="text 29"/>
          <p:cNvSpPr/>
          <p:nvPr/>
        </p:nvSpPr>
        <p:spPr>
          <a:xfrm>
            <a:off x="5453380" y="42418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Validate</a:t>
            </a:r>
            <a:endParaRPr lang="en-US" sz="1200"/>
          </a:p>
        </p:txBody>
      </p:sp>
      <p:sp>
        <p:nvSpPr>
          <p:cNvPr id="30" name="text 30"/>
          <p:cNvSpPr/>
          <p:nvPr/>
        </p:nvSpPr>
        <p:spPr>
          <a:xfrm>
            <a:off x="5161280" y="4546600"/>
            <a:ext cx="186944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Content + dependencies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>
            <a:off x="7183120" y="454025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32"/>
          <p:cNvSpPr/>
          <p:nvPr/>
        </p:nvSpPr>
        <p:spPr>
          <a:xfrm>
            <a:off x="7348220" y="4127500"/>
            <a:ext cx="2123440" cy="825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7462520" y="42418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04</a:t>
            </a:r>
            <a:endParaRPr lang="en-US" sz="1100"/>
          </a:p>
        </p:txBody>
      </p:sp>
      <p:sp>
        <p:nvSpPr>
          <p:cNvPr id="34" name="text 34"/>
          <p:cNvSpPr/>
          <p:nvPr/>
        </p:nvSpPr>
        <p:spPr>
          <a:xfrm>
            <a:off x="7767320" y="42418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Test</a:t>
            </a:r>
            <a:endParaRPr lang="en-US" sz="1200"/>
          </a:p>
        </p:txBody>
      </p:sp>
      <p:sp>
        <p:nvSpPr>
          <p:cNvPr id="35" name="text 35"/>
          <p:cNvSpPr/>
          <p:nvPr/>
        </p:nvSpPr>
        <p:spPr>
          <a:xfrm>
            <a:off x="7475220" y="4546600"/>
            <a:ext cx="186944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Selected file snapshot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>
            <a:off x="9497060" y="454025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37"/>
          <p:cNvSpPr/>
          <p:nvPr/>
        </p:nvSpPr>
        <p:spPr>
          <a:xfrm>
            <a:off x="9662160" y="4127500"/>
            <a:ext cx="2123440" cy="825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9776460" y="42418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05</a:t>
            </a:r>
            <a:endParaRPr lang="en-US" sz="1100"/>
          </a:p>
        </p:txBody>
      </p:sp>
      <p:sp>
        <p:nvSpPr>
          <p:cNvPr id="39" name="text 39"/>
          <p:cNvSpPr/>
          <p:nvPr/>
        </p:nvSpPr>
        <p:spPr>
          <a:xfrm>
            <a:off x="10081260" y="42418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Promote</a:t>
            </a:r>
            <a:endParaRPr lang="en-US" sz="1200"/>
          </a:p>
        </p:txBody>
      </p:sp>
      <p:sp>
        <p:nvSpPr>
          <p:cNvPr id="40" name="text 40"/>
          <p:cNvSpPr/>
          <p:nvPr/>
        </p:nvSpPr>
        <p:spPr>
          <a:xfrm>
            <a:off x="9789160" y="4546600"/>
            <a:ext cx="186944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Make available for use</a:t>
            </a:r>
            <a:endParaRPr lang="en-US" sz="1100"/>
          </a:p>
        </p:txBody>
      </p:sp>
      <p:sp>
        <p:nvSpPr>
          <p:cNvPr id="41" name="shape 41"/>
          <p:cNvSpPr/>
          <p:nvPr/>
        </p:nvSpPr>
        <p:spPr>
          <a:xfrm>
            <a:off x="406400" y="5067300"/>
            <a:ext cx="11379200" cy="97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2"/>
          <p:cNvSpPr/>
          <p:nvPr/>
        </p:nvSpPr>
        <p:spPr>
          <a:xfrm>
            <a:off x="584200" y="5219700"/>
            <a:ext cx="11023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WORKING DRAFT &amp; LOCAL TESTING</a:t>
            </a:r>
            <a:endParaRPr lang="en-US" sz="1050"/>
          </a:p>
        </p:txBody>
      </p:sp>
      <p:sp>
        <p:nvSpPr>
          <p:cNvPr id="43" name="text 43"/>
          <p:cNvSpPr/>
          <p:nvPr/>
        </p:nvSpPr>
        <p:spPr>
          <a:xfrm>
            <a:off x="584200" y="5499100"/>
            <a:ext cx="11023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Save incomplete drafts. Test a fixed revision; inspect results and compare with the active version where available.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Refine and retest as often as needed. Each test records its KB revision, snapshot and local settings.</a:t>
            </a:r>
            <a:endParaRPr lang="en-US" sz="1250"/>
          </a:p>
        </p:txBody>
      </p:sp>
      <p:sp>
        <p:nvSpPr>
          <p:cNvPr id="44" name="shape 44"/>
          <p:cNvSpPr/>
          <p:nvPr/>
        </p:nvSpPr>
        <p:spPr>
          <a:xfrm>
            <a:off x="406400" y="6121400"/>
            <a:ext cx="11379200" cy="317500"/>
          </a:xfrm>
          <a:prstGeom prst="roundRect">
            <a:avLst/>
          </a:prstGeom>
          <a:solidFill>
            <a:srgbClr val="282A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5"/>
          <p:cNvSpPr/>
          <p:nvPr/>
        </p:nvSpPr>
        <p:spPr>
          <a:xfrm>
            <a:off x="546100" y="6184900"/>
            <a:ext cx="11099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FFFFFF"/>
                </a:solidFill>
                <a:latin typeface="Funnel Sans"/>
              </a:rPr>
              <a:t>Draft tests are labelled clearly. Promotion makes a validated version available to future diagnostic drafts.</a:t>
            </a:r>
            <a:endParaRPr lang="en-US" sz="1050"/>
          </a:p>
        </p:txBody>
      </p:sp>
      <p:cxnSp>
        <p:nvCxnSpPr>
          <p:cNvPr id="46" name="connector 46"/>
          <p:cNvCxnSpPr/>
          <p:nvPr/>
        </p:nvCxnSpPr>
        <p:spPr>
          <a:xfrm>
            <a:off x="406400" y="6515100"/>
            <a:ext cx="11379200" cy="0"/>
          </a:xfrm>
          <a:prstGeom prst="line">
            <a:avLst/>
          </a:prstGeom>
          <a:ln w="8255">
            <a:solidFill>
              <a:srgbClr val="DEDCD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47"/>
          <p:cNvSpPr/>
          <p:nvPr/>
        </p:nvSpPr>
        <p:spPr>
          <a:xfrm>
            <a:off x="406400" y="66294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9"/>
              </a:lnSpc>
              <a:spcAft>
                <a:spcPts val="0"/>
              </a:spcAft>
            </a:pPr>
            <a:r>
              <a:rPr lang="en-US" sz="850" b="0" dirty="0">
                <a:solidFill>
                  <a:srgbClr val="6D706B"/>
                </a:solidFill>
                <a:latin typeface="Funnel Sans"/>
              </a:rPr>
              <a:t>DATA WORKBENCH / Knowledge Base Library / Proposed state</a:t>
            </a:r>
            <a:endParaRPr lang="en-US" sz="850"/>
          </a:p>
        </p:txBody>
      </p:sp>
      <p:sp>
        <p:nvSpPr>
          <p:cNvPr id="48" name="text 48"/>
          <p:cNvSpPr/>
          <p:nvPr/>
        </p:nvSpPr>
        <p:spPr>
          <a:xfrm>
            <a:off x="10922000" y="6604000"/>
            <a:ext cx="863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40"/>
              </a:lnSpc>
              <a:spcAft>
                <a:spcPts val="0"/>
              </a:spcAft>
            </a:pPr>
            <a:r>
              <a:rPr lang="en-US" sz="1000" b="0" dirty="0">
                <a:solidFill>
                  <a:srgbClr val="6D706B"/>
                </a:solidFill>
                <a:latin typeface="Funnel Sans"/>
              </a:rPr>
              <a:t>02 / 06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406400" y="2540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DATA WORKBENCH / PROPOSED DESIGN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9842500" y="203200"/>
            <a:ext cx="1943100" cy="317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9956800" y="279400"/>
            <a:ext cx="1714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98641E"/>
                </a:solidFill>
                <a:latin typeface="Funnel Sans"/>
              </a:rPr>
              <a:t>MVP DESIGN</a:t>
            </a:r>
            <a:endParaRPr lang="en-US" sz="1050"/>
          </a:p>
        </p:txBody>
      </p:sp>
      <p:sp>
        <p:nvSpPr>
          <p:cNvPr id="6" name="text 6"/>
          <p:cNvSpPr/>
          <p:nvPr/>
        </p:nvSpPr>
        <p:spPr>
          <a:xfrm>
            <a:off x="406400" y="673100"/>
            <a:ext cx="113792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6"/>
              </a:lnSpc>
              <a:spcAft>
                <a:spcPts val="0"/>
              </a:spcAft>
            </a:pPr>
            <a:r>
              <a:rPr lang="en-US" sz="2900" b="1" dirty="0">
                <a:solidFill>
                  <a:srgbClr val="181C23"/>
                </a:solidFill>
                <a:latin typeface="Funnel Sans"/>
              </a:rPr>
              <a:t>Structure, local choices and promotion</a:t>
            </a:r>
            <a:endParaRPr lang="en-US" sz="2900"/>
          </a:p>
        </p:txBody>
      </p:sp>
      <p:sp>
        <p:nvSpPr>
          <p:cNvPr id="7" name="text 7"/>
          <p:cNvSpPr/>
          <p:nvPr/>
        </p:nvSpPr>
        <p:spPr>
          <a:xfrm>
            <a:off x="419100" y="1282700"/>
            <a:ext cx="113538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6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6D706B"/>
                </a:solidFill>
                <a:latin typeface="Funnel Sans"/>
              </a:rPr>
              <a:t>Dataset Structure Context (</a:t>
            </a:r>
            <a:r>
              <a:rPr lang="en-US" sz="1400" b="1" dirty="0">
                <a:solidFill>
                  <a:srgbClr val="6D706B"/>
                </a:solidFill>
                <a:latin typeface="Funnel Sans"/>
              </a:rPr>
              <a:t>DSC</a:t>
            </a:r>
            <a:r>
              <a:rPr lang="en-US" sz="1400" b="0" dirty="0">
                <a:solidFill>
                  <a:srgbClr val="6D706B"/>
                </a:solidFill>
                <a:latin typeface="Funnel Sans"/>
              </a:rPr>
              <a:t>) provides evidence about the structure of an immutable dataset snapshot, captured during data sourcing. 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406400" y="1816100"/>
            <a:ext cx="3632200" cy="175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584200" y="19685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DSC: SPECIFIC DATASET</a:t>
            </a:r>
            <a:endParaRPr lang="en-US" sz="1050" dirty="0"/>
          </a:p>
        </p:txBody>
      </p:sp>
      <p:sp>
        <p:nvSpPr>
          <p:cNvPr id="10" name="text 10"/>
          <p:cNvSpPr/>
          <p:nvPr/>
        </p:nvSpPr>
        <p:spPr>
          <a:xfrm>
            <a:off x="584200" y="2247900"/>
            <a:ext cx="32766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Physical schema, unique entity and time bindings, row grain, observed / expected frequency of occurrence by time.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Carries source evidence and confirmation.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Business meaning stays with the consumer.</a:t>
            </a:r>
            <a:endParaRPr lang="en-US" sz="1250" dirty="0"/>
          </a:p>
        </p:txBody>
      </p:sp>
      <p:sp>
        <p:nvSpPr>
          <p:cNvPr id="11" name="shape 11"/>
          <p:cNvSpPr/>
          <p:nvPr/>
        </p:nvSpPr>
        <p:spPr>
          <a:xfrm>
            <a:off x="4279900" y="1816100"/>
            <a:ext cx="3632200" cy="17526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4457700" y="19685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KB: REUSABLE POLICY</a:t>
            </a:r>
            <a:endParaRPr lang="en-US" sz="1050"/>
          </a:p>
        </p:txBody>
      </p:sp>
      <p:sp>
        <p:nvSpPr>
          <p:cNvPr id="13" name="text 13"/>
          <p:cNvSpPr/>
          <p:nvPr/>
        </p:nvSpPr>
        <p:spPr>
          <a:xfrm>
            <a:off x="4457700" y="2247900"/>
            <a:ext cx="32766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Defines required structural inputs, supported conditions and defaults.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Refers to structural requirements; physical columns are supplied for each dataset.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8153400" y="1816100"/>
            <a:ext cx="3632200" cy="175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8331200" y="19685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DIAGNOSTIC: THIS EXECUTION</a:t>
            </a:r>
            <a:endParaRPr lang="en-US" sz="1050"/>
          </a:p>
        </p:txBody>
      </p:sp>
      <p:sp>
        <p:nvSpPr>
          <p:cNvPr id="16" name="text 16"/>
          <p:cNvSpPr/>
          <p:nvPr/>
        </p:nvSpPr>
        <p:spPr>
          <a:xfrm>
            <a:off x="8331200" y="2247900"/>
            <a:ext cx="32766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Interprets DSC inputs using the KB.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Resolves missing or conflicting inputs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explicitly and confirms local choices.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Freezes evidence, versions and decisions.</a:t>
            </a:r>
            <a:endParaRPr lang="en-US" sz="1250"/>
          </a:p>
        </p:txBody>
      </p:sp>
      <p:sp>
        <p:nvSpPr>
          <p:cNvPr id="17" name="shape 17"/>
          <p:cNvSpPr/>
          <p:nvPr/>
        </p:nvSpPr>
        <p:spPr>
          <a:xfrm>
            <a:off x="406400" y="37592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520700" y="38735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01</a:t>
            </a:r>
            <a:endParaRPr lang="en-US" sz="1100"/>
          </a:p>
        </p:txBody>
      </p:sp>
      <p:sp>
        <p:nvSpPr>
          <p:cNvPr id="19" name="text 19"/>
          <p:cNvSpPr/>
          <p:nvPr/>
        </p:nvSpPr>
        <p:spPr>
          <a:xfrm>
            <a:off x="825500" y="38735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Resolve DSC</a:t>
            </a:r>
            <a:endParaRPr lang="en-US" sz="1200"/>
          </a:p>
        </p:txBody>
      </p:sp>
      <p:sp>
        <p:nvSpPr>
          <p:cNvPr id="20" name="text 20"/>
          <p:cNvSpPr/>
          <p:nvPr/>
        </p:nvSpPr>
        <p:spPr>
          <a:xfrm>
            <a:off x="533400" y="41783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Confirmed structure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>
            <a:off x="2555240" y="41529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22"/>
          <p:cNvSpPr/>
          <p:nvPr/>
        </p:nvSpPr>
        <p:spPr>
          <a:xfrm>
            <a:off x="2720340" y="37592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2834640" y="38735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02</a:t>
            </a:r>
            <a:endParaRPr lang="en-US" sz="1100"/>
          </a:p>
        </p:txBody>
      </p:sp>
      <p:sp>
        <p:nvSpPr>
          <p:cNvPr id="24" name="text 24"/>
          <p:cNvSpPr/>
          <p:nvPr/>
        </p:nvSpPr>
        <p:spPr>
          <a:xfrm>
            <a:off x="3139440" y="38735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Apply KB</a:t>
            </a:r>
            <a:endParaRPr lang="en-US" sz="1200"/>
          </a:p>
        </p:txBody>
      </p:sp>
      <p:sp>
        <p:nvSpPr>
          <p:cNvPr id="25" name="text 25"/>
          <p:cNvSpPr/>
          <p:nvPr/>
        </p:nvSpPr>
        <p:spPr>
          <a:xfrm>
            <a:off x="2847340" y="41783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Rules + requirements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>
            <a:off x="4869180" y="41529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27"/>
          <p:cNvSpPr/>
          <p:nvPr/>
        </p:nvSpPr>
        <p:spPr>
          <a:xfrm>
            <a:off x="5034280" y="37592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5148580" y="38735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03</a:t>
            </a:r>
            <a:endParaRPr lang="en-US" sz="1100"/>
          </a:p>
        </p:txBody>
      </p:sp>
      <p:sp>
        <p:nvSpPr>
          <p:cNvPr id="29" name="text 29"/>
          <p:cNvSpPr/>
          <p:nvPr/>
        </p:nvSpPr>
        <p:spPr>
          <a:xfrm>
            <a:off x="5453380" y="38735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Configure</a:t>
            </a:r>
            <a:endParaRPr lang="en-US" sz="1200"/>
          </a:p>
        </p:txBody>
      </p:sp>
      <p:sp>
        <p:nvSpPr>
          <p:cNvPr id="30" name="text 30"/>
          <p:cNvSpPr/>
          <p:nvPr/>
        </p:nvSpPr>
        <p:spPr>
          <a:xfrm>
            <a:off x="5161280" y="41783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Local choices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>
            <a:off x="7183120" y="41529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32"/>
          <p:cNvSpPr/>
          <p:nvPr/>
        </p:nvSpPr>
        <p:spPr>
          <a:xfrm>
            <a:off x="7348220" y="37592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7462520" y="38735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04</a:t>
            </a:r>
            <a:endParaRPr lang="en-US" sz="1100"/>
          </a:p>
        </p:txBody>
      </p:sp>
      <p:sp>
        <p:nvSpPr>
          <p:cNvPr id="34" name="text 34"/>
          <p:cNvSpPr/>
          <p:nvPr/>
        </p:nvSpPr>
        <p:spPr>
          <a:xfrm>
            <a:off x="7767320" y="38735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Freeze</a:t>
            </a:r>
            <a:endParaRPr lang="en-US" sz="1200"/>
          </a:p>
        </p:txBody>
      </p:sp>
      <p:sp>
        <p:nvSpPr>
          <p:cNvPr id="35" name="text 35"/>
          <p:cNvSpPr/>
          <p:nvPr/>
        </p:nvSpPr>
        <p:spPr>
          <a:xfrm>
            <a:off x="7475220" y="41783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Versions + evidence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>
            <a:off x="9497060" y="41529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37"/>
          <p:cNvSpPr/>
          <p:nvPr/>
        </p:nvSpPr>
        <p:spPr>
          <a:xfrm>
            <a:off x="9662160" y="37592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9776460" y="38735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05</a:t>
            </a:r>
            <a:endParaRPr lang="en-US" sz="1100"/>
          </a:p>
        </p:txBody>
      </p:sp>
      <p:sp>
        <p:nvSpPr>
          <p:cNvPr id="39" name="text 39"/>
          <p:cNvSpPr/>
          <p:nvPr/>
        </p:nvSpPr>
        <p:spPr>
          <a:xfrm>
            <a:off x="10081260" y="38735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Execute</a:t>
            </a:r>
            <a:endParaRPr lang="en-US" sz="1200"/>
          </a:p>
        </p:txBody>
      </p:sp>
      <p:sp>
        <p:nvSpPr>
          <p:cNvPr id="40" name="text 40"/>
          <p:cNvSpPr/>
          <p:nvPr/>
        </p:nvSpPr>
        <p:spPr>
          <a:xfrm>
            <a:off x="9789160" y="41783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Reproducible result</a:t>
            </a:r>
            <a:endParaRPr lang="en-US" sz="1100"/>
          </a:p>
        </p:txBody>
      </p:sp>
      <p:sp>
        <p:nvSpPr>
          <p:cNvPr id="41" name="shape 41"/>
          <p:cNvSpPr/>
          <p:nvPr/>
        </p:nvSpPr>
        <p:spPr>
          <a:xfrm>
            <a:off x="406400" y="4737100"/>
            <a:ext cx="55626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2"/>
          <p:cNvSpPr/>
          <p:nvPr/>
        </p:nvSpPr>
        <p:spPr>
          <a:xfrm>
            <a:off x="584200" y="4889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THIS RUN ONLY</a:t>
            </a:r>
            <a:endParaRPr lang="en-US" sz="1050"/>
          </a:p>
        </p:txBody>
      </p:sp>
      <p:sp>
        <p:nvSpPr>
          <p:cNvPr id="43" name="text 43"/>
          <p:cNvSpPr/>
          <p:nvPr/>
        </p:nvSpPr>
        <p:spPr>
          <a:xfrm>
            <a:off x="584200" y="5168900"/>
            <a:ext cx="52070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Adjust supported bindings, thresholds or declarations.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Freeze changes with a reason; the active KB stays as-is.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Optionally propose reusable changes after the run.</a:t>
            </a:r>
            <a:endParaRPr lang="en-US" sz="1250"/>
          </a:p>
        </p:txBody>
      </p:sp>
      <p:sp>
        <p:nvSpPr>
          <p:cNvPr id="44" name="shape 44"/>
          <p:cNvSpPr/>
          <p:nvPr/>
        </p:nvSpPr>
        <p:spPr>
          <a:xfrm>
            <a:off x="6223000" y="4737100"/>
            <a:ext cx="5562600" cy="12446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5"/>
          <p:cNvSpPr/>
          <p:nvPr/>
        </p:nvSpPr>
        <p:spPr>
          <a:xfrm>
            <a:off x="6400800" y="4889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FUTURE RUNS: PROMOTE FOR USE</a:t>
            </a:r>
            <a:endParaRPr lang="en-US" sz="1050"/>
          </a:p>
        </p:txBody>
      </p:sp>
      <p:sp>
        <p:nvSpPr>
          <p:cNvPr id="46" name="text 46"/>
          <p:cNvSpPr/>
          <p:nvPr/>
        </p:nvSpPr>
        <p:spPr>
          <a:xfrm>
            <a:off x="6400800" y="5168900"/>
            <a:ext cx="52070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Draft → validate / test → Approved → Active.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One MVP action records both transitions; approve-only is optional.</a:t>
            </a:r>
            <a:endParaRPr lang="en-US" sz="125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Existing drafts refresh explicitly.</a:t>
            </a:r>
            <a:endParaRPr lang="en-US" sz="1250"/>
          </a:p>
        </p:txBody>
      </p:sp>
      <p:sp>
        <p:nvSpPr>
          <p:cNvPr id="47" name="shape 47"/>
          <p:cNvSpPr/>
          <p:nvPr/>
        </p:nvSpPr>
        <p:spPr>
          <a:xfrm>
            <a:off x="406400" y="6121400"/>
            <a:ext cx="11379200" cy="317500"/>
          </a:xfrm>
          <a:prstGeom prst="roundRect">
            <a:avLst/>
          </a:prstGeom>
          <a:solidFill>
            <a:srgbClr val="282A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8"/>
          <p:cNvSpPr/>
          <p:nvPr/>
        </p:nvSpPr>
        <p:spPr>
          <a:xfrm>
            <a:off x="546100" y="6184900"/>
            <a:ext cx="11099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FFFFFF"/>
                </a:solidFill>
                <a:latin typeface="Funnel Sans"/>
              </a:rPr>
              <a:t>A new active version supersedes the old one. Withdrawal has no automatic fallback. Frozen runs retain their versions.</a:t>
            </a:r>
            <a:endParaRPr lang="en-US" sz="1050"/>
          </a:p>
        </p:txBody>
      </p:sp>
      <p:cxnSp>
        <p:nvCxnSpPr>
          <p:cNvPr id="49" name="connector 49"/>
          <p:cNvCxnSpPr/>
          <p:nvPr/>
        </p:nvCxnSpPr>
        <p:spPr>
          <a:xfrm>
            <a:off x="406400" y="6515100"/>
            <a:ext cx="11379200" cy="0"/>
          </a:xfrm>
          <a:prstGeom prst="line">
            <a:avLst/>
          </a:prstGeom>
          <a:ln w="8255">
            <a:solidFill>
              <a:srgbClr val="DEDCD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50"/>
          <p:cNvSpPr/>
          <p:nvPr/>
        </p:nvSpPr>
        <p:spPr>
          <a:xfrm>
            <a:off x="406400" y="66294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9"/>
              </a:lnSpc>
              <a:spcAft>
                <a:spcPts val="0"/>
              </a:spcAft>
            </a:pPr>
            <a:r>
              <a:rPr lang="en-US" sz="850" b="0" dirty="0">
                <a:solidFill>
                  <a:srgbClr val="6D706B"/>
                </a:solidFill>
                <a:latin typeface="Funnel Sans"/>
              </a:rPr>
              <a:t>DATA WORKBENCH / Knowledge Base Library / Proposed state</a:t>
            </a:r>
            <a:endParaRPr lang="en-US" sz="850"/>
          </a:p>
        </p:txBody>
      </p:sp>
      <p:sp>
        <p:nvSpPr>
          <p:cNvPr id="51" name="text 51"/>
          <p:cNvSpPr/>
          <p:nvPr/>
        </p:nvSpPr>
        <p:spPr>
          <a:xfrm>
            <a:off x="10922000" y="6604000"/>
            <a:ext cx="863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40"/>
              </a:lnSpc>
              <a:spcAft>
                <a:spcPts val="0"/>
              </a:spcAft>
            </a:pPr>
            <a:r>
              <a:rPr lang="en-US" sz="1000" b="0" dirty="0">
                <a:solidFill>
                  <a:srgbClr val="6D706B"/>
                </a:solidFill>
                <a:latin typeface="Funnel Sans"/>
              </a:rPr>
              <a:t>03 / 06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406400" y="2540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DATA WORKBENCH / PROPOSED DESIGN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9842500" y="203200"/>
            <a:ext cx="1943100" cy="317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9956800" y="279400"/>
            <a:ext cx="1714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98641E"/>
                </a:solidFill>
                <a:latin typeface="Funnel Sans"/>
              </a:rPr>
              <a:t>MVP DESIGN</a:t>
            </a:r>
            <a:endParaRPr lang="en-US" sz="1050"/>
          </a:p>
        </p:txBody>
      </p:sp>
      <p:sp>
        <p:nvSpPr>
          <p:cNvPr id="6" name="text 6"/>
          <p:cNvSpPr/>
          <p:nvPr/>
        </p:nvSpPr>
        <p:spPr>
          <a:xfrm>
            <a:off x="406400" y="673100"/>
            <a:ext cx="113792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6"/>
              </a:lnSpc>
              <a:spcAft>
                <a:spcPts val="0"/>
              </a:spcAft>
            </a:pPr>
            <a:r>
              <a:rPr lang="en-US" sz="2900" b="1" dirty="0">
                <a:solidFill>
                  <a:srgbClr val="181C23"/>
                </a:solidFill>
                <a:latin typeface="Funnel Sans"/>
              </a:rPr>
              <a:t>T2-D06 | Row completeness</a:t>
            </a:r>
            <a:endParaRPr lang="en-US" sz="2900"/>
          </a:p>
        </p:txBody>
      </p:sp>
      <p:sp>
        <p:nvSpPr>
          <p:cNvPr id="7" name="text 7"/>
          <p:cNvSpPr/>
          <p:nvPr/>
        </p:nvSpPr>
        <p:spPr>
          <a:xfrm>
            <a:off x="419100" y="1282700"/>
            <a:ext cx="113538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6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6D706B"/>
                </a:solidFill>
                <a:latin typeface="Funnel Sans"/>
              </a:rPr>
              <a:t>Objective: assess required facility–period rows within observed spans and identify gaps, invalid keys and duplicates.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06400" y="1625600"/>
            <a:ext cx="3632200" cy="23114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584200" y="1758948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KB STRUCTURE &amp; CONTENTS</a:t>
            </a:r>
            <a:endParaRPr lang="en-US" sz="1050" dirty="0"/>
          </a:p>
        </p:txBody>
      </p:sp>
      <p:sp>
        <p:nvSpPr>
          <p:cNvPr id="10" name="text 10"/>
          <p:cNvSpPr/>
          <p:nvPr/>
        </p:nvSpPr>
        <p:spPr>
          <a:xfrm>
            <a:off x="584200" y="2012950"/>
            <a:ext cx="3276600" cy="1758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Row Completeness KB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Methodology + six governed rules: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01 Key assignability, 02 Calendar continuity, 03 Period coverage, 04 Duplicate pairs, 05 Facility coverage, 06 Segment coverage </a:t>
            </a:r>
            <a:r>
              <a:rPr lang="en-US" sz="1250" b="0" i="1" dirty="0">
                <a:solidFill>
                  <a:srgbClr val="181C23"/>
                </a:solidFill>
                <a:latin typeface="Funnel Sans"/>
              </a:rPr>
              <a:t>(Optional)</a:t>
            </a:r>
            <a:endParaRPr lang="en-US" sz="1250" i="1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Defaults, severity and next-step guidance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Supported calculations + DSC requirements</a:t>
            </a:r>
            <a:endParaRPr lang="en-US" sz="1250" dirty="0"/>
          </a:p>
        </p:txBody>
      </p:sp>
      <p:sp>
        <p:nvSpPr>
          <p:cNvPr id="11" name="shape 11"/>
          <p:cNvSpPr/>
          <p:nvPr/>
        </p:nvSpPr>
        <p:spPr>
          <a:xfrm>
            <a:off x="4279900" y="1625600"/>
            <a:ext cx="36322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4469553" y="17653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HOW THE KB IS CONSUMED</a:t>
            </a:r>
            <a:endParaRPr lang="en-US" sz="1050" dirty="0"/>
          </a:p>
        </p:txBody>
      </p:sp>
      <p:sp>
        <p:nvSpPr>
          <p:cNvPr id="13" name="text 13"/>
          <p:cNvSpPr/>
          <p:nvPr/>
        </p:nvSpPr>
        <p:spPr>
          <a:xfrm>
            <a:off x="4465320" y="2019300"/>
            <a:ext cx="345948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Setup: </a:t>
            </a:r>
          </a:p>
          <a:p>
            <a:pPr marL="800100" lvl="1" indent="-342900">
              <a:lnSpc>
                <a:spcPts val="1425"/>
              </a:lnSpc>
              <a:buAutoNum type="arabicPeriod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load the active KB, </a:t>
            </a:r>
          </a:p>
          <a:p>
            <a:pPr marL="800100" lvl="1" indent="-342900">
              <a:lnSpc>
                <a:spcPts val="1425"/>
              </a:lnSpc>
              <a:buAutoNum type="arabicPeriod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resolve structural inputs and </a:t>
            </a:r>
          </a:p>
          <a:p>
            <a:pPr marL="800100" lvl="1" indent="-342900">
              <a:lnSpc>
                <a:spcPts val="1425"/>
              </a:lnSpc>
              <a:buAutoNum type="arabicPeriod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confirm reporting grain and scope.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Execution: build expected pairs within</a:t>
            </a:r>
            <a:r>
              <a:rPr lang="en-US" sz="1250" dirty="0">
                <a:solidFill>
                  <a:srgbClr val="181C23"/>
                </a:solidFill>
                <a:latin typeface="Funnel Sans"/>
              </a:rPr>
              <a:t> </a:t>
            </a:r>
            <a:r>
              <a:rPr lang="en-US" sz="1250" b="0" dirty="0">
                <a:solidFill>
                  <a:srgbClr val="181C23"/>
                </a:solidFill>
                <a:latin typeface="Funnel Sans"/>
              </a:rPr>
              <a:t>observed spans and apply each rule.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b="0" dirty="0">
              <a:solidFill>
                <a:srgbClr val="181C23"/>
              </a:solidFill>
              <a:latin typeface="Funnel Sans"/>
            </a:endParaRP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Report: explain results using the same KB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version.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8153400" y="1625600"/>
            <a:ext cx="36195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8331200" y="1773767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DSC–KB–DIAGNOSTIC BOUNDARY</a:t>
            </a:r>
            <a:endParaRPr lang="en-US" sz="1050" dirty="0"/>
          </a:p>
        </p:txBody>
      </p:sp>
      <p:sp>
        <p:nvSpPr>
          <p:cNvPr id="16" name="text 16"/>
          <p:cNvSpPr/>
          <p:nvPr/>
        </p:nvSpPr>
        <p:spPr>
          <a:xfrm>
            <a:off x="8318500" y="2012950"/>
            <a:ext cx="34544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DSC: entity / time bindings, row grain and cadence evidence.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KB: rule policy and structural requirements.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b="0" dirty="0">
              <a:solidFill>
                <a:srgbClr val="181C23"/>
              </a:solidFill>
              <a:latin typeface="Funnel Sans"/>
            </a:endParaRP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Run: confirm facility meaning, reporting grain, optional segment and coverage floor.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Expected cadence informs review; grain remains a run decision.</a:t>
            </a:r>
            <a:endParaRPr lang="en-US" sz="1250" dirty="0"/>
          </a:p>
        </p:txBody>
      </p:sp>
      <p:sp>
        <p:nvSpPr>
          <p:cNvPr id="17" name="shape 17"/>
          <p:cNvSpPr/>
          <p:nvPr/>
        </p:nvSpPr>
        <p:spPr>
          <a:xfrm>
            <a:off x="40640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52070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01</a:t>
            </a:r>
            <a:endParaRPr lang="en-US" sz="1100"/>
          </a:p>
        </p:txBody>
      </p:sp>
      <p:sp>
        <p:nvSpPr>
          <p:cNvPr id="19" name="text 19"/>
          <p:cNvSpPr/>
          <p:nvPr/>
        </p:nvSpPr>
        <p:spPr>
          <a:xfrm>
            <a:off x="82550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Resolve</a:t>
            </a:r>
            <a:endParaRPr lang="en-US" sz="1200"/>
          </a:p>
        </p:txBody>
      </p:sp>
      <p:sp>
        <p:nvSpPr>
          <p:cNvPr id="20" name="text 20"/>
          <p:cNvSpPr/>
          <p:nvPr/>
        </p:nvSpPr>
        <p:spPr>
          <a:xfrm>
            <a:off x="53340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Entity + period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>
            <a:off x="255524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22"/>
          <p:cNvSpPr/>
          <p:nvPr/>
        </p:nvSpPr>
        <p:spPr>
          <a:xfrm>
            <a:off x="272034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283464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02</a:t>
            </a:r>
            <a:endParaRPr lang="en-US" sz="1100"/>
          </a:p>
        </p:txBody>
      </p:sp>
      <p:sp>
        <p:nvSpPr>
          <p:cNvPr id="24" name="text 24"/>
          <p:cNvSpPr/>
          <p:nvPr/>
        </p:nvSpPr>
        <p:spPr>
          <a:xfrm>
            <a:off x="313944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Confirm</a:t>
            </a:r>
            <a:endParaRPr lang="en-US" sz="1200"/>
          </a:p>
        </p:txBody>
      </p:sp>
      <p:sp>
        <p:nvSpPr>
          <p:cNvPr id="25" name="text 25"/>
          <p:cNvSpPr/>
          <p:nvPr/>
        </p:nvSpPr>
        <p:spPr>
          <a:xfrm>
            <a:off x="284734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Grain + scope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>
            <a:off x="486918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27"/>
          <p:cNvSpPr/>
          <p:nvPr/>
        </p:nvSpPr>
        <p:spPr>
          <a:xfrm>
            <a:off x="503428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514858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03</a:t>
            </a:r>
            <a:endParaRPr lang="en-US" sz="1100"/>
          </a:p>
        </p:txBody>
      </p:sp>
      <p:sp>
        <p:nvSpPr>
          <p:cNvPr id="29" name="text 29"/>
          <p:cNvSpPr/>
          <p:nvPr/>
        </p:nvSpPr>
        <p:spPr>
          <a:xfrm>
            <a:off x="545338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Freeze</a:t>
            </a:r>
            <a:endParaRPr lang="en-US" sz="1200"/>
          </a:p>
        </p:txBody>
      </p:sp>
      <p:sp>
        <p:nvSpPr>
          <p:cNvPr id="30" name="text 30"/>
          <p:cNvSpPr/>
          <p:nvPr/>
        </p:nvSpPr>
        <p:spPr>
          <a:xfrm>
            <a:off x="516128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KB + DSC + choices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>
            <a:off x="718312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32"/>
          <p:cNvSpPr/>
          <p:nvPr/>
        </p:nvSpPr>
        <p:spPr>
          <a:xfrm>
            <a:off x="734822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746252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04</a:t>
            </a:r>
            <a:endParaRPr lang="en-US" sz="1100"/>
          </a:p>
        </p:txBody>
      </p:sp>
      <p:sp>
        <p:nvSpPr>
          <p:cNvPr id="34" name="text 34"/>
          <p:cNvSpPr/>
          <p:nvPr/>
        </p:nvSpPr>
        <p:spPr>
          <a:xfrm>
            <a:off x="776732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Reconcile</a:t>
            </a:r>
            <a:endParaRPr lang="en-US" sz="1200"/>
          </a:p>
        </p:txBody>
      </p:sp>
      <p:sp>
        <p:nvSpPr>
          <p:cNvPr id="35" name="text 35"/>
          <p:cNvSpPr/>
          <p:nvPr/>
        </p:nvSpPr>
        <p:spPr>
          <a:xfrm>
            <a:off x="747522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Expected / received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>
            <a:off x="949706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37"/>
          <p:cNvSpPr/>
          <p:nvPr/>
        </p:nvSpPr>
        <p:spPr>
          <a:xfrm>
            <a:off x="966216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977646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05</a:t>
            </a:r>
            <a:endParaRPr lang="en-US" sz="1100"/>
          </a:p>
        </p:txBody>
      </p:sp>
      <p:sp>
        <p:nvSpPr>
          <p:cNvPr id="39" name="text 39"/>
          <p:cNvSpPr/>
          <p:nvPr/>
        </p:nvSpPr>
        <p:spPr>
          <a:xfrm>
            <a:off x="1008126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Review</a:t>
            </a:r>
            <a:endParaRPr lang="en-US" sz="1200"/>
          </a:p>
        </p:txBody>
      </p:sp>
      <p:sp>
        <p:nvSpPr>
          <p:cNvPr id="40" name="text 40"/>
          <p:cNvSpPr/>
          <p:nvPr/>
        </p:nvSpPr>
        <p:spPr>
          <a:xfrm>
            <a:off x="978916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Rules + findings</a:t>
            </a:r>
            <a:endParaRPr lang="en-US" sz="1100"/>
          </a:p>
        </p:txBody>
      </p:sp>
      <p:sp>
        <p:nvSpPr>
          <p:cNvPr id="41" name="shape 41"/>
          <p:cNvSpPr/>
          <p:nvPr/>
        </p:nvSpPr>
        <p:spPr>
          <a:xfrm>
            <a:off x="406400" y="4991100"/>
            <a:ext cx="55626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2"/>
          <p:cNvSpPr/>
          <p:nvPr/>
        </p:nvSpPr>
        <p:spPr>
          <a:xfrm>
            <a:off x="584200" y="5143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OUTCOMES FOR A FILE</a:t>
            </a:r>
            <a:endParaRPr lang="en-US" sz="1050"/>
          </a:p>
        </p:txBody>
      </p:sp>
      <p:sp>
        <p:nvSpPr>
          <p:cNvPr id="43" name="text 43"/>
          <p:cNvSpPr/>
          <p:nvPr/>
        </p:nvSpPr>
        <p:spPr>
          <a:xfrm>
            <a:off x="584200" y="5422900"/>
            <a:ext cx="5207000" cy="520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Six rule results; coverage and masked evidence.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Findings → user disposition → issue / RCA.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Report links the exact KB and DSC versions.</a:t>
            </a:r>
            <a:endParaRPr lang="en-US" sz="1200"/>
          </a:p>
        </p:txBody>
      </p:sp>
      <p:sp>
        <p:nvSpPr>
          <p:cNvPr id="44" name="shape 44"/>
          <p:cNvSpPr/>
          <p:nvPr/>
        </p:nvSpPr>
        <p:spPr>
          <a:xfrm>
            <a:off x="6223000" y="4991100"/>
            <a:ext cx="5562600" cy="10668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5"/>
          <p:cNvSpPr/>
          <p:nvPr/>
        </p:nvSpPr>
        <p:spPr>
          <a:xfrm>
            <a:off x="6400800" y="5143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ILLUSTRATIVE EXAMPLE</a:t>
            </a:r>
            <a:endParaRPr lang="en-US" sz="1050"/>
          </a:p>
        </p:txBody>
      </p:sp>
      <p:sp>
        <p:nvSpPr>
          <p:cNvPr id="46" name="text 46"/>
          <p:cNvSpPr/>
          <p:nvPr/>
        </p:nvSpPr>
        <p:spPr>
          <a:xfrm>
            <a:off x="6400800" y="5422900"/>
            <a:ext cx="5207000" cy="520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Facility A: Jan and Mar present; Feb missing.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Monthly scope → 2 of 3 required pairs = 66.7%.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Below a 95% floor → facility-coverage violation.</a:t>
            </a:r>
            <a:endParaRPr lang="en-US" sz="1200"/>
          </a:p>
        </p:txBody>
      </p:sp>
      <p:sp>
        <p:nvSpPr>
          <p:cNvPr id="47" name="shape 47"/>
          <p:cNvSpPr/>
          <p:nvPr/>
        </p:nvSpPr>
        <p:spPr>
          <a:xfrm>
            <a:off x="406400" y="6121400"/>
            <a:ext cx="11379200" cy="317500"/>
          </a:xfrm>
          <a:prstGeom prst="roundRect">
            <a:avLst/>
          </a:prstGeom>
          <a:solidFill>
            <a:srgbClr val="282A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8"/>
          <p:cNvSpPr/>
          <p:nvPr/>
        </p:nvSpPr>
        <p:spPr>
          <a:xfrm>
            <a:off x="546100" y="6184900"/>
            <a:ext cx="11099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FFFFFF"/>
                </a:solidFill>
                <a:latin typeface="Funnel Sans"/>
              </a:rPr>
              <a:t>Scope: observed spans cannot detect wholly absent facilities or missing rows beyond observed endpoints.</a:t>
            </a:r>
            <a:endParaRPr lang="en-US" sz="1050"/>
          </a:p>
        </p:txBody>
      </p:sp>
      <p:cxnSp>
        <p:nvCxnSpPr>
          <p:cNvPr id="49" name="connector 49"/>
          <p:cNvCxnSpPr/>
          <p:nvPr/>
        </p:nvCxnSpPr>
        <p:spPr>
          <a:xfrm>
            <a:off x="406400" y="6515100"/>
            <a:ext cx="11379200" cy="0"/>
          </a:xfrm>
          <a:prstGeom prst="line">
            <a:avLst/>
          </a:prstGeom>
          <a:ln w="8255">
            <a:solidFill>
              <a:srgbClr val="DEDCD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50"/>
          <p:cNvSpPr/>
          <p:nvPr/>
        </p:nvSpPr>
        <p:spPr>
          <a:xfrm>
            <a:off x="406400" y="66294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9"/>
              </a:lnSpc>
              <a:spcAft>
                <a:spcPts val="0"/>
              </a:spcAft>
            </a:pPr>
            <a:r>
              <a:rPr lang="en-US" sz="850" b="0" dirty="0">
                <a:solidFill>
                  <a:srgbClr val="6D706B"/>
                </a:solidFill>
                <a:latin typeface="Funnel Sans"/>
              </a:rPr>
              <a:t>DATA WORKBENCH / Knowledge Base Library / Proposed state</a:t>
            </a:r>
            <a:endParaRPr lang="en-US" sz="850"/>
          </a:p>
        </p:txBody>
      </p:sp>
      <p:sp>
        <p:nvSpPr>
          <p:cNvPr id="51" name="text 51"/>
          <p:cNvSpPr/>
          <p:nvPr/>
        </p:nvSpPr>
        <p:spPr>
          <a:xfrm>
            <a:off x="10922000" y="6604000"/>
            <a:ext cx="863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40"/>
              </a:lnSpc>
              <a:spcAft>
                <a:spcPts val="0"/>
              </a:spcAft>
            </a:pPr>
            <a:r>
              <a:rPr lang="en-US" sz="1000" b="0" dirty="0">
                <a:solidFill>
                  <a:srgbClr val="6D706B"/>
                </a:solidFill>
                <a:latin typeface="Funnel Sans"/>
              </a:rPr>
              <a:t>04 / 06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406400" y="2540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DATA WORKBENCH / PROPOSED DESIGN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9842500" y="203200"/>
            <a:ext cx="1943100" cy="317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9956800" y="279400"/>
            <a:ext cx="1714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98641E"/>
                </a:solidFill>
                <a:latin typeface="Funnel Sans"/>
              </a:rPr>
              <a:t>MVP DESIGN</a:t>
            </a:r>
            <a:endParaRPr lang="en-US" sz="1050"/>
          </a:p>
        </p:txBody>
      </p:sp>
      <p:sp>
        <p:nvSpPr>
          <p:cNvPr id="6" name="text 6"/>
          <p:cNvSpPr/>
          <p:nvPr/>
        </p:nvSpPr>
        <p:spPr>
          <a:xfrm>
            <a:off x="406400" y="673100"/>
            <a:ext cx="113792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6"/>
              </a:lnSpc>
              <a:spcAft>
                <a:spcPts val="0"/>
              </a:spcAft>
            </a:pPr>
            <a:r>
              <a:rPr lang="en-US" sz="2900" b="1" dirty="0">
                <a:solidFill>
                  <a:srgbClr val="181C23"/>
                </a:solidFill>
                <a:latin typeface="Funnel Sans"/>
              </a:rPr>
              <a:t>T2-D11 | Directional monotonic consistency</a:t>
            </a:r>
            <a:endParaRPr lang="en-US" sz="2900"/>
          </a:p>
        </p:txBody>
      </p:sp>
      <p:sp>
        <p:nvSpPr>
          <p:cNvPr id="7" name="text 7"/>
          <p:cNvSpPr/>
          <p:nvPr/>
        </p:nvSpPr>
        <p:spPr>
          <a:xfrm>
            <a:off x="419100" y="1282700"/>
            <a:ext cx="113538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6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6D706B"/>
                </a:solidFill>
                <a:latin typeface="Funnel Sans"/>
              </a:rPr>
              <a:t>Objective: compare a feature’s expected relationship to risk with observed behavior against a confirmed reference.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06400" y="1625600"/>
            <a:ext cx="3632200" cy="23114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584200" y="174625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KB STRUCTURE &amp; CONTENTS</a:t>
            </a:r>
            <a:endParaRPr lang="en-US" sz="1050" dirty="0"/>
          </a:p>
        </p:txBody>
      </p:sp>
      <p:sp>
        <p:nvSpPr>
          <p:cNvPr id="10" name="text 10"/>
          <p:cNvSpPr/>
          <p:nvPr/>
        </p:nvSpPr>
        <p:spPr>
          <a:xfrm>
            <a:off x="584200" y="2012950"/>
            <a:ext cx="34544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Expected Risk Direction KB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Canonical concepts and definitions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Same / inverse representations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Expected direction + economic rationale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Knowledge strength and application notes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Shared Credit Risk Terminology KB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Versioned dependencies and source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evidence</a:t>
            </a:r>
            <a:endParaRPr lang="en-US" sz="1250" dirty="0"/>
          </a:p>
        </p:txBody>
      </p:sp>
      <p:sp>
        <p:nvSpPr>
          <p:cNvPr id="11" name="shape 11"/>
          <p:cNvSpPr/>
          <p:nvPr/>
        </p:nvSpPr>
        <p:spPr>
          <a:xfrm>
            <a:off x="4279900" y="1625600"/>
            <a:ext cx="36322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4453467" y="17653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HOW THE KB IS CONSUMED</a:t>
            </a:r>
            <a:endParaRPr lang="en-US" sz="1050" dirty="0"/>
          </a:p>
        </p:txBody>
      </p:sp>
      <p:sp>
        <p:nvSpPr>
          <p:cNvPr id="13" name="text 13"/>
          <p:cNvSpPr/>
          <p:nvPr/>
        </p:nvSpPr>
        <p:spPr>
          <a:xfrm>
            <a:off x="4457700" y="2012950"/>
            <a:ext cx="3445934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Setup: </a:t>
            </a:r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1. Terminology resolves names; </a:t>
            </a:r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2. KB proposes economic concepts and expectations. </a:t>
            </a:r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3. Confirm the mapping and reference orientation.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Execution: compare expected and observed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direction. 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Evidence does not rewrite the expectation.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8153400" y="1625600"/>
            <a:ext cx="36322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8326967" y="17653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DSC–KB–DIAGNOSTIC BOUNDARY</a:t>
            </a:r>
            <a:endParaRPr lang="en-US" sz="1050" dirty="0"/>
          </a:p>
        </p:txBody>
      </p:sp>
      <p:sp>
        <p:nvSpPr>
          <p:cNvPr id="16" name="text 16"/>
          <p:cNvSpPr/>
          <p:nvPr/>
        </p:nvSpPr>
        <p:spPr>
          <a:xfrm>
            <a:off x="8331200" y="2012950"/>
            <a:ext cx="34544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DSC: schema, entity / time context and row-grain evidence where relevant.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KB: economic meaning and expected risk direction.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Run: target / reference, risk orientation,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selected features and segment.</a:t>
            </a:r>
          </a:p>
        </p:txBody>
      </p:sp>
      <p:sp>
        <p:nvSpPr>
          <p:cNvPr id="17" name="shape 17"/>
          <p:cNvSpPr/>
          <p:nvPr/>
        </p:nvSpPr>
        <p:spPr>
          <a:xfrm>
            <a:off x="40640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52070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01</a:t>
            </a:r>
            <a:endParaRPr lang="en-US" sz="1100"/>
          </a:p>
        </p:txBody>
      </p:sp>
      <p:sp>
        <p:nvSpPr>
          <p:cNvPr id="19" name="text 19"/>
          <p:cNvSpPr/>
          <p:nvPr/>
        </p:nvSpPr>
        <p:spPr>
          <a:xfrm>
            <a:off x="82550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Select</a:t>
            </a:r>
            <a:endParaRPr lang="en-US" sz="1200"/>
          </a:p>
        </p:txBody>
      </p:sp>
      <p:sp>
        <p:nvSpPr>
          <p:cNvPr id="20" name="text 20"/>
          <p:cNvSpPr/>
          <p:nvPr/>
        </p:nvSpPr>
        <p:spPr>
          <a:xfrm>
            <a:off x="53340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Feature + reference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>
            <a:off x="255524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22"/>
          <p:cNvSpPr/>
          <p:nvPr/>
        </p:nvSpPr>
        <p:spPr>
          <a:xfrm>
            <a:off x="272034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283464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02</a:t>
            </a:r>
            <a:endParaRPr lang="en-US" sz="1100"/>
          </a:p>
        </p:txBody>
      </p:sp>
      <p:sp>
        <p:nvSpPr>
          <p:cNvPr id="24" name="text 24"/>
          <p:cNvSpPr/>
          <p:nvPr/>
        </p:nvSpPr>
        <p:spPr>
          <a:xfrm>
            <a:off x="313944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Map</a:t>
            </a:r>
            <a:endParaRPr lang="en-US" sz="1200"/>
          </a:p>
        </p:txBody>
      </p:sp>
      <p:sp>
        <p:nvSpPr>
          <p:cNvPr id="25" name="text 25"/>
          <p:cNvSpPr/>
          <p:nvPr/>
        </p:nvSpPr>
        <p:spPr>
          <a:xfrm>
            <a:off x="284734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Concept + orientation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>
            <a:off x="486918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27"/>
          <p:cNvSpPr/>
          <p:nvPr/>
        </p:nvSpPr>
        <p:spPr>
          <a:xfrm>
            <a:off x="503428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514858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03</a:t>
            </a:r>
            <a:endParaRPr lang="en-US" sz="1100"/>
          </a:p>
        </p:txBody>
      </p:sp>
      <p:sp>
        <p:nvSpPr>
          <p:cNvPr id="29" name="text 29"/>
          <p:cNvSpPr/>
          <p:nvPr/>
        </p:nvSpPr>
        <p:spPr>
          <a:xfrm>
            <a:off x="545338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Confirm</a:t>
            </a:r>
            <a:endParaRPr lang="en-US" sz="1200"/>
          </a:p>
        </p:txBody>
      </p:sp>
      <p:sp>
        <p:nvSpPr>
          <p:cNvPr id="30" name="text 30"/>
          <p:cNvSpPr/>
          <p:nvPr/>
        </p:nvSpPr>
        <p:spPr>
          <a:xfrm>
            <a:off x="516128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Expected direction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>
            <a:off x="718312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32"/>
          <p:cNvSpPr/>
          <p:nvPr/>
        </p:nvSpPr>
        <p:spPr>
          <a:xfrm>
            <a:off x="734822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746252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04</a:t>
            </a:r>
            <a:endParaRPr lang="en-US" sz="1100"/>
          </a:p>
        </p:txBody>
      </p:sp>
      <p:sp>
        <p:nvSpPr>
          <p:cNvPr id="34" name="text 34"/>
          <p:cNvSpPr/>
          <p:nvPr/>
        </p:nvSpPr>
        <p:spPr>
          <a:xfrm>
            <a:off x="776732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Compare</a:t>
            </a:r>
            <a:endParaRPr lang="en-US" sz="1200"/>
          </a:p>
        </p:txBody>
      </p:sp>
      <p:sp>
        <p:nvSpPr>
          <p:cNvPr id="35" name="text 35"/>
          <p:cNvSpPr/>
          <p:nvPr/>
        </p:nvSpPr>
        <p:spPr>
          <a:xfrm>
            <a:off x="747522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Empirical evidence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>
            <a:off x="949706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37"/>
          <p:cNvSpPr/>
          <p:nvPr/>
        </p:nvSpPr>
        <p:spPr>
          <a:xfrm>
            <a:off x="966216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977646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05</a:t>
            </a:r>
            <a:endParaRPr lang="en-US" sz="1100"/>
          </a:p>
        </p:txBody>
      </p:sp>
      <p:sp>
        <p:nvSpPr>
          <p:cNvPr id="39" name="text 39"/>
          <p:cNvSpPr/>
          <p:nvPr/>
        </p:nvSpPr>
        <p:spPr>
          <a:xfrm>
            <a:off x="1008126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Review</a:t>
            </a:r>
            <a:endParaRPr lang="en-US" sz="1200"/>
          </a:p>
        </p:txBody>
      </p:sp>
      <p:sp>
        <p:nvSpPr>
          <p:cNvPr id="40" name="text 40"/>
          <p:cNvSpPr/>
          <p:nvPr/>
        </p:nvSpPr>
        <p:spPr>
          <a:xfrm>
            <a:off x="978916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Finding / KB proposal</a:t>
            </a:r>
            <a:endParaRPr lang="en-US" sz="1100"/>
          </a:p>
        </p:txBody>
      </p:sp>
      <p:sp>
        <p:nvSpPr>
          <p:cNvPr id="41" name="shape 41"/>
          <p:cNvSpPr/>
          <p:nvPr/>
        </p:nvSpPr>
        <p:spPr>
          <a:xfrm>
            <a:off x="406400" y="4991100"/>
            <a:ext cx="55626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2"/>
          <p:cNvSpPr/>
          <p:nvPr/>
        </p:nvSpPr>
        <p:spPr>
          <a:xfrm>
            <a:off x="584200" y="5143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OUTCOMES FOR A FILE</a:t>
            </a:r>
            <a:endParaRPr lang="en-US" sz="1050"/>
          </a:p>
        </p:txBody>
      </p:sp>
      <p:sp>
        <p:nvSpPr>
          <p:cNvPr id="43" name="text 43"/>
          <p:cNvSpPr/>
          <p:nvPr/>
        </p:nvSpPr>
        <p:spPr>
          <a:xfrm>
            <a:off x="584200" y="5422900"/>
            <a:ext cx="5207000" cy="520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Observed direction, evidence strength and charts;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overall / segment findings with user disposition.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KB change proposals require later promotion.</a:t>
            </a:r>
            <a:endParaRPr lang="en-US" sz="1200"/>
          </a:p>
        </p:txBody>
      </p:sp>
      <p:sp>
        <p:nvSpPr>
          <p:cNvPr id="44" name="shape 44"/>
          <p:cNvSpPr/>
          <p:nvPr/>
        </p:nvSpPr>
        <p:spPr>
          <a:xfrm>
            <a:off x="6223000" y="4991100"/>
            <a:ext cx="5562600" cy="10668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5"/>
          <p:cNvSpPr/>
          <p:nvPr/>
        </p:nvSpPr>
        <p:spPr>
          <a:xfrm>
            <a:off x="6400800" y="5143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ILLUSTRATIVE EXAMPLE</a:t>
            </a:r>
            <a:endParaRPr lang="en-US" sz="1050"/>
          </a:p>
        </p:txBody>
      </p:sp>
      <p:sp>
        <p:nvSpPr>
          <p:cNvPr id="46" name="text 46"/>
          <p:cNvSpPr/>
          <p:nvPr/>
        </p:nvSpPr>
        <p:spPr>
          <a:xfrm>
            <a:off x="6400800" y="5422900"/>
            <a:ext cx="5207000" cy="520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Debt burden: KB expects higher risk as it rises.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Observed decreasing risk → review the conflict.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Check reference orientation, scope and data first.</a:t>
            </a:r>
            <a:endParaRPr lang="en-US" sz="1200"/>
          </a:p>
        </p:txBody>
      </p:sp>
      <p:sp>
        <p:nvSpPr>
          <p:cNvPr id="47" name="shape 47"/>
          <p:cNvSpPr/>
          <p:nvPr/>
        </p:nvSpPr>
        <p:spPr>
          <a:xfrm>
            <a:off x="406400" y="6121400"/>
            <a:ext cx="11379200" cy="317500"/>
          </a:xfrm>
          <a:prstGeom prst="roundRect">
            <a:avLst/>
          </a:prstGeom>
          <a:solidFill>
            <a:srgbClr val="282A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8"/>
          <p:cNvSpPr/>
          <p:nvPr/>
        </p:nvSpPr>
        <p:spPr>
          <a:xfrm>
            <a:off x="546100" y="6184900"/>
            <a:ext cx="11099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FFFFFF"/>
                </a:solidFill>
                <a:latin typeface="Funnel Sans"/>
              </a:rPr>
              <a:t>A local expected-direction change affects one run. Reusable changes enter a KB draft before future adoption.</a:t>
            </a:r>
            <a:endParaRPr lang="en-US" sz="1050"/>
          </a:p>
        </p:txBody>
      </p:sp>
      <p:cxnSp>
        <p:nvCxnSpPr>
          <p:cNvPr id="49" name="connector 49"/>
          <p:cNvCxnSpPr/>
          <p:nvPr/>
        </p:nvCxnSpPr>
        <p:spPr>
          <a:xfrm>
            <a:off x="406400" y="6515100"/>
            <a:ext cx="11379200" cy="0"/>
          </a:xfrm>
          <a:prstGeom prst="line">
            <a:avLst/>
          </a:prstGeom>
          <a:ln w="8255">
            <a:solidFill>
              <a:srgbClr val="DEDCD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50"/>
          <p:cNvSpPr/>
          <p:nvPr/>
        </p:nvSpPr>
        <p:spPr>
          <a:xfrm>
            <a:off x="406400" y="66294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9"/>
              </a:lnSpc>
              <a:spcAft>
                <a:spcPts val="0"/>
              </a:spcAft>
            </a:pPr>
            <a:r>
              <a:rPr lang="en-US" sz="850" b="0" dirty="0">
                <a:solidFill>
                  <a:srgbClr val="6D706B"/>
                </a:solidFill>
                <a:latin typeface="Funnel Sans"/>
              </a:rPr>
              <a:t>DATA WORKBENCH / Knowledge Base Library / Proposed state</a:t>
            </a:r>
            <a:endParaRPr lang="en-US" sz="850"/>
          </a:p>
        </p:txBody>
      </p:sp>
      <p:sp>
        <p:nvSpPr>
          <p:cNvPr id="51" name="text 51"/>
          <p:cNvSpPr/>
          <p:nvPr/>
        </p:nvSpPr>
        <p:spPr>
          <a:xfrm>
            <a:off x="10922000" y="6604000"/>
            <a:ext cx="863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40"/>
              </a:lnSpc>
              <a:spcAft>
                <a:spcPts val="0"/>
              </a:spcAft>
            </a:pPr>
            <a:r>
              <a:rPr lang="en-US" sz="1000" b="0" dirty="0">
                <a:solidFill>
                  <a:srgbClr val="6D706B"/>
                </a:solidFill>
                <a:latin typeface="Funnel Sans"/>
              </a:rPr>
              <a:t>05 / 06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406400" y="2540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DATA WORKBENCH / PROPOSED DESIGN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9842500" y="203200"/>
            <a:ext cx="1943100" cy="3175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9956800" y="279400"/>
            <a:ext cx="1714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0000"/>
                </a:solidFill>
                <a:latin typeface="Funnel Sans"/>
              </a:rPr>
              <a:t>DESIGN REVIEW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text 6"/>
          <p:cNvSpPr/>
          <p:nvPr/>
        </p:nvSpPr>
        <p:spPr>
          <a:xfrm>
            <a:off x="406400" y="673100"/>
            <a:ext cx="113792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6"/>
              </a:lnSpc>
              <a:spcAft>
                <a:spcPts val="0"/>
              </a:spcAft>
            </a:pPr>
            <a:r>
              <a:rPr lang="en-US" sz="2900" b="1" dirty="0">
                <a:solidFill>
                  <a:srgbClr val="181C23"/>
                </a:solidFill>
                <a:latin typeface="Funnel Sans"/>
              </a:rPr>
              <a:t>T2-D08 | Value semantics</a:t>
            </a:r>
            <a:endParaRPr lang="en-US" sz="2900"/>
          </a:p>
        </p:txBody>
      </p:sp>
      <p:sp>
        <p:nvSpPr>
          <p:cNvPr id="7" name="text 7"/>
          <p:cNvSpPr/>
          <p:nvPr/>
        </p:nvSpPr>
        <p:spPr>
          <a:xfrm>
            <a:off x="419100" y="1282700"/>
            <a:ext cx="113538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6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6D706B"/>
                </a:solidFill>
                <a:latin typeface="Funnel Sans"/>
              </a:rPr>
              <a:t>Objective: explain values that are not final, unexpectedly frozen or inapplicable before interpreting data-quality signals.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06400" y="1625600"/>
            <a:ext cx="3632200" cy="23114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584200" y="17907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KB STRUCTURE &amp; CONTENTS</a:t>
            </a:r>
            <a:endParaRPr lang="en-US" sz="1050" dirty="0"/>
          </a:p>
        </p:txBody>
      </p:sp>
      <p:sp>
        <p:nvSpPr>
          <p:cNvPr id="10" name="text 10"/>
          <p:cNvSpPr/>
          <p:nvPr/>
        </p:nvSpPr>
        <p:spPr>
          <a:xfrm>
            <a:off x="584200" y="2019300"/>
            <a:ext cx="34544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Value Semantics KB: </a:t>
            </a:r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initial framing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Semantic roles, </a:t>
            </a:r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definitions and cardinality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Classification entries and prerequisites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Typed business declarations</a:t>
            </a:r>
            <a:endParaRPr lang="en-US" sz="1250" dirty="0"/>
          </a:p>
          <a:p>
            <a:pPr lvl="1">
              <a:lnSpc>
                <a:spcPts val="1425"/>
              </a:lnSpc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Precedence, safeguards and exclusions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Supported calculations + DSC requirements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Shared terminology dependency</a:t>
            </a:r>
            <a:endParaRPr lang="en-US" sz="1250" dirty="0"/>
          </a:p>
        </p:txBody>
      </p:sp>
      <p:sp>
        <p:nvSpPr>
          <p:cNvPr id="11" name="shape 11"/>
          <p:cNvSpPr/>
          <p:nvPr/>
        </p:nvSpPr>
        <p:spPr>
          <a:xfrm>
            <a:off x="4279900" y="1625600"/>
            <a:ext cx="36322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4457700" y="17907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HOW THE KB IS CONSUMED</a:t>
            </a:r>
            <a:endParaRPr lang="en-US" sz="1050" dirty="0"/>
          </a:p>
        </p:txBody>
      </p:sp>
      <p:sp>
        <p:nvSpPr>
          <p:cNvPr id="13" name="text 13"/>
          <p:cNvSpPr/>
          <p:nvPr/>
        </p:nvSpPr>
        <p:spPr>
          <a:xfrm>
            <a:off x="4457700" y="2019300"/>
            <a:ext cx="32766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Setup: </a:t>
            </a:r>
          </a:p>
          <a:p>
            <a:pPr marL="800100" lvl="1" indent="-342900">
              <a:lnSpc>
                <a:spcPts val="1425"/>
              </a:lnSpc>
              <a:buAutoNum type="arabicPeriod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match fields to semantic roles;</a:t>
            </a:r>
            <a:endParaRPr lang="en-US" sz="1250" dirty="0"/>
          </a:p>
          <a:p>
            <a:pPr marL="800100" lvl="1" indent="-342900">
              <a:lnSpc>
                <a:spcPts val="1425"/>
              </a:lnSpc>
              <a:buAutoNum type="arabicPeriod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confirm bindings and </a:t>
            </a:r>
          </a:p>
          <a:p>
            <a:pPr marL="800100" lvl="1" indent="-342900">
              <a:lnSpc>
                <a:spcPts val="1425"/>
              </a:lnSpc>
              <a:buAutoNum type="arabicPeriod"/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supply known declarations.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b="0" dirty="0">
              <a:solidFill>
                <a:srgbClr val="181C23"/>
              </a:solidFill>
              <a:latin typeface="Funnel Sans"/>
            </a:endParaRPr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Execution: route applicable entries and resolve cell classifications.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Report: show tags, coverage and evidence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for analytical treatment.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8153400" y="1625600"/>
            <a:ext cx="36322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8331200" y="17907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DSC–KB–DIAGNOSTIC BOUNDARY</a:t>
            </a:r>
            <a:endParaRPr lang="en-US" sz="1050"/>
          </a:p>
        </p:txBody>
      </p:sp>
      <p:sp>
        <p:nvSpPr>
          <p:cNvPr id="16" name="text 16"/>
          <p:cNvSpPr/>
          <p:nvPr/>
        </p:nvSpPr>
        <p:spPr>
          <a:xfrm>
            <a:off x="8331200" y="2019300"/>
            <a:ext cx="32766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DSC: schema, entity / time structure and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observed cadence where supported.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KB: business roles, rule conditions and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precedence.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Run: sentinel definitions, observation</a:t>
            </a: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windows, process states and applicability.</a:t>
            </a:r>
          </a:p>
          <a:p>
            <a:pPr algn="l">
              <a:lnSpc>
                <a:spcPts val="1425"/>
              </a:lnSpc>
              <a:spcAft>
                <a:spcPts val="0"/>
              </a:spcAft>
            </a:pPr>
            <a:endParaRPr lang="en-US" sz="1250" dirty="0"/>
          </a:p>
          <a:p>
            <a:pPr algn="l">
              <a:lnSpc>
                <a:spcPts val="1425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181C23"/>
                </a:solidFill>
                <a:latin typeface="Funnel Sans"/>
              </a:rPr>
              <a:t>Structural evidence alone does not establish value meaning.</a:t>
            </a:r>
            <a:endParaRPr lang="en-US" sz="1250" dirty="0"/>
          </a:p>
        </p:txBody>
      </p:sp>
      <p:sp>
        <p:nvSpPr>
          <p:cNvPr id="17" name="shape 17"/>
          <p:cNvSpPr/>
          <p:nvPr/>
        </p:nvSpPr>
        <p:spPr>
          <a:xfrm>
            <a:off x="40640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52070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01</a:t>
            </a:r>
            <a:endParaRPr lang="en-US" sz="1100"/>
          </a:p>
        </p:txBody>
      </p:sp>
      <p:sp>
        <p:nvSpPr>
          <p:cNvPr id="19" name="text 19"/>
          <p:cNvSpPr/>
          <p:nvPr/>
        </p:nvSpPr>
        <p:spPr>
          <a:xfrm>
            <a:off x="82550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Understand</a:t>
            </a:r>
            <a:endParaRPr lang="en-US" sz="1200"/>
          </a:p>
        </p:txBody>
      </p:sp>
      <p:sp>
        <p:nvSpPr>
          <p:cNvPr id="20" name="text 20"/>
          <p:cNvSpPr/>
          <p:nvPr/>
        </p:nvSpPr>
        <p:spPr>
          <a:xfrm>
            <a:off x="53340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Purpose + scope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>
            <a:off x="255524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22"/>
          <p:cNvSpPr/>
          <p:nvPr/>
        </p:nvSpPr>
        <p:spPr>
          <a:xfrm>
            <a:off x="272034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283464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02</a:t>
            </a:r>
            <a:endParaRPr lang="en-US" sz="1100"/>
          </a:p>
        </p:txBody>
      </p:sp>
      <p:sp>
        <p:nvSpPr>
          <p:cNvPr id="24" name="text 24"/>
          <p:cNvSpPr/>
          <p:nvPr/>
        </p:nvSpPr>
        <p:spPr>
          <a:xfrm>
            <a:off x="313944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Bind</a:t>
            </a:r>
            <a:endParaRPr lang="en-US" sz="1200"/>
          </a:p>
        </p:txBody>
      </p:sp>
      <p:sp>
        <p:nvSpPr>
          <p:cNvPr id="25" name="text 25"/>
          <p:cNvSpPr/>
          <p:nvPr/>
        </p:nvSpPr>
        <p:spPr>
          <a:xfrm>
            <a:off x="284734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Confirm field roles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>
            <a:off x="486918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27"/>
          <p:cNvSpPr/>
          <p:nvPr/>
        </p:nvSpPr>
        <p:spPr>
          <a:xfrm>
            <a:off x="503428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514858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03</a:t>
            </a:r>
            <a:endParaRPr lang="en-US" sz="1100"/>
          </a:p>
        </p:txBody>
      </p:sp>
      <p:sp>
        <p:nvSpPr>
          <p:cNvPr id="29" name="text 29"/>
          <p:cNvSpPr/>
          <p:nvPr/>
        </p:nvSpPr>
        <p:spPr>
          <a:xfrm>
            <a:off x="545338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Declare</a:t>
            </a:r>
            <a:endParaRPr lang="en-US" sz="1200"/>
          </a:p>
        </p:txBody>
      </p:sp>
      <p:sp>
        <p:nvSpPr>
          <p:cNvPr id="30" name="text 30"/>
          <p:cNvSpPr/>
          <p:nvPr/>
        </p:nvSpPr>
        <p:spPr>
          <a:xfrm>
            <a:off x="516128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Known business facts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>
            <a:off x="718312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32"/>
          <p:cNvSpPr/>
          <p:nvPr/>
        </p:nvSpPr>
        <p:spPr>
          <a:xfrm>
            <a:off x="734822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746252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04</a:t>
            </a:r>
            <a:endParaRPr lang="en-US" sz="1100"/>
          </a:p>
        </p:txBody>
      </p:sp>
      <p:sp>
        <p:nvSpPr>
          <p:cNvPr id="34" name="text 34"/>
          <p:cNvSpPr/>
          <p:nvPr/>
        </p:nvSpPr>
        <p:spPr>
          <a:xfrm>
            <a:off x="776732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Classify</a:t>
            </a:r>
            <a:endParaRPr lang="en-US" sz="1200"/>
          </a:p>
        </p:txBody>
      </p:sp>
      <p:sp>
        <p:nvSpPr>
          <p:cNvPr id="35" name="text 35"/>
          <p:cNvSpPr/>
          <p:nvPr/>
        </p:nvSpPr>
        <p:spPr>
          <a:xfrm>
            <a:off x="747522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Freeze + evaluate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>
            <a:off x="9497060" y="4495800"/>
            <a:ext cx="139700" cy="0"/>
          </a:xfrm>
          <a:prstGeom prst="line">
            <a:avLst/>
          </a:prstGeom>
          <a:ln w="16510">
            <a:solidFill>
              <a:srgbClr val="FF4F59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37"/>
          <p:cNvSpPr/>
          <p:nvPr/>
        </p:nvSpPr>
        <p:spPr>
          <a:xfrm>
            <a:off x="9662160" y="4102100"/>
            <a:ext cx="2123440" cy="787400"/>
          </a:xfrm>
          <a:prstGeom prst="roundRect">
            <a:avLst/>
          </a:prstGeom>
          <a:solidFill>
            <a:srgbClr val="FFF2D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9776460" y="4216400"/>
            <a:ext cx="2921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F4F59"/>
                </a:solidFill>
                <a:latin typeface="Funnel Sans"/>
              </a:rPr>
              <a:t>05</a:t>
            </a:r>
            <a:endParaRPr lang="en-US" sz="1100"/>
          </a:p>
        </p:txBody>
      </p:sp>
      <p:sp>
        <p:nvSpPr>
          <p:cNvPr id="39" name="text 39"/>
          <p:cNvSpPr/>
          <p:nvPr/>
        </p:nvSpPr>
        <p:spPr>
          <a:xfrm>
            <a:off x="10081260" y="4216400"/>
            <a:ext cx="159004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81C23"/>
                </a:solidFill>
                <a:latin typeface="Funnel Sans"/>
              </a:rPr>
              <a:t>Review</a:t>
            </a:r>
            <a:endParaRPr lang="en-US" sz="1200"/>
          </a:p>
        </p:txBody>
      </p:sp>
      <p:sp>
        <p:nvSpPr>
          <p:cNvPr id="40" name="text 40"/>
          <p:cNvSpPr/>
          <p:nvPr/>
        </p:nvSpPr>
        <p:spPr>
          <a:xfrm>
            <a:off x="9789160" y="4521200"/>
            <a:ext cx="1869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4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D706B"/>
                </a:solidFill>
                <a:latin typeface="Funnel Sans"/>
              </a:rPr>
              <a:t>Tags + coverage</a:t>
            </a:r>
            <a:endParaRPr lang="en-US" sz="1100"/>
          </a:p>
        </p:txBody>
      </p:sp>
      <p:sp>
        <p:nvSpPr>
          <p:cNvPr id="41" name="shape 41"/>
          <p:cNvSpPr/>
          <p:nvPr/>
        </p:nvSpPr>
        <p:spPr>
          <a:xfrm>
            <a:off x="406400" y="4991100"/>
            <a:ext cx="55626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2"/>
          <p:cNvSpPr/>
          <p:nvPr/>
        </p:nvSpPr>
        <p:spPr>
          <a:xfrm>
            <a:off x="584200" y="5143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6D706B"/>
                </a:solidFill>
                <a:latin typeface="Funnel Sans"/>
              </a:rPr>
              <a:t>OUTCOMES FOR A FILE</a:t>
            </a:r>
            <a:endParaRPr lang="en-US" sz="1050"/>
          </a:p>
        </p:txBody>
      </p:sp>
      <p:sp>
        <p:nvSpPr>
          <p:cNvPr id="43" name="text 43"/>
          <p:cNvSpPr/>
          <p:nvPr/>
        </p:nvSpPr>
        <p:spPr>
          <a:xfrm>
            <a:off x="584200" y="5422900"/>
            <a:ext cx="5207000" cy="520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CENSORED · STALE_FROZEN · NOT_APPLICABLE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NO_TAG · UNCLASSIFIED · UNSCOPED coverage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Grouped evidence; user-controlled issue / RCA.</a:t>
            </a:r>
            <a:endParaRPr lang="en-US" sz="1200"/>
          </a:p>
        </p:txBody>
      </p:sp>
      <p:sp>
        <p:nvSpPr>
          <p:cNvPr id="44" name="shape 44"/>
          <p:cNvSpPr/>
          <p:nvPr/>
        </p:nvSpPr>
        <p:spPr>
          <a:xfrm>
            <a:off x="6223000" y="4991100"/>
            <a:ext cx="5562600" cy="1066800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DEDCD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5"/>
          <p:cNvSpPr/>
          <p:nvPr/>
        </p:nvSpPr>
        <p:spPr>
          <a:xfrm>
            <a:off x="6400800" y="5143500"/>
            <a:ext cx="5207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FF4F59"/>
                </a:solidFill>
                <a:latin typeface="Funnel Sans"/>
              </a:rPr>
              <a:t>ILLUSTRATIVE EXAMPLE</a:t>
            </a:r>
            <a:endParaRPr lang="en-US" sz="1050"/>
          </a:p>
        </p:txBody>
      </p:sp>
      <p:sp>
        <p:nvSpPr>
          <p:cNvPr id="46" name="text 46"/>
          <p:cNvSpPr/>
          <p:nvPr/>
        </p:nvSpPr>
        <p:spPr>
          <a:xfrm>
            <a:off x="6400800" y="5422900"/>
            <a:ext cx="5207000" cy="520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A 12-month outcome has only 6 months of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confirmed observation coverage → CENSORED.</a:t>
            </a:r>
            <a:endParaRPr lang="en-US" sz="1200"/>
          </a:p>
          <a:p>
            <a:pPr algn="l">
              <a:lnSpc>
                <a:spcPts val="1368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181C23"/>
                </a:solidFill>
                <a:latin typeface="Funnel Sans"/>
              </a:rPr>
              <a:t>A populated value may still be unfinished.</a:t>
            </a:r>
            <a:endParaRPr lang="en-US" sz="1200"/>
          </a:p>
        </p:txBody>
      </p:sp>
      <p:sp>
        <p:nvSpPr>
          <p:cNvPr id="47" name="shape 47"/>
          <p:cNvSpPr/>
          <p:nvPr/>
        </p:nvSpPr>
        <p:spPr>
          <a:xfrm>
            <a:off x="406400" y="6121400"/>
            <a:ext cx="11379200" cy="317500"/>
          </a:xfrm>
          <a:prstGeom prst="roundRect">
            <a:avLst/>
          </a:prstGeom>
          <a:solidFill>
            <a:srgbClr val="282A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8"/>
          <p:cNvSpPr/>
          <p:nvPr/>
        </p:nvSpPr>
        <p:spPr>
          <a:xfrm>
            <a:off x="546100" y="6184900"/>
            <a:ext cx="11099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FFFFFF"/>
                </a:solidFill>
                <a:latin typeface="Funnel Sans"/>
              </a:rPr>
              <a:t>Initial framing only: D08 end goal, tag vocabulary, rule content and redesign scope remain for the next design review.</a:t>
            </a:r>
            <a:endParaRPr lang="en-US" sz="1050"/>
          </a:p>
        </p:txBody>
      </p:sp>
      <p:cxnSp>
        <p:nvCxnSpPr>
          <p:cNvPr id="49" name="connector 49"/>
          <p:cNvCxnSpPr/>
          <p:nvPr/>
        </p:nvCxnSpPr>
        <p:spPr>
          <a:xfrm>
            <a:off x="406400" y="6515100"/>
            <a:ext cx="11379200" cy="0"/>
          </a:xfrm>
          <a:prstGeom prst="line">
            <a:avLst/>
          </a:prstGeom>
          <a:ln w="8255">
            <a:solidFill>
              <a:srgbClr val="DEDCD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50"/>
          <p:cNvSpPr/>
          <p:nvPr/>
        </p:nvSpPr>
        <p:spPr>
          <a:xfrm>
            <a:off x="406400" y="66294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9"/>
              </a:lnSpc>
              <a:spcAft>
                <a:spcPts val="0"/>
              </a:spcAft>
            </a:pPr>
            <a:r>
              <a:rPr lang="en-US" sz="850" b="0" dirty="0">
                <a:solidFill>
                  <a:srgbClr val="6D706B"/>
                </a:solidFill>
                <a:latin typeface="Funnel Sans"/>
              </a:rPr>
              <a:t>DATA WORKBENCH / Knowledge Base Library / Proposed state</a:t>
            </a:r>
            <a:endParaRPr lang="en-US" sz="850"/>
          </a:p>
        </p:txBody>
      </p:sp>
      <p:sp>
        <p:nvSpPr>
          <p:cNvPr id="51" name="text 51"/>
          <p:cNvSpPr/>
          <p:nvPr/>
        </p:nvSpPr>
        <p:spPr>
          <a:xfrm>
            <a:off x="10922000" y="6604000"/>
            <a:ext cx="863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40"/>
              </a:lnSpc>
              <a:spcAft>
                <a:spcPts val="0"/>
              </a:spcAft>
            </a:pPr>
            <a:r>
              <a:rPr lang="en-US" sz="1000" b="0" dirty="0">
                <a:solidFill>
                  <a:srgbClr val="6D706B"/>
                </a:solidFill>
                <a:latin typeface="Funnel Sans"/>
              </a:rPr>
              <a:t>06 / 06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4F59"/>
      </a:accent1>
      <a:accent2>
        <a:srgbClr val="181C23"/>
      </a:accent2>
      <a:accent3>
        <a:srgbClr val="FFF2DF"/>
      </a:accent3>
      <a:accent4>
        <a:srgbClr val="276B57"/>
      </a:accent4>
      <a:accent5>
        <a:srgbClr val="6A557F"/>
      </a:accent5>
      <a:accent6>
        <a:srgbClr val="6D706B"/>
      </a:accent6>
      <a:hlink>
        <a:srgbClr val="467886"/>
      </a:hlink>
      <a:folHlink>
        <a:srgbClr val="96607D"/>
      </a:folHlink>
    </a:clrScheme>
    <a:fontScheme name="Office">
      <a:majorFont>
        <a:latin typeface="Funnel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unnel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2885</Words>
  <Application>Microsoft Office PowerPoint</Application>
  <PresentationFormat>Widescreen</PresentationFormat>
  <Paragraphs>366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Bollineni, Harsha</dc:creator>
  <cp:lastModifiedBy>Bollineni, Harsha</cp:lastModifiedBy>
  <cp:revision>4</cp:revision>
  <dcterms:created xsi:type="dcterms:W3CDTF">2026-09-07T05:42:15Z</dcterms:created>
  <dcterms:modified xsi:type="dcterms:W3CDTF">2026-09-15T09:41:21Z</dcterms:modified>
</cp:coreProperties>
</file>