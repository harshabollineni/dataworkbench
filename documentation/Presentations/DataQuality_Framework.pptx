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Montserrat" panose="00000500000000000000" pitchFamily="2" charset="0"/>
      <p:regular r:id="rId7"/>
      <p:bold r:id="rId8"/>
      <p:italic r:id="rId9"/>
      <p:boldItalic r:id="rId10"/>
    </p:embeddedFont>
    <p:embeddedFont>
      <p:font typeface="Open Sans" panose="020B0606030504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6" y="5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enpactonline-my.sharepoint.com/personal/703372397_genpact_com/_layouts/15/Doc.aspx?sourcedoc=%7B7F3B8390-4F93-4C7B-A0D2-B274FC3DC69F%7D&amp;file=DQ%20Framework_Analytics%20and%20Modeling.xlsx&amp;action=default&amp;mobileredirect=true" TargetMode="Externa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enpactonline-my.sharepoint.com/personal/703372397_genpact_com/_layouts/15/Doc.aspx?sourcedoc=%7B7F3B8390-4F93-4C7B-A0D2-B274FC3DC69F%7D&amp;file=DQ%20Framework_Analytics%20and%20Modeling.xlsx&amp;action=default&amp;mobileredirect=true" TargetMode="External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enpactonline-my.sharepoint.com/personal/703372397_genpact_com/_layouts/15/Doc.aspx?sourcedoc=%7B7F3B8390-4F93-4C7B-A0D2-B274FC3DC69F%7D&amp;file=DQ%20Framework_Analytics%20and%20Modeling.xlsx&amp;action=default&amp;mobileredirect=true" TargetMode="External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enpactonline-my.sharepoint.com/personal/703372397_genpact_com/_layouts/15/Doc.aspx?sourcedoc=%7B7F3B8390-4F93-4C7B-A0D2-B274FC3DC69F%7D&amp;file=DQ%20Framework_Analytics%20and%20Modeling.xlsx&amp;action=default&amp;mobileredirect=true" TargetMode="External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04800"/>
            <a:ext cx="685800" cy="38100"/>
          </a:xfrm>
          <a:prstGeom prst="rect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4468"/>
            <a:ext cx="2252364" cy="257175"/>
          </a:xfrm>
          <a:prstGeom prst="roundRect">
            <a:avLst>
              <a:gd name="adj" fmla="val 14814"/>
            </a:avLst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485" y="1502531"/>
            <a:ext cx="2023714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181C23"/>
                </a:solidFill>
                <a:latin typeface="Open Sans"/>
              </a:rPr>
              <a:t>Data Quality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88" y="1931145"/>
            <a:ext cx="6666291" cy="2558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ontserrat"/>
              </a:rPr>
              <a:t>Analytics &amp; Modeling Data Quality: A Framework for Fitness-for-Purpose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4665347"/>
            <a:ext cx="4850187" cy="615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95" b="0" i="0">
                <a:solidFill>
                  <a:srgbClr val="FFF2DF"/>
                </a:solidFill>
                <a:latin typeface="Open Sans"/>
              </a:rPr>
              <a:t>A Consultative Approach for Model Development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88" y="6381590"/>
            <a:ext cx="198531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81847F"/>
                </a:solidFill>
                <a:latin typeface="Open Sans"/>
              </a:rPr>
              <a:t>Genpact | Confidential |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3509" y="6391115"/>
            <a:ext cx="74099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FFAD28"/>
                </a:solidFill>
                <a:latin typeface="Montserrat"/>
              </a:rPr>
              <a:t>Genpact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719286"/>
            <a:ext cx="11430000" cy="600372"/>
          </a:xfrm>
          <a:prstGeom prst="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1000" y="719286"/>
            <a:ext cx="50800" cy="600372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487239"/>
            <a:ext cx="11430000" cy="19050"/>
          </a:xfrm>
          <a:prstGeom prst="rect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000" y="1582489"/>
            <a:ext cx="5623619" cy="373260"/>
          </a:xfrm>
          <a:prstGeom prst="rect">
            <a:avLst/>
          </a:prstGeom>
          <a:solidFill>
            <a:srgbClr val="28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860" y="1685287"/>
            <a:ext cx="146629" cy="1675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1000" y="1955750"/>
            <a:ext cx="5623619" cy="4129831"/>
          </a:xfrm>
          <a:prstGeom prst="rect">
            <a:avLst/>
          </a:prstGeom>
          <a:solidFill>
            <a:srgbClr val="444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623" y="2131490"/>
            <a:ext cx="73314" cy="7331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623" y="2590614"/>
            <a:ext cx="73314" cy="7331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623" y="2862069"/>
            <a:ext cx="73314" cy="7331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623" y="3321193"/>
            <a:ext cx="73314" cy="7331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87380" y="1582489"/>
            <a:ext cx="5623619" cy="373260"/>
          </a:xfrm>
          <a:prstGeom prst="rect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9621" y="1685287"/>
            <a:ext cx="167576" cy="1675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87380" y="1955750"/>
            <a:ext cx="5623619" cy="41298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3908" y="2131490"/>
            <a:ext cx="73314" cy="73314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3908" y="2402946"/>
            <a:ext cx="73314" cy="73314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3908" y="2674402"/>
            <a:ext cx="73314" cy="73314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3908" y="2945858"/>
            <a:ext cx="73314" cy="7331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81000" y="6192142"/>
            <a:ext cx="11430000" cy="336351"/>
          </a:xfrm>
          <a:prstGeom prst="roundRect">
            <a:avLst>
              <a:gd name="adj" fmla="val 16991"/>
            </a:avLst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604694"/>
            <a:ext cx="12192000" cy="253305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0990" y="276218"/>
            <a:ext cx="2244569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181C23"/>
                </a:solidFill>
                <a:latin typeface="Montserrat"/>
              </a:rPr>
              <a:t>The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000" y="728793"/>
            <a:ext cx="11132541" cy="566872"/>
          </a:xfrm>
          <a:prstGeom prst="rect">
            <a:avLst/>
          </a:prstGeom>
          <a:noFill/>
        </p:spPr>
        <p:txBody>
          <a:bodyPr wrap="square" lIns="137156" tIns="76198" rIns="137156" bIns="76198">
            <a:spAutoFit/>
          </a:bodyPr>
          <a:lstStyle/>
          <a:p>
            <a:pPr algn="l"/>
            <a:r>
              <a:rPr sz="1107" b="1" i="0">
                <a:solidFill>
                  <a:srgbClr val="181C23"/>
                </a:solidFill>
                <a:latin typeface="Montserrat"/>
              </a:rPr>
              <a:t>Generic data quality practices were built for operational correctness — not for the analytical rigor that model development, stress testing, and forecasting demand.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341" y="1673828"/>
            <a:ext cx="334304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FFFFFF"/>
                </a:solidFill>
                <a:latin typeface="Montserrat"/>
              </a:rPr>
              <a:t>What Teams Typically Have: Generic DQ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372" y="2077588"/>
            <a:ext cx="4833518" cy="3686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FFFFFF"/>
                </a:solidFill>
                <a:latin typeface="Open Sans"/>
              </a:rPr>
              <a:t>Enterprise DQ tools that check completeness, referential integrity, and format conformance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372" y="2536711"/>
            <a:ext cx="507312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FFFFFF"/>
                </a:solidFill>
                <a:latin typeface="Open Sans"/>
              </a:rPr>
              <a:t>Designed for operational and reporting pipelines — not analytical model datasets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372" y="2808167"/>
            <a:ext cx="4918795" cy="3686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FFFFFF"/>
                </a:solidFill>
                <a:latin typeface="Open Sans"/>
              </a:rPr>
              <a:t>Datasets pass enterprise DQ checks yet carry silent analytical defects: selection bias, censored histories, target label inconsistencies, feature leakage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372" y="3267290"/>
            <a:ext cx="4709399" cy="3686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FFFFFF"/>
                </a:solidFill>
                <a:latin typeface="Open Sans"/>
              </a:rPr>
              <a:t>These defects only surface after model deployment — often at validation or regulatory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8576" y="1673828"/>
            <a:ext cx="452098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181C23"/>
                </a:solidFill>
                <a:latin typeface="Montserrat"/>
              </a:rPr>
              <a:t>What Model Development Needs: Fitness-for-Purpose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8657" y="2077588"/>
            <a:ext cx="4697493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282A27"/>
                </a:solidFill>
                <a:latin typeface="Open Sans"/>
              </a:rPr>
              <a:t>Representativeness — portfolio coverage and selection bias assessment</a:t>
            </a:r>
            <a:r>
              <a:rPr sz="911" b="0" i="0">
                <a:solidFill>
                  <a:srgbClr val="8A5A00"/>
                </a:solidFill>
                <a:latin typeface="Open Sans"/>
              </a:rPr>
              <a:t> </a:t>
            </a:r>
            <a:r>
              <a:rPr sz="911" b="0" i="0">
                <a:solidFill>
                  <a:srgbClr val="8A5A00"/>
                </a:solidFill>
                <a:latin typeface="Open Sans"/>
                <a:hlinkClick r:id="rId6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8657" y="2349044"/>
            <a:ext cx="509202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282A27"/>
                </a:solidFill>
                <a:latin typeface="Open Sans"/>
              </a:rPr>
              <a:t>Temporal integrity — observation windows, censoring, and leakage prevention</a:t>
            </a:r>
            <a:r>
              <a:rPr sz="911" b="0" i="0">
                <a:solidFill>
                  <a:srgbClr val="8A5A00"/>
                </a:solidFill>
                <a:latin typeface="Open Sans"/>
              </a:rPr>
              <a:t> </a:t>
            </a:r>
            <a:r>
              <a:rPr sz="911" b="0" i="0">
                <a:solidFill>
                  <a:srgbClr val="8A5A00"/>
                </a:solidFill>
                <a:latin typeface="Open Sans"/>
                <a:hlinkClick r:id="rId6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8657" y="2620500"/>
            <a:ext cx="356092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282A27"/>
                </a:solidFill>
                <a:latin typeface="Open Sans"/>
              </a:rPr>
              <a:t>Feature stability and behavioral consistency over time</a:t>
            </a:r>
            <a:r>
              <a:rPr sz="911" b="0" i="0">
                <a:solidFill>
                  <a:srgbClr val="8A5A00"/>
                </a:solidFill>
                <a:latin typeface="Open Sans"/>
              </a:rPr>
              <a:t> </a:t>
            </a:r>
            <a:r>
              <a:rPr sz="911" b="0" i="0">
                <a:solidFill>
                  <a:srgbClr val="8A5A00"/>
                </a:solidFill>
                <a:latin typeface="Open Sans"/>
                <a:hlinkClick r:id="rId6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8657" y="2891955"/>
            <a:ext cx="395649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282A27"/>
                </a:solidFill>
                <a:latin typeface="Open Sans"/>
              </a:rPr>
              <a:t>Regime coverage — downturn and stress period representation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386" y="6283366"/>
            <a:ext cx="92330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181C23"/>
                </a:solidFill>
                <a:latin typeface="Montserrat"/>
              </a:rPr>
              <a:t>Consequence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8580" y="6266251"/>
            <a:ext cx="712511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81C23"/>
                </a:solidFill>
                <a:latin typeface="Open Sans"/>
              </a:rPr>
              <a:t>Unstable calibration, inflated in-sample performance, weak out-of-time behavior, and regulatory challenge at validation</a:t>
            </a:r>
            <a:r>
              <a:rPr sz="911" b="0" i="0">
                <a:solidFill>
                  <a:srgbClr val="181C23"/>
                </a:solidFill>
                <a:latin typeface="Open Sans"/>
              </a:rPr>
              <a:t> </a:t>
            </a:r>
            <a:r>
              <a:rPr sz="911" b="0" i="0">
                <a:solidFill>
                  <a:srgbClr val="181C23"/>
                </a:solidFill>
                <a:latin typeface="Open Sans"/>
                <a:hlinkClick r:id="rId6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0990" y="6650218"/>
            <a:ext cx="1861644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0" i="0">
                <a:solidFill>
                  <a:srgbClr val="B0B3AE"/>
                </a:solidFill>
                <a:latin typeface="Open Sans"/>
              </a:rPr>
              <a:t>Genpact | Confidential | June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04403" y="6659743"/>
            <a:ext cx="50630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FFAD28"/>
                </a:solidFill>
                <a:latin typeface="Montserrat"/>
              </a:rPr>
              <a:t>Genpact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79276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2900" y="171450"/>
            <a:ext cx="381000" cy="28575"/>
          </a:xfrm>
          <a:prstGeom prst="rect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9575" y="1298376"/>
            <a:ext cx="19050" cy="120104"/>
          </a:xfrm>
          <a:prstGeom prst="rect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66700" y="1031676"/>
            <a:ext cx="285750" cy="285750"/>
          </a:xfrm>
          <a:prstGeom prst="ellipse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9575" y="2308324"/>
            <a:ext cx="19050" cy="120104"/>
          </a:xfrm>
          <a:prstGeom prst="rect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66700" y="2041624"/>
            <a:ext cx="285750" cy="285750"/>
          </a:xfrm>
          <a:prstGeom prst="ellipse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9575" y="3318271"/>
            <a:ext cx="19050" cy="258812"/>
          </a:xfrm>
          <a:prstGeom prst="rect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66700" y="3051571"/>
            <a:ext cx="285750" cy="285750"/>
          </a:xfrm>
          <a:prstGeom prst="ellipse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9575" y="4466927"/>
            <a:ext cx="19050" cy="120104"/>
          </a:xfrm>
          <a:prstGeom prst="rect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66700" y="4200227"/>
            <a:ext cx="285750" cy="285750"/>
          </a:xfrm>
          <a:prstGeom prst="ellipse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6700" y="5210175"/>
            <a:ext cx="285750" cy="285750"/>
          </a:xfrm>
          <a:prstGeom prst="ellipse">
            <a:avLst/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6700" y="6277272"/>
            <a:ext cx="7110263" cy="256877"/>
          </a:xfrm>
          <a:prstGeom prst="roundRect">
            <a:avLst>
              <a:gd name="adj" fmla="val 14832"/>
            </a:avLst>
          </a:prstGeom>
          <a:solidFill>
            <a:srgbClr val="28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930" y="6362261"/>
            <a:ext cx="86578" cy="8657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605563" y="1012626"/>
            <a:ext cx="2126605" cy="768548"/>
          </a:xfrm>
          <a:prstGeom prst="roundRect">
            <a:avLst>
              <a:gd name="adj" fmla="val 74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05563" y="1012626"/>
            <a:ext cx="50800" cy="768548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36943" y="1012626"/>
            <a:ext cx="2126605" cy="768548"/>
          </a:xfrm>
          <a:prstGeom prst="roundRect">
            <a:avLst>
              <a:gd name="adj" fmla="val 74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836943" y="1012626"/>
            <a:ext cx="50800" cy="768548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605563" y="1952624"/>
            <a:ext cx="4357836" cy="628650"/>
          </a:xfrm>
          <a:prstGeom prst="roundRect">
            <a:avLst>
              <a:gd name="adj" fmla="val 909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3369" y="2052726"/>
            <a:ext cx="80906" cy="7845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605563" y="2676525"/>
            <a:ext cx="2155180" cy="224730"/>
          </a:xfrm>
          <a:prstGeom prst="roundRect">
            <a:avLst>
              <a:gd name="adj" fmla="val 16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4902" y="2743131"/>
            <a:ext cx="85667" cy="9087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808368" y="2676525"/>
            <a:ext cx="2155180" cy="224730"/>
          </a:xfrm>
          <a:prstGeom prst="roundRect">
            <a:avLst>
              <a:gd name="adj" fmla="val 16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0507" y="2748860"/>
            <a:ext cx="78073" cy="78073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05563" y="2948880"/>
            <a:ext cx="2155180" cy="224730"/>
          </a:xfrm>
          <a:prstGeom prst="roundRect">
            <a:avLst>
              <a:gd name="adj" fmla="val 16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2046" y="3021191"/>
            <a:ext cx="91378" cy="7995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808368" y="2948880"/>
            <a:ext cx="2155180" cy="224730"/>
          </a:xfrm>
          <a:prstGeom prst="roundRect">
            <a:avLst>
              <a:gd name="adj" fmla="val 169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77652" y="3021184"/>
            <a:ext cx="85667" cy="79969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2891" y="266693"/>
            <a:ext cx="4517713" cy="266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30" b="1" i="0">
                <a:solidFill>
                  <a:srgbClr val="FFFFFF"/>
                </a:solidFill>
                <a:latin typeface="Montserrat"/>
              </a:rPr>
              <a:t>The Solution: DQ Framework 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891" y="589046"/>
            <a:ext cx="1002674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0" i="0">
                <a:solidFill>
                  <a:srgbClr val="FFF2DF"/>
                </a:solidFill>
                <a:latin typeface="Montserrat"/>
              </a:rPr>
              <a:t>A structured, five-theme framework moves teams from ad-hoc data checks to systematic, evidence-based analytical consumability assessment across 11 diagnostic areas.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985" y="1107848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181C23"/>
                </a:solidFill>
                <a:latin typeface="Montserrat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83" y="1003076"/>
            <a:ext cx="2298741" cy="1476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181C23"/>
                </a:solidFill>
                <a:latin typeface="Montserrat"/>
              </a:rPr>
              <a:t>Sample &amp; Representativeness</a:t>
            </a:r>
            <a:r>
              <a:rPr sz="632" b="1" i="0">
                <a:solidFill>
                  <a:srgbClr val="181C23"/>
                </a:solidFill>
                <a:highlight>
                  <a:srgbClr val="FFF2DF"/>
                </a:highlight>
                <a:latin typeface="Montserrat"/>
              </a:rPr>
              <a:t> 3 areas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" y="1169759"/>
            <a:ext cx="617055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0" b="0" i="0">
                <a:solidFill>
                  <a:srgbClr val="444744"/>
                </a:solidFill>
                <a:latin typeface="Open Sans"/>
              </a:rPr>
              <a:t>Portfolio representativeness &amp; selection bias  ·  Historical depth, observation windows &amp; censoring  ·  Downturn &amp; regime coverage</a:t>
            </a:r>
            <a:r>
              <a:rPr sz="819" b="0" i="0">
                <a:solidFill>
                  <a:srgbClr val="9C6A19"/>
                </a:solidFill>
                <a:latin typeface="Open Sans"/>
              </a:rPr>
              <a:t> </a:t>
            </a:r>
            <a:r>
              <a:rPr sz="819" b="0" i="0">
                <a:solidFill>
                  <a:srgbClr val="9C6A19"/>
                </a:solidFill>
                <a:latin typeface="Open Sans"/>
                <a:hlinkClick r:id="rId8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121" y="2117771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181C23"/>
                </a:solidFill>
                <a:latin typeface="Montserrat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" y="2012998"/>
            <a:ext cx="2094405" cy="1476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181C23"/>
                </a:solidFill>
                <a:latin typeface="Montserrat"/>
              </a:rPr>
              <a:t>Target &amp; Outcome Integrity</a:t>
            </a:r>
            <a:r>
              <a:rPr sz="632" b="1" i="0">
                <a:solidFill>
                  <a:srgbClr val="181C23"/>
                </a:solidFill>
                <a:highlight>
                  <a:srgbClr val="FFF2DF"/>
                </a:highlight>
                <a:latin typeface="Montserrat"/>
              </a:rPr>
              <a:t> 1 area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683" y="2179682"/>
            <a:ext cx="424090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0" b="0" i="0">
                <a:solidFill>
                  <a:srgbClr val="444744"/>
                </a:solidFill>
                <a:latin typeface="Open Sans"/>
              </a:rPr>
              <a:t>Target definition &amp; label consistency — policy changes, override distortions, event timing</a:t>
            </a:r>
            <a:r>
              <a:rPr sz="819" b="0" i="0">
                <a:solidFill>
                  <a:srgbClr val="9C6A19"/>
                </a:solidFill>
                <a:latin typeface="Open Sans"/>
              </a:rPr>
              <a:t> </a:t>
            </a:r>
            <a:r>
              <a:rPr sz="819" b="0" i="0">
                <a:solidFill>
                  <a:srgbClr val="9C6A19"/>
                </a:solidFill>
                <a:latin typeface="Open Sans"/>
                <a:hlinkClick r:id="rId8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972" y="3127693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181C23"/>
                </a:solidFill>
                <a:latin typeface="Montserrat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683" y="3022921"/>
            <a:ext cx="2157358" cy="1476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181C23"/>
                </a:solidFill>
                <a:latin typeface="Montserrat"/>
              </a:rPr>
              <a:t>Feature &amp; Predictor Quality</a:t>
            </a:r>
            <a:r>
              <a:rPr sz="632" b="1" i="0">
                <a:solidFill>
                  <a:srgbClr val="181C23"/>
                </a:solidFill>
                <a:highlight>
                  <a:srgbClr val="FFF2DF"/>
                </a:highlight>
                <a:latin typeface="Montserrat"/>
              </a:rPr>
              <a:t> 4 areas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683" y="3189604"/>
            <a:ext cx="6599618" cy="281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0" i="0">
                <a:solidFill>
                  <a:srgbClr val="444744"/>
                </a:solidFill>
                <a:latin typeface="Open Sans"/>
              </a:rPr>
              <a:t>Missingness mechanism &amp; availability  ·  Outliers, extremes &amp; plausibility  ·  Temporal integrity &amp; feature leakage  ·  Feature stability &amp; behavioral consistency</a:t>
            </a:r>
            <a:r>
              <a:rPr sz="819" b="0" i="0">
                <a:solidFill>
                  <a:srgbClr val="9C6A19"/>
                </a:solidFill>
                <a:latin typeface="Open Sans"/>
              </a:rPr>
              <a:t> </a:t>
            </a:r>
            <a:r>
              <a:rPr sz="819" b="0" i="0">
                <a:solidFill>
                  <a:srgbClr val="9C6A19"/>
                </a:solidFill>
                <a:latin typeface="Open Sans"/>
                <a:hlinkClick r:id="rId8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1763" y="4276320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181C23"/>
                </a:solidFill>
                <a:latin typeface="Montserrat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683" y="4171547"/>
            <a:ext cx="2251266" cy="1476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181C23"/>
                </a:solidFill>
                <a:latin typeface="Montserrat"/>
              </a:rPr>
              <a:t>Dataset Stability &amp; Monitoring</a:t>
            </a:r>
            <a:r>
              <a:rPr sz="632" b="1" i="0">
                <a:solidFill>
                  <a:srgbClr val="181C23"/>
                </a:solidFill>
                <a:highlight>
                  <a:srgbClr val="FFF2DF"/>
                </a:highlight>
                <a:latin typeface="Montserrat"/>
              </a:rPr>
              <a:t> 1 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683" y="4338231"/>
            <a:ext cx="360661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0" b="0" i="0">
                <a:solidFill>
                  <a:srgbClr val="444744"/>
                </a:solidFill>
                <a:latin typeface="Open Sans"/>
              </a:rPr>
              <a:t>Dataset drift &amp; degradation monitoring — PSI, feature distribution tracking</a:t>
            </a:r>
            <a:r>
              <a:rPr sz="819" b="0" i="0">
                <a:solidFill>
                  <a:srgbClr val="9C6A19"/>
                </a:solidFill>
                <a:latin typeface="Open Sans"/>
              </a:rPr>
              <a:t> </a:t>
            </a:r>
            <a:r>
              <a:rPr sz="819" b="0" i="0">
                <a:solidFill>
                  <a:srgbClr val="9C6A19"/>
                </a:solidFill>
                <a:latin typeface="Open Sans"/>
                <a:hlinkClick r:id="rId8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823" y="5286242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181C23"/>
                </a:solidFill>
                <a:latin typeface="Montserrat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83" y="5181470"/>
            <a:ext cx="2725123" cy="1476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181C23"/>
                </a:solidFill>
                <a:latin typeface="Montserrat"/>
              </a:rPr>
              <a:t>Upstream Dataset &amp; Pipeline Integrity</a:t>
            </a:r>
            <a:r>
              <a:rPr sz="632" b="1" i="0">
                <a:solidFill>
                  <a:srgbClr val="181C23"/>
                </a:solidFill>
                <a:highlight>
                  <a:srgbClr val="FFF2DF"/>
                </a:highlight>
                <a:latin typeface="Montserrat"/>
              </a:rPr>
              <a:t> 1 area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683" y="5348153"/>
            <a:ext cx="457262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40" b="0" i="0">
                <a:solidFill>
                  <a:srgbClr val="444744"/>
                </a:solidFill>
                <a:latin typeface="Open Sans"/>
              </a:rPr>
              <a:t>Pipeline stability &amp; schema consistency — schema drift, feed interruptions, transformation logic</a:t>
            </a:r>
            <a:r>
              <a:rPr sz="819" b="0" i="0">
                <a:solidFill>
                  <a:srgbClr val="9C6A19"/>
                </a:solidFill>
                <a:latin typeface="Open Sans"/>
              </a:rPr>
              <a:t> </a:t>
            </a:r>
            <a:r>
              <a:rPr sz="819" b="0" i="0">
                <a:solidFill>
                  <a:srgbClr val="9C6A19"/>
                </a:solidFill>
                <a:latin typeface="Open Sans"/>
                <a:hlinkClick r:id="rId8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5172" y="6324739"/>
            <a:ext cx="423569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76" b="1" i="0">
                <a:solidFill>
                  <a:srgbClr val="FFFFFF"/>
                </a:solidFill>
                <a:latin typeface="Open Sans"/>
              </a:rPr>
              <a:t>Third-party / vendor data robustness &amp; change control</a:t>
            </a:r>
            <a:r>
              <a:rPr sz="705" b="0" i="0">
                <a:solidFill>
                  <a:srgbClr val="FFFFFF"/>
                </a:solidFill>
                <a:latin typeface="Open Sans"/>
              </a:rPr>
              <a:t> — applicable to all model families</a:t>
            </a:r>
            <a:r>
              <a:rPr sz="819" b="0" i="0">
                <a:solidFill>
                  <a:srgbClr val="D2AF6E"/>
                </a:solidFill>
                <a:latin typeface="Open Sans"/>
              </a:rPr>
              <a:t> </a:t>
            </a:r>
            <a:r>
              <a:rPr sz="819" b="0" i="0">
                <a:solidFill>
                  <a:srgbClr val="D2AF6E"/>
                </a:solidFill>
                <a:latin typeface="Open Sans"/>
                <a:hlinkClick r:id="rId8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7769" y="1117373"/>
            <a:ext cx="563002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3" b="1" i="0">
                <a:solidFill>
                  <a:srgbClr val="6D706B"/>
                </a:solidFill>
                <a:latin typeface="Montserrat"/>
              </a:rPr>
              <a:t>L1 Themes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7769" y="1222145"/>
            <a:ext cx="163260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99" b="1" i="0">
                <a:solidFill>
                  <a:srgbClr val="C8881F"/>
                </a:solidFill>
                <a:latin typeface="Montserrat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57769" y="1544053"/>
            <a:ext cx="129194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282A27"/>
                </a:solidFill>
                <a:latin typeface="Open Sans"/>
              </a:rPr>
              <a:t>Structured diagnostic themes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9093" y="1117373"/>
            <a:ext cx="1050253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53" b="1" i="0">
                <a:solidFill>
                  <a:srgbClr val="6D706B"/>
                </a:solidFill>
                <a:latin typeface="Montserrat"/>
              </a:rPr>
              <a:t>Diagnostic Areas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89093" y="1222145"/>
            <a:ext cx="215051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99" b="1" i="0">
                <a:solidFill>
                  <a:srgbClr val="C8881F"/>
                </a:solidFill>
                <a:latin typeface="Montserrat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9093" y="1544053"/>
            <a:ext cx="94801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282A27"/>
                </a:solidFill>
                <a:latin typeface="Open Sans"/>
              </a:rPr>
              <a:t>Across all five themes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6022" y="2048865"/>
            <a:ext cx="1098472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11" b="1" i="0">
                <a:solidFill>
                  <a:srgbClr val="FFAD28"/>
                </a:solidFill>
                <a:latin typeface="Montserrat"/>
              </a:rPr>
              <a:t>Key Differentiator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19670" y="2191736"/>
            <a:ext cx="4005459" cy="283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1" b="0" i="0">
                <a:solidFill>
                  <a:srgbClr val="FFFFFF"/>
                </a:solidFill>
                <a:latin typeface="Open Sans"/>
              </a:rPr>
              <a:t>Framework focuses on</a:t>
            </a:r>
            <a:r>
              <a:rPr sz="719" b="1" i="0">
                <a:solidFill>
                  <a:srgbClr val="FFAD28"/>
                </a:solidFill>
                <a:latin typeface="Open Sans"/>
              </a:rPr>
              <a:t> analytical fitness-for-purpose</a:t>
            </a:r>
            <a:r>
              <a:rPr sz="751" b="0" i="0">
                <a:solidFill>
                  <a:srgbClr val="FFFFFF"/>
                </a:solidFill>
                <a:latin typeface="Open Sans"/>
              </a:rPr>
              <a:t> — not operational correctness or generic enterprise DQ.</a:t>
            </a:r>
            <a:r>
              <a:rPr sz="819" b="0" i="0">
                <a:solidFill>
                  <a:srgbClr val="D2AF6E"/>
                </a:solidFill>
                <a:latin typeface="Open Sans"/>
              </a:rPr>
              <a:t> </a:t>
            </a:r>
            <a:r>
              <a:rPr sz="819" b="0" i="0">
                <a:solidFill>
                  <a:srgbClr val="D2AF6E"/>
                </a:solidFill>
                <a:latin typeface="Open Sans"/>
                <a:hlinkClick r:id="rId8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1048" y="2724081"/>
            <a:ext cx="1624715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282A27"/>
                </a:solidFill>
                <a:latin typeface="Open Sans"/>
              </a:rPr>
              <a:t>Representativeness &amp; Regime Coverage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3798" y="2724081"/>
            <a:ext cx="1012750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282A27"/>
                </a:solidFill>
                <a:latin typeface="Open Sans"/>
              </a:rPr>
              <a:t>Target Label Consistency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11048" y="2996430"/>
            <a:ext cx="1576496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282A27"/>
                </a:solidFill>
                <a:latin typeface="Open Sans"/>
              </a:rPr>
              <a:t>Feature Stability &amp; Leakage Prevention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3798" y="2996430"/>
            <a:ext cx="1463836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60" b="0" i="0">
                <a:solidFill>
                  <a:srgbClr val="282A27"/>
                </a:solidFill>
                <a:latin typeface="Open Sans"/>
              </a:rPr>
              <a:t>Drift Monitoring &amp; Pipeline Integrity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891" y="6681620"/>
            <a:ext cx="438436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5" b="1" i="0">
                <a:solidFill>
                  <a:srgbClr val="FFAD28"/>
                </a:solidFill>
                <a:latin typeface="Montserrat"/>
              </a:rPr>
              <a:t>Genpact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6128" y="6676857"/>
            <a:ext cx="106781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5" b="0" i="0">
                <a:solidFill>
                  <a:srgbClr val="81847F"/>
                </a:solidFill>
                <a:latin typeface="Open Sans"/>
              </a:rPr>
              <a:t>Confidential | June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58744" y="6681620"/>
            <a:ext cx="290058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0" i="0">
                <a:solidFill>
                  <a:srgbClr val="81847F"/>
                </a:solidFill>
                <a:latin typeface="Open Sans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8491" y="6384726"/>
            <a:ext cx="133350" cy="133350"/>
          </a:xfrm>
          <a:prstGeom prst="roundRect">
            <a:avLst>
              <a:gd name="adj" fmla="val 14285"/>
            </a:avLst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10890" y="6384726"/>
            <a:ext cx="133350" cy="133350"/>
          </a:xfrm>
          <a:prstGeom prst="roundRect">
            <a:avLst>
              <a:gd name="adj" fmla="val 14285"/>
            </a:avLst>
          </a:prstGeom>
          <a:solidFill>
            <a:srgbClr val="FFA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939081" y="6384726"/>
            <a:ext cx="133350" cy="133350"/>
          </a:xfrm>
          <a:prstGeom prst="roundRect">
            <a:avLst>
              <a:gd name="adj" fmla="val 14285"/>
            </a:avLst>
          </a:prstGeom>
          <a:solidFill>
            <a:srgbClr val="6D7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624583" y="6375201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FF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982200" y="955923"/>
            <a:ext cx="1905000" cy="597693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982200" y="955923"/>
            <a:ext cx="38100" cy="597693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982200" y="1614487"/>
            <a:ext cx="1905000" cy="514498"/>
          </a:xfrm>
          <a:prstGeom prst="roundRect">
            <a:avLst>
              <a:gd name="adj" fmla="val 74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82200" y="1614487"/>
            <a:ext cx="38100" cy="514498"/>
          </a:xfrm>
          <a:prstGeom prst="rect">
            <a:avLst/>
          </a:prstGeom>
          <a:solidFill>
            <a:srgbClr val="FF4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982200" y="2189857"/>
            <a:ext cx="1905000" cy="625226"/>
          </a:xfrm>
          <a:prstGeom prst="roundRect">
            <a:avLst>
              <a:gd name="adj" fmla="val 60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82200" y="2189857"/>
            <a:ext cx="38100" cy="625226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82200" y="2875954"/>
            <a:ext cx="1905000" cy="625226"/>
          </a:xfrm>
          <a:prstGeom prst="roundRect">
            <a:avLst>
              <a:gd name="adj" fmla="val 60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982200" y="2875954"/>
            <a:ext cx="38100" cy="625226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982200" y="5954315"/>
            <a:ext cx="1905000" cy="578048"/>
          </a:xfrm>
          <a:prstGeom prst="roundRect">
            <a:avLst>
              <a:gd name="adj" fmla="val 6591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147" y="6023414"/>
            <a:ext cx="83784" cy="6703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532364"/>
            <a:ext cx="12192000" cy="234255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4792" y="154182"/>
            <a:ext cx="4323497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181C23"/>
                </a:solidFill>
                <a:latin typeface="Montserrat"/>
              </a:rPr>
              <a:t>Criticality by Model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891" y="589552"/>
            <a:ext cx="11093222" cy="274313"/>
          </a:xfrm>
          <a:prstGeom prst="rect">
            <a:avLst/>
          </a:prstGeom>
          <a:solidFill>
            <a:srgbClr val="FFF2DF"/>
          </a:solidFill>
        </p:spPr>
        <p:txBody>
          <a:bodyPr wrap="none" lIns="114297" tIns="60958" rIns="114297" bIns="60958">
            <a:spAutoFit/>
          </a:bodyPr>
          <a:lstStyle/>
          <a:p>
            <a:pPr algn="l"/>
            <a:r>
              <a:rPr sz="896" b="1" i="0">
                <a:solidFill>
                  <a:srgbClr val="181C23"/>
                </a:solidFill>
                <a:latin typeface="Montserrat"/>
              </a:rPr>
              <a:t>Not all DQ risks are equal — IRB, IFRS9, Decisioning, Fraud/AML, and AI/ML carry the highest concentration of Critical-rated areas and demand priority attention.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792" y="6384566"/>
            <a:ext cx="33128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76" b="1" i="0">
                <a:solidFill>
                  <a:srgbClr val="282A27"/>
                </a:solidFill>
                <a:latin typeface="Open Sans"/>
              </a:rPr>
              <a:t>Rating: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507" y="6389329"/>
            <a:ext cx="29095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0" i="0">
                <a:solidFill>
                  <a:srgbClr val="282A27"/>
                </a:solidFill>
                <a:latin typeface="Open Sans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9891" y="6389329"/>
            <a:ext cx="196745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0" i="0">
                <a:solidFill>
                  <a:srgbClr val="282A27"/>
                </a:solidFill>
                <a:latin typeface="Open 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8068" y="6389329"/>
            <a:ext cx="354053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0" i="0">
                <a:solidFill>
                  <a:srgbClr val="282A27"/>
                </a:solidFill>
                <a:latin typeface="Open Sans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2603" y="6389329"/>
            <a:ext cx="365810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0" i="0">
                <a:solidFill>
                  <a:srgbClr val="282A27"/>
                </a:solidFill>
                <a:latin typeface="Open Sans"/>
              </a:rPr>
              <a:t>Low/N/A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0810" y="6408378"/>
            <a:ext cx="219262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3" b="0" i="0">
                <a:solidFill>
                  <a:srgbClr val="6D706B"/>
                </a:solidFill>
                <a:latin typeface="Open Sans"/>
              </a:rPr>
              <a:t>Source: </a:t>
            </a:r>
            <a:r>
              <a:rPr sz="683" b="0" i="0">
                <a:solidFill>
                  <a:srgbClr val="6D706B"/>
                </a:solidFill>
                <a:latin typeface="Open Sans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DQ Framework_Analytics and Modeling.xlsx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8983" y="1018703"/>
            <a:ext cx="852317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2" b="1" i="0">
                <a:solidFill>
                  <a:srgbClr val="181C23"/>
                </a:solidFill>
                <a:latin typeface="Montserrat"/>
              </a:rPr>
              <a:t>IRB/Basel &amp; IFRS9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8983" y="1149073"/>
            <a:ext cx="1729637" cy="345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37" b="0" i="0">
                <a:solidFill>
                  <a:srgbClr val="282A27"/>
                </a:solidFill>
                <a:latin typeface="Open Sans"/>
              </a:rPr>
              <a:t>Representativeness, Historical Depth, Target Consistency — all Critical. Regulatory scrutiny demands evidence-grade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8983" y="1667726"/>
            <a:ext cx="104787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2" b="1" i="0">
                <a:solidFill>
                  <a:srgbClr val="181C23"/>
                </a:solidFill>
                <a:latin typeface="Montserrat"/>
              </a:rPr>
              <a:t>Credit Decisioning</a:t>
            </a:r>
            <a:r>
              <a:rPr sz="827" b="0" i="0">
                <a:solidFill>
                  <a:srgbClr val="A06C19"/>
                </a:solidFill>
                <a:latin typeface="Montserrat"/>
              </a:rPr>
              <a:t> </a:t>
            </a:r>
            <a:r>
              <a:rPr sz="827" b="0" i="0">
                <a:solidFill>
                  <a:srgbClr val="A06C19"/>
                </a:solidFill>
                <a:latin typeface="Montserrat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8983" y="1835153"/>
            <a:ext cx="1575752" cy="2345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37" b="0" i="0">
                <a:solidFill>
                  <a:srgbClr val="282A27"/>
                </a:solidFill>
                <a:latin typeface="Open Sans"/>
              </a:rPr>
              <a:t>8 Critical areas — highest concentration across all model families.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8983" y="2243081"/>
            <a:ext cx="107763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2" b="1" i="0">
                <a:solidFill>
                  <a:srgbClr val="181C23"/>
                </a:solidFill>
                <a:latin typeface="Montserrat"/>
              </a:rPr>
              <a:t>Fraud/AML &amp; AI/ML</a:t>
            </a:r>
            <a:r>
              <a:rPr sz="827" b="0" i="0">
                <a:solidFill>
                  <a:srgbClr val="A06C19"/>
                </a:solidFill>
                <a:latin typeface="Montserrat"/>
              </a:rPr>
              <a:t> </a:t>
            </a:r>
            <a:r>
              <a:rPr sz="827" b="0" i="0">
                <a:solidFill>
                  <a:srgbClr val="A06C19"/>
                </a:solidFill>
                <a:latin typeface="Montserrat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8983" y="2410508"/>
            <a:ext cx="1500001" cy="345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37" b="0" i="0">
                <a:solidFill>
                  <a:srgbClr val="282A27"/>
                </a:solidFill>
                <a:latin typeface="Open Sans"/>
              </a:rPr>
              <a:t>7 Critical areas each — real-time data integrity and concept drift are top risk drivers.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78983" y="2929161"/>
            <a:ext cx="75974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32" b="1" i="0">
                <a:solidFill>
                  <a:srgbClr val="181C23"/>
                </a:solidFill>
                <a:latin typeface="Montserrat"/>
              </a:rPr>
              <a:t>Vendor Data</a:t>
            </a:r>
            <a:r>
              <a:rPr sz="827" b="0" i="0">
                <a:solidFill>
                  <a:srgbClr val="A06C19"/>
                </a:solidFill>
                <a:latin typeface="Montserrat"/>
              </a:rPr>
              <a:t> </a:t>
            </a:r>
            <a:r>
              <a:rPr sz="827" b="0" i="0">
                <a:solidFill>
                  <a:srgbClr val="A06C19"/>
                </a:solidFill>
                <a:latin typeface="Montserrat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78983" y="3096589"/>
            <a:ext cx="1277955" cy="345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37" b="0" i="0">
                <a:solidFill>
                  <a:srgbClr val="282A27"/>
                </a:solidFill>
                <a:latin typeface="Open Sans"/>
              </a:rPr>
              <a:t>Critical for IFRS9, Stress Testing, Decisioning, Fraud/AML — often underassessed in practice.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148" y="6012208"/>
            <a:ext cx="580563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79" b="1" i="0">
                <a:solidFill>
                  <a:srgbClr val="FFAD28"/>
                </a:solidFill>
                <a:latin typeface="Montserrat"/>
              </a:rPr>
              <a:t>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148" y="6135434"/>
            <a:ext cx="1414427" cy="3318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26" b="0" i="0">
                <a:solidFill>
                  <a:srgbClr val="FFFFFF"/>
                </a:solidFill>
                <a:latin typeface="Open Sans"/>
              </a:rPr>
              <a:t>Which model families are in active development or under MRM review? Prioritize those quadrants first.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792" y="6582652"/>
            <a:ext cx="47207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8" b="1" i="0">
                <a:solidFill>
                  <a:srgbClr val="FFAD28"/>
                </a:solidFill>
                <a:latin typeface="Montserrat"/>
              </a:rPr>
              <a:t>Genpact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0651" y="6577889"/>
            <a:ext cx="120592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1847F"/>
                </a:solidFill>
                <a:latin typeface="Open Sans"/>
              </a:rPr>
              <a:t>Confidential | June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70363" y="6577889"/>
            <a:ext cx="21639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1847F"/>
                </a:solidFill>
                <a:latin typeface="Open Sans"/>
              </a:rPr>
              <a:t>4 / 5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63920"/>
              </p:ext>
            </p:extLst>
          </p:nvPr>
        </p:nvGraphicFramePr>
        <p:xfrm>
          <a:off x="304792" y="955899"/>
          <a:ext cx="9562860" cy="39636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5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62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8283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11" b="1" i="0">
                          <a:solidFill>
                            <a:srgbClr val="FFFFFF"/>
                          </a:solidFill>
                          <a:latin typeface="Montserrat"/>
                        </a:rPr>
                        <a:t>IRB/Basel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11" b="1" i="0">
                          <a:solidFill>
                            <a:srgbClr val="FFFFFF"/>
                          </a:solidFill>
                          <a:latin typeface="Montserrat"/>
                        </a:rPr>
                        <a:t>IFRS9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11" b="1" i="0">
                          <a:solidFill>
                            <a:srgbClr val="FFFFFF"/>
                          </a:solidFill>
                          <a:latin typeface="Montserrat"/>
                        </a:rPr>
                        <a:t>Stress Testing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11" b="1" i="0">
                          <a:solidFill>
                            <a:srgbClr val="FFFFFF"/>
                          </a:solidFill>
                          <a:latin typeface="Montserrat"/>
                        </a:rPr>
                        <a:t>Credit Decisioning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11" b="1" i="0">
                          <a:solidFill>
                            <a:srgbClr val="FFFFFF"/>
                          </a:solidFill>
                          <a:latin typeface="Montserrat"/>
                        </a:rPr>
                        <a:t>Treasury/ALM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11" b="1" i="0">
                          <a:solidFill>
                            <a:srgbClr val="FFFFFF"/>
                          </a:solidFill>
                          <a:latin typeface="Montserrat"/>
                        </a:rPr>
                        <a:t>Fraud/AML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11" b="1" i="0">
                          <a:solidFill>
                            <a:srgbClr val="FFFFFF"/>
                          </a:solidFill>
                          <a:latin typeface="Montserrat"/>
                        </a:rPr>
                        <a:t>AI/ML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11" b="1" i="0">
                          <a:solidFill>
                            <a:srgbClr val="FFFFFF"/>
                          </a:solidFill>
                          <a:latin typeface="Montserrat"/>
                        </a:rPr>
                        <a:t>Collections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11" b="1" i="0">
                          <a:solidFill>
                            <a:srgbClr val="FFFFFF"/>
                          </a:solidFill>
                          <a:latin typeface="Montserrat"/>
                        </a:rPr>
                        <a:t>Marketing</a:t>
                      </a:r>
                    </a:p>
                  </a:txBody>
                  <a:tcPr anchor="ctr">
                    <a:solidFill>
                      <a:srgbClr val="181C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Representativeness &amp; Selection Bias</a:t>
                      </a:r>
                    </a:p>
                  </a:txBody>
                  <a:tcPr anchor="ctr"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Historical Depth &amp; Censoring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Downturn &amp; Regime Coverage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Target Definition &amp; Label Consistency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Missingness &amp; Data Availability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Outliers, Extremes &amp; Plausibility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Temporal Integrity &amp; Feature Leakage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Feature Stability &amp; Behavioral Consistency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Dataset Drift &amp; Degradation (PSI)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Pipeline Stability &amp; Schema Consistency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54" b="1" i="0">
                          <a:solidFill>
                            <a:srgbClr val="181C23"/>
                          </a:solidFill>
                          <a:latin typeface="Open Sans"/>
                        </a:rPr>
                        <a:t>External / Vendor Data Robustness</a:t>
                      </a:r>
                    </a:p>
                  </a:txBody>
                  <a:tcPr anchor="ctr">
                    <a:lnT w="9525" cmpd="sng">
                      <a:solidFill>
                        <a:srgbClr val="D0C8B8"/>
                      </a:solidFill>
                    </a:lnT>
                    <a:lnB w="9525" cmpd="sng">
                      <a:solidFill>
                        <a:srgbClr val="D0C8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C</a:t>
                      </a:r>
                    </a:p>
                  </a:txBody>
                  <a:tcPr anchor="ctr">
                    <a:solidFill>
                      <a:srgbClr val="FF4F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FFFFFF"/>
                          </a:solidFill>
                          <a:latin typeface="Open Sans"/>
                        </a:rPr>
                        <a:t>M</a:t>
                      </a:r>
                    </a:p>
                  </a:txBody>
                  <a:tcPr anchor="ctr">
                    <a:solidFill>
                      <a:srgbClr val="6D70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IN" sz="600" b="1" i="0">
                          <a:solidFill>
                            <a:srgbClr val="181C23"/>
                          </a:solidFill>
                          <a:latin typeface="Open Sans"/>
                        </a:rPr>
                        <a:t>H</a:t>
                      </a:r>
                    </a:p>
                  </a:txBody>
                  <a:tcPr anchor="ctr">
                    <a:solidFill>
                      <a:srgbClr val="FFA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620166"/>
            <a:ext cx="11582400" cy="533102"/>
          </a:xfrm>
          <a:prstGeom prst="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800" y="620166"/>
            <a:ext cx="50800" cy="533102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4800" y="1229469"/>
            <a:ext cx="3784550" cy="4277022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4325" y="1238994"/>
            <a:ext cx="3765500" cy="728364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6215" y="4871888"/>
            <a:ext cx="3521719" cy="533697"/>
          </a:xfrm>
          <a:prstGeom prst="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6215" y="4871888"/>
            <a:ext cx="38100" cy="533697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03650" y="1229469"/>
            <a:ext cx="3784550" cy="4277022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13175" y="1238994"/>
            <a:ext cx="3765500" cy="728364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5065" y="4871888"/>
            <a:ext cx="3521719" cy="533697"/>
          </a:xfrm>
          <a:prstGeom prst="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5065" y="4871888"/>
            <a:ext cx="38100" cy="533697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02500" y="1229469"/>
            <a:ext cx="3784550" cy="4277022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12025" y="1238994"/>
            <a:ext cx="3765500" cy="728364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33916" y="4871888"/>
            <a:ext cx="3521719" cy="533697"/>
          </a:xfrm>
          <a:prstGeom prst="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33916" y="4871888"/>
            <a:ext cx="38100" cy="533697"/>
          </a:xfrm>
          <a:prstGeom prst="rect">
            <a:avLst/>
          </a:prstGeom>
          <a:solidFill>
            <a:srgbClr val="FFA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4800" y="5567362"/>
            <a:ext cx="11582400" cy="907553"/>
          </a:xfrm>
          <a:prstGeom prst="roundRect">
            <a:avLst>
              <a:gd name="adj" fmla="val 6297"/>
            </a:avLst>
          </a:prstGeom>
          <a:solidFill>
            <a:srgbClr val="28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89204" y="5668763"/>
            <a:ext cx="45698" cy="7998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89204" y="5963733"/>
            <a:ext cx="45698" cy="7998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89204" y="6258703"/>
            <a:ext cx="45698" cy="7998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528196"/>
            <a:ext cx="12192000" cy="238422"/>
          </a:xfrm>
          <a:prstGeom prst="rect">
            <a:avLst/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4792" y="184691"/>
            <a:ext cx="3873155" cy="4095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22" b="1" i="0">
                <a:solidFill>
                  <a:srgbClr val="181C23"/>
                </a:solidFill>
                <a:latin typeface="Montserrat"/>
              </a:rPr>
              <a:t>Suggested Next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802" y="620032"/>
            <a:ext cx="10886832" cy="516212"/>
          </a:xfrm>
          <a:prstGeom prst="rect">
            <a:avLst/>
          </a:prstGeom>
          <a:noFill/>
        </p:spPr>
        <p:txBody>
          <a:bodyPr wrap="square" lIns="137156" tIns="68578" rIns="137156" bIns="68578">
            <a:spAutoFit/>
          </a:bodyPr>
          <a:lstStyle/>
          <a:p>
            <a:pPr algn="l"/>
            <a:r>
              <a:rPr sz="1055" b="1" i="0">
                <a:solidFill>
                  <a:srgbClr val="181C23"/>
                </a:solidFill>
                <a:latin typeface="Montserrat"/>
              </a:rPr>
              <a:t>A three-phase approach — Discovery, Assessment, Embedding — delivers rapid risk visibility within weeks while building durable DQ capability for the model development lifecycle.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204" y="1315161"/>
            <a:ext cx="51582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8" b="1" i="0">
                <a:solidFill>
                  <a:srgbClr val="FFAD28"/>
                </a:solidFill>
                <a:latin typeface="Montserrat"/>
              </a:rPr>
              <a:t>Phase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204" y="1471278"/>
            <a:ext cx="858865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Montserrat"/>
              </a:rPr>
              <a:t>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085" y="1717820"/>
            <a:ext cx="685723" cy="173350"/>
          </a:xfrm>
          <a:prstGeom prst="rect">
            <a:avLst/>
          </a:prstGeom>
          <a:solidFill>
            <a:srgbClr val="282A27"/>
          </a:solidFill>
        </p:spPr>
        <p:txBody>
          <a:bodyPr wrap="none" lIns="68578" tIns="15239" rIns="68578" bIns="15239">
            <a:spAutoFit/>
          </a:bodyPr>
          <a:lstStyle/>
          <a:p>
            <a:pPr algn="l"/>
            <a:r>
              <a:rPr sz="763" b="1" i="0">
                <a:solidFill>
                  <a:srgbClr val="FFAD28"/>
                </a:solidFill>
                <a:latin typeface="Open Sans"/>
              </a:rPr>
              <a:t>Weeks 1–3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2439" y="1717820"/>
            <a:ext cx="1174313" cy="173350"/>
          </a:xfrm>
          <a:prstGeom prst="rect">
            <a:avLst/>
          </a:prstGeom>
          <a:solidFill>
            <a:srgbClr val="282A27"/>
          </a:solidFill>
        </p:spPr>
        <p:txBody>
          <a:bodyPr wrap="none" lIns="68578" tIns="15239" rIns="68578" bIns="15239">
            <a:spAutoFit/>
          </a:bodyPr>
          <a:lstStyle/>
          <a:p>
            <a:pPr algn="l"/>
            <a:r>
              <a:rPr sz="763" b="1" i="0">
                <a:solidFill>
                  <a:srgbClr val="FFAD28"/>
                </a:solidFill>
                <a:latin typeface="Open Sans"/>
              </a:rPr>
              <a:t>Low–Medium Effort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156" y="4925045"/>
            <a:ext cx="46596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5" b="1" i="0">
                <a:solidFill>
                  <a:srgbClr val="966618"/>
                </a:solidFill>
                <a:latin typeface="Montserrat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156" y="5057499"/>
            <a:ext cx="3255682" cy="285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282A27"/>
                </a:solidFill>
                <a:latin typeface="Open Sans"/>
              </a:rPr>
              <a:t>Prioritized risk heatmap (Excel framework populated for priority models)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957" y="1315161"/>
            <a:ext cx="53695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8" b="1" i="0">
                <a:solidFill>
                  <a:srgbClr val="FFAD28"/>
                </a:solidFill>
                <a:latin typeface="Montserrat"/>
              </a:rPr>
              <a:t>Phase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957" y="1471278"/>
            <a:ext cx="1060225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Montserrat"/>
              </a:rPr>
              <a:t>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838" y="1717820"/>
            <a:ext cx="746443" cy="173350"/>
          </a:xfrm>
          <a:prstGeom prst="rect">
            <a:avLst/>
          </a:prstGeom>
          <a:solidFill>
            <a:srgbClr val="282A27"/>
          </a:solidFill>
        </p:spPr>
        <p:txBody>
          <a:bodyPr wrap="none" lIns="68578" tIns="15239" rIns="68578" bIns="15239">
            <a:spAutoFit/>
          </a:bodyPr>
          <a:lstStyle/>
          <a:p>
            <a:pPr algn="l"/>
            <a:r>
              <a:rPr sz="763" b="1" i="0">
                <a:solidFill>
                  <a:srgbClr val="FFAD28"/>
                </a:solidFill>
                <a:latin typeface="Open Sans"/>
              </a:rPr>
              <a:t>Weeks 4–10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1912" y="1717820"/>
            <a:ext cx="1203334" cy="173350"/>
          </a:xfrm>
          <a:prstGeom prst="rect">
            <a:avLst/>
          </a:prstGeom>
          <a:solidFill>
            <a:srgbClr val="282A27"/>
          </a:solidFill>
        </p:spPr>
        <p:txBody>
          <a:bodyPr wrap="none" lIns="68578" tIns="15239" rIns="68578" bIns="15239">
            <a:spAutoFit/>
          </a:bodyPr>
          <a:lstStyle/>
          <a:p>
            <a:pPr algn="l"/>
            <a:r>
              <a:rPr sz="763" b="1" i="0">
                <a:solidFill>
                  <a:srgbClr val="FFAD28"/>
                </a:solidFill>
                <a:latin typeface="Open Sans"/>
              </a:rPr>
              <a:t>Medium–High Effort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4909" y="4925045"/>
            <a:ext cx="46596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5" b="1" i="0">
                <a:solidFill>
                  <a:srgbClr val="966618"/>
                </a:solidFill>
                <a:latin typeface="Montserrat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4909" y="5057499"/>
            <a:ext cx="3297799" cy="285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282A27"/>
                </a:solidFill>
                <a:latin typeface="Open Sans"/>
              </a:rPr>
              <a:t>DQ Assessment Report per model family; issues log with severity and remediation paths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3710" y="1315161"/>
            <a:ext cx="53725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8" b="1" i="0">
                <a:solidFill>
                  <a:srgbClr val="FFAD28"/>
                </a:solidFill>
                <a:latin typeface="Montserrat"/>
              </a:rPr>
              <a:t>Phase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3710" y="1471278"/>
            <a:ext cx="1025846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Montserrat"/>
              </a:rPr>
              <a:t>Embedding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3590" y="1717820"/>
            <a:ext cx="807312" cy="173350"/>
          </a:xfrm>
          <a:prstGeom prst="rect">
            <a:avLst/>
          </a:prstGeom>
          <a:solidFill>
            <a:srgbClr val="282A27"/>
          </a:solidFill>
        </p:spPr>
        <p:txBody>
          <a:bodyPr wrap="none" lIns="68578" tIns="15239" rIns="68578" bIns="15239">
            <a:spAutoFit/>
          </a:bodyPr>
          <a:lstStyle/>
          <a:p>
            <a:pPr algn="l"/>
            <a:r>
              <a:rPr sz="763" b="1" i="0">
                <a:solidFill>
                  <a:srgbClr val="FFAD28"/>
                </a:solidFill>
                <a:latin typeface="Open Sans"/>
              </a:rPr>
              <a:t>Weeks 11–20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1534" y="1717820"/>
            <a:ext cx="1389216" cy="173350"/>
          </a:xfrm>
          <a:prstGeom prst="rect">
            <a:avLst/>
          </a:prstGeom>
          <a:solidFill>
            <a:srgbClr val="282A27"/>
          </a:solidFill>
        </p:spPr>
        <p:txBody>
          <a:bodyPr wrap="none" lIns="68578" tIns="15239" rIns="68578" bIns="15239">
            <a:spAutoFit/>
          </a:bodyPr>
          <a:lstStyle/>
          <a:p>
            <a:pPr algn="l"/>
            <a:r>
              <a:rPr sz="763" b="1" i="0">
                <a:solidFill>
                  <a:srgbClr val="FFAD28"/>
                </a:solidFill>
                <a:latin typeface="Open Sans"/>
              </a:rPr>
              <a:t>Medium Effort, ongoing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53662" y="4925045"/>
            <a:ext cx="46596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85" b="1" i="0">
                <a:solidFill>
                  <a:srgbClr val="966618"/>
                </a:solidFill>
                <a:latin typeface="Montserrat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53662" y="5057499"/>
            <a:ext cx="2881984" cy="285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282A27"/>
                </a:solidFill>
                <a:latin typeface="Open Sans"/>
              </a:rPr>
              <a:t>Standing DQ governance process; repeatable framework playbook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1859" y="5635622"/>
            <a:ext cx="1896915" cy="148586"/>
          </a:xfrm>
          <a:prstGeom prst="rect">
            <a:avLst/>
          </a:prstGeom>
          <a:noFill/>
        </p:spPr>
        <p:txBody>
          <a:bodyPr wrap="none" lIns="0" tIns="15239" rIns="0" bIns="0">
            <a:spAutoFit/>
          </a:bodyPr>
          <a:lstStyle/>
          <a:p>
            <a:pPr algn="l"/>
            <a:r>
              <a:rPr sz="738" b="1" i="0">
                <a:solidFill>
                  <a:srgbClr val="FFAD28"/>
                </a:solidFill>
                <a:latin typeface="Montserrat"/>
              </a:rPr>
              <a:t>Genpact Recommendations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97729" y="5626157"/>
            <a:ext cx="430861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  <a:latin typeface="Open Sans"/>
              </a:rPr>
              <a:t>Start with highest-criticality model families currently in development or under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7729" y="5921127"/>
            <a:ext cx="474318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  <a:latin typeface="Open Sans"/>
              </a:rPr>
              <a:t>Use Excel framework directly as the working assessment tool — PPT serves as alignment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7729" y="6216097"/>
            <a:ext cx="4403714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FFFFFF"/>
                </a:solidFill>
                <a:latin typeface="Open Sans"/>
              </a:rPr>
              <a:t>Treat third-party/vendor data as a separate workstream given regulatory sensitivity</a:t>
            </a:r>
            <a:r>
              <a:rPr sz="968" b="0" i="0">
                <a:solidFill>
                  <a:srgbClr val="B28946"/>
                </a:solidFill>
                <a:latin typeface="Open Sans"/>
              </a:rPr>
              <a:t> </a:t>
            </a:r>
            <a:r>
              <a:rPr sz="968" b="0" i="0">
                <a:solidFill>
                  <a:srgbClr val="B28946"/>
                </a:solidFill>
                <a:latin typeface="Open Sans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4792" y="6561519"/>
            <a:ext cx="201657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1" i="0">
                <a:solidFill>
                  <a:srgbClr val="FFAD28"/>
                </a:solidFill>
                <a:latin typeface="Open Sans"/>
              </a:rPr>
              <a:t>Genpact</a:t>
            </a:r>
            <a:r>
              <a:rPr sz="911" b="0" i="0">
                <a:solidFill>
                  <a:srgbClr val="B4B8B3"/>
                </a:solidFill>
                <a:latin typeface="Open Sans"/>
              </a:rPr>
              <a:t> | Confidential | June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17103" y="6561519"/>
            <a:ext cx="914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B4B8B3"/>
                </a:solidFill>
                <a:latin typeface="Open San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6204" y="2058687"/>
            <a:ext cx="3521631" cy="888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1738" indent="-121738" algn="l">
              <a:lnSpc>
                <a:spcPts val="1308"/>
              </a:lnSpc>
              <a:spcBef>
                <a:spcPts val="0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Inventory active model families and map to framework criticality ratings</a:t>
            </a:r>
            <a:r>
              <a:rPr sz="968" b="0" i="0">
                <a:solidFill>
                  <a:srgbClr val="A06C19"/>
                </a:solidFill>
                <a:latin typeface="Open Sans"/>
              </a:rPr>
              <a:t> </a:t>
            </a:r>
            <a:r>
              <a:rPr sz="968" b="0" i="0">
                <a:solidFill>
                  <a:srgbClr val="A06C19"/>
                </a:solidFill>
                <a:latin typeface="Open Sans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  <a:p>
            <a:pPr marL="121738" indent="-121738" algn="l">
              <a:lnSpc>
                <a:spcPts val="1200"/>
              </a:lnSpc>
              <a:spcBef>
                <a:spcPts val="263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Identify top 3–5 Critical DQ areas per priority model family</a:t>
            </a:r>
          </a:p>
          <a:p>
            <a:pPr marL="121738" indent="-121738" algn="l">
              <a:lnSpc>
                <a:spcPts val="1200"/>
              </a:lnSpc>
              <a:spcBef>
                <a:spcPts val="263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Align on data asset ownership and pipeline documentation availability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4957" y="2058687"/>
            <a:ext cx="3521631" cy="1067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1738" indent="-121738" algn="l">
              <a:lnSpc>
                <a:spcPts val="1308"/>
              </a:lnSpc>
              <a:spcBef>
                <a:spcPts val="0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Execute diagnostic checks across prioritized DQ areas: PSI, KS, leakage tests, vintage seasoning, missingness profiling</a:t>
            </a:r>
            <a:r>
              <a:rPr sz="968" b="0" i="0">
                <a:solidFill>
                  <a:srgbClr val="A06C19"/>
                </a:solidFill>
                <a:latin typeface="Open Sans"/>
              </a:rPr>
              <a:t> </a:t>
            </a:r>
            <a:r>
              <a:rPr sz="968" b="0" i="0">
                <a:solidFill>
                  <a:srgbClr val="A06C19"/>
                </a:solidFill>
                <a:latin typeface="Open Sans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  <a:p>
            <a:pPr marL="121738" indent="-121738" algn="l">
              <a:lnSpc>
                <a:spcPts val="1200"/>
              </a:lnSpc>
              <a:spcBef>
                <a:spcPts val="263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Document evidence artifacts: distribution reports, lineage maps, drift dashboards</a:t>
            </a:r>
          </a:p>
          <a:p>
            <a:pPr marL="121738" indent="-121738" algn="l">
              <a:lnSpc>
                <a:spcPts val="1308"/>
              </a:lnSpc>
              <a:spcBef>
                <a:spcPts val="263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Score datasets against illustrative thresholds (e.g., PSI &lt;0.10 preferred; &gt;0.25 investigated)</a:t>
            </a:r>
            <a:r>
              <a:rPr sz="968" b="0" i="0">
                <a:solidFill>
                  <a:srgbClr val="A06C19"/>
                </a:solidFill>
                <a:latin typeface="Open Sans"/>
              </a:rPr>
              <a:t> </a:t>
            </a:r>
            <a:r>
              <a:rPr sz="968" b="0" i="0">
                <a:solidFill>
                  <a:srgbClr val="A06C19"/>
                </a:solidFill>
                <a:latin typeface="Open Sans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3710" y="2058687"/>
            <a:ext cx="3521631" cy="888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1738" indent="-121738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Integrate DQ checks into model development workflow and MRM submission standards</a:t>
            </a:r>
          </a:p>
          <a:p>
            <a:pPr marL="121738" indent="-121738" algn="l">
              <a:lnSpc>
                <a:spcPts val="1308"/>
              </a:lnSpc>
              <a:spcBef>
                <a:spcPts val="263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Establish drift monitoring cadence and pipeline alerting thresholds</a:t>
            </a:r>
            <a:r>
              <a:rPr sz="968" b="0" i="0">
                <a:solidFill>
                  <a:srgbClr val="A06C19"/>
                </a:solidFill>
                <a:latin typeface="Open Sans"/>
              </a:rPr>
              <a:t> </a:t>
            </a:r>
            <a:r>
              <a:rPr sz="968" b="0" i="0">
                <a:solidFill>
                  <a:srgbClr val="A06C19"/>
                </a:solidFill>
                <a:latin typeface="Open Sans"/>
                <a:hlinkClick r:id="rId3" tooltip="DQ Framework_Analytics and Modeling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  <a:p>
            <a:pPr marL="121738" indent="-121738" algn="l">
              <a:lnSpc>
                <a:spcPts val="1200"/>
              </a:lnSpc>
              <a:spcBef>
                <a:spcPts val="263"/>
              </a:spcBef>
              <a:spcAft>
                <a:spcPts val="0"/>
              </a:spcAft>
              <a:buClr>
                <a:srgbClr val="A06C19"/>
              </a:buClr>
              <a:buSzPct val="100000"/>
              <a:buFont typeface="Open Sans" charset="0"/>
              <a:buChar char="■"/>
            </a:pPr>
            <a:r>
              <a:rPr sz="888" b="0" i="0">
                <a:solidFill>
                  <a:srgbClr val="282A27"/>
                </a:solidFill>
                <a:latin typeface="Open Sans"/>
              </a:rPr>
              <a:t>Build DQ sign-off as a pre-model-development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1033</Words>
  <Application>Microsoft Office PowerPoint</Application>
  <PresentationFormat>Widescreen</PresentationFormat>
  <Paragraphs>229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Open Sans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Bollineni, Harsha</dc:creator>
  <cp:keywords/>
  <dc:description>generated using python-pptx</dc:description>
  <cp:lastModifiedBy>Bollineni, Harsha</cp:lastModifiedBy>
  <cp:revision>2</cp:revision>
  <dcterms:created xsi:type="dcterms:W3CDTF">2026-06-10T07:27:46Z</dcterms:created>
  <dcterms:modified xsi:type="dcterms:W3CDTF">2026-06-10T10:38:48Z</dcterms:modified>
  <cp:category/>
</cp:coreProperties>
</file>