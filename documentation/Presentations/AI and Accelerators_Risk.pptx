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6" r:id="rId5"/>
  </p:sldMasterIdLst>
  <p:notesMasterIdLst>
    <p:notesMasterId r:id="rId10"/>
  </p:notesMasterIdLst>
  <p:handoutMasterIdLst>
    <p:handoutMasterId r:id="rId11"/>
  </p:handoutMasterIdLst>
  <p:sldIdLst>
    <p:sldId id="267" r:id="rId6"/>
    <p:sldId id="261" r:id="rId7"/>
    <p:sldId id="299" r:id="rId8"/>
    <p:sldId id="257" r:id="rId9"/>
  </p:sldIdLst>
  <p:sldSz cx="12192000" cy="6858000"/>
  <p:notesSz cx="6858000" cy="9144000"/>
  <p:custDataLst>
    <p:custData r:id="rId2"/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34F104-3304-6C90-7082-90C21AFDBB0A}" name="Murillo Alencaster, Gabriela" initials="MAG" userId="S::770002383@genpact.com::ab0cb005-99ad-4cd4-9676-ab3d1ab83e2b" providerId="AD"/>
  <p188:author id="{18B03B0F-0A7B-BC9C-7EED-DDF90452464E}" name="Jayagopal, Siddharth" initials="SJ" userId="S::703332215@genpact.com::6c1ab28a-daf3-46bc-8431-59b15fa27ac7" providerId="AD"/>
  <p188:author id="{93BCCB23-A4B4-F21C-6ABA-2CE131BBF3EB}" name="Benjamin, Roberto Emilio" initials="BRE" userId="S::770002370@genpact.com::4129188a-1130-48f2-b864-0b078266151b" providerId="AD"/>
  <p188:author id="{7C1BDD55-036E-C2C2-8550-50E6366D3ABB}" name="Osborne, Jason" initials="OJ" userId="S::750027115@genpact.com::218691a9-8503-49ec-a0dd-a10fdfb55dbe" providerId="AD"/>
  <p188:author id="{6661F762-BAB7-23A5-8B5F-52362F8C26FF}" name="Bhatia, Harpreet S" initials="BHS" userId="S::302006233@GENPACT.COM::2925ffea-1238-4821-9c3b-19bc931047aa" providerId="AD"/>
  <p188:author id="{44EFD069-F581-EDF7-CED8-F5533379DC11}" name="Mishra, Padmaja" initials="PM" userId="S::770002743@genpact.com::c8b1bdba-8702-4932-8702-8b8802dd6d22" providerId="AD"/>
  <p188:author id="{1860BC80-FCF1-5CE0-8EF3-09F0C9D4EC8A}" name="Uhart, Fernando" initials="UF" userId="S::x957259@sbna.santander.us::cc8a59c9-7f1f-4bdd-80cc-1a1fd192352b" providerId="AD"/>
  <p188:author id="{CCDAA89A-C5CA-B993-618A-3440A91F294F}" name="Talwar, Nitika" initials="NT" userId="S::703003733@GENPACT.COM::7fde364c-a89d-4a09-b6de-2e7855062e81" providerId="AD"/>
  <p188:author id="{4FB3B59B-747E-5E29-B69E-566E82859828}" name="Arun Kumar, T" initials="TA" userId="S::703342513@genpact.com::9a57cda6-f980-4fa2-a092-a82e24e9584e" providerId="AD"/>
  <p188:author id="{374A59A2-A1D4-1E0D-EACC-F4BB84CDD83F}" name="Gopaldas, Ritesh" initials="RG" userId="S::703368654@genpact.com::14ea91a0-de37-4edd-a6ec-fe6cf405c9ed" providerId="AD"/>
  <p188:author id="{B340F1A2-A482-BC3A-1BFD-CB2DC452F1BF}" name="Panda, Prajesh" initials="PP" userId="S::770002742@genpact.com::2dbda638-5648-4d28-aacd-3f522587427d" providerId="AD"/>
  <p188:author id="{9FB9F8C2-3371-EBAC-16A9-9BACC86112B8}" name="LE, VU THIEN HUONG" initials="VL" userId="S::784000474@GENPACT.COM::43b46143-52b0-4cfb-a176-d54aa217e377" providerId="AD"/>
  <p188:author id="{D55BD0C6-4BF4-CA1C-AA55-85AE9384CB0E}" name="Babu K, Suresh" initials="SB" userId="S::703103521@GENPACT.COM::9b8bb480-a178-4d21-bbaa-cec993f0465c" providerId="AD"/>
  <p188:author id="{10E11CCA-946D-108D-7C7F-E2D24CE91B74}" name="Rane, Deepshri" initials="DR" userId="S::770002807@genpact.com::034c87df-28c3-4c58-b64a-9191315d2e8d" providerId="AD"/>
  <p188:author id="{44C1CACD-F304-350D-9D40-176889AFE0BD}" name="Shaikh, Qulsum" initials="QS" userId="S::770002777@genpact.com::dbf86e23-046e-4fa2-8879-083fbf875400" providerId="AD"/>
  <p188:author id="{71DB99D1-1797-B037-5B84-52C59A379E85}" name="Saurav, Samir" initials="SS" userId="S::770000570@GENPACT.COM::77518ca5-05c4-4572-b7d7-9300fc00eb7e" providerId="AD"/>
  <p188:author id="{8EA92FD9-1593-76A9-8AB0-BDAB88568803}" name="Naskar, Anirban" initials="NA" userId="S::703142301@GENPACT.COM::4c08c128-fa1c-48c9-9c9c-a5cf8f9e46f6" providerId="AD"/>
  <p188:author id="{74D7EBD9-D422-A52E-C98C-22AEB5930342}" name="Kumar, P Phani" initials="PP" userId="S::703116719@GENPACT.COM::834119df-b1a4-4779-b1ec-d5c8607be61c" providerId="AD"/>
  <p188:author id="{C54119E7-69C6-D9C8-7875-4E14691CEC3B}" name="Saha, Tamoghna" initials="TS" userId="S::703307332@genpact.com::8bd52d63-79ca-4d06-a401-e76a30d2ac03" providerId="AD"/>
  <p188:author id="{8F2D41F1-E01B-FC76-739E-1F92ECC9B38E}" name="Sarosh, Mohammad Amir" initials="MS" userId="S::703109460@GENPACT.COM::ffd8a783-3e5f-44b4-8e0e-e3a505deca99" providerId="AD"/>
  <p188:author id="{13B5F1F4-5843-0B52-81D5-7F061A930A8F}" name="Chawla, Himani" initials="CH" userId="S::703291881@genpact.com::c7ffc7e9-dc35-476c-8206-be5b8260f2b5" providerId="AD"/>
  <p188:author id="{ADE5CDF9-EA6A-A974-0C56-FC96EBA2C661}" name="Ramegowda, Ravi" initials="" userId="S::703063991@GENPACT.COM::cf7c9413-704f-4a8a-b6a7-c123d392adf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CF"/>
    <a:srgbClr val="FFAB28"/>
    <a:srgbClr val="373835"/>
    <a:srgbClr val="C5C6C3"/>
    <a:srgbClr val="4C4D4E"/>
    <a:srgbClr val="6D7069"/>
    <a:srgbClr val="5E6062"/>
    <a:srgbClr val="F50312"/>
    <a:srgbClr val="EB0000"/>
    <a:srgbClr val="FF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4F9B51-8931-40EC-9AF4-2FF0B97FEFD9}" v="15" dt="2026-07-06T16:24:35.152"/>
    <p1510:client id="{CDBDE28D-0FF7-456D-B98F-B9BA05626F1F}" v="4" dt="2026-07-07T10:07:33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6E1203E-1007-DD0C-733C-EDC2172581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02E0B-83C3-4B71-85D1-AA0C09EA82C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8393D-EB63-44A0-B4D7-016FB8CC501F}" type="datetimeFigureOut">
              <a:rPr lang="en-GB" smtClean="0">
                <a:latin typeface="Arial" panose="020B0604020202020204" pitchFamily="34" charset="0"/>
              </a:rPr>
              <a:t>07/09/2026</a:t>
            </a:fld>
            <a:endParaRPr lang="en-GB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AAE03-9EC7-E97B-F9EE-1A59EAC97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DA0C7-C4E7-AD22-A866-AC8AE0419A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27802-A2CF-4C79-9EE2-050B6EC4F944}" type="slidenum">
              <a:rPr lang="en-GB" smtClean="0">
                <a:latin typeface="Arial" panose="020B0604020202020204" pitchFamily="34" charset="0"/>
              </a:rPr>
              <a:t>‹#›</a:t>
            </a:fld>
            <a:endParaRPr lang="en-GB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474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CDE4A4C-C0C3-456C-91D9-A6F488FAE3F2}" type="datetimeFigureOut">
              <a:rPr lang="en-GB" smtClean="0"/>
              <a:pPr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40852F0-EDBA-4F67-95CC-8B541D6A311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61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5FCA4C-2228-4D7C-9620-40809A1801B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9303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07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F18B3B-2EE1-43DB-ABBA-722042FADF2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55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4EC77-8C42-F6FA-8179-5C9EA77272E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58" r="5558"/>
          <a:stretch/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D5481A7-3EEF-7229-4EAA-5E9E31F6ED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58" r="5558"/>
          <a:stretch/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4FA77A-6F32-B36C-ADE7-E752E378DC93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logo with white text&#10;&#10;Description automatically generated">
            <a:extLst>
              <a:ext uri="{FF2B5EF4-FFF2-40B4-BE49-F238E27FC236}">
                <a16:creationId xmlns:a16="http://schemas.microsoft.com/office/drawing/2014/main" id="{257F81D4-120E-65BE-EC66-D4AF11ACD7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681605-3C27-D2FA-01B4-539191236906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2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0AC5D75-46D5-41BE-D072-FD03A4BFFB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886" r="25327"/>
          <a:stretch/>
        </p:blipFill>
        <p:spPr>
          <a:xfrm>
            <a:off x="6095096" y="0"/>
            <a:ext cx="609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3E8FD59-1EE2-C337-2BC2-6B782D7A2E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886" r="25327"/>
          <a:stretch/>
        </p:blipFill>
        <p:spPr>
          <a:xfrm>
            <a:off x="6095096" y="0"/>
            <a:ext cx="6096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3C9A9A-A1C4-5635-A62B-60C4FC6997E1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logo with white text&#10;&#10;Description automatically generated">
            <a:extLst>
              <a:ext uri="{FF2B5EF4-FFF2-40B4-BE49-F238E27FC236}">
                <a16:creationId xmlns:a16="http://schemas.microsoft.com/office/drawing/2014/main" id="{803F0A2E-2976-FE80-8923-8F04AEE314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E030632-2CD5-B2B5-60EA-84BA2FD9759C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371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3A28A5-A630-8326-89C1-346C04B687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272288E-3EF4-21F9-C3BB-AA91440D45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D157AD-2F70-5AC0-8941-C2D36912B186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logo with white text&#10;&#10;Description automatically generated">
            <a:extLst>
              <a:ext uri="{FF2B5EF4-FFF2-40B4-BE49-F238E27FC236}">
                <a16:creationId xmlns:a16="http://schemas.microsoft.com/office/drawing/2014/main" id="{80D15AF4-F504-1C68-C79D-3B4AD54A36E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614AE5-0AFB-AC90-436D-05E0EFA58F00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065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63A28A5-A630-8326-89C1-346C04B687A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79" r="557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3FDA96C-72A8-B6D4-4880-C44BF236D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79" r="557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31999FB-7612-0AA3-A830-C7E02599215C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logo with white text&#10;&#10;Description automatically generated">
            <a:extLst>
              <a:ext uri="{FF2B5EF4-FFF2-40B4-BE49-F238E27FC236}">
                <a16:creationId xmlns:a16="http://schemas.microsoft.com/office/drawing/2014/main" id="{60657F11-A71D-99FC-8D58-D9E0FA3850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CB75621-C899-0A6F-7283-6BE65DC34F58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949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CD3415-420E-E466-253F-10F796F124B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" r="15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B276775-1C7C-1FDB-7AA5-5A9EE2A335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" r="15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31259F-1D3E-B5D8-EFD7-8536259DB489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logo with white text&#10;&#10;Description automatically generated">
            <a:extLst>
              <a:ext uri="{FF2B5EF4-FFF2-40B4-BE49-F238E27FC236}">
                <a16:creationId xmlns:a16="http://schemas.microsoft.com/office/drawing/2014/main" id="{26A133BF-04D6-3909-01D4-56AFE0370C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EE9DD2-9D0C-BAB5-81BC-DDD8E6E27DD1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4592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FDE761C-5A0F-FFE1-9778-441A830977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9" b="780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DB94490-92CC-B034-A6DA-D9F11AA360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9" b="780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A67AB2-2FA4-DAFC-F5DF-C5483BB1BA96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logo with white text&#10;&#10;Description automatically generated">
            <a:extLst>
              <a:ext uri="{FF2B5EF4-FFF2-40B4-BE49-F238E27FC236}">
                <a16:creationId xmlns:a16="http://schemas.microsoft.com/office/drawing/2014/main" id="{86DC7AAE-0E6B-E369-9D39-BBDE287182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2E54FD-A0AD-C2EE-6E07-D38E66BDD071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00463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13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5583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colorful swirly swirl&#10;&#10;Description automatically generated">
            <a:extLst>
              <a:ext uri="{FF2B5EF4-FFF2-40B4-BE49-F238E27FC236}">
                <a16:creationId xmlns:a16="http://schemas.microsoft.com/office/drawing/2014/main" id="{EF366B19-DAAD-70D7-F62D-549B4506B6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1356" y="-299292"/>
            <a:ext cx="7456583" cy="745658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A60B07D-6A57-C1C9-0AE8-96611FEA5DF2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logo with white text&#10;&#10;Description automatically generated">
            <a:extLst>
              <a:ext uri="{FF2B5EF4-FFF2-40B4-BE49-F238E27FC236}">
                <a16:creationId xmlns:a16="http://schemas.microsoft.com/office/drawing/2014/main" id="{4A4FE0FD-87DF-C28C-FC04-96EF9BA5D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D482B9-1FFE-87B7-A3B9-C7982B40EB7F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5583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olorful swirly swirl&#10;&#10;Description automatically generated">
            <a:extLst>
              <a:ext uri="{FF2B5EF4-FFF2-40B4-BE49-F238E27FC236}">
                <a16:creationId xmlns:a16="http://schemas.microsoft.com/office/drawing/2014/main" id="{912F8592-0743-0C03-86BC-24EBB907C9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1356" y="-299292"/>
            <a:ext cx="7456583" cy="74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082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A33215-CC12-D208-5CCE-E5972FAA08B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5" name="Google Shape;41;p28">
            <a:extLst>
              <a:ext uri="{FF2B5EF4-FFF2-40B4-BE49-F238E27FC236}">
                <a16:creationId xmlns:a16="http://schemas.microsoft.com/office/drawing/2014/main" id="{33382448-C39A-B656-11E6-9701FDBADBB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09" y="2303923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Title Slide</a:t>
            </a:r>
            <a:endParaRPr/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86079E78-6613-8F8B-B6B7-3D6721D2337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8332" y="420811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  <a:endParaRPr/>
          </a:p>
        </p:txBody>
      </p:sp>
      <p:pic>
        <p:nvPicPr>
          <p:cNvPr id="7" name="Picture 6" descr="A logo with white text&#10;&#10;Description automatically generated">
            <a:extLst>
              <a:ext uri="{FF2B5EF4-FFF2-40B4-BE49-F238E27FC236}">
                <a16:creationId xmlns:a16="http://schemas.microsoft.com/office/drawing/2014/main" id="{527601A5-C06F-FAEF-DE8F-5FA13D98567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58972A1F-5528-4339-E89B-A651EA09D53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8A4BBA9-B6E8-ABC3-1C84-53EE89568FDE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5583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olorful swirly object&#10;&#10;Description automatically generated with medium confidence">
            <a:extLst>
              <a:ext uri="{FF2B5EF4-FFF2-40B4-BE49-F238E27FC236}">
                <a16:creationId xmlns:a16="http://schemas.microsoft.com/office/drawing/2014/main" id="{12B20065-D620-43FA-49C7-A6EB355C4F4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80" b="19792"/>
          <a:stretch/>
        </p:blipFill>
        <p:spPr>
          <a:xfrm flipH="1">
            <a:off x="4671152" y="466378"/>
            <a:ext cx="7476972" cy="616224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23C3ABB-094F-99A9-D25E-B10B1ABC70E7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500A3249-BC85-B330-9127-C576D758BB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73" y="426423"/>
            <a:ext cx="2656930" cy="139309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5E3E25-407E-03AD-4F0E-D93D1F5D70A6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55834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olorful swirly object&#10;&#10;Description automatically generated with medium confidence">
            <a:extLst>
              <a:ext uri="{FF2B5EF4-FFF2-40B4-BE49-F238E27FC236}">
                <a16:creationId xmlns:a16="http://schemas.microsoft.com/office/drawing/2014/main" id="{FE5D9D43-BF89-173B-5F25-715160FCD2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680" b="19792"/>
          <a:stretch/>
        </p:blipFill>
        <p:spPr>
          <a:xfrm flipH="1">
            <a:off x="4671152" y="466378"/>
            <a:ext cx="7476972" cy="616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24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614511-9B1A-288F-21CC-E3D02860159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58" r="5558"/>
          <a:stretch/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BF638A-8A47-15D7-CDFF-817BA1CDC54B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D229F-5F2A-5D1A-2435-774AFFF556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58" r="5558"/>
          <a:stretch/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24A22EE-BB9C-FB6C-81DF-0744D7C11B65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9B539E66-A315-2653-9DD0-56A91A4B75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A908DF-3D5A-2F7A-7465-FD959212A26F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84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BF638A-8A47-15D7-CDFF-817BA1CDC54B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F486C5-17BC-B2BF-273C-0E2BD80AF5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886" r="25327"/>
          <a:stretch/>
        </p:blipFill>
        <p:spPr>
          <a:xfrm>
            <a:off x="6095096" y="0"/>
            <a:ext cx="6096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CFAE728-D7F6-9361-D52D-8B433494EEBD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7F8164AD-0073-F567-D170-4C81A48E7D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32BB0E-EF34-C869-D675-674DD621B8BB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06E916C-878A-BDDC-4BBC-B1F094154E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4886" r="25327"/>
          <a:stretch/>
        </p:blipFill>
        <p:spPr>
          <a:xfrm>
            <a:off x="6095096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135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CEC8C2-D9E6-4872-0A44-607BEF3765B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BF638A-8A47-15D7-CDFF-817BA1CDC54B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23667-917D-110D-1ECD-2E0C84D86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0B7E89-8677-8126-74DF-E51FE44C6EB1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D024431B-0C16-1DD4-F965-110ACF3B09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3448EC7-9F56-A462-D1FA-256CE2D563BC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558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A5EBED-9260-8C6D-D30F-92557407733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79" r="557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BF638A-8A47-15D7-CDFF-817BA1CDC54B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E585ED-B8FC-855A-DA3F-166ADF04EF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79" r="557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31C814-806F-15B3-962B-D71D369AA710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8FCD1A4-CBC2-5E32-37D4-EE1305C771D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E78700-BD35-9202-B960-B31CCAA2EFDF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818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985E83-CD66-6549-AA1C-91965B0503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" r="15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BF638A-8A47-15D7-CDFF-817BA1CDC54B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5343AF-1366-F76E-B71A-18D98AFD60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" r="15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A79849E-F01C-11E4-0336-72635028A37B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77F6ACFC-6D12-E494-19C3-50EA77FA14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016AAB-CD93-2F73-CC4A-26E81282B9E2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723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6999E9-ABFA-254E-B0F2-8034F3F90B5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9" b="780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BF638A-8A47-15D7-CDFF-817BA1CDC54B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084657-B087-E526-5B77-83881D9533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9" b="780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B626EC7-AF25-9892-893B-8DC624AA4794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Picture 5" descr="A black and white logo&#10;&#10;Description automatically generated">
            <a:extLst>
              <a:ext uri="{FF2B5EF4-FFF2-40B4-BE49-F238E27FC236}">
                <a16:creationId xmlns:a16="http://schemas.microsoft.com/office/drawing/2014/main" id="{CFC3C3BD-0579-9F84-427F-6698721AE1E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12FE91-5488-C01C-D882-4922E030DD19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411130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099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59B4F0-9757-3595-F0D5-F5C9CC4B8ECA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725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8AA550-7A7C-7859-3936-DCDAC21E9EC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5744" y="421256"/>
            <a:ext cx="6219933" cy="62755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9B0FBD-1D06-18FF-32A2-57F3E2D26DC0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86CF701-E8DD-116C-DEE3-94437EB3D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30D47C-17BE-12CA-81E0-B4448966E2BD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725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EE59FB9-B689-79FC-A44C-4A2CE1B6CD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55744" y="151080"/>
            <a:ext cx="6219933" cy="627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72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834BEFB-5FF2-A9F0-0A31-E5E8DFDC3B2C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9" name="Picture 8" descr="A black and white logo&#10;&#10;Description automatically generated">
            <a:extLst>
              <a:ext uri="{FF2B5EF4-FFF2-40B4-BE49-F238E27FC236}">
                <a16:creationId xmlns:a16="http://schemas.microsoft.com/office/drawing/2014/main" id="{18AF8C1F-18E3-1C68-B20F-77B720EBF0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sp>
        <p:nvSpPr>
          <p:cNvPr id="14" name="Google Shape;22;p26">
            <a:extLst>
              <a:ext uri="{FF2B5EF4-FFF2-40B4-BE49-F238E27FC236}">
                <a16:creationId xmlns:a16="http://schemas.microsoft.com/office/drawing/2014/main" id="{DDB3BA56-EAD5-5D65-30E3-BD8F506E16D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84EDBC-1EE3-09B7-D98C-A5145060C1C2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725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5D7BE2E0-D859-8133-0A18-808CF49D416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 Slide</a:t>
            </a:r>
            <a:endParaRPr/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F45BC6CB-DF2E-693A-1779-75C11CA0D2CB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Innovation into action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CAEF649-EC31-FA27-E7C9-439F29EE020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56" t="1944" r="10834" b="17129"/>
          <a:stretch/>
        </p:blipFill>
        <p:spPr>
          <a:xfrm>
            <a:off x="5463219" y="133349"/>
            <a:ext cx="6172200" cy="656265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3B43CD4-54BB-B23C-7D6E-796EA4F1A643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DE5E710C-FDD7-3AB5-B6E1-9A64BB61BA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0668" y="426423"/>
            <a:ext cx="2656930" cy="139309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F0CDDF-BBA3-A275-5265-C096E2D5F74D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7252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E41673E-30BB-96B6-AF01-280D642AF3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56" t="1944" r="10834" b="17129"/>
          <a:stretch/>
        </p:blipFill>
        <p:spPr>
          <a:xfrm>
            <a:off x="5309484" y="-210979"/>
            <a:ext cx="6172200" cy="656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081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7A21045-E7F9-3AFF-D3E4-219B0B78116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08DED2-D351-6F02-97F0-EC8D5DB87D78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4A1C97A-8611-4A24-A3B9-7CA7D0758D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32" name="Google Shape;24;p26">
            <a:extLst>
              <a:ext uri="{FF2B5EF4-FFF2-40B4-BE49-F238E27FC236}">
                <a16:creationId xmlns:a16="http://schemas.microsoft.com/office/drawing/2014/main" id="{CD5D790D-9423-B18B-2082-61298E142DFA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1185698" y="160567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1</a:t>
            </a:r>
          </a:p>
        </p:txBody>
      </p:sp>
      <p:sp>
        <p:nvSpPr>
          <p:cNvPr id="33" name="Google Shape;24;p26">
            <a:extLst>
              <a:ext uri="{FF2B5EF4-FFF2-40B4-BE49-F238E27FC236}">
                <a16:creationId xmlns:a16="http://schemas.microsoft.com/office/drawing/2014/main" id="{FAC077C5-23DB-6672-D948-DEFEE9E8266F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1185698" y="225845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2</a:t>
            </a:r>
          </a:p>
        </p:txBody>
      </p:sp>
      <p:sp>
        <p:nvSpPr>
          <p:cNvPr id="34" name="Google Shape;24;p26">
            <a:extLst>
              <a:ext uri="{FF2B5EF4-FFF2-40B4-BE49-F238E27FC236}">
                <a16:creationId xmlns:a16="http://schemas.microsoft.com/office/drawing/2014/main" id="{2918299F-FCC7-1765-77FB-44EB16488DB3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1185698" y="291123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3</a:t>
            </a:r>
          </a:p>
        </p:txBody>
      </p:sp>
      <p:sp>
        <p:nvSpPr>
          <p:cNvPr id="35" name="Google Shape;24;p26">
            <a:extLst>
              <a:ext uri="{FF2B5EF4-FFF2-40B4-BE49-F238E27FC236}">
                <a16:creationId xmlns:a16="http://schemas.microsoft.com/office/drawing/2014/main" id="{1F0EBE5B-16A9-6E53-E884-D6A6B0D8C39C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1185698" y="356401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4</a:t>
            </a:r>
          </a:p>
        </p:txBody>
      </p:sp>
      <p:sp>
        <p:nvSpPr>
          <p:cNvPr id="36" name="Google Shape;24;p26">
            <a:extLst>
              <a:ext uri="{FF2B5EF4-FFF2-40B4-BE49-F238E27FC236}">
                <a16:creationId xmlns:a16="http://schemas.microsoft.com/office/drawing/2014/main" id="{67FF5144-A4A4-1D38-9F43-B38D8CDE582F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1185698" y="421679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5</a:t>
            </a:r>
          </a:p>
        </p:txBody>
      </p:sp>
      <p:sp>
        <p:nvSpPr>
          <p:cNvPr id="37" name="Google Shape;24;p26">
            <a:extLst>
              <a:ext uri="{FF2B5EF4-FFF2-40B4-BE49-F238E27FC236}">
                <a16:creationId xmlns:a16="http://schemas.microsoft.com/office/drawing/2014/main" id="{B9E94BB8-D4CD-EDF0-4B6E-0D409D46B46D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1185698" y="486957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6</a:t>
            </a:r>
          </a:p>
        </p:txBody>
      </p:sp>
      <p:sp>
        <p:nvSpPr>
          <p:cNvPr id="21" name="Google Shape;21;p33">
            <a:extLst>
              <a:ext uri="{FF2B5EF4-FFF2-40B4-BE49-F238E27FC236}">
                <a16:creationId xmlns:a16="http://schemas.microsoft.com/office/drawing/2014/main" id="{7FEC2628-D9EA-2F22-0B8C-B590EA863A21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Google Shape;18;p26">
            <a:extLst>
              <a:ext uri="{FF2B5EF4-FFF2-40B4-BE49-F238E27FC236}">
                <a16:creationId xmlns:a16="http://schemas.microsoft.com/office/drawing/2014/main" id="{0FB8683D-0CDA-5A7B-8A1E-49E07216AD4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85698" y="462976"/>
            <a:ext cx="3322413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Agenda</a:t>
            </a:r>
            <a:endParaRPr/>
          </a:p>
        </p:txBody>
      </p:sp>
      <p:sp>
        <p:nvSpPr>
          <p:cNvPr id="13" name="Google Shape;22;p26">
            <a:extLst>
              <a:ext uri="{FF2B5EF4-FFF2-40B4-BE49-F238E27FC236}">
                <a16:creationId xmlns:a16="http://schemas.microsoft.com/office/drawing/2014/main" id="{6A1CD877-7565-6B0A-AC78-2C918414A998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FDBDDA-6C57-F532-5FBF-539FAC785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E5124EA-1956-3080-5364-00FA7834A8E6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9164CEB-EEA4-DE8E-E1EA-2A6948B0CF7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278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B12EAA5C-258A-7800-8C9B-A19C09419B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7ACC8BE-A123-06A2-95AD-E271B3CF0798}"/>
              </a:ext>
            </a:extLst>
          </p:cNvPr>
          <p:cNvSpPr/>
          <p:nvPr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sp>
        <p:nvSpPr>
          <p:cNvPr id="17" name="Google Shape;24;p26">
            <a:extLst>
              <a:ext uri="{FF2B5EF4-FFF2-40B4-BE49-F238E27FC236}">
                <a16:creationId xmlns:a16="http://schemas.microsoft.com/office/drawing/2014/main" id="{571F4C8A-17D0-03EC-6FE5-68182450E9D0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1185698" y="160567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1</a:t>
            </a:r>
          </a:p>
        </p:txBody>
      </p:sp>
      <p:sp>
        <p:nvSpPr>
          <p:cNvPr id="18" name="Google Shape;24;p26">
            <a:extLst>
              <a:ext uri="{FF2B5EF4-FFF2-40B4-BE49-F238E27FC236}">
                <a16:creationId xmlns:a16="http://schemas.microsoft.com/office/drawing/2014/main" id="{7C2E7A43-14D0-2BEA-3CA6-EFC63FD46BC0}"/>
              </a:ext>
            </a:extLst>
          </p:cNvPr>
          <p:cNvSpPr txBox="1">
            <a:spLocks noGrp="1"/>
          </p:cNvSpPr>
          <p:nvPr>
            <p:ph type="body" idx="13" hasCustomPrompt="1"/>
          </p:nvPr>
        </p:nvSpPr>
        <p:spPr>
          <a:xfrm>
            <a:off x="1185698" y="225845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2</a:t>
            </a:r>
          </a:p>
        </p:txBody>
      </p:sp>
      <p:sp>
        <p:nvSpPr>
          <p:cNvPr id="19" name="Google Shape;24;p26">
            <a:extLst>
              <a:ext uri="{FF2B5EF4-FFF2-40B4-BE49-F238E27FC236}">
                <a16:creationId xmlns:a16="http://schemas.microsoft.com/office/drawing/2014/main" id="{5531E261-A54F-5BF1-3194-2FAA774C4FD2}"/>
              </a:ext>
            </a:extLst>
          </p:cNvPr>
          <p:cNvSpPr txBox="1">
            <a:spLocks noGrp="1"/>
          </p:cNvSpPr>
          <p:nvPr>
            <p:ph type="body" idx="14" hasCustomPrompt="1"/>
          </p:nvPr>
        </p:nvSpPr>
        <p:spPr>
          <a:xfrm>
            <a:off x="1185698" y="291123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3</a:t>
            </a:r>
          </a:p>
        </p:txBody>
      </p:sp>
      <p:sp>
        <p:nvSpPr>
          <p:cNvPr id="20" name="Google Shape;24;p26">
            <a:extLst>
              <a:ext uri="{FF2B5EF4-FFF2-40B4-BE49-F238E27FC236}">
                <a16:creationId xmlns:a16="http://schemas.microsoft.com/office/drawing/2014/main" id="{CA7BD352-7A1C-E13F-955C-68CD790D5CDB}"/>
              </a:ext>
            </a:extLst>
          </p:cNvPr>
          <p:cNvSpPr txBox="1">
            <a:spLocks noGrp="1"/>
          </p:cNvSpPr>
          <p:nvPr>
            <p:ph type="body" idx="15" hasCustomPrompt="1"/>
          </p:nvPr>
        </p:nvSpPr>
        <p:spPr>
          <a:xfrm>
            <a:off x="1185698" y="356401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4</a:t>
            </a:r>
          </a:p>
        </p:txBody>
      </p:sp>
      <p:sp>
        <p:nvSpPr>
          <p:cNvPr id="21" name="Google Shape;24;p26">
            <a:extLst>
              <a:ext uri="{FF2B5EF4-FFF2-40B4-BE49-F238E27FC236}">
                <a16:creationId xmlns:a16="http://schemas.microsoft.com/office/drawing/2014/main" id="{7B8DDF4D-2608-54F6-C2D8-97AA4F078683}"/>
              </a:ext>
            </a:extLst>
          </p:cNvPr>
          <p:cNvSpPr txBox="1">
            <a:spLocks noGrp="1"/>
          </p:cNvSpPr>
          <p:nvPr>
            <p:ph type="body" idx="16" hasCustomPrompt="1"/>
          </p:nvPr>
        </p:nvSpPr>
        <p:spPr>
          <a:xfrm>
            <a:off x="1185698" y="421679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5</a:t>
            </a:r>
          </a:p>
        </p:txBody>
      </p:sp>
      <p:sp>
        <p:nvSpPr>
          <p:cNvPr id="22" name="Google Shape;24;p26">
            <a:extLst>
              <a:ext uri="{FF2B5EF4-FFF2-40B4-BE49-F238E27FC236}">
                <a16:creationId xmlns:a16="http://schemas.microsoft.com/office/drawing/2014/main" id="{BFD52ACE-1943-F107-4F60-E869E751C393}"/>
              </a:ext>
            </a:extLst>
          </p:cNvPr>
          <p:cNvSpPr txBox="1">
            <a:spLocks noGrp="1"/>
          </p:cNvSpPr>
          <p:nvPr>
            <p:ph type="body" idx="17" hasCustomPrompt="1"/>
          </p:nvPr>
        </p:nvSpPr>
        <p:spPr>
          <a:xfrm>
            <a:off x="1185698" y="4869577"/>
            <a:ext cx="3322413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0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Level 6</a:t>
            </a:r>
          </a:p>
        </p:txBody>
      </p:sp>
      <p:sp>
        <p:nvSpPr>
          <p:cNvPr id="5" name="Google Shape;18;p26">
            <a:extLst>
              <a:ext uri="{FF2B5EF4-FFF2-40B4-BE49-F238E27FC236}">
                <a16:creationId xmlns:a16="http://schemas.microsoft.com/office/drawing/2014/main" id="{F58EC344-CBD9-11BC-201D-E1E1D48364A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185698" y="462976"/>
            <a:ext cx="3322413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Agenda</a:t>
            </a:r>
            <a:endParaRPr/>
          </a:p>
        </p:txBody>
      </p:sp>
      <p:sp>
        <p:nvSpPr>
          <p:cNvPr id="9" name="Google Shape;22;p26">
            <a:extLst>
              <a:ext uri="{FF2B5EF4-FFF2-40B4-BE49-F238E27FC236}">
                <a16:creationId xmlns:a16="http://schemas.microsoft.com/office/drawing/2014/main" id="{68591E58-21DF-0C8E-401B-A623554232F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1" name="Google Shape;21;p33">
            <a:extLst>
              <a:ext uri="{FF2B5EF4-FFF2-40B4-BE49-F238E27FC236}">
                <a16:creationId xmlns:a16="http://schemas.microsoft.com/office/drawing/2014/main" id="{688A9DE0-A60E-23EF-FDDD-04A0134257E0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CAD70370-529C-AB08-D974-788D40274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1" y="238990"/>
            <a:ext cx="572666" cy="6299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F684613-9859-0392-B28E-2CB2832868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1" r="19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7EAE4A-EB0E-C23F-724B-BC45588FA50E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0" i="0">
              <a:latin typeface="Funnel Sans" pitchFamily="2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09A232B-62B0-C4BC-A59D-CC166C04BA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134" t="14156" r="57486" b="13360"/>
          <a:stretch/>
        </p:blipFill>
        <p:spPr>
          <a:xfrm>
            <a:off x="211951" y="238990"/>
            <a:ext cx="572666" cy="62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18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4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CB0F4C-3F26-BA7E-616F-A197B95C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4" name="Google Shape;22;p26">
            <a:extLst>
              <a:ext uri="{FF2B5EF4-FFF2-40B4-BE49-F238E27FC236}">
                <a16:creationId xmlns:a16="http://schemas.microsoft.com/office/drawing/2014/main" id="{295ABA76-F88F-E0D5-E937-B8E8077C9B2C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54C4A5C2-1710-7052-DBB8-29A996035A0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oogle Shape;41;p28">
            <a:extLst>
              <a:ext uri="{FF2B5EF4-FFF2-40B4-BE49-F238E27FC236}">
                <a16:creationId xmlns:a16="http://schemas.microsoft.com/office/drawing/2014/main" id="{53BD9F75-D4D5-1671-69E7-8827B8F0E17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6" name="Google Shape;24;p26">
            <a:extLst>
              <a:ext uri="{FF2B5EF4-FFF2-40B4-BE49-F238E27FC236}">
                <a16:creationId xmlns:a16="http://schemas.microsoft.com/office/drawing/2014/main" id="{45B6F066-7027-6C8D-88C9-A63310804D1F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F47ABB-BAA1-ED1A-C2CB-08A5AD2BF2C4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626FE9E-B8D9-D952-F553-FD966933B5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4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784C58D-7880-5027-2D11-CBBC40F844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69BC6D-4109-7ADE-00BC-FF1EF51A158A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378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761" b="776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CB0F4C-3F26-BA7E-616F-A197B95C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4" name="Google Shape;22;p26">
            <a:extLst>
              <a:ext uri="{FF2B5EF4-FFF2-40B4-BE49-F238E27FC236}">
                <a16:creationId xmlns:a16="http://schemas.microsoft.com/office/drawing/2014/main" id="{295ABA76-F88F-E0D5-E937-B8E8077C9B2C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54C4A5C2-1710-7052-DBB8-29A996035A0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oogle Shape;41;p28">
            <a:extLst>
              <a:ext uri="{FF2B5EF4-FFF2-40B4-BE49-F238E27FC236}">
                <a16:creationId xmlns:a16="http://schemas.microsoft.com/office/drawing/2014/main" id="{BCBC56D3-2598-908A-5163-068E4D231C9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6" name="Google Shape;24;p26">
            <a:extLst>
              <a:ext uri="{FF2B5EF4-FFF2-40B4-BE49-F238E27FC236}">
                <a16:creationId xmlns:a16="http://schemas.microsoft.com/office/drawing/2014/main" id="{BC0E48C6-31BC-AC0C-5A14-CE1C447C9040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77F916-99F0-D679-C7A0-54B62D2AEB39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E5BB7F3-4C72-CD51-3DF7-0C9603582B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761" b="776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BF3ABB-88D9-5EDA-67D3-500B1AF758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C3E3062-CB02-12B2-CE8B-19038CFCBCBD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190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79" r="557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CB0F4C-3F26-BA7E-616F-A197B95C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4" name="Google Shape;22;p26">
            <a:extLst>
              <a:ext uri="{FF2B5EF4-FFF2-40B4-BE49-F238E27FC236}">
                <a16:creationId xmlns:a16="http://schemas.microsoft.com/office/drawing/2014/main" id="{295ABA76-F88F-E0D5-E937-B8E8077C9B2C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54C4A5C2-1710-7052-DBB8-29A996035A0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oogle Shape;41;p28">
            <a:extLst>
              <a:ext uri="{FF2B5EF4-FFF2-40B4-BE49-F238E27FC236}">
                <a16:creationId xmlns:a16="http://schemas.microsoft.com/office/drawing/2014/main" id="{1CEAE6F2-761C-5FA4-CDAB-EFC297BF13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6" name="Google Shape;24;p26">
            <a:extLst>
              <a:ext uri="{FF2B5EF4-FFF2-40B4-BE49-F238E27FC236}">
                <a16:creationId xmlns:a16="http://schemas.microsoft.com/office/drawing/2014/main" id="{92F3BA4F-8DBD-9E8A-179F-C813A0B637E7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99AB50-D5C3-794B-3600-7C419090B1D0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8BD6FED-B609-4C9B-3FA3-CB64A9CEFE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79" r="557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31738FA6-BDBB-4B3B-9B26-BEA4363A6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80787A-A498-E778-BAB1-7C5487DD62E1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0460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" r="15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CB0F4C-3F26-BA7E-616F-A197B95C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4" name="Google Shape;22;p26">
            <a:extLst>
              <a:ext uri="{FF2B5EF4-FFF2-40B4-BE49-F238E27FC236}">
                <a16:creationId xmlns:a16="http://schemas.microsoft.com/office/drawing/2014/main" id="{295ABA76-F88F-E0D5-E937-B8E8077C9B2C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54C4A5C2-1710-7052-DBB8-29A996035A0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Google Shape;41;p28">
            <a:extLst>
              <a:ext uri="{FF2B5EF4-FFF2-40B4-BE49-F238E27FC236}">
                <a16:creationId xmlns:a16="http://schemas.microsoft.com/office/drawing/2014/main" id="{E0A28E8E-74E7-8041-0258-301147A1B7A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15" name="Google Shape;24;p26">
            <a:extLst>
              <a:ext uri="{FF2B5EF4-FFF2-40B4-BE49-F238E27FC236}">
                <a16:creationId xmlns:a16="http://schemas.microsoft.com/office/drawing/2014/main" id="{6A0C8B14-2FB7-5C89-EE4F-E5ABCD33044F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6DFDB4-8792-0DBC-A28F-B978788E0872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882BBC7-829F-5AA4-E8A3-CE926122C2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9" r="159"/>
          <a:stretch/>
        </p:blipFill>
        <p:spPr>
          <a:xfrm flipH="1">
            <a:off x="0" y="0"/>
            <a:ext cx="12191096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24F24392-D5EB-7B4D-3A07-671C8E7D6E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89492F-23EB-E0B2-EC99-32EA00BBEB13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4963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7" b="357"/>
          <a:stretch/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sp>
        <p:nvSpPr>
          <p:cNvPr id="9" name="Google Shape;41;p28">
            <a:extLst>
              <a:ext uri="{FF2B5EF4-FFF2-40B4-BE49-F238E27FC236}">
                <a16:creationId xmlns:a16="http://schemas.microsoft.com/office/drawing/2014/main" id="{B34B959E-6B04-4B25-32E5-400C6938001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11" name="Google Shape;24;p26">
            <a:extLst>
              <a:ext uri="{FF2B5EF4-FFF2-40B4-BE49-F238E27FC236}">
                <a16:creationId xmlns:a16="http://schemas.microsoft.com/office/drawing/2014/main" id="{ED4BC436-C091-63B4-AB39-27AFC400E221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BFD8B9-19F0-3759-4366-FA093C6C8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5" name="Google Shape;22;p26">
            <a:extLst>
              <a:ext uri="{FF2B5EF4-FFF2-40B4-BE49-F238E27FC236}">
                <a16:creationId xmlns:a16="http://schemas.microsoft.com/office/drawing/2014/main" id="{F5AC8135-0C2E-18EE-9C2E-9A5253AFD97E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7" name="Google Shape;21;p33">
            <a:extLst>
              <a:ext uri="{FF2B5EF4-FFF2-40B4-BE49-F238E27FC236}">
                <a16:creationId xmlns:a16="http://schemas.microsoft.com/office/drawing/2014/main" id="{0F28CAC7-704A-659E-A328-09C4411D72D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F34013-948A-2DB5-48F8-C052DA3EB680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16AA096-4F9F-5765-2AAC-5DC52432DE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57" b="357"/>
          <a:stretch/>
        </p:blipFill>
        <p:spPr>
          <a:xfrm>
            <a:off x="0" y="0"/>
            <a:ext cx="12191365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ABCD697-4494-D743-E860-F55E7F4A1B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1368B7-F55F-1041-A21B-7999C956279E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7507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" r="216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CB0F4C-3F26-BA7E-616F-A197B95C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4" name="Google Shape;22;p26">
            <a:extLst>
              <a:ext uri="{FF2B5EF4-FFF2-40B4-BE49-F238E27FC236}">
                <a16:creationId xmlns:a16="http://schemas.microsoft.com/office/drawing/2014/main" id="{295ABA76-F88F-E0D5-E937-B8E8077C9B2C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54C4A5C2-1710-7052-DBB8-29A996035A0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oogle Shape;41;p28">
            <a:extLst>
              <a:ext uri="{FF2B5EF4-FFF2-40B4-BE49-F238E27FC236}">
                <a16:creationId xmlns:a16="http://schemas.microsoft.com/office/drawing/2014/main" id="{4397248D-09AA-0320-A0A5-6A77782F295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6" name="Google Shape;24;p26">
            <a:extLst>
              <a:ext uri="{FF2B5EF4-FFF2-40B4-BE49-F238E27FC236}">
                <a16:creationId xmlns:a16="http://schemas.microsoft.com/office/drawing/2014/main" id="{2577D588-C944-AE89-99E9-201586E9398D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532386-BCC2-8DE1-7068-C408FA49B727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A490FE4-B1CE-EDC8-EA98-59E9F796BA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" r="216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DBD45C9A-0AF1-3C30-3325-7BF3652C60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C15C26-D318-4119-2777-E616273193AE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141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" r="183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CB0F4C-3F26-BA7E-616F-A197B95C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4" name="Google Shape;22;p26">
            <a:extLst>
              <a:ext uri="{FF2B5EF4-FFF2-40B4-BE49-F238E27FC236}">
                <a16:creationId xmlns:a16="http://schemas.microsoft.com/office/drawing/2014/main" id="{295ABA76-F88F-E0D5-E937-B8E8077C9B2C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54C4A5C2-1710-7052-DBB8-29A996035A0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oogle Shape;41;p28">
            <a:extLst>
              <a:ext uri="{FF2B5EF4-FFF2-40B4-BE49-F238E27FC236}">
                <a16:creationId xmlns:a16="http://schemas.microsoft.com/office/drawing/2014/main" id="{B1824BAF-E3BC-FBA5-DE07-555B0B0D068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6" name="Google Shape;24;p26">
            <a:extLst>
              <a:ext uri="{FF2B5EF4-FFF2-40B4-BE49-F238E27FC236}">
                <a16:creationId xmlns:a16="http://schemas.microsoft.com/office/drawing/2014/main" id="{1464962D-83C2-E7E0-2178-08E7E3B6CD6F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9328822-9300-A4BD-ACAF-5720BD7EC96B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21D9011-7183-801D-7A3C-1652C859B6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" r="183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05C9B36-3BE5-35C1-BB50-45FF648899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796276-59DD-3870-2E71-CA87A9DC7E89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0924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Brea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AEAD8CB-D455-2662-BBB4-E9B5D7001FC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9" b="780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CCB0F4C-3F26-BA7E-616F-A197B95C39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4" name="Google Shape;22;p26">
            <a:extLst>
              <a:ext uri="{FF2B5EF4-FFF2-40B4-BE49-F238E27FC236}">
                <a16:creationId xmlns:a16="http://schemas.microsoft.com/office/drawing/2014/main" id="{295ABA76-F88F-E0D5-E937-B8E8077C9B2C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54C4A5C2-1710-7052-DBB8-29A996035A0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Google Shape;41;p28">
            <a:extLst>
              <a:ext uri="{FF2B5EF4-FFF2-40B4-BE49-F238E27FC236}">
                <a16:creationId xmlns:a16="http://schemas.microsoft.com/office/drawing/2014/main" id="{BD39DD8A-3B70-EB34-3807-A366E3F6C33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284470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Break Slide</a:t>
            </a:r>
            <a:endParaRPr/>
          </a:p>
        </p:txBody>
      </p:sp>
      <p:sp>
        <p:nvSpPr>
          <p:cNvPr id="6" name="Google Shape;24;p26">
            <a:extLst>
              <a:ext uri="{FF2B5EF4-FFF2-40B4-BE49-F238E27FC236}">
                <a16:creationId xmlns:a16="http://schemas.microsoft.com/office/drawing/2014/main" id="{8B84CB6C-EECB-529B-5C65-77DC70C2D011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1FB752-B635-034C-01EE-E8B6CEABD12B}"/>
              </a:ext>
            </a:extLst>
          </p:cNvPr>
          <p:cNvCxnSpPr/>
          <p:nvPr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D5DFBA1-9A73-3727-EC96-BF284FE061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9" b="780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6550C5E-0A7B-F813-751D-05FFB4B972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49DDE3-569F-B61F-2C18-A9321D1EF07E}"/>
              </a:ext>
            </a:extLst>
          </p:cNvPr>
          <p:cNvCxnSpPr/>
          <p:nvPr userDrawn="1"/>
        </p:nvCxnSpPr>
        <p:spPr>
          <a:xfrm>
            <a:off x="910210" y="4109292"/>
            <a:ext cx="400463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6940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95046-1217-1B1F-59B6-1C82FABEC5D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464FA6-4F18-B3C9-123A-D02C7CC01AAD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Google Shape;18;p26">
            <a:extLst>
              <a:ext uri="{FF2B5EF4-FFF2-40B4-BE49-F238E27FC236}">
                <a16:creationId xmlns:a16="http://schemas.microsoft.com/office/drawing/2014/main" id="{22D64B71-5501-EAEB-ECBD-6F854C6FBA6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Break Slide</a:t>
            </a:r>
            <a:endParaRPr/>
          </a:p>
        </p:txBody>
      </p:sp>
      <p:sp>
        <p:nvSpPr>
          <p:cNvPr id="9" name="Google Shape;24;p26">
            <a:extLst>
              <a:ext uri="{FF2B5EF4-FFF2-40B4-BE49-F238E27FC236}">
                <a16:creationId xmlns:a16="http://schemas.microsoft.com/office/drawing/2014/main" id="{D02F89D3-E9CC-0854-01CB-4AAA465216A3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11BF4E-C8E7-01A6-22AF-7ACCE2C9DC9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5744" y="421256"/>
            <a:ext cx="6219933" cy="627554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6A84D46-605A-810A-3ED9-2B8A41BEC9F3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E4C5EAE-2CF6-A075-435C-E0CE5B8A64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5744" y="421256"/>
            <a:ext cx="6219933" cy="627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213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95046-1217-1B1F-59B6-1C82FABEC5D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AAB93-52BA-A17C-BB33-2F5AA01BBE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© 2025 Copyright Genpact. All Rights Reserved.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464FA6-4F18-B3C9-123A-D02C7CC01AAD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Google Shape;18;p26">
            <a:extLst>
              <a:ext uri="{FF2B5EF4-FFF2-40B4-BE49-F238E27FC236}">
                <a16:creationId xmlns:a16="http://schemas.microsoft.com/office/drawing/2014/main" id="{22D64B71-5501-EAEB-ECBD-6F854C6FBA6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Break Slide</a:t>
            </a:r>
            <a:endParaRPr/>
          </a:p>
        </p:txBody>
      </p:sp>
      <p:sp>
        <p:nvSpPr>
          <p:cNvPr id="9" name="Google Shape;24;p26">
            <a:extLst>
              <a:ext uri="{FF2B5EF4-FFF2-40B4-BE49-F238E27FC236}">
                <a16:creationId xmlns:a16="http://schemas.microsoft.com/office/drawing/2014/main" id="{D02F89D3-E9CC-0854-01CB-4AAA465216A3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863036-FD25-1363-0F31-6E31627E2DC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694" t="6606" r="12581" b="20081"/>
          <a:stretch/>
        </p:blipFill>
        <p:spPr>
          <a:xfrm>
            <a:off x="5097562" y="401469"/>
            <a:ext cx="6622994" cy="6412082"/>
          </a:xfrm>
          <a:prstGeom prst="rect">
            <a:avLst/>
          </a:prstGeom>
          <a:effectLst/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439E685-50F4-5FD4-1E78-74569E82086C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66388DE-2890-7BAF-CF07-B424979665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694" t="6606" r="12581" b="20081"/>
          <a:stretch/>
        </p:blipFill>
        <p:spPr>
          <a:xfrm>
            <a:off x="5097562" y="401469"/>
            <a:ext cx="6622994" cy="641208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949174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95046-1217-1B1F-59B6-1C82FABEC5D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464FA6-4F18-B3C9-123A-D02C7CC01AAD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Google Shape;18;p26">
            <a:extLst>
              <a:ext uri="{FF2B5EF4-FFF2-40B4-BE49-F238E27FC236}">
                <a16:creationId xmlns:a16="http://schemas.microsoft.com/office/drawing/2014/main" id="{22D64B71-5501-EAEB-ECBD-6F854C6FBA6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Break Slide</a:t>
            </a:r>
            <a:endParaRPr/>
          </a:p>
        </p:txBody>
      </p:sp>
      <p:sp>
        <p:nvSpPr>
          <p:cNvPr id="9" name="Google Shape;24;p26">
            <a:extLst>
              <a:ext uri="{FF2B5EF4-FFF2-40B4-BE49-F238E27FC236}">
                <a16:creationId xmlns:a16="http://schemas.microsoft.com/office/drawing/2014/main" id="{D02F89D3-E9CC-0854-01CB-4AAA465216A3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0E7A37-15D2-2C5E-5FC0-984B0E64E58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56" t="1944" r="10834" b="17129"/>
          <a:stretch/>
        </p:blipFill>
        <p:spPr>
          <a:xfrm>
            <a:off x="5463219" y="133349"/>
            <a:ext cx="6172200" cy="656265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3768BA-9A20-5D37-484E-90757A0E55F3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E0F4A99D-9E57-1AFF-616E-204E97D54A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56" t="1944" r="10834" b="17129"/>
          <a:stretch/>
        </p:blipFill>
        <p:spPr>
          <a:xfrm>
            <a:off x="5463219" y="133349"/>
            <a:ext cx="6172200" cy="656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8755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95046-1217-1B1F-59B6-1C82FABEC5D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AAB93-52BA-A17C-BB33-2F5AA01BBE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</p:spPr>
        <p:txBody>
          <a:bodyPr/>
          <a:lstStyle/>
          <a:p>
            <a:r>
              <a:rPr lang="en-GB"/>
              <a:t>© 2025 Copyright Genpact. All Rights Reserved.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464FA6-4F18-B3C9-123A-D02C7CC01AAD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Google Shape;18;p26">
            <a:extLst>
              <a:ext uri="{FF2B5EF4-FFF2-40B4-BE49-F238E27FC236}">
                <a16:creationId xmlns:a16="http://schemas.microsoft.com/office/drawing/2014/main" id="{22D64B71-5501-EAEB-ECBD-6F854C6FBA6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Break Slide</a:t>
            </a:r>
            <a:endParaRPr/>
          </a:p>
        </p:txBody>
      </p:sp>
      <p:sp>
        <p:nvSpPr>
          <p:cNvPr id="9" name="Google Shape;24;p26">
            <a:extLst>
              <a:ext uri="{FF2B5EF4-FFF2-40B4-BE49-F238E27FC236}">
                <a16:creationId xmlns:a16="http://schemas.microsoft.com/office/drawing/2014/main" id="{D02F89D3-E9CC-0854-01CB-4AAA465216A3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1D4E9E-7470-1CE0-5A58-D702660BC3B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75" r="2975"/>
          <a:stretch/>
        </p:blipFill>
        <p:spPr>
          <a:xfrm>
            <a:off x="4804340" y="-247868"/>
            <a:ext cx="6916216" cy="735373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3D6CF4-5C41-43F1-33BC-998320BCA017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480A2DD-19C3-4F2B-47D8-C28343F028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75" r="2975"/>
          <a:stretch/>
        </p:blipFill>
        <p:spPr>
          <a:xfrm>
            <a:off x="4804340" y="-247868"/>
            <a:ext cx="6916216" cy="735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313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95046-1217-1B1F-59B6-1C82FABEC5D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464FA6-4F18-B3C9-123A-D02C7CC01AAD}"/>
              </a:ext>
            </a:extLst>
          </p:cNvPr>
          <p:cNvCxnSpPr>
            <a:cxnSpLocks/>
          </p:cNvCxnSpPr>
          <p:nvPr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Google Shape;18;p26">
            <a:extLst>
              <a:ext uri="{FF2B5EF4-FFF2-40B4-BE49-F238E27FC236}">
                <a16:creationId xmlns:a16="http://schemas.microsoft.com/office/drawing/2014/main" id="{22D64B71-5501-EAEB-ECBD-6F854C6FBA64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307321"/>
            <a:ext cx="4111308" cy="1714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250" b="1" i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Break Slide</a:t>
            </a:r>
            <a:endParaRPr/>
          </a:p>
        </p:txBody>
      </p:sp>
      <p:sp>
        <p:nvSpPr>
          <p:cNvPr id="9" name="Google Shape;24;p26">
            <a:extLst>
              <a:ext uri="{FF2B5EF4-FFF2-40B4-BE49-F238E27FC236}">
                <a16:creationId xmlns:a16="http://schemas.microsoft.com/office/drawing/2014/main" id="{D02F89D3-E9CC-0854-01CB-4AAA465216A3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10210" y="4214200"/>
            <a:ext cx="2962806" cy="501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2000" b="1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Part Two</a:t>
            </a:r>
          </a:p>
        </p:txBody>
      </p:sp>
      <p:pic>
        <p:nvPicPr>
          <p:cNvPr id="12" name="Picture 11" descr="A glass swirly object with red and white swirls&#10;&#10;Description automatically generated">
            <a:extLst>
              <a:ext uri="{FF2B5EF4-FFF2-40B4-BE49-F238E27FC236}">
                <a16:creationId xmlns:a16="http://schemas.microsoft.com/office/drawing/2014/main" id="{41EBD7A5-C84B-DCF9-4760-EF71B888637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9" t="10092" r="5093" b="16111"/>
          <a:stretch/>
        </p:blipFill>
        <p:spPr>
          <a:xfrm flipH="1">
            <a:off x="4221206" y="589681"/>
            <a:ext cx="7499350" cy="610519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6CDA84-6278-04B6-25BA-393347BA154C}"/>
              </a:ext>
            </a:extLst>
          </p:cNvPr>
          <p:cNvCxnSpPr>
            <a:cxnSpLocks/>
          </p:cNvCxnSpPr>
          <p:nvPr userDrawn="1"/>
        </p:nvCxnSpPr>
        <p:spPr>
          <a:xfrm>
            <a:off x="910210" y="4109292"/>
            <a:ext cx="106354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lass swirly object with red and white swirls&#10;&#10;Description automatically generated">
            <a:extLst>
              <a:ext uri="{FF2B5EF4-FFF2-40B4-BE49-F238E27FC236}">
                <a16:creationId xmlns:a16="http://schemas.microsoft.com/office/drawing/2014/main" id="{F519F864-190B-B849-A418-96DBCCF840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9" t="10092" r="5093" b="16111"/>
          <a:stretch/>
        </p:blipFill>
        <p:spPr>
          <a:xfrm flipH="1">
            <a:off x="4221206" y="589681"/>
            <a:ext cx="7499350" cy="610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747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with Sub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;p26">
            <a:extLst>
              <a:ext uri="{FF2B5EF4-FFF2-40B4-BE49-F238E27FC236}">
                <a16:creationId xmlns:a16="http://schemas.microsoft.com/office/drawing/2014/main" id="{7D928B5C-F90E-335F-FF83-2AE5D6633DE6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93896" y="1055697"/>
            <a:ext cx="9256696" cy="69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lang="en-GB" sz="2400" b="1" i="0" kern="1200" spc="0" dirty="0">
                <a:solidFill>
                  <a:schemeClr val="bg1"/>
                </a:solidFill>
                <a:latin typeface="Funnel Sans" pitchFamily="2" charset="0"/>
                <a:ea typeface="+mn-ea"/>
                <a:cs typeface="+mn-cs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Subheads are larger than body copy and can drop over multiple lines, and are helpful to take the strain off the big headline.</a:t>
            </a:r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46482378-AECD-3D9B-EAD3-584511C722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3896" y="1996574"/>
            <a:ext cx="4884274" cy="380572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328"/>
              </a:spcBef>
              <a:spcAft>
                <a:spcPts val="0"/>
              </a:spcAft>
              <a:defRPr sz="16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D1E70E66-2D85-AF1C-EBE2-3897458CE3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1996574"/>
            <a:ext cx="4884274" cy="380572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328"/>
              </a:spcBef>
              <a:spcAft>
                <a:spcPts val="0"/>
              </a:spcAft>
              <a:defRPr sz="16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609A96A-8F24-9528-E836-E7DDD980E1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10" name="Google Shape;22;p26">
            <a:extLst>
              <a:ext uri="{FF2B5EF4-FFF2-40B4-BE49-F238E27FC236}">
                <a16:creationId xmlns:a16="http://schemas.microsoft.com/office/drawing/2014/main" id="{116EEAB4-97E9-BDD9-CB43-2696277ECBD0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3" name="Google Shape;21;p33">
            <a:extLst>
              <a:ext uri="{FF2B5EF4-FFF2-40B4-BE49-F238E27FC236}">
                <a16:creationId xmlns:a16="http://schemas.microsoft.com/office/drawing/2014/main" id="{DC566226-CCF8-012D-CE3D-9A11B6C5A7BE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Google Shape;18;p26">
            <a:extLst>
              <a:ext uri="{FF2B5EF4-FFF2-40B4-BE49-F238E27FC236}">
                <a16:creationId xmlns:a16="http://schemas.microsoft.com/office/drawing/2014/main" id="{5704D772-7781-1777-206A-5DE46FF7FD5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34762DD-BC36-4FBA-5AC9-2B19298CD5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5573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Content with Sub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BCCADD6-476E-2605-EFDA-DA987E981A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CD45087E-E245-68E5-91F8-AD4F8554BA9A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9" name="Google Shape;21;p33">
            <a:extLst>
              <a:ext uri="{FF2B5EF4-FFF2-40B4-BE49-F238E27FC236}">
                <a16:creationId xmlns:a16="http://schemas.microsoft.com/office/drawing/2014/main" id="{A70E03A0-39DE-6149-E290-2E8F704A815B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18;p26">
            <a:extLst>
              <a:ext uri="{FF2B5EF4-FFF2-40B4-BE49-F238E27FC236}">
                <a16:creationId xmlns:a16="http://schemas.microsoft.com/office/drawing/2014/main" id="{5B750E74-6C9A-AC48-B2A3-B2649BE34D6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46D89B0-6B93-C0EC-CBC0-9026C27D4E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9460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Content with Sub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;p26">
            <a:extLst>
              <a:ext uri="{FF2B5EF4-FFF2-40B4-BE49-F238E27FC236}">
                <a16:creationId xmlns:a16="http://schemas.microsoft.com/office/drawing/2014/main" id="{985AB50A-3FD3-12F7-8E4D-C26F72858943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4" name="Google Shape;21;p33">
            <a:extLst>
              <a:ext uri="{FF2B5EF4-FFF2-40B4-BE49-F238E27FC236}">
                <a16:creationId xmlns:a16="http://schemas.microsoft.com/office/drawing/2014/main" id="{8EA7BB0C-6595-9CA0-3CCB-2552DAF74E5A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Google Shape;18;p26">
            <a:extLst>
              <a:ext uri="{FF2B5EF4-FFF2-40B4-BE49-F238E27FC236}">
                <a16:creationId xmlns:a16="http://schemas.microsoft.com/office/drawing/2014/main" id="{6FB866B6-19E4-7F2A-E9EF-9900570367E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3667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Content with Sub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228;p11">
            <a:extLst>
              <a:ext uri="{FF2B5EF4-FFF2-40B4-BE49-F238E27FC236}">
                <a16:creationId xmlns:a16="http://schemas.microsoft.com/office/drawing/2014/main" id="{EF0346D1-3BDE-9799-56E0-C2451190C7AA}"/>
              </a:ext>
            </a:extLst>
          </p:cNvPr>
          <p:cNvCxnSpPr/>
          <p:nvPr/>
        </p:nvCxnSpPr>
        <p:spPr>
          <a:xfrm>
            <a:off x="2375210" y="1247345"/>
            <a:ext cx="0" cy="4968143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76D3A2C9-466A-0FEC-D743-3EAC16DD8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1301162" y="2753590"/>
            <a:ext cx="890753" cy="979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E47DAF2-8DDC-06BF-8FB7-0928061FB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395" t="26219" r="10339" b="23780"/>
          <a:stretch/>
        </p:blipFill>
        <p:spPr>
          <a:xfrm>
            <a:off x="1287715" y="3717949"/>
            <a:ext cx="911535" cy="473075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47C1042-56A8-A826-B72C-DFD0FD9648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03513" y="1382246"/>
            <a:ext cx="523779" cy="523780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CF4C1B9-4FE3-D5D7-C92E-CD4BD21EB1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3513" y="2207208"/>
            <a:ext cx="523779" cy="523780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08B973C0-93BB-BECD-08C8-19E8789F85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03513" y="3032170"/>
            <a:ext cx="523779" cy="523780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FF13AD-E03F-F7A0-6EBF-1D4A1A9DBCA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703513" y="3857132"/>
            <a:ext cx="523779" cy="523780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6AB04580-4916-00AA-A8F7-FCFF0D44F36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03513" y="4682094"/>
            <a:ext cx="523779" cy="523780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D801AEC6-DF83-F481-951B-A94269130B4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703513" y="5507056"/>
            <a:ext cx="523779" cy="523780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72973DFC-6171-0DFD-71C6-59997FA099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09704" y="1382245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8F80F2FC-0C6A-45BA-E74B-9131EF9549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09704" y="2207209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562AF29-3BC4-019C-8595-D09498EA2E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9704" y="3032170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7D5A6C05-246F-9B93-F926-B6AC356C30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9704" y="3857132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2EE1EA3-B638-FE3D-0F2F-37FCB7A71F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9704" y="4679265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ECA0FA-2314-7192-185F-89F35B1931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09704" y="5507056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42A54817-44EB-40C2-D8C3-A943F1D932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50447" y="1382245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5682C179-2910-7A45-2D26-2B7599A942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0447" y="2207209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632DB566-FC10-871C-4F8C-C8D44C3DC2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50447" y="3032170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49E58398-EE12-9DC4-49AC-7DB4AE9AA0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50447" y="3857132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ED2C998-0161-2571-7BF6-C229081287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50447" y="4679265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1ABBBC37-F0F7-7D16-C91B-1C33DF6ED0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50447" y="5507056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BDF681B-0D53-63D4-8D65-AA99732F5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10" name="Google Shape;22;p26">
            <a:extLst>
              <a:ext uri="{FF2B5EF4-FFF2-40B4-BE49-F238E27FC236}">
                <a16:creationId xmlns:a16="http://schemas.microsoft.com/office/drawing/2014/main" id="{CECACEC8-737A-71E0-7B38-E0D1A0887341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2" name="Google Shape;21;p33">
            <a:extLst>
              <a:ext uri="{FF2B5EF4-FFF2-40B4-BE49-F238E27FC236}">
                <a16:creationId xmlns:a16="http://schemas.microsoft.com/office/drawing/2014/main" id="{E9BBC2E5-726A-E506-EEED-971A9C479B07}"/>
              </a:ext>
            </a:extLst>
          </p:cNvPr>
          <p:cNvSpPr txBox="1">
            <a:spLocks noGrp="1"/>
          </p:cNvSpPr>
          <p:nvPr>
            <p:ph type="sldNum" idx="31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Google Shape;18;p26">
            <a:extLst>
              <a:ext uri="{FF2B5EF4-FFF2-40B4-BE49-F238E27FC236}">
                <a16:creationId xmlns:a16="http://schemas.microsoft.com/office/drawing/2014/main" id="{DAE68BB0-3099-7DDC-C0F1-DA5D3EA433E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cxnSp>
        <p:nvCxnSpPr>
          <p:cNvPr id="2" name="Google Shape;228;p11">
            <a:extLst>
              <a:ext uri="{FF2B5EF4-FFF2-40B4-BE49-F238E27FC236}">
                <a16:creationId xmlns:a16="http://schemas.microsoft.com/office/drawing/2014/main" id="{AE1105A9-6C53-B3BF-7951-BB6130874D72}"/>
              </a:ext>
            </a:extLst>
          </p:cNvPr>
          <p:cNvCxnSpPr/>
          <p:nvPr userDrawn="1"/>
        </p:nvCxnSpPr>
        <p:spPr>
          <a:xfrm>
            <a:off x="2375210" y="1247345"/>
            <a:ext cx="0" cy="4968143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CB4F12A5-4DD3-3820-93CA-084689E35B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1301162" y="2753590"/>
            <a:ext cx="890753" cy="9798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76CDEBA-799F-60FD-CE2F-E5830B8B58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395" t="26219" r="10339" b="23780"/>
          <a:stretch/>
        </p:blipFill>
        <p:spPr>
          <a:xfrm>
            <a:off x="1287715" y="3717949"/>
            <a:ext cx="911535" cy="47307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2043E40-D053-C6D8-81B4-68CCC4B782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32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Content with Sub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oogle Shape;228;p11">
            <a:extLst>
              <a:ext uri="{FF2B5EF4-FFF2-40B4-BE49-F238E27FC236}">
                <a16:creationId xmlns:a16="http://schemas.microsoft.com/office/drawing/2014/main" id="{EF0346D1-3BDE-9799-56E0-C2451190C7AA}"/>
              </a:ext>
            </a:extLst>
          </p:cNvPr>
          <p:cNvCxnSpPr/>
          <p:nvPr/>
        </p:nvCxnSpPr>
        <p:spPr>
          <a:xfrm>
            <a:off x="2375210" y="1247345"/>
            <a:ext cx="0" cy="4968143"/>
          </a:xfrm>
          <a:prstGeom prst="straightConnector1">
            <a:avLst/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76D3A2C9-466A-0FEC-D743-3EAC16DD8788}"/>
              </a:ext>
            </a:extLst>
          </p:cNvPr>
          <p:cNvPicPr>
            <a:picLocks noChangeAspect="1"/>
          </p:cNvPicPr>
          <p:nvPr/>
        </p:nvPicPr>
        <p:blipFill>
          <a:blip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1301162" y="2753590"/>
            <a:ext cx="890753" cy="979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E47DAF2-8DDC-06BF-8FB7-0928061FB87F}"/>
              </a:ext>
            </a:extLst>
          </p:cNvPr>
          <p:cNvPicPr>
            <a:picLocks noChangeAspect="1"/>
          </p:cNvPicPr>
          <p:nvPr/>
        </p:nvPicPr>
        <p:blipFill>
          <a:blip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395" t="26219" r="10339" b="23780"/>
          <a:stretch/>
        </p:blipFill>
        <p:spPr>
          <a:xfrm>
            <a:off x="1287715" y="3717949"/>
            <a:ext cx="911535" cy="473075"/>
          </a:xfrm>
          <a:prstGeom prst="rect">
            <a:avLst/>
          </a:prstGeom>
        </p:spPr>
      </p:pic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47C1042-56A8-A826-B72C-DFD0FD9648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703513" y="1382246"/>
            <a:ext cx="523779" cy="523780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CF4C1B9-4FE3-D5D7-C92E-CD4BD21EB1D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03513" y="2207208"/>
            <a:ext cx="523779" cy="523780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08B973C0-93BB-BECD-08C8-19E8789F85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03513" y="3032170"/>
            <a:ext cx="523779" cy="523780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3DFF13AD-E03F-F7A0-6EBF-1D4A1A9DBCA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703513" y="3857132"/>
            <a:ext cx="523779" cy="523780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6AB04580-4916-00AA-A8F7-FCFF0D44F36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703513" y="4682094"/>
            <a:ext cx="523779" cy="523780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Picture Placeholder 13">
            <a:extLst>
              <a:ext uri="{FF2B5EF4-FFF2-40B4-BE49-F238E27FC236}">
                <a16:creationId xmlns:a16="http://schemas.microsoft.com/office/drawing/2014/main" id="{D801AEC6-DF83-F481-951B-A94269130B4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703513" y="5507056"/>
            <a:ext cx="523779" cy="523780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72973DFC-6171-0DFD-71C6-59997FA099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09704" y="1382245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8F80F2FC-0C6A-45BA-E74B-9131EF9549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09704" y="2207209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562AF29-3BC4-019C-8595-D09498EA2E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9704" y="3032170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7D5A6C05-246F-9B93-F926-B6AC356C30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09704" y="3857132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F2EE1EA3-B638-FE3D-0F2F-37FCB7A71F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9704" y="4679265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ECA0FA-2314-7192-185F-89F35B19314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09704" y="5507056"/>
            <a:ext cx="2958331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42A54817-44EB-40C2-D8C3-A943F1D932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50447" y="1382245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5682C179-2910-7A45-2D26-2B7599A942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0447" y="2207209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632DB566-FC10-871C-4F8C-C8D44C3DC2E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50447" y="3032170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49E58398-EE12-9DC4-49AC-7DB4AE9AA0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750447" y="3857132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ED2C998-0161-2571-7BF6-C229081287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50447" y="4679265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1ABBBC37-F0F7-7D16-C91B-1C33DF6ED0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50447" y="5507056"/>
            <a:ext cx="4477847" cy="523779"/>
          </a:xfr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 text </a:t>
            </a:r>
          </a:p>
        </p:txBody>
      </p:sp>
      <p:sp>
        <p:nvSpPr>
          <p:cNvPr id="3" name="Google Shape;22;p26">
            <a:extLst>
              <a:ext uri="{FF2B5EF4-FFF2-40B4-BE49-F238E27FC236}">
                <a16:creationId xmlns:a16="http://schemas.microsoft.com/office/drawing/2014/main" id="{6B748954-01D9-1024-146C-7BB5E7844CE6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ABC06BED-F874-5828-A477-5C41B27A8355}"/>
              </a:ext>
            </a:extLst>
          </p:cNvPr>
          <p:cNvSpPr txBox="1">
            <a:spLocks noGrp="1"/>
          </p:cNvSpPr>
          <p:nvPr>
            <p:ph type="sldNum" idx="31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Google Shape;18;p26">
            <a:extLst>
              <a:ext uri="{FF2B5EF4-FFF2-40B4-BE49-F238E27FC236}">
                <a16:creationId xmlns:a16="http://schemas.microsoft.com/office/drawing/2014/main" id="{659F6186-7E74-4EB7-114C-04C4206C3C0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cxnSp>
        <p:nvCxnSpPr>
          <p:cNvPr id="2" name="Google Shape;228;p11">
            <a:extLst>
              <a:ext uri="{FF2B5EF4-FFF2-40B4-BE49-F238E27FC236}">
                <a16:creationId xmlns:a16="http://schemas.microsoft.com/office/drawing/2014/main" id="{606B21C2-95BD-8323-4831-EB43FDB8DF43}"/>
              </a:ext>
            </a:extLst>
          </p:cNvPr>
          <p:cNvCxnSpPr/>
          <p:nvPr userDrawn="1"/>
        </p:nvCxnSpPr>
        <p:spPr>
          <a:xfrm>
            <a:off x="2375210" y="1247345"/>
            <a:ext cx="0" cy="4968143"/>
          </a:xfrm>
          <a:prstGeom prst="straightConnector1">
            <a:avLst/>
          </a:prstGeom>
          <a:noFill/>
          <a:ln w="12700" cap="flat" cmpd="sng">
            <a:solidFill>
              <a:schemeClr val="tx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" name="Graphic 8">
            <a:extLst>
              <a:ext uri="{FF2B5EF4-FFF2-40B4-BE49-F238E27FC236}">
                <a16:creationId xmlns:a16="http://schemas.microsoft.com/office/drawing/2014/main" id="{ABA6A5FC-3D79-74EF-71DF-41BB3A9A0667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1301162" y="2753590"/>
            <a:ext cx="890753" cy="9798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CFFFA42-1951-A26E-F18C-B045E2EA1089}"/>
              </a:ext>
            </a:extLst>
          </p:cNvPr>
          <p:cNvPicPr>
            <a:picLocks noChangeAspect="1"/>
          </p:cNvPicPr>
          <p:nvPr userDrawn="1"/>
        </p:nvPicPr>
        <p:blipFill>
          <a:blip>
            <a:lum bright="-10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395" t="26219" r="10339" b="23780"/>
          <a:stretch/>
        </p:blipFill>
        <p:spPr>
          <a:xfrm>
            <a:off x="1287715" y="3717949"/>
            <a:ext cx="911535" cy="47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73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Content with Sub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0DEDA68D-6CAE-D022-A365-83EC3BD24C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98748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bg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B2618AE6-FDBE-1354-D93B-8602477F4E7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97880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bg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1B78320B-EF80-0262-B50A-37AED8749B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97013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bg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BCE06CA3-FBDA-0DB1-EC08-8B166A08F2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9616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rgbClr val="D8D8D8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3DB8AE90-7EB1-5723-0F92-48827ECF6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9616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bg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bg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D040A3A8-1C48-A156-8029-7C18C4272F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98748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rgbClr val="D8D8D8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0BB47F86-F305-9165-364E-B5101312E5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7881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rgbClr val="D8D8D8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42ADFDFF-05A9-4992-8DD0-3EC768B002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7013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rgbClr val="D8D8D8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6047695-D2A7-8CC8-6237-AB6999393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7" name="Google Shape;22;p26">
            <a:extLst>
              <a:ext uri="{FF2B5EF4-FFF2-40B4-BE49-F238E27FC236}">
                <a16:creationId xmlns:a16="http://schemas.microsoft.com/office/drawing/2014/main" id="{6B2986DC-49C5-5535-536A-31755EE0D6EB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9" name="Google Shape;21;p33">
            <a:extLst>
              <a:ext uri="{FF2B5EF4-FFF2-40B4-BE49-F238E27FC236}">
                <a16:creationId xmlns:a16="http://schemas.microsoft.com/office/drawing/2014/main" id="{511B8A85-1058-6DB8-762F-BBB07B2FF98C}"/>
              </a:ext>
            </a:extLst>
          </p:cNvPr>
          <p:cNvSpPr txBox="1">
            <a:spLocks noGrp="1"/>
          </p:cNvSpPr>
          <p:nvPr>
            <p:ph type="sldNum" idx="24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18;p26">
            <a:extLst>
              <a:ext uri="{FF2B5EF4-FFF2-40B4-BE49-F238E27FC236}">
                <a16:creationId xmlns:a16="http://schemas.microsoft.com/office/drawing/2014/main" id="{40BA8D3D-17C0-D789-C333-63552D00677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10E9C1-F314-B71D-A468-F4B05376112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05884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Content with Sub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;p26">
            <a:extLst>
              <a:ext uri="{FF2B5EF4-FFF2-40B4-BE49-F238E27FC236}">
                <a16:creationId xmlns:a16="http://schemas.microsoft.com/office/drawing/2014/main" id="{9B989E15-C64E-6380-C523-FD6D0E7C97E8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DBB51031-673C-3567-8F77-1A040E8A3D43}"/>
              </a:ext>
            </a:extLst>
          </p:cNvPr>
          <p:cNvSpPr txBox="1">
            <a:spLocks noGrp="1"/>
          </p:cNvSpPr>
          <p:nvPr>
            <p:ph type="sldNum" idx="24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Google Shape;18;p26">
            <a:extLst>
              <a:ext uri="{FF2B5EF4-FFF2-40B4-BE49-F238E27FC236}">
                <a16:creationId xmlns:a16="http://schemas.microsoft.com/office/drawing/2014/main" id="{C00BB305-E640-844F-1221-CD11AFE33D6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0D0E09BA-1A8E-C1D3-D61B-400A354487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698748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tx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FE63F417-6006-9A64-A894-FABE0925D42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97880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tx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01384AD7-7B64-F585-993B-4885BB7F87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097013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tx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44476820-AC10-F46C-AE32-BFF2361972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9616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tx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tx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0431D914-25FF-86D7-FDF9-31BAB47FF1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9616" y="2483871"/>
            <a:ext cx="2537011" cy="1058772"/>
          </a:xfrm>
          <a:prstGeom prst="roundRect">
            <a:avLst>
              <a:gd name="adj" fmla="val 18596"/>
            </a:avLst>
          </a:prstGeom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rmAutofit/>
          </a:bodyPr>
          <a:lstStyle>
            <a:lvl1pPr algn="ctr">
              <a:defRPr lang="en-GB" sz="1800" b="0" i="0" spc="0" dirty="0">
                <a:solidFill>
                  <a:schemeClr val="tx1"/>
                </a:solidFill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endParaRPr lang="en-GB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D83B7310-9BCE-4468-5E9D-8DDE65441A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98748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tx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tx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38A1D99D-33A4-1B2E-F589-8C9FB914652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7881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tx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tx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EC5EFD97-771E-7331-840A-515C329679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7013" y="3802373"/>
            <a:ext cx="2537011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tx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tx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98340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Content with Sub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A6CC7ED2-4130-8BAA-9526-2D8799302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22ECC4A4-310A-7F04-01F5-657F71695B71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0" name="Google Shape;21;p33">
            <a:extLst>
              <a:ext uri="{FF2B5EF4-FFF2-40B4-BE49-F238E27FC236}">
                <a16:creationId xmlns:a16="http://schemas.microsoft.com/office/drawing/2014/main" id="{C313903C-AA1B-1FD3-8A16-83F8BA8AB6AE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Google Shape;18;p26">
            <a:extLst>
              <a:ext uri="{FF2B5EF4-FFF2-40B4-BE49-F238E27FC236}">
                <a16:creationId xmlns:a16="http://schemas.microsoft.com/office/drawing/2014/main" id="{6C79224C-660E-866A-4310-65AD7FA56EB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A20BA513-AB44-FBCE-331C-59FEF272E2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3896" y="3813391"/>
            <a:ext cx="3332818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4D511F8-0DC1-91AC-E66E-7AFA42FDE4D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1496" y="3813391"/>
            <a:ext cx="3332818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6A8CF9EB-86D8-442F-E830-B539DD32C22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00367" y="3813391"/>
            <a:ext cx="3332818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7261AA00-40F1-D4FF-078F-0421A78005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3896" y="2494889"/>
            <a:ext cx="3332818" cy="1058772"/>
          </a:xfrm>
          <a:prstGeom prst="roundRect">
            <a:avLst>
              <a:gd name="adj" fmla="val 16502"/>
            </a:avLst>
          </a:prstGeom>
          <a:ln w="12700">
            <a:solidFill>
              <a:schemeClr val="bg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76F2DFD6-04C7-924C-9200-A415D6C0CAA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51496" y="2494889"/>
            <a:ext cx="3332818" cy="1058772"/>
          </a:xfrm>
          <a:prstGeom prst="roundRect">
            <a:avLst>
              <a:gd name="adj" fmla="val 16502"/>
            </a:avLst>
          </a:prstGeom>
          <a:ln w="12700">
            <a:solidFill>
              <a:schemeClr val="bg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5339B713-39D3-066D-F35C-4D0F63F3B8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09096" y="2494889"/>
            <a:ext cx="3332818" cy="1058772"/>
          </a:xfrm>
          <a:prstGeom prst="roundRect">
            <a:avLst>
              <a:gd name="adj" fmla="val 16502"/>
            </a:avLst>
          </a:prstGeom>
          <a:ln w="12700">
            <a:solidFill>
              <a:schemeClr val="bg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3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9B507BD-4435-6E09-D426-71728B62A9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5368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Content with Sub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D8D9617B-1ED5-DF12-3467-80A93666F3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3896" y="3813391"/>
            <a:ext cx="3332818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5D32A610-CC4F-2845-147F-B856867F81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1496" y="3813391"/>
            <a:ext cx="3332818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9D6CC5F-7A2A-B46E-57D2-409537F11C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00367" y="3813391"/>
            <a:ext cx="3332818" cy="164379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rgbClr val="D8D8D8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rgbClr val="D8D8D8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rgbClr val="D8D8D8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1AC42BE0-2D56-2D92-48B8-04B90717018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3896" y="2494889"/>
            <a:ext cx="3332818" cy="1058772"/>
          </a:xfrm>
          <a:prstGeom prst="roundRect">
            <a:avLst>
              <a:gd name="adj" fmla="val 16502"/>
            </a:avLst>
          </a:prstGeom>
          <a:ln w="12700">
            <a:solidFill>
              <a:schemeClr val="tx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3" name="Google Shape;22;p26">
            <a:extLst>
              <a:ext uri="{FF2B5EF4-FFF2-40B4-BE49-F238E27FC236}">
                <a16:creationId xmlns:a16="http://schemas.microsoft.com/office/drawing/2014/main" id="{BDF998BC-F153-B576-C507-41EDE28E04E2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2BD17A65-8858-096F-D431-442D5E8E6647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Google Shape;18;p26">
            <a:extLst>
              <a:ext uri="{FF2B5EF4-FFF2-40B4-BE49-F238E27FC236}">
                <a16:creationId xmlns:a16="http://schemas.microsoft.com/office/drawing/2014/main" id="{0279D595-C019-D9CB-AFBF-9163B5AAE44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D08BCF9-0055-C53E-29A2-D708FB04196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651496" y="2494889"/>
            <a:ext cx="3332818" cy="1058772"/>
          </a:xfrm>
          <a:prstGeom prst="roundRect">
            <a:avLst>
              <a:gd name="adj" fmla="val 16502"/>
            </a:avLst>
          </a:prstGeom>
          <a:ln w="12700">
            <a:solidFill>
              <a:schemeClr val="tx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BA20B6CD-2456-61B2-309E-83E5134297C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309096" y="2494889"/>
            <a:ext cx="3332818" cy="1058772"/>
          </a:xfrm>
          <a:prstGeom prst="roundRect">
            <a:avLst>
              <a:gd name="adj" fmla="val 16502"/>
            </a:avLst>
          </a:prstGeom>
          <a:ln w="12700">
            <a:solidFill>
              <a:schemeClr val="tx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741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Content with Sub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BCE06CA3-FBDA-0DB1-EC08-8B166A08F2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130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7812742B-B5EA-A826-D00D-EA8A7E8F5C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0990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D7AED383-9A52-6797-1AB6-80F75FB026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1635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40FA7E6F-7BDE-96CA-B9AA-6D74EF94DF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99229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ED611402-2286-84C4-61AA-A6BA4F8B82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93896" y="1288487"/>
            <a:ext cx="2555678" cy="369113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48261CAA-7C08-0306-CAD7-67DFC398CB9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96701" y="1288487"/>
            <a:ext cx="2555678" cy="369113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086FD225-3ED5-8F6F-C1B3-A1B349DDE1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99506" y="1288487"/>
            <a:ext cx="2555678" cy="369113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0B2FC53B-45CA-2392-456B-039DC8D4107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02312" y="1288487"/>
            <a:ext cx="2555678" cy="3691137"/>
          </a:xfrm>
        </p:spPr>
        <p:txBody>
          <a:bodyPr>
            <a:normAutofit/>
          </a:bodyPr>
          <a:lstStyle>
            <a:lvl1pPr>
              <a:defRPr sz="1000"/>
            </a:lvl1pPr>
          </a:lstStyle>
          <a:p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0440387-C8FB-18F4-A9CA-3C92F607A9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10" name="Google Shape;22;p26">
            <a:extLst>
              <a:ext uri="{FF2B5EF4-FFF2-40B4-BE49-F238E27FC236}">
                <a16:creationId xmlns:a16="http://schemas.microsoft.com/office/drawing/2014/main" id="{55192FF9-8E56-FA1B-FEA3-DC49A8F65690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3" name="Google Shape;21;p33">
            <a:extLst>
              <a:ext uri="{FF2B5EF4-FFF2-40B4-BE49-F238E27FC236}">
                <a16:creationId xmlns:a16="http://schemas.microsoft.com/office/drawing/2014/main" id="{FEA51619-E87E-32F1-D309-95729C81DC2A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Google Shape;18;p26">
            <a:extLst>
              <a:ext uri="{FF2B5EF4-FFF2-40B4-BE49-F238E27FC236}">
                <a16:creationId xmlns:a16="http://schemas.microsoft.com/office/drawing/2014/main" id="{FAB31B88-AAA4-93D8-1EF0-AF15DC99F64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00505F1-5F44-6D29-902F-4745ABF3614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2715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Content with Sub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C8A0DDA-CF2F-C90B-C88B-662DC5A841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9130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E533F53-5F39-197F-584A-55552DA6DA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0990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A25C08EE-2973-05B1-C777-A12BAE23D2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21635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84175955-06ED-8621-1F35-BA0FB5D7D7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99229" y="5220236"/>
            <a:ext cx="2393506" cy="88697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1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5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0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BB46B5F1-C8B1-7564-50AA-442061B7D6F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93896" y="1288487"/>
            <a:ext cx="2555678" cy="3691137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D541EE71-9004-D78A-46A7-C1B882F8812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696701" y="1288487"/>
            <a:ext cx="2555678" cy="3691137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AC63FC5A-402B-328F-2AD6-13A451FFD2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99506" y="1288487"/>
            <a:ext cx="2555678" cy="3691137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DF26EEDC-8832-421D-9DB7-BCF54FE6D9B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02312" y="1288487"/>
            <a:ext cx="2555678" cy="3691137"/>
          </a:xfrm>
        </p:spPr>
        <p:txBody>
          <a:bodyPr>
            <a:normAutofit/>
          </a:bodyPr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Google Shape;22;p26">
            <a:extLst>
              <a:ext uri="{FF2B5EF4-FFF2-40B4-BE49-F238E27FC236}">
                <a16:creationId xmlns:a16="http://schemas.microsoft.com/office/drawing/2014/main" id="{77141DC7-BA74-FA54-C25B-394DA004F204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562035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7" name="Google Shape;21;p33">
            <a:extLst>
              <a:ext uri="{FF2B5EF4-FFF2-40B4-BE49-F238E27FC236}">
                <a16:creationId xmlns:a16="http://schemas.microsoft.com/office/drawing/2014/main" id="{B5AC409E-3F0D-14D3-C9BA-6A137DB9E9BF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Google Shape;18;p26">
            <a:extLst>
              <a:ext uri="{FF2B5EF4-FFF2-40B4-BE49-F238E27FC236}">
                <a16:creationId xmlns:a16="http://schemas.microsoft.com/office/drawing/2014/main" id="{1CD3AB12-AD83-360C-FFFB-1288B30761B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76601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Content with Sub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AC7F0161-71EE-6B22-A6E5-CA59FF01D5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695119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bg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ln>
                  <a:noFill/>
                </a:ln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F2ACCF6-C80A-A638-3A59-400CD1915DA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94252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bg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ln>
                  <a:noFill/>
                </a:ln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3F632B57-9DB9-B8D4-D30F-168C7C2AB8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093384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bg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ln>
                  <a:noFill/>
                </a:ln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9FB924E-3FC3-7113-EE69-F976405F9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  <p:sp>
        <p:nvSpPr>
          <p:cNvPr id="13" name="Google Shape;22;p26">
            <a:extLst>
              <a:ext uri="{FF2B5EF4-FFF2-40B4-BE49-F238E27FC236}">
                <a16:creationId xmlns:a16="http://schemas.microsoft.com/office/drawing/2014/main" id="{B7A1EE74-7F9A-4F04-B7B9-2F70D66BDA2B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5" name="Google Shape;21;p33">
            <a:extLst>
              <a:ext uri="{FF2B5EF4-FFF2-40B4-BE49-F238E27FC236}">
                <a16:creationId xmlns:a16="http://schemas.microsoft.com/office/drawing/2014/main" id="{B030203B-A507-7C39-C328-AF44A57B8343}"/>
              </a:ext>
            </a:extLst>
          </p:cNvPr>
          <p:cNvSpPr txBox="1">
            <a:spLocks noGrp="1"/>
          </p:cNvSpPr>
          <p:nvPr>
            <p:ph type="sldNum" idx="21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FEEB06D8-3F5F-F13A-79D5-8DC9DE239F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3896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bg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ln>
                  <a:noFill/>
                </a:ln>
                <a:solidFill>
                  <a:schemeClr val="bg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20" name="Google Shape;24;p26">
            <a:extLst>
              <a:ext uri="{FF2B5EF4-FFF2-40B4-BE49-F238E27FC236}">
                <a16:creationId xmlns:a16="http://schemas.microsoft.com/office/drawing/2014/main" id="{374FBE35-26DC-5388-6D08-51E66D619245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93896" y="950350"/>
            <a:ext cx="9256696" cy="39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Subheads can drop over multiple lines, and are helpful to take the strain off the big headline.</a:t>
            </a:r>
            <a:endParaRPr/>
          </a:p>
        </p:txBody>
      </p:sp>
      <p:sp>
        <p:nvSpPr>
          <p:cNvPr id="21" name="Google Shape;18;p26">
            <a:extLst>
              <a:ext uri="{FF2B5EF4-FFF2-40B4-BE49-F238E27FC236}">
                <a16:creationId xmlns:a16="http://schemas.microsoft.com/office/drawing/2014/main" id="{A0662B01-017D-6D6B-017D-C78B1F7E313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bg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135758A-CDFA-43F3-6115-437E75EA717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34" t="14156" r="57486" b="13360"/>
          <a:stretch/>
        </p:blipFill>
        <p:spPr>
          <a:xfrm>
            <a:off x="211950" y="238991"/>
            <a:ext cx="572667" cy="62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3074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Content with Sub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3AA61CA9-2BE2-2D06-EFB2-9DD29718F0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93028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tx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10" name="Google Shape;24;p26">
            <a:extLst>
              <a:ext uri="{FF2B5EF4-FFF2-40B4-BE49-F238E27FC236}">
                <a16:creationId xmlns:a16="http://schemas.microsoft.com/office/drawing/2014/main" id="{6B6C8047-0491-9C29-C47A-B6FD3FB089CD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93896" y="950350"/>
            <a:ext cx="9256696" cy="391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000" tIns="0" rIns="0" bIns="0" anchor="t" anchorCtr="0">
            <a:noAutofit/>
          </a:bodyPr>
          <a:lstStyle>
            <a:lvl1pPr marL="0" lvl="0" indent="0" algn="l">
              <a:lnSpc>
                <a:spcPts val="22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200" b="0" i="0">
                <a:solidFill>
                  <a:schemeClr val="tx1"/>
                </a:solidFill>
                <a:latin typeface="Funnel Sans" pitchFamily="2" charset="0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Subheads can drop over multiple lines, and are helpful to take the strain off the big headline.</a:t>
            </a:r>
            <a:endParaRPr/>
          </a:p>
        </p:txBody>
      </p:sp>
      <p:sp>
        <p:nvSpPr>
          <p:cNvPr id="2" name="Text Placeholder 29">
            <a:extLst>
              <a:ext uri="{FF2B5EF4-FFF2-40B4-BE49-F238E27FC236}">
                <a16:creationId xmlns:a16="http://schemas.microsoft.com/office/drawing/2014/main" id="{C058A599-7521-1D71-1E08-22071D540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93896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tx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3" name="Google Shape;22;p26">
            <a:extLst>
              <a:ext uri="{FF2B5EF4-FFF2-40B4-BE49-F238E27FC236}">
                <a16:creationId xmlns:a16="http://schemas.microsoft.com/office/drawing/2014/main" id="{FACF5EA3-536E-0471-A9D0-F110C4ED1A7B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5" name="Google Shape;21;p33">
            <a:extLst>
              <a:ext uri="{FF2B5EF4-FFF2-40B4-BE49-F238E27FC236}">
                <a16:creationId xmlns:a16="http://schemas.microsoft.com/office/drawing/2014/main" id="{E14BB387-3660-ACAE-C59A-52160F6043AF}"/>
              </a:ext>
            </a:extLst>
          </p:cNvPr>
          <p:cNvSpPr txBox="1">
            <a:spLocks noGrp="1"/>
          </p:cNvSpPr>
          <p:nvPr>
            <p:ph type="sldNum" idx="21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Google Shape;18;p26">
            <a:extLst>
              <a:ext uri="{FF2B5EF4-FFF2-40B4-BE49-F238E27FC236}">
                <a16:creationId xmlns:a16="http://schemas.microsoft.com/office/drawing/2014/main" id="{E11DD705-ACC2-9E51-BCC3-79A140DF1F2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DC442611-3D6A-330A-C05C-6AFF629C66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91293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tx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E30FCCAB-5945-B145-6A8F-4B81A61F06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92161" y="1878487"/>
            <a:ext cx="2537011" cy="985899"/>
          </a:xfrm>
          <a:prstGeom prst="roundRect">
            <a:avLst>
              <a:gd name="adj" fmla="val 18738"/>
            </a:avLst>
          </a:prstGeom>
          <a:ln w="12700">
            <a:solidFill>
              <a:schemeClr val="tx1"/>
            </a:solidFill>
          </a:ln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8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400" b="0" i="0">
                <a:solidFill>
                  <a:schemeClr val="bg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Blip>
                <a:blip r:embed="rId2"/>
              </a:buBlip>
              <a:defRPr sz="1200" b="0" i="0">
                <a:solidFill>
                  <a:schemeClr val="bg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6861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Objec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4;p26">
            <a:extLst>
              <a:ext uri="{FF2B5EF4-FFF2-40B4-BE49-F238E27FC236}">
                <a16:creationId xmlns:a16="http://schemas.microsoft.com/office/drawing/2014/main" id="{52C9C0D3-8DC3-41FC-E41A-697E9048B58D}"/>
              </a:ext>
            </a:extLst>
          </p:cNvPr>
          <p:cNvSpPr txBox="1">
            <a:spLocks noGrp="1"/>
          </p:cNvSpPr>
          <p:nvPr>
            <p:ph type="body" idx="2" hasCustomPrompt="1"/>
          </p:nvPr>
        </p:nvSpPr>
        <p:spPr>
          <a:xfrm>
            <a:off x="993896" y="1085261"/>
            <a:ext cx="9256696" cy="69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lang="en-GB" sz="2400" b="1" i="0" kern="1200" spc="0" dirty="0">
                <a:solidFill>
                  <a:schemeClr val="tx1"/>
                </a:solidFill>
                <a:latin typeface="Funnel Sans" pitchFamily="2" charset="0"/>
                <a:ea typeface="+mn-ea"/>
                <a:cs typeface="+mn-cs"/>
              </a:defRPr>
            </a:lvl1pPr>
            <a:lvl2pPr marL="914400" lvl="1" indent="-34290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20039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429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228600" algn="l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GB"/>
              <a:t>Subheads are larger than body copy and can drop over multiple lines, and are helpful to take the strain off the big headline.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E615A253-5B1E-9AB4-D135-0130D8C502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3895" y="1961393"/>
            <a:ext cx="4862241" cy="380572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328"/>
              </a:spcBef>
              <a:spcAft>
                <a:spcPts val="0"/>
              </a:spcAft>
              <a:defRPr sz="16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buFontTx/>
              <a:buBlip>
                <a:blip r:embed="rId2"/>
              </a:buBlip>
              <a:defRPr sz="1400" b="0" i="0">
                <a:solidFill>
                  <a:schemeClr val="tx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F0E2F280-E6EB-5C71-2F3F-12C955E1A4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961393"/>
            <a:ext cx="4862241" cy="3805729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1328"/>
              </a:spcBef>
              <a:spcAft>
                <a:spcPts val="0"/>
              </a:spcAft>
              <a:defRPr sz="1600" b="0" i="0" spc="0">
                <a:solidFill>
                  <a:schemeClr val="tx1"/>
                </a:solidFill>
                <a:latin typeface="Funnel Sans" pitchFamily="2" charset="0"/>
              </a:defRPr>
            </a:lvl1pPr>
            <a:lvl2pPr marL="216000" indent="-21600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Funnel Sans" pitchFamily="2" charset="0"/>
              </a:defRPr>
            </a:lvl2pPr>
            <a:lvl3pPr marL="576000" indent="-217560">
              <a:lnSpc>
                <a:spcPct val="100000"/>
              </a:lnSpc>
              <a:buFontTx/>
              <a:buBlip>
                <a:blip r:embed="rId2"/>
              </a:buBlip>
              <a:defRPr sz="1400" b="0" i="0">
                <a:solidFill>
                  <a:schemeClr val="tx1"/>
                </a:solidFill>
                <a:latin typeface="Funnel Sans" pitchFamily="2" charset="0"/>
              </a:defRPr>
            </a:lvl3pPr>
            <a:lvl4pPr marL="936000" indent="-216000">
              <a:lnSpc>
                <a:spcPct val="100000"/>
              </a:lnSpc>
              <a:buFontTx/>
              <a:buBlip>
                <a:blip r:embed="rId2"/>
              </a:buBlip>
              <a:defRPr sz="1200" b="0" i="0">
                <a:solidFill>
                  <a:schemeClr val="tx1"/>
                </a:solidFill>
                <a:latin typeface="Funnel Sans" pitchFamily="2" charset="0"/>
              </a:defRPr>
            </a:lvl4pPr>
            <a:lvl5pPr>
              <a:defRPr sz="1800">
                <a:solidFill>
                  <a:schemeClr val="tx2"/>
                </a:solidFill>
                <a:latin typeface="Funnel Sans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Google Shape;22;p26">
            <a:extLst>
              <a:ext uri="{FF2B5EF4-FFF2-40B4-BE49-F238E27FC236}">
                <a16:creationId xmlns:a16="http://schemas.microsoft.com/office/drawing/2014/main" id="{0E05869E-EB3E-6E95-2C03-799E1759E05F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9" name="Google Shape;21;p33">
            <a:extLst>
              <a:ext uri="{FF2B5EF4-FFF2-40B4-BE49-F238E27FC236}">
                <a16:creationId xmlns:a16="http://schemas.microsoft.com/office/drawing/2014/main" id="{F8BC707E-12DB-4371-2684-A9DE63587558}"/>
              </a:ext>
            </a:extLst>
          </p:cNvPr>
          <p:cNvSpPr txBox="1">
            <a:spLocks noGrp="1"/>
          </p:cNvSpPr>
          <p:nvPr>
            <p:ph type="sldNum" idx="18"/>
          </p:nvPr>
        </p:nvSpPr>
        <p:spPr>
          <a:xfrm>
            <a:off x="11461063" y="244237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18;p26">
            <a:extLst>
              <a:ext uri="{FF2B5EF4-FFF2-40B4-BE49-F238E27FC236}">
                <a16:creationId xmlns:a16="http://schemas.microsoft.com/office/drawing/2014/main" id="{8B3A4F18-670E-635A-0CCD-8B27F72D6D4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93896" y="366489"/>
            <a:ext cx="10640128" cy="538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b="1" i="0" spc="-150" baseline="0">
                <a:solidFill>
                  <a:schemeClr val="tx1"/>
                </a:solidFill>
                <a:latin typeface="Funnel Sans" pitchFamily="2" charset="0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Titles go here, and never get smaller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29978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DAB5608-D6A9-AFBE-6096-20281949684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" r="216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9" name="Google Shape;22;p26">
            <a:extLst>
              <a:ext uri="{FF2B5EF4-FFF2-40B4-BE49-F238E27FC236}">
                <a16:creationId xmlns:a16="http://schemas.microsoft.com/office/drawing/2014/main" id="{37FE290A-03B8-7E0B-7724-7873F603F951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0" name="Google Shape;41;p28">
            <a:extLst>
              <a:ext uri="{FF2B5EF4-FFF2-40B4-BE49-F238E27FC236}">
                <a16:creationId xmlns:a16="http://schemas.microsoft.com/office/drawing/2014/main" id="{F6B6806E-A381-7E40-8F66-368932A6FEB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568795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Thank you</a:t>
            </a:r>
            <a:endParaRPr/>
          </a:p>
        </p:txBody>
      </p:sp>
      <p:pic>
        <p:nvPicPr>
          <p:cNvPr id="13" name="Picture 12" descr="A logo with white text&#10;&#10;Description automatically generated">
            <a:extLst>
              <a:ext uri="{FF2B5EF4-FFF2-40B4-BE49-F238E27FC236}">
                <a16:creationId xmlns:a16="http://schemas.microsoft.com/office/drawing/2014/main" id="{4CD2F015-6671-BB1E-08B5-3E9A224E35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5ABBCD-5208-C0AC-6B8B-9F3B71673D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" r="216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4" name="Picture 3" descr="A logo with white text&#10;&#10;Description automatically generated">
            <a:extLst>
              <a:ext uri="{FF2B5EF4-FFF2-40B4-BE49-F238E27FC236}">
                <a16:creationId xmlns:a16="http://schemas.microsoft.com/office/drawing/2014/main" id="{2BD49192-0BA0-623A-CF4D-E81E490864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3420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3E6D56-B230-0E36-05A9-445DEBFDB3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761" b="776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9" name="Google Shape;22;p26">
            <a:extLst>
              <a:ext uri="{FF2B5EF4-FFF2-40B4-BE49-F238E27FC236}">
                <a16:creationId xmlns:a16="http://schemas.microsoft.com/office/drawing/2014/main" id="{37FE290A-03B8-7E0B-7724-7873F603F951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0" name="Google Shape;41;p28">
            <a:extLst>
              <a:ext uri="{FF2B5EF4-FFF2-40B4-BE49-F238E27FC236}">
                <a16:creationId xmlns:a16="http://schemas.microsoft.com/office/drawing/2014/main" id="{F6B6806E-A381-7E40-8F66-368932A6FEB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568795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Thank you</a:t>
            </a:r>
            <a:endParaRPr/>
          </a:p>
        </p:txBody>
      </p:sp>
      <p:pic>
        <p:nvPicPr>
          <p:cNvPr id="13" name="Picture 12" descr="A logo with white text&#10;&#10;Description automatically generated">
            <a:extLst>
              <a:ext uri="{FF2B5EF4-FFF2-40B4-BE49-F238E27FC236}">
                <a16:creationId xmlns:a16="http://schemas.microsoft.com/office/drawing/2014/main" id="{4CD2F015-6671-BB1E-08B5-3E9A224E35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0AED19-819B-16A1-9E43-307326094F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761" b="7761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4" name="Picture 3" descr="A logo with white text&#10;&#10;Description automatically generated">
            <a:extLst>
              <a:ext uri="{FF2B5EF4-FFF2-40B4-BE49-F238E27FC236}">
                <a16:creationId xmlns:a16="http://schemas.microsoft.com/office/drawing/2014/main" id="{69007F06-6BDD-EF25-7B61-7E80CA9C94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93769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4529A0E-E969-288E-31D5-0C22520E599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" r="183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9" name="Google Shape;22;p26">
            <a:extLst>
              <a:ext uri="{FF2B5EF4-FFF2-40B4-BE49-F238E27FC236}">
                <a16:creationId xmlns:a16="http://schemas.microsoft.com/office/drawing/2014/main" id="{37FE290A-03B8-7E0B-7724-7873F603F951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0" name="Google Shape;41;p28">
            <a:extLst>
              <a:ext uri="{FF2B5EF4-FFF2-40B4-BE49-F238E27FC236}">
                <a16:creationId xmlns:a16="http://schemas.microsoft.com/office/drawing/2014/main" id="{F6B6806E-A381-7E40-8F66-368932A6FEB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568795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Thank you</a:t>
            </a:r>
            <a:endParaRPr/>
          </a:p>
        </p:txBody>
      </p:sp>
      <p:pic>
        <p:nvPicPr>
          <p:cNvPr id="13" name="Picture 12" descr="A logo with white text&#10;&#10;Description automatically generated">
            <a:extLst>
              <a:ext uri="{FF2B5EF4-FFF2-40B4-BE49-F238E27FC236}">
                <a16:creationId xmlns:a16="http://schemas.microsoft.com/office/drawing/2014/main" id="{4CD2F015-6671-BB1E-08B5-3E9A224E35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B55968B-C801-FAE6-FCBC-8D965030EA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" r="183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970F8A84-A5D3-362D-A71E-56AA2F9ED1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32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4529A0E-E969-288E-31D5-0C22520E599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59" r="555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sp>
        <p:nvSpPr>
          <p:cNvPr id="9" name="Google Shape;22;p26">
            <a:extLst>
              <a:ext uri="{FF2B5EF4-FFF2-40B4-BE49-F238E27FC236}">
                <a16:creationId xmlns:a16="http://schemas.microsoft.com/office/drawing/2014/main" id="{37FE290A-03B8-7E0B-7724-7873F603F951}"/>
              </a:ext>
            </a:extLst>
          </p:cNvPr>
          <p:cNvSpPr txBox="1">
            <a:spLocks noGrp="1"/>
          </p:cNvSpPr>
          <p:nvPr>
            <p:ph type="ftr" idx="3"/>
          </p:nvPr>
        </p:nvSpPr>
        <p:spPr>
          <a:xfrm>
            <a:off x="9791247" y="6351676"/>
            <a:ext cx="2188802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>
                <a:solidFill>
                  <a:schemeClr val="tx1">
                    <a:lumMod val="10000"/>
                    <a:lumOff val="90000"/>
                    <a:alpha val="50000"/>
                  </a:schemeClr>
                </a:solidFill>
                <a:latin typeface="Funnel Sans" pitchFamily="2" charset="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/>
              <a:t>© 2025 Copyright Genpact. All Rights Reserved.</a:t>
            </a:r>
          </a:p>
        </p:txBody>
      </p:sp>
      <p:sp>
        <p:nvSpPr>
          <p:cNvPr id="10" name="Google Shape;41;p28">
            <a:extLst>
              <a:ext uri="{FF2B5EF4-FFF2-40B4-BE49-F238E27FC236}">
                <a16:creationId xmlns:a16="http://schemas.microsoft.com/office/drawing/2014/main" id="{F6B6806E-A381-7E40-8F66-368932A6FEB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10210" y="2568795"/>
            <a:ext cx="4004632" cy="1720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69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7250" b="1" i="0" u="none" strike="noStrike" cap="none">
                <a:solidFill>
                  <a:schemeClr val="bg1"/>
                </a:solidFill>
                <a:latin typeface="Funnel Sans" pitchFamily="2" charset="0"/>
                <a:ea typeface="Georgia"/>
                <a:cs typeface="Georgia"/>
                <a:sym typeface="Georgia"/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7250" b="1" i="0" u="none" strike="noStrike" cap="none">
                <a:solidFill>
                  <a:schemeClr val="bg1"/>
                </a:solidFill>
                <a:latin typeface="Funnel Sans" pitchFamily="2" charset="0"/>
                <a:sym typeface="Georgia"/>
              </a:rPr>
              <a:t>Thank you</a:t>
            </a:r>
            <a:endParaRPr/>
          </a:p>
        </p:txBody>
      </p:sp>
      <p:pic>
        <p:nvPicPr>
          <p:cNvPr id="13" name="Picture 12" descr="A logo with white text&#10;&#10;Description automatically generated">
            <a:extLst>
              <a:ext uri="{FF2B5EF4-FFF2-40B4-BE49-F238E27FC236}">
                <a16:creationId xmlns:a16="http://schemas.microsoft.com/office/drawing/2014/main" id="{4CD2F015-6671-BB1E-08B5-3E9A224E35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2ABE7C-7BDD-F9F0-F052-7DEBBC3EDF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559" r="5559"/>
          <a:stretch/>
        </p:blipFill>
        <p:spPr>
          <a:xfrm>
            <a:off x="0" y="0"/>
            <a:ext cx="12191096" cy="6858000"/>
          </a:xfrm>
          <a:prstGeom prst="rect">
            <a:avLst/>
          </a:prstGeom>
        </p:spPr>
      </p:pic>
      <p:pic>
        <p:nvPicPr>
          <p:cNvPr id="3" name="Picture 2" descr="A logo with white text&#10;&#10;Description automatically generated">
            <a:extLst>
              <a:ext uri="{FF2B5EF4-FFF2-40B4-BE49-F238E27FC236}">
                <a16:creationId xmlns:a16="http://schemas.microsoft.com/office/drawing/2014/main" id="{DEC77878-F103-D91D-95E4-0A1AA1A4C59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49" y="2152270"/>
            <a:ext cx="4869997" cy="255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801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688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B9BB-A2C6-37A3-5D1D-0FCEF8B66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011860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41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image" Target="../media/image3.pn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8A7FA1-4461-3986-3A68-E30C7EE7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753" y="167924"/>
            <a:ext cx="9764486" cy="750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672CB9-7850-7518-75D6-6B70A620C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2753" y="1179900"/>
            <a:ext cx="9764486" cy="4799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Google Shape;21;p33">
            <a:extLst>
              <a:ext uri="{FF2B5EF4-FFF2-40B4-BE49-F238E27FC236}">
                <a16:creationId xmlns:a16="http://schemas.microsoft.com/office/drawing/2014/main" id="{2239E82B-25ED-255D-F58C-7D973431144D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461063" y="224592"/>
            <a:ext cx="518986" cy="21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latin typeface="Funnel Sans" pitchFamily="2" charset="0"/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FEB7F22-4A70-E54B-3A3E-143E726EEE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8134" t="14156" r="57486" b="13360"/>
          <a:stretch/>
        </p:blipFill>
        <p:spPr>
          <a:xfrm>
            <a:off x="211951" y="238990"/>
            <a:ext cx="572666" cy="62993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57F631C-DAD8-CE61-DF2B-F4E65AAD87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8134" t="14156" r="57486" b="13360"/>
          <a:stretch/>
        </p:blipFill>
        <p:spPr>
          <a:xfrm>
            <a:off x="211951" y="238990"/>
            <a:ext cx="572666" cy="62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65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7" r:id="rId1"/>
    <p:sldLayoutId id="2147484138" r:id="rId2"/>
    <p:sldLayoutId id="2147484139" r:id="rId3"/>
    <p:sldLayoutId id="2147484140" r:id="rId4"/>
    <p:sldLayoutId id="2147484141" r:id="rId5"/>
    <p:sldLayoutId id="2147484142" r:id="rId6"/>
    <p:sldLayoutId id="2147484143" r:id="rId7"/>
    <p:sldLayoutId id="2147484144" r:id="rId8"/>
    <p:sldLayoutId id="2147484145" r:id="rId9"/>
    <p:sldLayoutId id="2147484146" r:id="rId10"/>
    <p:sldLayoutId id="2147484147" r:id="rId11"/>
    <p:sldLayoutId id="2147484148" r:id="rId12"/>
    <p:sldLayoutId id="2147484149" r:id="rId13"/>
    <p:sldLayoutId id="2147484150" r:id="rId14"/>
    <p:sldLayoutId id="2147484151" r:id="rId15"/>
    <p:sldLayoutId id="2147484152" r:id="rId16"/>
    <p:sldLayoutId id="2147484153" r:id="rId17"/>
    <p:sldLayoutId id="2147484154" r:id="rId18"/>
    <p:sldLayoutId id="2147484155" r:id="rId19"/>
    <p:sldLayoutId id="2147484156" r:id="rId20"/>
    <p:sldLayoutId id="2147484157" r:id="rId21"/>
    <p:sldLayoutId id="2147484158" r:id="rId22"/>
    <p:sldLayoutId id="2147484159" r:id="rId23"/>
    <p:sldLayoutId id="2147484160" r:id="rId24"/>
    <p:sldLayoutId id="2147484161" r:id="rId25"/>
    <p:sldLayoutId id="2147484162" r:id="rId26"/>
    <p:sldLayoutId id="2147484163" r:id="rId27"/>
    <p:sldLayoutId id="2147484164" r:id="rId28"/>
    <p:sldLayoutId id="2147484165" r:id="rId29"/>
    <p:sldLayoutId id="2147484166" r:id="rId30"/>
    <p:sldLayoutId id="2147484167" r:id="rId31"/>
    <p:sldLayoutId id="2147484168" r:id="rId32"/>
    <p:sldLayoutId id="2147484169" r:id="rId33"/>
    <p:sldLayoutId id="2147484170" r:id="rId34"/>
    <p:sldLayoutId id="2147484171" r:id="rId35"/>
    <p:sldLayoutId id="2147484172" r:id="rId36"/>
    <p:sldLayoutId id="2147484173" r:id="rId37"/>
    <p:sldLayoutId id="2147484174" r:id="rId38"/>
    <p:sldLayoutId id="2147484175" r:id="rId39"/>
    <p:sldLayoutId id="2147484176" r:id="rId40"/>
    <p:sldLayoutId id="2147484177" r:id="rId41"/>
    <p:sldLayoutId id="2147484178" r:id="rId42"/>
    <p:sldLayoutId id="2147484179" r:id="rId43"/>
    <p:sldLayoutId id="2147484180" r:id="rId44"/>
    <p:sldLayoutId id="2147484181" r:id="rId45"/>
    <p:sldLayoutId id="2147484182" r:id="rId46"/>
    <p:sldLayoutId id="2147484183" r:id="rId47"/>
    <p:sldLayoutId id="2147484184" r:id="rId48"/>
    <p:sldLayoutId id="2147484185" r:id="rId49"/>
    <p:sldLayoutId id="2147484318" r:id="rId50"/>
    <p:sldLayoutId id="2147484319" r:id="rId51"/>
    <p:sldLayoutId id="2147484320" r:id="rId5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Funnel Sans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Funnel Sans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6"/>
        </a:buBlip>
        <a:defRPr sz="2400" kern="1200">
          <a:solidFill>
            <a:schemeClr val="tx1"/>
          </a:solidFill>
          <a:latin typeface="Funnel Sans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6"/>
        </a:buBlip>
        <a:defRPr sz="2000" kern="1200">
          <a:solidFill>
            <a:schemeClr val="tx1"/>
          </a:solidFill>
          <a:latin typeface="Funnel Sans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6"/>
        </a:buBlip>
        <a:defRPr sz="1800" kern="1200">
          <a:solidFill>
            <a:schemeClr val="tx1"/>
          </a:solidFill>
          <a:latin typeface="Funnel Sans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56"/>
        </a:buBlip>
        <a:defRPr sz="1800" kern="1200">
          <a:solidFill>
            <a:schemeClr val="tx1"/>
          </a:solidFill>
          <a:latin typeface="Funnel Sans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svg"/><Relationship Id="rId18" Type="http://schemas.openxmlformats.org/officeDocument/2006/relationships/image" Target="../media/image45.png"/><Relationship Id="rId3" Type="http://schemas.openxmlformats.org/officeDocument/2006/relationships/image" Target="../media/image30.svg"/><Relationship Id="rId21" Type="http://schemas.openxmlformats.org/officeDocument/2006/relationships/image" Target="../media/image48.svg"/><Relationship Id="rId7" Type="http://schemas.openxmlformats.org/officeDocument/2006/relationships/image" Target="../media/image34.svg"/><Relationship Id="rId12" Type="http://schemas.openxmlformats.org/officeDocument/2006/relationships/image" Target="../media/image39.svg"/><Relationship Id="rId17" Type="http://schemas.openxmlformats.org/officeDocument/2006/relationships/image" Target="../media/image44.png"/><Relationship Id="rId25" Type="http://schemas.openxmlformats.org/officeDocument/2006/relationships/image" Target="../media/image52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3.png"/><Relationship Id="rId20" Type="http://schemas.openxmlformats.org/officeDocument/2006/relationships/image" Target="../media/image47.svg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33.svg"/><Relationship Id="rId11" Type="http://schemas.openxmlformats.org/officeDocument/2006/relationships/image" Target="../media/image38.svg"/><Relationship Id="rId24" Type="http://schemas.openxmlformats.org/officeDocument/2006/relationships/image" Target="../media/image51.svg"/><Relationship Id="rId5" Type="http://schemas.openxmlformats.org/officeDocument/2006/relationships/image" Target="../media/image32.svg"/><Relationship Id="rId15" Type="http://schemas.openxmlformats.org/officeDocument/2006/relationships/image" Target="../media/image42.png"/><Relationship Id="rId23" Type="http://schemas.openxmlformats.org/officeDocument/2006/relationships/image" Target="../media/image50.svg"/><Relationship Id="rId10" Type="http://schemas.openxmlformats.org/officeDocument/2006/relationships/image" Target="../media/image37.svg"/><Relationship Id="rId19" Type="http://schemas.openxmlformats.org/officeDocument/2006/relationships/image" Target="../media/image46.svg"/><Relationship Id="rId4" Type="http://schemas.openxmlformats.org/officeDocument/2006/relationships/image" Target="../media/image31.svg"/><Relationship Id="rId9" Type="http://schemas.openxmlformats.org/officeDocument/2006/relationships/image" Target="../media/image36.svg"/><Relationship Id="rId14" Type="http://schemas.openxmlformats.org/officeDocument/2006/relationships/image" Target="../media/image41.png"/><Relationship Id="rId22" Type="http://schemas.openxmlformats.org/officeDocument/2006/relationships/image" Target="../media/image4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112E1474-D7AE-186F-9FEF-BE84EA1E0DA9}"/>
              </a:ext>
            </a:extLst>
          </p:cNvPr>
          <p:cNvSpPr>
            <a:spLocks/>
          </p:cNvSpPr>
          <p:nvPr/>
        </p:nvSpPr>
        <p:spPr>
          <a:xfrm>
            <a:off x="542268" y="1122631"/>
            <a:ext cx="5152543" cy="5123988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25400" cap="flat" cmpd="sng" algn="ctr">
            <a:solidFill>
              <a:schemeClr val="accent6">
                <a:lumMod val="75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CCCBBB-1361-A5D8-4D7A-68A98429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71" y="85711"/>
            <a:ext cx="11268000" cy="583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Pts val="3200"/>
              <a:tabLst>
                <a:tab pos="457200" algn="l"/>
              </a:tabLst>
            </a:pPr>
            <a:r>
              <a:rPr lang="en-US" sz="2800">
                <a:solidFill>
                  <a:srgbClr val="303030"/>
                </a:solidFill>
                <a:ea typeface="+mn-ea"/>
                <a:cs typeface="+mn-cs"/>
              </a:rPr>
              <a:t>Automation and AI‑enabled accelerators for continuous value uplift</a:t>
            </a:r>
            <a:endParaRPr lang="en-GB" sz="2800">
              <a:solidFill>
                <a:srgbClr val="303030"/>
              </a:solidFill>
              <a:ea typeface="+mn-ea"/>
              <a:cs typeface="+mn-cs"/>
            </a:endParaRPr>
          </a:p>
        </p:txBody>
      </p:sp>
      <p:sp>
        <p:nvSpPr>
          <p:cNvPr id="589" name="TextBox 588">
            <a:extLst>
              <a:ext uri="{FF2B5EF4-FFF2-40B4-BE49-F238E27FC236}">
                <a16:creationId xmlns:a16="http://schemas.microsoft.com/office/drawing/2014/main" id="{16F30314-8997-28ED-C1F0-727B07ABC748}"/>
              </a:ext>
            </a:extLst>
          </p:cNvPr>
          <p:cNvSpPr txBox="1"/>
          <p:nvPr/>
        </p:nvSpPr>
        <p:spPr>
          <a:xfrm>
            <a:off x="4858657" y="6539399"/>
            <a:ext cx="24746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/>
              <a:t>*</a:t>
            </a:r>
            <a:r>
              <a:rPr lang="en-US" sz="900" i="1">
                <a:solidFill>
                  <a:schemeClr val="accent1"/>
                </a:solidFill>
              </a:rPr>
              <a:t>Offering Under Development</a:t>
            </a:r>
          </a:p>
        </p:txBody>
      </p:sp>
      <p:sp>
        <p:nvSpPr>
          <p:cNvPr id="590" name="object 2">
            <a:extLst>
              <a:ext uri="{FF2B5EF4-FFF2-40B4-BE49-F238E27FC236}">
                <a16:creationId xmlns:a16="http://schemas.microsoft.com/office/drawing/2014/main" id="{3B9D0C0C-9BF3-5364-566A-F5EA3768C9D2}"/>
              </a:ext>
            </a:extLst>
          </p:cNvPr>
          <p:cNvSpPr txBox="1">
            <a:spLocks/>
          </p:cNvSpPr>
          <p:nvPr/>
        </p:nvSpPr>
        <p:spPr>
          <a:xfrm>
            <a:off x="461963" y="775461"/>
            <a:ext cx="10618942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ea typeface="+mn-lt"/>
                <a:cs typeface="+mn-lt"/>
              </a:rPr>
              <a:t>Applied selectively to industrialize delivery, enhance quality, and unlock continuous efficiency gains within defined governance and control boundaries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7CAF29-A6D2-C0CB-FB12-B1793B1995C4}"/>
              </a:ext>
            </a:extLst>
          </p:cNvPr>
          <p:cNvSpPr>
            <a:spLocks/>
          </p:cNvSpPr>
          <p:nvPr/>
        </p:nvSpPr>
        <p:spPr>
          <a:xfrm>
            <a:off x="502512" y="1122631"/>
            <a:ext cx="11227488" cy="5123988"/>
          </a:xfrm>
          <a:prstGeom prst="roundRect">
            <a:avLst>
              <a:gd name="adj" fmla="val 0"/>
            </a:avLst>
          </a:prstGeom>
          <a:noFill/>
          <a:ln w="25400" cap="flat" cmpd="sng" algn="ctr">
            <a:solidFill>
              <a:schemeClr val="tx1">
                <a:lumMod val="10000"/>
                <a:lumOff val="9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lt"/>
              <a:cs typeface="+mn-lt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0FDEF16-C5A8-C4FC-5844-04AB46374CAD}"/>
              </a:ext>
            </a:extLst>
          </p:cNvPr>
          <p:cNvGrpSpPr/>
          <p:nvPr/>
        </p:nvGrpSpPr>
        <p:grpSpPr>
          <a:xfrm>
            <a:off x="392713" y="1528125"/>
            <a:ext cx="5353375" cy="4369677"/>
            <a:chOff x="392713" y="1528125"/>
            <a:chExt cx="5353375" cy="436967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53ADFE7-EC61-CAB6-0DF3-5C4C6BEF1102}"/>
                </a:ext>
              </a:extLst>
            </p:cNvPr>
            <p:cNvGrpSpPr>
              <a:grpSpLocks/>
            </p:cNvGrpSpPr>
            <p:nvPr/>
          </p:nvGrpSpPr>
          <p:grpSpPr>
            <a:xfrm>
              <a:off x="3956040" y="4080803"/>
              <a:ext cx="237279" cy="303421"/>
              <a:chOff x="431801" y="4117972"/>
              <a:chExt cx="561975" cy="725487"/>
            </a:xfrm>
            <a:solidFill>
              <a:schemeClr val="tx2"/>
            </a:solidFill>
          </p:grpSpPr>
          <p:sp>
            <p:nvSpPr>
              <p:cNvPr id="72" name="Freeform 7">
                <a:extLst>
                  <a:ext uri="{FF2B5EF4-FFF2-40B4-BE49-F238E27FC236}">
                    <a16:creationId xmlns:a16="http://schemas.microsoft.com/office/drawing/2014/main" id="{72D1E1D3-03E4-247E-FEB0-527762744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113" y="4316411"/>
                <a:ext cx="130175" cy="303213"/>
              </a:xfrm>
              <a:custGeom>
                <a:avLst/>
                <a:gdLst>
                  <a:gd name="T0" fmla="*/ 96 w 191"/>
                  <a:gd name="T1" fmla="*/ 445 h 445"/>
                  <a:gd name="T2" fmla="*/ 163 w 191"/>
                  <a:gd name="T3" fmla="*/ 418 h 445"/>
                  <a:gd name="T4" fmla="*/ 191 w 191"/>
                  <a:gd name="T5" fmla="*/ 350 h 445"/>
                  <a:gd name="T6" fmla="*/ 163 w 191"/>
                  <a:gd name="T7" fmla="*/ 283 h 445"/>
                  <a:gd name="T8" fmla="*/ 96 w 191"/>
                  <a:gd name="T9" fmla="*/ 255 h 445"/>
                  <a:gd name="T10" fmla="*/ 28 w 191"/>
                  <a:gd name="T11" fmla="*/ 283 h 445"/>
                  <a:gd name="T12" fmla="*/ 0 w 191"/>
                  <a:gd name="T13" fmla="*/ 350 h 445"/>
                  <a:gd name="T14" fmla="*/ 28 w 191"/>
                  <a:gd name="T15" fmla="*/ 418 h 445"/>
                  <a:gd name="T16" fmla="*/ 96 w 191"/>
                  <a:gd name="T17" fmla="*/ 445 h 445"/>
                  <a:gd name="T18" fmla="*/ 34 w 191"/>
                  <a:gd name="T19" fmla="*/ 343 h 445"/>
                  <a:gd name="T20" fmla="*/ 37 w 191"/>
                  <a:gd name="T21" fmla="*/ 326 h 445"/>
                  <a:gd name="T22" fmla="*/ 54 w 191"/>
                  <a:gd name="T23" fmla="*/ 328 h 445"/>
                  <a:gd name="T24" fmla="*/ 83 w 191"/>
                  <a:gd name="T25" fmla="*/ 368 h 445"/>
                  <a:gd name="T26" fmla="*/ 103 w 191"/>
                  <a:gd name="T27" fmla="*/ 340 h 445"/>
                  <a:gd name="T28" fmla="*/ 139 w 191"/>
                  <a:gd name="T29" fmla="*/ 302 h 445"/>
                  <a:gd name="T30" fmla="*/ 156 w 191"/>
                  <a:gd name="T31" fmla="*/ 303 h 445"/>
                  <a:gd name="T32" fmla="*/ 156 w 191"/>
                  <a:gd name="T33" fmla="*/ 320 h 445"/>
                  <a:gd name="T34" fmla="*/ 123 w 191"/>
                  <a:gd name="T35" fmla="*/ 355 h 445"/>
                  <a:gd name="T36" fmla="*/ 95 w 191"/>
                  <a:gd name="T37" fmla="*/ 396 h 445"/>
                  <a:gd name="T38" fmla="*/ 91 w 191"/>
                  <a:gd name="T39" fmla="*/ 400 h 445"/>
                  <a:gd name="T40" fmla="*/ 74 w 191"/>
                  <a:gd name="T41" fmla="*/ 397 h 445"/>
                  <a:gd name="T42" fmla="*/ 34 w 191"/>
                  <a:gd name="T43" fmla="*/ 343 h 445"/>
                  <a:gd name="T44" fmla="*/ 96 w 191"/>
                  <a:gd name="T45" fmla="*/ 190 h 445"/>
                  <a:gd name="T46" fmla="*/ 163 w 191"/>
                  <a:gd name="T47" fmla="*/ 162 h 445"/>
                  <a:gd name="T48" fmla="*/ 191 w 191"/>
                  <a:gd name="T49" fmla="*/ 95 h 445"/>
                  <a:gd name="T50" fmla="*/ 163 w 191"/>
                  <a:gd name="T51" fmla="*/ 27 h 445"/>
                  <a:gd name="T52" fmla="*/ 96 w 191"/>
                  <a:gd name="T53" fmla="*/ 0 h 445"/>
                  <a:gd name="T54" fmla="*/ 28 w 191"/>
                  <a:gd name="T55" fmla="*/ 27 h 445"/>
                  <a:gd name="T56" fmla="*/ 0 w 191"/>
                  <a:gd name="T57" fmla="*/ 95 h 445"/>
                  <a:gd name="T58" fmla="*/ 28 w 191"/>
                  <a:gd name="T59" fmla="*/ 162 h 445"/>
                  <a:gd name="T60" fmla="*/ 96 w 191"/>
                  <a:gd name="T61" fmla="*/ 190 h 445"/>
                  <a:gd name="T62" fmla="*/ 34 w 191"/>
                  <a:gd name="T63" fmla="*/ 88 h 445"/>
                  <a:gd name="T64" fmla="*/ 37 w 191"/>
                  <a:gd name="T65" fmla="*/ 70 h 445"/>
                  <a:gd name="T66" fmla="*/ 54 w 191"/>
                  <a:gd name="T67" fmla="*/ 73 h 445"/>
                  <a:gd name="T68" fmla="*/ 83 w 191"/>
                  <a:gd name="T69" fmla="*/ 112 h 445"/>
                  <a:gd name="T70" fmla="*/ 103 w 191"/>
                  <a:gd name="T71" fmla="*/ 84 h 445"/>
                  <a:gd name="T72" fmla="*/ 139 w 191"/>
                  <a:gd name="T73" fmla="*/ 46 h 445"/>
                  <a:gd name="T74" fmla="*/ 156 w 191"/>
                  <a:gd name="T75" fmla="*/ 47 h 445"/>
                  <a:gd name="T76" fmla="*/ 156 w 191"/>
                  <a:gd name="T77" fmla="*/ 64 h 445"/>
                  <a:gd name="T78" fmla="*/ 123 w 191"/>
                  <a:gd name="T79" fmla="*/ 100 h 445"/>
                  <a:gd name="T80" fmla="*/ 95 w 191"/>
                  <a:gd name="T81" fmla="*/ 140 h 445"/>
                  <a:gd name="T82" fmla="*/ 91 w 191"/>
                  <a:gd name="T83" fmla="*/ 144 h 445"/>
                  <a:gd name="T84" fmla="*/ 74 w 191"/>
                  <a:gd name="T85" fmla="*/ 141 h 445"/>
                  <a:gd name="T86" fmla="*/ 34 w 191"/>
                  <a:gd name="T87" fmla="*/ 88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1" h="445">
                    <a:moveTo>
                      <a:pt x="96" y="445"/>
                    </a:moveTo>
                    <a:cubicBezTo>
                      <a:pt x="122" y="445"/>
                      <a:pt x="146" y="435"/>
                      <a:pt x="163" y="418"/>
                    </a:cubicBezTo>
                    <a:cubicBezTo>
                      <a:pt x="180" y="400"/>
                      <a:pt x="191" y="377"/>
                      <a:pt x="191" y="350"/>
                    </a:cubicBezTo>
                    <a:cubicBezTo>
                      <a:pt x="191" y="324"/>
                      <a:pt x="180" y="300"/>
                      <a:pt x="163" y="283"/>
                    </a:cubicBezTo>
                    <a:cubicBezTo>
                      <a:pt x="146" y="266"/>
                      <a:pt x="122" y="255"/>
                      <a:pt x="96" y="255"/>
                    </a:cubicBezTo>
                    <a:cubicBezTo>
                      <a:pt x="69" y="255"/>
                      <a:pt x="46" y="266"/>
                      <a:pt x="28" y="283"/>
                    </a:cubicBezTo>
                    <a:cubicBezTo>
                      <a:pt x="11" y="300"/>
                      <a:pt x="0" y="324"/>
                      <a:pt x="0" y="350"/>
                    </a:cubicBezTo>
                    <a:cubicBezTo>
                      <a:pt x="0" y="377"/>
                      <a:pt x="11" y="400"/>
                      <a:pt x="28" y="418"/>
                    </a:cubicBezTo>
                    <a:cubicBezTo>
                      <a:pt x="46" y="435"/>
                      <a:pt x="69" y="445"/>
                      <a:pt x="96" y="445"/>
                    </a:cubicBezTo>
                    <a:close/>
                    <a:moveTo>
                      <a:pt x="34" y="343"/>
                    </a:moveTo>
                    <a:cubicBezTo>
                      <a:pt x="30" y="338"/>
                      <a:pt x="31" y="330"/>
                      <a:pt x="37" y="326"/>
                    </a:cubicBezTo>
                    <a:cubicBezTo>
                      <a:pt x="42" y="322"/>
                      <a:pt x="50" y="323"/>
                      <a:pt x="54" y="328"/>
                    </a:cubicBezTo>
                    <a:cubicBezTo>
                      <a:pt x="83" y="368"/>
                      <a:pt x="83" y="368"/>
                      <a:pt x="83" y="368"/>
                    </a:cubicBezTo>
                    <a:cubicBezTo>
                      <a:pt x="89" y="358"/>
                      <a:pt x="96" y="349"/>
                      <a:pt x="103" y="340"/>
                    </a:cubicBezTo>
                    <a:cubicBezTo>
                      <a:pt x="114" y="326"/>
                      <a:pt x="126" y="314"/>
                      <a:pt x="139" y="302"/>
                    </a:cubicBezTo>
                    <a:cubicBezTo>
                      <a:pt x="144" y="297"/>
                      <a:pt x="152" y="298"/>
                      <a:pt x="156" y="303"/>
                    </a:cubicBezTo>
                    <a:cubicBezTo>
                      <a:pt x="161" y="308"/>
                      <a:pt x="161" y="315"/>
                      <a:pt x="156" y="320"/>
                    </a:cubicBezTo>
                    <a:cubicBezTo>
                      <a:pt x="144" y="331"/>
                      <a:pt x="133" y="343"/>
                      <a:pt x="123" y="355"/>
                    </a:cubicBezTo>
                    <a:cubicBezTo>
                      <a:pt x="113" y="368"/>
                      <a:pt x="103" y="381"/>
                      <a:pt x="95" y="396"/>
                    </a:cubicBezTo>
                    <a:cubicBezTo>
                      <a:pt x="94" y="397"/>
                      <a:pt x="93" y="398"/>
                      <a:pt x="91" y="400"/>
                    </a:cubicBezTo>
                    <a:cubicBezTo>
                      <a:pt x="86" y="404"/>
                      <a:pt x="78" y="403"/>
                      <a:pt x="74" y="397"/>
                    </a:cubicBezTo>
                    <a:cubicBezTo>
                      <a:pt x="34" y="343"/>
                      <a:pt x="34" y="343"/>
                      <a:pt x="34" y="343"/>
                    </a:cubicBezTo>
                    <a:close/>
                    <a:moveTo>
                      <a:pt x="96" y="190"/>
                    </a:moveTo>
                    <a:cubicBezTo>
                      <a:pt x="122" y="190"/>
                      <a:pt x="146" y="179"/>
                      <a:pt x="163" y="162"/>
                    </a:cubicBezTo>
                    <a:cubicBezTo>
                      <a:pt x="180" y="145"/>
                      <a:pt x="191" y="121"/>
                      <a:pt x="191" y="95"/>
                    </a:cubicBezTo>
                    <a:cubicBezTo>
                      <a:pt x="191" y="68"/>
                      <a:pt x="180" y="45"/>
                      <a:pt x="163" y="27"/>
                    </a:cubicBezTo>
                    <a:cubicBezTo>
                      <a:pt x="146" y="10"/>
                      <a:pt x="122" y="0"/>
                      <a:pt x="96" y="0"/>
                    </a:cubicBezTo>
                    <a:cubicBezTo>
                      <a:pt x="69" y="0"/>
                      <a:pt x="46" y="10"/>
                      <a:pt x="28" y="27"/>
                    </a:cubicBezTo>
                    <a:cubicBezTo>
                      <a:pt x="11" y="45"/>
                      <a:pt x="0" y="68"/>
                      <a:pt x="0" y="95"/>
                    </a:cubicBezTo>
                    <a:cubicBezTo>
                      <a:pt x="0" y="121"/>
                      <a:pt x="11" y="145"/>
                      <a:pt x="28" y="162"/>
                    </a:cubicBezTo>
                    <a:cubicBezTo>
                      <a:pt x="46" y="179"/>
                      <a:pt x="69" y="190"/>
                      <a:pt x="96" y="190"/>
                    </a:cubicBezTo>
                    <a:close/>
                    <a:moveTo>
                      <a:pt x="34" y="88"/>
                    </a:moveTo>
                    <a:cubicBezTo>
                      <a:pt x="30" y="82"/>
                      <a:pt x="31" y="74"/>
                      <a:pt x="37" y="70"/>
                    </a:cubicBezTo>
                    <a:cubicBezTo>
                      <a:pt x="42" y="66"/>
                      <a:pt x="50" y="67"/>
                      <a:pt x="54" y="73"/>
                    </a:cubicBezTo>
                    <a:cubicBezTo>
                      <a:pt x="83" y="112"/>
                      <a:pt x="83" y="112"/>
                      <a:pt x="83" y="112"/>
                    </a:cubicBezTo>
                    <a:cubicBezTo>
                      <a:pt x="89" y="102"/>
                      <a:pt x="96" y="93"/>
                      <a:pt x="103" y="84"/>
                    </a:cubicBezTo>
                    <a:cubicBezTo>
                      <a:pt x="114" y="71"/>
                      <a:pt x="126" y="58"/>
                      <a:pt x="139" y="46"/>
                    </a:cubicBezTo>
                    <a:cubicBezTo>
                      <a:pt x="144" y="42"/>
                      <a:pt x="152" y="42"/>
                      <a:pt x="156" y="47"/>
                    </a:cubicBezTo>
                    <a:cubicBezTo>
                      <a:pt x="161" y="52"/>
                      <a:pt x="161" y="60"/>
                      <a:pt x="156" y="64"/>
                    </a:cubicBezTo>
                    <a:cubicBezTo>
                      <a:pt x="144" y="75"/>
                      <a:pt x="133" y="87"/>
                      <a:pt x="123" y="100"/>
                    </a:cubicBezTo>
                    <a:cubicBezTo>
                      <a:pt x="113" y="112"/>
                      <a:pt x="103" y="126"/>
                      <a:pt x="95" y="140"/>
                    </a:cubicBezTo>
                    <a:cubicBezTo>
                      <a:pt x="94" y="141"/>
                      <a:pt x="93" y="143"/>
                      <a:pt x="91" y="144"/>
                    </a:cubicBezTo>
                    <a:cubicBezTo>
                      <a:pt x="86" y="148"/>
                      <a:pt x="78" y="147"/>
                      <a:pt x="74" y="141"/>
                    </a:cubicBezTo>
                    <a:cubicBezTo>
                      <a:pt x="34" y="88"/>
                      <a:pt x="34" y="88"/>
                      <a:pt x="34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73" name="Freeform 8">
                <a:extLst>
                  <a:ext uri="{FF2B5EF4-FFF2-40B4-BE49-F238E27FC236}">
                    <a16:creationId xmlns:a16="http://schemas.microsoft.com/office/drawing/2014/main" id="{E68730AC-7CDC-4008-6B9C-573DED63A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01" y="4117972"/>
                <a:ext cx="561975" cy="725487"/>
              </a:xfrm>
              <a:custGeom>
                <a:avLst/>
                <a:gdLst>
                  <a:gd name="T0" fmla="*/ 779 w 824"/>
                  <a:gd name="T1" fmla="*/ 255 h 1067"/>
                  <a:gd name="T2" fmla="*/ 728 w 824"/>
                  <a:gd name="T3" fmla="*/ 204 h 1067"/>
                  <a:gd name="T4" fmla="*/ 633 w 824"/>
                  <a:gd name="T5" fmla="*/ 204 h 1067"/>
                  <a:gd name="T6" fmla="*/ 633 w 824"/>
                  <a:gd name="T7" fmla="*/ 160 h 1067"/>
                  <a:gd name="T8" fmla="*/ 728 w 824"/>
                  <a:gd name="T9" fmla="*/ 160 h 1067"/>
                  <a:gd name="T10" fmla="*/ 824 w 824"/>
                  <a:gd name="T11" fmla="*/ 255 h 1067"/>
                  <a:gd name="T12" fmla="*/ 824 w 824"/>
                  <a:gd name="T13" fmla="*/ 972 h 1067"/>
                  <a:gd name="T14" fmla="*/ 728 w 824"/>
                  <a:gd name="T15" fmla="*/ 1067 h 1067"/>
                  <a:gd name="T16" fmla="*/ 96 w 824"/>
                  <a:gd name="T17" fmla="*/ 1067 h 1067"/>
                  <a:gd name="T18" fmla="*/ 0 w 824"/>
                  <a:gd name="T19" fmla="*/ 972 h 1067"/>
                  <a:gd name="T20" fmla="*/ 0 w 824"/>
                  <a:gd name="T21" fmla="*/ 255 h 1067"/>
                  <a:gd name="T22" fmla="*/ 96 w 824"/>
                  <a:gd name="T23" fmla="*/ 160 h 1067"/>
                  <a:gd name="T24" fmla="*/ 191 w 824"/>
                  <a:gd name="T25" fmla="*/ 160 h 1067"/>
                  <a:gd name="T26" fmla="*/ 191 w 824"/>
                  <a:gd name="T27" fmla="*/ 204 h 1067"/>
                  <a:gd name="T28" fmla="*/ 96 w 824"/>
                  <a:gd name="T29" fmla="*/ 204 h 1067"/>
                  <a:gd name="T30" fmla="*/ 45 w 824"/>
                  <a:gd name="T31" fmla="*/ 255 h 1067"/>
                  <a:gd name="T32" fmla="*/ 45 w 824"/>
                  <a:gd name="T33" fmla="*/ 972 h 1067"/>
                  <a:gd name="T34" fmla="*/ 96 w 824"/>
                  <a:gd name="T35" fmla="*/ 1023 h 1067"/>
                  <a:gd name="T36" fmla="*/ 728 w 824"/>
                  <a:gd name="T37" fmla="*/ 1023 h 1067"/>
                  <a:gd name="T38" fmla="*/ 779 w 824"/>
                  <a:gd name="T39" fmla="*/ 972 h 1067"/>
                  <a:gd name="T40" fmla="*/ 779 w 824"/>
                  <a:gd name="T41" fmla="*/ 255 h 1067"/>
                  <a:gd name="T42" fmla="*/ 412 w 824"/>
                  <a:gd name="T43" fmla="*/ 65 h 1067"/>
                  <a:gd name="T44" fmla="*/ 450 w 824"/>
                  <a:gd name="T45" fmla="*/ 103 h 1067"/>
                  <a:gd name="T46" fmla="*/ 412 w 824"/>
                  <a:gd name="T47" fmla="*/ 141 h 1067"/>
                  <a:gd name="T48" fmla="*/ 374 w 824"/>
                  <a:gd name="T49" fmla="*/ 103 h 1067"/>
                  <a:gd name="T50" fmla="*/ 412 w 824"/>
                  <a:gd name="T51" fmla="*/ 65 h 1067"/>
                  <a:gd name="T52" fmla="*/ 470 w 824"/>
                  <a:gd name="T53" fmla="*/ 45 h 1067"/>
                  <a:gd name="T54" fmla="*/ 491 w 824"/>
                  <a:gd name="T55" fmla="*/ 81 h 1067"/>
                  <a:gd name="T56" fmla="*/ 564 w 824"/>
                  <a:gd name="T57" fmla="*/ 81 h 1067"/>
                  <a:gd name="T58" fmla="*/ 586 w 824"/>
                  <a:gd name="T59" fmla="*/ 103 h 1067"/>
                  <a:gd name="T60" fmla="*/ 586 w 824"/>
                  <a:gd name="T61" fmla="*/ 204 h 1067"/>
                  <a:gd name="T62" fmla="*/ 564 w 824"/>
                  <a:gd name="T63" fmla="*/ 226 h 1067"/>
                  <a:gd name="T64" fmla="*/ 260 w 824"/>
                  <a:gd name="T65" fmla="*/ 226 h 1067"/>
                  <a:gd name="T66" fmla="*/ 238 w 824"/>
                  <a:gd name="T67" fmla="*/ 204 h 1067"/>
                  <a:gd name="T68" fmla="*/ 238 w 824"/>
                  <a:gd name="T69" fmla="*/ 103 h 1067"/>
                  <a:gd name="T70" fmla="*/ 260 w 824"/>
                  <a:gd name="T71" fmla="*/ 81 h 1067"/>
                  <a:gd name="T72" fmla="*/ 333 w 824"/>
                  <a:gd name="T73" fmla="*/ 81 h 1067"/>
                  <a:gd name="T74" fmla="*/ 470 w 824"/>
                  <a:gd name="T75" fmla="*/ 45 h 1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24" h="1067">
                    <a:moveTo>
                      <a:pt x="779" y="255"/>
                    </a:moveTo>
                    <a:cubicBezTo>
                      <a:pt x="779" y="227"/>
                      <a:pt x="756" y="204"/>
                      <a:pt x="728" y="204"/>
                    </a:cubicBezTo>
                    <a:cubicBezTo>
                      <a:pt x="633" y="204"/>
                      <a:pt x="633" y="204"/>
                      <a:pt x="633" y="204"/>
                    </a:cubicBezTo>
                    <a:cubicBezTo>
                      <a:pt x="633" y="160"/>
                      <a:pt x="633" y="160"/>
                      <a:pt x="633" y="160"/>
                    </a:cubicBezTo>
                    <a:cubicBezTo>
                      <a:pt x="728" y="160"/>
                      <a:pt x="728" y="160"/>
                      <a:pt x="728" y="160"/>
                    </a:cubicBezTo>
                    <a:cubicBezTo>
                      <a:pt x="781" y="160"/>
                      <a:pt x="824" y="203"/>
                      <a:pt x="824" y="255"/>
                    </a:cubicBezTo>
                    <a:cubicBezTo>
                      <a:pt x="824" y="494"/>
                      <a:pt x="824" y="733"/>
                      <a:pt x="824" y="972"/>
                    </a:cubicBezTo>
                    <a:cubicBezTo>
                      <a:pt x="824" y="1024"/>
                      <a:pt x="781" y="1067"/>
                      <a:pt x="728" y="1067"/>
                    </a:cubicBezTo>
                    <a:cubicBezTo>
                      <a:pt x="96" y="1067"/>
                      <a:pt x="96" y="1067"/>
                      <a:pt x="96" y="1067"/>
                    </a:cubicBezTo>
                    <a:cubicBezTo>
                      <a:pt x="43" y="1067"/>
                      <a:pt x="0" y="1024"/>
                      <a:pt x="0" y="972"/>
                    </a:cubicBezTo>
                    <a:cubicBezTo>
                      <a:pt x="0" y="255"/>
                      <a:pt x="0" y="255"/>
                      <a:pt x="0" y="255"/>
                    </a:cubicBezTo>
                    <a:cubicBezTo>
                      <a:pt x="0" y="203"/>
                      <a:pt x="43" y="160"/>
                      <a:pt x="96" y="160"/>
                    </a:cubicBezTo>
                    <a:cubicBezTo>
                      <a:pt x="191" y="160"/>
                      <a:pt x="191" y="160"/>
                      <a:pt x="191" y="160"/>
                    </a:cubicBezTo>
                    <a:cubicBezTo>
                      <a:pt x="191" y="204"/>
                      <a:pt x="191" y="204"/>
                      <a:pt x="191" y="204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68" y="204"/>
                      <a:pt x="45" y="227"/>
                      <a:pt x="45" y="255"/>
                    </a:cubicBezTo>
                    <a:cubicBezTo>
                      <a:pt x="45" y="972"/>
                      <a:pt x="45" y="972"/>
                      <a:pt x="45" y="972"/>
                    </a:cubicBezTo>
                    <a:cubicBezTo>
                      <a:pt x="45" y="1000"/>
                      <a:pt x="68" y="1023"/>
                      <a:pt x="96" y="1023"/>
                    </a:cubicBezTo>
                    <a:cubicBezTo>
                      <a:pt x="728" y="1023"/>
                      <a:pt x="728" y="1023"/>
                      <a:pt x="728" y="1023"/>
                    </a:cubicBezTo>
                    <a:cubicBezTo>
                      <a:pt x="756" y="1023"/>
                      <a:pt x="779" y="1000"/>
                      <a:pt x="779" y="972"/>
                    </a:cubicBezTo>
                    <a:cubicBezTo>
                      <a:pt x="779" y="733"/>
                      <a:pt x="779" y="494"/>
                      <a:pt x="779" y="255"/>
                    </a:cubicBezTo>
                    <a:close/>
                    <a:moveTo>
                      <a:pt x="412" y="65"/>
                    </a:moveTo>
                    <a:cubicBezTo>
                      <a:pt x="433" y="65"/>
                      <a:pt x="450" y="82"/>
                      <a:pt x="450" y="103"/>
                    </a:cubicBezTo>
                    <a:cubicBezTo>
                      <a:pt x="450" y="124"/>
                      <a:pt x="433" y="141"/>
                      <a:pt x="412" y="141"/>
                    </a:cubicBezTo>
                    <a:cubicBezTo>
                      <a:pt x="391" y="141"/>
                      <a:pt x="374" y="124"/>
                      <a:pt x="374" y="103"/>
                    </a:cubicBezTo>
                    <a:cubicBezTo>
                      <a:pt x="374" y="82"/>
                      <a:pt x="391" y="65"/>
                      <a:pt x="412" y="65"/>
                    </a:cubicBezTo>
                    <a:close/>
                    <a:moveTo>
                      <a:pt x="470" y="45"/>
                    </a:moveTo>
                    <a:cubicBezTo>
                      <a:pt x="480" y="55"/>
                      <a:pt x="487" y="67"/>
                      <a:pt x="491" y="81"/>
                    </a:cubicBezTo>
                    <a:cubicBezTo>
                      <a:pt x="564" y="81"/>
                      <a:pt x="564" y="81"/>
                      <a:pt x="564" y="81"/>
                    </a:cubicBezTo>
                    <a:cubicBezTo>
                      <a:pt x="576" y="81"/>
                      <a:pt x="586" y="91"/>
                      <a:pt x="586" y="103"/>
                    </a:cubicBezTo>
                    <a:cubicBezTo>
                      <a:pt x="586" y="204"/>
                      <a:pt x="586" y="204"/>
                      <a:pt x="586" y="204"/>
                    </a:cubicBezTo>
                    <a:cubicBezTo>
                      <a:pt x="586" y="216"/>
                      <a:pt x="576" y="226"/>
                      <a:pt x="564" y="226"/>
                    </a:cubicBezTo>
                    <a:cubicBezTo>
                      <a:pt x="260" y="226"/>
                      <a:pt x="260" y="226"/>
                      <a:pt x="260" y="226"/>
                    </a:cubicBezTo>
                    <a:cubicBezTo>
                      <a:pt x="248" y="226"/>
                      <a:pt x="238" y="216"/>
                      <a:pt x="238" y="204"/>
                    </a:cubicBezTo>
                    <a:cubicBezTo>
                      <a:pt x="238" y="103"/>
                      <a:pt x="238" y="103"/>
                      <a:pt x="238" y="103"/>
                    </a:cubicBezTo>
                    <a:cubicBezTo>
                      <a:pt x="238" y="91"/>
                      <a:pt x="248" y="81"/>
                      <a:pt x="260" y="81"/>
                    </a:cubicBezTo>
                    <a:cubicBezTo>
                      <a:pt x="333" y="81"/>
                      <a:pt x="333" y="81"/>
                      <a:pt x="333" y="81"/>
                    </a:cubicBezTo>
                    <a:cubicBezTo>
                      <a:pt x="350" y="21"/>
                      <a:pt x="425" y="0"/>
                      <a:pt x="47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74" name="Freeform 9">
                <a:extLst>
                  <a:ext uri="{FF2B5EF4-FFF2-40B4-BE49-F238E27FC236}">
                    <a16:creationId xmlns:a16="http://schemas.microsoft.com/office/drawing/2014/main" id="{3260DDAA-AF23-0099-80E6-F6F12C11B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276" y="4373563"/>
                <a:ext cx="327025" cy="363538"/>
              </a:xfrm>
              <a:custGeom>
                <a:avLst/>
                <a:gdLst>
                  <a:gd name="T0" fmla="*/ 12 w 482"/>
                  <a:gd name="T1" fmla="*/ 535 h 535"/>
                  <a:gd name="T2" fmla="*/ 0 w 482"/>
                  <a:gd name="T3" fmla="*/ 523 h 535"/>
                  <a:gd name="T4" fmla="*/ 12 w 482"/>
                  <a:gd name="T5" fmla="*/ 511 h 535"/>
                  <a:gd name="T6" fmla="*/ 470 w 482"/>
                  <a:gd name="T7" fmla="*/ 511 h 535"/>
                  <a:gd name="T8" fmla="*/ 482 w 482"/>
                  <a:gd name="T9" fmla="*/ 523 h 535"/>
                  <a:gd name="T10" fmla="*/ 470 w 482"/>
                  <a:gd name="T11" fmla="*/ 535 h 535"/>
                  <a:gd name="T12" fmla="*/ 12 w 482"/>
                  <a:gd name="T13" fmla="*/ 535 h 535"/>
                  <a:gd name="T14" fmla="*/ 226 w 482"/>
                  <a:gd name="T15" fmla="*/ 279 h 535"/>
                  <a:gd name="T16" fmla="*/ 214 w 482"/>
                  <a:gd name="T17" fmla="*/ 267 h 535"/>
                  <a:gd name="T18" fmla="*/ 226 w 482"/>
                  <a:gd name="T19" fmla="*/ 256 h 535"/>
                  <a:gd name="T20" fmla="*/ 470 w 482"/>
                  <a:gd name="T21" fmla="*/ 256 h 535"/>
                  <a:gd name="T22" fmla="*/ 482 w 482"/>
                  <a:gd name="T23" fmla="*/ 267 h 535"/>
                  <a:gd name="T24" fmla="*/ 470 w 482"/>
                  <a:gd name="T25" fmla="*/ 279 h 535"/>
                  <a:gd name="T26" fmla="*/ 226 w 482"/>
                  <a:gd name="T27" fmla="*/ 279 h 535"/>
                  <a:gd name="T28" fmla="*/ 178 w 482"/>
                  <a:gd name="T29" fmla="*/ 151 h 535"/>
                  <a:gd name="T30" fmla="*/ 166 w 482"/>
                  <a:gd name="T31" fmla="*/ 140 h 535"/>
                  <a:gd name="T32" fmla="*/ 178 w 482"/>
                  <a:gd name="T33" fmla="*/ 128 h 535"/>
                  <a:gd name="T34" fmla="*/ 470 w 482"/>
                  <a:gd name="T35" fmla="*/ 128 h 535"/>
                  <a:gd name="T36" fmla="*/ 482 w 482"/>
                  <a:gd name="T37" fmla="*/ 140 h 535"/>
                  <a:gd name="T38" fmla="*/ 470 w 482"/>
                  <a:gd name="T39" fmla="*/ 151 h 535"/>
                  <a:gd name="T40" fmla="*/ 178 w 482"/>
                  <a:gd name="T41" fmla="*/ 151 h 535"/>
                  <a:gd name="T42" fmla="*/ 178 w 482"/>
                  <a:gd name="T43" fmla="*/ 407 h 535"/>
                  <a:gd name="T44" fmla="*/ 166 w 482"/>
                  <a:gd name="T45" fmla="*/ 395 h 535"/>
                  <a:gd name="T46" fmla="*/ 178 w 482"/>
                  <a:gd name="T47" fmla="*/ 383 h 535"/>
                  <a:gd name="T48" fmla="*/ 470 w 482"/>
                  <a:gd name="T49" fmla="*/ 383 h 535"/>
                  <a:gd name="T50" fmla="*/ 482 w 482"/>
                  <a:gd name="T51" fmla="*/ 395 h 535"/>
                  <a:gd name="T52" fmla="*/ 470 w 482"/>
                  <a:gd name="T53" fmla="*/ 407 h 535"/>
                  <a:gd name="T54" fmla="*/ 178 w 482"/>
                  <a:gd name="T55" fmla="*/ 407 h 535"/>
                  <a:gd name="T56" fmla="*/ 226 w 482"/>
                  <a:gd name="T57" fmla="*/ 23 h 535"/>
                  <a:gd name="T58" fmla="*/ 214 w 482"/>
                  <a:gd name="T59" fmla="*/ 12 h 535"/>
                  <a:gd name="T60" fmla="*/ 226 w 482"/>
                  <a:gd name="T61" fmla="*/ 0 h 535"/>
                  <a:gd name="T62" fmla="*/ 470 w 482"/>
                  <a:gd name="T63" fmla="*/ 0 h 535"/>
                  <a:gd name="T64" fmla="*/ 482 w 482"/>
                  <a:gd name="T65" fmla="*/ 12 h 535"/>
                  <a:gd name="T66" fmla="*/ 470 w 482"/>
                  <a:gd name="T67" fmla="*/ 23 h 535"/>
                  <a:gd name="T68" fmla="*/ 226 w 482"/>
                  <a:gd name="T69" fmla="*/ 23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82" h="535">
                    <a:moveTo>
                      <a:pt x="12" y="535"/>
                    </a:moveTo>
                    <a:cubicBezTo>
                      <a:pt x="5" y="535"/>
                      <a:pt x="0" y="529"/>
                      <a:pt x="0" y="523"/>
                    </a:cubicBezTo>
                    <a:cubicBezTo>
                      <a:pt x="0" y="516"/>
                      <a:pt x="5" y="511"/>
                      <a:pt x="12" y="511"/>
                    </a:cubicBezTo>
                    <a:cubicBezTo>
                      <a:pt x="470" y="511"/>
                      <a:pt x="470" y="511"/>
                      <a:pt x="470" y="511"/>
                    </a:cubicBezTo>
                    <a:cubicBezTo>
                      <a:pt x="477" y="511"/>
                      <a:pt x="482" y="516"/>
                      <a:pt x="482" y="523"/>
                    </a:cubicBezTo>
                    <a:cubicBezTo>
                      <a:pt x="482" y="529"/>
                      <a:pt x="477" y="535"/>
                      <a:pt x="470" y="535"/>
                    </a:cubicBezTo>
                    <a:cubicBezTo>
                      <a:pt x="12" y="535"/>
                      <a:pt x="12" y="535"/>
                      <a:pt x="12" y="535"/>
                    </a:cubicBezTo>
                    <a:close/>
                    <a:moveTo>
                      <a:pt x="226" y="279"/>
                    </a:moveTo>
                    <a:cubicBezTo>
                      <a:pt x="219" y="279"/>
                      <a:pt x="214" y="274"/>
                      <a:pt x="214" y="267"/>
                    </a:cubicBezTo>
                    <a:cubicBezTo>
                      <a:pt x="214" y="261"/>
                      <a:pt x="219" y="256"/>
                      <a:pt x="226" y="256"/>
                    </a:cubicBezTo>
                    <a:cubicBezTo>
                      <a:pt x="470" y="256"/>
                      <a:pt x="470" y="256"/>
                      <a:pt x="470" y="256"/>
                    </a:cubicBezTo>
                    <a:cubicBezTo>
                      <a:pt x="477" y="256"/>
                      <a:pt x="482" y="261"/>
                      <a:pt x="482" y="267"/>
                    </a:cubicBezTo>
                    <a:cubicBezTo>
                      <a:pt x="482" y="274"/>
                      <a:pt x="477" y="279"/>
                      <a:pt x="470" y="279"/>
                    </a:cubicBezTo>
                    <a:cubicBezTo>
                      <a:pt x="226" y="279"/>
                      <a:pt x="226" y="279"/>
                      <a:pt x="226" y="279"/>
                    </a:cubicBezTo>
                    <a:close/>
                    <a:moveTo>
                      <a:pt x="178" y="151"/>
                    </a:moveTo>
                    <a:cubicBezTo>
                      <a:pt x="172" y="151"/>
                      <a:pt x="166" y="146"/>
                      <a:pt x="166" y="140"/>
                    </a:cubicBezTo>
                    <a:cubicBezTo>
                      <a:pt x="166" y="133"/>
                      <a:pt x="172" y="128"/>
                      <a:pt x="178" y="128"/>
                    </a:cubicBezTo>
                    <a:cubicBezTo>
                      <a:pt x="470" y="128"/>
                      <a:pt x="470" y="128"/>
                      <a:pt x="470" y="128"/>
                    </a:cubicBezTo>
                    <a:cubicBezTo>
                      <a:pt x="477" y="128"/>
                      <a:pt x="482" y="133"/>
                      <a:pt x="482" y="140"/>
                    </a:cubicBezTo>
                    <a:cubicBezTo>
                      <a:pt x="482" y="146"/>
                      <a:pt x="477" y="151"/>
                      <a:pt x="470" y="151"/>
                    </a:cubicBezTo>
                    <a:cubicBezTo>
                      <a:pt x="178" y="151"/>
                      <a:pt x="178" y="151"/>
                      <a:pt x="178" y="151"/>
                    </a:cubicBezTo>
                    <a:close/>
                    <a:moveTo>
                      <a:pt x="178" y="407"/>
                    </a:moveTo>
                    <a:cubicBezTo>
                      <a:pt x="172" y="407"/>
                      <a:pt x="166" y="402"/>
                      <a:pt x="166" y="395"/>
                    </a:cubicBezTo>
                    <a:cubicBezTo>
                      <a:pt x="166" y="389"/>
                      <a:pt x="172" y="383"/>
                      <a:pt x="178" y="383"/>
                    </a:cubicBezTo>
                    <a:cubicBezTo>
                      <a:pt x="470" y="383"/>
                      <a:pt x="470" y="383"/>
                      <a:pt x="470" y="383"/>
                    </a:cubicBezTo>
                    <a:cubicBezTo>
                      <a:pt x="477" y="383"/>
                      <a:pt x="482" y="389"/>
                      <a:pt x="482" y="395"/>
                    </a:cubicBezTo>
                    <a:cubicBezTo>
                      <a:pt x="482" y="402"/>
                      <a:pt x="477" y="407"/>
                      <a:pt x="470" y="407"/>
                    </a:cubicBezTo>
                    <a:cubicBezTo>
                      <a:pt x="178" y="407"/>
                      <a:pt x="178" y="407"/>
                      <a:pt x="178" y="407"/>
                    </a:cubicBezTo>
                    <a:close/>
                    <a:moveTo>
                      <a:pt x="226" y="23"/>
                    </a:moveTo>
                    <a:cubicBezTo>
                      <a:pt x="219" y="23"/>
                      <a:pt x="214" y="18"/>
                      <a:pt x="214" y="12"/>
                    </a:cubicBezTo>
                    <a:cubicBezTo>
                      <a:pt x="214" y="5"/>
                      <a:pt x="219" y="0"/>
                      <a:pt x="226" y="0"/>
                    </a:cubicBezTo>
                    <a:cubicBezTo>
                      <a:pt x="470" y="0"/>
                      <a:pt x="470" y="0"/>
                      <a:pt x="470" y="0"/>
                    </a:cubicBezTo>
                    <a:cubicBezTo>
                      <a:pt x="477" y="0"/>
                      <a:pt x="482" y="5"/>
                      <a:pt x="482" y="12"/>
                    </a:cubicBezTo>
                    <a:cubicBezTo>
                      <a:pt x="482" y="18"/>
                      <a:pt x="477" y="23"/>
                      <a:pt x="470" y="23"/>
                    </a:cubicBezTo>
                    <a:cubicBezTo>
                      <a:pt x="226" y="23"/>
                      <a:pt x="226" y="23"/>
                      <a:pt x="22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B87EE1F-D52E-50BB-8454-10D3A2778446}"/>
                </a:ext>
              </a:extLst>
            </p:cNvPr>
            <p:cNvSpPr txBox="1">
              <a:spLocks/>
            </p:cNvSpPr>
            <p:nvPr/>
          </p:nvSpPr>
          <p:spPr>
            <a:xfrm>
              <a:off x="4390653" y="2446870"/>
              <a:ext cx="1155527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specification and use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AE1263D-F136-46CF-ADEC-AC134D8FE638}"/>
                </a:ext>
              </a:extLst>
            </p:cNvPr>
            <p:cNvSpPr txBox="1">
              <a:spLocks/>
            </p:cNvSpPr>
            <p:nvPr/>
          </p:nvSpPr>
          <p:spPr>
            <a:xfrm>
              <a:off x="4707248" y="3218771"/>
              <a:ext cx="1038840" cy="40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development</a:t>
              </a: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E0BB3BC-5B9B-66EF-1BD2-AC4DF1487A36}"/>
                </a:ext>
              </a:extLst>
            </p:cNvPr>
            <p:cNvSpPr>
              <a:spLocks/>
            </p:cNvSpPr>
            <p:nvPr/>
          </p:nvSpPr>
          <p:spPr>
            <a:xfrm>
              <a:off x="1496813" y="2037051"/>
              <a:ext cx="3128394" cy="3202389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7200" tIns="97200" rIns="97200" bIns="97200" rtlCol="0" anchor="ctr"/>
            <a:lstStyle/>
            <a:p>
              <a:pPr marL="0" marR="0" lvl="0" indent="0" algn="ctr" defTabSz="48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0E2BC25-0460-A5DF-8F8E-AC3BF2A13912}"/>
                </a:ext>
              </a:extLst>
            </p:cNvPr>
            <p:cNvSpPr>
              <a:spLocks/>
            </p:cNvSpPr>
            <p:nvPr/>
          </p:nvSpPr>
          <p:spPr>
            <a:xfrm>
              <a:off x="2371186" y="2970985"/>
              <a:ext cx="1379650" cy="1412282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lIns="97200" tIns="97200" rIns="97200" bIns="97200" rtlCol="0" anchor="ctr"/>
            <a:lstStyle/>
            <a:p>
              <a:pPr marL="0" marR="0" lvl="0" indent="0" algn="ctr" defTabSz="486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C9D0C83-EBC8-C46B-88D3-EAF41D18E077}"/>
                </a:ext>
              </a:extLst>
            </p:cNvPr>
            <p:cNvSpPr txBox="1">
              <a:spLocks/>
            </p:cNvSpPr>
            <p:nvPr/>
          </p:nvSpPr>
          <p:spPr>
            <a:xfrm>
              <a:off x="2627160" y="1528125"/>
              <a:ext cx="877259" cy="40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planning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F6E6CF-68DE-9638-3921-E822C061EBD1}"/>
                </a:ext>
              </a:extLst>
            </p:cNvPr>
            <p:cNvSpPr>
              <a:spLocks/>
            </p:cNvSpPr>
            <p:nvPr/>
          </p:nvSpPr>
          <p:spPr>
            <a:xfrm>
              <a:off x="1065313" y="2133564"/>
              <a:ext cx="3963399" cy="2909929"/>
            </a:xfrm>
            <a:prstGeom prst="rect">
              <a:avLst/>
            </a:prstGeom>
            <a:noFill/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6535F83-0E1E-A670-2835-7ABD9CEE43CA}"/>
                </a:ext>
              </a:extLst>
            </p:cNvPr>
            <p:cNvSpPr>
              <a:spLocks/>
            </p:cNvSpPr>
            <p:nvPr/>
          </p:nvSpPr>
          <p:spPr>
            <a:xfrm>
              <a:off x="2777043" y="2134089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CC2C0EE-8E2C-9E56-091E-C5C388FCD40F}"/>
                </a:ext>
              </a:extLst>
            </p:cNvPr>
            <p:cNvSpPr>
              <a:spLocks/>
            </p:cNvSpPr>
            <p:nvPr/>
          </p:nvSpPr>
          <p:spPr>
            <a:xfrm rot="1200000">
              <a:off x="3352540" y="2457841"/>
              <a:ext cx="144042" cy="18653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0" y="44449"/>
                  </a:moveTo>
                  <a:lnTo>
                    <a:pt x="87836" y="44449"/>
                  </a:lnTo>
                  <a:lnTo>
                    <a:pt x="87836" y="0"/>
                  </a:lnTo>
                  <a:lnTo>
                    <a:pt x="175672" y="111122"/>
                  </a:lnTo>
                  <a:lnTo>
                    <a:pt x="87836" y="222243"/>
                  </a:lnTo>
                  <a:lnTo>
                    <a:pt x="87836" y="177794"/>
                  </a:lnTo>
                  <a:lnTo>
                    <a:pt x="0" y="177794"/>
                  </a:lnTo>
                  <a:lnTo>
                    <a:pt x="0" y="44449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solidFill>
                    <a:srgbClr val="849384"/>
                  </a:solidFill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DA5418F-1A6F-9939-4FE7-FEA73E1705F0}"/>
                </a:ext>
              </a:extLst>
            </p:cNvPr>
            <p:cNvSpPr>
              <a:spLocks/>
            </p:cNvSpPr>
            <p:nvPr/>
          </p:nvSpPr>
          <p:spPr>
            <a:xfrm>
              <a:off x="3539805" y="2418277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873E47-9103-094B-AFDA-03BC6D9B398B}"/>
                </a:ext>
              </a:extLst>
            </p:cNvPr>
            <p:cNvSpPr>
              <a:spLocks/>
            </p:cNvSpPr>
            <p:nvPr/>
          </p:nvSpPr>
          <p:spPr>
            <a:xfrm rot="3600000">
              <a:off x="3968179" y="2949039"/>
              <a:ext cx="147449" cy="18222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0" y="44449"/>
                  </a:moveTo>
                  <a:lnTo>
                    <a:pt x="87836" y="44449"/>
                  </a:lnTo>
                  <a:lnTo>
                    <a:pt x="87836" y="0"/>
                  </a:lnTo>
                  <a:lnTo>
                    <a:pt x="175672" y="111122"/>
                  </a:lnTo>
                  <a:lnTo>
                    <a:pt x="87836" y="222243"/>
                  </a:lnTo>
                  <a:lnTo>
                    <a:pt x="87836" y="177794"/>
                  </a:lnTo>
                  <a:lnTo>
                    <a:pt x="0" y="177794"/>
                  </a:lnTo>
                  <a:lnTo>
                    <a:pt x="0" y="44449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BE5FE5-CDF9-4D63-B483-5A3809768598}"/>
                </a:ext>
              </a:extLst>
            </p:cNvPr>
            <p:cNvSpPr>
              <a:spLocks/>
            </p:cNvSpPr>
            <p:nvPr/>
          </p:nvSpPr>
          <p:spPr>
            <a:xfrm>
              <a:off x="3945662" y="3137871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0CF013-E3B2-5966-443C-6FDD482540B8}"/>
                </a:ext>
              </a:extLst>
            </p:cNvPr>
            <p:cNvSpPr>
              <a:spLocks/>
            </p:cNvSpPr>
            <p:nvPr/>
          </p:nvSpPr>
          <p:spPr>
            <a:xfrm rot="16800000">
              <a:off x="4072137" y="3728145"/>
              <a:ext cx="147450" cy="18222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175672" y="177794"/>
                  </a:moveTo>
                  <a:lnTo>
                    <a:pt x="87836" y="177794"/>
                  </a:lnTo>
                  <a:lnTo>
                    <a:pt x="87836" y="222243"/>
                  </a:lnTo>
                  <a:lnTo>
                    <a:pt x="0" y="111121"/>
                  </a:lnTo>
                  <a:lnTo>
                    <a:pt x="87836" y="0"/>
                  </a:lnTo>
                  <a:lnTo>
                    <a:pt x="87836" y="44449"/>
                  </a:lnTo>
                  <a:lnTo>
                    <a:pt x="175672" y="44449"/>
                  </a:lnTo>
                  <a:lnTo>
                    <a:pt x="175672" y="177794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C53E00-B981-B9A7-9206-6D51D7E518A7}"/>
                </a:ext>
              </a:extLst>
            </p:cNvPr>
            <p:cNvSpPr>
              <a:spLocks/>
            </p:cNvSpPr>
            <p:nvPr/>
          </p:nvSpPr>
          <p:spPr>
            <a:xfrm>
              <a:off x="3804710" y="3956160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9DA10F-9053-C9D3-739A-4039605B6EE8}"/>
                </a:ext>
              </a:extLst>
            </p:cNvPr>
            <p:cNvSpPr>
              <a:spLocks/>
            </p:cNvSpPr>
            <p:nvPr/>
          </p:nvSpPr>
          <p:spPr>
            <a:xfrm rot="19200000">
              <a:off x="3694875" y="4403612"/>
              <a:ext cx="144043" cy="18653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175672" y="177794"/>
                  </a:moveTo>
                  <a:lnTo>
                    <a:pt x="87836" y="177794"/>
                  </a:lnTo>
                  <a:lnTo>
                    <a:pt x="87836" y="222243"/>
                  </a:lnTo>
                  <a:lnTo>
                    <a:pt x="0" y="111121"/>
                  </a:lnTo>
                  <a:lnTo>
                    <a:pt x="87836" y="0"/>
                  </a:lnTo>
                  <a:lnTo>
                    <a:pt x="87836" y="44449"/>
                  </a:lnTo>
                  <a:lnTo>
                    <a:pt x="175672" y="44449"/>
                  </a:lnTo>
                  <a:lnTo>
                    <a:pt x="175672" y="177794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C03CBF-2084-1A35-2E99-23AB3920B224}"/>
                </a:ext>
              </a:extLst>
            </p:cNvPr>
            <p:cNvSpPr>
              <a:spLocks/>
            </p:cNvSpPr>
            <p:nvPr/>
          </p:nvSpPr>
          <p:spPr>
            <a:xfrm>
              <a:off x="3182901" y="4490262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B79490-849E-8FC2-1F49-30887796EF5E}"/>
                </a:ext>
              </a:extLst>
            </p:cNvPr>
            <p:cNvSpPr>
              <a:spLocks/>
            </p:cNvSpPr>
            <p:nvPr/>
          </p:nvSpPr>
          <p:spPr>
            <a:xfrm>
              <a:off x="2979067" y="4673345"/>
              <a:ext cx="144043" cy="18653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175672" y="177794"/>
                  </a:moveTo>
                  <a:lnTo>
                    <a:pt x="87836" y="177794"/>
                  </a:lnTo>
                  <a:lnTo>
                    <a:pt x="87836" y="222243"/>
                  </a:lnTo>
                  <a:lnTo>
                    <a:pt x="0" y="111121"/>
                  </a:lnTo>
                  <a:lnTo>
                    <a:pt x="87836" y="0"/>
                  </a:lnTo>
                  <a:lnTo>
                    <a:pt x="87836" y="44449"/>
                  </a:lnTo>
                  <a:lnTo>
                    <a:pt x="175672" y="44449"/>
                  </a:lnTo>
                  <a:lnTo>
                    <a:pt x="175672" y="177794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00DE357-38C9-5D44-CBE8-215ED9C3F34A}"/>
                </a:ext>
              </a:extLst>
            </p:cNvPr>
            <p:cNvSpPr>
              <a:spLocks/>
            </p:cNvSpPr>
            <p:nvPr/>
          </p:nvSpPr>
          <p:spPr>
            <a:xfrm>
              <a:off x="2371186" y="4490262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5BAC9EF-6450-D12D-1DC8-03058B96FF46}"/>
                </a:ext>
              </a:extLst>
            </p:cNvPr>
            <p:cNvSpPr>
              <a:spLocks/>
            </p:cNvSpPr>
            <p:nvPr/>
          </p:nvSpPr>
          <p:spPr>
            <a:xfrm rot="2400000">
              <a:off x="2261351" y="4408978"/>
              <a:ext cx="144043" cy="18653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175672" y="177794"/>
                  </a:moveTo>
                  <a:lnTo>
                    <a:pt x="87836" y="177794"/>
                  </a:lnTo>
                  <a:lnTo>
                    <a:pt x="87836" y="222243"/>
                  </a:lnTo>
                  <a:lnTo>
                    <a:pt x="0" y="111121"/>
                  </a:lnTo>
                  <a:lnTo>
                    <a:pt x="87836" y="0"/>
                  </a:lnTo>
                  <a:lnTo>
                    <a:pt x="87836" y="44449"/>
                  </a:lnTo>
                  <a:lnTo>
                    <a:pt x="175672" y="44449"/>
                  </a:lnTo>
                  <a:lnTo>
                    <a:pt x="175672" y="177794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13B0B3-CF62-A04F-4272-970CB3737D11}"/>
                </a:ext>
              </a:extLst>
            </p:cNvPr>
            <p:cNvSpPr>
              <a:spLocks/>
            </p:cNvSpPr>
            <p:nvPr/>
          </p:nvSpPr>
          <p:spPr>
            <a:xfrm>
              <a:off x="1749376" y="3956160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D96B9C1-4602-5E9A-992C-3B83EEDC7B06}"/>
                </a:ext>
              </a:extLst>
            </p:cNvPr>
            <p:cNvSpPr>
              <a:spLocks/>
            </p:cNvSpPr>
            <p:nvPr/>
          </p:nvSpPr>
          <p:spPr>
            <a:xfrm rot="4800000">
              <a:off x="1875852" y="3736364"/>
              <a:ext cx="147450" cy="18222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175672" y="177794"/>
                  </a:moveTo>
                  <a:lnTo>
                    <a:pt x="87836" y="177794"/>
                  </a:lnTo>
                  <a:lnTo>
                    <a:pt x="87836" y="222243"/>
                  </a:lnTo>
                  <a:lnTo>
                    <a:pt x="0" y="111121"/>
                  </a:lnTo>
                  <a:lnTo>
                    <a:pt x="87836" y="0"/>
                  </a:lnTo>
                  <a:lnTo>
                    <a:pt x="87836" y="44449"/>
                  </a:lnTo>
                  <a:lnTo>
                    <a:pt x="175672" y="44449"/>
                  </a:lnTo>
                  <a:lnTo>
                    <a:pt x="175672" y="177794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A8476A1-CE16-E263-11F7-37035A93BDC1}"/>
                </a:ext>
              </a:extLst>
            </p:cNvPr>
            <p:cNvSpPr>
              <a:spLocks/>
            </p:cNvSpPr>
            <p:nvPr/>
          </p:nvSpPr>
          <p:spPr>
            <a:xfrm>
              <a:off x="1608424" y="3137871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marL="0" marR="0" lvl="0" indent="0" algn="ctr" defTabSz="12890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F641342-01F6-A88F-3E02-ACD8ECA51E91}"/>
                </a:ext>
              </a:extLst>
            </p:cNvPr>
            <p:cNvSpPr>
              <a:spLocks/>
            </p:cNvSpPr>
            <p:nvPr/>
          </p:nvSpPr>
          <p:spPr>
            <a:xfrm rot="18000000">
              <a:off x="2005557" y="2966927"/>
              <a:ext cx="147449" cy="18222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0" y="44449"/>
                  </a:moveTo>
                  <a:lnTo>
                    <a:pt x="87836" y="44449"/>
                  </a:lnTo>
                  <a:lnTo>
                    <a:pt x="87836" y="0"/>
                  </a:lnTo>
                  <a:lnTo>
                    <a:pt x="175672" y="111122"/>
                  </a:lnTo>
                  <a:lnTo>
                    <a:pt x="87836" y="222243"/>
                  </a:lnTo>
                  <a:lnTo>
                    <a:pt x="87836" y="177794"/>
                  </a:lnTo>
                  <a:lnTo>
                    <a:pt x="0" y="177794"/>
                  </a:lnTo>
                  <a:lnTo>
                    <a:pt x="0" y="44449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4A166CE-45B3-79BE-3E17-D9EA056D4C11}"/>
                </a:ext>
              </a:extLst>
            </p:cNvPr>
            <p:cNvSpPr>
              <a:spLocks/>
            </p:cNvSpPr>
            <p:nvPr/>
          </p:nvSpPr>
          <p:spPr>
            <a:xfrm>
              <a:off x="2014281" y="2418277"/>
              <a:ext cx="539936" cy="552707"/>
            </a:xfrm>
            <a:custGeom>
              <a:avLst/>
              <a:gdLst>
                <a:gd name="connsiteX0" fmla="*/ 0 w 658499"/>
                <a:gd name="connsiteY0" fmla="*/ 329250 h 658499"/>
                <a:gd name="connsiteX1" fmla="*/ 329250 w 658499"/>
                <a:gd name="connsiteY1" fmla="*/ 0 h 658499"/>
                <a:gd name="connsiteX2" fmla="*/ 658500 w 658499"/>
                <a:gd name="connsiteY2" fmla="*/ 329250 h 658499"/>
                <a:gd name="connsiteX3" fmla="*/ 329250 w 658499"/>
                <a:gd name="connsiteY3" fmla="*/ 658500 h 658499"/>
                <a:gd name="connsiteX4" fmla="*/ 0 w 658499"/>
                <a:gd name="connsiteY4" fmla="*/ 329250 h 65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8499" h="658499">
                  <a:moveTo>
                    <a:pt x="0" y="329250"/>
                  </a:moveTo>
                  <a:cubicBezTo>
                    <a:pt x="0" y="147410"/>
                    <a:pt x="147410" y="0"/>
                    <a:pt x="329250" y="0"/>
                  </a:cubicBezTo>
                  <a:cubicBezTo>
                    <a:pt x="511090" y="0"/>
                    <a:pt x="658500" y="147410"/>
                    <a:pt x="658500" y="329250"/>
                  </a:cubicBezTo>
                  <a:cubicBezTo>
                    <a:pt x="658500" y="511090"/>
                    <a:pt x="511090" y="658500"/>
                    <a:pt x="329250" y="658500"/>
                  </a:cubicBezTo>
                  <a:cubicBezTo>
                    <a:pt x="147410" y="658500"/>
                    <a:pt x="0" y="511090"/>
                    <a:pt x="0" y="329250"/>
                  </a:cubicBezTo>
                  <a:close/>
                </a:path>
              </a:pathLst>
            </a:custGeom>
            <a:solidFill>
              <a:sysClr val="window" lastClr="FFFFFF"/>
            </a:solidFill>
            <a:ln w="19050" cap="flat" cmpd="sng" algn="ctr">
              <a:solidFill>
                <a:schemeClr val="accent5">
                  <a:lumMod val="60000"/>
                  <a:lumOff val="40000"/>
                </a:schemeClr>
              </a:solidFill>
              <a:prstDash val="solid"/>
            </a:ln>
            <a:effectLst/>
          </p:spPr>
          <p:txBody>
            <a:bodyPr spcFirstLastPara="0" vert="horz" wrap="square" lIns="133265" tIns="133265" rIns="133265" bIns="133265" numCol="1" spcCol="1270" anchor="ctr" anchorCtr="0">
              <a:noAutofit/>
            </a:bodyPr>
            <a:lstStyle/>
            <a:p>
              <a:pPr algn="ctr" defTabSz="1289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GB" sz="1000" kern="0">
                <a:solidFill>
                  <a:srgbClr val="000000"/>
                </a:solidFill>
                <a:ea typeface="+mn-lt"/>
                <a:cs typeface="+mn-lt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71CE56B-439F-E070-0FBE-48606D14F9CB}"/>
                </a:ext>
              </a:extLst>
            </p:cNvPr>
            <p:cNvSpPr>
              <a:spLocks/>
            </p:cNvSpPr>
            <p:nvPr/>
          </p:nvSpPr>
          <p:spPr>
            <a:xfrm rot="20400000">
              <a:off x="2589778" y="2460695"/>
              <a:ext cx="144042" cy="186538"/>
            </a:xfrm>
            <a:custGeom>
              <a:avLst/>
              <a:gdLst>
                <a:gd name="connsiteX0" fmla="*/ 0 w 175672"/>
                <a:gd name="connsiteY0" fmla="*/ 44449 h 222243"/>
                <a:gd name="connsiteX1" fmla="*/ 87836 w 175672"/>
                <a:gd name="connsiteY1" fmla="*/ 44449 h 222243"/>
                <a:gd name="connsiteX2" fmla="*/ 87836 w 175672"/>
                <a:gd name="connsiteY2" fmla="*/ 0 h 222243"/>
                <a:gd name="connsiteX3" fmla="*/ 175672 w 175672"/>
                <a:gd name="connsiteY3" fmla="*/ 111122 h 222243"/>
                <a:gd name="connsiteX4" fmla="*/ 87836 w 175672"/>
                <a:gd name="connsiteY4" fmla="*/ 222243 h 222243"/>
                <a:gd name="connsiteX5" fmla="*/ 87836 w 175672"/>
                <a:gd name="connsiteY5" fmla="*/ 177794 h 222243"/>
                <a:gd name="connsiteX6" fmla="*/ 0 w 175672"/>
                <a:gd name="connsiteY6" fmla="*/ 177794 h 222243"/>
                <a:gd name="connsiteX7" fmla="*/ 0 w 175672"/>
                <a:gd name="connsiteY7" fmla="*/ 44449 h 222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5672" h="222243">
                  <a:moveTo>
                    <a:pt x="0" y="44449"/>
                  </a:moveTo>
                  <a:lnTo>
                    <a:pt x="87836" y="44449"/>
                  </a:lnTo>
                  <a:lnTo>
                    <a:pt x="87836" y="0"/>
                  </a:lnTo>
                  <a:lnTo>
                    <a:pt x="175672" y="111122"/>
                  </a:lnTo>
                  <a:lnTo>
                    <a:pt x="87836" y="222243"/>
                  </a:lnTo>
                  <a:lnTo>
                    <a:pt x="87836" y="177794"/>
                  </a:lnTo>
                  <a:lnTo>
                    <a:pt x="0" y="177794"/>
                  </a:lnTo>
                  <a:lnTo>
                    <a:pt x="0" y="44449"/>
                  </a:lnTo>
                  <a:close/>
                </a:path>
              </a:pathLst>
            </a:custGeom>
            <a:noFill/>
            <a:ln>
              <a:solidFill>
                <a:schemeClr val="tx2"/>
              </a:solidFill>
            </a:ln>
            <a:effectLst/>
          </p:spPr>
          <p:txBody>
            <a:bodyPr spcFirstLastPara="0" vert="horz" wrap="square" lIns="-1" tIns="44449" rIns="52702" bIns="44448" numCol="1" spcCol="1270" anchor="ctr" anchorCtr="0">
              <a:noAutofit/>
            </a:bodyPr>
            <a:lstStyle/>
            <a:p>
              <a:pPr marL="0" marR="0" lvl="0" indent="0" algn="ctr" defTabSz="4445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9982B22-F0B5-CBE1-286B-BFC78121DB64}"/>
                </a:ext>
              </a:extLst>
            </p:cNvPr>
            <p:cNvSpPr txBox="1">
              <a:spLocks/>
            </p:cNvSpPr>
            <p:nvPr/>
          </p:nvSpPr>
          <p:spPr>
            <a:xfrm>
              <a:off x="705959" y="2326876"/>
              <a:ext cx="992239" cy="40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risk reporting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64D8C71-64DF-4BC7-7D24-7EA4E3086B38}"/>
                </a:ext>
              </a:extLst>
            </p:cNvPr>
            <p:cNvSpPr txBox="1">
              <a:spLocks/>
            </p:cNvSpPr>
            <p:nvPr/>
          </p:nvSpPr>
          <p:spPr>
            <a:xfrm>
              <a:off x="4635827" y="4087166"/>
              <a:ext cx="1006528" cy="3296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documentation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3AB01EE-6854-7763-F1C6-CC697412725A}"/>
                </a:ext>
              </a:extLst>
            </p:cNvPr>
            <p:cNvSpPr txBox="1">
              <a:spLocks/>
            </p:cNvSpPr>
            <p:nvPr/>
          </p:nvSpPr>
          <p:spPr>
            <a:xfrm>
              <a:off x="1858899" y="5176044"/>
              <a:ext cx="1096518" cy="40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approval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903E58-8245-DF6E-258E-763D6592E2EE}"/>
                </a:ext>
              </a:extLst>
            </p:cNvPr>
            <p:cNvSpPr txBox="1">
              <a:spLocks/>
            </p:cNvSpPr>
            <p:nvPr/>
          </p:nvSpPr>
          <p:spPr>
            <a:xfrm>
              <a:off x="3049228" y="5199534"/>
              <a:ext cx="1096518" cy="4081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validation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4B4FC00-0FEE-F9B6-1135-B85EC5CF8767}"/>
                </a:ext>
              </a:extLst>
            </p:cNvPr>
            <p:cNvSpPr txBox="1">
              <a:spLocks/>
            </p:cNvSpPr>
            <p:nvPr/>
          </p:nvSpPr>
          <p:spPr>
            <a:xfrm>
              <a:off x="574220" y="4464616"/>
              <a:ext cx="1160835" cy="408123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Model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implementation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7F9EF61-EFCB-2C13-2F3B-25E2BD645F95}"/>
                </a:ext>
              </a:extLst>
            </p:cNvPr>
            <p:cNvSpPr txBox="1">
              <a:spLocks/>
            </p:cNvSpPr>
            <p:nvPr/>
          </p:nvSpPr>
          <p:spPr>
            <a:xfrm>
              <a:off x="392713" y="3168523"/>
              <a:ext cx="1068566" cy="409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rPr>
                <a:t>Performance monitoring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17B0B3B-F15E-DD3C-06A8-5F7992264E6F}"/>
                </a:ext>
              </a:extLst>
            </p:cNvPr>
            <p:cNvSpPr>
              <a:spLocks/>
            </p:cNvSpPr>
            <p:nvPr/>
          </p:nvSpPr>
          <p:spPr>
            <a:xfrm>
              <a:off x="2400969" y="3340309"/>
              <a:ext cx="1320083" cy="5377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lt"/>
                  <a:cs typeface="+mn-lt"/>
                </a:rPr>
                <a:t>Model management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000" b="1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ea typeface="+mn-lt"/>
                  <a:cs typeface="+mn-lt"/>
                </a:rPr>
                <a:t>lifecycle 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4BD361E-4414-56AE-26FC-634073C5C13F}"/>
                </a:ext>
              </a:extLst>
            </p:cNvPr>
            <p:cNvGrpSpPr>
              <a:grpSpLocks/>
            </p:cNvGrpSpPr>
            <p:nvPr/>
          </p:nvGrpSpPr>
          <p:grpSpPr>
            <a:xfrm>
              <a:off x="2139869" y="2568775"/>
              <a:ext cx="288758" cy="251604"/>
              <a:chOff x="6143625" y="3124200"/>
              <a:chExt cx="434976" cy="382588"/>
            </a:xfrm>
            <a:solidFill>
              <a:schemeClr val="tx1"/>
            </a:solidFill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B320BFD-2569-1FFF-77CC-DA8C2A1C8B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3625" y="3490913"/>
                <a:ext cx="434975" cy="158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8" name="Freeform 44">
                <a:extLst>
                  <a:ext uri="{FF2B5EF4-FFF2-40B4-BE49-F238E27FC236}">
                    <a16:creationId xmlns:a16="http://schemas.microsoft.com/office/drawing/2014/main" id="{DB82F700-36A6-A698-BB1C-6CAC956CD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1100" y="3275013"/>
                <a:ext cx="85725" cy="196850"/>
              </a:xfrm>
              <a:custGeom>
                <a:avLst/>
                <a:gdLst>
                  <a:gd name="T0" fmla="*/ 54 w 54"/>
                  <a:gd name="T1" fmla="*/ 124 h 124"/>
                  <a:gd name="T2" fmla="*/ 0 w 54"/>
                  <a:gd name="T3" fmla="*/ 124 h 124"/>
                  <a:gd name="T4" fmla="*/ 0 w 54"/>
                  <a:gd name="T5" fmla="*/ 0 h 124"/>
                  <a:gd name="T6" fmla="*/ 54 w 54"/>
                  <a:gd name="T7" fmla="*/ 0 h 124"/>
                  <a:gd name="T8" fmla="*/ 54 w 54"/>
                  <a:gd name="T9" fmla="*/ 124 h 124"/>
                  <a:gd name="T10" fmla="*/ 8 w 54"/>
                  <a:gd name="T11" fmla="*/ 115 h 124"/>
                  <a:gd name="T12" fmla="*/ 44 w 54"/>
                  <a:gd name="T13" fmla="*/ 115 h 124"/>
                  <a:gd name="T14" fmla="*/ 44 w 54"/>
                  <a:gd name="T15" fmla="*/ 10 h 124"/>
                  <a:gd name="T16" fmla="*/ 8 w 54"/>
                  <a:gd name="T17" fmla="*/ 10 h 124"/>
                  <a:gd name="T18" fmla="*/ 8 w 54"/>
                  <a:gd name="T19" fmla="*/ 115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124">
                    <a:moveTo>
                      <a:pt x="54" y="124"/>
                    </a:moveTo>
                    <a:lnTo>
                      <a:pt x="0" y="124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24"/>
                    </a:lnTo>
                    <a:close/>
                    <a:moveTo>
                      <a:pt x="8" y="115"/>
                    </a:moveTo>
                    <a:lnTo>
                      <a:pt x="44" y="115"/>
                    </a:lnTo>
                    <a:lnTo>
                      <a:pt x="44" y="10"/>
                    </a:lnTo>
                    <a:lnTo>
                      <a:pt x="8" y="10"/>
                    </a:lnTo>
                    <a:lnTo>
                      <a:pt x="8" y="1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9" name="Freeform 45">
                <a:extLst>
                  <a:ext uri="{FF2B5EF4-FFF2-40B4-BE49-F238E27FC236}">
                    <a16:creationId xmlns:a16="http://schemas.microsoft.com/office/drawing/2014/main" id="{C8A80D57-684F-BF54-9916-6F10F36F1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5400" y="3348038"/>
                <a:ext cx="85725" cy="123825"/>
              </a:xfrm>
              <a:custGeom>
                <a:avLst/>
                <a:gdLst>
                  <a:gd name="T0" fmla="*/ 54 w 54"/>
                  <a:gd name="T1" fmla="*/ 78 h 78"/>
                  <a:gd name="T2" fmla="*/ 0 w 54"/>
                  <a:gd name="T3" fmla="*/ 78 h 78"/>
                  <a:gd name="T4" fmla="*/ 0 w 54"/>
                  <a:gd name="T5" fmla="*/ 0 h 78"/>
                  <a:gd name="T6" fmla="*/ 54 w 54"/>
                  <a:gd name="T7" fmla="*/ 0 h 78"/>
                  <a:gd name="T8" fmla="*/ 54 w 54"/>
                  <a:gd name="T9" fmla="*/ 78 h 78"/>
                  <a:gd name="T10" fmla="*/ 10 w 54"/>
                  <a:gd name="T11" fmla="*/ 69 h 78"/>
                  <a:gd name="T12" fmla="*/ 46 w 54"/>
                  <a:gd name="T13" fmla="*/ 69 h 78"/>
                  <a:gd name="T14" fmla="*/ 46 w 54"/>
                  <a:gd name="T15" fmla="*/ 10 h 78"/>
                  <a:gd name="T16" fmla="*/ 10 w 54"/>
                  <a:gd name="T17" fmla="*/ 10 h 78"/>
                  <a:gd name="T18" fmla="*/ 10 w 54"/>
                  <a:gd name="T19" fmla="*/ 69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78">
                    <a:moveTo>
                      <a:pt x="54" y="78"/>
                    </a:moveTo>
                    <a:lnTo>
                      <a:pt x="0" y="78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78"/>
                    </a:lnTo>
                    <a:close/>
                    <a:moveTo>
                      <a:pt x="10" y="69"/>
                    </a:moveTo>
                    <a:lnTo>
                      <a:pt x="46" y="69"/>
                    </a:lnTo>
                    <a:lnTo>
                      <a:pt x="46" y="10"/>
                    </a:lnTo>
                    <a:lnTo>
                      <a:pt x="10" y="10"/>
                    </a:lnTo>
                    <a:lnTo>
                      <a:pt x="10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0" name="Freeform 47">
                <a:extLst>
                  <a:ext uri="{FF2B5EF4-FFF2-40B4-BE49-F238E27FC236}">
                    <a16:creationId xmlns:a16="http://schemas.microsoft.com/office/drawing/2014/main" id="{A321855E-8FCF-1165-CA6C-8CA4575F76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2875" y="3235325"/>
                <a:ext cx="85725" cy="236538"/>
              </a:xfrm>
              <a:custGeom>
                <a:avLst/>
                <a:gdLst>
                  <a:gd name="T0" fmla="*/ 54 w 54"/>
                  <a:gd name="T1" fmla="*/ 149 h 149"/>
                  <a:gd name="T2" fmla="*/ 0 w 54"/>
                  <a:gd name="T3" fmla="*/ 149 h 149"/>
                  <a:gd name="T4" fmla="*/ 0 w 54"/>
                  <a:gd name="T5" fmla="*/ 0 h 149"/>
                  <a:gd name="T6" fmla="*/ 54 w 54"/>
                  <a:gd name="T7" fmla="*/ 0 h 149"/>
                  <a:gd name="T8" fmla="*/ 54 w 54"/>
                  <a:gd name="T9" fmla="*/ 149 h 149"/>
                  <a:gd name="T10" fmla="*/ 11 w 54"/>
                  <a:gd name="T11" fmla="*/ 140 h 149"/>
                  <a:gd name="T12" fmla="*/ 44 w 54"/>
                  <a:gd name="T13" fmla="*/ 140 h 149"/>
                  <a:gd name="T14" fmla="*/ 44 w 54"/>
                  <a:gd name="T15" fmla="*/ 10 h 149"/>
                  <a:gd name="T16" fmla="*/ 11 w 54"/>
                  <a:gd name="T17" fmla="*/ 10 h 149"/>
                  <a:gd name="T18" fmla="*/ 11 w 54"/>
                  <a:gd name="T19" fmla="*/ 140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149">
                    <a:moveTo>
                      <a:pt x="54" y="149"/>
                    </a:moveTo>
                    <a:lnTo>
                      <a:pt x="0" y="149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149"/>
                    </a:lnTo>
                    <a:close/>
                    <a:moveTo>
                      <a:pt x="11" y="140"/>
                    </a:moveTo>
                    <a:lnTo>
                      <a:pt x="44" y="140"/>
                    </a:lnTo>
                    <a:lnTo>
                      <a:pt x="44" y="10"/>
                    </a:lnTo>
                    <a:lnTo>
                      <a:pt x="11" y="10"/>
                    </a:lnTo>
                    <a:lnTo>
                      <a:pt x="11" y="1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1" name="Freeform 55">
                <a:extLst>
                  <a:ext uri="{FF2B5EF4-FFF2-40B4-BE49-F238E27FC236}">
                    <a16:creationId xmlns:a16="http://schemas.microsoft.com/office/drawing/2014/main" id="{EE5F601E-20C6-16EA-AFA5-F70FFC2EF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3625" y="3402013"/>
                <a:ext cx="85725" cy="69850"/>
              </a:xfrm>
              <a:custGeom>
                <a:avLst/>
                <a:gdLst>
                  <a:gd name="T0" fmla="*/ 54 w 54"/>
                  <a:gd name="T1" fmla="*/ 44 h 44"/>
                  <a:gd name="T2" fmla="*/ 0 w 54"/>
                  <a:gd name="T3" fmla="*/ 44 h 44"/>
                  <a:gd name="T4" fmla="*/ 0 w 54"/>
                  <a:gd name="T5" fmla="*/ 0 h 44"/>
                  <a:gd name="T6" fmla="*/ 54 w 54"/>
                  <a:gd name="T7" fmla="*/ 0 h 44"/>
                  <a:gd name="T8" fmla="*/ 54 w 54"/>
                  <a:gd name="T9" fmla="*/ 44 h 44"/>
                  <a:gd name="T10" fmla="*/ 10 w 54"/>
                  <a:gd name="T11" fmla="*/ 35 h 44"/>
                  <a:gd name="T12" fmla="*/ 44 w 54"/>
                  <a:gd name="T13" fmla="*/ 35 h 44"/>
                  <a:gd name="T14" fmla="*/ 44 w 54"/>
                  <a:gd name="T15" fmla="*/ 10 h 44"/>
                  <a:gd name="T16" fmla="*/ 10 w 54"/>
                  <a:gd name="T17" fmla="*/ 10 h 44"/>
                  <a:gd name="T18" fmla="*/ 10 w 54"/>
                  <a:gd name="T19" fmla="*/ 35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44">
                    <a:moveTo>
                      <a:pt x="54" y="44"/>
                    </a:moveTo>
                    <a:lnTo>
                      <a:pt x="0" y="44"/>
                    </a:lnTo>
                    <a:lnTo>
                      <a:pt x="0" y="0"/>
                    </a:lnTo>
                    <a:lnTo>
                      <a:pt x="54" y="0"/>
                    </a:lnTo>
                    <a:lnTo>
                      <a:pt x="54" y="44"/>
                    </a:lnTo>
                    <a:close/>
                    <a:moveTo>
                      <a:pt x="10" y="35"/>
                    </a:moveTo>
                    <a:lnTo>
                      <a:pt x="44" y="35"/>
                    </a:lnTo>
                    <a:lnTo>
                      <a:pt x="44" y="10"/>
                    </a:lnTo>
                    <a:lnTo>
                      <a:pt x="10" y="10"/>
                    </a:lnTo>
                    <a:lnTo>
                      <a:pt x="10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2" name="Freeform 56">
                <a:extLst>
                  <a:ext uri="{FF2B5EF4-FFF2-40B4-BE49-F238E27FC236}">
                    <a16:creationId xmlns:a16="http://schemas.microsoft.com/office/drawing/2014/main" id="{07179732-D8AA-21AF-6F74-AAF398870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15075" y="3175000"/>
                <a:ext cx="93663" cy="95250"/>
              </a:xfrm>
              <a:custGeom>
                <a:avLst/>
                <a:gdLst>
                  <a:gd name="T0" fmla="*/ 52 w 59"/>
                  <a:gd name="T1" fmla="*/ 60 h 60"/>
                  <a:gd name="T2" fmla="*/ 0 w 59"/>
                  <a:gd name="T3" fmla="*/ 7 h 60"/>
                  <a:gd name="T4" fmla="*/ 6 w 59"/>
                  <a:gd name="T5" fmla="*/ 0 h 60"/>
                  <a:gd name="T6" fmla="*/ 59 w 59"/>
                  <a:gd name="T7" fmla="*/ 53 h 60"/>
                  <a:gd name="T8" fmla="*/ 52 w 59"/>
                  <a:gd name="T9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52" y="60"/>
                    </a:moveTo>
                    <a:lnTo>
                      <a:pt x="0" y="7"/>
                    </a:lnTo>
                    <a:lnTo>
                      <a:pt x="6" y="0"/>
                    </a:lnTo>
                    <a:lnTo>
                      <a:pt x="59" y="53"/>
                    </a:lnTo>
                    <a:lnTo>
                      <a:pt x="52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3" name="Freeform 57">
                <a:extLst>
                  <a:ext uri="{FF2B5EF4-FFF2-40B4-BE49-F238E27FC236}">
                    <a16:creationId xmlns:a16="http://schemas.microsoft.com/office/drawing/2014/main" id="{DB565C94-BF89-45E1-6725-E8A87CAAD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37313" y="3175000"/>
                <a:ext cx="93663" cy="95250"/>
              </a:xfrm>
              <a:custGeom>
                <a:avLst/>
                <a:gdLst>
                  <a:gd name="T0" fmla="*/ 7 w 59"/>
                  <a:gd name="T1" fmla="*/ 60 h 60"/>
                  <a:gd name="T2" fmla="*/ 0 w 59"/>
                  <a:gd name="T3" fmla="*/ 53 h 60"/>
                  <a:gd name="T4" fmla="*/ 51 w 59"/>
                  <a:gd name="T5" fmla="*/ 0 h 60"/>
                  <a:gd name="T6" fmla="*/ 59 w 59"/>
                  <a:gd name="T7" fmla="*/ 7 h 60"/>
                  <a:gd name="T8" fmla="*/ 7 w 59"/>
                  <a:gd name="T9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7" y="60"/>
                    </a:moveTo>
                    <a:lnTo>
                      <a:pt x="0" y="53"/>
                    </a:lnTo>
                    <a:lnTo>
                      <a:pt x="51" y="0"/>
                    </a:lnTo>
                    <a:lnTo>
                      <a:pt x="59" y="7"/>
                    </a:lnTo>
                    <a:lnTo>
                      <a:pt x="7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4" name="Freeform 58">
                <a:extLst>
                  <a:ext uri="{FF2B5EF4-FFF2-40B4-BE49-F238E27FC236}">
                    <a16:creationId xmlns:a16="http://schemas.microsoft.com/office/drawing/2014/main" id="{91CA1C64-DCE8-D5A5-47E3-6BE1BF7976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91250" y="3175000"/>
                <a:ext cx="93663" cy="95250"/>
              </a:xfrm>
              <a:custGeom>
                <a:avLst/>
                <a:gdLst>
                  <a:gd name="T0" fmla="*/ 8 w 59"/>
                  <a:gd name="T1" fmla="*/ 60 h 60"/>
                  <a:gd name="T2" fmla="*/ 0 w 59"/>
                  <a:gd name="T3" fmla="*/ 53 h 60"/>
                  <a:gd name="T4" fmla="*/ 52 w 59"/>
                  <a:gd name="T5" fmla="*/ 0 h 60"/>
                  <a:gd name="T6" fmla="*/ 59 w 59"/>
                  <a:gd name="T7" fmla="*/ 7 h 60"/>
                  <a:gd name="T8" fmla="*/ 8 w 59"/>
                  <a:gd name="T9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60">
                    <a:moveTo>
                      <a:pt x="8" y="60"/>
                    </a:moveTo>
                    <a:lnTo>
                      <a:pt x="0" y="53"/>
                    </a:lnTo>
                    <a:lnTo>
                      <a:pt x="52" y="0"/>
                    </a:lnTo>
                    <a:lnTo>
                      <a:pt x="59" y="7"/>
                    </a:lnTo>
                    <a:lnTo>
                      <a:pt x="8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5" name="Freeform 59">
                <a:extLst>
                  <a:ext uri="{FF2B5EF4-FFF2-40B4-BE49-F238E27FC236}">
                    <a16:creationId xmlns:a16="http://schemas.microsoft.com/office/drawing/2014/main" id="{A9929BD0-148E-E1E7-1C8F-58C38377E1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43625" y="3248025"/>
                <a:ext cx="71438" cy="73025"/>
              </a:xfrm>
              <a:custGeom>
                <a:avLst/>
                <a:gdLst>
                  <a:gd name="T0" fmla="*/ 13 w 27"/>
                  <a:gd name="T1" fmla="*/ 27 h 27"/>
                  <a:gd name="T2" fmla="*/ 0 w 27"/>
                  <a:gd name="T3" fmla="*/ 13 h 27"/>
                  <a:gd name="T4" fmla="*/ 13 w 27"/>
                  <a:gd name="T5" fmla="*/ 0 h 27"/>
                  <a:gd name="T6" fmla="*/ 27 w 27"/>
                  <a:gd name="T7" fmla="*/ 13 h 27"/>
                  <a:gd name="T8" fmla="*/ 13 w 27"/>
                  <a:gd name="T9" fmla="*/ 27 h 27"/>
                  <a:gd name="T10" fmla="*/ 13 w 27"/>
                  <a:gd name="T11" fmla="*/ 6 h 27"/>
                  <a:gd name="T12" fmla="*/ 6 w 27"/>
                  <a:gd name="T13" fmla="*/ 13 h 27"/>
                  <a:gd name="T14" fmla="*/ 13 w 27"/>
                  <a:gd name="T15" fmla="*/ 21 h 27"/>
                  <a:gd name="T16" fmla="*/ 21 w 27"/>
                  <a:gd name="T17" fmla="*/ 13 h 27"/>
                  <a:gd name="T18" fmla="*/ 13 w 27"/>
                  <a:gd name="T19" fmla="*/ 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7">
                    <a:moveTo>
                      <a:pt x="13" y="27"/>
                    </a:moveTo>
                    <a:cubicBezTo>
                      <a:pt x="6" y="27"/>
                      <a:pt x="0" y="21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1" y="0"/>
                      <a:pt x="27" y="6"/>
                      <a:pt x="27" y="13"/>
                    </a:cubicBezTo>
                    <a:cubicBezTo>
                      <a:pt x="27" y="21"/>
                      <a:pt x="21" y="27"/>
                      <a:pt x="13" y="27"/>
                    </a:cubicBezTo>
                    <a:close/>
                    <a:moveTo>
                      <a:pt x="13" y="6"/>
                    </a:moveTo>
                    <a:cubicBezTo>
                      <a:pt x="9" y="6"/>
                      <a:pt x="6" y="9"/>
                      <a:pt x="6" y="13"/>
                    </a:cubicBezTo>
                    <a:cubicBezTo>
                      <a:pt x="6" y="17"/>
                      <a:pt x="9" y="21"/>
                      <a:pt x="13" y="21"/>
                    </a:cubicBezTo>
                    <a:cubicBezTo>
                      <a:pt x="17" y="21"/>
                      <a:pt x="21" y="17"/>
                      <a:pt x="21" y="13"/>
                    </a:cubicBezTo>
                    <a:cubicBezTo>
                      <a:pt x="21" y="9"/>
                      <a:pt x="17" y="6"/>
                      <a:pt x="1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6" name="Freeform 60">
                <a:extLst>
                  <a:ext uri="{FF2B5EF4-FFF2-40B4-BE49-F238E27FC236}">
                    <a16:creationId xmlns:a16="http://schemas.microsoft.com/office/drawing/2014/main" id="{650F3F3E-F567-33A2-19A6-253C09AA2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64275" y="3124200"/>
                <a:ext cx="71438" cy="73025"/>
              </a:xfrm>
              <a:custGeom>
                <a:avLst/>
                <a:gdLst>
                  <a:gd name="T0" fmla="*/ 14 w 27"/>
                  <a:gd name="T1" fmla="*/ 27 h 27"/>
                  <a:gd name="T2" fmla="*/ 0 w 27"/>
                  <a:gd name="T3" fmla="*/ 14 h 27"/>
                  <a:gd name="T4" fmla="*/ 14 w 27"/>
                  <a:gd name="T5" fmla="*/ 0 h 27"/>
                  <a:gd name="T6" fmla="*/ 27 w 27"/>
                  <a:gd name="T7" fmla="*/ 14 h 27"/>
                  <a:gd name="T8" fmla="*/ 14 w 27"/>
                  <a:gd name="T9" fmla="*/ 27 h 27"/>
                  <a:gd name="T10" fmla="*/ 14 w 27"/>
                  <a:gd name="T11" fmla="*/ 6 h 27"/>
                  <a:gd name="T12" fmla="*/ 6 w 27"/>
                  <a:gd name="T13" fmla="*/ 14 h 27"/>
                  <a:gd name="T14" fmla="*/ 14 w 27"/>
                  <a:gd name="T15" fmla="*/ 21 h 27"/>
                  <a:gd name="T16" fmla="*/ 21 w 27"/>
                  <a:gd name="T17" fmla="*/ 14 h 27"/>
                  <a:gd name="T18" fmla="*/ 14 w 27"/>
                  <a:gd name="T19" fmla="*/ 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7">
                    <a:moveTo>
                      <a:pt x="14" y="27"/>
                    </a:moveTo>
                    <a:cubicBezTo>
                      <a:pt x="6" y="27"/>
                      <a:pt x="0" y="21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4"/>
                    </a:cubicBezTo>
                    <a:cubicBezTo>
                      <a:pt x="27" y="21"/>
                      <a:pt x="21" y="27"/>
                      <a:pt x="14" y="27"/>
                    </a:cubicBezTo>
                    <a:close/>
                    <a:moveTo>
                      <a:pt x="14" y="6"/>
                    </a:moveTo>
                    <a:cubicBezTo>
                      <a:pt x="10" y="6"/>
                      <a:pt x="6" y="10"/>
                      <a:pt x="6" y="14"/>
                    </a:cubicBezTo>
                    <a:cubicBezTo>
                      <a:pt x="6" y="18"/>
                      <a:pt x="10" y="21"/>
                      <a:pt x="14" y="21"/>
                    </a:cubicBezTo>
                    <a:cubicBezTo>
                      <a:pt x="18" y="21"/>
                      <a:pt x="21" y="18"/>
                      <a:pt x="21" y="14"/>
                    </a:cubicBezTo>
                    <a:cubicBezTo>
                      <a:pt x="21" y="10"/>
                      <a:pt x="18" y="6"/>
                      <a:pt x="1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7" name="Freeform 61">
                <a:extLst>
                  <a:ext uri="{FF2B5EF4-FFF2-40B4-BE49-F238E27FC236}">
                    <a16:creationId xmlns:a16="http://schemas.microsoft.com/office/drawing/2014/main" id="{D6C904EE-891B-B76B-5EC0-9B6FDFED6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86513" y="3248025"/>
                <a:ext cx="73025" cy="73025"/>
              </a:xfrm>
              <a:custGeom>
                <a:avLst/>
                <a:gdLst>
                  <a:gd name="T0" fmla="*/ 13 w 27"/>
                  <a:gd name="T1" fmla="*/ 27 h 27"/>
                  <a:gd name="T2" fmla="*/ 0 w 27"/>
                  <a:gd name="T3" fmla="*/ 13 h 27"/>
                  <a:gd name="T4" fmla="*/ 13 w 27"/>
                  <a:gd name="T5" fmla="*/ 0 h 27"/>
                  <a:gd name="T6" fmla="*/ 27 w 27"/>
                  <a:gd name="T7" fmla="*/ 13 h 27"/>
                  <a:gd name="T8" fmla="*/ 13 w 27"/>
                  <a:gd name="T9" fmla="*/ 27 h 27"/>
                  <a:gd name="T10" fmla="*/ 13 w 27"/>
                  <a:gd name="T11" fmla="*/ 6 h 27"/>
                  <a:gd name="T12" fmla="*/ 6 w 27"/>
                  <a:gd name="T13" fmla="*/ 13 h 27"/>
                  <a:gd name="T14" fmla="*/ 13 w 27"/>
                  <a:gd name="T15" fmla="*/ 21 h 27"/>
                  <a:gd name="T16" fmla="*/ 21 w 27"/>
                  <a:gd name="T17" fmla="*/ 13 h 27"/>
                  <a:gd name="T18" fmla="*/ 13 w 27"/>
                  <a:gd name="T19" fmla="*/ 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7">
                    <a:moveTo>
                      <a:pt x="13" y="27"/>
                    </a:moveTo>
                    <a:cubicBezTo>
                      <a:pt x="6" y="27"/>
                      <a:pt x="0" y="21"/>
                      <a:pt x="0" y="13"/>
                    </a:cubicBezTo>
                    <a:cubicBezTo>
                      <a:pt x="0" y="6"/>
                      <a:pt x="6" y="0"/>
                      <a:pt x="13" y="0"/>
                    </a:cubicBezTo>
                    <a:cubicBezTo>
                      <a:pt x="21" y="0"/>
                      <a:pt x="27" y="6"/>
                      <a:pt x="27" y="13"/>
                    </a:cubicBezTo>
                    <a:cubicBezTo>
                      <a:pt x="27" y="21"/>
                      <a:pt x="21" y="27"/>
                      <a:pt x="13" y="27"/>
                    </a:cubicBezTo>
                    <a:close/>
                    <a:moveTo>
                      <a:pt x="13" y="6"/>
                    </a:moveTo>
                    <a:cubicBezTo>
                      <a:pt x="9" y="6"/>
                      <a:pt x="6" y="9"/>
                      <a:pt x="6" y="13"/>
                    </a:cubicBezTo>
                    <a:cubicBezTo>
                      <a:pt x="6" y="17"/>
                      <a:pt x="9" y="21"/>
                      <a:pt x="13" y="21"/>
                    </a:cubicBezTo>
                    <a:cubicBezTo>
                      <a:pt x="18" y="21"/>
                      <a:pt x="21" y="17"/>
                      <a:pt x="21" y="13"/>
                    </a:cubicBezTo>
                    <a:cubicBezTo>
                      <a:pt x="21" y="9"/>
                      <a:pt x="18" y="6"/>
                      <a:pt x="1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48" name="Freeform 62">
                <a:extLst>
                  <a:ext uri="{FF2B5EF4-FFF2-40B4-BE49-F238E27FC236}">
                    <a16:creationId xmlns:a16="http://schemas.microsoft.com/office/drawing/2014/main" id="{622314D5-D382-2D9F-AA7B-4A7682BACD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7163" y="3124200"/>
                <a:ext cx="71438" cy="73025"/>
              </a:xfrm>
              <a:custGeom>
                <a:avLst/>
                <a:gdLst>
                  <a:gd name="T0" fmla="*/ 14 w 27"/>
                  <a:gd name="T1" fmla="*/ 27 h 27"/>
                  <a:gd name="T2" fmla="*/ 0 w 27"/>
                  <a:gd name="T3" fmla="*/ 14 h 27"/>
                  <a:gd name="T4" fmla="*/ 14 w 27"/>
                  <a:gd name="T5" fmla="*/ 0 h 27"/>
                  <a:gd name="T6" fmla="*/ 27 w 27"/>
                  <a:gd name="T7" fmla="*/ 14 h 27"/>
                  <a:gd name="T8" fmla="*/ 14 w 27"/>
                  <a:gd name="T9" fmla="*/ 27 h 27"/>
                  <a:gd name="T10" fmla="*/ 14 w 27"/>
                  <a:gd name="T11" fmla="*/ 6 h 27"/>
                  <a:gd name="T12" fmla="*/ 6 w 27"/>
                  <a:gd name="T13" fmla="*/ 14 h 27"/>
                  <a:gd name="T14" fmla="*/ 14 w 27"/>
                  <a:gd name="T15" fmla="*/ 21 h 27"/>
                  <a:gd name="T16" fmla="*/ 21 w 27"/>
                  <a:gd name="T17" fmla="*/ 14 h 27"/>
                  <a:gd name="T18" fmla="*/ 14 w 27"/>
                  <a:gd name="T19" fmla="*/ 6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7" h="27">
                    <a:moveTo>
                      <a:pt x="14" y="27"/>
                    </a:moveTo>
                    <a:cubicBezTo>
                      <a:pt x="6" y="27"/>
                      <a:pt x="0" y="21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21" y="0"/>
                      <a:pt x="27" y="6"/>
                      <a:pt x="27" y="14"/>
                    </a:cubicBezTo>
                    <a:cubicBezTo>
                      <a:pt x="27" y="21"/>
                      <a:pt x="21" y="27"/>
                      <a:pt x="14" y="27"/>
                    </a:cubicBezTo>
                    <a:close/>
                    <a:moveTo>
                      <a:pt x="14" y="6"/>
                    </a:moveTo>
                    <a:cubicBezTo>
                      <a:pt x="10" y="6"/>
                      <a:pt x="6" y="10"/>
                      <a:pt x="6" y="14"/>
                    </a:cubicBezTo>
                    <a:cubicBezTo>
                      <a:pt x="6" y="18"/>
                      <a:pt x="10" y="21"/>
                      <a:pt x="14" y="21"/>
                    </a:cubicBezTo>
                    <a:cubicBezTo>
                      <a:pt x="18" y="21"/>
                      <a:pt x="21" y="18"/>
                      <a:pt x="21" y="14"/>
                    </a:cubicBezTo>
                    <a:cubicBezTo>
                      <a:pt x="21" y="10"/>
                      <a:pt x="18" y="6"/>
                      <a:pt x="14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9FDBCCE8-7111-897A-F416-C4604B340E9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756986" y="3320058"/>
              <a:ext cx="229836" cy="188130"/>
              <a:chOff x="6676219" y="5683783"/>
              <a:chExt cx="483808" cy="379056"/>
            </a:xfrm>
            <a:solidFill>
              <a:schemeClr val="tx1"/>
            </a:solidFill>
          </p:grpSpPr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201CBC36-2E7A-B403-11CA-373DF30EA3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8802" y="6019477"/>
                <a:ext cx="318884" cy="43362"/>
              </a:xfrm>
              <a:custGeom>
                <a:avLst/>
                <a:gdLst>
                  <a:gd name="T0" fmla="*/ 180 w 2617"/>
                  <a:gd name="T1" fmla="*/ 0 h 356"/>
                  <a:gd name="T2" fmla="*/ 2436 w 2617"/>
                  <a:gd name="T3" fmla="*/ 0 h 356"/>
                  <a:gd name="T4" fmla="*/ 2472 w 2617"/>
                  <a:gd name="T5" fmla="*/ 3 h 356"/>
                  <a:gd name="T6" fmla="*/ 2506 w 2617"/>
                  <a:gd name="T7" fmla="*/ 14 h 356"/>
                  <a:gd name="T8" fmla="*/ 2537 w 2617"/>
                  <a:gd name="T9" fmla="*/ 31 h 356"/>
                  <a:gd name="T10" fmla="*/ 2564 w 2617"/>
                  <a:gd name="T11" fmla="*/ 53 h 356"/>
                  <a:gd name="T12" fmla="*/ 2586 w 2617"/>
                  <a:gd name="T13" fmla="*/ 79 h 356"/>
                  <a:gd name="T14" fmla="*/ 2603 w 2617"/>
                  <a:gd name="T15" fmla="*/ 109 h 356"/>
                  <a:gd name="T16" fmla="*/ 2613 w 2617"/>
                  <a:gd name="T17" fmla="*/ 142 h 356"/>
                  <a:gd name="T18" fmla="*/ 2617 w 2617"/>
                  <a:gd name="T19" fmla="*/ 178 h 356"/>
                  <a:gd name="T20" fmla="*/ 2613 w 2617"/>
                  <a:gd name="T21" fmla="*/ 214 h 356"/>
                  <a:gd name="T22" fmla="*/ 2603 w 2617"/>
                  <a:gd name="T23" fmla="*/ 248 h 356"/>
                  <a:gd name="T24" fmla="*/ 2586 w 2617"/>
                  <a:gd name="T25" fmla="*/ 278 h 356"/>
                  <a:gd name="T26" fmla="*/ 2564 w 2617"/>
                  <a:gd name="T27" fmla="*/ 304 h 356"/>
                  <a:gd name="T28" fmla="*/ 2537 w 2617"/>
                  <a:gd name="T29" fmla="*/ 326 h 356"/>
                  <a:gd name="T30" fmla="*/ 2506 w 2617"/>
                  <a:gd name="T31" fmla="*/ 343 h 356"/>
                  <a:gd name="T32" fmla="*/ 2472 w 2617"/>
                  <a:gd name="T33" fmla="*/ 352 h 356"/>
                  <a:gd name="T34" fmla="*/ 2436 w 2617"/>
                  <a:gd name="T35" fmla="*/ 356 h 356"/>
                  <a:gd name="T36" fmla="*/ 180 w 2617"/>
                  <a:gd name="T37" fmla="*/ 356 h 356"/>
                  <a:gd name="T38" fmla="*/ 143 w 2617"/>
                  <a:gd name="T39" fmla="*/ 352 h 356"/>
                  <a:gd name="T40" fmla="*/ 109 w 2617"/>
                  <a:gd name="T41" fmla="*/ 343 h 356"/>
                  <a:gd name="T42" fmla="*/ 79 w 2617"/>
                  <a:gd name="T43" fmla="*/ 326 h 356"/>
                  <a:gd name="T44" fmla="*/ 52 w 2617"/>
                  <a:gd name="T45" fmla="*/ 304 h 356"/>
                  <a:gd name="T46" fmla="*/ 30 w 2617"/>
                  <a:gd name="T47" fmla="*/ 278 h 356"/>
                  <a:gd name="T48" fmla="*/ 13 w 2617"/>
                  <a:gd name="T49" fmla="*/ 248 h 356"/>
                  <a:gd name="T50" fmla="*/ 3 w 2617"/>
                  <a:gd name="T51" fmla="*/ 214 h 356"/>
                  <a:gd name="T52" fmla="*/ 0 w 2617"/>
                  <a:gd name="T53" fmla="*/ 178 h 356"/>
                  <a:gd name="T54" fmla="*/ 3 w 2617"/>
                  <a:gd name="T55" fmla="*/ 142 h 356"/>
                  <a:gd name="T56" fmla="*/ 13 w 2617"/>
                  <a:gd name="T57" fmla="*/ 109 h 356"/>
                  <a:gd name="T58" fmla="*/ 30 w 2617"/>
                  <a:gd name="T59" fmla="*/ 79 h 356"/>
                  <a:gd name="T60" fmla="*/ 52 w 2617"/>
                  <a:gd name="T61" fmla="*/ 53 h 356"/>
                  <a:gd name="T62" fmla="*/ 79 w 2617"/>
                  <a:gd name="T63" fmla="*/ 31 h 356"/>
                  <a:gd name="T64" fmla="*/ 109 w 2617"/>
                  <a:gd name="T65" fmla="*/ 14 h 356"/>
                  <a:gd name="T66" fmla="*/ 143 w 2617"/>
                  <a:gd name="T67" fmla="*/ 3 h 356"/>
                  <a:gd name="T68" fmla="*/ 180 w 2617"/>
                  <a:gd name="T69" fmla="*/ 0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617" h="356">
                    <a:moveTo>
                      <a:pt x="180" y="0"/>
                    </a:moveTo>
                    <a:lnTo>
                      <a:pt x="2436" y="0"/>
                    </a:lnTo>
                    <a:lnTo>
                      <a:pt x="2472" y="3"/>
                    </a:lnTo>
                    <a:lnTo>
                      <a:pt x="2506" y="14"/>
                    </a:lnTo>
                    <a:lnTo>
                      <a:pt x="2537" y="31"/>
                    </a:lnTo>
                    <a:lnTo>
                      <a:pt x="2564" y="53"/>
                    </a:lnTo>
                    <a:lnTo>
                      <a:pt x="2586" y="79"/>
                    </a:lnTo>
                    <a:lnTo>
                      <a:pt x="2603" y="109"/>
                    </a:lnTo>
                    <a:lnTo>
                      <a:pt x="2613" y="142"/>
                    </a:lnTo>
                    <a:lnTo>
                      <a:pt x="2617" y="178"/>
                    </a:lnTo>
                    <a:lnTo>
                      <a:pt x="2613" y="214"/>
                    </a:lnTo>
                    <a:lnTo>
                      <a:pt x="2603" y="248"/>
                    </a:lnTo>
                    <a:lnTo>
                      <a:pt x="2586" y="278"/>
                    </a:lnTo>
                    <a:lnTo>
                      <a:pt x="2564" y="304"/>
                    </a:lnTo>
                    <a:lnTo>
                      <a:pt x="2537" y="326"/>
                    </a:lnTo>
                    <a:lnTo>
                      <a:pt x="2506" y="343"/>
                    </a:lnTo>
                    <a:lnTo>
                      <a:pt x="2472" y="352"/>
                    </a:lnTo>
                    <a:lnTo>
                      <a:pt x="2436" y="356"/>
                    </a:lnTo>
                    <a:lnTo>
                      <a:pt x="180" y="356"/>
                    </a:lnTo>
                    <a:lnTo>
                      <a:pt x="143" y="352"/>
                    </a:lnTo>
                    <a:lnTo>
                      <a:pt x="109" y="343"/>
                    </a:lnTo>
                    <a:lnTo>
                      <a:pt x="79" y="326"/>
                    </a:lnTo>
                    <a:lnTo>
                      <a:pt x="52" y="304"/>
                    </a:lnTo>
                    <a:lnTo>
                      <a:pt x="30" y="278"/>
                    </a:lnTo>
                    <a:lnTo>
                      <a:pt x="13" y="248"/>
                    </a:lnTo>
                    <a:lnTo>
                      <a:pt x="3" y="214"/>
                    </a:lnTo>
                    <a:lnTo>
                      <a:pt x="0" y="178"/>
                    </a:lnTo>
                    <a:lnTo>
                      <a:pt x="3" y="142"/>
                    </a:lnTo>
                    <a:lnTo>
                      <a:pt x="13" y="109"/>
                    </a:lnTo>
                    <a:lnTo>
                      <a:pt x="30" y="79"/>
                    </a:lnTo>
                    <a:lnTo>
                      <a:pt x="52" y="53"/>
                    </a:lnTo>
                    <a:lnTo>
                      <a:pt x="79" y="31"/>
                    </a:lnTo>
                    <a:lnTo>
                      <a:pt x="109" y="14"/>
                    </a:lnTo>
                    <a:lnTo>
                      <a:pt x="143" y="3"/>
                    </a:lnTo>
                    <a:lnTo>
                      <a:pt x="18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51" name="Freeform 7">
                <a:extLst>
                  <a:ext uri="{FF2B5EF4-FFF2-40B4-BE49-F238E27FC236}">
                    <a16:creationId xmlns:a16="http://schemas.microsoft.com/office/drawing/2014/main" id="{3C447C71-75D2-EA43-26CE-13561A47C4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3200" y="5840911"/>
                <a:ext cx="32887" cy="86481"/>
              </a:xfrm>
              <a:custGeom>
                <a:avLst/>
                <a:gdLst>
                  <a:gd name="T0" fmla="*/ 137 w 272"/>
                  <a:gd name="T1" fmla="*/ 0 h 711"/>
                  <a:gd name="T2" fmla="*/ 167 w 272"/>
                  <a:gd name="T3" fmla="*/ 4 h 711"/>
                  <a:gd name="T4" fmla="*/ 196 w 272"/>
                  <a:gd name="T5" fmla="*/ 13 h 711"/>
                  <a:gd name="T6" fmla="*/ 222 w 272"/>
                  <a:gd name="T7" fmla="*/ 29 h 711"/>
                  <a:gd name="T8" fmla="*/ 242 w 272"/>
                  <a:gd name="T9" fmla="*/ 50 h 711"/>
                  <a:gd name="T10" fmla="*/ 258 w 272"/>
                  <a:gd name="T11" fmla="*/ 74 h 711"/>
                  <a:gd name="T12" fmla="*/ 268 w 272"/>
                  <a:gd name="T13" fmla="*/ 103 h 711"/>
                  <a:gd name="T14" fmla="*/ 272 w 272"/>
                  <a:gd name="T15" fmla="*/ 133 h 711"/>
                  <a:gd name="T16" fmla="*/ 272 w 272"/>
                  <a:gd name="T17" fmla="*/ 578 h 711"/>
                  <a:gd name="T18" fmla="*/ 268 w 272"/>
                  <a:gd name="T19" fmla="*/ 609 h 711"/>
                  <a:gd name="T20" fmla="*/ 258 w 272"/>
                  <a:gd name="T21" fmla="*/ 636 h 711"/>
                  <a:gd name="T22" fmla="*/ 242 w 272"/>
                  <a:gd name="T23" fmla="*/ 662 h 711"/>
                  <a:gd name="T24" fmla="*/ 222 w 272"/>
                  <a:gd name="T25" fmla="*/ 682 h 711"/>
                  <a:gd name="T26" fmla="*/ 196 w 272"/>
                  <a:gd name="T27" fmla="*/ 697 h 711"/>
                  <a:gd name="T28" fmla="*/ 167 w 272"/>
                  <a:gd name="T29" fmla="*/ 708 h 711"/>
                  <a:gd name="T30" fmla="*/ 137 w 272"/>
                  <a:gd name="T31" fmla="*/ 711 h 711"/>
                  <a:gd name="T32" fmla="*/ 105 w 272"/>
                  <a:gd name="T33" fmla="*/ 708 h 711"/>
                  <a:gd name="T34" fmla="*/ 77 w 272"/>
                  <a:gd name="T35" fmla="*/ 697 h 711"/>
                  <a:gd name="T36" fmla="*/ 51 w 272"/>
                  <a:gd name="T37" fmla="*/ 682 h 711"/>
                  <a:gd name="T38" fmla="*/ 31 w 272"/>
                  <a:gd name="T39" fmla="*/ 662 h 711"/>
                  <a:gd name="T40" fmla="*/ 15 w 272"/>
                  <a:gd name="T41" fmla="*/ 636 h 711"/>
                  <a:gd name="T42" fmla="*/ 4 w 272"/>
                  <a:gd name="T43" fmla="*/ 609 h 711"/>
                  <a:gd name="T44" fmla="*/ 0 w 272"/>
                  <a:gd name="T45" fmla="*/ 578 h 711"/>
                  <a:gd name="T46" fmla="*/ 0 w 272"/>
                  <a:gd name="T47" fmla="*/ 133 h 711"/>
                  <a:gd name="T48" fmla="*/ 4 w 272"/>
                  <a:gd name="T49" fmla="*/ 103 h 711"/>
                  <a:gd name="T50" fmla="*/ 15 w 272"/>
                  <a:gd name="T51" fmla="*/ 74 h 711"/>
                  <a:gd name="T52" fmla="*/ 31 w 272"/>
                  <a:gd name="T53" fmla="*/ 50 h 711"/>
                  <a:gd name="T54" fmla="*/ 51 w 272"/>
                  <a:gd name="T55" fmla="*/ 29 h 711"/>
                  <a:gd name="T56" fmla="*/ 77 w 272"/>
                  <a:gd name="T57" fmla="*/ 13 h 711"/>
                  <a:gd name="T58" fmla="*/ 105 w 272"/>
                  <a:gd name="T59" fmla="*/ 4 h 711"/>
                  <a:gd name="T60" fmla="*/ 137 w 272"/>
                  <a:gd name="T61" fmla="*/ 0 h 7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72" h="711">
                    <a:moveTo>
                      <a:pt x="137" y="0"/>
                    </a:moveTo>
                    <a:lnTo>
                      <a:pt x="167" y="4"/>
                    </a:lnTo>
                    <a:lnTo>
                      <a:pt x="196" y="13"/>
                    </a:lnTo>
                    <a:lnTo>
                      <a:pt x="222" y="29"/>
                    </a:lnTo>
                    <a:lnTo>
                      <a:pt x="242" y="50"/>
                    </a:lnTo>
                    <a:lnTo>
                      <a:pt x="258" y="74"/>
                    </a:lnTo>
                    <a:lnTo>
                      <a:pt x="268" y="103"/>
                    </a:lnTo>
                    <a:lnTo>
                      <a:pt x="272" y="133"/>
                    </a:lnTo>
                    <a:lnTo>
                      <a:pt x="272" y="578"/>
                    </a:lnTo>
                    <a:lnTo>
                      <a:pt x="268" y="609"/>
                    </a:lnTo>
                    <a:lnTo>
                      <a:pt x="258" y="636"/>
                    </a:lnTo>
                    <a:lnTo>
                      <a:pt x="242" y="662"/>
                    </a:lnTo>
                    <a:lnTo>
                      <a:pt x="222" y="682"/>
                    </a:lnTo>
                    <a:lnTo>
                      <a:pt x="196" y="697"/>
                    </a:lnTo>
                    <a:lnTo>
                      <a:pt x="167" y="708"/>
                    </a:lnTo>
                    <a:lnTo>
                      <a:pt x="137" y="711"/>
                    </a:lnTo>
                    <a:lnTo>
                      <a:pt x="105" y="708"/>
                    </a:lnTo>
                    <a:lnTo>
                      <a:pt x="77" y="697"/>
                    </a:lnTo>
                    <a:lnTo>
                      <a:pt x="51" y="682"/>
                    </a:lnTo>
                    <a:lnTo>
                      <a:pt x="31" y="662"/>
                    </a:lnTo>
                    <a:lnTo>
                      <a:pt x="15" y="636"/>
                    </a:lnTo>
                    <a:lnTo>
                      <a:pt x="4" y="609"/>
                    </a:lnTo>
                    <a:lnTo>
                      <a:pt x="0" y="578"/>
                    </a:lnTo>
                    <a:lnTo>
                      <a:pt x="0" y="133"/>
                    </a:lnTo>
                    <a:lnTo>
                      <a:pt x="4" y="103"/>
                    </a:lnTo>
                    <a:lnTo>
                      <a:pt x="15" y="74"/>
                    </a:lnTo>
                    <a:lnTo>
                      <a:pt x="31" y="50"/>
                    </a:lnTo>
                    <a:lnTo>
                      <a:pt x="51" y="29"/>
                    </a:lnTo>
                    <a:lnTo>
                      <a:pt x="77" y="13"/>
                    </a:lnTo>
                    <a:lnTo>
                      <a:pt x="105" y="4"/>
                    </a:lnTo>
                    <a:lnTo>
                      <a:pt x="13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52" name="Freeform 8">
                <a:extLst>
                  <a:ext uri="{FF2B5EF4-FFF2-40B4-BE49-F238E27FC236}">
                    <a16:creationId xmlns:a16="http://schemas.microsoft.com/office/drawing/2014/main" id="{F0FF551A-0CE4-17A7-A85A-AF45ECB52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012" y="5818986"/>
                <a:ext cx="33131" cy="108406"/>
              </a:xfrm>
              <a:custGeom>
                <a:avLst/>
                <a:gdLst>
                  <a:gd name="T0" fmla="*/ 136 w 271"/>
                  <a:gd name="T1" fmla="*/ 0 h 890"/>
                  <a:gd name="T2" fmla="*/ 166 w 271"/>
                  <a:gd name="T3" fmla="*/ 4 h 890"/>
                  <a:gd name="T4" fmla="*/ 195 w 271"/>
                  <a:gd name="T5" fmla="*/ 15 h 890"/>
                  <a:gd name="T6" fmla="*/ 220 w 271"/>
                  <a:gd name="T7" fmla="*/ 30 h 890"/>
                  <a:gd name="T8" fmla="*/ 242 w 271"/>
                  <a:gd name="T9" fmla="*/ 51 h 890"/>
                  <a:gd name="T10" fmla="*/ 257 w 271"/>
                  <a:gd name="T11" fmla="*/ 76 h 890"/>
                  <a:gd name="T12" fmla="*/ 267 w 271"/>
                  <a:gd name="T13" fmla="*/ 104 h 890"/>
                  <a:gd name="T14" fmla="*/ 271 w 271"/>
                  <a:gd name="T15" fmla="*/ 135 h 890"/>
                  <a:gd name="T16" fmla="*/ 271 w 271"/>
                  <a:gd name="T17" fmla="*/ 757 h 890"/>
                  <a:gd name="T18" fmla="*/ 267 w 271"/>
                  <a:gd name="T19" fmla="*/ 788 h 890"/>
                  <a:gd name="T20" fmla="*/ 257 w 271"/>
                  <a:gd name="T21" fmla="*/ 815 h 890"/>
                  <a:gd name="T22" fmla="*/ 242 w 271"/>
                  <a:gd name="T23" fmla="*/ 841 h 890"/>
                  <a:gd name="T24" fmla="*/ 220 w 271"/>
                  <a:gd name="T25" fmla="*/ 861 h 890"/>
                  <a:gd name="T26" fmla="*/ 195 w 271"/>
                  <a:gd name="T27" fmla="*/ 876 h 890"/>
                  <a:gd name="T28" fmla="*/ 166 w 271"/>
                  <a:gd name="T29" fmla="*/ 887 h 890"/>
                  <a:gd name="T30" fmla="*/ 136 w 271"/>
                  <a:gd name="T31" fmla="*/ 890 h 890"/>
                  <a:gd name="T32" fmla="*/ 104 w 271"/>
                  <a:gd name="T33" fmla="*/ 887 h 890"/>
                  <a:gd name="T34" fmla="*/ 76 w 271"/>
                  <a:gd name="T35" fmla="*/ 876 h 890"/>
                  <a:gd name="T36" fmla="*/ 51 w 271"/>
                  <a:gd name="T37" fmla="*/ 861 h 890"/>
                  <a:gd name="T38" fmla="*/ 30 w 271"/>
                  <a:gd name="T39" fmla="*/ 841 h 890"/>
                  <a:gd name="T40" fmla="*/ 14 w 271"/>
                  <a:gd name="T41" fmla="*/ 815 h 890"/>
                  <a:gd name="T42" fmla="*/ 3 w 271"/>
                  <a:gd name="T43" fmla="*/ 788 h 890"/>
                  <a:gd name="T44" fmla="*/ 0 w 271"/>
                  <a:gd name="T45" fmla="*/ 757 h 890"/>
                  <a:gd name="T46" fmla="*/ 0 w 271"/>
                  <a:gd name="T47" fmla="*/ 135 h 890"/>
                  <a:gd name="T48" fmla="*/ 3 w 271"/>
                  <a:gd name="T49" fmla="*/ 104 h 890"/>
                  <a:gd name="T50" fmla="*/ 14 w 271"/>
                  <a:gd name="T51" fmla="*/ 76 h 890"/>
                  <a:gd name="T52" fmla="*/ 30 w 271"/>
                  <a:gd name="T53" fmla="*/ 51 h 890"/>
                  <a:gd name="T54" fmla="*/ 51 w 271"/>
                  <a:gd name="T55" fmla="*/ 30 h 890"/>
                  <a:gd name="T56" fmla="*/ 76 w 271"/>
                  <a:gd name="T57" fmla="*/ 15 h 890"/>
                  <a:gd name="T58" fmla="*/ 104 w 271"/>
                  <a:gd name="T59" fmla="*/ 4 h 890"/>
                  <a:gd name="T60" fmla="*/ 136 w 271"/>
                  <a:gd name="T61" fmla="*/ 0 h 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71" h="890">
                    <a:moveTo>
                      <a:pt x="136" y="0"/>
                    </a:moveTo>
                    <a:lnTo>
                      <a:pt x="166" y="4"/>
                    </a:lnTo>
                    <a:lnTo>
                      <a:pt x="195" y="15"/>
                    </a:lnTo>
                    <a:lnTo>
                      <a:pt x="220" y="30"/>
                    </a:lnTo>
                    <a:lnTo>
                      <a:pt x="242" y="51"/>
                    </a:lnTo>
                    <a:lnTo>
                      <a:pt x="257" y="76"/>
                    </a:lnTo>
                    <a:lnTo>
                      <a:pt x="267" y="104"/>
                    </a:lnTo>
                    <a:lnTo>
                      <a:pt x="271" y="135"/>
                    </a:lnTo>
                    <a:lnTo>
                      <a:pt x="271" y="757"/>
                    </a:lnTo>
                    <a:lnTo>
                      <a:pt x="267" y="788"/>
                    </a:lnTo>
                    <a:lnTo>
                      <a:pt x="257" y="815"/>
                    </a:lnTo>
                    <a:lnTo>
                      <a:pt x="242" y="841"/>
                    </a:lnTo>
                    <a:lnTo>
                      <a:pt x="220" y="861"/>
                    </a:lnTo>
                    <a:lnTo>
                      <a:pt x="195" y="876"/>
                    </a:lnTo>
                    <a:lnTo>
                      <a:pt x="166" y="887"/>
                    </a:lnTo>
                    <a:lnTo>
                      <a:pt x="136" y="890"/>
                    </a:lnTo>
                    <a:lnTo>
                      <a:pt x="104" y="887"/>
                    </a:lnTo>
                    <a:lnTo>
                      <a:pt x="76" y="876"/>
                    </a:lnTo>
                    <a:lnTo>
                      <a:pt x="51" y="861"/>
                    </a:lnTo>
                    <a:lnTo>
                      <a:pt x="30" y="841"/>
                    </a:lnTo>
                    <a:lnTo>
                      <a:pt x="14" y="815"/>
                    </a:lnTo>
                    <a:lnTo>
                      <a:pt x="3" y="788"/>
                    </a:lnTo>
                    <a:lnTo>
                      <a:pt x="0" y="757"/>
                    </a:lnTo>
                    <a:lnTo>
                      <a:pt x="0" y="135"/>
                    </a:lnTo>
                    <a:lnTo>
                      <a:pt x="3" y="104"/>
                    </a:lnTo>
                    <a:lnTo>
                      <a:pt x="14" y="76"/>
                    </a:lnTo>
                    <a:lnTo>
                      <a:pt x="30" y="51"/>
                    </a:lnTo>
                    <a:lnTo>
                      <a:pt x="51" y="30"/>
                    </a:lnTo>
                    <a:lnTo>
                      <a:pt x="76" y="15"/>
                    </a:lnTo>
                    <a:lnTo>
                      <a:pt x="104" y="4"/>
                    </a:lnTo>
                    <a:lnTo>
                      <a:pt x="13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53" name="Freeform 9">
                <a:extLst>
                  <a:ext uri="{FF2B5EF4-FFF2-40B4-BE49-F238E27FC236}">
                    <a16:creationId xmlns:a16="http://schemas.microsoft.com/office/drawing/2014/main" id="{80B4D620-E54D-AE90-0731-A61D8C8A3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63311" y="5797548"/>
                <a:ext cx="32887" cy="129844"/>
              </a:xfrm>
              <a:custGeom>
                <a:avLst/>
                <a:gdLst>
                  <a:gd name="T0" fmla="*/ 135 w 270"/>
                  <a:gd name="T1" fmla="*/ 0 h 1067"/>
                  <a:gd name="T2" fmla="*/ 165 w 270"/>
                  <a:gd name="T3" fmla="*/ 4 h 1067"/>
                  <a:gd name="T4" fmla="*/ 195 w 270"/>
                  <a:gd name="T5" fmla="*/ 13 h 1067"/>
                  <a:gd name="T6" fmla="*/ 219 w 270"/>
                  <a:gd name="T7" fmla="*/ 29 h 1067"/>
                  <a:gd name="T8" fmla="*/ 241 w 270"/>
                  <a:gd name="T9" fmla="*/ 50 h 1067"/>
                  <a:gd name="T10" fmla="*/ 257 w 270"/>
                  <a:gd name="T11" fmla="*/ 74 h 1067"/>
                  <a:gd name="T12" fmla="*/ 266 w 270"/>
                  <a:gd name="T13" fmla="*/ 103 h 1067"/>
                  <a:gd name="T14" fmla="*/ 270 w 270"/>
                  <a:gd name="T15" fmla="*/ 133 h 1067"/>
                  <a:gd name="T16" fmla="*/ 270 w 270"/>
                  <a:gd name="T17" fmla="*/ 934 h 1067"/>
                  <a:gd name="T18" fmla="*/ 266 w 270"/>
                  <a:gd name="T19" fmla="*/ 965 h 1067"/>
                  <a:gd name="T20" fmla="*/ 257 w 270"/>
                  <a:gd name="T21" fmla="*/ 992 h 1067"/>
                  <a:gd name="T22" fmla="*/ 241 w 270"/>
                  <a:gd name="T23" fmla="*/ 1018 h 1067"/>
                  <a:gd name="T24" fmla="*/ 219 w 270"/>
                  <a:gd name="T25" fmla="*/ 1038 h 1067"/>
                  <a:gd name="T26" fmla="*/ 195 w 270"/>
                  <a:gd name="T27" fmla="*/ 1053 h 1067"/>
                  <a:gd name="T28" fmla="*/ 165 w 270"/>
                  <a:gd name="T29" fmla="*/ 1064 h 1067"/>
                  <a:gd name="T30" fmla="*/ 135 w 270"/>
                  <a:gd name="T31" fmla="*/ 1067 h 1067"/>
                  <a:gd name="T32" fmla="*/ 103 w 270"/>
                  <a:gd name="T33" fmla="*/ 1064 h 1067"/>
                  <a:gd name="T34" fmla="*/ 75 w 270"/>
                  <a:gd name="T35" fmla="*/ 1053 h 1067"/>
                  <a:gd name="T36" fmla="*/ 50 w 270"/>
                  <a:gd name="T37" fmla="*/ 1038 h 1067"/>
                  <a:gd name="T38" fmla="*/ 29 w 270"/>
                  <a:gd name="T39" fmla="*/ 1018 h 1067"/>
                  <a:gd name="T40" fmla="*/ 13 w 270"/>
                  <a:gd name="T41" fmla="*/ 992 h 1067"/>
                  <a:gd name="T42" fmla="*/ 4 w 270"/>
                  <a:gd name="T43" fmla="*/ 965 h 1067"/>
                  <a:gd name="T44" fmla="*/ 0 w 270"/>
                  <a:gd name="T45" fmla="*/ 934 h 1067"/>
                  <a:gd name="T46" fmla="*/ 0 w 270"/>
                  <a:gd name="T47" fmla="*/ 133 h 1067"/>
                  <a:gd name="T48" fmla="*/ 4 w 270"/>
                  <a:gd name="T49" fmla="*/ 103 h 1067"/>
                  <a:gd name="T50" fmla="*/ 13 w 270"/>
                  <a:gd name="T51" fmla="*/ 74 h 1067"/>
                  <a:gd name="T52" fmla="*/ 29 w 270"/>
                  <a:gd name="T53" fmla="*/ 50 h 1067"/>
                  <a:gd name="T54" fmla="*/ 50 w 270"/>
                  <a:gd name="T55" fmla="*/ 29 h 1067"/>
                  <a:gd name="T56" fmla="*/ 75 w 270"/>
                  <a:gd name="T57" fmla="*/ 13 h 1067"/>
                  <a:gd name="T58" fmla="*/ 103 w 270"/>
                  <a:gd name="T59" fmla="*/ 4 h 1067"/>
                  <a:gd name="T60" fmla="*/ 135 w 270"/>
                  <a:gd name="T61" fmla="*/ 0 h 1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70" h="1067">
                    <a:moveTo>
                      <a:pt x="135" y="0"/>
                    </a:moveTo>
                    <a:lnTo>
                      <a:pt x="165" y="4"/>
                    </a:lnTo>
                    <a:lnTo>
                      <a:pt x="195" y="13"/>
                    </a:lnTo>
                    <a:lnTo>
                      <a:pt x="219" y="29"/>
                    </a:lnTo>
                    <a:lnTo>
                      <a:pt x="241" y="50"/>
                    </a:lnTo>
                    <a:lnTo>
                      <a:pt x="257" y="74"/>
                    </a:lnTo>
                    <a:lnTo>
                      <a:pt x="266" y="103"/>
                    </a:lnTo>
                    <a:lnTo>
                      <a:pt x="270" y="133"/>
                    </a:lnTo>
                    <a:lnTo>
                      <a:pt x="270" y="934"/>
                    </a:lnTo>
                    <a:lnTo>
                      <a:pt x="266" y="965"/>
                    </a:lnTo>
                    <a:lnTo>
                      <a:pt x="257" y="992"/>
                    </a:lnTo>
                    <a:lnTo>
                      <a:pt x="241" y="1018"/>
                    </a:lnTo>
                    <a:lnTo>
                      <a:pt x="219" y="1038"/>
                    </a:lnTo>
                    <a:lnTo>
                      <a:pt x="195" y="1053"/>
                    </a:lnTo>
                    <a:lnTo>
                      <a:pt x="165" y="1064"/>
                    </a:lnTo>
                    <a:lnTo>
                      <a:pt x="135" y="1067"/>
                    </a:lnTo>
                    <a:lnTo>
                      <a:pt x="103" y="1064"/>
                    </a:lnTo>
                    <a:lnTo>
                      <a:pt x="75" y="1053"/>
                    </a:lnTo>
                    <a:lnTo>
                      <a:pt x="50" y="1038"/>
                    </a:lnTo>
                    <a:lnTo>
                      <a:pt x="29" y="1018"/>
                    </a:lnTo>
                    <a:lnTo>
                      <a:pt x="13" y="992"/>
                    </a:lnTo>
                    <a:lnTo>
                      <a:pt x="4" y="965"/>
                    </a:lnTo>
                    <a:lnTo>
                      <a:pt x="0" y="934"/>
                    </a:lnTo>
                    <a:lnTo>
                      <a:pt x="0" y="133"/>
                    </a:lnTo>
                    <a:lnTo>
                      <a:pt x="4" y="103"/>
                    </a:lnTo>
                    <a:lnTo>
                      <a:pt x="13" y="74"/>
                    </a:lnTo>
                    <a:lnTo>
                      <a:pt x="29" y="50"/>
                    </a:lnTo>
                    <a:lnTo>
                      <a:pt x="50" y="29"/>
                    </a:lnTo>
                    <a:lnTo>
                      <a:pt x="75" y="13"/>
                    </a:lnTo>
                    <a:lnTo>
                      <a:pt x="103" y="4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54" name="Freeform 10">
                <a:extLst>
                  <a:ext uri="{FF2B5EF4-FFF2-40B4-BE49-F238E27FC236}">
                    <a16:creationId xmlns:a16="http://schemas.microsoft.com/office/drawing/2014/main" id="{0ED31B0B-61A5-DD36-92BD-32DE7DA442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76219" y="5683783"/>
                <a:ext cx="483808" cy="314012"/>
              </a:xfrm>
              <a:custGeom>
                <a:avLst/>
                <a:gdLst>
                  <a:gd name="T0" fmla="*/ 3791 w 3971"/>
                  <a:gd name="T1" fmla="*/ 0 h 2578"/>
                  <a:gd name="T2" fmla="*/ 3862 w 3971"/>
                  <a:gd name="T3" fmla="*/ 13 h 2578"/>
                  <a:gd name="T4" fmla="*/ 3919 w 3971"/>
                  <a:gd name="T5" fmla="*/ 51 h 2578"/>
                  <a:gd name="T6" fmla="*/ 3958 w 3971"/>
                  <a:gd name="T7" fmla="*/ 107 h 2578"/>
                  <a:gd name="T8" fmla="*/ 3971 w 3971"/>
                  <a:gd name="T9" fmla="*/ 177 h 2578"/>
                  <a:gd name="T10" fmla="*/ 3729 w 3971"/>
                  <a:gd name="T11" fmla="*/ 1954 h 2578"/>
                  <a:gd name="T12" fmla="*/ 3797 w 3971"/>
                  <a:gd name="T13" fmla="*/ 1807 h 2578"/>
                  <a:gd name="T14" fmla="*/ 3840 w 3971"/>
                  <a:gd name="T15" fmla="*/ 1650 h 2578"/>
                  <a:gd name="T16" fmla="*/ 3855 w 3971"/>
                  <a:gd name="T17" fmla="*/ 1488 h 2578"/>
                  <a:gd name="T18" fmla="*/ 3841 w 3971"/>
                  <a:gd name="T19" fmla="*/ 1333 h 2578"/>
                  <a:gd name="T20" fmla="*/ 3805 w 3971"/>
                  <a:gd name="T21" fmla="*/ 1185 h 2578"/>
                  <a:gd name="T22" fmla="*/ 3744 w 3971"/>
                  <a:gd name="T23" fmla="*/ 1046 h 2578"/>
                  <a:gd name="T24" fmla="*/ 3660 w 3971"/>
                  <a:gd name="T25" fmla="*/ 916 h 2578"/>
                  <a:gd name="T26" fmla="*/ 3610 w 3971"/>
                  <a:gd name="T27" fmla="*/ 356 h 2578"/>
                  <a:gd name="T28" fmla="*/ 361 w 3971"/>
                  <a:gd name="T29" fmla="*/ 2223 h 2578"/>
                  <a:gd name="T30" fmla="*/ 2328 w 3971"/>
                  <a:gd name="T31" fmla="*/ 2268 h 2578"/>
                  <a:gd name="T32" fmla="*/ 2455 w 3971"/>
                  <a:gd name="T33" fmla="*/ 2342 h 2578"/>
                  <a:gd name="T34" fmla="*/ 2591 w 3971"/>
                  <a:gd name="T35" fmla="*/ 2398 h 2578"/>
                  <a:gd name="T36" fmla="*/ 2736 w 3971"/>
                  <a:gd name="T37" fmla="*/ 2431 h 2578"/>
                  <a:gd name="T38" fmla="*/ 2885 w 3971"/>
                  <a:gd name="T39" fmla="*/ 2442 h 2578"/>
                  <a:gd name="T40" fmla="*/ 3051 w 3971"/>
                  <a:gd name="T41" fmla="*/ 2427 h 2578"/>
                  <a:gd name="T42" fmla="*/ 3210 w 3971"/>
                  <a:gd name="T43" fmla="*/ 2387 h 2578"/>
                  <a:gd name="T44" fmla="*/ 3360 w 3971"/>
                  <a:gd name="T45" fmla="*/ 2318 h 2578"/>
                  <a:gd name="T46" fmla="*/ 3615 w 3971"/>
                  <a:gd name="T47" fmla="*/ 2570 h 2578"/>
                  <a:gd name="T48" fmla="*/ 3626 w 3971"/>
                  <a:gd name="T49" fmla="*/ 2578 h 2578"/>
                  <a:gd name="T50" fmla="*/ 145 w 3971"/>
                  <a:gd name="T51" fmla="*/ 2575 h 2578"/>
                  <a:gd name="T52" fmla="*/ 80 w 3971"/>
                  <a:gd name="T53" fmla="*/ 2549 h 2578"/>
                  <a:gd name="T54" fmla="*/ 30 w 3971"/>
                  <a:gd name="T55" fmla="*/ 2499 h 2578"/>
                  <a:gd name="T56" fmla="*/ 4 w 3971"/>
                  <a:gd name="T57" fmla="*/ 2436 h 2578"/>
                  <a:gd name="T58" fmla="*/ 0 w 3971"/>
                  <a:gd name="T59" fmla="*/ 177 h 2578"/>
                  <a:gd name="T60" fmla="*/ 15 w 3971"/>
                  <a:gd name="T61" fmla="*/ 109 h 2578"/>
                  <a:gd name="T62" fmla="*/ 54 w 3971"/>
                  <a:gd name="T63" fmla="*/ 51 h 2578"/>
                  <a:gd name="T64" fmla="*/ 111 w 3971"/>
                  <a:gd name="T65" fmla="*/ 13 h 2578"/>
                  <a:gd name="T66" fmla="*/ 181 w 3971"/>
                  <a:gd name="T67" fmla="*/ 0 h 2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971" h="2578">
                    <a:moveTo>
                      <a:pt x="181" y="0"/>
                    </a:moveTo>
                    <a:lnTo>
                      <a:pt x="3791" y="0"/>
                    </a:lnTo>
                    <a:lnTo>
                      <a:pt x="3828" y="3"/>
                    </a:lnTo>
                    <a:lnTo>
                      <a:pt x="3862" y="13"/>
                    </a:lnTo>
                    <a:lnTo>
                      <a:pt x="3892" y="30"/>
                    </a:lnTo>
                    <a:lnTo>
                      <a:pt x="3919" y="51"/>
                    </a:lnTo>
                    <a:lnTo>
                      <a:pt x="3941" y="77"/>
                    </a:lnTo>
                    <a:lnTo>
                      <a:pt x="3958" y="107"/>
                    </a:lnTo>
                    <a:lnTo>
                      <a:pt x="3968" y="141"/>
                    </a:lnTo>
                    <a:lnTo>
                      <a:pt x="3971" y="177"/>
                    </a:lnTo>
                    <a:lnTo>
                      <a:pt x="3971" y="2194"/>
                    </a:lnTo>
                    <a:lnTo>
                      <a:pt x="3729" y="1954"/>
                    </a:lnTo>
                    <a:lnTo>
                      <a:pt x="3767" y="1882"/>
                    </a:lnTo>
                    <a:lnTo>
                      <a:pt x="3797" y="1807"/>
                    </a:lnTo>
                    <a:lnTo>
                      <a:pt x="3822" y="1730"/>
                    </a:lnTo>
                    <a:lnTo>
                      <a:pt x="3840" y="1650"/>
                    </a:lnTo>
                    <a:lnTo>
                      <a:pt x="3851" y="1569"/>
                    </a:lnTo>
                    <a:lnTo>
                      <a:pt x="3855" y="1488"/>
                    </a:lnTo>
                    <a:lnTo>
                      <a:pt x="3851" y="1410"/>
                    </a:lnTo>
                    <a:lnTo>
                      <a:pt x="3841" y="1333"/>
                    </a:lnTo>
                    <a:lnTo>
                      <a:pt x="3825" y="1258"/>
                    </a:lnTo>
                    <a:lnTo>
                      <a:pt x="3805" y="1185"/>
                    </a:lnTo>
                    <a:lnTo>
                      <a:pt x="3777" y="1114"/>
                    </a:lnTo>
                    <a:lnTo>
                      <a:pt x="3744" y="1046"/>
                    </a:lnTo>
                    <a:lnTo>
                      <a:pt x="3705" y="979"/>
                    </a:lnTo>
                    <a:lnTo>
                      <a:pt x="3660" y="916"/>
                    </a:lnTo>
                    <a:lnTo>
                      <a:pt x="3610" y="856"/>
                    </a:lnTo>
                    <a:lnTo>
                      <a:pt x="3610" y="356"/>
                    </a:lnTo>
                    <a:lnTo>
                      <a:pt x="361" y="356"/>
                    </a:lnTo>
                    <a:lnTo>
                      <a:pt x="361" y="2223"/>
                    </a:lnTo>
                    <a:lnTo>
                      <a:pt x="2269" y="2223"/>
                    </a:lnTo>
                    <a:lnTo>
                      <a:pt x="2328" y="2268"/>
                    </a:lnTo>
                    <a:lnTo>
                      <a:pt x="2390" y="2308"/>
                    </a:lnTo>
                    <a:lnTo>
                      <a:pt x="2455" y="2342"/>
                    </a:lnTo>
                    <a:lnTo>
                      <a:pt x="2522" y="2372"/>
                    </a:lnTo>
                    <a:lnTo>
                      <a:pt x="2591" y="2398"/>
                    </a:lnTo>
                    <a:lnTo>
                      <a:pt x="2663" y="2417"/>
                    </a:lnTo>
                    <a:lnTo>
                      <a:pt x="2736" y="2431"/>
                    </a:lnTo>
                    <a:lnTo>
                      <a:pt x="2810" y="2439"/>
                    </a:lnTo>
                    <a:lnTo>
                      <a:pt x="2885" y="2442"/>
                    </a:lnTo>
                    <a:lnTo>
                      <a:pt x="2969" y="2438"/>
                    </a:lnTo>
                    <a:lnTo>
                      <a:pt x="3051" y="2427"/>
                    </a:lnTo>
                    <a:lnTo>
                      <a:pt x="3131" y="2411"/>
                    </a:lnTo>
                    <a:lnTo>
                      <a:pt x="3210" y="2387"/>
                    </a:lnTo>
                    <a:lnTo>
                      <a:pt x="3287" y="2356"/>
                    </a:lnTo>
                    <a:lnTo>
                      <a:pt x="3360" y="2318"/>
                    </a:lnTo>
                    <a:lnTo>
                      <a:pt x="3610" y="2565"/>
                    </a:lnTo>
                    <a:lnTo>
                      <a:pt x="3615" y="2570"/>
                    </a:lnTo>
                    <a:lnTo>
                      <a:pt x="3621" y="2574"/>
                    </a:lnTo>
                    <a:lnTo>
                      <a:pt x="3626" y="2578"/>
                    </a:lnTo>
                    <a:lnTo>
                      <a:pt x="181" y="2578"/>
                    </a:lnTo>
                    <a:lnTo>
                      <a:pt x="145" y="2575"/>
                    </a:lnTo>
                    <a:lnTo>
                      <a:pt x="111" y="2564"/>
                    </a:lnTo>
                    <a:lnTo>
                      <a:pt x="80" y="2549"/>
                    </a:lnTo>
                    <a:lnTo>
                      <a:pt x="54" y="2526"/>
                    </a:lnTo>
                    <a:lnTo>
                      <a:pt x="30" y="2499"/>
                    </a:lnTo>
                    <a:lnTo>
                      <a:pt x="15" y="2469"/>
                    </a:lnTo>
                    <a:lnTo>
                      <a:pt x="4" y="2436"/>
                    </a:lnTo>
                    <a:lnTo>
                      <a:pt x="0" y="2401"/>
                    </a:lnTo>
                    <a:lnTo>
                      <a:pt x="0" y="177"/>
                    </a:lnTo>
                    <a:lnTo>
                      <a:pt x="4" y="141"/>
                    </a:lnTo>
                    <a:lnTo>
                      <a:pt x="15" y="109"/>
                    </a:lnTo>
                    <a:lnTo>
                      <a:pt x="30" y="77"/>
                    </a:lnTo>
                    <a:lnTo>
                      <a:pt x="54" y="51"/>
                    </a:lnTo>
                    <a:lnTo>
                      <a:pt x="80" y="30"/>
                    </a:lnTo>
                    <a:lnTo>
                      <a:pt x="111" y="13"/>
                    </a:lnTo>
                    <a:lnTo>
                      <a:pt x="145" y="3"/>
                    </a:lnTo>
                    <a:lnTo>
                      <a:pt x="18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55" name="Freeform 11">
                <a:extLst>
                  <a:ext uri="{FF2B5EF4-FFF2-40B4-BE49-F238E27FC236}">
                    <a16:creationId xmlns:a16="http://schemas.microsoft.com/office/drawing/2014/main" id="{EE6CCBAC-BED8-C6B0-6FA1-E28D852EE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31765" y="5770508"/>
                <a:ext cx="216569" cy="213158"/>
              </a:xfrm>
              <a:custGeom>
                <a:avLst/>
                <a:gdLst>
                  <a:gd name="T0" fmla="*/ 665 w 1778"/>
                  <a:gd name="T1" fmla="*/ 172 h 1751"/>
                  <a:gd name="T2" fmla="*/ 494 w 1778"/>
                  <a:gd name="T3" fmla="*/ 232 h 1751"/>
                  <a:gd name="T4" fmla="*/ 345 w 1778"/>
                  <a:gd name="T5" fmla="*/ 341 h 1751"/>
                  <a:gd name="T6" fmla="*/ 236 w 1778"/>
                  <a:gd name="T7" fmla="*/ 486 h 1751"/>
                  <a:gd name="T8" fmla="*/ 174 w 1778"/>
                  <a:gd name="T9" fmla="*/ 656 h 1751"/>
                  <a:gd name="T10" fmla="*/ 165 w 1778"/>
                  <a:gd name="T11" fmla="*/ 838 h 1751"/>
                  <a:gd name="T12" fmla="*/ 209 w 1778"/>
                  <a:gd name="T13" fmla="*/ 1013 h 1751"/>
                  <a:gd name="T14" fmla="*/ 304 w 1778"/>
                  <a:gd name="T15" fmla="*/ 1168 h 1751"/>
                  <a:gd name="T16" fmla="*/ 442 w 1778"/>
                  <a:gd name="T17" fmla="*/ 1290 h 1751"/>
                  <a:gd name="T18" fmla="*/ 606 w 1778"/>
                  <a:gd name="T19" fmla="*/ 1368 h 1751"/>
                  <a:gd name="T20" fmla="*/ 788 w 1778"/>
                  <a:gd name="T21" fmla="*/ 1394 h 1751"/>
                  <a:gd name="T22" fmla="*/ 971 w 1778"/>
                  <a:gd name="T23" fmla="*/ 1368 h 1751"/>
                  <a:gd name="T24" fmla="*/ 1136 w 1778"/>
                  <a:gd name="T25" fmla="*/ 1290 h 1751"/>
                  <a:gd name="T26" fmla="*/ 1274 w 1778"/>
                  <a:gd name="T27" fmla="*/ 1168 h 1751"/>
                  <a:gd name="T28" fmla="*/ 1367 w 1778"/>
                  <a:gd name="T29" fmla="*/ 1013 h 1751"/>
                  <a:gd name="T30" fmla="*/ 1412 w 1778"/>
                  <a:gd name="T31" fmla="*/ 838 h 1751"/>
                  <a:gd name="T32" fmla="*/ 1402 w 1778"/>
                  <a:gd name="T33" fmla="*/ 656 h 1751"/>
                  <a:gd name="T34" fmla="*/ 1342 w 1778"/>
                  <a:gd name="T35" fmla="*/ 486 h 1751"/>
                  <a:gd name="T36" fmla="*/ 1232 w 1778"/>
                  <a:gd name="T37" fmla="*/ 341 h 1751"/>
                  <a:gd name="T38" fmla="*/ 1084 w 1778"/>
                  <a:gd name="T39" fmla="*/ 232 h 1751"/>
                  <a:gd name="T40" fmla="*/ 912 w 1778"/>
                  <a:gd name="T41" fmla="*/ 172 h 1751"/>
                  <a:gd name="T42" fmla="*/ 788 w 1778"/>
                  <a:gd name="T43" fmla="*/ 0 h 1751"/>
                  <a:gd name="T44" fmla="*/ 994 w 1778"/>
                  <a:gd name="T45" fmla="*/ 27 h 1751"/>
                  <a:gd name="T46" fmla="*/ 1182 w 1778"/>
                  <a:gd name="T47" fmla="*/ 103 h 1751"/>
                  <a:gd name="T48" fmla="*/ 1347 w 1778"/>
                  <a:gd name="T49" fmla="*/ 228 h 1751"/>
                  <a:gd name="T50" fmla="*/ 1472 w 1778"/>
                  <a:gd name="T51" fmla="*/ 389 h 1751"/>
                  <a:gd name="T52" fmla="*/ 1550 w 1778"/>
                  <a:gd name="T53" fmla="*/ 574 h 1751"/>
                  <a:gd name="T54" fmla="*/ 1576 w 1778"/>
                  <a:gd name="T55" fmla="*/ 777 h 1751"/>
                  <a:gd name="T56" fmla="*/ 1547 w 1778"/>
                  <a:gd name="T57" fmla="*/ 985 h 1751"/>
                  <a:gd name="T58" fmla="*/ 1465 w 1778"/>
                  <a:gd name="T59" fmla="*/ 1176 h 1751"/>
                  <a:gd name="T60" fmla="*/ 1417 w 1778"/>
                  <a:gd name="T61" fmla="*/ 1326 h 1751"/>
                  <a:gd name="T62" fmla="*/ 1469 w 1778"/>
                  <a:gd name="T63" fmla="*/ 1338 h 1751"/>
                  <a:gd name="T64" fmla="*/ 1769 w 1778"/>
                  <a:gd name="T65" fmla="*/ 1634 h 1751"/>
                  <a:gd name="T66" fmla="*/ 1776 w 1778"/>
                  <a:gd name="T67" fmla="*/ 1693 h 1751"/>
                  <a:gd name="T68" fmla="*/ 1738 w 1778"/>
                  <a:gd name="T69" fmla="*/ 1742 h 1751"/>
                  <a:gd name="T70" fmla="*/ 1677 w 1778"/>
                  <a:gd name="T71" fmla="*/ 1749 h 1751"/>
                  <a:gd name="T72" fmla="*/ 1370 w 1778"/>
                  <a:gd name="T73" fmla="*/ 1461 h 1751"/>
                  <a:gd name="T74" fmla="*/ 1347 w 1778"/>
                  <a:gd name="T75" fmla="*/ 1414 h 1751"/>
                  <a:gd name="T76" fmla="*/ 1253 w 1778"/>
                  <a:gd name="T77" fmla="*/ 1404 h 1751"/>
                  <a:gd name="T78" fmla="*/ 1067 w 1778"/>
                  <a:gd name="T79" fmla="*/ 1503 h 1751"/>
                  <a:gd name="T80" fmla="*/ 860 w 1778"/>
                  <a:gd name="T81" fmla="*/ 1550 h 1751"/>
                  <a:gd name="T82" fmla="*/ 651 w 1778"/>
                  <a:gd name="T83" fmla="*/ 1542 h 1751"/>
                  <a:gd name="T84" fmla="*/ 456 w 1778"/>
                  <a:gd name="T85" fmla="*/ 1480 h 1751"/>
                  <a:gd name="T86" fmla="*/ 283 w 1778"/>
                  <a:gd name="T87" fmla="*/ 1373 h 1751"/>
                  <a:gd name="T88" fmla="*/ 142 w 1778"/>
                  <a:gd name="T89" fmla="*/ 1222 h 1751"/>
                  <a:gd name="T90" fmla="*/ 47 w 1778"/>
                  <a:gd name="T91" fmla="*/ 1043 h 1751"/>
                  <a:gd name="T92" fmla="*/ 4 w 1778"/>
                  <a:gd name="T93" fmla="*/ 845 h 1751"/>
                  <a:gd name="T94" fmla="*/ 12 w 1778"/>
                  <a:gd name="T95" fmla="*/ 640 h 1751"/>
                  <a:gd name="T96" fmla="*/ 74 w 1778"/>
                  <a:gd name="T97" fmla="*/ 449 h 1751"/>
                  <a:gd name="T98" fmla="*/ 184 w 1778"/>
                  <a:gd name="T99" fmla="*/ 278 h 1751"/>
                  <a:gd name="T100" fmla="*/ 337 w 1778"/>
                  <a:gd name="T101" fmla="*/ 139 h 1751"/>
                  <a:gd name="T102" fmla="*/ 518 w 1778"/>
                  <a:gd name="T103" fmla="*/ 47 h 1751"/>
                  <a:gd name="T104" fmla="*/ 719 w 1778"/>
                  <a:gd name="T105" fmla="*/ 3 h 17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778" h="1751">
                    <a:moveTo>
                      <a:pt x="788" y="160"/>
                    </a:moveTo>
                    <a:lnTo>
                      <a:pt x="726" y="162"/>
                    </a:lnTo>
                    <a:lnTo>
                      <a:pt x="665" y="172"/>
                    </a:lnTo>
                    <a:lnTo>
                      <a:pt x="606" y="186"/>
                    </a:lnTo>
                    <a:lnTo>
                      <a:pt x="549" y="207"/>
                    </a:lnTo>
                    <a:lnTo>
                      <a:pt x="494" y="232"/>
                    </a:lnTo>
                    <a:lnTo>
                      <a:pt x="442" y="263"/>
                    </a:lnTo>
                    <a:lnTo>
                      <a:pt x="392" y="299"/>
                    </a:lnTo>
                    <a:lnTo>
                      <a:pt x="345" y="341"/>
                    </a:lnTo>
                    <a:lnTo>
                      <a:pt x="304" y="386"/>
                    </a:lnTo>
                    <a:lnTo>
                      <a:pt x="268" y="434"/>
                    </a:lnTo>
                    <a:lnTo>
                      <a:pt x="236" y="486"/>
                    </a:lnTo>
                    <a:lnTo>
                      <a:pt x="209" y="541"/>
                    </a:lnTo>
                    <a:lnTo>
                      <a:pt x="189" y="597"/>
                    </a:lnTo>
                    <a:lnTo>
                      <a:pt x="174" y="656"/>
                    </a:lnTo>
                    <a:lnTo>
                      <a:pt x="165" y="716"/>
                    </a:lnTo>
                    <a:lnTo>
                      <a:pt x="162" y="777"/>
                    </a:lnTo>
                    <a:lnTo>
                      <a:pt x="165" y="838"/>
                    </a:lnTo>
                    <a:lnTo>
                      <a:pt x="174" y="898"/>
                    </a:lnTo>
                    <a:lnTo>
                      <a:pt x="189" y="957"/>
                    </a:lnTo>
                    <a:lnTo>
                      <a:pt x="209" y="1013"/>
                    </a:lnTo>
                    <a:lnTo>
                      <a:pt x="236" y="1067"/>
                    </a:lnTo>
                    <a:lnTo>
                      <a:pt x="268" y="1118"/>
                    </a:lnTo>
                    <a:lnTo>
                      <a:pt x="304" y="1168"/>
                    </a:lnTo>
                    <a:lnTo>
                      <a:pt x="345" y="1213"/>
                    </a:lnTo>
                    <a:lnTo>
                      <a:pt x="392" y="1254"/>
                    </a:lnTo>
                    <a:lnTo>
                      <a:pt x="442" y="1290"/>
                    </a:lnTo>
                    <a:lnTo>
                      <a:pt x="494" y="1321"/>
                    </a:lnTo>
                    <a:lnTo>
                      <a:pt x="549" y="1347"/>
                    </a:lnTo>
                    <a:lnTo>
                      <a:pt x="606" y="1368"/>
                    </a:lnTo>
                    <a:lnTo>
                      <a:pt x="665" y="1382"/>
                    </a:lnTo>
                    <a:lnTo>
                      <a:pt x="726" y="1391"/>
                    </a:lnTo>
                    <a:lnTo>
                      <a:pt x="788" y="1394"/>
                    </a:lnTo>
                    <a:lnTo>
                      <a:pt x="850" y="1391"/>
                    </a:lnTo>
                    <a:lnTo>
                      <a:pt x="912" y="1382"/>
                    </a:lnTo>
                    <a:lnTo>
                      <a:pt x="971" y="1368"/>
                    </a:lnTo>
                    <a:lnTo>
                      <a:pt x="1029" y="1347"/>
                    </a:lnTo>
                    <a:lnTo>
                      <a:pt x="1084" y="1321"/>
                    </a:lnTo>
                    <a:lnTo>
                      <a:pt x="1136" y="1290"/>
                    </a:lnTo>
                    <a:lnTo>
                      <a:pt x="1186" y="1254"/>
                    </a:lnTo>
                    <a:lnTo>
                      <a:pt x="1232" y="1213"/>
                    </a:lnTo>
                    <a:lnTo>
                      <a:pt x="1274" y="1168"/>
                    </a:lnTo>
                    <a:lnTo>
                      <a:pt x="1310" y="1118"/>
                    </a:lnTo>
                    <a:lnTo>
                      <a:pt x="1342" y="1067"/>
                    </a:lnTo>
                    <a:lnTo>
                      <a:pt x="1367" y="1013"/>
                    </a:lnTo>
                    <a:lnTo>
                      <a:pt x="1388" y="957"/>
                    </a:lnTo>
                    <a:lnTo>
                      <a:pt x="1402" y="898"/>
                    </a:lnTo>
                    <a:lnTo>
                      <a:pt x="1412" y="838"/>
                    </a:lnTo>
                    <a:lnTo>
                      <a:pt x="1415" y="777"/>
                    </a:lnTo>
                    <a:lnTo>
                      <a:pt x="1412" y="716"/>
                    </a:lnTo>
                    <a:lnTo>
                      <a:pt x="1402" y="656"/>
                    </a:lnTo>
                    <a:lnTo>
                      <a:pt x="1388" y="597"/>
                    </a:lnTo>
                    <a:lnTo>
                      <a:pt x="1367" y="541"/>
                    </a:lnTo>
                    <a:lnTo>
                      <a:pt x="1342" y="486"/>
                    </a:lnTo>
                    <a:lnTo>
                      <a:pt x="1310" y="434"/>
                    </a:lnTo>
                    <a:lnTo>
                      <a:pt x="1274" y="386"/>
                    </a:lnTo>
                    <a:lnTo>
                      <a:pt x="1232" y="341"/>
                    </a:lnTo>
                    <a:lnTo>
                      <a:pt x="1186" y="299"/>
                    </a:lnTo>
                    <a:lnTo>
                      <a:pt x="1136" y="263"/>
                    </a:lnTo>
                    <a:lnTo>
                      <a:pt x="1084" y="232"/>
                    </a:lnTo>
                    <a:lnTo>
                      <a:pt x="1029" y="207"/>
                    </a:lnTo>
                    <a:lnTo>
                      <a:pt x="971" y="186"/>
                    </a:lnTo>
                    <a:lnTo>
                      <a:pt x="912" y="172"/>
                    </a:lnTo>
                    <a:lnTo>
                      <a:pt x="850" y="162"/>
                    </a:lnTo>
                    <a:lnTo>
                      <a:pt x="788" y="160"/>
                    </a:lnTo>
                    <a:close/>
                    <a:moveTo>
                      <a:pt x="788" y="0"/>
                    </a:moveTo>
                    <a:lnTo>
                      <a:pt x="859" y="3"/>
                    </a:lnTo>
                    <a:lnTo>
                      <a:pt x="927" y="12"/>
                    </a:lnTo>
                    <a:lnTo>
                      <a:pt x="994" y="27"/>
                    </a:lnTo>
                    <a:lnTo>
                      <a:pt x="1058" y="47"/>
                    </a:lnTo>
                    <a:lnTo>
                      <a:pt x="1121" y="72"/>
                    </a:lnTo>
                    <a:lnTo>
                      <a:pt x="1182" y="103"/>
                    </a:lnTo>
                    <a:lnTo>
                      <a:pt x="1239" y="139"/>
                    </a:lnTo>
                    <a:lnTo>
                      <a:pt x="1294" y="181"/>
                    </a:lnTo>
                    <a:lnTo>
                      <a:pt x="1347" y="228"/>
                    </a:lnTo>
                    <a:lnTo>
                      <a:pt x="1393" y="278"/>
                    </a:lnTo>
                    <a:lnTo>
                      <a:pt x="1435" y="332"/>
                    </a:lnTo>
                    <a:lnTo>
                      <a:pt x="1472" y="389"/>
                    </a:lnTo>
                    <a:lnTo>
                      <a:pt x="1503" y="449"/>
                    </a:lnTo>
                    <a:lnTo>
                      <a:pt x="1529" y="511"/>
                    </a:lnTo>
                    <a:lnTo>
                      <a:pt x="1550" y="574"/>
                    </a:lnTo>
                    <a:lnTo>
                      <a:pt x="1564" y="640"/>
                    </a:lnTo>
                    <a:lnTo>
                      <a:pt x="1574" y="707"/>
                    </a:lnTo>
                    <a:lnTo>
                      <a:pt x="1576" y="777"/>
                    </a:lnTo>
                    <a:lnTo>
                      <a:pt x="1573" y="848"/>
                    </a:lnTo>
                    <a:lnTo>
                      <a:pt x="1564" y="917"/>
                    </a:lnTo>
                    <a:lnTo>
                      <a:pt x="1547" y="985"/>
                    </a:lnTo>
                    <a:lnTo>
                      <a:pt x="1525" y="1051"/>
                    </a:lnTo>
                    <a:lnTo>
                      <a:pt x="1497" y="1115"/>
                    </a:lnTo>
                    <a:lnTo>
                      <a:pt x="1465" y="1176"/>
                    </a:lnTo>
                    <a:lnTo>
                      <a:pt x="1424" y="1234"/>
                    </a:lnTo>
                    <a:lnTo>
                      <a:pt x="1379" y="1289"/>
                    </a:lnTo>
                    <a:lnTo>
                      <a:pt x="1417" y="1326"/>
                    </a:lnTo>
                    <a:lnTo>
                      <a:pt x="1435" y="1326"/>
                    </a:lnTo>
                    <a:lnTo>
                      <a:pt x="1452" y="1329"/>
                    </a:lnTo>
                    <a:lnTo>
                      <a:pt x="1469" y="1338"/>
                    </a:lnTo>
                    <a:lnTo>
                      <a:pt x="1484" y="1349"/>
                    </a:lnTo>
                    <a:lnTo>
                      <a:pt x="1755" y="1617"/>
                    </a:lnTo>
                    <a:lnTo>
                      <a:pt x="1769" y="1634"/>
                    </a:lnTo>
                    <a:lnTo>
                      <a:pt x="1776" y="1653"/>
                    </a:lnTo>
                    <a:lnTo>
                      <a:pt x="1778" y="1672"/>
                    </a:lnTo>
                    <a:lnTo>
                      <a:pt x="1776" y="1693"/>
                    </a:lnTo>
                    <a:lnTo>
                      <a:pt x="1769" y="1712"/>
                    </a:lnTo>
                    <a:lnTo>
                      <a:pt x="1755" y="1728"/>
                    </a:lnTo>
                    <a:lnTo>
                      <a:pt x="1738" y="1742"/>
                    </a:lnTo>
                    <a:lnTo>
                      <a:pt x="1719" y="1749"/>
                    </a:lnTo>
                    <a:lnTo>
                      <a:pt x="1698" y="1751"/>
                    </a:lnTo>
                    <a:lnTo>
                      <a:pt x="1677" y="1749"/>
                    </a:lnTo>
                    <a:lnTo>
                      <a:pt x="1658" y="1742"/>
                    </a:lnTo>
                    <a:lnTo>
                      <a:pt x="1641" y="1728"/>
                    </a:lnTo>
                    <a:lnTo>
                      <a:pt x="1370" y="1461"/>
                    </a:lnTo>
                    <a:lnTo>
                      <a:pt x="1357" y="1447"/>
                    </a:lnTo>
                    <a:lnTo>
                      <a:pt x="1350" y="1431"/>
                    </a:lnTo>
                    <a:lnTo>
                      <a:pt x="1347" y="1414"/>
                    </a:lnTo>
                    <a:lnTo>
                      <a:pt x="1347" y="1397"/>
                    </a:lnTo>
                    <a:lnTo>
                      <a:pt x="1309" y="1359"/>
                    </a:lnTo>
                    <a:lnTo>
                      <a:pt x="1253" y="1404"/>
                    </a:lnTo>
                    <a:lnTo>
                      <a:pt x="1193" y="1442"/>
                    </a:lnTo>
                    <a:lnTo>
                      <a:pt x="1131" y="1476"/>
                    </a:lnTo>
                    <a:lnTo>
                      <a:pt x="1067" y="1503"/>
                    </a:lnTo>
                    <a:lnTo>
                      <a:pt x="1000" y="1525"/>
                    </a:lnTo>
                    <a:lnTo>
                      <a:pt x="932" y="1540"/>
                    </a:lnTo>
                    <a:lnTo>
                      <a:pt x="860" y="1550"/>
                    </a:lnTo>
                    <a:lnTo>
                      <a:pt x="788" y="1553"/>
                    </a:lnTo>
                    <a:lnTo>
                      <a:pt x="719" y="1550"/>
                    </a:lnTo>
                    <a:lnTo>
                      <a:pt x="651" y="1542"/>
                    </a:lnTo>
                    <a:lnTo>
                      <a:pt x="584" y="1527"/>
                    </a:lnTo>
                    <a:lnTo>
                      <a:pt x="518" y="1507"/>
                    </a:lnTo>
                    <a:lnTo>
                      <a:pt x="456" y="1480"/>
                    </a:lnTo>
                    <a:lnTo>
                      <a:pt x="395" y="1450"/>
                    </a:lnTo>
                    <a:lnTo>
                      <a:pt x="337" y="1413"/>
                    </a:lnTo>
                    <a:lnTo>
                      <a:pt x="283" y="1373"/>
                    </a:lnTo>
                    <a:lnTo>
                      <a:pt x="231" y="1326"/>
                    </a:lnTo>
                    <a:lnTo>
                      <a:pt x="184" y="1275"/>
                    </a:lnTo>
                    <a:lnTo>
                      <a:pt x="142" y="1222"/>
                    </a:lnTo>
                    <a:lnTo>
                      <a:pt x="106" y="1164"/>
                    </a:lnTo>
                    <a:lnTo>
                      <a:pt x="74" y="1104"/>
                    </a:lnTo>
                    <a:lnTo>
                      <a:pt x="47" y="1043"/>
                    </a:lnTo>
                    <a:lnTo>
                      <a:pt x="27" y="978"/>
                    </a:lnTo>
                    <a:lnTo>
                      <a:pt x="12" y="912"/>
                    </a:lnTo>
                    <a:lnTo>
                      <a:pt x="4" y="845"/>
                    </a:lnTo>
                    <a:lnTo>
                      <a:pt x="0" y="777"/>
                    </a:lnTo>
                    <a:lnTo>
                      <a:pt x="4" y="707"/>
                    </a:lnTo>
                    <a:lnTo>
                      <a:pt x="12" y="640"/>
                    </a:lnTo>
                    <a:lnTo>
                      <a:pt x="27" y="574"/>
                    </a:lnTo>
                    <a:lnTo>
                      <a:pt x="47" y="511"/>
                    </a:lnTo>
                    <a:lnTo>
                      <a:pt x="74" y="449"/>
                    </a:lnTo>
                    <a:lnTo>
                      <a:pt x="106" y="389"/>
                    </a:lnTo>
                    <a:lnTo>
                      <a:pt x="142" y="332"/>
                    </a:lnTo>
                    <a:lnTo>
                      <a:pt x="184" y="278"/>
                    </a:lnTo>
                    <a:lnTo>
                      <a:pt x="231" y="228"/>
                    </a:lnTo>
                    <a:lnTo>
                      <a:pt x="283" y="181"/>
                    </a:lnTo>
                    <a:lnTo>
                      <a:pt x="337" y="139"/>
                    </a:lnTo>
                    <a:lnTo>
                      <a:pt x="395" y="103"/>
                    </a:lnTo>
                    <a:lnTo>
                      <a:pt x="456" y="72"/>
                    </a:lnTo>
                    <a:lnTo>
                      <a:pt x="518" y="47"/>
                    </a:lnTo>
                    <a:lnTo>
                      <a:pt x="584" y="27"/>
                    </a:lnTo>
                    <a:lnTo>
                      <a:pt x="651" y="12"/>
                    </a:lnTo>
                    <a:lnTo>
                      <a:pt x="719" y="3"/>
                    </a:lnTo>
                    <a:lnTo>
                      <a:pt x="78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</p:grpSp>
        <p:sp>
          <p:nvSpPr>
            <p:cNvPr id="58" name="Freeform 64">
              <a:extLst>
                <a:ext uri="{FF2B5EF4-FFF2-40B4-BE49-F238E27FC236}">
                  <a16:creationId xmlns:a16="http://schemas.microsoft.com/office/drawing/2014/main" id="{88F233AD-D95A-466A-3233-6DD81AD0C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767" y="4118796"/>
              <a:ext cx="221911" cy="252742"/>
            </a:xfrm>
            <a:custGeom>
              <a:avLst/>
              <a:gdLst>
                <a:gd name="T0" fmla="*/ 52 w 104"/>
                <a:gd name="T1" fmla="*/ 96 h 105"/>
                <a:gd name="T2" fmla="*/ 43 w 104"/>
                <a:gd name="T3" fmla="*/ 104 h 105"/>
                <a:gd name="T4" fmla="*/ 33 w 104"/>
                <a:gd name="T5" fmla="*/ 98 h 105"/>
                <a:gd name="T6" fmla="*/ 22 w 104"/>
                <a:gd name="T7" fmla="*/ 92 h 105"/>
                <a:gd name="T8" fmla="*/ 12 w 104"/>
                <a:gd name="T9" fmla="*/ 86 h 105"/>
                <a:gd name="T10" fmla="*/ 14 w 104"/>
                <a:gd name="T11" fmla="*/ 74 h 105"/>
                <a:gd name="T12" fmla="*/ 3 w 104"/>
                <a:gd name="T13" fmla="*/ 73 h 105"/>
                <a:gd name="T14" fmla="*/ 0 w 104"/>
                <a:gd name="T15" fmla="*/ 59 h 105"/>
                <a:gd name="T16" fmla="*/ 3 w 104"/>
                <a:gd name="T17" fmla="*/ 46 h 105"/>
                <a:gd name="T18" fmla="*/ 2 w 104"/>
                <a:gd name="T19" fmla="*/ 35 h 105"/>
                <a:gd name="T20" fmla="*/ 9 w 104"/>
                <a:gd name="T21" fmla="*/ 33 h 105"/>
                <a:gd name="T22" fmla="*/ 10 w 104"/>
                <a:gd name="T23" fmla="*/ 21 h 105"/>
                <a:gd name="T24" fmla="*/ 20 w 104"/>
                <a:gd name="T25" fmla="*/ 10 h 105"/>
                <a:gd name="T26" fmla="*/ 30 w 104"/>
                <a:gd name="T27" fmla="*/ 14 h 105"/>
                <a:gd name="T28" fmla="*/ 34 w 104"/>
                <a:gd name="T29" fmla="*/ 3 h 105"/>
                <a:gd name="T30" fmla="*/ 46 w 104"/>
                <a:gd name="T31" fmla="*/ 3 h 105"/>
                <a:gd name="T32" fmla="*/ 58 w 104"/>
                <a:gd name="T33" fmla="*/ 0 h 105"/>
                <a:gd name="T34" fmla="*/ 73 w 104"/>
                <a:gd name="T35" fmla="*/ 4 h 105"/>
                <a:gd name="T36" fmla="*/ 77 w 104"/>
                <a:gd name="T37" fmla="*/ 15 h 105"/>
                <a:gd name="T38" fmla="*/ 86 w 104"/>
                <a:gd name="T39" fmla="*/ 12 h 105"/>
                <a:gd name="T40" fmla="*/ 92 w 104"/>
                <a:gd name="T41" fmla="*/ 23 h 105"/>
                <a:gd name="T42" fmla="*/ 98 w 104"/>
                <a:gd name="T43" fmla="*/ 33 h 105"/>
                <a:gd name="T44" fmla="*/ 104 w 104"/>
                <a:gd name="T45" fmla="*/ 43 h 105"/>
                <a:gd name="T46" fmla="*/ 96 w 104"/>
                <a:gd name="T47" fmla="*/ 52 h 105"/>
                <a:gd name="T48" fmla="*/ 104 w 104"/>
                <a:gd name="T49" fmla="*/ 62 h 105"/>
                <a:gd name="T50" fmla="*/ 98 w 104"/>
                <a:gd name="T51" fmla="*/ 72 h 105"/>
                <a:gd name="T52" fmla="*/ 92 w 104"/>
                <a:gd name="T53" fmla="*/ 82 h 105"/>
                <a:gd name="T54" fmla="*/ 86 w 104"/>
                <a:gd name="T55" fmla="*/ 92 h 105"/>
                <a:gd name="T56" fmla="*/ 77 w 104"/>
                <a:gd name="T57" fmla="*/ 89 h 105"/>
                <a:gd name="T58" fmla="*/ 73 w 104"/>
                <a:gd name="T59" fmla="*/ 101 h 105"/>
                <a:gd name="T60" fmla="*/ 58 w 104"/>
                <a:gd name="T61" fmla="*/ 105 h 105"/>
                <a:gd name="T62" fmla="*/ 52 w 104"/>
                <a:gd name="T63" fmla="*/ 90 h 105"/>
                <a:gd name="T64" fmla="*/ 71 w 104"/>
                <a:gd name="T65" fmla="*/ 85 h 105"/>
                <a:gd name="T66" fmla="*/ 86 w 104"/>
                <a:gd name="T67" fmla="*/ 85 h 105"/>
                <a:gd name="T68" fmla="*/ 97 w 104"/>
                <a:gd name="T69" fmla="*/ 65 h 105"/>
                <a:gd name="T70" fmla="*/ 97 w 104"/>
                <a:gd name="T71" fmla="*/ 41 h 105"/>
                <a:gd name="T72" fmla="*/ 85 w 104"/>
                <a:gd name="T73" fmla="*/ 33 h 105"/>
                <a:gd name="T74" fmla="*/ 77 w 104"/>
                <a:gd name="T75" fmla="*/ 21 h 105"/>
                <a:gd name="T76" fmla="*/ 63 w 104"/>
                <a:gd name="T77" fmla="*/ 7 h 105"/>
                <a:gd name="T78" fmla="*/ 39 w 104"/>
                <a:gd name="T79" fmla="*/ 7 h 105"/>
                <a:gd name="T80" fmla="*/ 20 w 104"/>
                <a:gd name="T81" fmla="*/ 18 h 105"/>
                <a:gd name="T82" fmla="*/ 9 w 104"/>
                <a:gd name="T83" fmla="*/ 39 h 105"/>
                <a:gd name="T84" fmla="*/ 14 w 104"/>
                <a:gd name="T85" fmla="*/ 52 h 105"/>
                <a:gd name="T86" fmla="*/ 9 w 104"/>
                <a:gd name="T87" fmla="*/ 65 h 105"/>
                <a:gd name="T88" fmla="*/ 20 w 104"/>
                <a:gd name="T89" fmla="*/ 86 h 105"/>
                <a:gd name="T90" fmla="*/ 39 w 104"/>
                <a:gd name="T91" fmla="*/ 97 h 105"/>
                <a:gd name="T92" fmla="*/ 52 w 104"/>
                <a:gd name="T93" fmla="*/ 26 h 105"/>
                <a:gd name="T94" fmla="*/ 52 w 104"/>
                <a:gd name="T95" fmla="*/ 32 h 105"/>
                <a:gd name="T96" fmla="*/ 72 w 104"/>
                <a:gd name="T97" fmla="*/ 52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" h="105">
                  <a:moveTo>
                    <a:pt x="58" y="105"/>
                  </a:moveTo>
                  <a:cubicBezTo>
                    <a:pt x="58" y="101"/>
                    <a:pt x="58" y="101"/>
                    <a:pt x="58" y="101"/>
                  </a:cubicBezTo>
                  <a:cubicBezTo>
                    <a:pt x="58" y="98"/>
                    <a:pt x="55" y="96"/>
                    <a:pt x="52" y="96"/>
                  </a:cubicBezTo>
                  <a:cubicBezTo>
                    <a:pt x="49" y="96"/>
                    <a:pt x="46" y="98"/>
                    <a:pt x="46" y="101"/>
                  </a:cubicBezTo>
                  <a:cubicBezTo>
                    <a:pt x="46" y="105"/>
                    <a:pt x="46" y="105"/>
                    <a:pt x="46" y="105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0" y="104"/>
                    <a:pt x="37" y="103"/>
                    <a:pt x="34" y="102"/>
                  </a:cubicBezTo>
                  <a:cubicBezTo>
                    <a:pt x="31" y="101"/>
                    <a:pt x="31" y="101"/>
                    <a:pt x="31" y="101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4" y="95"/>
                    <a:pt x="33" y="92"/>
                    <a:pt x="30" y="90"/>
                  </a:cubicBezTo>
                  <a:cubicBezTo>
                    <a:pt x="29" y="90"/>
                    <a:pt x="28" y="89"/>
                    <a:pt x="27" y="89"/>
                  </a:cubicBezTo>
                  <a:cubicBezTo>
                    <a:pt x="25" y="89"/>
                    <a:pt x="23" y="90"/>
                    <a:pt x="22" y="92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18" y="92"/>
                    <a:pt x="18" y="92"/>
                    <a:pt x="18" y="92"/>
                  </a:cubicBezTo>
                  <a:cubicBezTo>
                    <a:pt x="16" y="91"/>
                    <a:pt x="14" y="89"/>
                    <a:pt x="12" y="86"/>
                  </a:cubicBezTo>
                  <a:cubicBezTo>
                    <a:pt x="10" y="84"/>
                    <a:pt x="10" y="84"/>
                    <a:pt x="10" y="84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5" y="80"/>
                    <a:pt x="16" y="77"/>
                    <a:pt x="14" y="74"/>
                  </a:cubicBezTo>
                  <a:cubicBezTo>
                    <a:pt x="13" y="72"/>
                    <a:pt x="11" y="71"/>
                    <a:pt x="9" y="71"/>
                  </a:cubicBezTo>
                  <a:cubicBezTo>
                    <a:pt x="8" y="71"/>
                    <a:pt x="7" y="71"/>
                    <a:pt x="6" y="72"/>
                  </a:cubicBezTo>
                  <a:cubicBezTo>
                    <a:pt x="3" y="73"/>
                    <a:pt x="3" y="73"/>
                    <a:pt x="3" y="73"/>
                  </a:cubicBezTo>
                  <a:cubicBezTo>
                    <a:pt x="2" y="70"/>
                    <a:pt x="2" y="70"/>
                    <a:pt x="2" y="70"/>
                  </a:cubicBezTo>
                  <a:cubicBezTo>
                    <a:pt x="1" y="67"/>
                    <a:pt x="1" y="64"/>
                    <a:pt x="0" y="62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6" y="58"/>
                    <a:pt x="8" y="55"/>
                    <a:pt x="8" y="52"/>
                  </a:cubicBezTo>
                  <a:cubicBezTo>
                    <a:pt x="8" y="49"/>
                    <a:pt x="6" y="47"/>
                    <a:pt x="3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1" y="40"/>
                    <a:pt x="1" y="37"/>
                    <a:pt x="2" y="35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1" y="33"/>
                    <a:pt x="13" y="32"/>
                    <a:pt x="14" y="30"/>
                  </a:cubicBezTo>
                  <a:cubicBezTo>
                    <a:pt x="16" y="28"/>
                    <a:pt x="15" y="24"/>
                    <a:pt x="12" y="23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4" y="16"/>
                    <a:pt x="16" y="14"/>
                    <a:pt x="18" y="12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4"/>
                    <a:pt x="25" y="15"/>
                    <a:pt x="27" y="15"/>
                  </a:cubicBezTo>
                  <a:cubicBezTo>
                    <a:pt x="28" y="15"/>
                    <a:pt x="29" y="15"/>
                    <a:pt x="30" y="14"/>
                  </a:cubicBezTo>
                  <a:cubicBezTo>
                    <a:pt x="33" y="13"/>
                    <a:pt x="34" y="9"/>
                    <a:pt x="33" y="7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7" y="2"/>
                    <a:pt x="40" y="1"/>
                    <a:pt x="43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6"/>
                    <a:pt x="49" y="9"/>
                    <a:pt x="52" y="9"/>
                  </a:cubicBezTo>
                  <a:cubicBezTo>
                    <a:pt x="55" y="9"/>
                    <a:pt x="58" y="6"/>
                    <a:pt x="58" y="3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64" y="1"/>
                    <a:pt x="67" y="2"/>
                    <a:pt x="70" y="3"/>
                  </a:cubicBezTo>
                  <a:cubicBezTo>
                    <a:pt x="73" y="4"/>
                    <a:pt x="73" y="4"/>
                    <a:pt x="73" y="4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70" y="9"/>
                    <a:pt x="71" y="13"/>
                    <a:pt x="74" y="14"/>
                  </a:cubicBezTo>
                  <a:cubicBezTo>
                    <a:pt x="75" y="15"/>
                    <a:pt x="76" y="15"/>
                    <a:pt x="77" y="15"/>
                  </a:cubicBezTo>
                  <a:cubicBezTo>
                    <a:pt x="79" y="15"/>
                    <a:pt x="81" y="14"/>
                    <a:pt x="82" y="13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88" y="14"/>
                    <a:pt x="90" y="16"/>
                    <a:pt x="92" y="18"/>
                  </a:cubicBezTo>
                  <a:cubicBezTo>
                    <a:pt x="94" y="21"/>
                    <a:pt x="94" y="21"/>
                    <a:pt x="94" y="21"/>
                  </a:cubicBezTo>
                  <a:cubicBezTo>
                    <a:pt x="92" y="23"/>
                    <a:pt x="92" y="23"/>
                    <a:pt x="92" y="23"/>
                  </a:cubicBezTo>
                  <a:cubicBezTo>
                    <a:pt x="89" y="24"/>
                    <a:pt x="88" y="28"/>
                    <a:pt x="90" y="30"/>
                  </a:cubicBezTo>
                  <a:cubicBezTo>
                    <a:pt x="91" y="32"/>
                    <a:pt x="93" y="33"/>
                    <a:pt x="95" y="33"/>
                  </a:cubicBezTo>
                  <a:cubicBezTo>
                    <a:pt x="96" y="33"/>
                    <a:pt x="97" y="33"/>
                    <a:pt x="98" y="33"/>
                  </a:cubicBezTo>
                  <a:cubicBezTo>
                    <a:pt x="101" y="32"/>
                    <a:pt x="101" y="32"/>
                    <a:pt x="101" y="32"/>
                  </a:cubicBezTo>
                  <a:cubicBezTo>
                    <a:pt x="102" y="35"/>
                    <a:pt x="102" y="35"/>
                    <a:pt x="102" y="35"/>
                  </a:cubicBezTo>
                  <a:cubicBezTo>
                    <a:pt x="103" y="37"/>
                    <a:pt x="103" y="40"/>
                    <a:pt x="104" y="43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1" y="46"/>
                    <a:pt x="101" y="46"/>
                    <a:pt x="101" y="46"/>
                  </a:cubicBezTo>
                  <a:cubicBezTo>
                    <a:pt x="98" y="47"/>
                    <a:pt x="96" y="49"/>
                    <a:pt x="96" y="52"/>
                  </a:cubicBezTo>
                  <a:cubicBezTo>
                    <a:pt x="96" y="55"/>
                    <a:pt x="98" y="58"/>
                    <a:pt x="101" y="58"/>
                  </a:cubicBezTo>
                  <a:cubicBezTo>
                    <a:pt x="104" y="59"/>
                    <a:pt x="104" y="59"/>
                    <a:pt x="104" y="59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3" y="64"/>
                    <a:pt x="103" y="67"/>
                    <a:pt x="102" y="70"/>
                  </a:cubicBezTo>
                  <a:cubicBezTo>
                    <a:pt x="101" y="73"/>
                    <a:pt x="101" y="73"/>
                    <a:pt x="101" y="73"/>
                  </a:cubicBezTo>
                  <a:cubicBezTo>
                    <a:pt x="98" y="72"/>
                    <a:pt x="98" y="72"/>
                    <a:pt x="98" y="72"/>
                  </a:cubicBezTo>
                  <a:cubicBezTo>
                    <a:pt x="97" y="71"/>
                    <a:pt x="96" y="71"/>
                    <a:pt x="95" y="71"/>
                  </a:cubicBezTo>
                  <a:cubicBezTo>
                    <a:pt x="93" y="71"/>
                    <a:pt x="91" y="72"/>
                    <a:pt x="90" y="74"/>
                  </a:cubicBezTo>
                  <a:cubicBezTo>
                    <a:pt x="88" y="77"/>
                    <a:pt x="89" y="80"/>
                    <a:pt x="92" y="82"/>
                  </a:cubicBezTo>
                  <a:cubicBezTo>
                    <a:pt x="94" y="84"/>
                    <a:pt x="94" y="84"/>
                    <a:pt x="94" y="84"/>
                  </a:cubicBezTo>
                  <a:cubicBezTo>
                    <a:pt x="92" y="86"/>
                    <a:pt x="92" y="86"/>
                    <a:pt x="92" y="86"/>
                  </a:cubicBezTo>
                  <a:cubicBezTo>
                    <a:pt x="90" y="89"/>
                    <a:pt x="88" y="91"/>
                    <a:pt x="86" y="92"/>
                  </a:cubicBezTo>
                  <a:cubicBezTo>
                    <a:pt x="84" y="94"/>
                    <a:pt x="84" y="94"/>
                    <a:pt x="84" y="94"/>
                  </a:cubicBezTo>
                  <a:cubicBezTo>
                    <a:pt x="82" y="92"/>
                    <a:pt x="82" y="92"/>
                    <a:pt x="82" y="92"/>
                  </a:cubicBezTo>
                  <a:cubicBezTo>
                    <a:pt x="81" y="90"/>
                    <a:pt x="79" y="89"/>
                    <a:pt x="77" y="89"/>
                  </a:cubicBezTo>
                  <a:cubicBezTo>
                    <a:pt x="76" y="89"/>
                    <a:pt x="75" y="90"/>
                    <a:pt x="74" y="90"/>
                  </a:cubicBezTo>
                  <a:cubicBezTo>
                    <a:pt x="71" y="92"/>
                    <a:pt x="70" y="95"/>
                    <a:pt x="71" y="98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70" y="102"/>
                    <a:pt x="70" y="102"/>
                    <a:pt x="70" y="102"/>
                  </a:cubicBezTo>
                  <a:cubicBezTo>
                    <a:pt x="67" y="103"/>
                    <a:pt x="64" y="104"/>
                    <a:pt x="61" y="104"/>
                  </a:cubicBezTo>
                  <a:lnTo>
                    <a:pt x="58" y="105"/>
                  </a:lnTo>
                  <a:close/>
                  <a:moveTo>
                    <a:pt x="39" y="97"/>
                  </a:moveTo>
                  <a:cubicBezTo>
                    <a:pt x="40" y="97"/>
                    <a:pt x="40" y="98"/>
                    <a:pt x="41" y="98"/>
                  </a:cubicBezTo>
                  <a:cubicBezTo>
                    <a:pt x="43" y="93"/>
                    <a:pt x="47" y="90"/>
                    <a:pt x="52" y="90"/>
                  </a:cubicBezTo>
                  <a:cubicBezTo>
                    <a:pt x="57" y="90"/>
                    <a:pt x="61" y="93"/>
                    <a:pt x="63" y="98"/>
                  </a:cubicBezTo>
                  <a:cubicBezTo>
                    <a:pt x="64" y="98"/>
                    <a:pt x="64" y="97"/>
                    <a:pt x="65" y="97"/>
                  </a:cubicBezTo>
                  <a:cubicBezTo>
                    <a:pt x="64" y="92"/>
                    <a:pt x="67" y="88"/>
                    <a:pt x="71" y="85"/>
                  </a:cubicBezTo>
                  <a:cubicBezTo>
                    <a:pt x="73" y="84"/>
                    <a:pt x="75" y="83"/>
                    <a:pt x="77" y="83"/>
                  </a:cubicBezTo>
                  <a:cubicBezTo>
                    <a:pt x="80" y="83"/>
                    <a:pt x="82" y="84"/>
                    <a:pt x="84" y="86"/>
                  </a:cubicBezTo>
                  <a:cubicBezTo>
                    <a:pt x="85" y="86"/>
                    <a:pt x="85" y="85"/>
                    <a:pt x="86" y="85"/>
                  </a:cubicBezTo>
                  <a:cubicBezTo>
                    <a:pt x="83" y="81"/>
                    <a:pt x="82" y="76"/>
                    <a:pt x="85" y="71"/>
                  </a:cubicBezTo>
                  <a:cubicBezTo>
                    <a:pt x="87" y="68"/>
                    <a:pt x="91" y="65"/>
                    <a:pt x="95" y="65"/>
                  </a:cubicBezTo>
                  <a:cubicBezTo>
                    <a:pt x="96" y="65"/>
                    <a:pt x="96" y="65"/>
                    <a:pt x="97" y="65"/>
                  </a:cubicBezTo>
                  <a:cubicBezTo>
                    <a:pt x="97" y="65"/>
                    <a:pt x="97" y="64"/>
                    <a:pt x="97" y="63"/>
                  </a:cubicBezTo>
                  <a:cubicBezTo>
                    <a:pt x="93" y="62"/>
                    <a:pt x="90" y="57"/>
                    <a:pt x="90" y="52"/>
                  </a:cubicBezTo>
                  <a:cubicBezTo>
                    <a:pt x="90" y="47"/>
                    <a:pt x="93" y="43"/>
                    <a:pt x="97" y="41"/>
                  </a:cubicBezTo>
                  <a:cubicBezTo>
                    <a:pt x="97" y="41"/>
                    <a:pt x="97" y="40"/>
                    <a:pt x="97" y="39"/>
                  </a:cubicBezTo>
                  <a:cubicBezTo>
                    <a:pt x="96" y="39"/>
                    <a:pt x="96" y="39"/>
                    <a:pt x="95" y="39"/>
                  </a:cubicBezTo>
                  <a:cubicBezTo>
                    <a:pt x="91" y="39"/>
                    <a:pt x="87" y="37"/>
                    <a:pt x="85" y="33"/>
                  </a:cubicBezTo>
                  <a:cubicBezTo>
                    <a:pt x="82" y="29"/>
                    <a:pt x="83" y="24"/>
                    <a:pt x="86" y="20"/>
                  </a:cubicBezTo>
                  <a:cubicBezTo>
                    <a:pt x="85" y="19"/>
                    <a:pt x="85" y="19"/>
                    <a:pt x="84" y="18"/>
                  </a:cubicBezTo>
                  <a:cubicBezTo>
                    <a:pt x="82" y="20"/>
                    <a:pt x="80" y="21"/>
                    <a:pt x="77" y="21"/>
                  </a:cubicBezTo>
                  <a:cubicBezTo>
                    <a:pt x="75" y="21"/>
                    <a:pt x="73" y="21"/>
                    <a:pt x="71" y="20"/>
                  </a:cubicBezTo>
                  <a:cubicBezTo>
                    <a:pt x="67" y="17"/>
                    <a:pt x="64" y="12"/>
                    <a:pt x="65" y="7"/>
                  </a:cubicBezTo>
                  <a:cubicBezTo>
                    <a:pt x="64" y="7"/>
                    <a:pt x="64" y="7"/>
                    <a:pt x="63" y="7"/>
                  </a:cubicBezTo>
                  <a:cubicBezTo>
                    <a:pt x="61" y="11"/>
                    <a:pt x="57" y="14"/>
                    <a:pt x="52" y="14"/>
                  </a:cubicBezTo>
                  <a:cubicBezTo>
                    <a:pt x="47" y="14"/>
                    <a:pt x="43" y="11"/>
                    <a:pt x="41" y="7"/>
                  </a:cubicBezTo>
                  <a:cubicBezTo>
                    <a:pt x="40" y="7"/>
                    <a:pt x="40" y="7"/>
                    <a:pt x="39" y="7"/>
                  </a:cubicBezTo>
                  <a:cubicBezTo>
                    <a:pt x="40" y="12"/>
                    <a:pt x="37" y="17"/>
                    <a:pt x="33" y="20"/>
                  </a:cubicBezTo>
                  <a:cubicBezTo>
                    <a:pt x="31" y="21"/>
                    <a:pt x="29" y="21"/>
                    <a:pt x="27" y="21"/>
                  </a:cubicBezTo>
                  <a:cubicBezTo>
                    <a:pt x="24" y="21"/>
                    <a:pt x="22" y="20"/>
                    <a:pt x="20" y="18"/>
                  </a:cubicBezTo>
                  <a:cubicBezTo>
                    <a:pt x="19" y="19"/>
                    <a:pt x="19" y="19"/>
                    <a:pt x="18" y="20"/>
                  </a:cubicBezTo>
                  <a:cubicBezTo>
                    <a:pt x="21" y="24"/>
                    <a:pt x="22" y="29"/>
                    <a:pt x="19" y="33"/>
                  </a:cubicBezTo>
                  <a:cubicBezTo>
                    <a:pt x="17" y="37"/>
                    <a:pt x="13" y="39"/>
                    <a:pt x="9" y="39"/>
                  </a:cubicBezTo>
                  <a:cubicBezTo>
                    <a:pt x="8" y="39"/>
                    <a:pt x="8" y="39"/>
                    <a:pt x="7" y="39"/>
                  </a:cubicBezTo>
                  <a:cubicBezTo>
                    <a:pt x="7" y="40"/>
                    <a:pt x="7" y="41"/>
                    <a:pt x="7" y="41"/>
                  </a:cubicBezTo>
                  <a:cubicBezTo>
                    <a:pt x="11" y="43"/>
                    <a:pt x="14" y="47"/>
                    <a:pt x="14" y="52"/>
                  </a:cubicBezTo>
                  <a:cubicBezTo>
                    <a:pt x="14" y="57"/>
                    <a:pt x="11" y="62"/>
                    <a:pt x="7" y="63"/>
                  </a:cubicBezTo>
                  <a:cubicBezTo>
                    <a:pt x="7" y="64"/>
                    <a:pt x="7" y="65"/>
                    <a:pt x="7" y="65"/>
                  </a:cubicBezTo>
                  <a:cubicBezTo>
                    <a:pt x="8" y="65"/>
                    <a:pt x="8" y="65"/>
                    <a:pt x="9" y="65"/>
                  </a:cubicBezTo>
                  <a:cubicBezTo>
                    <a:pt x="13" y="65"/>
                    <a:pt x="17" y="68"/>
                    <a:pt x="19" y="71"/>
                  </a:cubicBezTo>
                  <a:cubicBezTo>
                    <a:pt x="22" y="76"/>
                    <a:pt x="21" y="81"/>
                    <a:pt x="18" y="85"/>
                  </a:cubicBezTo>
                  <a:cubicBezTo>
                    <a:pt x="19" y="85"/>
                    <a:pt x="19" y="86"/>
                    <a:pt x="20" y="86"/>
                  </a:cubicBezTo>
                  <a:cubicBezTo>
                    <a:pt x="22" y="84"/>
                    <a:pt x="24" y="83"/>
                    <a:pt x="27" y="83"/>
                  </a:cubicBezTo>
                  <a:cubicBezTo>
                    <a:pt x="29" y="83"/>
                    <a:pt x="31" y="84"/>
                    <a:pt x="33" y="85"/>
                  </a:cubicBezTo>
                  <a:cubicBezTo>
                    <a:pt x="37" y="88"/>
                    <a:pt x="40" y="92"/>
                    <a:pt x="39" y="97"/>
                  </a:cubicBezTo>
                  <a:close/>
                  <a:moveTo>
                    <a:pt x="52" y="78"/>
                  </a:moveTo>
                  <a:cubicBezTo>
                    <a:pt x="38" y="78"/>
                    <a:pt x="26" y="67"/>
                    <a:pt x="26" y="52"/>
                  </a:cubicBezTo>
                  <a:cubicBezTo>
                    <a:pt x="26" y="38"/>
                    <a:pt x="38" y="26"/>
                    <a:pt x="52" y="26"/>
                  </a:cubicBezTo>
                  <a:cubicBezTo>
                    <a:pt x="66" y="26"/>
                    <a:pt x="78" y="38"/>
                    <a:pt x="78" y="52"/>
                  </a:cubicBezTo>
                  <a:cubicBezTo>
                    <a:pt x="78" y="67"/>
                    <a:pt x="66" y="78"/>
                    <a:pt x="52" y="78"/>
                  </a:cubicBezTo>
                  <a:close/>
                  <a:moveTo>
                    <a:pt x="52" y="32"/>
                  </a:moveTo>
                  <a:cubicBezTo>
                    <a:pt x="41" y="32"/>
                    <a:pt x="32" y="41"/>
                    <a:pt x="32" y="52"/>
                  </a:cubicBezTo>
                  <a:cubicBezTo>
                    <a:pt x="32" y="63"/>
                    <a:pt x="41" y="72"/>
                    <a:pt x="52" y="72"/>
                  </a:cubicBezTo>
                  <a:cubicBezTo>
                    <a:pt x="63" y="72"/>
                    <a:pt x="72" y="63"/>
                    <a:pt x="72" y="52"/>
                  </a:cubicBezTo>
                  <a:cubicBezTo>
                    <a:pt x="72" y="41"/>
                    <a:pt x="63" y="32"/>
                    <a:pt x="52" y="3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63" name="Freeform 15">
              <a:extLst>
                <a:ext uri="{FF2B5EF4-FFF2-40B4-BE49-F238E27FC236}">
                  <a16:creationId xmlns:a16="http://schemas.microsoft.com/office/drawing/2014/main" id="{806473C8-8662-A909-D23B-25ECFB1A1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497" y="4638251"/>
              <a:ext cx="269312" cy="272061"/>
            </a:xfrm>
            <a:custGeom>
              <a:avLst/>
              <a:gdLst>
                <a:gd name="T0" fmla="*/ 446 w 893"/>
                <a:gd name="T1" fmla="*/ 0 h 893"/>
                <a:gd name="T2" fmla="*/ 0 w 893"/>
                <a:gd name="T3" fmla="*/ 447 h 893"/>
                <a:gd name="T4" fmla="*/ 446 w 893"/>
                <a:gd name="T5" fmla="*/ 893 h 893"/>
                <a:gd name="T6" fmla="*/ 893 w 893"/>
                <a:gd name="T7" fmla="*/ 447 h 893"/>
                <a:gd name="T8" fmla="*/ 446 w 893"/>
                <a:gd name="T9" fmla="*/ 0 h 893"/>
                <a:gd name="T10" fmla="*/ 465 w 893"/>
                <a:gd name="T11" fmla="*/ 594 h 893"/>
                <a:gd name="T12" fmla="*/ 379 w 893"/>
                <a:gd name="T13" fmla="*/ 680 h 893"/>
                <a:gd name="T14" fmla="*/ 293 w 893"/>
                <a:gd name="T15" fmla="*/ 594 h 893"/>
                <a:gd name="T16" fmla="*/ 170 w 893"/>
                <a:gd name="T17" fmla="*/ 471 h 893"/>
                <a:gd name="T18" fmla="*/ 257 w 893"/>
                <a:gd name="T19" fmla="*/ 385 h 893"/>
                <a:gd name="T20" fmla="*/ 379 w 893"/>
                <a:gd name="T21" fmla="*/ 508 h 893"/>
                <a:gd name="T22" fmla="*/ 636 w 893"/>
                <a:gd name="T23" fmla="*/ 251 h 893"/>
                <a:gd name="T24" fmla="*/ 722 w 893"/>
                <a:gd name="T25" fmla="*/ 337 h 893"/>
                <a:gd name="T26" fmla="*/ 465 w 893"/>
                <a:gd name="T27" fmla="*/ 594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93" h="893">
                  <a:moveTo>
                    <a:pt x="446" y="0"/>
                  </a:moveTo>
                  <a:cubicBezTo>
                    <a:pt x="200" y="0"/>
                    <a:pt x="0" y="200"/>
                    <a:pt x="0" y="447"/>
                  </a:cubicBezTo>
                  <a:cubicBezTo>
                    <a:pt x="0" y="693"/>
                    <a:pt x="200" y="893"/>
                    <a:pt x="446" y="893"/>
                  </a:cubicBezTo>
                  <a:cubicBezTo>
                    <a:pt x="693" y="893"/>
                    <a:pt x="893" y="693"/>
                    <a:pt x="893" y="447"/>
                  </a:cubicBezTo>
                  <a:cubicBezTo>
                    <a:pt x="893" y="200"/>
                    <a:pt x="693" y="0"/>
                    <a:pt x="446" y="0"/>
                  </a:cubicBezTo>
                  <a:close/>
                  <a:moveTo>
                    <a:pt x="465" y="594"/>
                  </a:moveTo>
                  <a:cubicBezTo>
                    <a:pt x="379" y="680"/>
                    <a:pt x="379" y="680"/>
                    <a:pt x="379" y="680"/>
                  </a:cubicBezTo>
                  <a:cubicBezTo>
                    <a:pt x="293" y="594"/>
                    <a:pt x="293" y="594"/>
                    <a:pt x="293" y="594"/>
                  </a:cubicBezTo>
                  <a:cubicBezTo>
                    <a:pt x="170" y="471"/>
                    <a:pt x="170" y="471"/>
                    <a:pt x="170" y="471"/>
                  </a:cubicBezTo>
                  <a:cubicBezTo>
                    <a:pt x="257" y="385"/>
                    <a:pt x="257" y="385"/>
                    <a:pt x="257" y="385"/>
                  </a:cubicBezTo>
                  <a:cubicBezTo>
                    <a:pt x="379" y="508"/>
                    <a:pt x="379" y="508"/>
                    <a:pt x="379" y="508"/>
                  </a:cubicBezTo>
                  <a:cubicBezTo>
                    <a:pt x="636" y="251"/>
                    <a:pt x="636" y="251"/>
                    <a:pt x="636" y="251"/>
                  </a:cubicBezTo>
                  <a:cubicBezTo>
                    <a:pt x="722" y="337"/>
                    <a:pt x="722" y="337"/>
                    <a:pt x="722" y="337"/>
                  </a:cubicBezTo>
                  <a:lnTo>
                    <a:pt x="465" y="59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F658B09E-F2B6-D367-0B50-F07E8103DCE5}"/>
                </a:ext>
              </a:extLst>
            </p:cNvPr>
            <p:cNvGrpSpPr>
              <a:grpSpLocks/>
            </p:cNvGrpSpPr>
            <p:nvPr/>
          </p:nvGrpSpPr>
          <p:grpSpPr>
            <a:xfrm>
              <a:off x="3295563" y="4609882"/>
              <a:ext cx="314998" cy="313455"/>
              <a:chOff x="8289925" y="3224213"/>
              <a:chExt cx="690562" cy="693738"/>
            </a:xfrm>
            <a:solidFill>
              <a:schemeClr val="tx1"/>
            </a:solidFill>
          </p:grpSpPr>
          <p:sp>
            <p:nvSpPr>
              <p:cNvPr id="65" name="Freeform 756">
                <a:extLst>
                  <a:ext uri="{FF2B5EF4-FFF2-40B4-BE49-F238E27FC236}">
                    <a16:creationId xmlns:a16="http://schemas.microsoft.com/office/drawing/2014/main" id="{F16ADB7F-24CA-5112-31AF-35E7A4E6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48662" y="3300413"/>
                <a:ext cx="454025" cy="415925"/>
              </a:xfrm>
              <a:custGeom>
                <a:avLst/>
                <a:gdLst>
                  <a:gd name="T0" fmla="*/ 53 w 107"/>
                  <a:gd name="T1" fmla="*/ 97 h 97"/>
                  <a:gd name="T2" fmla="*/ 19 w 107"/>
                  <a:gd name="T3" fmla="*/ 83 h 97"/>
                  <a:gd name="T4" fmla="*/ 19 w 107"/>
                  <a:gd name="T5" fmla="*/ 14 h 97"/>
                  <a:gd name="T6" fmla="*/ 53 w 107"/>
                  <a:gd name="T7" fmla="*/ 0 h 97"/>
                  <a:gd name="T8" fmla="*/ 88 w 107"/>
                  <a:gd name="T9" fmla="*/ 14 h 97"/>
                  <a:gd name="T10" fmla="*/ 88 w 107"/>
                  <a:gd name="T11" fmla="*/ 83 h 97"/>
                  <a:gd name="T12" fmla="*/ 53 w 107"/>
                  <a:gd name="T13" fmla="*/ 97 h 97"/>
                  <a:gd name="T14" fmla="*/ 53 w 107"/>
                  <a:gd name="T15" fmla="*/ 6 h 97"/>
                  <a:gd name="T16" fmla="*/ 23 w 107"/>
                  <a:gd name="T17" fmla="*/ 18 h 97"/>
                  <a:gd name="T18" fmla="*/ 23 w 107"/>
                  <a:gd name="T19" fmla="*/ 79 h 97"/>
                  <a:gd name="T20" fmla="*/ 53 w 107"/>
                  <a:gd name="T21" fmla="*/ 91 h 97"/>
                  <a:gd name="T22" fmla="*/ 84 w 107"/>
                  <a:gd name="T23" fmla="*/ 79 h 97"/>
                  <a:gd name="T24" fmla="*/ 84 w 107"/>
                  <a:gd name="T25" fmla="*/ 18 h 97"/>
                  <a:gd name="T26" fmla="*/ 53 w 107"/>
                  <a:gd name="T27" fmla="*/ 6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7" h="97">
                    <a:moveTo>
                      <a:pt x="53" y="97"/>
                    </a:moveTo>
                    <a:cubicBezTo>
                      <a:pt x="40" y="97"/>
                      <a:pt x="28" y="92"/>
                      <a:pt x="19" y="83"/>
                    </a:cubicBezTo>
                    <a:cubicBezTo>
                      <a:pt x="0" y="64"/>
                      <a:pt x="0" y="33"/>
                      <a:pt x="19" y="14"/>
                    </a:cubicBezTo>
                    <a:cubicBezTo>
                      <a:pt x="28" y="5"/>
                      <a:pt x="40" y="0"/>
                      <a:pt x="53" y="0"/>
                    </a:cubicBezTo>
                    <a:cubicBezTo>
                      <a:pt x="66" y="0"/>
                      <a:pt x="79" y="5"/>
                      <a:pt x="88" y="14"/>
                    </a:cubicBezTo>
                    <a:cubicBezTo>
                      <a:pt x="107" y="33"/>
                      <a:pt x="107" y="64"/>
                      <a:pt x="88" y="83"/>
                    </a:cubicBezTo>
                    <a:cubicBezTo>
                      <a:pt x="79" y="92"/>
                      <a:pt x="66" y="97"/>
                      <a:pt x="53" y="97"/>
                    </a:cubicBezTo>
                    <a:close/>
                    <a:moveTo>
                      <a:pt x="53" y="6"/>
                    </a:moveTo>
                    <a:cubicBezTo>
                      <a:pt x="42" y="6"/>
                      <a:pt x="31" y="10"/>
                      <a:pt x="23" y="18"/>
                    </a:cubicBezTo>
                    <a:cubicBezTo>
                      <a:pt x="7" y="35"/>
                      <a:pt x="7" y="62"/>
                      <a:pt x="23" y="79"/>
                    </a:cubicBezTo>
                    <a:cubicBezTo>
                      <a:pt x="31" y="87"/>
                      <a:pt x="42" y="91"/>
                      <a:pt x="53" y="91"/>
                    </a:cubicBezTo>
                    <a:cubicBezTo>
                      <a:pt x="65" y="91"/>
                      <a:pt x="76" y="87"/>
                      <a:pt x="84" y="79"/>
                    </a:cubicBezTo>
                    <a:cubicBezTo>
                      <a:pt x="100" y="62"/>
                      <a:pt x="100" y="35"/>
                      <a:pt x="84" y="18"/>
                    </a:cubicBezTo>
                    <a:cubicBezTo>
                      <a:pt x="76" y="10"/>
                      <a:pt x="65" y="6"/>
                      <a:pt x="53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" name="Freeform 757">
                <a:extLst>
                  <a:ext uri="{FF2B5EF4-FFF2-40B4-BE49-F238E27FC236}">
                    <a16:creationId xmlns:a16="http://schemas.microsoft.com/office/drawing/2014/main" id="{FD630C19-32B0-DA0D-953F-E75DA953E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05850" y="3640138"/>
                <a:ext cx="68263" cy="68263"/>
              </a:xfrm>
              <a:custGeom>
                <a:avLst/>
                <a:gdLst>
                  <a:gd name="T0" fmla="*/ 32 w 43"/>
                  <a:gd name="T1" fmla="*/ 43 h 43"/>
                  <a:gd name="T2" fmla="*/ 0 w 43"/>
                  <a:gd name="T3" fmla="*/ 10 h 43"/>
                  <a:gd name="T4" fmla="*/ 10 w 43"/>
                  <a:gd name="T5" fmla="*/ 0 h 43"/>
                  <a:gd name="T6" fmla="*/ 43 w 43"/>
                  <a:gd name="T7" fmla="*/ 32 h 43"/>
                  <a:gd name="T8" fmla="*/ 32 w 43"/>
                  <a:gd name="T9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32" y="43"/>
                    </a:moveTo>
                    <a:lnTo>
                      <a:pt x="0" y="10"/>
                    </a:lnTo>
                    <a:lnTo>
                      <a:pt x="10" y="0"/>
                    </a:lnTo>
                    <a:lnTo>
                      <a:pt x="43" y="32"/>
                    </a:lnTo>
                    <a:lnTo>
                      <a:pt x="32" y="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7" name="Freeform 758">
                <a:extLst>
                  <a:ext uri="{FF2B5EF4-FFF2-40B4-BE49-F238E27FC236}">
                    <a16:creationId xmlns:a16="http://schemas.microsoft.com/office/drawing/2014/main" id="{0629E038-9CBC-6611-A1F1-D750168A1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3787" y="3648076"/>
                <a:ext cx="266700" cy="269875"/>
              </a:xfrm>
              <a:custGeom>
                <a:avLst/>
                <a:gdLst>
                  <a:gd name="T0" fmla="*/ 118 w 168"/>
                  <a:gd name="T1" fmla="*/ 170 h 170"/>
                  <a:gd name="T2" fmla="*/ 0 w 168"/>
                  <a:gd name="T3" fmla="*/ 51 h 170"/>
                  <a:gd name="T4" fmla="*/ 51 w 168"/>
                  <a:gd name="T5" fmla="*/ 0 h 170"/>
                  <a:gd name="T6" fmla="*/ 168 w 168"/>
                  <a:gd name="T7" fmla="*/ 119 h 170"/>
                  <a:gd name="T8" fmla="*/ 118 w 168"/>
                  <a:gd name="T9" fmla="*/ 170 h 170"/>
                  <a:gd name="T10" fmla="*/ 21 w 168"/>
                  <a:gd name="T11" fmla="*/ 51 h 170"/>
                  <a:gd name="T12" fmla="*/ 118 w 168"/>
                  <a:gd name="T13" fmla="*/ 149 h 170"/>
                  <a:gd name="T14" fmla="*/ 147 w 168"/>
                  <a:gd name="T15" fmla="*/ 119 h 170"/>
                  <a:gd name="T16" fmla="*/ 51 w 168"/>
                  <a:gd name="T17" fmla="*/ 24 h 170"/>
                  <a:gd name="T18" fmla="*/ 21 w 168"/>
                  <a:gd name="T19" fmla="*/ 51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8" h="170">
                    <a:moveTo>
                      <a:pt x="118" y="170"/>
                    </a:moveTo>
                    <a:lnTo>
                      <a:pt x="0" y="51"/>
                    </a:lnTo>
                    <a:lnTo>
                      <a:pt x="51" y="0"/>
                    </a:lnTo>
                    <a:lnTo>
                      <a:pt x="168" y="119"/>
                    </a:lnTo>
                    <a:lnTo>
                      <a:pt x="118" y="170"/>
                    </a:lnTo>
                    <a:close/>
                    <a:moveTo>
                      <a:pt x="21" y="51"/>
                    </a:moveTo>
                    <a:lnTo>
                      <a:pt x="118" y="149"/>
                    </a:lnTo>
                    <a:lnTo>
                      <a:pt x="147" y="119"/>
                    </a:lnTo>
                    <a:lnTo>
                      <a:pt x="51" y="24"/>
                    </a:lnTo>
                    <a:lnTo>
                      <a:pt x="21" y="5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8" name="Freeform 759">
                <a:extLst>
                  <a:ext uri="{FF2B5EF4-FFF2-40B4-BE49-F238E27FC236}">
                    <a16:creationId xmlns:a16="http://schemas.microsoft.com/office/drawing/2014/main" id="{6813862C-95E3-6421-35E3-0C127047B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6650" y="3690938"/>
                <a:ext cx="80963" cy="80963"/>
              </a:xfrm>
              <a:custGeom>
                <a:avLst/>
                <a:gdLst>
                  <a:gd name="T0" fmla="*/ 11 w 51"/>
                  <a:gd name="T1" fmla="*/ 51 h 51"/>
                  <a:gd name="T2" fmla="*/ 0 w 51"/>
                  <a:gd name="T3" fmla="*/ 41 h 51"/>
                  <a:gd name="T4" fmla="*/ 37 w 51"/>
                  <a:gd name="T5" fmla="*/ 0 h 51"/>
                  <a:gd name="T6" fmla="*/ 51 w 51"/>
                  <a:gd name="T7" fmla="*/ 11 h 51"/>
                  <a:gd name="T8" fmla="*/ 11 w 51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51">
                    <a:moveTo>
                      <a:pt x="11" y="51"/>
                    </a:moveTo>
                    <a:lnTo>
                      <a:pt x="0" y="41"/>
                    </a:lnTo>
                    <a:lnTo>
                      <a:pt x="37" y="0"/>
                    </a:lnTo>
                    <a:lnTo>
                      <a:pt x="51" y="11"/>
                    </a:lnTo>
                    <a:lnTo>
                      <a:pt x="11" y="5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9" name="Freeform 760">
                <a:extLst>
                  <a:ext uri="{FF2B5EF4-FFF2-40B4-BE49-F238E27FC236}">
                    <a16:creationId xmlns:a16="http://schemas.microsoft.com/office/drawing/2014/main" id="{286893E4-D5F0-DD03-33E7-9FDF72D06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8250" y="3798888"/>
                <a:ext cx="80963" cy="80963"/>
              </a:xfrm>
              <a:custGeom>
                <a:avLst/>
                <a:gdLst>
                  <a:gd name="T0" fmla="*/ 13 w 51"/>
                  <a:gd name="T1" fmla="*/ 51 h 51"/>
                  <a:gd name="T2" fmla="*/ 0 w 51"/>
                  <a:gd name="T3" fmla="*/ 40 h 51"/>
                  <a:gd name="T4" fmla="*/ 40 w 51"/>
                  <a:gd name="T5" fmla="*/ 0 h 51"/>
                  <a:gd name="T6" fmla="*/ 51 w 51"/>
                  <a:gd name="T7" fmla="*/ 10 h 51"/>
                  <a:gd name="T8" fmla="*/ 13 w 51"/>
                  <a:gd name="T9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" h="51">
                    <a:moveTo>
                      <a:pt x="13" y="51"/>
                    </a:moveTo>
                    <a:lnTo>
                      <a:pt x="0" y="40"/>
                    </a:lnTo>
                    <a:lnTo>
                      <a:pt x="40" y="0"/>
                    </a:lnTo>
                    <a:lnTo>
                      <a:pt x="51" y="10"/>
                    </a:lnTo>
                    <a:lnTo>
                      <a:pt x="13" y="5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70" name="Freeform 763">
                <a:extLst>
                  <a:ext uri="{FF2B5EF4-FFF2-40B4-BE49-F238E27FC236}">
                    <a16:creationId xmlns:a16="http://schemas.microsoft.com/office/drawing/2014/main" id="{FBC47B62-A5B6-BAB5-088E-755E0F9172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89925" y="3224213"/>
                <a:ext cx="568325" cy="574675"/>
              </a:xfrm>
              <a:custGeom>
                <a:avLst/>
                <a:gdLst>
                  <a:gd name="T0" fmla="*/ 73 w 134"/>
                  <a:gd name="T1" fmla="*/ 128 h 134"/>
                  <a:gd name="T2" fmla="*/ 61 w 134"/>
                  <a:gd name="T3" fmla="*/ 133 h 134"/>
                  <a:gd name="T4" fmla="*/ 62 w 134"/>
                  <a:gd name="T5" fmla="*/ 128 h 134"/>
                  <a:gd name="T6" fmla="*/ 79 w 134"/>
                  <a:gd name="T7" fmla="*/ 127 h 134"/>
                  <a:gd name="T8" fmla="*/ 80 w 134"/>
                  <a:gd name="T9" fmla="*/ 133 h 134"/>
                  <a:gd name="T10" fmla="*/ 45 w 134"/>
                  <a:gd name="T11" fmla="*/ 124 h 134"/>
                  <a:gd name="T12" fmla="*/ 38 w 134"/>
                  <a:gd name="T13" fmla="*/ 127 h 134"/>
                  <a:gd name="T14" fmla="*/ 40 w 134"/>
                  <a:gd name="T15" fmla="*/ 121 h 134"/>
                  <a:gd name="T16" fmla="*/ 22 w 134"/>
                  <a:gd name="T17" fmla="*/ 116 h 134"/>
                  <a:gd name="T18" fmla="*/ 27 w 134"/>
                  <a:gd name="T19" fmla="*/ 120 h 134"/>
                  <a:gd name="T20" fmla="*/ 19 w 134"/>
                  <a:gd name="T21" fmla="*/ 104 h 134"/>
                  <a:gd name="T22" fmla="*/ 11 w 134"/>
                  <a:gd name="T23" fmla="*/ 102 h 134"/>
                  <a:gd name="T24" fmla="*/ 16 w 134"/>
                  <a:gd name="T25" fmla="*/ 99 h 134"/>
                  <a:gd name="T26" fmla="*/ 3 w 134"/>
                  <a:gd name="T27" fmla="*/ 85 h 134"/>
                  <a:gd name="T28" fmla="*/ 5 w 134"/>
                  <a:gd name="T29" fmla="*/ 91 h 134"/>
                  <a:gd name="T30" fmla="*/ 128 w 134"/>
                  <a:gd name="T31" fmla="*/ 78 h 134"/>
                  <a:gd name="T32" fmla="*/ 2 w 134"/>
                  <a:gd name="T33" fmla="*/ 79 h 134"/>
                  <a:gd name="T34" fmla="*/ 7 w 134"/>
                  <a:gd name="T35" fmla="*/ 78 h 134"/>
                  <a:gd name="T36" fmla="*/ 128 w 134"/>
                  <a:gd name="T37" fmla="*/ 72 h 134"/>
                  <a:gd name="T38" fmla="*/ 134 w 134"/>
                  <a:gd name="T39" fmla="*/ 66 h 134"/>
                  <a:gd name="T40" fmla="*/ 6 w 134"/>
                  <a:gd name="T41" fmla="*/ 67 h 134"/>
                  <a:gd name="T42" fmla="*/ 7 w 134"/>
                  <a:gd name="T43" fmla="*/ 61 h 134"/>
                  <a:gd name="T44" fmla="*/ 127 w 134"/>
                  <a:gd name="T45" fmla="*/ 55 h 134"/>
                  <a:gd name="T46" fmla="*/ 128 w 134"/>
                  <a:gd name="T47" fmla="*/ 61 h 134"/>
                  <a:gd name="T48" fmla="*/ 3 w 134"/>
                  <a:gd name="T49" fmla="*/ 49 h 134"/>
                  <a:gd name="T50" fmla="*/ 126 w 134"/>
                  <a:gd name="T51" fmla="*/ 50 h 134"/>
                  <a:gd name="T52" fmla="*/ 132 w 134"/>
                  <a:gd name="T53" fmla="*/ 48 h 134"/>
                  <a:gd name="T54" fmla="*/ 5 w 134"/>
                  <a:gd name="T55" fmla="*/ 43 h 134"/>
                  <a:gd name="T56" fmla="*/ 10 w 134"/>
                  <a:gd name="T57" fmla="*/ 45 h 134"/>
                  <a:gd name="T58" fmla="*/ 124 w 134"/>
                  <a:gd name="T59" fmla="*/ 31 h 134"/>
                  <a:gd name="T60" fmla="*/ 15 w 134"/>
                  <a:gd name="T61" fmla="*/ 35 h 134"/>
                  <a:gd name="T62" fmla="*/ 19 w 134"/>
                  <a:gd name="T63" fmla="*/ 30 h 134"/>
                  <a:gd name="T64" fmla="*/ 112 w 134"/>
                  <a:gd name="T65" fmla="*/ 25 h 134"/>
                  <a:gd name="T66" fmla="*/ 116 w 134"/>
                  <a:gd name="T67" fmla="*/ 30 h 134"/>
                  <a:gd name="T68" fmla="*/ 22 w 134"/>
                  <a:gd name="T69" fmla="*/ 17 h 134"/>
                  <a:gd name="T70" fmla="*/ 108 w 134"/>
                  <a:gd name="T71" fmla="*/ 21 h 134"/>
                  <a:gd name="T72" fmla="*/ 112 w 134"/>
                  <a:gd name="T73" fmla="*/ 17 h 134"/>
                  <a:gd name="T74" fmla="*/ 27 w 134"/>
                  <a:gd name="T75" fmla="*/ 13 h 134"/>
                  <a:gd name="T76" fmla="*/ 30 w 134"/>
                  <a:gd name="T77" fmla="*/ 18 h 134"/>
                  <a:gd name="T78" fmla="*/ 97 w 134"/>
                  <a:gd name="T79" fmla="*/ 7 h 134"/>
                  <a:gd name="T80" fmla="*/ 40 w 134"/>
                  <a:gd name="T81" fmla="*/ 12 h 134"/>
                  <a:gd name="T82" fmla="*/ 45 w 134"/>
                  <a:gd name="T83" fmla="*/ 10 h 134"/>
                  <a:gd name="T84" fmla="*/ 84 w 134"/>
                  <a:gd name="T85" fmla="*/ 8 h 134"/>
                  <a:gd name="T86" fmla="*/ 89 w 134"/>
                  <a:gd name="T87" fmla="*/ 10 h 134"/>
                  <a:gd name="T88" fmla="*/ 55 w 134"/>
                  <a:gd name="T89" fmla="*/ 1 h 134"/>
                  <a:gd name="T90" fmla="*/ 78 w 134"/>
                  <a:gd name="T91" fmla="*/ 7 h 134"/>
                  <a:gd name="T92" fmla="*/ 80 w 134"/>
                  <a:gd name="T93" fmla="*/ 1 h 134"/>
                  <a:gd name="T94" fmla="*/ 61 w 134"/>
                  <a:gd name="T95" fmla="*/ 0 h 134"/>
                  <a:gd name="T96" fmla="*/ 62 w 134"/>
                  <a:gd name="T97" fmla="*/ 6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4" h="134">
                    <a:moveTo>
                      <a:pt x="68" y="134"/>
                    </a:moveTo>
                    <a:cubicBezTo>
                      <a:pt x="68" y="128"/>
                      <a:pt x="68" y="128"/>
                      <a:pt x="68" y="128"/>
                    </a:cubicBezTo>
                    <a:cubicBezTo>
                      <a:pt x="69" y="128"/>
                      <a:pt x="71" y="128"/>
                      <a:pt x="73" y="128"/>
                    </a:cubicBezTo>
                    <a:cubicBezTo>
                      <a:pt x="74" y="133"/>
                      <a:pt x="74" y="133"/>
                      <a:pt x="74" y="133"/>
                    </a:cubicBezTo>
                    <a:cubicBezTo>
                      <a:pt x="72" y="134"/>
                      <a:pt x="70" y="134"/>
                      <a:pt x="68" y="134"/>
                    </a:cubicBezTo>
                    <a:close/>
                    <a:moveTo>
                      <a:pt x="61" y="133"/>
                    </a:moveTo>
                    <a:cubicBezTo>
                      <a:pt x="59" y="133"/>
                      <a:pt x="57" y="133"/>
                      <a:pt x="55" y="133"/>
                    </a:cubicBezTo>
                    <a:cubicBezTo>
                      <a:pt x="56" y="127"/>
                      <a:pt x="56" y="127"/>
                      <a:pt x="56" y="127"/>
                    </a:cubicBezTo>
                    <a:cubicBezTo>
                      <a:pt x="58" y="127"/>
                      <a:pt x="60" y="127"/>
                      <a:pt x="62" y="128"/>
                    </a:cubicBezTo>
                    <a:lnTo>
                      <a:pt x="61" y="133"/>
                    </a:lnTo>
                    <a:close/>
                    <a:moveTo>
                      <a:pt x="80" y="133"/>
                    </a:moveTo>
                    <a:cubicBezTo>
                      <a:pt x="79" y="127"/>
                      <a:pt x="79" y="127"/>
                      <a:pt x="79" y="127"/>
                    </a:cubicBezTo>
                    <a:cubicBezTo>
                      <a:pt x="81" y="126"/>
                      <a:pt x="82" y="126"/>
                      <a:pt x="84" y="125"/>
                    </a:cubicBezTo>
                    <a:cubicBezTo>
                      <a:pt x="86" y="131"/>
                      <a:pt x="86" y="131"/>
                      <a:pt x="86" y="131"/>
                    </a:cubicBezTo>
                    <a:cubicBezTo>
                      <a:pt x="84" y="132"/>
                      <a:pt x="82" y="132"/>
                      <a:pt x="80" y="133"/>
                    </a:cubicBezTo>
                    <a:close/>
                    <a:moveTo>
                      <a:pt x="49" y="131"/>
                    </a:moveTo>
                    <a:cubicBezTo>
                      <a:pt x="47" y="131"/>
                      <a:pt x="45" y="130"/>
                      <a:pt x="43" y="129"/>
                    </a:cubicBezTo>
                    <a:cubicBezTo>
                      <a:pt x="45" y="124"/>
                      <a:pt x="45" y="124"/>
                      <a:pt x="45" y="124"/>
                    </a:cubicBezTo>
                    <a:cubicBezTo>
                      <a:pt x="47" y="124"/>
                      <a:pt x="49" y="125"/>
                      <a:pt x="51" y="125"/>
                    </a:cubicBezTo>
                    <a:lnTo>
                      <a:pt x="49" y="131"/>
                    </a:lnTo>
                    <a:close/>
                    <a:moveTo>
                      <a:pt x="38" y="127"/>
                    </a:moveTo>
                    <a:cubicBezTo>
                      <a:pt x="36" y="126"/>
                      <a:pt x="34" y="125"/>
                      <a:pt x="32" y="124"/>
                    </a:cubicBezTo>
                    <a:cubicBezTo>
                      <a:pt x="35" y="119"/>
                      <a:pt x="35" y="119"/>
                      <a:pt x="35" y="119"/>
                    </a:cubicBezTo>
                    <a:cubicBezTo>
                      <a:pt x="37" y="120"/>
                      <a:pt x="39" y="121"/>
                      <a:pt x="40" y="121"/>
                    </a:cubicBezTo>
                    <a:lnTo>
                      <a:pt x="38" y="127"/>
                    </a:lnTo>
                    <a:close/>
                    <a:moveTo>
                      <a:pt x="27" y="120"/>
                    </a:moveTo>
                    <a:cubicBezTo>
                      <a:pt x="26" y="119"/>
                      <a:pt x="24" y="118"/>
                      <a:pt x="22" y="116"/>
                    </a:cubicBezTo>
                    <a:cubicBezTo>
                      <a:pt x="26" y="112"/>
                      <a:pt x="26" y="112"/>
                      <a:pt x="26" y="112"/>
                    </a:cubicBezTo>
                    <a:cubicBezTo>
                      <a:pt x="28" y="113"/>
                      <a:pt x="29" y="114"/>
                      <a:pt x="31" y="116"/>
                    </a:cubicBezTo>
                    <a:lnTo>
                      <a:pt x="27" y="120"/>
                    </a:lnTo>
                    <a:close/>
                    <a:moveTo>
                      <a:pt x="18" y="112"/>
                    </a:moveTo>
                    <a:cubicBezTo>
                      <a:pt x="17" y="110"/>
                      <a:pt x="15" y="109"/>
                      <a:pt x="14" y="107"/>
                    </a:cubicBezTo>
                    <a:cubicBezTo>
                      <a:pt x="19" y="104"/>
                      <a:pt x="19" y="104"/>
                      <a:pt x="19" y="104"/>
                    </a:cubicBezTo>
                    <a:cubicBezTo>
                      <a:pt x="20" y="105"/>
                      <a:pt x="21" y="107"/>
                      <a:pt x="22" y="108"/>
                    </a:cubicBezTo>
                    <a:lnTo>
                      <a:pt x="18" y="112"/>
                    </a:lnTo>
                    <a:close/>
                    <a:moveTo>
                      <a:pt x="11" y="102"/>
                    </a:moveTo>
                    <a:cubicBezTo>
                      <a:pt x="9" y="100"/>
                      <a:pt x="8" y="98"/>
                      <a:pt x="8" y="97"/>
                    </a:cubicBezTo>
                    <a:cubicBezTo>
                      <a:pt x="13" y="94"/>
                      <a:pt x="13" y="94"/>
                      <a:pt x="13" y="94"/>
                    </a:cubicBezTo>
                    <a:cubicBezTo>
                      <a:pt x="14" y="96"/>
                      <a:pt x="15" y="97"/>
                      <a:pt x="16" y="99"/>
                    </a:cubicBezTo>
                    <a:lnTo>
                      <a:pt x="11" y="102"/>
                    </a:lnTo>
                    <a:close/>
                    <a:moveTo>
                      <a:pt x="5" y="91"/>
                    </a:moveTo>
                    <a:cubicBezTo>
                      <a:pt x="4" y="89"/>
                      <a:pt x="4" y="87"/>
                      <a:pt x="3" y="85"/>
                    </a:cubicBezTo>
                    <a:cubicBezTo>
                      <a:pt x="9" y="84"/>
                      <a:pt x="9" y="84"/>
                      <a:pt x="9" y="84"/>
                    </a:cubicBezTo>
                    <a:cubicBezTo>
                      <a:pt x="9" y="85"/>
                      <a:pt x="10" y="87"/>
                      <a:pt x="10" y="89"/>
                    </a:cubicBezTo>
                    <a:lnTo>
                      <a:pt x="5" y="91"/>
                    </a:lnTo>
                    <a:close/>
                    <a:moveTo>
                      <a:pt x="132" y="85"/>
                    </a:moveTo>
                    <a:cubicBezTo>
                      <a:pt x="126" y="83"/>
                      <a:pt x="126" y="83"/>
                      <a:pt x="126" y="83"/>
                    </a:cubicBezTo>
                    <a:cubicBezTo>
                      <a:pt x="127" y="82"/>
                      <a:pt x="127" y="80"/>
                      <a:pt x="128" y="78"/>
                    </a:cubicBezTo>
                    <a:cubicBezTo>
                      <a:pt x="133" y="79"/>
                      <a:pt x="133" y="79"/>
                      <a:pt x="133" y="79"/>
                    </a:cubicBezTo>
                    <a:cubicBezTo>
                      <a:pt x="133" y="81"/>
                      <a:pt x="132" y="83"/>
                      <a:pt x="132" y="85"/>
                    </a:cubicBezTo>
                    <a:close/>
                    <a:moveTo>
                      <a:pt x="2" y="79"/>
                    </a:moveTo>
                    <a:cubicBezTo>
                      <a:pt x="1" y="77"/>
                      <a:pt x="1" y="75"/>
                      <a:pt x="1" y="73"/>
                    </a:cubicBezTo>
                    <a:cubicBezTo>
                      <a:pt x="7" y="72"/>
                      <a:pt x="7" y="72"/>
                      <a:pt x="7" y="72"/>
                    </a:cubicBezTo>
                    <a:cubicBezTo>
                      <a:pt x="7" y="74"/>
                      <a:pt x="7" y="76"/>
                      <a:pt x="7" y="78"/>
                    </a:cubicBezTo>
                    <a:lnTo>
                      <a:pt x="2" y="79"/>
                    </a:lnTo>
                    <a:close/>
                    <a:moveTo>
                      <a:pt x="134" y="73"/>
                    </a:moveTo>
                    <a:cubicBezTo>
                      <a:pt x="128" y="72"/>
                      <a:pt x="128" y="72"/>
                      <a:pt x="128" y="72"/>
                    </a:cubicBezTo>
                    <a:cubicBezTo>
                      <a:pt x="128" y="70"/>
                      <a:pt x="129" y="69"/>
                      <a:pt x="129" y="67"/>
                    </a:cubicBezTo>
                    <a:cubicBezTo>
                      <a:pt x="129" y="66"/>
                      <a:pt x="129" y="66"/>
                      <a:pt x="129" y="66"/>
                    </a:cubicBezTo>
                    <a:cubicBezTo>
                      <a:pt x="134" y="66"/>
                      <a:pt x="134" y="66"/>
                      <a:pt x="134" y="66"/>
                    </a:cubicBezTo>
                    <a:cubicBezTo>
                      <a:pt x="134" y="67"/>
                      <a:pt x="134" y="67"/>
                      <a:pt x="134" y="67"/>
                    </a:cubicBezTo>
                    <a:cubicBezTo>
                      <a:pt x="134" y="69"/>
                      <a:pt x="134" y="71"/>
                      <a:pt x="134" y="73"/>
                    </a:cubicBezTo>
                    <a:close/>
                    <a:moveTo>
                      <a:pt x="6" y="67"/>
                    </a:moveTo>
                    <a:cubicBezTo>
                      <a:pt x="0" y="67"/>
                      <a:pt x="0" y="67"/>
                      <a:pt x="0" y="67"/>
                    </a:cubicBezTo>
                    <a:cubicBezTo>
                      <a:pt x="0" y="65"/>
                      <a:pt x="1" y="63"/>
                      <a:pt x="1" y="61"/>
                    </a:cubicBezTo>
                    <a:cubicBezTo>
                      <a:pt x="7" y="61"/>
                      <a:pt x="7" y="61"/>
                      <a:pt x="7" y="61"/>
                    </a:cubicBezTo>
                    <a:cubicBezTo>
                      <a:pt x="6" y="63"/>
                      <a:pt x="6" y="65"/>
                      <a:pt x="6" y="67"/>
                    </a:cubicBezTo>
                    <a:close/>
                    <a:moveTo>
                      <a:pt x="128" y="61"/>
                    </a:moveTo>
                    <a:cubicBezTo>
                      <a:pt x="128" y="59"/>
                      <a:pt x="128" y="57"/>
                      <a:pt x="127" y="55"/>
                    </a:cubicBezTo>
                    <a:cubicBezTo>
                      <a:pt x="133" y="54"/>
                      <a:pt x="133" y="54"/>
                      <a:pt x="133" y="54"/>
                    </a:cubicBezTo>
                    <a:cubicBezTo>
                      <a:pt x="134" y="56"/>
                      <a:pt x="134" y="58"/>
                      <a:pt x="134" y="60"/>
                    </a:cubicBezTo>
                    <a:lnTo>
                      <a:pt x="128" y="61"/>
                    </a:lnTo>
                    <a:close/>
                    <a:moveTo>
                      <a:pt x="7" y="56"/>
                    </a:moveTo>
                    <a:cubicBezTo>
                      <a:pt x="2" y="55"/>
                      <a:pt x="2" y="55"/>
                      <a:pt x="2" y="55"/>
                    </a:cubicBezTo>
                    <a:cubicBezTo>
                      <a:pt x="2" y="53"/>
                      <a:pt x="2" y="50"/>
                      <a:pt x="3" y="49"/>
                    </a:cubicBezTo>
                    <a:cubicBezTo>
                      <a:pt x="9" y="50"/>
                      <a:pt x="9" y="50"/>
                      <a:pt x="9" y="50"/>
                    </a:cubicBezTo>
                    <a:cubicBezTo>
                      <a:pt x="8" y="52"/>
                      <a:pt x="8" y="54"/>
                      <a:pt x="7" y="56"/>
                    </a:cubicBezTo>
                    <a:close/>
                    <a:moveTo>
                      <a:pt x="126" y="50"/>
                    </a:moveTo>
                    <a:cubicBezTo>
                      <a:pt x="126" y="48"/>
                      <a:pt x="125" y="46"/>
                      <a:pt x="124" y="44"/>
                    </a:cubicBezTo>
                    <a:cubicBezTo>
                      <a:pt x="130" y="42"/>
                      <a:pt x="130" y="42"/>
                      <a:pt x="130" y="42"/>
                    </a:cubicBezTo>
                    <a:cubicBezTo>
                      <a:pt x="131" y="44"/>
                      <a:pt x="131" y="46"/>
                      <a:pt x="132" y="48"/>
                    </a:cubicBezTo>
                    <a:lnTo>
                      <a:pt x="126" y="50"/>
                    </a:lnTo>
                    <a:close/>
                    <a:moveTo>
                      <a:pt x="10" y="45"/>
                    </a:moveTo>
                    <a:cubicBezTo>
                      <a:pt x="5" y="43"/>
                      <a:pt x="5" y="43"/>
                      <a:pt x="5" y="43"/>
                    </a:cubicBezTo>
                    <a:cubicBezTo>
                      <a:pt x="6" y="41"/>
                      <a:pt x="6" y="39"/>
                      <a:pt x="7" y="37"/>
                    </a:cubicBezTo>
                    <a:cubicBezTo>
                      <a:pt x="13" y="40"/>
                      <a:pt x="13" y="40"/>
                      <a:pt x="13" y="40"/>
                    </a:cubicBezTo>
                    <a:cubicBezTo>
                      <a:pt x="12" y="41"/>
                      <a:pt x="11" y="43"/>
                      <a:pt x="10" y="45"/>
                    </a:cubicBezTo>
                    <a:close/>
                    <a:moveTo>
                      <a:pt x="122" y="39"/>
                    </a:moveTo>
                    <a:cubicBezTo>
                      <a:pt x="121" y="38"/>
                      <a:pt x="120" y="36"/>
                      <a:pt x="119" y="34"/>
                    </a:cubicBezTo>
                    <a:cubicBezTo>
                      <a:pt x="124" y="31"/>
                      <a:pt x="124" y="31"/>
                      <a:pt x="124" y="31"/>
                    </a:cubicBezTo>
                    <a:cubicBezTo>
                      <a:pt x="125" y="33"/>
                      <a:pt x="126" y="35"/>
                      <a:pt x="127" y="37"/>
                    </a:cubicBezTo>
                    <a:lnTo>
                      <a:pt x="122" y="39"/>
                    </a:lnTo>
                    <a:close/>
                    <a:moveTo>
                      <a:pt x="15" y="35"/>
                    </a:moveTo>
                    <a:cubicBezTo>
                      <a:pt x="10" y="32"/>
                      <a:pt x="10" y="32"/>
                      <a:pt x="10" y="32"/>
                    </a:cubicBezTo>
                    <a:cubicBezTo>
                      <a:pt x="11" y="30"/>
                      <a:pt x="13" y="28"/>
                      <a:pt x="14" y="26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7" y="31"/>
                      <a:pt x="16" y="33"/>
                      <a:pt x="15" y="35"/>
                    </a:cubicBezTo>
                    <a:close/>
                    <a:moveTo>
                      <a:pt x="116" y="30"/>
                    </a:moveTo>
                    <a:cubicBezTo>
                      <a:pt x="115" y="28"/>
                      <a:pt x="114" y="27"/>
                      <a:pt x="112" y="25"/>
                    </a:cubicBezTo>
                    <a:cubicBezTo>
                      <a:pt x="117" y="21"/>
                      <a:pt x="117" y="21"/>
                      <a:pt x="117" y="21"/>
                    </a:cubicBezTo>
                    <a:cubicBezTo>
                      <a:pt x="118" y="23"/>
                      <a:pt x="120" y="24"/>
                      <a:pt x="121" y="26"/>
                    </a:cubicBezTo>
                    <a:lnTo>
                      <a:pt x="116" y="30"/>
                    </a:lnTo>
                    <a:close/>
                    <a:moveTo>
                      <a:pt x="22" y="26"/>
                    </a:moveTo>
                    <a:cubicBezTo>
                      <a:pt x="18" y="22"/>
                      <a:pt x="18" y="22"/>
                      <a:pt x="18" y="22"/>
                    </a:cubicBezTo>
                    <a:cubicBezTo>
                      <a:pt x="19" y="20"/>
                      <a:pt x="21" y="19"/>
                      <a:pt x="22" y="17"/>
                    </a:cubicBezTo>
                    <a:cubicBezTo>
                      <a:pt x="26" y="22"/>
                      <a:pt x="26" y="22"/>
                      <a:pt x="26" y="22"/>
                    </a:cubicBezTo>
                    <a:cubicBezTo>
                      <a:pt x="25" y="23"/>
                      <a:pt x="23" y="24"/>
                      <a:pt x="22" y="26"/>
                    </a:cubicBezTo>
                    <a:close/>
                    <a:moveTo>
                      <a:pt x="108" y="21"/>
                    </a:moveTo>
                    <a:cubicBezTo>
                      <a:pt x="107" y="20"/>
                      <a:pt x="106" y="19"/>
                      <a:pt x="104" y="18"/>
                    </a:cubicBezTo>
                    <a:cubicBezTo>
                      <a:pt x="108" y="13"/>
                      <a:pt x="108" y="13"/>
                      <a:pt x="108" y="13"/>
                    </a:cubicBezTo>
                    <a:cubicBezTo>
                      <a:pt x="109" y="14"/>
                      <a:pt x="111" y="16"/>
                      <a:pt x="112" y="17"/>
                    </a:cubicBezTo>
                    <a:lnTo>
                      <a:pt x="108" y="21"/>
                    </a:lnTo>
                    <a:close/>
                    <a:moveTo>
                      <a:pt x="30" y="18"/>
                    </a:moveTo>
                    <a:cubicBezTo>
                      <a:pt x="27" y="13"/>
                      <a:pt x="27" y="13"/>
                      <a:pt x="27" y="13"/>
                    </a:cubicBezTo>
                    <a:cubicBezTo>
                      <a:pt x="29" y="12"/>
                      <a:pt x="30" y="11"/>
                      <a:pt x="32" y="10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4" y="16"/>
                      <a:pt x="32" y="17"/>
                      <a:pt x="30" y="18"/>
                    </a:cubicBezTo>
                    <a:close/>
                    <a:moveTo>
                      <a:pt x="99" y="15"/>
                    </a:moveTo>
                    <a:cubicBezTo>
                      <a:pt x="98" y="14"/>
                      <a:pt x="96" y="13"/>
                      <a:pt x="95" y="12"/>
                    </a:cubicBezTo>
                    <a:cubicBezTo>
                      <a:pt x="97" y="7"/>
                      <a:pt x="97" y="7"/>
                      <a:pt x="97" y="7"/>
                    </a:cubicBezTo>
                    <a:cubicBezTo>
                      <a:pt x="99" y="8"/>
                      <a:pt x="101" y="9"/>
                      <a:pt x="103" y="10"/>
                    </a:cubicBezTo>
                    <a:lnTo>
                      <a:pt x="99" y="15"/>
                    </a:lnTo>
                    <a:close/>
                    <a:moveTo>
                      <a:pt x="40" y="12"/>
                    </a:moveTo>
                    <a:cubicBezTo>
                      <a:pt x="37" y="7"/>
                      <a:pt x="37" y="7"/>
                      <a:pt x="37" y="7"/>
                    </a:cubicBezTo>
                    <a:cubicBezTo>
                      <a:pt x="39" y="6"/>
                      <a:pt x="41" y="5"/>
                      <a:pt x="43" y="4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3" y="10"/>
                      <a:pt x="42" y="11"/>
                      <a:pt x="40" y="12"/>
                    </a:cubicBezTo>
                    <a:close/>
                    <a:moveTo>
                      <a:pt x="89" y="10"/>
                    </a:moveTo>
                    <a:cubicBezTo>
                      <a:pt x="88" y="9"/>
                      <a:pt x="86" y="8"/>
                      <a:pt x="84" y="8"/>
                    </a:cubicBezTo>
                    <a:cubicBezTo>
                      <a:pt x="86" y="2"/>
                      <a:pt x="86" y="2"/>
                      <a:pt x="86" y="2"/>
                    </a:cubicBezTo>
                    <a:cubicBezTo>
                      <a:pt x="88" y="3"/>
                      <a:pt x="90" y="3"/>
                      <a:pt x="91" y="4"/>
                    </a:cubicBezTo>
                    <a:lnTo>
                      <a:pt x="89" y="10"/>
                    </a:lnTo>
                    <a:close/>
                    <a:moveTo>
                      <a:pt x="51" y="8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51" y="2"/>
                      <a:pt x="53" y="1"/>
                      <a:pt x="55" y="1"/>
                    </a:cubicBezTo>
                    <a:cubicBezTo>
                      <a:pt x="56" y="7"/>
                      <a:pt x="56" y="7"/>
                      <a:pt x="56" y="7"/>
                    </a:cubicBezTo>
                    <a:cubicBezTo>
                      <a:pt x="54" y="7"/>
                      <a:pt x="52" y="7"/>
                      <a:pt x="51" y="8"/>
                    </a:cubicBezTo>
                    <a:close/>
                    <a:moveTo>
                      <a:pt x="78" y="7"/>
                    </a:moveTo>
                    <a:cubicBezTo>
                      <a:pt x="77" y="6"/>
                      <a:pt x="75" y="6"/>
                      <a:pt x="73" y="6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5" y="0"/>
                      <a:pt x="78" y="0"/>
                      <a:pt x="80" y="1"/>
                    </a:cubicBezTo>
                    <a:lnTo>
                      <a:pt x="78" y="7"/>
                    </a:lnTo>
                    <a:close/>
                    <a:moveTo>
                      <a:pt x="62" y="6"/>
                    </a:moveTo>
                    <a:cubicBezTo>
                      <a:pt x="61" y="0"/>
                      <a:pt x="61" y="0"/>
                      <a:pt x="61" y="0"/>
                    </a:cubicBezTo>
                    <a:cubicBezTo>
                      <a:pt x="63" y="0"/>
                      <a:pt x="65" y="0"/>
                      <a:pt x="67" y="0"/>
                    </a:cubicBezTo>
                    <a:cubicBezTo>
                      <a:pt x="67" y="6"/>
                      <a:pt x="67" y="6"/>
                      <a:pt x="67" y="6"/>
                    </a:cubicBezTo>
                    <a:cubicBezTo>
                      <a:pt x="65" y="6"/>
                      <a:pt x="63" y="6"/>
                      <a:pt x="62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553ADFE7-EC61-CAB6-0DF3-5C4C6BEF1102}"/>
                </a:ext>
              </a:extLst>
            </p:cNvPr>
            <p:cNvGrpSpPr>
              <a:grpSpLocks/>
            </p:cNvGrpSpPr>
            <p:nvPr/>
          </p:nvGrpSpPr>
          <p:grpSpPr>
            <a:xfrm>
              <a:off x="3956040" y="4080803"/>
              <a:ext cx="237279" cy="303421"/>
              <a:chOff x="431801" y="4117972"/>
              <a:chExt cx="561975" cy="725487"/>
            </a:xfrm>
            <a:solidFill>
              <a:schemeClr val="tx1"/>
            </a:solidFill>
          </p:grpSpPr>
          <p:sp>
            <p:nvSpPr>
              <p:cNvPr id="57" name="Freeform 7">
                <a:extLst>
                  <a:ext uri="{FF2B5EF4-FFF2-40B4-BE49-F238E27FC236}">
                    <a16:creationId xmlns:a16="http://schemas.microsoft.com/office/drawing/2014/main" id="{72D1E1D3-03E4-247E-FEB0-527762744A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113" y="4316411"/>
                <a:ext cx="130175" cy="303213"/>
              </a:xfrm>
              <a:custGeom>
                <a:avLst/>
                <a:gdLst>
                  <a:gd name="T0" fmla="*/ 96 w 191"/>
                  <a:gd name="T1" fmla="*/ 445 h 445"/>
                  <a:gd name="T2" fmla="*/ 163 w 191"/>
                  <a:gd name="T3" fmla="*/ 418 h 445"/>
                  <a:gd name="T4" fmla="*/ 191 w 191"/>
                  <a:gd name="T5" fmla="*/ 350 h 445"/>
                  <a:gd name="T6" fmla="*/ 163 w 191"/>
                  <a:gd name="T7" fmla="*/ 283 h 445"/>
                  <a:gd name="T8" fmla="*/ 96 w 191"/>
                  <a:gd name="T9" fmla="*/ 255 h 445"/>
                  <a:gd name="T10" fmla="*/ 28 w 191"/>
                  <a:gd name="T11" fmla="*/ 283 h 445"/>
                  <a:gd name="T12" fmla="*/ 0 w 191"/>
                  <a:gd name="T13" fmla="*/ 350 h 445"/>
                  <a:gd name="T14" fmla="*/ 28 w 191"/>
                  <a:gd name="T15" fmla="*/ 418 h 445"/>
                  <a:gd name="T16" fmla="*/ 96 w 191"/>
                  <a:gd name="T17" fmla="*/ 445 h 445"/>
                  <a:gd name="T18" fmla="*/ 34 w 191"/>
                  <a:gd name="T19" fmla="*/ 343 h 445"/>
                  <a:gd name="T20" fmla="*/ 37 w 191"/>
                  <a:gd name="T21" fmla="*/ 326 h 445"/>
                  <a:gd name="T22" fmla="*/ 54 w 191"/>
                  <a:gd name="T23" fmla="*/ 328 h 445"/>
                  <a:gd name="T24" fmla="*/ 83 w 191"/>
                  <a:gd name="T25" fmla="*/ 368 h 445"/>
                  <a:gd name="T26" fmla="*/ 103 w 191"/>
                  <a:gd name="T27" fmla="*/ 340 h 445"/>
                  <a:gd name="T28" fmla="*/ 139 w 191"/>
                  <a:gd name="T29" fmla="*/ 302 h 445"/>
                  <a:gd name="T30" fmla="*/ 156 w 191"/>
                  <a:gd name="T31" fmla="*/ 303 h 445"/>
                  <a:gd name="T32" fmla="*/ 156 w 191"/>
                  <a:gd name="T33" fmla="*/ 320 h 445"/>
                  <a:gd name="T34" fmla="*/ 123 w 191"/>
                  <a:gd name="T35" fmla="*/ 355 h 445"/>
                  <a:gd name="T36" fmla="*/ 95 w 191"/>
                  <a:gd name="T37" fmla="*/ 396 h 445"/>
                  <a:gd name="T38" fmla="*/ 91 w 191"/>
                  <a:gd name="T39" fmla="*/ 400 h 445"/>
                  <a:gd name="T40" fmla="*/ 74 w 191"/>
                  <a:gd name="T41" fmla="*/ 397 h 445"/>
                  <a:gd name="T42" fmla="*/ 34 w 191"/>
                  <a:gd name="T43" fmla="*/ 343 h 445"/>
                  <a:gd name="T44" fmla="*/ 96 w 191"/>
                  <a:gd name="T45" fmla="*/ 190 h 445"/>
                  <a:gd name="T46" fmla="*/ 163 w 191"/>
                  <a:gd name="T47" fmla="*/ 162 h 445"/>
                  <a:gd name="T48" fmla="*/ 191 w 191"/>
                  <a:gd name="T49" fmla="*/ 95 h 445"/>
                  <a:gd name="T50" fmla="*/ 163 w 191"/>
                  <a:gd name="T51" fmla="*/ 27 h 445"/>
                  <a:gd name="T52" fmla="*/ 96 w 191"/>
                  <a:gd name="T53" fmla="*/ 0 h 445"/>
                  <a:gd name="T54" fmla="*/ 28 w 191"/>
                  <a:gd name="T55" fmla="*/ 27 h 445"/>
                  <a:gd name="T56" fmla="*/ 0 w 191"/>
                  <a:gd name="T57" fmla="*/ 95 h 445"/>
                  <a:gd name="T58" fmla="*/ 28 w 191"/>
                  <a:gd name="T59" fmla="*/ 162 h 445"/>
                  <a:gd name="T60" fmla="*/ 96 w 191"/>
                  <a:gd name="T61" fmla="*/ 190 h 445"/>
                  <a:gd name="T62" fmla="*/ 34 w 191"/>
                  <a:gd name="T63" fmla="*/ 88 h 445"/>
                  <a:gd name="T64" fmla="*/ 37 w 191"/>
                  <a:gd name="T65" fmla="*/ 70 h 445"/>
                  <a:gd name="T66" fmla="*/ 54 w 191"/>
                  <a:gd name="T67" fmla="*/ 73 h 445"/>
                  <a:gd name="T68" fmla="*/ 83 w 191"/>
                  <a:gd name="T69" fmla="*/ 112 h 445"/>
                  <a:gd name="T70" fmla="*/ 103 w 191"/>
                  <a:gd name="T71" fmla="*/ 84 h 445"/>
                  <a:gd name="T72" fmla="*/ 139 w 191"/>
                  <a:gd name="T73" fmla="*/ 46 h 445"/>
                  <a:gd name="T74" fmla="*/ 156 w 191"/>
                  <a:gd name="T75" fmla="*/ 47 h 445"/>
                  <a:gd name="T76" fmla="*/ 156 w 191"/>
                  <a:gd name="T77" fmla="*/ 64 h 445"/>
                  <a:gd name="T78" fmla="*/ 123 w 191"/>
                  <a:gd name="T79" fmla="*/ 100 h 445"/>
                  <a:gd name="T80" fmla="*/ 95 w 191"/>
                  <a:gd name="T81" fmla="*/ 140 h 445"/>
                  <a:gd name="T82" fmla="*/ 91 w 191"/>
                  <a:gd name="T83" fmla="*/ 144 h 445"/>
                  <a:gd name="T84" fmla="*/ 74 w 191"/>
                  <a:gd name="T85" fmla="*/ 141 h 445"/>
                  <a:gd name="T86" fmla="*/ 34 w 191"/>
                  <a:gd name="T87" fmla="*/ 88 h 4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1" h="445">
                    <a:moveTo>
                      <a:pt x="96" y="445"/>
                    </a:moveTo>
                    <a:cubicBezTo>
                      <a:pt x="122" y="445"/>
                      <a:pt x="146" y="435"/>
                      <a:pt x="163" y="418"/>
                    </a:cubicBezTo>
                    <a:cubicBezTo>
                      <a:pt x="180" y="400"/>
                      <a:pt x="191" y="377"/>
                      <a:pt x="191" y="350"/>
                    </a:cubicBezTo>
                    <a:cubicBezTo>
                      <a:pt x="191" y="324"/>
                      <a:pt x="180" y="300"/>
                      <a:pt x="163" y="283"/>
                    </a:cubicBezTo>
                    <a:cubicBezTo>
                      <a:pt x="146" y="266"/>
                      <a:pt x="122" y="255"/>
                      <a:pt x="96" y="255"/>
                    </a:cubicBezTo>
                    <a:cubicBezTo>
                      <a:pt x="69" y="255"/>
                      <a:pt x="46" y="266"/>
                      <a:pt x="28" y="283"/>
                    </a:cubicBezTo>
                    <a:cubicBezTo>
                      <a:pt x="11" y="300"/>
                      <a:pt x="0" y="324"/>
                      <a:pt x="0" y="350"/>
                    </a:cubicBezTo>
                    <a:cubicBezTo>
                      <a:pt x="0" y="377"/>
                      <a:pt x="11" y="400"/>
                      <a:pt x="28" y="418"/>
                    </a:cubicBezTo>
                    <a:cubicBezTo>
                      <a:pt x="46" y="435"/>
                      <a:pt x="69" y="445"/>
                      <a:pt x="96" y="445"/>
                    </a:cubicBezTo>
                    <a:close/>
                    <a:moveTo>
                      <a:pt x="34" y="343"/>
                    </a:moveTo>
                    <a:cubicBezTo>
                      <a:pt x="30" y="338"/>
                      <a:pt x="31" y="330"/>
                      <a:pt x="37" y="326"/>
                    </a:cubicBezTo>
                    <a:cubicBezTo>
                      <a:pt x="42" y="322"/>
                      <a:pt x="50" y="323"/>
                      <a:pt x="54" y="328"/>
                    </a:cubicBezTo>
                    <a:cubicBezTo>
                      <a:pt x="83" y="368"/>
                      <a:pt x="83" y="368"/>
                      <a:pt x="83" y="368"/>
                    </a:cubicBezTo>
                    <a:cubicBezTo>
                      <a:pt x="89" y="358"/>
                      <a:pt x="96" y="349"/>
                      <a:pt x="103" y="340"/>
                    </a:cubicBezTo>
                    <a:cubicBezTo>
                      <a:pt x="114" y="326"/>
                      <a:pt x="126" y="314"/>
                      <a:pt x="139" y="302"/>
                    </a:cubicBezTo>
                    <a:cubicBezTo>
                      <a:pt x="144" y="297"/>
                      <a:pt x="152" y="298"/>
                      <a:pt x="156" y="303"/>
                    </a:cubicBezTo>
                    <a:cubicBezTo>
                      <a:pt x="161" y="308"/>
                      <a:pt x="161" y="315"/>
                      <a:pt x="156" y="320"/>
                    </a:cubicBezTo>
                    <a:cubicBezTo>
                      <a:pt x="144" y="331"/>
                      <a:pt x="133" y="343"/>
                      <a:pt x="123" y="355"/>
                    </a:cubicBezTo>
                    <a:cubicBezTo>
                      <a:pt x="113" y="368"/>
                      <a:pt x="103" y="381"/>
                      <a:pt x="95" y="396"/>
                    </a:cubicBezTo>
                    <a:cubicBezTo>
                      <a:pt x="94" y="397"/>
                      <a:pt x="93" y="398"/>
                      <a:pt x="91" y="400"/>
                    </a:cubicBezTo>
                    <a:cubicBezTo>
                      <a:pt x="86" y="404"/>
                      <a:pt x="78" y="403"/>
                      <a:pt x="74" y="397"/>
                    </a:cubicBezTo>
                    <a:cubicBezTo>
                      <a:pt x="34" y="343"/>
                      <a:pt x="34" y="343"/>
                      <a:pt x="34" y="343"/>
                    </a:cubicBezTo>
                    <a:close/>
                    <a:moveTo>
                      <a:pt x="96" y="190"/>
                    </a:moveTo>
                    <a:cubicBezTo>
                      <a:pt x="122" y="190"/>
                      <a:pt x="146" y="179"/>
                      <a:pt x="163" y="162"/>
                    </a:cubicBezTo>
                    <a:cubicBezTo>
                      <a:pt x="180" y="145"/>
                      <a:pt x="191" y="121"/>
                      <a:pt x="191" y="95"/>
                    </a:cubicBezTo>
                    <a:cubicBezTo>
                      <a:pt x="191" y="68"/>
                      <a:pt x="180" y="45"/>
                      <a:pt x="163" y="27"/>
                    </a:cubicBezTo>
                    <a:cubicBezTo>
                      <a:pt x="146" y="10"/>
                      <a:pt x="122" y="0"/>
                      <a:pt x="96" y="0"/>
                    </a:cubicBezTo>
                    <a:cubicBezTo>
                      <a:pt x="69" y="0"/>
                      <a:pt x="46" y="10"/>
                      <a:pt x="28" y="27"/>
                    </a:cubicBezTo>
                    <a:cubicBezTo>
                      <a:pt x="11" y="45"/>
                      <a:pt x="0" y="68"/>
                      <a:pt x="0" y="95"/>
                    </a:cubicBezTo>
                    <a:cubicBezTo>
                      <a:pt x="0" y="121"/>
                      <a:pt x="11" y="145"/>
                      <a:pt x="28" y="162"/>
                    </a:cubicBezTo>
                    <a:cubicBezTo>
                      <a:pt x="46" y="179"/>
                      <a:pt x="69" y="190"/>
                      <a:pt x="96" y="190"/>
                    </a:cubicBezTo>
                    <a:close/>
                    <a:moveTo>
                      <a:pt x="34" y="88"/>
                    </a:moveTo>
                    <a:cubicBezTo>
                      <a:pt x="30" y="82"/>
                      <a:pt x="31" y="74"/>
                      <a:pt x="37" y="70"/>
                    </a:cubicBezTo>
                    <a:cubicBezTo>
                      <a:pt x="42" y="66"/>
                      <a:pt x="50" y="67"/>
                      <a:pt x="54" y="73"/>
                    </a:cubicBezTo>
                    <a:cubicBezTo>
                      <a:pt x="83" y="112"/>
                      <a:pt x="83" y="112"/>
                      <a:pt x="83" y="112"/>
                    </a:cubicBezTo>
                    <a:cubicBezTo>
                      <a:pt x="89" y="102"/>
                      <a:pt x="96" y="93"/>
                      <a:pt x="103" y="84"/>
                    </a:cubicBezTo>
                    <a:cubicBezTo>
                      <a:pt x="114" y="71"/>
                      <a:pt x="126" y="58"/>
                      <a:pt x="139" y="46"/>
                    </a:cubicBezTo>
                    <a:cubicBezTo>
                      <a:pt x="144" y="42"/>
                      <a:pt x="152" y="42"/>
                      <a:pt x="156" y="47"/>
                    </a:cubicBezTo>
                    <a:cubicBezTo>
                      <a:pt x="161" y="52"/>
                      <a:pt x="161" y="60"/>
                      <a:pt x="156" y="64"/>
                    </a:cubicBezTo>
                    <a:cubicBezTo>
                      <a:pt x="144" y="75"/>
                      <a:pt x="133" y="87"/>
                      <a:pt x="123" y="100"/>
                    </a:cubicBezTo>
                    <a:cubicBezTo>
                      <a:pt x="113" y="112"/>
                      <a:pt x="103" y="126"/>
                      <a:pt x="95" y="140"/>
                    </a:cubicBezTo>
                    <a:cubicBezTo>
                      <a:pt x="94" y="141"/>
                      <a:pt x="93" y="143"/>
                      <a:pt x="91" y="144"/>
                    </a:cubicBezTo>
                    <a:cubicBezTo>
                      <a:pt x="86" y="148"/>
                      <a:pt x="78" y="147"/>
                      <a:pt x="74" y="141"/>
                    </a:cubicBezTo>
                    <a:cubicBezTo>
                      <a:pt x="34" y="88"/>
                      <a:pt x="34" y="88"/>
                      <a:pt x="34" y="8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E68730AC-7CDC-4008-6B9C-573DED63A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01" y="4117972"/>
                <a:ext cx="561975" cy="725487"/>
              </a:xfrm>
              <a:custGeom>
                <a:avLst/>
                <a:gdLst>
                  <a:gd name="T0" fmla="*/ 779 w 824"/>
                  <a:gd name="T1" fmla="*/ 255 h 1067"/>
                  <a:gd name="T2" fmla="*/ 728 w 824"/>
                  <a:gd name="T3" fmla="*/ 204 h 1067"/>
                  <a:gd name="T4" fmla="*/ 633 w 824"/>
                  <a:gd name="T5" fmla="*/ 204 h 1067"/>
                  <a:gd name="T6" fmla="*/ 633 w 824"/>
                  <a:gd name="T7" fmla="*/ 160 h 1067"/>
                  <a:gd name="T8" fmla="*/ 728 w 824"/>
                  <a:gd name="T9" fmla="*/ 160 h 1067"/>
                  <a:gd name="T10" fmla="*/ 824 w 824"/>
                  <a:gd name="T11" fmla="*/ 255 h 1067"/>
                  <a:gd name="T12" fmla="*/ 824 w 824"/>
                  <a:gd name="T13" fmla="*/ 972 h 1067"/>
                  <a:gd name="T14" fmla="*/ 728 w 824"/>
                  <a:gd name="T15" fmla="*/ 1067 h 1067"/>
                  <a:gd name="T16" fmla="*/ 96 w 824"/>
                  <a:gd name="T17" fmla="*/ 1067 h 1067"/>
                  <a:gd name="T18" fmla="*/ 0 w 824"/>
                  <a:gd name="T19" fmla="*/ 972 h 1067"/>
                  <a:gd name="T20" fmla="*/ 0 w 824"/>
                  <a:gd name="T21" fmla="*/ 255 h 1067"/>
                  <a:gd name="T22" fmla="*/ 96 w 824"/>
                  <a:gd name="T23" fmla="*/ 160 h 1067"/>
                  <a:gd name="T24" fmla="*/ 191 w 824"/>
                  <a:gd name="T25" fmla="*/ 160 h 1067"/>
                  <a:gd name="T26" fmla="*/ 191 w 824"/>
                  <a:gd name="T27" fmla="*/ 204 h 1067"/>
                  <a:gd name="T28" fmla="*/ 96 w 824"/>
                  <a:gd name="T29" fmla="*/ 204 h 1067"/>
                  <a:gd name="T30" fmla="*/ 45 w 824"/>
                  <a:gd name="T31" fmla="*/ 255 h 1067"/>
                  <a:gd name="T32" fmla="*/ 45 w 824"/>
                  <a:gd name="T33" fmla="*/ 972 h 1067"/>
                  <a:gd name="T34" fmla="*/ 96 w 824"/>
                  <a:gd name="T35" fmla="*/ 1023 h 1067"/>
                  <a:gd name="T36" fmla="*/ 728 w 824"/>
                  <a:gd name="T37" fmla="*/ 1023 h 1067"/>
                  <a:gd name="T38" fmla="*/ 779 w 824"/>
                  <a:gd name="T39" fmla="*/ 972 h 1067"/>
                  <a:gd name="T40" fmla="*/ 779 w 824"/>
                  <a:gd name="T41" fmla="*/ 255 h 1067"/>
                  <a:gd name="T42" fmla="*/ 412 w 824"/>
                  <a:gd name="T43" fmla="*/ 65 h 1067"/>
                  <a:gd name="T44" fmla="*/ 450 w 824"/>
                  <a:gd name="T45" fmla="*/ 103 h 1067"/>
                  <a:gd name="T46" fmla="*/ 412 w 824"/>
                  <a:gd name="T47" fmla="*/ 141 h 1067"/>
                  <a:gd name="T48" fmla="*/ 374 w 824"/>
                  <a:gd name="T49" fmla="*/ 103 h 1067"/>
                  <a:gd name="T50" fmla="*/ 412 w 824"/>
                  <a:gd name="T51" fmla="*/ 65 h 1067"/>
                  <a:gd name="T52" fmla="*/ 470 w 824"/>
                  <a:gd name="T53" fmla="*/ 45 h 1067"/>
                  <a:gd name="T54" fmla="*/ 491 w 824"/>
                  <a:gd name="T55" fmla="*/ 81 h 1067"/>
                  <a:gd name="T56" fmla="*/ 564 w 824"/>
                  <a:gd name="T57" fmla="*/ 81 h 1067"/>
                  <a:gd name="T58" fmla="*/ 586 w 824"/>
                  <a:gd name="T59" fmla="*/ 103 h 1067"/>
                  <a:gd name="T60" fmla="*/ 586 w 824"/>
                  <a:gd name="T61" fmla="*/ 204 h 1067"/>
                  <a:gd name="T62" fmla="*/ 564 w 824"/>
                  <a:gd name="T63" fmla="*/ 226 h 1067"/>
                  <a:gd name="T64" fmla="*/ 260 w 824"/>
                  <a:gd name="T65" fmla="*/ 226 h 1067"/>
                  <a:gd name="T66" fmla="*/ 238 w 824"/>
                  <a:gd name="T67" fmla="*/ 204 h 1067"/>
                  <a:gd name="T68" fmla="*/ 238 w 824"/>
                  <a:gd name="T69" fmla="*/ 103 h 1067"/>
                  <a:gd name="T70" fmla="*/ 260 w 824"/>
                  <a:gd name="T71" fmla="*/ 81 h 1067"/>
                  <a:gd name="T72" fmla="*/ 333 w 824"/>
                  <a:gd name="T73" fmla="*/ 81 h 1067"/>
                  <a:gd name="T74" fmla="*/ 470 w 824"/>
                  <a:gd name="T75" fmla="*/ 45 h 1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24" h="1067">
                    <a:moveTo>
                      <a:pt x="779" y="255"/>
                    </a:moveTo>
                    <a:cubicBezTo>
                      <a:pt x="779" y="227"/>
                      <a:pt x="756" y="204"/>
                      <a:pt x="728" y="204"/>
                    </a:cubicBezTo>
                    <a:cubicBezTo>
                      <a:pt x="633" y="204"/>
                      <a:pt x="633" y="204"/>
                      <a:pt x="633" y="204"/>
                    </a:cubicBezTo>
                    <a:cubicBezTo>
                      <a:pt x="633" y="160"/>
                      <a:pt x="633" y="160"/>
                      <a:pt x="633" y="160"/>
                    </a:cubicBezTo>
                    <a:cubicBezTo>
                      <a:pt x="728" y="160"/>
                      <a:pt x="728" y="160"/>
                      <a:pt x="728" y="160"/>
                    </a:cubicBezTo>
                    <a:cubicBezTo>
                      <a:pt x="781" y="160"/>
                      <a:pt x="824" y="203"/>
                      <a:pt x="824" y="255"/>
                    </a:cubicBezTo>
                    <a:cubicBezTo>
                      <a:pt x="824" y="494"/>
                      <a:pt x="824" y="733"/>
                      <a:pt x="824" y="972"/>
                    </a:cubicBezTo>
                    <a:cubicBezTo>
                      <a:pt x="824" y="1024"/>
                      <a:pt x="781" y="1067"/>
                      <a:pt x="728" y="1067"/>
                    </a:cubicBezTo>
                    <a:cubicBezTo>
                      <a:pt x="96" y="1067"/>
                      <a:pt x="96" y="1067"/>
                      <a:pt x="96" y="1067"/>
                    </a:cubicBezTo>
                    <a:cubicBezTo>
                      <a:pt x="43" y="1067"/>
                      <a:pt x="0" y="1024"/>
                      <a:pt x="0" y="972"/>
                    </a:cubicBezTo>
                    <a:cubicBezTo>
                      <a:pt x="0" y="255"/>
                      <a:pt x="0" y="255"/>
                      <a:pt x="0" y="255"/>
                    </a:cubicBezTo>
                    <a:cubicBezTo>
                      <a:pt x="0" y="203"/>
                      <a:pt x="43" y="160"/>
                      <a:pt x="96" y="160"/>
                    </a:cubicBezTo>
                    <a:cubicBezTo>
                      <a:pt x="191" y="160"/>
                      <a:pt x="191" y="160"/>
                      <a:pt x="191" y="160"/>
                    </a:cubicBezTo>
                    <a:cubicBezTo>
                      <a:pt x="191" y="204"/>
                      <a:pt x="191" y="204"/>
                      <a:pt x="191" y="204"/>
                    </a:cubicBezTo>
                    <a:cubicBezTo>
                      <a:pt x="96" y="204"/>
                      <a:pt x="96" y="204"/>
                      <a:pt x="96" y="204"/>
                    </a:cubicBezTo>
                    <a:cubicBezTo>
                      <a:pt x="68" y="204"/>
                      <a:pt x="45" y="227"/>
                      <a:pt x="45" y="255"/>
                    </a:cubicBezTo>
                    <a:cubicBezTo>
                      <a:pt x="45" y="972"/>
                      <a:pt x="45" y="972"/>
                      <a:pt x="45" y="972"/>
                    </a:cubicBezTo>
                    <a:cubicBezTo>
                      <a:pt x="45" y="1000"/>
                      <a:pt x="68" y="1023"/>
                      <a:pt x="96" y="1023"/>
                    </a:cubicBezTo>
                    <a:cubicBezTo>
                      <a:pt x="728" y="1023"/>
                      <a:pt x="728" y="1023"/>
                      <a:pt x="728" y="1023"/>
                    </a:cubicBezTo>
                    <a:cubicBezTo>
                      <a:pt x="756" y="1023"/>
                      <a:pt x="779" y="1000"/>
                      <a:pt x="779" y="972"/>
                    </a:cubicBezTo>
                    <a:cubicBezTo>
                      <a:pt x="779" y="733"/>
                      <a:pt x="779" y="494"/>
                      <a:pt x="779" y="255"/>
                    </a:cubicBezTo>
                    <a:close/>
                    <a:moveTo>
                      <a:pt x="412" y="65"/>
                    </a:moveTo>
                    <a:cubicBezTo>
                      <a:pt x="433" y="65"/>
                      <a:pt x="450" y="82"/>
                      <a:pt x="450" y="103"/>
                    </a:cubicBezTo>
                    <a:cubicBezTo>
                      <a:pt x="450" y="124"/>
                      <a:pt x="433" y="141"/>
                      <a:pt x="412" y="141"/>
                    </a:cubicBezTo>
                    <a:cubicBezTo>
                      <a:pt x="391" y="141"/>
                      <a:pt x="374" y="124"/>
                      <a:pt x="374" y="103"/>
                    </a:cubicBezTo>
                    <a:cubicBezTo>
                      <a:pt x="374" y="82"/>
                      <a:pt x="391" y="65"/>
                      <a:pt x="412" y="65"/>
                    </a:cubicBezTo>
                    <a:close/>
                    <a:moveTo>
                      <a:pt x="470" y="45"/>
                    </a:moveTo>
                    <a:cubicBezTo>
                      <a:pt x="480" y="55"/>
                      <a:pt x="487" y="67"/>
                      <a:pt x="491" y="81"/>
                    </a:cubicBezTo>
                    <a:cubicBezTo>
                      <a:pt x="564" y="81"/>
                      <a:pt x="564" y="81"/>
                      <a:pt x="564" y="81"/>
                    </a:cubicBezTo>
                    <a:cubicBezTo>
                      <a:pt x="576" y="81"/>
                      <a:pt x="586" y="91"/>
                      <a:pt x="586" y="103"/>
                    </a:cubicBezTo>
                    <a:cubicBezTo>
                      <a:pt x="586" y="204"/>
                      <a:pt x="586" y="204"/>
                      <a:pt x="586" y="204"/>
                    </a:cubicBezTo>
                    <a:cubicBezTo>
                      <a:pt x="586" y="216"/>
                      <a:pt x="576" y="226"/>
                      <a:pt x="564" y="226"/>
                    </a:cubicBezTo>
                    <a:cubicBezTo>
                      <a:pt x="260" y="226"/>
                      <a:pt x="260" y="226"/>
                      <a:pt x="260" y="226"/>
                    </a:cubicBezTo>
                    <a:cubicBezTo>
                      <a:pt x="248" y="226"/>
                      <a:pt x="238" y="216"/>
                      <a:pt x="238" y="204"/>
                    </a:cubicBezTo>
                    <a:cubicBezTo>
                      <a:pt x="238" y="103"/>
                      <a:pt x="238" y="103"/>
                      <a:pt x="238" y="103"/>
                    </a:cubicBezTo>
                    <a:cubicBezTo>
                      <a:pt x="238" y="91"/>
                      <a:pt x="248" y="81"/>
                      <a:pt x="260" y="81"/>
                    </a:cubicBezTo>
                    <a:cubicBezTo>
                      <a:pt x="333" y="81"/>
                      <a:pt x="333" y="81"/>
                      <a:pt x="333" y="81"/>
                    </a:cubicBezTo>
                    <a:cubicBezTo>
                      <a:pt x="350" y="21"/>
                      <a:pt x="425" y="0"/>
                      <a:pt x="470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0" name="Freeform 9">
                <a:extLst>
                  <a:ext uri="{FF2B5EF4-FFF2-40B4-BE49-F238E27FC236}">
                    <a16:creationId xmlns:a16="http://schemas.microsoft.com/office/drawing/2014/main" id="{3260DDAA-AF23-0099-80E6-F6F12C11B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276" y="4373563"/>
                <a:ext cx="327025" cy="363538"/>
              </a:xfrm>
              <a:custGeom>
                <a:avLst/>
                <a:gdLst>
                  <a:gd name="T0" fmla="*/ 12 w 482"/>
                  <a:gd name="T1" fmla="*/ 535 h 535"/>
                  <a:gd name="T2" fmla="*/ 0 w 482"/>
                  <a:gd name="T3" fmla="*/ 523 h 535"/>
                  <a:gd name="T4" fmla="*/ 12 w 482"/>
                  <a:gd name="T5" fmla="*/ 511 h 535"/>
                  <a:gd name="T6" fmla="*/ 470 w 482"/>
                  <a:gd name="T7" fmla="*/ 511 h 535"/>
                  <a:gd name="T8" fmla="*/ 482 w 482"/>
                  <a:gd name="T9" fmla="*/ 523 h 535"/>
                  <a:gd name="T10" fmla="*/ 470 w 482"/>
                  <a:gd name="T11" fmla="*/ 535 h 535"/>
                  <a:gd name="T12" fmla="*/ 12 w 482"/>
                  <a:gd name="T13" fmla="*/ 535 h 535"/>
                  <a:gd name="T14" fmla="*/ 226 w 482"/>
                  <a:gd name="T15" fmla="*/ 279 h 535"/>
                  <a:gd name="T16" fmla="*/ 214 w 482"/>
                  <a:gd name="T17" fmla="*/ 267 h 535"/>
                  <a:gd name="T18" fmla="*/ 226 w 482"/>
                  <a:gd name="T19" fmla="*/ 256 h 535"/>
                  <a:gd name="T20" fmla="*/ 470 w 482"/>
                  <a:gd name="T21" fmla="*/ 256 h 535"/>
                  <a:gd name="T22" fmla="*/ 482 w 482"/>
                  <a:gd name="T23" fmla="*/ 267 h 535"/>
                  <a:gd name="T24" fmla="*/ 470 w 482"/>
                  <a:gd name="T25" fmla="*/ 279 h 535"/>
                  <a:gd name="T26" fmla="*/ 226 w 482"/>
                  <a:gd name="T27" fmla="*/ 279 h 535"/>
                  <a:gd name="T28" fmla="*/ 178 w 482"/>
                  <a:gd name="T29" fmla="*/ 151 h 535"/>
                  <a:gd name="T30" fmla="*/ 166 w 482"/>
                  <a:gd name="T31" fmla="*/ 140 h 535"/>
                  <a:gd name="T32" fmla="*/ 178 w 482"/>
                  <a:gd name="T33" fmla="*/ 128 h 535"/>
                  <a:gd name="T34" fmla="*/ 470 w 482"/>
                  <a:gd name="T35" fmla="*/ 128 h 535"/>
                  <a:gd name="T36" fmla="*/ 482 w 482"/>
                  <a:gd name="T37" fmla="*/ 140 h 535"/>
                  <a:gd name="T38" fmla="*/ 470 w 482"/>
                  <a:gd name="T39" fmla="*/ 151 h 535"/>
                  <a:gd name="T40" fmla="*/ 178 w 482"/>
                  <a:gd name="T41" fmla="*/ 151 h 535"/>
                  <a:gd name="T42" fmla="*/ 178 w 482"/>
                  <a:gd name="T43" fmla="*/ 407 h 535"/>
                  <a:gd name="T44" fmla="*/ 166 w 482"/>
                  <a:gd name="T45" fmla="*/ 395 h 535"/>
                  <a:gd name="T46" fmla="*/ 178 w 482"/>
                  <a:gd name="T47" fmla="*/ 383 h 535"/>
                  <a:gd name="T48" fmla="*/ 470 w 482"/>
                  <a:gd name="T49" fmla="*/ 383 h 535"/>
                  <a:gd name="T50" fmla="*/ 482 w 482"/>
                  <a:gd name="T51" fmla="*/ 395 h 535"/>
                  <a:gd name="T52" fmla="*/ 470 w 482"/>
                  <a:gd name="T53" fmla="*/ 407 h 535"/>
                  <a:gd name="T54" fmla="*/ 178 w 482"/>
                  <a:gd name="T55" fmla="*/ 407 h 535"/>
                  <a:gd name="T56" fmla="*/ 226 w 482"/>
                  <a:gd name="T57" fmla="*/ 23 h 535"/>
                  <a:gd name="T58" fmla="*/ 214 w 482"/>
                  <a:gd name="T59" fmla="*/ 12 h 535"/>
                  <a:gd name="T60" fmla="*/ 226 w 482"/>
                  <a:gd name="T61" fmla="*/ 0 h 535"/>
                  <a:gd name="T62" fmla="*/ 470 w 482"/>
                  <a:gd name="T63" fmla="*/ 0 h 535"/>
                  <a:gd name="T64" fmla="*/ 482 w 482"/>
                  <a:gd name="T65" fmla="*/ 12 h 535"/>
                  <a:gd name="T66" fmla="*/ 470 w 482"/>
                  <a:gd name="T67" fmla="*/ 23 h 535"/>
                  <a:gd name="T68" fmla="*/ 226 w 482"/>
                  <a:gd name="T69" fmla="*/ 23 h 5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82" h="535">
                    <a:moveTo>
                      <a:pt x="12" y="535"/>
                    </a:moveTo>
                    <a:cubicBezTo>
                      <a:pt x="5" y="535"/>
                      <a:pt x="0" y="529"/>
                      <a:pt x="0" y="523"/>
                    </a:cubicBezTo>
                    <a:cubicBezTo>
                      <a:pt x="0" y="516"/>
                      <a:pt x="5" y="511"/>
                      <a:pt x="12" y="511"/>
                    </a:cubicBezTo>
                    <a:cubicBezTo>
                      <a:pt x="470" y="511"/>
                      <a:pt x="470" y="511"/>
                      <a:pt x="470" y="511"/>
                    </a:cubicBezTo>
                    <a:cubicBezTo>
                      <a:pt x="477" y="511"/>
                      <a:pt x="482" y="516"/>
                      <a:pt x="482" y="523"/>
                    </a:cubicBezTo>
                    <a:cubicBezTo>
                      <a:pt x="482" y="529"/>
                      <a:pt x="477" y="535"/>
                      <a:pt x="470" y="535"/>
                    </a:cubicBezTo>
                    <a:cubicBezTo>
                      <a:pt x="12" y="535"/>
                      <a:pt x="12" y="535"/>
                      <a:pt x="12" y="535"/>
                    </a:cubicBezTo>
                    <a:close/>
                    <a:moveTo>
                      <a:pt x="226" y="279"/>
                    </a:moveTo>
                    <a:cubicBezTo>
                      <a:pt x="219" y="279"/>
                      <a:pt x="214" y="274"/>
                      <a:pt x="214" y="267"/>
                    </a:cubicBezTo>
                    <a:cubicBezTo>
                      <a:pt x="214" y="261"/>
                      <a:pt x="219" y="256"/>
                      <a:pt x="226" y="256"/>
                    </a:cubicBezTo>
                    <a:cubicBezTo>
                      <a:pt x="470" y="256"/>
                      <a:pt x="470" y="256"/>
                      <a:pt x="470" y="256"/>
                    </a:cubicBezTo>
                    <a:cubicBezTo>
                      <a:pt x="477" y="256"/>
                      <a:pt x="482" y="261"/>
                      <a:pt x="482" y="267"/>
                    </a:cubicBezTo>
                    <a:cubicBezTo>
                      <a:pt x="482" y="274"/>
                      <a:pt x="477" y="279"/>
                      <a:pt x="470" y="279"/>
                    </a:cubicBezTo>
                    <a:cubicBezTo>
                      <a:pt x="226" y="279"/>
                      <a:pt x="226" y="279"/>
                      <a:pt x="226" y="279"/>
                    </a:cubicBezTo>
                    <a:close/>
                    <a:moveTo>
                      <a:pt x="178" y="151"/>
                    </a:moveTo>
                    <a:cubicBezTo>
                      <a:pt x="172" y="151"/>
                      <a:pt x="166" y="146"/>
                      <a:pt x="166" y="140"/>
                    </a:cubicBezTo>
                    <a:cubicBezTo>
                      <a:pt x="166" y="133"/>
                      <a:pt x="172" y="128"/>
                      <a:pt x="178" y="128"/>
                    </a:cubicBezTo>
                    <a:cubicBezTo>
                      <a:pt x="470" y="128"/>
                      <a:pt x="470" y="128"/>
                      <a:pt x="470" y="128"/>
                    </a:cubicBezTo>
                    <a:cubicBezTo>
                      <a:pt x="477" y="128"/>
                      <a:pt x="482" y="133"/>
                      <a:pt x="482" y="140"/>
                    </a:cubicBezTo>
                    <a:cubicBezTo>
                      <a:pt x="482" y="146"/>
                      <a:pt x="477" y="151"/>
                      <a:pt x="470" y="151"/>
                    </a:cubicBezTo>
                    <a:cubicBezTo>
                      <a:pt x="178" y="151"/>
                      <a:pt x="178" y="151"/>
                      <a:pt x="178" y="151"/>
                    </a:cubicBezTo>
                    <a:close/>
                    <a:moveTo>
                      <a:pt x="178" y="407"/>
                    </a:moveTo>
                    <a:cubicBezTo>
                      <a:pt x="172" y="407"/>
                      <a:pt x="166" y="402"/>
                      <a:pt x="166" y="395"/>
                    </a:cubicBezTo>
                    <a:cubicBezTo>
                      <a:pt x="166" y="389"/>
                      <a:pt x="172" y="383"/>
                      <a:pt x="178" y="383"/>
                    </a:cubicBezTo>
                    <a:cubicBezTo>
                      <a:pt x="470" y="383"/>
                      <a:pt x="470" y="383"/>
                      <a:pt x="470" y="383"/>
                    </a:cubicBezTo>
                    <a:cubicBezTo>
                      <a:pt x="477" y="383"/>
                      <a:pt x="482" y="389"/>
                      <a:pt x="482" y="395"/>
                    </a:cubicBezTo>
                    <a:cubicBezTo>
                      <a:pt x="482" y="402"/>
                      <a:pt x="477" y="407"/>
                      <a:pt x="470" y="407"/>
                    </a:cubicBezTo>
                    <a:cubicBezTo>
                      <a:pt x="178" y="407"/>
                      <a:pt x="178" y="407"/>
                      <a:pt x="178" y="407"/>
                    </a:cubicBezTo>
                    <a:close/>
                    <a:moveTo>
                      <a:pt x="226" y="23"/>
                    </a:moveTo>
                    <a:cubicBezTo>
                      <a:pt x="219" y="23"/>
                      <a:pt x="214" y="18"/>
                      <a:pt x="214" y="12"/>
                    </a:cubicBezTo>
                    <a:cubicBezTo>
                      <a:pt x="214" y="5"/>
                      <a:pt x="219" y="0"/>
                      <a:pt x="226" y="0"/>
                    </a:cubicBezTo>
                    <a:cubicBezTo>
                      <a:pt x="470" y="0"/>
                      <a:pt x="470" y="0"/>
                      <a:pt x="470" y="0"/>
                    </a:cubicBezTo>
                    <a:cubicBezTo>
                      <a:pt x="477" y="0"/>
                      <a:pt x="482" y="5"/>
                      <a:pt x="482" y="12"/>
                    </a:cubicBezTo>
                    <a:cubicBezTo>
                      <a:pt x="482" y="18"/>
                      <a:pt x="477" y="23"/>
                      <a:pt x="470" y="23"/>
                    </a:cubicBezTo>
                    <a:cubicBezTo>
                      <a:pt x="226" y="23"/>
                      <a:pt x="226" y="23"/>
                      <a:pt x="226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</p:grpSp>
        <p:sp>
          <p:nvSpPr>
            <p:cNvPr id="75" name="Freeform 290">
              <a:extLst>
                <a:ext uri="{FF2B5EF4-FFF2-40B4-BE49-F238E27FC236}">
                  <a16:creationId xmlns:a16="http://schemas.microsoft.com/office/drawing/2014/main" id="{3068CE4C-EC47-FAF4-D330-D28FD527A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606" y="3285801"/>
              <a:ext cx="350048" cy="256843"/>
            </a:xfrm>
            <a:custGeom>
              <a:avLst/>
              <a:gdLst>
                <a:gd name="T0" fmla="*/ 2269 w 2592"/>
                <a:gd name="T1" fmla="*/ 463 h 1920"/>
                <a:gd name="T2" fmla="*/ 2466 w 2592"/>
                <a:gd name="T3" fmla="*/ 250 h 1920"/>
                <a:gd name="T4" fmla="*/ 2546 w 2592"/>
                <a:gd name="T5" fmla="*/ 222 h 1920"/>
                <a:gd name="T6" fmla="*/ 2591 w 2592"/>
                <a:gd name="T7" fmla="*/ 138 h 1920"/>
                <a:gd name="T8" fmla="*/ 2570 w 2592"/>
                <a:gd name="T9" fmla="*/ 55 h 1920"/>
                <a:gd name="T10" fmla="*/ 2492 w 2592"/>
                <a:gd name="T11" fmla="*/ 2 h 1920"/>
                <a:gd name="T12" fmla="*/ 2407 w 2592"/>
                <a:gd name="T13" fmla="*/ 14 h 1920"/>
                <a:gd name="T14" fmla="*/ 2347 w 2592"/>
                <a:gd name="T15" fmla="*/ 87 h 1920"/>
                <a:gd name="T16" fmla="*/ 2357 w 2592"/>
                <a:gd name="T17" fmla="*/ 183 h 1920"/>
                <a:gd name="T18" fmla="*/ 359 w 2592"/>
                <a:gd name="T19" fmla="*/ 433 h 1920"/>
                <a:gd name="T20" fmla="*/ 299 w 2592"/>
                <a:gd name="T21" fmla="*/ 506 h 1920"/>
                <a:gd name="T22" fmla="*/ 1 w 2592"/>
                <a:gd name="T23" fmla="*/ 1807 h 1920"/>
                <a:gd name="T24" fmla="*/ 46 w 2592"/>
                <a:gd name="T25" fmla="*/ 1891 h 1920"/>
                <a:gd name="T26" fmla="*/ 2466 w 2592"/>
                <a:gd name="T27" fmla="*/ 1920 h 1920"/>
                <a:gd name="T28" fmla="*/ 2546 w 2592"/>
                <a:gd name="T29" fmla="*/ 1891 h 1920"/>
                <a:gd name="T30" fmla="*/ 2591 w 2592"/>
                <a:gd name="T31" fmla="*/ 1807 h 1920"/>
                <a:gd name="T32" fmla="*/ 2474 w 2592"/>
                <a:gd name="T33" fmla="*/ 84 h 1920"/>
                <a:gd name="T34" fmla="*/ 2508 w 2592"/>
                <a:gd name="T35" fmla="*/ 125 h 1920"/>
                <a:gd name="T36" fmla="*/ 2466 w 2592"/>
                <a:gd name="T37" fmla="*/ 167 h 1920"/>
                <a:gd name="T38" fmla="*/ 2425 w 2592"/>
                <a:gd name="T39" fmla="*/ 133 h 1920"/>
                <a:gd name="T40" fmla="*/ 2450 w 2592"/>
                <a:gd name="T41" fmla="*/ 86 h 1920"/>
                <a:gd name="T42" fmla="*/ 384 w 2592"/>
                <a:gd name="T43" fmla="*/ 519 h 1920"/>
                <a:gd name="T44" fmla="*/ 1596 w 2592"/>
                <a:gd name="T45" fmla="*/ 1095 h 1920"/>
                <a:gd name="T46" fmla="*/ 1511 w 2592"/>
                <a:gd name="T47" fmla="*/ 1091 h 1920"/>
                <a:gd name="T48" fmla="*/ 1170 w 2592"/>
                <a:gd name="T49" fmla="*/ 967 h 1920"/>
                <a:gd name="T50" fmla="*/ 1150 w 2592"/>
                <a:gd name="T51" fmla="*/ 890 h 1920"/>
                <a:gd name="T52" fmla="*/ 1070 w 2592"/>
                <a:gd name="T53" fmla="*/ 838 h 1920"/>
                <a:gd name="T54" fmla="*/ 985 w 2592"/>
                <a:gd name="T55" fmla="*/ 850 h 1920"/>
                <a:gd name="T56" fmla="*/ 925 w 2592"/>
                <a:gd name="T57" fmla="*/ 923 h 1920"/>
                <a:gd name="T58" fmla="*/ 932 w 2592"/>
                <a:gd name="T59" fmla="*/ 1014 h 1920"/>
                <a:gd name="T60" fmla="*/ 656 w 2592"/>
                <a:gd name="T61" fmla="*/ 1212 h 1920"/>
                <a:gd name="T62" fmla="*/ 572 w 2592"/>
                <a:gd name="T63" fmla="*/ 1256 h 1920"/>
                <a:gd name="T64" fmla="*/ 544 w 2592"/>
                <a:gd name="T65" fmla="*/ 1336 h 1920"/>
                <a:gd name="T66" fmla="*/ 581 w 2592"/>
                <a:gd name="T67" fmla="*/ 1424 h 1920"/>
                <a:gd name="T68" fmla="*/ 668 w 2592"/>
                <a:gd name="T69" fmla="*/ 1461 h 1920"/>
                <a:gd name="T70" fmla="*/ 749 w 2592"/>
                <a:gd name="T71" fmla="*/ 1432 h 1920"/>
                <a:gd name="T72" fmla="*/ 793 w 2592"/>
                <a:gd name="T73" fmla="*/ 1348 h 1920"/>
                <a:gd name="T74" fmla="*/ 991 w 2592"/>
                <a:gd name="T75" fmla="*/ 1073 h 1920"/>
                <a:gd name="T76" fmla="*/ 1081 w 2592"/>
                <a:gd name="T77" fmla="*/ 1080 h 1920"/>
                <a:gd name="T78" fmla="*/ 1422 w 2592"/>
                <a:gd name="T79" fmla="*/ 1203 h 1920"/>
                <a:gd name="T80" fmla="*/ 1442 w 2592"/>
                <a:gd name="T81" fmla="*/ 1280 h 1920"/>
                <a:gd name="T82" fmla="*/ 1522 w 2592"/>
                <a:gd name="T83" fmla="*/ 1333 h 1920"/>
                <a:gd name="T84" fmla="*/ 1607 w 2592"/>
                <a:gd name="T85" fmla="*/ 1321 h 1920"/>
                <a:gd name="T86" fmla="*/ 1667 w 2592"/>
                <a:gd name="T87" fmla="*/ 1248 h 1920"/>
                <a:gd name="T88" fmla="*/ 1657 w 2592"/>
                <a:gd name="T89" fmla="*/ 1152 h 1920"/>
                <a:gd name="T90" fmla="*/ 2215 w 2592"/>
                <a:gd name="T91" fmla="*/ 543 h 1920"/>
                <a:gd name="T92" fmla="*/ 1582 w 2592"/>
                <a:gd name="T93" fmla="*/ 1233 h 1920"/>
                <a:gd name="T94" fmla="*/ 1530 w 2592"/>
                <a:gd name="T95" fmla="*/ 1249 h 1920"/>
                <a:gd name="T96" fmla="*/ 1506 w 2592"/>
                <a:gd name="T97" fmla="*/ 1202 h 1920"/>
                <a:gd name="T98" fmla="*/ 1547 w 2592"/>
                <a:gd name="T99" fmla="*/ 1169 h 1920"/>
                <a:gd name="T100" fmla="*/ 1589 w 2592"/>
                <a:gd name="T101" fmla="*/ 1210 h 1920"/>
                <a:gd name="T102" fmla="*/ 1022 w 2592"/>
                <a:gd name="T103" fmla="*/ 925 h 1920"/>
                <a:gd name="T104" fmla="*/ 1075 w 2592"/>
                <a:gd name="T105" fmla="*/ 930 h 1920"/>
                <a:gd name="T106" fmla="*/ 1080 w 2592"/>
                <a:gd name="T107" fmla="*/ 983 h 1920"/>
                <a:gd name="T108" fmla="*/ 1028 w 2592"/>
                <a:gd name="T109" fmla="*/ 998 h 1920"/>
                <a:gd name="T110" fmla="*/ 710 w 2592"/>
                <a:gd name="T111" fmla="*/ 1336 h 1920"/>
                <a:gd name="T112" fmla="*/ 677 w 2592"/>
                <a:gd name="T113" fmla="*/ 1377 h 1920"/>
                <a:gd name="T114" fmla="*/ 630 w 2592"/>
                <a:gd name="T115" fmla="*/ 1352 h 1920"/>
                <a:gd name="T116" fmla="*/ 646 w 2592"/>
                <a:gd name="T117" fmla="*/ 1302 h 1920"/>
                <a:gd name="T118" fmla="*/ 698 w 2592"/>
                <a:gd name="T119" fmla="*/ 1306 h 1920"/>
                <a:gd name="T120" fmla="*/ 2508 w 2592"/>
                <a:gd name="T121" fmla="*/ 1795 h 1920"/>
                <a:gd name="T122" fmla="*/ 2466 w 2592"/>
                <a:gd name="T123" fmla="*/ 1837 h 1920"/>
                <a:gd name="T124" fmla="*/ 86 w 2592"/>
                <a:gd name="T125" fmla="*/ 1811 h 1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592" h="1920">
                  <a:moveTo>
                    <a:pt x="2299" y="543"/>
                  </a:moveTo>
                  <a:lnTo>
                    <a:pt x="2299" y="543"/>
                  </a:lnTo>
                  <a:lnTo>
                    <a:pt x="2298" y="527"/>
                  </a:lnTo>
                  <a:lnTo>
                    <a:pt x="2296" y="513"/>
                  </a:lnTo>
                  <a:lnTo>
                    <a:pt x="2292" y="499"/>
                  </a:lnTo>
                  <a:lnTo>
                    <a:pt x="2286" y="485"/>
                  </a:lnTo>
                  <a:lnTo>
                    <a:pt x="2279" y="473"/>
                  </a:lnTo>
                  <a:lnTo>
                    <a:pt x="2269" y="463"/>
                  </a:lnTo>
                  <a:lnTo>
                    <a:pt x="2260" y="452"/>
                  </a:lnTo>
                  <a:lnTo>
                    <a:pt x="2249" y="442"/>
                  </a:lnTo>
                  <a:lnTo>
                    <a:pt x="2418" y="240"/>
                  </a:lnTo>
                  <a:lnTo>
                    <a:pt x="2418" y="240"/>
                  </a:lnTo>
                  <a:lnTo>
                    <a:pt x="2429" y="244"/>
                  </a:lnTo>
                  <a:lnTo>
                    <a:pt x="2441" y="248"/>
                  </a:lnTo>
                  <a:lnTo>
                    <a:pt x="2454" y="249"/>
                  </a:lnTo>
                  <a:lnTo>
                    <a:pt x="2466" y="250"/>
                  </a:lnTo>
                  <a:lnTo>
                    <a:pt x="2466" y="250"/>
                  </a:lnTo>
                  <a:lnTo>
                    <a:pt x="2479" y="249"/>
                  </a:lnTo>
                  <a:lnTo>
                    <a:pt x="2492" y="248"/>
                  </a:lnTo>
                  <a:lnTo>
                    <a:pt x="2504" y="244"/>
                  </a:lnTo>
                  <a:lnTo>
                    <a:pt x="2515" y="241"/>
                  </a:lnTo>
                  <a:lnTo>
                    <a:pt x="2526" y="235"/>
                  </a:lnTo>
                  <a:lnTo>
                    <a:pt x="2537" y="229"/>
                  </a:lnTo>
                  <a:lnTo>
                    <a:pt x="2546" y="222"/>
                  </a:lnTo>
                  <a:lnTo>
                    <a:pt x="2555" y="213"/>
                  </a:lnTo>
                  <a:lnTo>
                    <a:pt x="2563" y="205"/>
                  </a:lnTo>
                  <a:lnTo>
                    <a:pt x="2570" y="195"/>
                  </a:lnTo>
                  <a:lnTo>
                    <a:pt x="2576" y="185"/>
                  </a:lnTo>
                  <a:lnTo>
                    <a:pt x="2582" y="174"/>
                  </a:lnTo>
                  <a:lnTo>
                    <a:pt x="2586" y="162"/>
                  </a:lnTo>
                  <a:lnTo>
                    <a:pt x="2590" y="150"/>
                  </a:lnTo>
                  <a:lnTo>
                    <a:pt x="2591" y="138"/>
                  </a:lnTo>
                  <a:lnTo>
                    <a:pt x="2592" y="125"/>
                  </a:lnTo>
                  <a:lnTo>
                    <a:pt x="2592" y="125"/>
                  </a:lnTo>
                  <a:lnTo>
                    <a:pt x="2591" y="113"/>
                  </a:lnTo>
                  <a:lnTo>
                    <a:pt x="2590" y="99"/>
                  </a:lnTo>
                  <a:lnTo>
                    <a:pt x="2586" y="87"/>
                  </a:lnTo>
                  <a:lnTo>
                    <a:pt x="2582" y="77"/>
                  </a:lnTo>
                  <a:lnTo>
                    <a:pt x="2576" y="65"/>
                  </a:lnTo>
                  <a:lnTo>
                    <a:pt x="2570" y="55"/>
                  </a:lnTo>
                  <a:lnTo>
                    <a:pt x="2563" y="46"/>
                  </a:lnTo>
                  <a:lnTo>
                    <a:pt x="2555" y="36"/>
                  </a:lnTo>
                  <a:lnTo>
                    <a:pt x="2546" y="29"/>
                  </a:lnTo>
                  <a:lnTo>
                    <a:pt x="2537" y="22"/>
                  </a:lnTo>
                  <a:lnTo>
                    <a:pt x="2526" y="14"/>
                  </a:lnTo>
                  <a:lnTo>
                    <a:pt x="2515" y="10"/>
                  </a:lnTo>
                  <a:lnTo>
                    <a:pt x="2504" y="5"/>
                  </a:lnTo>
                  <a:lnTo>
                    <a:pt x="2492" y="2"/>
                  </a:lnTo>
                  <a:lnTo>
                    <a:pt x="2479" y="0"/>
                  </a:lnTo>
                  <a:lnTo>
                    <a:pt x="2466" y="0"/>
                  </a:lnTo>
                  <a:lnTo>
                    <a:pt x="2466" y="0"/>
                  </a:lnTo>
                  <a:lnTo>
                    <a:pt x="2454" y="0"/>
                  </a:lnTo>
                  <a:lnTo>
                    <a:pt x="2441" y="2"/>
                  </a:lnTo>
                  <a:lnTo>
                    <a:pt x="2429" y="5"/>
                  </a:lnTo>
                  <a:lnTo>
                    <a:pt x="2418" y="10"/>
                  </a:lnTo>
                  <a:lnTo>
                    <a:pt x="2407" y="14"/>
                  </a:lnTo>
                  <a:lnTo>
                    <a:pt x="2396" y="22"/>
                  </a:lnTo>
                  <a:lnTo>
                    <a:pt x="2387" y="29"/>
                  </a:lnTo>
                  <a:lnTo>
                    <a:pt x="2378" y="36"/>
                  </a:lnTo>
                  <a:lnTo>
                    <a:pt x="2370" y="46"/>
                  </a:lnTo>
                  <a:lnTo>
                    <a:pt x="2363" y="55"/>
                  </a:lnTo>
                  <a:lnTo>
                    <a:pt x="2357" y="65"/>
                  </a:lnTo>
                  <a:lnTo>
                    <a:pt x="2351" y="77"/>
                  </a:lnTo>
                  <a:lnTo>
                    <a:pt x="2347" y="87"/>
                  </a:lnTo>
                  <a:lnTo>
                    <a:pt x="2344" y="99"/>
                  </a:lnTo>
                  <a:lnTo>
                    <a:pt x="2341" y="113"/>
                  </a:lnTo>
                  <a:lnTo>
                    <a:pt x="2341" y="125"/>
                  </a:lnTo>
                  <a:lnTo>
                    <a:pt x="2341" y="125"/>
                  </a:lnTo>
                  <a:lnTo>
                    <a:pt x="2342" y="140"/>
                  </a:lnTo>
                  <a:lnTo>
                    <a:pt x="2345" y="156"/>
                  </a:lnTo>
                  <a:lnTo>
                    <a:pt x="2350" y="170"/>
                  </a:lnTo>
                  <a:lnTo>
                    <a:pt x="2357" y="183"/>
                  </a:lnTo>
                  <a:lnTo>
                    <a:pt x="2161" y="417"/>
                  </a:lnTo>
                  <a:lnTo>
                    <a:pt x="418" y="417"/>
                  </a:lnTo>
                  <a:lnTo>
                    <a:pt x="418" y="417"/>
                  </a:lnTo>
                  <a:lnTo>
                    <a:pt x="406" y="418"/>
                  </a:lnTo>
                  <a:lnTo>
                    <a:pt x="392" y="419"/>
                  </a:lnTo>
                  <a:lnTo>
                    <a:pt x="380" y="423"/>
                  </a:lnTo>
                  <a:lnTo>
                    <a:pt x="370" y="427"/>
                  </a:lnTo>
                  <a:lnTo>
                    <a:pt x="359" y="433"/>
                  </a:lnTo>
                  <a:lnTo>
                    <a:pt x="348" y="439"/>
                  </a:lnTo>
                  <a:lnTo>
                    <a:pt x="338" y="446"/>
                  </a:lnTo>
                  <a:lnTo>
                    <a:pt x="330" y="454"/>
                  </a:lnTo>
                  <a:lnTo>
                    <a:pt x="322" y="463"/>
                  </a:lnTo>
                  <a:lnTo>
                    <a:pt x="314" y="472"/>
                  </a:lnTo>
                  <a:lnTo>
                    <a:pt x="308" y="483"/>
                  </a:lnTo>
                  <a:lnTo>
                    <a:pt x="302" y="494"/>
                  </a:lnTo>
                  <a:lnTo>
                    <a:pt x="299" y="506"/>
                  </a:lnTo>
                  <a:lnTo>
                    <a:pt x="295" y="518"/>
                  </a:lnTo>
                  <a:lnTo>
                    <a:pt x="293" y="530"/>
                  </a:lnTo>
                  <a:lnTo>
                    <a:pt x="293" y="543"/>
                  </a:lnTo>
                  <a:lnTo>
                    <a:pt x="293" y="1628"/>
                  </a:lnTo>
                  <a:lnTo>
                    <a:pt x="0" y="1628"/>
                  </a:lnTo>
                  <a:lnTo>
                    <a:pt x="0" y="1795"/>
                  </a:lnTo>
                  <a:lnTo>
                    <a:pt x="0" y="1795"/>
                  </a:lnTo>
                  <a:lnTo>
                    <a:pt x="1" y="1807"/>
                  </a:lnTo>
                  <a:lnTo>
                    <a:pt x="2" y="1821"/>
                  </a:lnTo>
                  <a:lnTo>
                    <a:pt x="6" y="1833"/>
                  </a:lnTo>
                  <a:lnTo>
                    <a:pt x="10" y="1843"/>
                  </a:lnTo>
                  <a:lnTo>
                    <a:pt x="16" y="1855"/>
                  </a:lnTo>
                  <a:lnTo>
                    <a:pt x="22" y="1865"/>
                  </a:lnTo>
                  <a:lnTo>
                    <a:pt x="29" y="1874"/>
                  </a:lnTo>
                  <a:lnTo>
                    <a:pt x="37" y="1884"/>
                  </a:lnTo>
                  <a:lnTo>
                    <a:pt x="46" y="1891"/>
                  </a:lnTo>
                  <a:lnTo>
                    <a:pt x="55" y="1898"/>
                  </a:lnTo>
                  <a:lnTo>
                    <a:pt x="66" y="1906"/>
                  </a:lnTo>
                  <a:lnTo>
                    <a:pt x="77" y="1910"/>
                  </a:lnTo>
                  <a:lnTo>
                    <a:pt x="88" y="1915"/>
                  </a:lnTo>
                  <a:lnTo>
                    <a:pt x="100" y="1918"/>
                  </a:lnTo>
                  <a:lnTo>
                    <a:pt x="113" y="1920"/>
                  </a:lnTo>
                  <a:lnTo>
                    <a:pt x="126" y="1920"/>
                  </a:lnTo>
                  <a:lnTo>
                    <a:pt x="2466" y="1920"/>
                  </a:lnTo>
                  <a:lnTo>
                    <a:pt x="2466" y="1920"/>
                  </a:lnTo>
                  <a:lnTo>
                    <a:pt x="2479" y="1920"/>
                  </a:lnTo>
                  <a:lnTo>
                    <a:pt x="2492" y="1918"/>
                  </a:lnTo>
                  <a:lnTo>
                    <a:pt x="2504" y="1915"/>
                  </a:lnTo>
                  <a:lnTo>
                    <a:pt x="2515" y="1910"/>
                  </a:lnTo>
                  <a:lnTo>
                    <a:pt x="2526" y="1906"/>
                  </a:lnTo>
                  <a:lnTo>
                    <a:pt x="2537" y="1898"/>
                  </a:lnTo>
                  <a:lnTo>
                    <a:pt x="2546" y="1891"/>
                  </a:lnTo>
                  <a:lnTo>
                    <a:pt x="2555" y="1884"/>
                  </a:lnTo>
                  <a:lnTo>
                    <a:pt x="2563" y="1874"/>
                  </a:lnTo>
                  <a:lnTo>
                    <a:pt x="2570" y="1865"/>
                  </a:lnTo>
                  <a:lnTo>
                    <a:pt x="2576" y="1855"/>
                  </a:lnTo>
                  <a:lnTo>
                    <a:pt x="2582" y="1843"/>
                  </a:lnTo>
                  <a:lnTo>
                    <a:pt x="2586" y="1833"/>
                  </a:lnTo>
                  <a:lnTo>
                    <a:pt x="2590" y="1821"/>
                  </a:lnTo>
                  <a:lnTo>
                    <a:pt x="2591" y="1807"/>
                  </a:lnTo>
                  <a:lnTo>
                    <a:pt x="2592" y="1795"/>
                  </a:lnTo>
                  <a:lnTo>
                    <a:pt x="2592" y="1628"/>
                  </a:lnTo>
                  <a:lnTo>
                    <a:pt x="2299" y="1628"/>
                  </a:lnTo>
                  <a:lnTo>
                    <a:pt x="2299" y="543"/>
                  </a:lnTo>
                  <a:lnTo>
                    <a:pt x="2299" y="543"/>
                  </a:lnTo>
                  <a:close/>
                  <a:moveTo>
                    <a:pt x="2466" y="83"/>
                  </a:moveTo>
                  <a:lnTo>
                    <a:pt x="2466" y="83"/>
                  </a:lnTo>
                  <a:lnTo>
                    <a:pt x="2474" y="84"/>
                  </a:lnTo>
                  <a:lnTo>
                    <a:pt x="2483" y="86"/>
                  </a:lnTo>
                  <a:lnTo>
                    <a:pt x="2490" y="90"/>
                  </a:lnTo>
                  <a:lnTo>
                    <a:pt x="2496" y="96"/>
                  </a:lnTo>
                  <a:lnTo>
                    <a:pt x="2501" y="102"/>
                  </a:lnTo>
                  <a:lnTo>
                    <a:pt x="2506" y="109"/>
                  </a:lnTo>
                  <a:lnTo>
                    <a:pt x="2508" y="116"/>
                  </a:lnTo>
                  <a:lnTo>
                    <a:pt x="2508" y="125"/>
                  </a:lnTo>
                  <a:lnTo>
                    <a:pt x="2508" y="125"/>
                  </a:lnTo>
                  <a:lnTo>
                    <a:pt x="2508" y="133"/>
                  </a:lnTo>
                  <a:lnTo>
                    <a:pt x="2506" y="141"/>
                  </a:lnTo>
                  <a:lnTo>
                    <a:pt x="2501" y="149"/>
                  </a:lnTo>
                  <a:lnTo>
                    <a:pt x="2496" y="155"/>
                  </a:lnTo>
                  <a:lnTo>
                    <a:pt x="2490" y="159"/>
                  </a:lnTo>
                  <a:lnTo>
                    <a:pt x="2483" y="163"/>
                  </a:lnTo>
                  <a:lnTo>
                    <a:pt x="2474" y="165"/>
                  </a:lnTo>
                  <a:lnTo>
                    <a:pt x="2466" y="167"/>
                  </a:lnTo>
                  <a:lnTo>
                    <a:pt x="2466" y="167"/>
                  </a:lnTo>
                  <a:lnTo>
                    <a:pt x="2458" y="165"/>
                  </a:lnTo>
                  <a:lnTo>
                    <a:pt x="2450" y="163"/>
                  </a:lnTo>
                  <a:lnTo>
                    <a:pt x="2443" y="159"/>
                  </a:lnTo>
                  <a:lnTo>
                    <a:pt x="2437" y="155"/>
                  </a:lnTo>
                  <a:lnTo>
                    <a:pt x="2432" y="149"/>
                  </a:lnTo>
                  <a:lnTo>
                    <a:pt x="2428" y="141"/>
                  </a:lnTo>
                  <a:lnTo>
                    <a:pt x="2425" y="133"/>
                  </a:lnTo>
                  <a:lnTo>
                    <a:pt x="2425" y="125"/>
                  </a:lnTo>
                  <a:lnTo>
                    <a:pt x="2425" y="125"/>
                  </a:lnTo>
                  <a:lnTo>
                    <a:pt x="2425" y="116"/>
                  </a:lnTo>
                  <a:lnTo>
                    <a:pt x="2428" y="109"/>
                  </a:lnTo>
                  <a:lnTo>
                    <a:pt x="2432" y="102"/>
                  </a:lnTo>
                  <a:lnTo>
                    <a:pt x="2437" y="96"/>
                  </a:lnTo>
                  <a:lnTo>
                    <a:pt x="2443" y="90"/>
                  </a:lnTo>
                  <a:lnTo>
                    <a:pt x="2450" y="86"/>
                  </a:lnTo>
                  <a:lnTo>
                    <a:pt x="2458" y="84"/>
                  </a:lnTo>
                  <a:lnTo>
                    <a:pt x="2466" y="83"/>
                  </a:lnTo>
                  <a:lnTo>
                    <a:pt x="2466" y="83"/>
                  </a:lnTo>
                  <a:close/>
                  <a:moveTo>
                    <a:pt x="377" y="543"/>
                  </a:moveTo>
                  <a:lnTo>
                    <a:pt x="377" y="543"/>
                  </a:lnTo>
                  <a:lnTo>
                    <a:pt x="377" y="535"/>
                  </a:lnTo>
                  <a:lnTo>
                    <a:pt x="379" y="526"/>
                  </a:lnTo>
                  <a:lnTo>
                    <a:pt x="384" y="519"/>
                  </a:lnTo>
                  <a:lnTo>
                    <a:pt x="389" y="513"/>
                  </a:lnTo>
                  <a:lnTo>
                    <a:pt x="395" y="508"/>
                  </a:lnTo>
                  <a:lnTo>
                    <a:pt x="402" y="505"/>
                  </a:lnTo>
                  <a:lnTo>
                    <a:pt x="409" y="501"/>
                  </a:lnTo>
                  <a:lnTo>
                    <a:pt x="418" y="501"/>
                  </a:lnTo>
                  <a:lnTo>
                    <a:pt x="2092" y="501"/>
                  </a:lnTo>
                  <a:lnTo>
                    <a:pt x="1596" y="1095"/>
                  </a:lnTo>
                  <a:lnTo>
                    <a:pt x="1596" y="1095"/>
                  </a:lnTo>
                  <a:lnTo>
                    <a:pt x="1584" y="1091"/>
                  </a:lnTo>
                  <a:lnTo>
                    <a:pt x="1572" y="1088"/>
                  </a:lnTo>
                  <a:lnTo>
                    <a:pt x="1560" y="1086"/>
                  </a:lnTo>
                  <a:lnTo>
                    <a:pt x="1547" y="1086"/>
                  </a:lnTo>
                  <a:lnTo>
                    <a:pt x="1547" y="1086"/>
                  </a:lnTo>
                  <a:lnTo>
                    <a:pt x="1535" y="1086"/>
                  </a:lnTo>
                  <a:lnTo>
                    <a:pt x="1523" y="1088"/>
                  </a:lnTo>
                  <a:lnTo>
                    <a:pt x="1511" y="1091"/>
                  </a:lnTo>
                  <a:lnTo>
                    <a:pt x="1499" y="1094"/>
                  </a:lnTo>
                  <a:lnTo>
                    <a:pt x="1488" y="1100"/>
                  </a:lnTo>
                  <a:lnTo>
                    <a:pt x="1478" y="1106"/>
                  </a:lnTo>
                  <a:lnTo>
                    <a:pt x="1469" y="1112"/>
                  </a:lnTo>
                  <a:lnTo>
                    <a:pt x="1460" y="1121"/>
                  </a:lnTo>
                  <a:lnTo>
                    <a:pt x="1169" y="976"/>
                  </a:lnTo>
                  <a:lnTo>
                    <a:pt x="1169" y="976"/>
                  </a:lnTo>
                  <a:lnTo>
                    <a:pt x="1170" y="967"/>
                  </a:lnTo>
                  <a:lnTo>
                    <a:pt x="1170" y="960"/>
                  </a:lnTo>
                  <a:lnTo>
                    <a:pt x="1170" y="960"/>
                  </a:lnTo>
                  <a:lnTo>
                    <a:pt x="1170" y="947"/>
                  </a:lnTo>
                  <a:lnTo>
                    <a:pt x="1168" y="935"/>
                  </a:lnTo>
                  <a:lnTo>
                    <a:pt x="1165" y="923"/>
                  </a:lnTo>
                  <a:lnTo>
                    <a:pt x="1160" y="911"/>
                  </a:lnTo>
                  <a:lnTo>
                    <a:pt x="1156" y="900"/>
                  </a:lnTo>
                  <a:lnTo>
                    <a:pt x="1150" y="890"/>
                  </a:lnTo>
                  <a:lnTo>
                    <a:pt x="1142" y="881"/>
                  </a:lnTo>
                  <a:lnTo>
                    <a:pt x="1134" y="871"/>
                  </a:lnTo>
                  <a:lnTo>
                    <a:pt x="1124" y="863"/>
                  </a:lnTo>
                  <a:lnTo>
                    <a:pt x="1115" y="856"/>
                  </a:lnTo>
                  <a:lnTo>
                    <a:pt x="1105" y="850"/>
                  </a:lnTo>
                  <a:lnTo>
                    <a:pt x="1094" y="845"/>
                  </a:lnTo>
                  <a:lnTo>
                    <a:pt x="1082" y="840"/>
                  </a:lnTo>
                  <a:lnTo>
                    <a:pt x="1070" y="838"/>
                  </a:lnTo>
                  <a:lnTo>
                    <a:pt x="1058" y="835"/>
                  </a:lnTo>
                  <a:lnTo>
                    <a:pt x="1045" y="834"/>
                  </a:lnTo>
                  <a:lnTo>
                    <a:pt x="1045" y="834"/>
                  </a:lnTo>
                  <a:lnTo>
                    <a:pt x="1032" y="835"/>
                  </a:lnTo>
                  <a:lnTo>
                    <a:pt x="1020" y="838"/>
                  </a:lnTo>
                  <a:lnTo>
                    <a:pt x="1008" y="840"/>
                  </a:lnTo>
                  <a:lnTo>
                    <a:pt x="996" y="845"/>
                  </a:lnTo>
                  <a:lnTo>
                    <a:pt x="985" y="850"/>
                  </a:lnTo>
                  <a:lnTo>
                    <a:pt x="976" y="856"/>
                  </a:lnTo>
                  <a:lnTo>
                    <a:pt x="966" y="863"/>
                  </a:lnTo>
                  <a:lnTo>
                    <a:pt x="956" y="871"/>
                  </a:lnTo>
                  <a:lnTo>
                    <a:pt x="948" y="881"/>
                  </a:lnTo>
                  <a:lnTo>
                    <a:pt x="941" y="890"/>
                  </a:lnTo>
                  <a:lnTo>
                    <a:pt x="935" y="900"/>
                  </a:lnTo>
                  <a:lnTo>
                    <a:pt x="930" y="911"/>
                  </a:lnTo>
                  <a:lnTo>
                    <a:pt x="925" y="923"/>
                  </a:lnTo>
                  <a:lnTo>
                    <a:pt x="923" y="935"/>
                  </a:lnTo>
                  <a:lnTo>
                    <a:pt x="920" y="947"/>
                  </a:lnTo>
                  <a:lnTo>
                    <a:pt x="919" y="960"/>
                  </a:lnTo>
                  <a:lnTo>
                    <a:pt x="919" y="960"/>
                  </a:lnTo>
                  <a:lnTo>
                    <a:pt x="920" y="974"/>
                  </a:lnTo>
                  <a:lnTo>
                    <a:pt x="923" y="988"/>
                  </a:lnTo>
                  <a:lnTo>
                    <a:pt x="928" y="1001"/>
                  </a:lnTo>
                  <a:lnTo>
                    <a:pt x="932" y="1014"/>
                  </a:lnTo>
                  <a:lnTo>
                    <a:pt x="722" y="1222"/>
                  </a:lnTo>
                  <a:lnTo>
                    <a:pt x="722" y="1222"/>
                  </a:lnTo>
                  <a:lnTo>
                    <a:pt x="710" y="1218"/>
                  </a:lnTo>
                  <a:lnTo>
                    <a:pt x="697" y="1214"/>
                  </a:lnTo>
                  <a:lnTo>
                    <a:pt x="683" y="1212"/>
                  </a:lnTo>
                  <a:lnTo>
                    <a:pt x="668" y="1210"/>
                  </a:lnTo>
                  <a:lnTo>
                    <a:pt x="668" y="1210"/>
                  </a:lnTo>
                  <a:lnTo>
                    <a:pt x="656" y="1212"/>
                  </a:lnTo>
                  <a:lnTo>
                    <a:pt x="643" y="1213"/>
                  </a:lnTo>
                  <a:lnTo>
                    <a:pt x="631" y="1216"/>
                  </a:lnTo>
                  <a:lnTo>
                    <a:pt x="620" y="1220"/>
                  </a:lnTo>
                  <a:lnTo>
                    <a:pt x="610" y="1226"/>
                  </a:lnTo>
                  <a:lnTo>
                    <a:pt x="599" y="1232"/>
                  </a:lnTo>
                  <a:lnTo>
                    <a:pt x="589" y="1239"/>
                  </a:lnTo>
                  <a:lnTo>
                    <a:pt x="581" y="1248"/>
                  </a:lnTo>
                  <a:lnTo>
                    <a:pt x="572" y="1256"/>
                  </a:lnTo>
                  <a:lnTo>
                    <a:pt x="565" y="1266"/>
                  </a:lnTo>
                  <a:lnTo>
                    <a:pt x="559" y="1276"/>
                  </a:lnTo>
                  <a:lnTo>
                    <a:pt x="553" y="1287"/>
                  </a:lnTo>
                  <a:lnTo>
                    <a:pt x="550" y="1299"/>
                  </a:lnTo>
                  <a:lnTo>
                    <a:pt x="546" y="1311"/>
                  </a:lnTo>
                  <a:lnTo>
                    <a:pt x="544" y="1323"/>
                  </a:lnTo>
                  <a:lnTo>
                    <a:pt x="544" y="1336"/>
                  </a:lnTo>
                  <a:lnTo>
                    <a:pt x="544" y="1336"/>
                  </a:lnTo>
                  <a:lnTo>
                    <a:pt x="544" y="1348"/>
                  </a:lnTo>
                  <a:lnTo>
                    <a:pt x="546" y="1361"/>
                  </a:lnTo>
                  <a:lnTo>
                    <a:pt x="550" y="1373"/>
                  </a:lnTo>
                  <a:lnTo>
                    <a:pt x="553" y="1384"/>
                  </a:lnTo>
                  <a:lnTo>
                    <a:pt x="559" y="1395"/>
                  </a:lnTo>
                  <a:lnTo>
                    <a:pt x="565" y="1406"/>
                  </a:lnTo>
                  <a:lnTo>
                    <a:pt x="572" y="1415"/>
                  </a:lnTo>
                  <a:lnTo>
                    <a:pt x="581" y="1424"/>
                  </a:lnTo>
                  <a:lnTo>
                    <a:pt x="589" y="1432"/>
                  </a:lnTo>
                  <a:lnTo>
                    <a:pt x="599" y="1439"/>
                  </a:lnTo>
                  <a:lnTo>
                    <a:pt x="610" y="1445"/>
                  </a:lnTo>
                  <a:lnTo>
                    <a:pt x="620" y="1451"/>
                  </a:lnTo>
                  <a:lnTo>
                    <a:pt x="631" y="1455"/>
                  </a:lnTo>
                  <a:lnTo>
                    <a:pt x="643" y="1459"/>
                  </a:lnTo>
                  <a:lnTo>
                    <a:pt x="656" y="1461"/>
                  </a:lnTo>
                  <a:lnTo>
                    <a:pt x="668" y="1461"/>
                  </a:lnTo>
                  <a:lnTo>
                    <a:pt x="668" y="1461"/>
                  </a:lnTo>
                  <a:lnTo>
                    <a:pt x="682" y="1461"/>
                  </a:lnTo>
                  <a:lnTo>
                    <a:pt x="694" y="1459"/>
                  </a:lnTo>
                  <a:lnTo>
                    <a:pt x="706" y="1455"/>
                  </a:lnTo>
                  <a:lnTo>
                    <a:pt x="718" y="1451"/>
                  </a:lnTo>
                  <a:lnTo>
                    <a:pt x="728" y="1445"/>
                  </a:lnTo>
                  <a:lnTo>
                    <a:pt x="739" y="1439"/>
                  </a:lnTo>
                  <a:lnTo>
                    <a:pt x="749" y="1432"/>
                  </a:lnTo>
                  <a:lnTo>
                    <a:pt x="757" y="1424"/>
                  </a:lnTo>
                  <a:lnTo>
                    <a:pt x="766" y="1415"/>
                  </a:lnTo>
                  <a:lnTo>
                    <a:pt x="773" y="1406"/>
                  </a:lnTo>
                  <a:lnTo>
                    <a:pt x="779" y="1395"/>
                  </a:lnTo>
                  <a:lnTo>
                    <a:pt x="785" y="1384"/>
                  </a:lnTo>
                  <a:lnTo>
                    <a:pt x="788" y="1373"/>
                  </a:lnTo>
                  <a:lnTo>
                    <a:pt x="792" y="1361"/>
                  </a:lnTo>
                  <a:lnTo>
                    <a:pt x="793" y="1348"/>
                  </a:lnTo>
                  <a:lnTo>
                    <a:pt x="794" y="1336"/>
                  </a:lnTo>
                  <a:lnTo>
                    <a:pt x="794" y="1336"/>
                  </a:lnTo>
                  <a:lnTo>
                    <a:pt x="793" y="1322"/>
                  </a:lnTo>
                  <a:lnTo>
                    <a:pt x="791" y="1308"/>
                  </a:lnTo>
                  <a:lnTo>
                    <a:pt x="787" y="1294"/>
                  </a:lnTo>
                  <a:lnTo>
                    <a:pt x="781" y="1282"/>
                  </a:lnTo>
                  <a:lnTo>
                    <a:pt x="991" y="1073"/>
                  </a:lnTo>
                  <a:lnTo>
                    <a:pt x="991" y="1073"/>
                  </a:lnTo>
                  <a:lnTo>
                    <a:pt x="1004" y="1077"/>
                  </a:lnTo>
                  <a:lnTo>
                    <a:pt x="1018" y="1082"/>
                  </a:lnTo>
                  <a:lnTo>
                    <a:pt x="1031" y="1085"/>
                  </a:lnTo>
                  <a:lnTo>
                    <a:pt x="1045" y="1086"/>
                  </a:lnTo>
                  <a:lnTo>
                    <a:pt x="1045" y="1086"/>
                  </a:lnTo>
                  <a:lnTo>
                    <a:pt x="1057" y="1085"/>
                  </a:lnTo>
                  <a:lnTo>
                    <a:pt x="1069" y="1082"/>
                  </a:lnTo>
                  <a:lnTo>
                    <a:pt x="1081" y="1080"/>
                  </a:lnTo>
                  <a:lnTo>
                    <a:pt x="1093" y="1076"/>
                  </a:lnTo>
                  <a:lnTo>
                    <a:pt x="1104" y="1070"/>
                  </a:lnTo>
                  <a:lnTo>
                    <a:pt x="1114" y="1064"/>
                  </a:lnTo>
                  <a:lnTo>
                    <a:pt x="1123" y="1058"/>
                  </a:lnTo>
                  <a:lnTo>
                    <a:pt x="1132" y="1050"/>
                  </a:lnTo>
                  <a:lnTo>
                    <a:pt x="1423" y="1195"/>
                  </a:lnTo>
                  <a:lnTo>
                    <a:pt x="1423" y="1195"/>
                  </a:lnTo>
                  <a:lnTo>
                    <a:pt x="1422" y="1203"/>
                  </a:lnTo>
                  <a:lnTo>
                    <a:pt x="1422" y="1210"/>
                  </a:lnTo>
                  <a:lnTo>
                    <a:pt x="1422" y="1210"/>
                  </a:lnTo>
                  <a:lnTo>
                    <a:pt x="1422" y="1224"/>
                  </a:lnTo>
                  <a:lnTo>
                    <a:pt x="1424" y="1236"/>
                  </a:lnTo>
                  <a:lnTo>
                    <a:pt x="1427" y="1248"/>
                  </a:lnTo>
                  <a:lnTo>
                    <a:pt x="1432" y="1260"/>
                  </a:lnTo>
                  <a:lnTo>
                    <a:pt x="1436" y="1270"/>
                  </a:lnTo>
                  <a:lnTo>
                    <a:pt x="1442" y="1280"/>
                  </a:lnTo>
                  <a:lnTo>
                    <a:pt x="1450" y="1290"/>
                  </a:lnTo>
                  <a:lnTo>
                    <a:pt x="1458" y="1299"/>
                  </a:lnTo>
                  <a:lnTo>
                    <a:pt x="1468" y="1308"/>
                  </a:lnTo>
                  <a:lnTo>
                    <a:pt x="1477" y="1315"/>
                  </a:lnTo>
                  <a:lnTo>
                    <a:pt x="1487" y="1321"/>
                  </a:lnTo>
                  <a:lnTo>
                    <a:pt x="1498" y="1326"/>
                  </a:lnTo>
                  <a:lnTo>
                    <a:pt x="1510" y="1330"/>
                  </a:lnTo>
                  <a:lnTo>
                    <a:pt x="1522" y="1333"/>
                  </a:lnTo>
                  <a:lnTo>
                    <a:pt x="1534" y="1335"/>
                  </a:lnTo>
                  <a:lnTo>
                    <a:pt x="1547" y="1336"/>
                  </a:lnTo>
                  <a:lnTo>
                    <a:pt x="1547" y="1336"/>
                  </a:lnTo>
                  <a:lnTo>
                    <a:pt x="1560" y="1335"/>
                  </a:lnTo>
                  <a:lnTo>
                    <a:pt x="1572" y="1333"/>
                  </a:lnTo>
                  <a:lnTo>
                    <a:pt x="1584" y="1330"/>
                  </a:lnTo>
                  <a:lnTo>
                    <a:pt x="1596" y="1326"/>
                  </a:lnTo>
                  <a:lnTo>
                    <a:pt x="1607" y="1321"/>
                  </a:lnTo>
                  <a:lnTo>
                    <a:pt x="1616" y="1315"/>
                  </a:lnTo>
                  <a:lnTo>
                    <a:pt x="1626" y="1308"/>
                  </a:lnTo>
                  <a:lnTo>
                    <a:pt x="1636" y="1299"/>
                  </a:lnTo>
                  <a:lnTo>
                    <a:pt x="1644" y="1290"/>
                  </a:lnTo>
                  <a:lnTo>
                    <a:pt x="1651" y="1280"/>
                  </a:lnTo>
                  <a:lnTo>
                    <a:pt x="1657" y="1270"/>
                  </a:lnTo>
                  <a:lnTo>
                    <a:pt x="1662" y="1260"/>
                  </a:lnTo>
                  <a:lnTo>
                    <a:pt x="1667" y="1248"/>
                  </a:lnTo>
                  <a:lnTo>
                    <a:pt x="1669" y="1236"/>
                  </a:lnTo>
                  <a:lnTo>
                    <a:pt x="1672" y="1224"/>
                  </a:lnTo>
                  <a:lnTo>
                    <a:pt x="1673" y="1210"/>
                  </a:lnTo>
                  <a:lnTo>
                    <a:pt x="1673" y="1210"/>
                  </a:lnTo>
                  <a:lnTo>
                    <a:pt x="1672" y="1195"/>
                  </a:lnTo>
                  <a:lnTo>
                    <a:pt x="1668" y="1179"/>
                  </a:lnTo>
                  <a:lnTo>
                    <a:pt x="1663" y="1166"/>
                  </a:lnTo>
                  <a:lnTo>
                    <a:pt x="1657" y="1152"/>
                  </a:lnTo>
                  <a:lnTo>
                    <a:pt x="2195" y="507"/>
                  </a:lnTo>
                  <a:lnTo>
                    <a:pt x="2195" y="507"/>
                  </a:lnTo>
                  <a:lnTo>
                    <a:pt x="2203" y="514"/>
                  </a:lnTo>
                  <a:lnTo>
                    <a:pt x="2210" y="521"/>
                  </a:lnTo>
                  <a:lnTo>
                    <a:pt x="2213" y="526"/>
                  </a:lnTo>
                  <a:lnTo>
                    <a:pt x="2214" y="532"/>
                  </a:lnTo>
                  <a:lnTo>
                    <a:pt x="2215" y="537"/>
                  </a:lnTo>
                  <a:lnTo>
                    <a:pt x="2215" y="543"/>
                  </a:lnTo>
                  <a:lnTo>
                    <a:pt x="2215" y="1628"/>
                  </a:lnTo>
                  <a:lnTo>
                    <a:pt x="377" y="1628"/>
                  </a:lnTo>
                  <a:lnTo>
                    <a:pt x="377" y="543"/>
                  </a:lnTo>
                  <a:close/>
                  <a:moveTo>
                    <a:pt x="1589" y="1210"/>
                  </a:moveTo>
                  <a:lnTo>
                    <a:pt x="1589" y="1210"/>
                  </a:lnTo>
                  <a:lnTo>
                    <a:pt x="1588" y="1219"/>
                  </a:lnTo>
                  <a:lnTo>
                    <a:pt x="1585" y="1227"/>
                  </a:lnTo>
                  <a:lnTo>
                    <a:pt x="1582" y="1233"/>
                  </a:lnTo>
                  <a:lnTo>
                    <a:pt x="1577" y="1240"/>
                  </a:lnTo>
                  <a:lnTo>
                    <a:pt x="1570" y="1245"/>
                  </a:lnTo>
                  <a:lnTo>
                    <a:pt x="1564" y="1249"/>
                  </a:lnTo>
                  <a:lnTo>
                    <a:pt x="1555" y="1251"/>
                  </a:lnTo>
                  <a:lnTo>
                    <a:pt x="1547" y="1252"/>
                  </a:lnTo>
                  <a:lnTo>
                    <a:pt x="1547" y="1252"/>
                  </a:lnTo>
                  <a:lnTo>
                    <a:pt x="1538" y="1251"/>
                  </a:lnTo>
                  <a:lnTo>
                    <a:pt x="1530" y="1249"/>
                  </a:lnTo>
                  <a:lnTo>
                    <a:pt x="1524" y="1245"/>
                  </a:lnTo>
                  <a:lnTo>
                    <a:pt x="1517" y="1240"/>
                  </a:lnTo>
                  <a:lnTo>
                    <a:pt x="1512" y="1233"/>
                  </a:lnTo>
                  <a:lnTo>
                    <a:pt x="1508" y="1227"/>
                  </a:lnTo>
                  <a:lnTo>
                    <a:pt x="1506" y="1219"/>
                  </a:lnTo>
                  <a:lnTo>
                    <a:pt x="1505" y="1210"/>
                  </a:lnTo>
                  <a:lnTo>
                    <a:pt x="1505" y="1210"/>
                  </a:lnTo>
                  <a:lnTo>
                    <a:pt x="1506" y="1202"/>
                  </a:lnTo>
                  <a:lnTo>
                    <a:pt x="1508" y="1194"/>
                  </a:lnTo>
                  <a:lnTo>
                    <a:pt x="1512" y="1188"/>
                  </a:lnTo>
                  <a:lnTo>
                    <a:pt x="1517" y="1181"/>
                  </a:lnTo>
                  <a:lnTo>
                    <a:pt x="1524" y="1176"/>
                  </a:lnTo>
                  <a:lnTo>
                    <a:pt x="1530" y="1172"/>
                  </a:lnTo>
                  <a:lnTo>
                    <a:pt x="1538" y="1170"/>
                  </a:lnTo>
                  <a:lnTo>
                    <a:pt x="1547" y="1169"/>
                  </a:lnTo>
                  <a:lnTo>
                    <a:pt x="1547" y="1169"/>
                  </a:lnTo>
                  <a:lnTo>
                    <a:pt x="1555" y="1170"/>
                  </a:lnTo>
                  <a:lnTo>
                    <a:pt x="1564" y="1172"/>
                  </a:lnTo>
                  <a:lnTo>
                    <a:pt x="1570" y="1176"/>
                  </a:lnTo>
                  <a:lnTo>
                    <a:pt x="1577" y="1181"/>
                  </a:lnTo>
                  <a:lnTo>
                    <a:pt x="1582" y="1188"/>
                  </a:lnTo>
                  <a:lnTo>
                    <a:pt x="1585" y="1194"/>
                  </a:lnTo>
                  <a:lnTo>
                    <a:pt x="1588" y="1202"/>
                  </a:lnTo>
                  <a:lnTo>
                    <a:pt x="1589" y="1210"/>
                  </a:lnTo>
                  <a:lnTo>
                    <a:pt x="1589" y="1210"/>
                  </a:lnTo>
                  <a:close/>
                  <a:moveTo>
                    <a:pt x="1003" y="960"/>
                  </a:moveTo>
                  <a:lnTo>
                    <a:pt x="1003" y="960"/>
                  </a:lnTo>
                  <a:lnTo>
                    <a:pt x="1004" y="952"/>
                  </a:lnTo>
                  <a:lnTo>
                    <a:pt x="1007" y="943"/>
                  </a:lnTo>
                  <a:lnTo>
                    <a:pt x="1010" y="937"/>
                  </a:lnTo>
                  <a:lnTo>
                    <a:pt x="1015" y="930"/>
                  </a:lnTo>
                  <a:lnTo>
                    <a:pt x="1022" y="925"/>
                  </a:lnTo>
                  <a:lnTo>
                    <a:pt x="1028" y="922"/>
                  </a:lnTo>
                  <a:lnTo>
                    <a:pt x="1037" y="919"/>
                  </a:lnTo>
                  <a:lnTo>
                    <a:pt x="1045" y="918"/>
                  </a:lnTo>
                  <a:lnTo>
                    <a:pt x="1045" y="918"/>
                  </a:lnTo>
                  <a:lnTo>
                    <a:pt x="1054" y="919"/>
                  </a:lnTo>
                  <a:lnTo>
                    <a:pt x="1062" y="922"/>
                  </a:lnTo>
                  <a:lnTo>
                    <a:pt x="1068" y="925"/>
                  </a:lnTo>
                  <a:lnTo>
                    <a:pt x="1075" y="930"/>
                  </a:lnTo>
                  <a:lnTo>
                    <a:pt x="1080" y="937"/>
                  </a:lnTo>
                  <a:lnTo>
                    <a:pt x="1084" y="943"/>
                  </a:lnTo>
                  <a:lnTo>
                    <a:pt x="1086" y="952"/>
                  </a:lnTo>
                  <a:lnTo>
                    <a:pt x="1087" y="960"/>
                  </a:lnTo>
                  <a:lnTo>
                    <a:pt x="1087" y="960"/>
                  </a:lnTo>
                  <a:lnTo>
                    <a:pt x="1086" y="968"/>
                  </a:lnTo>
                  <a:lnTo>
                    <a:pt x="1084" y="977"/>
                  </a:lnTo>
                  <a:lnTo>
                    <a:pt x="1080" y="983"/>
                  </a:lnTo>
                  <a:lnTo>
                    <a:pt x="1075" y="990"/>
                  </a:lnTo>
                  <a:lnTo>
                    <a:pt x="1068" y="995"/>
                  </a:lnTo>
                  <a:lnTo>
                    <a:pt x="1062" y="998"/>
                  </a:lnTo>
                  <a:lnTo>
                    <a:pt x="1054" y="1001"/>
                  </a:lnTo>
                  <a:lnTo>
                    <a:pt x="1045" y="1002"/>
                  </a:lnTo>
                  <a:lnTo>
                    <a:pt x="1045" y="1002"/>
                  </a:lnTo>
                  <a:lnTo>
                    <a:pt x="1037" y="1001"/>
                  </a:lnTo>
                  <a:lnTo>
                    <a:pt x="1028" y="998"/>
                  </a:lnTo>
                  <a:lnTo>
                    <a:pt x="1022" y="995"/>
                  </a:lnTo>
                  <a:lnTo>
                    <a:pt x="1015" y="990"/>
                  </a:lnTo>
                  <a:lnTo>
                    <a:pt x="1010" y="983"/>
                  </a:lnTo>
                  <a:lnTo>
                    <a:pt x="1007" y="977"/>
                  </a:lnTo>
                  <a:lnTo>
                    <a:pt x="1004" y="968"/>
                  </a:lnTo>
                  <a:lnTo>
                    <a:pt x="1003" y="960"/>
                  </a:lnTo>
                  <a:lnTo>
                    <a:pt x="1003" y="960"/>
                  </a:lnTo>
                  <a:close/>
                  <a:moveTo>
                    <a:pt x="710" y="1336"/>
                  </a:moveTo>
                  <a:lnTo>
                    <a:pt x="710" y="1336"/>
                  </a:lnTo>
                  <a:lnTo>
                    <a:pt x="710" y="1345"/>
                  </a:lnTo>
                  <a:lnTo>
                    <a:pt x="708" y="1352"/>
                  </a:lnTo>
                  <a:lnTo>
                    <a:pt x="703" y="1359"/>
                  </a:lnTo>
                  <a:lnTo>
                    <a:pt x="698" y="1365"/>
                  </a:lnTo>
                  <a:lnTo>
                    <a:pt x="692" y="1370"/>
                  </a:lnTo>
                  <a:lnTo>
                    <a:pt x="685" y="1375"/>
                  </a:lnTo>
                  <a:lnTo>
                    <a:pt x="677" y="1377"/>
                  </a:lnTo>
                  <a:lnTo>
                    <a:pt x="668" y="1377"/>
                  </a:lnTo>
                  <a:lnTo>
                    <a:pt x="668" y="1377"/>
                  </a:lnTo>
                  <a:lnTo>
                    <a:pt x="660" y="1377"/>
                  </a:lnTo>
                  <a:lnTo>
                    <a:pt x="653" y="1375"/>
                  </a:lnTo>
                  <a:lnTo>
                    <a:pt x="646" y="1370"/>
                  </a:lnTo>
                  <a:lnTo>
                    <a:pt x="640" y="1365"/>
                  </a:lnTo>
                  <a:lnTo>
                    <a:pt x="635" y="1359"/>
                  </a:lnTo>
                  <a:lnTo>
                    <a:pt x="630" y="1352"/>
                  </a:lnTo>
                  <a:lnTo>
                    <a:pt x="628" y="1345"/>
                  </a:lnTo>
                  <a:lnTo>
                    <a:pt x="628" y="1336"/>
                  </a:lnTo>
                  <a:lnTo>
                    <a:pt x="628" y="1336"/>
                  </a:lnTo>
                  <a:lnTo>
                    <a:pt x="628" y="1328"/>
                  </a:lnTo>
                  <a:lnTo>
                    <a:pt x="630" y="1320"/>
                  </a:lnTo>
                  <a:lnTo>
                    <a:pt x="635" y="1312"/>
                  </a:lnTo>
                  <a:lnTo>
                    <a:pt x="640" y="1306"/>
                  </a:lnTo>
                  <a:lnTo>
                    <a:pt x="646" y="1302"/>
                  </a:lnTo>
                  <a:lnTo>
                    <a:pt x="653" y="1297"/>
                  </a:lnTo>
                  <a:lnTo>
                    <a:pt x="660" y="1294"/>
                  </a:lnTo>
                  <a:lnTo>
                    <a:pt x="668" y="1294"/>
                  </a:lnTo>
                  <a:lnTo>
                    <a:pt x="668" y="1294"/>
                  </a:lnTo>
                  <a:lnTo>
                    <a:pt x="677" y="1294"/>
                  </a:lnTo>
                  <a:lnTo>
                    <a:pt x="685" y="1297"/>
                  </a:lnTo>
                  <a:lnTo>
                    <a:pt x="692" y="1302"/>
                  </a:lnTo>
                  <a:lnTo>
                    <a:pt x="698" y="1306"/>
                  </a:lnTo>
                  <a:lnTo>
                    <a:pt x="703" y="1312"/>
                  </a:lnTo>
                  <a:lnTo>
                    <a:pt x="708" y="1320"/>
                  </a:lnTo>
                  <a:lnTo>
                    <a:pt x="710" y="1328"/>
                  </a:lnTo>
                  <a:lnTo>
                    <a:pt x="710" y="1336"/>
                  </a:lnTo>
                  <a:lnTo>
                    <a:pt x="710" y="1336"/>
                  </a:lnTo>
                  <a:close/>
                  <a:moveTo>
                    <a:pt x="2508" y="1711"/>
                  </a:moveTo>
                  <a:lnTo>
                    <a:pt x="2508" y="1795"/>
                  </a:lnTo>
                  <a:lnTo>
                    <a:pt x="2508" y="1795"/>
                  </a:lnTo>
                  <a:lnTo>
                    <a:pt x="2508" y="1804"/>
                  </a:lnTo>
                  <a:lnTo>
                    <a:pt x="2506" y="1811"/>
                  </a:lnTo>
                  <a:lnTo>
                    <a:pt x="2501" y="1818"/>
                  </a:lnTo>
                  <a:lnTo>
                    <a:pt x="2496" y="1824"/>
                  </a:lnTo>
                  <a:lnTo>
                    <a:pt x="2490" y="1830"/>
                  </a:lnTo>
                  <a:lnTo>
                    <a:pt x="2483" y="1834"/>
                  </a:lnTo>
                  <a:lnTo>
                    <a:pt x="2474" y="1836"/>
                  </a:lnTo>
                  <a:lnTo>
                    <a:pt x="2466" y="1837"/>
                  </a:lnTo>
                  <a:lnTo>
                    <a:pt x="126" y="1837"/>
                  </a:lnTo>
                  <a:lnTo>
                    <a:pt x="126" y="1837"/>
                  </a:lnTo>
                  <a:lnTo>
                    <a:pt x="118" y="1836"/>
                  </a:lnTo>
                  <a:lnTo>
                    <a:pt x="109" y="1834"/>
                  </a:lnTo>
                  <a:lnTo>
                    <a:pt x="102" y="1830"/>
                  </a:lnTo>
                  <a:lnTo>
                    <a:pt x="96" y="1824"/>
                  </a:lnTo>
                  <a:lnTo>
                    <a:pt x="91" y="1818"/>
                  </a:lnTo>
                  <a:lnTo>
                    <a:pt x="86" y="1811"/>
                  </a:lnTo>
                  <a:lnTo>
                    <a:pt x="84" y="1804"/>
                  </a:lnTo>
                  <a:lnTo>
                    <a:pt x="84" y="1795"/>
                  </a:lnTo>
                  <a:lnTo>
                    <a:pt x="84" y="1711"/>
                  </a:lnTo>
                  <a:lnTo>
                    <a:pt x="293" y="1711"/>
                  </a:lnTo>
                  <a:lnTo>
                    <a:pt x="2299" y="1711"/>
                  </a:lnTo>
                  <a:lnTo>
                    <a:pt x="2508" y="171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36AAA20-21B1-AE18-29A6-4AD2C0450D4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95500" y="2265618"/>
              <a:ext cx="304325" cy="289648"/>
              <a:chOff x="9255591" y="4979317"/>
              <a:chExt cx="1007239" cy="874315"/>
            </a:xfrm>
            <a:solidFill>
              <a:schemeClr val="tx1"/>
            </a:solidFill>
          </p:grpSpPr>
          <p:sp>
            <p:nvSpPr>
              <p:cNvPr id="77" name="Freeform 64">
                <a:extLst>
                  <a:ext uri="{FF2B5EF4-FFF2-40B4-BE49-F238E27FC236}">
                    <a16:creationId xmlns:a16="http://schemas.microsoft.com/office/drawing/2014/main" id="{8E2EA06A-8307-6D19-74F0-903FA589B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55591" y="4979317"/>
                <a:ext cx="1007239" cy="874315"/>
              </a:xfrm>
              <a:custGeom>
                <a:avLst/>
                <a:gdLst>
                  <a:gd name="T0" fmla="*/ 127 w 3966"/>
                  <a:gd name="T1" fmla="*/ 2942 h 3966"/>
                  <a:gd name="T2" fmla="*/ 3044 w 3966"/>
                  <a:gd name="T3" fmla="*/ 1548 h 3966"/>
                  <a:gd name="T4" fmla="*/ 3263 w 3966"/>
                  <a:gd name="T5" fmla="*/ 3839 h 3966"/>
                  <a:gd name="T6" fmla="*/ 3583 w 3966"/>
                  <a:gd name="T7" fmla="*/ 1791 h 3966"/>
                  <a:gd name="T8" fmla="*/ 3835 w 3966"/>
                  <a:gd name="T9" fmla="*/ 1621 h 3966"/>
                  <a:gd name="T10" fmla="*/ 3733 w 3966"/>
                  <a:gd name="T11" fmla="*/ 1457 h 3966"/>
                  <a:gd name="T12" fmla="*/ 2175 w 3966"/>
                  <a:gd name="T13" fmla="*/ 1407 h 3966"/>
                  <a:gd name="T14" fmla="*/ 3175 w 3966"/>
                  <a:gd name="T15" fmla="*/ 689 h 3966"/>
                  <a:gd name="T16" fmla="*/ 3074 w 3966"/>
                  <a:gd name="T17" fmla="*/ 854 h 3966"/>
                  <a:gd name="T18" fmla="*/ 3099 w 3966"/>
                  <a:gd name="T19" fmla="*/ 1141 h 3966"/>
                  <a:gd name="T20" fmla="*/ 3246 w 3966"/>
                  <a:gd name="T21" fmla="*/ 1267 h 3966"/>
                  <a:gd name="T22" fmla="*/ 3444 w 3966"/>
                  <a:gd name="T23" fmla="*/ 1251 h 3966"/>
                  <a:gd name="T24" fmla="*/ 3569 w 3966"/>
                  <a:gd name="T25" fmla="*/ 1104 h 3966"/>
                  <a:gd name="T26" fmla="*/ 3569 w 3966"/>
                  <a:gd name="T27" fmla="*/ 815 h 3966"/>
                  <a:gd name="T28" fmla="*/ 3444 w 3966"/>
                  <a:gd name="T29" fmla="*/ 668 h 3966"/>
                  <a:gd name="T30" fmla="*/ 299 w 3966"/>
                  <a:gd name="T31" fmla="*/ 131 h 3966"/>
                  <a:gd name="T32" fmla="*/ 260 w 3966"/>
                  <a:gd name="T33" fmla="*/ 212 h 3966"/>
                  <a:gd name="T34" fmla="*/ 3646 w 3966"/>
                  <a:gd name="T35" fmla="*/ 256 h 3966"/>
                  <a:gd name="T36" fmla="*/ 3710 w 3966"/>
                  <a:gd name="T37" fmla="*/ 192 h 3966"/>
                  <a:gd name="T38" fmla="*/ 3646 w 3966"/>
                  <a:gd name="T39" fmla="*/ 127 h 3966"/>
                  <a:gd name="T40" fmla="*/ 3742 w 3966"/>
                  <a:gd name="T41" fmla="*/ 26 h 3966"/>
                  <a:gd name="T42" fmla="*/ 3835 w 3966"/>
                  <a:gd name="T43" fmla="*/ 157 h 3966"/>
                  <a:gd name="T44" fmla="*/ 3792 w 3966"/>
                  <a:gd name="T45" fmla="*/ 316 h 3966"/>
                  <a:gd name="T46" fmla="*/ 3583 w 3966"/>
                  <a:gd name="T47" fmla="*/ 512 h 3966"/>
                  <a:gd name="T48" fmla="*/ 2942 w 3966"/>
                  <a:gd name="T49" fmla="*/ 1663 h 3966"/>
                  <a:gd name="T50" fmla="*/ 2050 w 3966"/>
                  <a:gd name="T51" fmla="*/ 1619 h 3966"/>
                  <a:gd name="T52" fmla="*/ 2047 w 3966"/>
                  <a:gd name="T53" fmla="*/ 1407 h 3966"/>
                  <a:gd name="T54" fmla="*/ 2091 w 3966"/>
                  <a:gd name="T55" fmla="*/ 1282 h 3966"/>
                  <a:gd name="T56" fmla="*/ 2968 w 3966"/>
                  <a:gd name="T57" fmla="*/ 1163 h 3966"/>
                  <a:gd name="T58" fmla="*/ 2946 w 3966"/>
                  <a:gd name="T59" fmla="*/ 844 h 3966"/>
                  <a:gd name="T60" fmla="*/ 3055 w 3966"/>
                  <a:gd name="T61" fmla="*/ 624 h 3966"/>
                  <a:gd name="T62" fmla="*/ 3274 w 3966"/>
                  <a:gd name="T63" fmla="*/ 516 h 3966"/>
                  <a:gd name="T64" fmla="*/ 3520 w 3966"/>
                  <a:gd name="T65" fmla="*/ 564 h 3966"/>
                  <a:gd name="T66" fmla="*/ 3680 w 3966"/>
                  <a:gd name="T67" fmla="*/ 746 h 3966"/>
                  <a:gd name="T68" fmla="*/ 3708 w 3966"/>
                  <a:gd name="T69" fmla="*/ 1072 h 3966"/>
                  <a:gd name="T70" fmla="*/ 3610 w 3966"/>
                  <a:gd name="T71" fmla="*/ 1281 h 3966"/>
                  <a:gd name="T72" fmla="*/ 3845 w 3966"/>
                  <a:gd name="T73" fmla="*/ 1383 h 3966"/>
                  <a:gd name="T74" fmla="*/ 3962 w 3966"/>
                  <a:gd name="T75" fmla="*/ 1609 h 3966"/>
                  <a:gd name="T76" fmla="*/ 3940 w 3966"/>
                  <a:gd name="T77" fmla="*/ 2547 h 3966"/>
                  <a:gd name="T78" fmla="*/ 3706 w 3966"/>
                  <a:gd name="T79" fmla="*/ 3923 h 3966"/>
                  <a:gd name="T80" fmla="*/ 3007 w 3966"/>
                  <a:gd name="T81" fmla="*/ 3966 h 3966"/>
                  <a:gd name="T82" fmla="*/ 2942 w 3966"/>
                  <a:gd name="T83" fmla="*/ 3902 h 3966"/>
                  <a:gd name="T84" fmla="*/ 2124 w 3966"/>
                  <a:gd name="T85" fmla="*/ 3496 h 3966"/>
                  <a:gd name="T86" fmla="*/ 2235 w 3966"/>
                  <a:gd name="T87" fmla="*/ 3667 h 3966"/>
                  <a:gd name="T88" fmla="*/ 2190 w 3966"/>
                  <a:gd name="T89" fmla="*/ 3861 h 3966"/>
                  <a:gd name="T90" fmla="*/ 2024 w 3966"/>
                  <a:gd name="T91" fmla="*/ 3962 h 3966"/>
                  <a:gd name="T92" fmla="*/ 1832 w 3966"/>
                  <a:gd name="T93" fmla="*/ 3917 h 3966"/>
                  <a:gd name="T94" fmla="*/ 1731 w 3966"/>
                  <a:gd name="T95" fmla="*/ 3752 h 3966"/>
                  <a:gd name="T96" fmla="*/ 1883 w 3966"/>
                  <a:gd name="T97" fmla="*/ 3791 h 3966"/>
                  <a:gd name="T98" fmla="*/ 2012 w 3966"/>
                  <a:gd name="T99" fmla="*/ 3835 h 3966"/>
                  <a:gd name="T100" fmla="*/ 2108 w 3966"/>
                  <a:gd name="T101" fmla="*/ 3739 h 3966"/>
                  <a:gd name="T102" fmla="*/ 2064 w 3966"/>
                  <a:gd name="T103" fmla="*/ 3610 h 3966"/>
                  <a:gd name="T104" fmla="*/ 1946 w 3966"/>
                  <a:gd name="T105" fmla="*/ 3569 h 3966"/>
                  <a:gd name="T106" fmla="*/ 64 w 3966"/>
                  <a:gd name="T107" fmla="*/ 3198 h 3966"/>
                  <a:gd name="T108" fmla="*/ 0 w 3966"/>
                  <a:gd name="T109" fmla="*/ 3134 h 3966"/>
                  <a:gd name="T110" fmla="*/ 43 w 3966"/>
                  <a:gd name="T111" fmla="*/ 2818 h 3966"/>
                  <a:gd name="T112" fmla="*/ 198 w 3966"/>
                  <a:gd name="T113" fmla="*/ 339 h 3966"/>
                  <a:gd name="T114" fmla="*/ 127 w 3966"/>
                  <a:gd name="T115" fmla="*/ 192 h 3966"/>
                  <a:gd name="T116" fmla="*/ 196 w 3966"/>
                  <a:gd name="T117" fmla="*/ 46 h 3966"/>
                  <a:gd name="T118" fmla="*/ 3646 w 3966"/>
                  <a:gd name="T119" fmla="*/ 0 h 39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3966" h="3966">
                    <a:moveTo>
                      <a:pt x="127" y="2942"/>
                    </a:moveTo>
                    <a:lnTo>
                      <a:pt x="127" y="3071"/>
                    </a:lnTo>
                    <a:lnTo>
                      <a:pt x="2942" y="3071"/>
                    </a:lnTo>
                    <a:lnTo>
                      <a:pt x="2942" y="2942"/>
                    </a:lnTo>
                    <a:lnTo>
                      <a:pt x="127" y="2942"/>
                    </a:lnTo>
                    <a:close/>
                    <a:moveTo>
                      <a:pt x="2175" y="1407"/>
                    </a:moveTo>
                    <a:lnTo>
                      <a:pt x="2175" y="1535"/>
                    </a:lnTo>
                    <a:lnTo>
                      <a:pt x="3007" y="1535"/>
                    </a:lnTo>
                    <a:lnTo>
                      <a:pt x="3026" y="1538"/>
                    </a:lnTo>
                    <a:lnTo>
                      <a:pt x="3044" y="1548"/>
                    </a:lnTo>
                    <a:lnTo>
                      <a:pt x="3059" y="1561"/>
                    </a:lnTo>
                    <a:lnTo>
                      <a:pt x="3067" y="1579"/>
                    </a:lnTo>
                    <a:lnTo>
                      <a:pt x="3071" y="1600"/>
                    </a:lnTo>
                    <a:lnTo>
                      <a:pt x="3071" y="3839"/>
                    </a:lnTo>
                    <a:lnTo>
                      <a:pt x="3263" y="3839"/>
                    </a:lnTo>
                    <a:lnTo>
                      <a:pt x="3263" y="2431"/>
                    </a:lnTo>
                    <a:lnTo>
                      <a:pt x="3390" y="2431"/>
                    </a:lnTo>
                    <a:lnTo>
                      <a:pt x="3390" y="3839"/>
                    </a:lnTo>
                    <a:lnTo>
                      <a:pt x="3583" y="3839"/>
                    </a:lnTo>
                    <a:lnTo>
                      <a:pt x="3583" y="1791"/>
                    </a:lnTo>
                    <a:lnTo>
                      <a:pt x="3710" y="1791"/>
                    </a:lnTo>
                    <a:lnTo>
                      <a:pt x="3710" y="2431"/>
                    </a:lnTo>
                    <a:lnTo>
                      <a:pt x="3839" y="2431"/>
                    </a:lnTo>
                    <a:lnTo>
                      <a:pt x="3839" y="1663"/>
                    </a:lnTo>
                    <a:lnTo>
                      <a:pt x="3835" y="1621"/>
                    </a:lnTo>
                    <a:lnTo>
                      <a:pt x="3825" y="1583"/>
                    </a:lnTo>
                    <a:lnTo>
                      <a:pt x="3810" y="1546"/>
                    </a:lnTo>
                    <a:lnTo>
                      <a:pt x="3788" y="1512"/>
                    </a:lnTo>
                    <a:lnTo>
                      <a:pt x="3763" y="1482"/>
                    </a:lnTo>
                    <a:lnTo>
                      <a:pt x="3733" y="1457"/>
                    </a:lnTo>
                    <a:lnTo>
                      <a:pt x="3699" y="1436"/>
                    </a:lnTo>
                    <a:lnTo>
                      <a:pt x="3663" y="1421"/>
                    </a:lnTo>
                    <a:lnTo>
                      <a:pt x="3623" y="1411"/>
                    </a:lnTo>
                    <a:lnTo>
                      <a:pt x="3583" y="1407"/>
                    </a:lnTo>
                    <a:lnTo>
                      <a:pt x="2175" y="1407"/>
                    </a:lnTo>
                    <a:close/>
                    <a:moveTo>
                      <a:pt x="3327" y="639"/>
                    </a:moveTo>
                    <a:lnTo>
                      <a:pt x="3285" y="643"/>
                    </a:lnTo>
                    <a:lnTo>
                      <a:pt x="3246" y="653"/>
                    </a:lnTo>
                    <a:lnTo>
                      <a:pt x="3209" y="668"/>
                    </a:lnTo>
                    <a:lnTo>
                      <a:pt x="3175" y="689"/>
                    </a:lnTo>
                    <a:lnTo>
                      <a:pt x="3145" y="715"/>
                    </a:lnTo>
                    <a:lnTo>
                      <a:pt x="3120" y="744"/>
                    </a:lnTo>
                    <a:lnTo>
                      <a:pt x="3099" y="778"/>
                    </a:lnTo>
                    <a:lnTo>
                      <a:pt x="3084" y="815"/>
                    </a:lnTo>
                    <a:lnTo>
                      <a:pt x="3074" y="854"/>
                    </a:lnTo>
                    <a:lnTo>
                      <a:pt x="3071" y="895"/>
                    </a:lnTo>
                    <a:lnTo>
                      <a:pt x="3071" y="1024"/>
                    </a:lnTo>
                    <a:lnTo>
                      <a:pt x="3074" y="1065"/>
                    </a:lnTo>
                    <a:lnTo>
                      <a:pt x="3084" y="1104"/>
                    </a:lnTo>
                    <a:lnTo>
                      <a:pt x="3099" y="1141"/>
                    </a:lnTo>
                    <a:lnTo>
                      <a:pt x="3120" y="1174"/>
                    </a:lnTo>
                    <a:lnTo>
                      <a:pt x="3145" y="1204"/>
                    </a:lnTo>
                    <a:lnTo>
                      <a:pt x="3175" y="1229"/>
                    </a:lnTo>
                    <a:lnTo>
                      <a:pt x="3209" y="1251"/>
                    </a:lnTo>
                    <a:lnTo>
                      <a:pt x="3246" y="1267"/>
                    </a:lnTo>
                    <a:lnTo>
                      <a:pt x="3285" y="1276"/>
                    </a:lnTo>
                    <a:lnTo>
                      <a:pt x="3327" y="1280"/>
                    </a:lnTo>
                    <a:lnTo>
                      <a:pt x="3367" y="1276"/>
                    </a:lnTo>
                    <a:lnTo>
                      <a:pt x="3407" y="1267"/>
                    </a:lnTo>
                    <a:lnTo>
                      <a:pt x="3444" y="1251"/>
                    </a:lnTo>
                    <a:lnTo>
                      <a:pt x="3477" y="1229"/>
                    </a:lnTo>
                    <a:lnTo>
                      <a:pt x="3507" y="1204"/>
                    </a:lnTo>
                    <a:lnTo>
                      <a:pt x="3533" y="1174"/>
                    </a:lnTo>
                    <a:lnTo>
                      <a:pt x="3554" y="1141"/>
                    </a:lnTo>
                    <a:lnTo>
                      <a:pt x="3569" y="1104"/>
                    </a:lnTo>
                    <a:lnTo>
                      <a:pt x="3579" y="1065"/>
                    </a:lnTo>
                    <a:lnTo>
                      <a:pt x="3583" y="1024"/>
                    </a:lnTo>
                    <a:lnTo>
                      <a:pt x="3583" y="895"/>
                    </a:lnTo>
                    <a:lnTo>
                      <a:pt x="3579" y="854"/>
                    </a:lnTo>
                    <a:lnTo>
                      <a:pt x="3569" y="815"/>
                    </a:lnTo>
                    <a:lnTo>
                      <a:pt x="3554" y="778"/>
                    </a:lnTo>
                    <a:lnTo>
                      <a:pt x="3533" y="744"/>
                    </a:lnTo>
                    <a:lnTo>
                      <a:pt x="3507" y="715"/>
                    </a:lnTo>
                    <a:lnTo>
                      <a:pt x="3477" y="689"/>
                    </a:lnTo>
                    <a:lnTo>
                      <a:pt x="3444" y="668"/>
                    </a:lnTo>
                    <a:lnTo>
                      <a:pt x="3407" y="653"/>
                    </a:lnTo>
                    <a:lnTo>
                      <a:pt x="3367" y="643"/>
                    </a:lnTo>
                    <a:lnTo>
                      <a:pt x="3327" y="639"/>
                    </a:lnTo>
                    <a:close/>
                    <a:moveTo>
                      <a:pt x="320" y="127"/>
                    </a:moveTo>
                    <a:lnTo>
                      <a:pt x="299" y="131"/>
                    </a:lnTo>
                    <a:lnTo>
                      <a:pt x="282" y="141"/>
                    </a:lnTo>
                    <a:lnTo>
                      <a:pt x="268" y="154"/>
                    </a:lnTo>
                    <a:lnTo>
                      <a:pt x="260" y="172"/>
                    </a:lnTo>
                    <a:lnTo>
                      <a:pt x="256" y="192"/>
                    </a:lnTo>
                    <a:lnTo>
                      <a:pt x="260" y="212"/>
                    </a:lnTo>
                    <a:lnTo>
                      <a:pt x="268" y="230"/>
                    </a:lnTo>
                    <a:lnTo>
                      <a:pt x="282" y="244"/>
                    </a:lnTo>
                    <a:lnTo>
                      <a:pt x="299" y="252"/>
                    </a:lnTo>
                    <a:lnTo>
                      <a:pt x="320" y="256"/>
                    </a:lnTo>
                    <a:lnTo>
                      <a:pt x="3646" y="256"/>
                    </a:lnTo>
                    <a:lnTo>
                      <a:pt x="3667" y="252"/>
                    </a:lnTo>
                    <a:lnTo>
                      <a:pt x="3684" y="244"/>
                    </a:lnTo>
                    <a:lnTo>
                      <a:pt x="3698" y="230"/>
                    </a:lnTo>
                    <a:lnTo>
                      <a:pt x="3706" y="212"/>
                    </a:lnTo>
                    <a:lnTo>
                      <a:pt x="3710" y="192"/>
                    </a:lnTo>
                    <a:lnTo>
                      <a:pt x="3706" y="172"/>
                    </a:lnTo>
                    <a:lnTo>
                      <a:pt x="3698" y="154"/>
                    </a:lnTo>
                    <a:lnTo>
                      <a:pt x="3684" y="141"/>
                    </a:lnTo>
                    <a:lnTo>
                      <a:pt x="3667" y="131"/>
                    </a:lnTo>
                    <a:lnTo>
                      <a:pt x="3646" y="127"/>
                    </a:lnTo>
                    <a:lnTo>
                      <a:pt x="320" y="127"/>
                    </a:lnTo>
                    <a:close/>
                    <a:moveTo>
                      <a:pt x="3646" y="0"/>
                    </a:moveTo>
                    <a:lnTo>
                      <a:pt x="3681" y="4"/>
                    </a:lnTo>
                    <a:lnTo>
                      <a:pt x="3714" y="12"/>
                    </a:lnTo>
                    <a:lnTo>
                      <a:pt x="3742" y="26"/>
                    </a:lnTo>
                    <a:lnTo>
                      <a:pt x="3770" y="46"/>
                    </a:lnTo>
                    <a:lnTo>
                      <a:pt x="3793" y="69"/>
                    </a:lnTo>
                    <a:lnTo>
                      <a:pt x="3812" y="95"/>
                    </a:lnTo>
                    <a:lnTo>
                      <a:pt x="3827" y="125"/>
                    </a:lnTo>
                    <a:lnTo>
                      <a:pt x="3835" y="157"/>
                    </a:lnTo>
                    <a:lnTo>
                      <a:pt x="3839" y="192"/>
                    </a:lnTo>
                    <a:lnTo>
                      <a:pt x="3835" y="227"/>
                    </a:lnTo>
                    <a:lnTo>
                      <a:pt x="3825" y="260"/>
                    </a:lnTo>
                    <a:lnTo>
                      <a:pt x="3811" y="290"/>
                    </a:lnTo>
                    <a:lnTo>
                      <a:pt x="3792" y="316"/>
                    </a:lnTo>
                    <a:lnTo>
                      <a:pt x="3768" y="339"/>
                    </a:lnTo>
                    <a:lnTo>
                      <a:pt x="3740" y="358"/>
                    </a:lnTo>
                    <a:lnTo>
                      <a:pt x="3710" y="373"/>
                    </a:lnTo>
                    <a:lnTo>
                      <a:pt x="3710" y="512"/>
                    </a:lnTo>
                    <a:lnTo>
                      <a:pt x="3583" y="512"/>
                    </a:lnTo>
                    <a:lnTo>
                      <a:pt x="3583" y="383"/>
                    </a:lnTo>
                    <a:lnTo>
                      <a:pt x="383" y="383"/>
                    </a:lnTo>
                    <a:lnTo>
                      <a:pt x="383" y="2815"/>
                    </a:lnTo>
                    <a:lnTo>
                      <a:pt x="2942" y="2815"/>
                    </a:lnTo>
                    <a:lnTo>
                      <a:pt x="2942" y="1663"/>
                    </a:lnTo>
                    <a:lnTo>
                      <a:pt x="2110" y="1663"/>
                    </a:lnTo>
                    <a:lnTo>
                      <a:pt x="2091" y="1660"/>
                    </a:lnTo>
                    <a:lnTo>
                      <a:pt x="2073" y="1651"/>
                    </a:lnTo>
                    <a:lnTo>
                      <a:pt x="2060" y="1637"/>
                    </a:lnTo>
                    <a:lnTo>
                      <a:pt x="2050" y="1619"/>
                    </a:lnTo>
                    <a:lnTo>
                      <a:pt x="2047" y="1600"/>
                    </a:lnTo>
                    <a:lnTo>
                      <a:pt x="2047" y="1535"/>
                    </a:lnTo>
                    <a:lnTo>
                      <a:pt x="1024" y="1535"/>
                    </a:lnTo>
                    <a:lnTo>
                      <a:pt x="1024" y="1407"/>
                    </a:lnTo>
                    <a:lnTo>
                      <a:pt x="2047" y="1407"/>
                    </a:lnTo>
                    <a:lnTo>
                      <a:pt x="2047" y="1344"/>
                    </a:lnTo>
                    <a:lnTo>
                      <a:pt x="2050" y="1323"/>
                    </a:lnTo>
                    <a:lnTo>
                      <a:pt x="2060" y="1305"/>
                    </a:lnTo>
                    <a:lnTo>
                      <a:pt x="2073" y="1292"/>
                    </a:lnTo>
                    <a:lnTo>
                      <a:pt x="2091" y="1282"/>
                    </a:lnTo>
                    <a:lnTo>
                      <a:pt x="2110" y="1280"/>
                    </a:lnTo>
                    <a:lnTo>
                      <a:pt x="3041" y="1280"/>
                    </a:lnTo>
                    <a:lnTo>
                      <a:pt x="3013" y="1244"/>
                    </a:lnTo>
                    <a:lnTo>
                      <a:pt x="2989" y="1204"/>
                    </a:lnTo>
                    <a:lnTo>
                      <a:pt x="2968" y="1163"/>
                    </a:lnTo>
                    <a:lnTo>
                      <a:pt x="2954" y="1119"/>
                    </a:lnTo>
                    <a:lnTo>
                      <a:pt x="2946" y="1072"/>
                    </a:lnTo>
                    <a:lnTo>
                      <a:pt x="2942" y="1024"/>
                    </a:lnTo>
                    <a:lnTo>
                      <a:pt x="2942" y="895"/>
                    </a:lnTo>
                    <a:lnTo>
                      <a:pt x="2946" y="844"/>
                    </a:lnTo>
                    <a:lnTo>
                      <a:pt x="2956" y="793"/>
                    </a:lnTo>
                    <a:lnTo>
                      <a:pt x="2973" y="746"/>
                    </a:lnTo>
                    <a:lnTo>
                      <a:pt x="2995" y="702"/>
                    </a:lnTo>
                    <a:lnTo>
                      <a:pt x="3023" y="661"/>
                    </a:lnTo>
                    <a:lnTo>
                      <a:pt x="3055" y="624"/>
                    </a:lnTo>
                    <a:lnTo>
                      <a:pt x="3092" y="591"/>
                    </a:lnTo>
                    <a:lnTo>
                      <a:pt x="3133" y="564"/>
                    </a:lnTo>
                    <a:lnTo>
                      <a:pt x="3178" y="542"/>
                    </a:lnTo>
                    <a:lnTo>
                      <a:pt x="3224" y="525"/>
                    </a:lnTo>
                    <a:lnTo>
                      <a:pt x="3274" y="516"/>
                    </a:lnTo>
                    <a:lnTo>
                      <a:pt x="3327" y="512"/>
                    </a:lnTo>
                    <a:lnTo>
                      <a:pt x="3378" y="516"/>
                    </a:lnTo>
                    <a:lnTo>
                      <a:pt x="3429" y="525"/>
                    </a:lnTo>
                    <a:lnTo>
                      <a:pt x="3476" y="542"/>
                    </a:lnTo>
                    <a:lnTo>
                      <a:pt x="3520" y="564"/>
                    </a:lnTo>
                    <a:lnTo>
                      <a:pt x="3561" y="591"/>
                    </a:lnTo>
                    <a:lnTo>
                      <a:pt x="3597" y="624"/>
                    </a:lnTo>
                    <a:lnTo>
                      <a:pt x="3629" y="661"/>
                    </a:lnTo>
                    <a:lnTo>
                      <a:pt x="3657" y="702"/>
                    </a:lnTo>
                    <a:lnTo>
                      <a:pt x="3680" y="746"/>
                    </a:lnTo>
                    <a:lnTo>
                      <a:pt x="3697" y="793"/>
                    </a:lnTo>
                    <a:lnTo>
                      <a:pt x="3706" y="844"/>
                    </a:lnTo>
                    <a:lnTo>
                      <a:pt x="3710" y="895"/>
                    </a:lnTo>
                    <a:lnTo>
                      <a:pt x="3710" y="1024"/>
                    </a:lnTo>
                    <a:lnTo>
                      <a:pt x="3708" y="1072"/>
                    </a:lnTo>
                    <a:lnTo>
                      <a:pt x="3698" y="1119"/>
                    </a:lnTo>
                    <a:lnTo>
                      <a:pt x="3684" y="1163"/>
                    </a:lnTo>
                    <a:lnTo>
                      <a:pt x="3663" y="1205"/>
                    </a:lnTo>
                    <a:lnTo>
                      <a:pt x="3639" y="1245"/>
                    </a:lnTo>
                    <a:lnTo>
                      <a:pt x="3610" y="1281"/>
                    </a:lnTo>
                    <a:lnTo>
                      <a:pt x="3663" y="1288"/>
                    </a:lnTo>
                    <a:lnTo>
                      <a:pt x="3714" y="1303"/>
                    </a:lnTo>
                    <a:lnTo>
                      <a:pt x="3762" y="1324"/>
                    </a:lnTo>
                    <a:lnTo>
                      <a:pt x="3805" y="1351"/>
                    </a:lnTo>
                    <a:lnTo>
                      <a:pt x="3845" y="1383"/>
                    </a:lnTo>
                    <a:lnTo>
                      <a:pt x="3879" y="1421"/>
                    </a:lnTo>
                    <a:lnTo>
                      <a:pt x="3910" y="1463"/>
                    </a:lnTo>
                    <a:lnTo>
                      <a:pt x="3934" y="1508"/>
                    </a:lnTo>
                    <a:lnTo>
                      <a:pt x="3952" y="1558"/>
                    </a:lnTo>
                    <a:lnTo>
                      <a:pt x="3962" y="1609"/>
                    </a:lnTo>
                    <a:lnTo>
                      <a:pt x="3966" y="1663"/>
                    </a:lnTo>
                    <a:lnTo>
                      <a:pt x="3966" y="2495"/>
                    </a:lnTo>
                    <a:lnTo>
                      <a:pt x="3962" y="2515"/>
                    </a:lnTo>
                    <a:lnTo>
                      <a:pt x="3954" y="2532"/>
                    </a:lnTo>
                    <a:lnTo>
                      <a:pt x="3940" y="2547"/>
                    </a:lnTo>
                    <a:lnTo>
                      <a:pt x="3923" y="2555"/>
                    </a:lnTo>
                    <a:lnTo>
                      <a:pt x="3902" y="2559"/>
                    </a:lnTo>
                    <a:lnTo>
                      <a:pt x="3710" y="2559"/>
                    </a:lnTo>
                    <a:lnTo>
                      <a:pt x="3710" y="3902"/>
                    </a:lnTo>
                    <a:lnTo>
                      <a:pt x="3706" y="3923"/>
                    </a:lnTo>
                    <a:lnTo>
                      <a:pt x="3698" y="3940"/>
                    </a:lnTo>
                    <a:lnTo>
                      <a:pt x="3684" y="3954"/>
                    </a:lnTo>
                    <a:lnTo>
                      <a:pt x="3667" y="3962"/>
                    </a:lnTo>
                    <a:lnTo>
                      <a:pt x="3646" y="3966"/>
                    </a:lnTo>
                    <a:lnTo>
                      <a:pt x="3007" y="3966"/>
                    </a:lnTo>
                    <a:lnTo>
                      <a:pt x="2987" y="3962"/>
                    </a:lnTo>
                    <a:lnTo>
                      <a:pt x="2968" y="3954"/>
                    </a:lnTo>
                    <a:lnTo>
                      <a:pt x="2955" y="3940"/>
                    </a:lnTo>
                    <a:lnTo>
                      <a:pt x="2946" y="3923"/>
                    </a:lnTo>
                    <a:lnTo>
                      <a:pt x="2942" y="3902"/>
                    </a:lnTo>
                    <a:lnTo>
                      <a:pt x="2942" y="3198"/>
                    </a:lnTo>
                    <a:lnTo>
                      <a:pt x="2047" y="3198"/>
                    </a:lnTo>
                    <a:lnTo>
                      <a:pt x="2047" y="3462"/>
                    </a:lnTo>
                    <a:lnTo>
                      <a:pt x="2086" y="3477"/>
                    </a:lnTo>
                    <a:lnTo>
                      <a:pt x="2124" y="3496"/>
                    </a:lnTo>
                    <a:lnTo>
                      <a:pt x="2156" y="3521"/>
                    </a:lnTo>
                    <a:lnTo>
                      <a:pt x="2184" y="3553"/>
                    </a:lnTo>
                    <a:lnTo>
                      <a:pt x="2208" y="3587"/>
                    </a:lnTo>
                    <a:lnTo>
                      <a:pt x="2225" y="3625"/>
                    </a:lnTo>
                    <a:lnTo>
                      <a:pt x="2235" y="3667"/>
                    </a:lnTo>
                    <a:lnTo>
                      <a:pt x="2239" y="3710"/>
                    </a:lnTo>
                    <a:lnTo>
                      <a:pt x="2235" y="3752"/>
                    </a:lnTo>
                    <a:lnTo>
                      <a:pt x="2226" y="3791"/>
                    </a:lnTo>
                    <a:lnTo>
                      <a:pt x="2210" y="3828"/>
                    </a:lnTo>
                    <a:lnTo>
                      <a:pt x="2190" y="3861"/>
                    </a:lnTo>
                    <a:lnTo>
                      <a:pt x="2163" y="3891"/>
                    </a:lnTo>
                    <a:lnTo>
                      <a:pt x="2134" y="3917"/>
                    </a:lnTo>
                    <a:lnTo>
                      <a:pt x="2101" y="3937"/>
                    </a:lnTo>
                    <a:lnTo>
                      <a:pt x="2064" y="3953"/>
                    </a:lnTo>
                    <a:lnTo>
                      <a:pt x="2024" y="3962"/>
                    </a:lnTo>
                    <a:lnTo>
                      <a:pt x="1983" y="3966"/>
                    </a:lnTo>
                    <a:lnTo>
                      <a:pt x="1942" y="3962"/>
                    </a:lnTo>
                    <a:lnTo>
                      <a:pt x="1902" y="3953"/>
                    </a:lnTo>
                    <a:lnTo>
                      <a:pt x="1865" y="3937"/>
                    </a:lnTo>
                    <a:lnTo>
                      <a:pt x="1832" y="3917"/>
                    </a:lnTo>
                    <a:lnTo>
                      <a:pt x="1803" y="3891"/>
                    </a:lnTo>
                    <a:lnTo>
                      <a:pt x="1776" y="3861"/>
                    </a:lnTo>
                    <a:lnTo>
                      <a:pt x="1756" y="3828"/>
                    </a:lnTo>
                    <a:lnTo>
                      <a:pt x="1740" y="3791"/>
                    </a:lnTo>
                    <a:lnTo>
                      <a:pt x="1731" y="3752"/>
                    </a:lnTo>
                    <a:lnTo>
                      <a:pt x="1727" y="3710"/>
                    </a:lnTo>
                    <a:lnTo>
                      <a:pt x="1856" y="3710"/>
                    </a:lnTo>
                    <a:lnTo>
                      <a:pt x="1858" y="3739"/>
                    </a:lnTo>
                    <a:lnTo>
                      <a:pt x="1868" y="3766"/>
                    </a:lnTo>
                    <a:lnTo>
                      <a:pt x="1883" y="3791"/>
                    </a:lnTo>
                    <a:lnTo>
                      <a:pt x="1902" y="3810"/>
                    </a:lnTo>
                    <a:lnTo>
                      <a:pt x="1927" y="3825"/>
                    </a:lnTo>
                    <a:lnTo>
                      <a:pt x="1954" y="3835"/>
                    </a:lnTo>
                    <a:lnTo>
                      <a:pt x="1983" y="3839"/>
                    </a:lnTo>
                    <a:lnTo>
                      <a:pt x="2012" y="3835"/>
                    </a:lnTo>
                    <a:lnTo>
                      <a:pt x="2039" y="3825"/>
                    </a:lnTo>
                    <a:lnTo>
                      <a:pt x="2064" y="3810"/>
                    </a:lnTo>
                    <a:lnTo>
                      <a:pt x="2083" y="3791"/>
                    </a:lnTo>
                    <a:lnTo>
                      <a:pt x="2098" y="3766"/>
                    </a:lnTo>
                    <a:lnTo>
                      <a:pt x="2108" y="3739"/>
                    </a:lnTo>
                    <a:lnTo>
                      <a:pt x="2110" y="3710"/>
                    </a:lnTo>
                    <a:lnTo>
                      <a:pt x="2108" y="3681"/>
                    </a:lnTo>
                    <a:lnTo>
                      <a:pt x="2098" y="3654"/>
                    </a:lnTo>
                    <a:lnTo>
                      <a:pt x="2083" y="3631"/>
                    </a:lnTo>
                    <a:lnTo>
                      <a:pt x="2064" y="3610"/>
                    </a:lnTo>
                    <a:lnTo>
                      <a:pt x="2039" y="3595"/>
                    </a:lnTo>
                    <a:lnTo>
                      <a:pt x="2012" y="3585"/>
                    </a:lnTo>
                    <a:lnTo>
                      <a:pt x="1983" y="3583"/>
                    </a:lnTo>
                    <a:lnTo>
                      <a:pt x="1963" y="3579"/>
                    </a:lnTo>
                    <a:lnTo>
                      <a:pt x="1946" y="3569"/>
                    </a:lnTo>
                    <a:lnTo>
                      <a:pt x="1931" y="3556"/>
                    </a:lnTo>
                    <a:lnTo>
                      <a:pt x="1922" y="3538"/>
                    </a:lnTo>
                    <a:lnTo>
                      <a:pt x="1919" y="3518"/>
                    </a:lnTo>
                    <a:lnTo>
                      <a:pt x="1919" y="3198"/>
                    </a:lnTo>
                    <a:lnTo>
                      <a:pt x="64" y="3198"/>
                    </a:lnTo>
                    <a:lnTo>
                      <a:pt x="43" y="3196"/>
                    </a:lnTo>
                    <a:lnTo>
                      <a:pt x="26" y="3186"/>
                    </a:lnTo>
                    <a:lnTo>
                      <a:pt x="12" y="3173"/>
                    </a:lnTo>
                    <a:lnTo>
                      <a:pt x="4" y="3155"/>
                    </a:lnTo>
                    <a:lnTo>
                      <a:pt x="0" y="3134"/>
                    </a:lnTo>
                    <a:lnTo>
                      <a:pt x="0" y="2878"/>
                    </a:lnTo>
                    <a:lnTo>
                      <a:pt x="4" y="2858"/>
                    </a:lnTo>
                    <a:lnTo>
                      <a:pt x="12" y="2841"/>
                    </a:lnTo>
                    <a:lnTo>
                      <a:pt x="26" y="2827"/>
                    </a:lnTo>
                    <a:lnTo>
                      <a:pt x="43" y="2818"/>
                    </a:lnTo>
                    <a:lnTo>
                      <a:pt x="64" y="2815"/>
                    </a:lnTo>
                    <a:lnTo>
                      <a:pt x="256" y="2815"/>
                    </a:lnTo>
                    <a:lnTo>
                      <a:pt x="256" y="373"/>
                    </a:lnTo>
                    <a:lnTo>
                      <a:pt x="226" y="358"/>
                    </a:lnTo>
                    <a:lnTo>
                      <a:pt x="198" y="339"/>
                    </a:lnTo>
                    <a:lnTo>
                      <a:pt x="174" y="316"/>
                    </a:lnTo>
                    <a:lnTo>
                      <a:pt x="155" y="290"/>
                    </a:lnTo>
                    <a:lnTo>
                      <a:pt x="141" y="260"/>
                    </a:lnTo>
                    <a:lnTo>
                      <a:pt x="131" y="227"/>
                    </a:lnTo>
                    <a:lnTo>
                      <a:pt x="127" y="192"/>
                    </a:lnTo>
                    <a:lnTo>
                      <a:pt x="131" y="157"/>
                    </a:lnTo>
                    <a:lnTo>
                      <a:pt x="139" y="125"/>
                    </a:lnTo>
                    <a:lnTo>
                      <a:pt x="154" y="95"/>
                    </a:lnTo>
                    <a:lnTo>
                      <a:pt x="173" y="69"/>
                    </a:lnTo>
                    <a:lnTo>
                      <a:pt x="196" y="46"/>
                    </a:lnTo>
                    <a:lnTo>
                      <a:pt x="224" y="26"/>
                    </a:lnTo>
                    <a:lnTo>
                      <a:pt x="252" y="12"/>
                    </a:lnTo>
                    <a:lnTo>
                      <a:pt x="285" y="4"/>
                    </a:lnTo>
                    <a:lnTo>
                      <a:pt x="320" y="0"/>
                    </a:lnTo>
                    <a:lnTo>
                      <a:pt x="364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24DDD464-53D5-D3AE-C349-867B5C97D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5622" y="5205062"/>
                <a:ext cx="32254" cy="56435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614A5869-71EC-A5DD-0AB2-3D2520C8F3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5622" y="5148624"/>
                <a:ext cx="32254" cy="2799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909D5ED-460F-7E88-20FD-C50B22AADA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0637" y="5176624"/>
                <a:ext cx="32254" cy="84875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ABD792D6-B128-186C-533C-72263F6A7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50637" y="5120186"/>
                <a:ext cx="32254" cy="28438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BCB01AA9-3A33-1530-7C12-9946304C74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5656" y="5148624"/>
                <a:ext cx="32254" cy="11287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D2B5DF8A-A2B4-F4DE-CC69-EC0DDF45FD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5656" y="5092189"/>
                <a:ext cx="32254" cy="2799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7C0FA30-12E5-2644-38C5-3F67FF6CC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0671" y="5148624"/>
                <a:ext cx="32254" cy="11287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0652AA46-EE34-264C-927B-41AE3CD67A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0671" y="5092189"/>
                <a:ext cx="32254" cy="2799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6" name="Freeform 73">
                <a:extLst>
                  <a:ext uri="{FF2B5EF4-FFF2-40B4-BE49-F238E27FC236}">
                    <a16:creationId xmlns:a16="http://schemas.microsoft.com/office/drawing/2014/main" id="{57F52612-F7B9-9C80-5E8C-1DA4761047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5656" y="5374147"/>
                <a:ext cx="97269" cy="84653"/>
              </a:xfrm>
              <a:custGeom>
                <a:avLst/>
                <a:gdLst>
                  <a:gd name="T0" fmla="*/ 0 w 383"/>
                  <a:gd name="T1" fmla="*/ 0 h 384"/>
                  <a:gd name="T2" fmla="*/ 52 w 383"/>
                  <a:gd name="T3" fmla="*/ 3 h 384"/>
                  <a:gd name="T4" fmla="*/ 101 w 383"/>
                  <a:gd name="T5" fmla="*/ 14 h 384"/>
                  <a:gd name="T6" fmla="*/ 149 w 383"/>
                  <a:gd name="T7" fmla="*/ 30 h 384"/>
                  <a:gd name="T8" fmla="*/ 193 w 383"/>
                  <a:gd name="T9" fmla="*/ 53 h 384"/>
                  <a:gd name="T10" fmla="*/ 234 w 383"/>
                  <a:gd name="T11" fmla="*/ 80 h 384"/>
                  <a:gd name="T12" fmla="*/ 270 w 383"/>
                  <a:gd name="T13" fmla="*/ 113 h 384"/>
                  <a:gd name="T14" fmla="*/ 303 w 383"/>
                  <a:gd name="T15" fmla="*/ 150 h 384"/>
                  <a:gd name="T16" fmla="*/ 330 w 383"/>
                  <a:gd name="T17" fmla="*/ 191 h 384"/>
                  <a:gd name="T18" fmla="*/ 353 w 383"/>
                  <a:gd name="T19" fmla="*/ 234 h 384"/>
                  <a:gd name="T20" fmla="*/ 370 w 383"/>
                  <a:gd name="T21" fmla="*/ 282 h 384"/>
                  <a:gd name="T22" fmla="*/ 380 w 383"/>
                  <a:gd name="T23" fmla="*/ 331 h 384"/>
                  <a:gd name="T24" fmla="*/ 383 w 383"/>
                  <a:gd name="T25" fmla="*/ 384 h 384"/>
                  <a:gd name="T26" fmla="*/ 256 w 383"/>
                  <a:gd name="T27" fmla="*/ 384 h 384"/>
                  <a:gd name="T28" fmla="*/ 252 w 383"/>
                  <a:gd name="T29" fmla="*/ 342 h 384"/>
                  <a:gd name="T30" fmla="*/ 243 w 383"/>
                  <a:gd name="T31" fmla="*/ 303 h 384"/>
                  <a:gd name="T32" fmla="*/ 227 w 383"/>
                  <a:gd name="T33" fmla="*/ 267 h 384"/>
                  <a:gd name="T34" fmla="*/ 205 w 383"/>
                  <a:gd name="T35" fmla="*/ 233 h 384"/>
                  <a:gd name="T36" fmla="*/ 180 w 383"/>
                  <a:gd name="T37" fmla="*/ 203 h 384"/>
                  <a:gd name="T38" fmla="*/ 150 w 383"/>
                  <a:gd name="T39" fmla="*/ 178 h 384"/>
                  <a:gd name="T40" fmla="*/ 117 w 383"/>
                  <a:gd name="T41" fmla="*/ 157 h 384"/>
                  <a:gd name="T42" fmla="*/ 80 w 383"/>
                  <a:gd name="T43" fmla="*/ 142 h 384"/>
                  <a:gd name="T44" fmla="*/ 41 w 383"/>
                  <a:gd name="T45" fmla="*/ 132 h 384"/>
                  <a:gd name="T46" fmla="*/ 0 w 383"/>
                  <a:gd name="T47" fmla="*/ 128 h 384"/>
                  <a:gd name="T48" fmla="*/ 0 w 383"/>
                  <a:gd name="T49" fmla="*/ 0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83" h="384">
                    <a:moveTo>
                      <a:pt x="0" y="0"/>
                    </a:moveTo>
                    <a:lnTo>
                      <a:pt x="52" y="3"/>
                    </a:lnTo>
                    <a:lnTo>
                      <a:pt x="101" y="14"/>
                    </a:lnTo>
                    <a:lnTo>
                      <a:pt x="149" y="30"/>
                    </a:lnTo>
                    <a:lnTo>
                      <a:pt x="193" y="53"/>
                    </a:lnTo>
                    <a:lnTo>
                      <a:pt x="234" y="80"/>
                    </a:lnTo>
                    <a:lnTo>
                      <a:pt x="270" y="113"/>
                    </a:lnTo>
                    <a:lnTo>
                      <a:pt x="303" y="150"/>
                    </a:lnTo>
                    <a:lnTo>
                      <a:pt x="330" y="191"/>
                    </a:lnTo>
                    <a:lnTo>
                      <a:pt x="353" y="234"/>
                    </a:lnTo>
                    <a:lnTo>
                      <a:pt x="370" y="282"/>
                    </a:lnTo>
                    <a:lnTo>
                      <a:pt x="380" y="331"/>
                    </a:lnTo>
                    <a:lnTo>
                      <a:pt x="383" y="384"/>
                    </a:lnTo>
                    <a:lnTo>
                      <a:pt x="256" y="384"/>
                    </a:lnTo>
                    <a:lnTo>
                      <a:pt x="252" y="342"/>
                    </a:lnTo>
                    <a:lnTo>
                      <a:pt x="243" y="303"/>
                    </a:lnTo>
                    <a:lnTo>
                      <a:pt x="227" y="267"/>
                    </a:lnTo>
                    <a:lnTo>
                      <a:pt x="205" y="233"/>
                    </a:lnTo>
                    <a:lnTo>
                      <a:pt x="180" y="203"/>
                    </a:lnTo>
                    <a:lnTo>
                      <a:pt x="150" y="178"/>
                    </a:lnTo>
                    <a:lnTo>
                      <a:pt x="117" y="157"/>
                    </a:lnTo>
                    <a:lnTo>
                      <a:pt x="80" y="142"/>
                    </a:lnTo>
                    <a:lnTo>
                      <a:pt x="41" y="132"/>
                    </a:lnTo>
                    <a:lnTo>
                      <a:pt x="0" y="12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7" name="Freeform 74">
                <a:extLst>
                  <a:ext uri="{FF2B5EF4-FFF2-40B4-BE49-F238E27FC236}">
                    <a16:creationId xmlns:a16="http://schemas.microsoft.com/office/drawing/2014/main" id="{E4F03252-7D2F-00E6-6B09-F4328D9E8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85622" y="5402365"/>
                <a:ext cx="195047" cy="169088"/>
              </a:xfrm>
              <a:custGeom>
                <a:avLst/>
                <a:gdLst>
                  <a:gd name="T0" fmla="*/ 280 w 768"/>
                  <a:gd name="T1" fmla="*/ 151 h 767"/>
                  <a:gd name="T2" fmla="*/ 210 w 768"/>
                  <a:gd name="T3" fmla="*/ 195 h 767"/>
                  <a:gd name="T4" fmla="*/ 160 w 768"/>
                  <a:gd name="T5" fmla="*/ 261 h 767"/>
                  <a:gd name="T6" fmla="*/ 131 w 768"/>
                  <a:gd name="T7" fmla="*/ 340 h 767"/>
                  <a:gd name="T8" fmla="*/ 131 w 768"/>
                  <a:gd name="T9" fmla="*/ 426 h 767"/>
                  <a:gd name="T10" fmla="*/ 156 w 768"/>
                  <a:gd name="T11" fmla="*/ 501 h 767"/>
                  <a:gd name="T12" fmla="*/ 203 w 768"/>
                  <a:gd name="T13" fmla="*/ 565 h 767"/>
                  <a:gd name="T14" fmla="*/ 266 w 768"/>
                  <a:gd name="T15" fmla="*/ 611 h 767"/>
                  <a:gd name="T16" fmla="*/ 342 w 768"/>
                  <a:gd name="T17" fmla="*/ 636 h 767"/>
                  <a:gd name="T18" fmla="*/ 427 w 768"/>
                  <a:gd name="T19" fmla="*/ 636 h 767"/>
                  <a:gd name="T20" fmla="*/ 507 w 768"/>
                  <a:gd name="T21" fmla="*/ 608 h 767"/>
                  <a:gd name="T22" fmla="*/ 572 w 768"/>
                  <a:gd name="T23" fmla="*/ 557 h 767"/>
                  <a:gd name="T24" fmla="*/ 618 w 768"/>
                  <a:gd name="T25" fmla="*/ 488 h 767"/>
                  <a:gd name="T26" fmla="*/ 383 w 768"/>
                  <a:gd name="T27" fmla="*/ 447 h 767"/>
                  <a:gd name="T28" fmla="*/ 346 w 768"/>
                  <a:gd name="T29" fmla="*/ 435 h 767"/>
                  <a:gd name="T30" fmla="*/ 323 w 768"/>
                  <a:gd name="T31" fmla="*/ 404 h 767"/>
                  <a:gd name="T32" fmla="*/ 320 w 768"/>
                  <a:gd name="T33" fmla="*/ 136 h 767"/>
                  <a:gd name="T34" fmla="*/ 404 w 768"/>
                  <a:gd name="T35" fmla="*/ 3 h 767"/>
                  <a:gd name="T36" fmla="*/ 435 w 768"/>
                  <a:gd name="T37" fmla="*/ 27 h 767"/>
                  <a:gd name="T38" fmla="*/ 447 w 768"/>
                  <a:gd name="T39" fmla="*/ 64 h 767"/>
                  <a:gd name="T40" fmla="*/ 703 w 768"/>
                  <a:gd name="T41" fmla="*/ 320 h 767"/>
                  <a:gd name="T42" fmla="*/ 741 w 768"/>
                  <a:gd name="T43" fmla="*/ 332 h 767"/>
                  <a:gd name="T44" fmla="*/ 764 w 768"/>
                  <a:gd name="T45" fmla="*/ 363 h 767"/>
                  <a:gd name="T46" fmla="*/ 764 w 768"/>
                  <a:gd name="T47" fmla="*/ 435 h 767"/>
                  <a:gd name="T48" fmla="*/ 737 w 768"/>
                  <a:gd name="T49" fmla="*/ 533 h 767"/>
                  <a:gd name="T50" fmla="*/ 687 w 768"/>
                  <a:gd name="T51" fmla="*/ 618 h 767"/>
                  <a:gd name="T52" fmla="*/ 618 w 768"/>
                  <a:gd name="T53" fmla="*/ 688 h 767"/>
                  <a:gd name="T54" fmla="*/ 532 w 768"/>
                  <a:gd name="T55" fmla="*/ 737 h 767"/>
                  <a:gd name="T56" fmla="*/ 435 w 768"/>
                  <a:gd name="T57" fmla="*/ 765 h 767"/>
                  <a:gd name="T58" fmla="*/ 332 w 768"/>
                  <a:gd name="T59" fmla="*/ 765 h 767"/>
                  <a:gd name="T60" fmla="*/ 234 w 768"/>
                  <a:gd name="T61" fmla="*/ 737 h 767"/>
                  <a:gd name="T62" fmla="*/ 149 w 768"/>
                  <a:gd name="T63" fmla="*/ 688 h 767"/>
                  <a:gd name="T64" fmla="*/ 79 w 768"/>
                  <a:gd name="T65" fmla="*/ 618 h 767"/>
                  <a:gd name="T66" fmla="*/ 30 w 768"/>
                  <a:gd name="T67" fmla="*/ 533 h 767"/>
                  <a:gd name="T68" fmla="*/ 4 w 768"/>
                  <a:gd name="T69" fmla="*/ 435 h 767"/>
                  <a:gd name="T70" fmla="*/ 4 w 768"/>
                  <a:gd name="T71" fmla="*/ 332 h 767"/>
                  <a:gd name="T72" fmla="*/ 30 w 768"/>
                  <a:gd name="T73" fmla="*/ 235 h 767"/>
                  <a:gd name="T74" fmla="*/ 79 w 768"/>
                  <a:gd name="T75" fmla="*/ 149 h 767"/>
                  <a:gd name="T76" fmla="*/ 149 w 768"/>
                  <a:gd name="T77" fmla="*/ 80 h 767"/>
                  <a:gd name="T78" fmla="*/ 234 w 768"/>
                  <a:gd name="T79" fmla="*/ 30 h 767"/>
                  <a:gd name="T80" fmla="*/ 332 w 768"/>
                  <a:gd name="T81" fmla="*/ 4 h 7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68" h="767">
                    <a:moveTo>
                      <a:pt x="320" y="136"/>
                    </a:moveTo>
                    <a:lnTo>
                      <a:pt x="280" y="151"/>
                    </a:lnTo>
                    <a:lnTo>
                      <a:pt x="243" y="170"/>
                    </a:lnTo>
                    <a:lnTo>
                      <a:pt x="210" y="195"/>
                    </a:lnTo>
                    <a:lnTo>
                      <a:pt x="183" y="226"/>
                    </a:lnTo>
                    <a:lnTo>
                      <a:pt x="160" y="261"/>
                    </a:lnTo>
                    <a:lnTo>
                      <a:pt x="142" y="298"/>
                    </a:lnTo>
                    <a:lnTo>
                      <a:pt x="131" y="340"/>
                    </a:lnTo>
                    <a:lnTo>
                      <a:pt x="127" y="384"/>
                    </a:lnTo>
                    <a:lnTo>
                      <a:pt x="131" y="426"/>
                    </a:lnTo>
                    <a:lnTo>
                      <a:pt x="141" y="464"/>
                    </a:lnTo>
                    <a:lnTo>
                      <a:pt x="156" y="501"/>
                    </a:lnTo>
                    <a:lnTo>
                      <a:pt x="177" y="535"/>
                    </a:lnTo>
                    <a:lnTo>
                      <a:pt x="203" y="565"/>
                    </a:lnTo>
                    <a:lnTo>
                      <a:pt x="232" y="590"/>
                    </a:lnTo>
                    <a:lnTo>
                      <a:pt x="266" y="611"/>
                    </a:lnTo>
                    <a:lnTo>
                      <a:pt x="303" y="626"/>
                    </a:lnTo>
                    <a:lnTo>
                      <a:pt x="342" y="636"/>
                    </a:lnTo>
                    <a:lnTo>
                      <a:pt x="383" y="640"/>
                    </a:lnTo>
                    <a:lnTo>
                      <a:pt x="427" y="636"/>
                    </a:lnTo>
                    <a:lnTo>
                      <a:pt x="469" y="625"/>
                    </a:lnTo>
                    <a:lnTo>
                      <a:pt x="507" y="608"/>
                    </a:lnTo>
                    <a:lnTo>
                      <a:pt x="542" y="586"/>
                    </a:lnTo>
                    <a:lnTo>
                      <a:pt x="572" y="557"/>
                    </a:lnTo>
                    <a:lnTo>
                      <a:pt x="597" y="524"/>
                    </a:lnTo>
                    <a:lnTo>
                      <a:pt x="618" y="488"/>
                    </a:lnTo>
                    <a:lnTo>
                      <a:pt x="631" y="447"/>
                    </a:lnTo>
                    <a:lnTo>
                      <a:pt x="383" y="447"/>
                    </a:lnTo>
                    <a:lnTo>
                      <a:pt x="363" y="445"/>
                    </a:lnTo>
                    <a:lnTo>
                      <a:pt x="346" y="435"/>
                    </a:lnTo>
                    <a:lnTo>
                      <a:pt x="332" y="422"/>
                    </a:lnTo>
                    <a:lnTo>
                      <a:pt x="323" y="404"/>
                    </a:lnTo>
                    <a:lnTo>
                      <a:pt x="320" y="384"/>
                    </a:lnTo>
                    <a:lnTo>
                      <a:pt x="320" y="136"/>
                    </a:lnTo>
                    <a:close/>
                    <a:moveTo>
                      <a:pt x="383" y="0"/>
                    </a:moveTo>
                    <a:lnTo>
                      <a:pt x="404" y="3"/>
                    </a:lnTo>
                    <a:lnTo>
                      <a:pt x="422" y="12"/>
                    </a:lnTo>
                    <a:lnTo>
                      <a:pt x="435" y="27"/>
                    </a:lnTo>
                    <a:lnTo>
                      <a:pt x="445" y="44"/>
                    </a:lnTo>
                    <a:lnTo>
                      <a:pt x="447" y="64"/>
                    </a:lnTo>
                    <a:lnTo>
                      <a:pt x="447" y="320"/>
                    </a:lnTo>
                    <a:lnTo>
                      <a:pt x="703" y="320"/>
                    </a:lnTo>
                    <a:lnTo>
                      <a:pt x="723" y="324"/>
                    </a:lnTo>
                    <a:lnTo>
                      <a:pt x="741" y="332"/>
                    </a:lnTo>
                    <a:lnTo>
                      <a:pt x="755" y="346"/>
                    </a:lnTo>
                    <a:lnTo>
                      <a:pt x="764" y="363"/>
                    </a:lnTo>
                    <a:lnTo>
                      <a:pt x="768" y="384"/>
                    </a:lnTo>
                    <a:lnTo>
                      <a:pt x="764" y="435"/>
                    </a:lnTo>
                    <a:lnTo>
                      <a:pt x="754" y="486"/>
                    </a:lnTo>
                    <a:lnTo>
                      <a:pt x="737" y="533"/>
                    </a:lnTo>
                    <a:lnTo>
                      <a:pt x="715" y="577"/>
                    </a:lnTo>
                    <a:lnTo>
                      <a:pt x="687" y="618"/>
                    </a:lnTo>
                    <a:lnTo>
                      <a:pt x="655" y="655"/>
                    </a:lnTo>
                    <a:lnTo>
                      <a:pt x="618" y="688"/>
                    </a:lnTo>
                    <a:lnTo>
                      <a:pt x="577" y="715"/>
                    </a:lnTo>
                    <a:lnTo>
                      <a:pt x="532" y="737"/>
                    </a:lnTo>
                    <a:lnTo>
                      <a:pt x="486" y="754"/>
                    </a:lnTo>
                    <a:lnTo>
                      <a:pt x="435" y="765"/>
                    </a:lnTo>
                    <a:lnTo>
                      <a:pt x="383" y="767"/>
                    </a:lnTo>
                    <a:lnTo>
                      <a:pt x="332" y="765"/>
                    </a:lnTo>
                    <a:lnTo>
                      <a:pt x="281" y="754"/>
                    </a:lnTo>
                    <a:lnTo>
                      <a:pt x="234" y="737"/>
                    </a:lnTo>
                    <a:lnTo>
                      <a:pt x="190" y="715"/>
                    </a:lnTo>
                    <a:lnTo>
                      <a:pt x="149" y="688"/>
                    </a:lnTo>
                    <a:lnTo>
                      <a:pt x="112" y="655"/>
                    </a:lnTo>
                    <a:lnTo>
                      <a:pt x="79" y="618"/>
                    </a:lnTo>
                    <a:lnTo>
                      <a:pt x="52" y="577"/>
                    </a:lnTo>
                    <a:lnTo>
                      <a:pt x="30" y="533"/>
                    </a:lnTo>
                    <a:lnTo>
                      <a:pt x="13" y="486"/>
                    </a:lnTo>
                    <a:lnTo>
                      <a:pt x="4" y="435"/>
                    </a:lnTo>
                    <a:lnTo>
                      <a:pt x="0" y="384"/>
                    </a:lnTo>
                    <a:lnTo>
                      <a:pt x="4" y="332"/>
                    </a:lnTo>
                    <a:lnTo>
                      <a:pt x="13" y="282"/>
                    </a:lnTo>
                    <a:lnTo>
                      <a:pt x="30" y="235"/>
                    </a:lnTo>
                    <a:lnTo>
                      <a:pt x="52" y="190"/>
                    </a:lnTo>
                    <a:lnTo>
                      <a:pt x="79" y="149"/>
                    </a:lnTo>
                    <a:lnTo>
                      <a:pt x="112" y="112"/>
                    </a:lnTo>
                    <a:lnTo>
                      <a:pt x="149" y="80"/>
                    </a:lnTo>
                    <a:lnTo>
                      <a:pt x="190" y="52"/>
                    </a:lnTo>
                    <a:lnTo>
                      <a:pt x="234" y="30"/>
                    </a:lnTo>
                    <a:lnTo>
                      <a:pt x="281" y="14"/>
                    </a:lnTo>
                    <a:lnTo>
                      <a:pt x="332" y="4"/>
                    </a:lnTo>
                    <a:lnTo>
                      <a:pt x="383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B93C9D2E-F2A6-0A7E-015B-B4F8A27BA7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5433" y="5543456"/>
                <a:ext cx="227555" cy="2799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54AB6E8-7236-275F-A868-DEE3DC7C26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5433" y="5487019"/>
                <a:ext cx="227555" cy="28219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0A2D53F5-2678-D1E3-6903-DBBBC8B8E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5433" y="5430584"/>
                <a:ext cx="227555" cy="28219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B54EBA9A-B8EF-6788-A56D-D78216199FA7}"/>
                </a:ext>
              </a:extLst>
            </p:cNvPr>
            <p:cNvGrpSpPr>
              <a:grpSpLocks/>
            </p:cNvGrpSpPr>
            <p:nvPr/>
          </p:nvGrpSpPr>
          <p:grpSpPr>
            <a:xfrm>
              <a:off x="3658364" y="2531261"/>
              <a:ext cx="292506" cy="287341"/>
              <a:chOff x="9440506" y="2033952"/>
              <a:chExt cx="697465" cy="637875"/>
            </a:xfrm>
            <a:solidFill>
              <a:schemeClr val="tx1"/>
            </a:solidFill>
          </p:grpSpPr>
          <p:sp>
            <p:nvSpPr>
              <p:cNvPr id="92" name="Freeform 11">
                <a:extLst>
                  <a:ext uri="{FF2B5EF4-FFF2-40B4-BE49-F238E27FC236}">
                    <a16:creationId xmlns:a16="http://schemas.microsoft.com/office/drawing/2014/main" id="{0642F1A6-D80A-400B-A3FF-988D795F21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0506" y="2033952"/>
                <a:ext cx="697465" cy="318936"/>
              </a:xfrm>
              <a:custGeom>
                <a:avLst/>
                <a:gdLst>
                  <a:gd name="T0" fmla="*/ 2425 w 4098"/>
                  <a:gd name="T1" fmla="*/ 4 h 2049"/>
                  <a:gd name="T2" fmla="*/ 2511 w 4098"/>
                  <a:gd name="T3" fmla="*/ 50 h 2049"/>
                  <a:gd name="T4" fmla="*/ 2558 w 4098"/>
                  <a:gd name="T5" fmla="*/ 137 h 2049"/>
                  <a:gd name="T6" fmla="*/ 2634 w 4098"/>
                  <a:gd name="T7" fmla="*/ 536 h 2049"/>
                  <a:gd name="T8" fmla="*/ 3015 w 4098"/>
                  <a:gd name="T9" fmla="*/ 359 h 2049"/>
                  <a:gd name="T10" fmla="*/ 3103 w 4098"/>
                  <a:gd name="T11" fmla="*/ 313 h 2049"/>
                  <a:gd name="T12" fmla="*/ 3200 w 4098"/>
                  <a:gd name="T13" fmla="*/ 323 h 2049"/>
                  <a:gd name="T14" fmla="*/ 3739 w 4098"/>
                  <a:gd name="T15" fmla="*/ 842 h 2049"/>
                  <a:gd name="T16" fmla="*/ 3784 w 4098"/>
                  <a:gd name="T17" fmla="*/ 919 h 2049"/>
                  <a:gd name="T18" fmla="*/ 3784 w 4098"/>
                  <a:gd name="T19" fmla="*/ 1006 h 2049"/>
                  <a:gd name="T20" fmla="*/ 3739 w 4098"/>
                  <a:gd name="T21" fmla="*/ 1083 h 2049"/>
                  <a:gd name="T22" fmla="*/ 3532 w 4098"/>
                  <a:gd name="T23" fmla="*/ 1393 h 2049"/>
                  <a:gd name="T24" fmla="*/ 3928 w 4098"/>
                  <a:gd name="T25" fmla="*/ 1536 h 2049"/>
                  <a:gd name="T26" fmla="*/ 4022 w 4098"/>
                  <a:gd name="T27" fmla="*/ 1566 h 2049"/>
                  <a:gd name="T28" fmla="*/ 4084 w 4098"/>
                  <a:gd name="T29" fmla="*/ 1640 h 2049"/>
                  <a:gd name="T30" fmla="*/ 4098 w 4098"/>
                  <a:gd name="T31" fmla="*/ 2049 h 2049"/>
                  <a:gd name="T32" fmla="*/ 3524 w 4098"/>
                  <a:gd name="T33" fmla="*/ 1708 h 2049"/>
                  <a:gd name="T34" fmla="*/ 3465 w 4098"/>
                  <a:gd name="T35" fmla="*/ 1684 h 2049"/>
                  <a:gd name="T36" fmla="*/ 3417 w 4098"/>
                  <a:gd name="T37" fmla="*/ 1568 h 2049"/>
                  <a:gd name="T38" fmla="*/ 3319 w 4098"/>
                  <a:gd name="T39" fmla="*/ 1349 h 2049"/>
                  <a:gd name="T40" fmla="*/ 3312 w 4098"/>
                  <a:gd name="T41" fmla="*/ 1284 h 2049"/>
                  <a:gd name="T42" fmla="*/ 3619 w 4098"/>
                  <a:gd name="T43" fmla="*/ 962 h 2049"/>
                  <a:gd name="T44" fmla="*/ 2834 w 4098"/>
                  <a:gd name="T45" fmla="*/ 777 h 2049"/>
                  <a:gd name="T46" fmla="*/ 2770 w 4098"/>
                  <a:gd name="T47" fmla="*/ 786 h 2049"/>
                  <a:gd name="T48" fmla="*/ 2604 w 4098"/>
                  <a:gd name="T49" fmla="*/ 709 h 2049"/>
                  <a:gd name="T50" fmla="*/ 2431 w 4098"/>
                  <a:gd name="T51" fmla="*/ 647 h 2049"/>
                  <a:gd name="T52" fmla="*/ 2393 w 4098"/>
                  <a:gd name="T53" fmla="*/ 596 h 2049"/>
                  <a:gd name="T54" fmla="*/ 1708 w 4098"/>
                  <a:gd name="T55" fmla="*/ 170 h 2049"/>
                  <a:gd name="T56" fmla="*/ 1696 w 4098"/>
                  <a:gd name="T57" fmla="*/ 616 h 2049"/>
                  <a:gd name="T58" fmla="*/ 1645 w 4098"/>
                  <a:gd name="T59" fmla="*/ 656 h 2049"/>
                  <a:gd name="T60" fmla="*/ 1421 w 4098"/>
                  <a:gd name="T61" fmla="*/ 741 h 2049"/>
                  <a:gd name="T62" fmla="*/ 1306 w 4098"/>
                  <a:gd name="T63" fmla="*/ 789 h 2049"/>
                  <a:gd name="T64" fmla="*/ 1247 w 4098"/>
                  <a:gd name="T65" fmla="*/ 764 h 2049"/>
                  <a:gd name="T66" fmla="*/ 764 w 4098"/>
                  <a:gd name="T67" fmla="*/ 1247 h 2049"/>
                  <a:gd name="T68" fmla="*/ 789 w 4098"/>
                  <a:gd name="T69" fmla="*/ 1305 h 2049"/>
                  <a:gd name="T70" fmla="*/ 741 w 4098"/>
                  <a:gd name="T71" fmla="*/ 1419 h 2049"/>
                  <a:gd name="T72" fmla="*/ 656 w 4098"/>
                  <a:gd name="T73" fmla="*/ 1645 h 2049"/>
                  <a:gd name="T74" fmla="*/ 616 w 4098"/>
                  <a:gd name="T75" fmla="*/ 1696 h 2049"/>
                  <a:gd name="T76" fmla="*/ 170 w 4098"/>
                  <a:gd name="T77" fmla="*/ 1708 h 2049"/>
                  <a:gd name="T78" fmla="*/ 0 w 4098"/>
                  <a:gd name="T79" fmla="*/ 1708 h 2049"/>
                  <a:gd name="T80" fmla="*/ 29 w 4098"/>
                  <a:gd name="T81" fmla="*/ 1612 h 2049"/>
                  <a:gd name="T82" fmla="*/ 104 w 4098"/>
                  <a:gd name="T83" fmla="*/ 1550 h 2049"/>
                  <a:gd name="T84" fmla="*/ 510 w 4098"/>
                  <a:gd name="T85" fmla="*/ 1537 h 2049"/>
                  <a:gd name="T86" fmla="*/ 599 w 4098"/>
                  <a:gd name="T87" fmla="*/ 1324 h 2049"/>
                  <a:gd name="T88" fmla="*/ 324 w 4098"/>
                  <a:gd name="T89" fmla="*/ 1033 h 2049"/>
                  <a:gd name="T90" fmla="*/ 309 w 4098"/>
                  <a:gd name="T91" fmla="*/ 948 h 2049"/>
                  <a:gd name="T92" fmla="*/ 339 w 4098"/>
                  <a:gd name="T93" fmla="*/ 866 h 2049"/>
                  <a:gd name="T94" fmla="*/ 868 w 4098"/>
                  <a:gd name="T95" fmla="*/ 338 h 2049"/>
                  <a:gd name="T96" fmla="*/ 962 w 4098"/>
                  <a:gd name="T97" fmla="*/ 310 h 2049"/>
                  <a:gd name="T98" fmla="*/ 1056 w 4098"/>
                  <a:gd name="T99" fmla="*/ 338 h 2049"/>
                  <a:gd name="T100" fmla="*/ 1393 w 4098"/>
                  <a:gd name="T101" fmla="*/ 566 h 2049"/>
                  <a:gd name="T102" fmla="*/ 1537 w 4098"/>
                  <a:gd name="T103" fmla="*/ 170 h 2049"/>
                  <a:gd name="T104" fmla="*/ 1566 w 4098"/>
                  <a:gd name="T105" fmla="*/ 76 h 2049"/>
                  <a:gd name="T106" fmla="*/ 1640 w 4098"/>
                  <a:gd name="T107" fmla="*/ 14 h 2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098" h="2049">
                    <a:moveTo>
                      <a:pt x="1708" y="0"/>
                    </a:moveTo>
                    <a:lnTo>
                      <a:pt x="2391" y="0"/>
                    </a:lnTo>
                    <a:lnTo>
                      <a:pt x="2425" y="4"/>
                    </a:lnTo>
                    <a:lnTo>
                      <a:pt x="2458" y="14"/>
                    </a:lnTo>
                    <a:lnTo>
                      <a:pt x="2486" y="29"/>
                    </a:lnTo>
                    <a:lnTo>
                      <a:pt x="2511" y="50"/>
                    </a:lnTo>
                    <a:lnTo>
                      <a:pt x="2532" y="76"/>
                    </a:lnTo>
                    <a:lnTo>
                      <a:pt x="2548" y="104"/>
                    </a:lnTo>
                    <a:lnTo>
                      <a:pt x="2558" y="137"/>
                    </a:lnTo>
                    <a:lnTo>
                      <a:pt x="2562" y="170"/>
                    </a:lnTo>
                    <a:lnTo>
                      <a:pt x="2562" y="510"/>
                    </a:lnTo>
                    <a:lnTo>
                      <a:pt x="2634" y="536"/>
                    </a:lnTo>
                    <a:lnTo>
                      <a:pt x="2705" y="566"/>
                    </a:lnTo>
                    <a:lnTo>
                      <a:pt x="2774" y="599"/>
                    </a:lnTo>
                    <a:lnTo>
                      <a:pt x="3015" y="359"/>
                    </a:lnTo>
                    <a:lnTo>
                      <a:pt x="3042" y="338"/>
                    </a:lnTo>
                    <a:lnTo>
                      <a:pt x="3072" y="323"/>
                    </a:lnTo>
                    <a:lnTo>
                      <a:pt x="3103" y="313"/>
                    </a:lnTo>
                    <a:lnTo>
                      <a:pt x="3136" y="310"/>
                    </a:lnTo>
                    <a:lnTo>
                      <a:pt x="3168" y="313"/>
                    </a:lnTo>
                    <a:lnTo>
                      <a:pt x="3200" y="323"/>
                    </a:lnTo>
                    <a:lnTo>
                      <a:pt x="3230" y="338"/>
                    </a:lnTo>
                    <a:lnTo>
                      <a:pt x="3256" y="359"/>
                    </a:lnTo>
                    <a:lnTo>
                      <a:pt x="3739" y="842"/>
                    </a:lnTo>
                    <a:lnTo>
                      <a:pt x="3759" y="866"/>
                    </a:lnTo>
                    <a:lnTo>
                      <a:pt x="3774" y="892"/>
                    </a:lnTo>
                    <a:lnTo>
                      <a:pt x="3784" y="919"/>
                    </a:lnTo>
                    <a:lnTo>
                      <a:pt x="3789" y="948"/>
                    </a:lnTo>
                    <a:lnTo>
                      <a:pt x="3789" y="977"/>
                    </a:lnTo>
                    <a:lnTo>
                      <a:pt x="3784" y="1006"/>
                    </a:lnTo>
                    <a:lnTo>
                      <a:pt x="3774" y="1033"/>
                    </a:lnTo>
                    <a:lnTo>
                      <a:pt x="3759" y="1059"/>
                    </a:lnTo>
                    <a:lnTo>
                      <a:pt x="3739" y="1083"/>
                    </a:lnTo>
                    <a:lnTo>
                      <a:pt x="3739" y="1083"/>
                    </a:lnTo>
                    <a:lnTo>
                      <a:pt x="3499" y="1323"/>
                    </a:lnTo>
                    <a:lnTo>
                      <a:pt x="3532" y="1393"/>
                    </a:lnTo>
                    <a:lnTo>
                      <a:pt x="3562" y="1464"/>
                    </a:lnTo>
                    <a:lnTo>
                      <a:pt x="3588" y="1536"/>
                    </a:lnTo>
                    <a:lnTo>
                      <a:pt x="3928" y="1536"/>
                    </a:lnTo>
                    <a:lnTo>
                      <a:pt x="3961" y="1540"/>
                    </a:lnTo>
                    <a:lnTo>
                      <a:pt x="3994" y="1550"/>
                    </a:lnTo>
                    <a:lnTo>
                      <a:pt x="4022" y="1566"/>
                    </a:lnTo>
                    <a:lnTo>
                      <a:pt x="4048" y="1587"/>
                    </a:lnTo>
                    <a:lnTo>
                      <a:pt x="4069" y="1612"/>
                    </a:lnTo>
                    <a:lnTo>
                      <a:pt x="4084" y="1640"/>
                    </a:lnTo>
                    <a:lnTo>
                      <a:pt x="4094" y="1673"/>
                    </a:lnTo>
                    <a:lnTo>
                      <a:pt x="4098" y="1708"/>
                    </a:lnTo>
                    <a:lnTo>
                      <a:pt x="4098" y="2049"/>
                    </a:lnTo>
                    <a:lnTo>
                      <a:pt x="3927" y="2049"/>
                    </a:lnTo>
                    <a:lnTo>
                      <a:pt x="3927" y="1708"/>
                    </a:lnTo>
                    <a:lnTo>
                      <a:pt x="3524" y="1708"/>
                    </a:lnTo>
                    <a:lnTo>
                      <a:pt x="3502" y="1705"/>
                    </a:lnTo>
                    <a:lnTo>
                      <a:pt x="3482" y="1696"/>
                    </a:lnTo>
                    <a:lnTo>
                      <a:pt x="3465" y="1684"/>
                    </a:lnTo>
                    <a:lnTo>
                      <a:pt x="3451" y="1667"/>
                    </a:lnTo>
                    <a:lnTo>
                      <a:pt x="3442" y="1645"/>
                    </a:lnTo>
                    <a:lnTo>
                      <a:pt x="3417" y="1568"/>
                    </a:lnTo>
                    <a:lnTo>
                      <a:pt x="3389" y="1494"/>
                    </a:lnTo>
                    <a:lnTo>
                      <a:pt x="3357" y="1421"/>
                    </a:lnTo>
                    <a:lnTo>
                      <a:pt x="3319" y="1349"/>
                    </a:lnTo>
                    <a:lnTo>
                      <a:pt x="3312" y="1328"/>
                    </a:lnTo>
                    <a:lnTo>
                      <a:pt x="3309" y="1306"/>
                    </a:lnTo>
                    <a:lnTo>
                      <a:pt x="3312" y="1284"/>
                    </a:lnTo>
                    <a:lnTo>
                      <a:pt x="3321" y="1264"/>
                    </a:lnTo>
                    <a:lnTo>
                      <a:pt x="3334" y="1247"/>
                    </a:lnTo>
                    <a:lnTo>
                      <a:pt x="3619" y="962"/>
                    </a:lnTo>
                    <a:lnTo>
                      <a:pt x="3136" y="479"/>
                    </a:lnTo>
                    <a:lnTo>
                      <a:pt x="2851" y="764"/>
                    </a:lnTo>
                    <a:lnTo>
                      <a:pt x="2834" y="777"/>
                    </a:lnTo>
                    <a:lnTo>
                      <a:pt x="2814" y="786"/>
                    </a:lnTo>
                    <a:lnTo>
                      <a:pt x="2793" y="789"/>
                    </a:lnTo>
                    <a:lnTo>
                      <a:pt x="2770" y="786"/>
                    </a:lnTo>
                    <a:lnTo>
                      <a:pt x="2749" y="779"/>
                    </a:lnTo>
                    <a:lnTo>
                      <a:pt x="2679" y="741"/>
                    </a:lnTo>
                    <a:lnTo>
                      <a:pt x="2604" y="709"/>
                    </a:lnTo>
                    <a:lnTo>
                      <a:pt x="2530" y="681"/>
                    </a:lnTo>
                    <a:lnTo>
                      <a:pt x="2453" y="656"/>
                    </a:lnTo>
                    <a:lnTo>
                      <a:pt x="2431" y="647"/>
                    </a:lnTo>
                    <a:lnTo>
                      <a:pt x="2414" y="633"/>
                    </a:lnTo>
                    <a:lnTo>
                      <a:pt x="2402" y="616"/>
                    </a:lnTo>
                    <a:lnTo>
                      <a:pt x="2393" y="596"/>
                    </a:lnTo>
                    <a:lnTo>
                      <a:pt x="2391" y="574"/>
                    </a:lnTo>
                    <a:lnTo>
                      <a:pt x="2391" y="170"/>
                    </a:lnTo>
                    <a:lnTo>
                      <a:pt x="1708" y="170"/>
                    </a:lnTo>
                    <a:lnTo>
                      <a:pt x="1708" y="574"/>
                    </a:lnTo>
                    <a:lnTo>
                      <a:pt x="1705" y="596"/>
                    </a:lnTo>
                    <a:lnTo>
                      <a:pt x="1696" y="616"/>
                    </a:lnTo>
                    <a:lnTo>
                      <a:pt x="1684" y="633"/>
                    </a:lnTo>
                    <a:lnTo>
                      <a:pt x="1667" y="647"/>
                    </a:lnTo>
                    <a:lnTo>
                      <a:pt x="1645" y="656"/>
                    </a:lnTo>
                    <a:lnTo>
                      <a:pt x="1568" y="681"/>
                    </a:lnTo>
                    <a:lnTo>
                      <a:pt x="1494" y="709"/>
                    </a:lnTo>
                    <a:lnTo>
                      <a:pt x="1421" y="741"/>
                    </a:lnTo>
                    <a:lnTo>
                      <a:pt x="1349" y="779"/>
                    </a:lnTo>
                    <a:lnTo>
                      <a:pt x="1328" y="786"/>
                    </a:lnTo>
                    <a:lnTo>
                      <a:pt x="1306" y="789"/>
                    </a:lnTo>
                    <a:lnTo>
                      <a:pt x="1284" y="786"/>
                    </a:lnTo>
                    <a:lnTo>
                      <a:pt x="1264" y="777"/>
                    </a:lnTo>
                    <a:lnTo>
                      <a:pt x="1247" y="764"/>
                    </a:lnTo>
                    <a:lnTo>
                      <a:pt x="962" y="479"/>
                    </a:lnTo>
                    <a:lnTo>
                      <a:pt x="479" y="962"/>
                    </a:lnTo>
                    <a:lnTo>
                      <a:pt x="764" y="1247"/>
                    </a:lnTo>
                    <a:lnTo>
                      <a:pt x="777" y="1264"/>
                    </a:lnTo>
                    <a:lnTo>
                      <a:pt x="786" y="1284"/>
                    </a:lnTo>
                    <a:lnTo>
                      <a:pt x="789" y="1305"/>
                    </a:lnTo>
                    <a:lnTo>
                      <a:pt x="786" y="1328"/>
                    </a:lnTo>
                    <a:lnTo>
                      <a:pt x="779" y="1349"/>
                    </a:lnTo>
                    <a:lnTo>
                      <a:pt x="741" y="1419"/>
                    </a:lnTo>
                    <a:lnTo>
                      <a:pt x="709" y="1494"/>
                    </a:lnTo>
                    <a:lnTo>
                      <a:pt x="681" y="1568"/>
                    </a:lnTo>
                    <a:lnTo>
                      <a:pt x="656" y="1645"/>
                    </a:lnTo>
                    <a:lnTo>
                      <a:pt x="647" y="1667"/>
                    </a:lnTo>
                    <a:lnTo>
                      <a:pt x="633" y="1684"/>
                    </a:lnTo>
                    <a:lnTo>
                      <a:pt x="616" y="1696"/>
                    </a:lnTo>
                    <a:lnTo>
                      <a:pt x="596" y="1705"/>
                    </a:lnTo>
                    <a:lnTo>
                      <a:pt x="574" y="1708"/>
                    </a:lnTo>
                    <a:lnTo>
                      <a:pt x="170" y="1708"/>
                    </a:lnTo>
                    <a:lnTo>
                      <a:pt x="170" y="2049"/>
                    </a:lnTo>
                    <a:lnTo>
                      <a:pt x="0" y="2049"/>
                    </a:lnTo>
                    <a:lnTo>
                      <a:pt x="0" y="1708"/>
                    </a:lnTo>
                    <a:lnTo>
                      <a:pt x="4" y="1673"/>
                    </a:lnTo>
                    <a:lnTo>
                      <a:pt x="14" y="1640"/>
                    </a:lnTo>
                    <a:lnTo>
                      <a:pt x="29" y="1612"/>
                    </a:lnTo>
                    <a:lnTo>
                      <a:pt x="50" y="1587"/>
                    </a:lnTo>
                    <a:lnTo>
                      <a:pt x="76" y="1566"/>
                    </a:lnTo>
                    <a:lnTo>
                      <a:pt x="104" y="1550"/>
                    </a:lnTo>
                    <a:lnTo>
                      <a:pt x="137" y="1540"/>
                    </a:lnTo>
                    <a:lnTo>
                      <a:pt x="170" y="1537"/>
                    </a:lnTo>
                    <a:lnTo>
                      <a:pt x="510" y="1537"/>
                    </a:lnTo>
                    <a:lnTo>
                      <a:pt x="536" y="1464"/>
                    </a:lnTo>
                    <a:lnTo>
                      <a:pt x="566" y="1393"/>
                    </a:lnTo>
                    <a:lnTo>
                      <a:pt x="599" y="1324"/>
                    </a:lnTo>
                    <a:lnTo>
                      <a:pt x="359" y="1083"/>
                    </a:lnTo>
                    <a:lnTo>
                      <a:pt x="339" y="1059"/>
                    </a:lnTo>
                    <a:lnTo>
                      <a:pt x="324" y="1033"/>
                    </a:lnTo>
                    <a:lnTo>
                      <a:pt x="314" y="1006"/>
                    </a:lnTo>
                    <a:lnTo>
                      <a:pt x="309" y="977"/>
                    </a:lnTo>
                    <a:lnTo>
                      <a:pt x="309" y="948"/>
                    </a:lnTo>
                    <a:lnTo>
                      <a:pt x="314" y="919"/>
                    </a:lnTo>
                    <a:lnTo>
                      <a:pt x="324" y="892"/>
                    </a:lnTo>
                    <a:lnTo>
                      <a:pt x="339" y="866"/>
                    </a:lnTo>
                    <a:lnTo>
                      <a:pt x="359" y="842"/>
                    </a:lnTo>
                    <a:lnTo>
                      <a:pt x="842" y="359"/>
                    </a:lnTo>
                    <a:lnTo>
                      <a:pt x="868" y="338"/>
                    </a:lnTo>
                    <a:lnTo>
                      <a:pt x="898" y="322"/>
                    </a:lnTo>
                    <a:lnTo>
                      <a:pt x="930" y="313"/>
                    </a:lnTo>
                    <a:lnTo>
                      <a:pt x="962" y="310"/>
                    </a:lnTo>
                    <a:lnTo>
                      <a:pt x="995" y="313"/>
                    </a:lnTo>
                    <a:lnTo>
                      <a:pt x="1027" y="322"/>
                    </a:lnTo>
                    <a:lnTo>
                      <a:pt x="1056" y="338"/>
                    </a:lnTo>
                    <a:lnTo>
                      <a:pt x="1083" y="359"/>
                    </a:lnTo>
                    <a:lnTo>
                      <a:pt x="1323" y="599"/>
                    </a:lnTo>
                    <a:lnTo>
                      <a:pt x="1393" y="566"/>
                    </a:lnTo>
                    <a:lnTo>
                      <a:pt x="1464" y="536"/>
                    </a:lnTo>
                    <a:lnTo>
                      <a:pt x="1537" y="510"/>
                    </a:lnTo>
                    <a:lnTo>
                      <a:pt x="1537" y="170"/>
                    </a:lnTo>
                    <a:lnTo>
                      <a:pt x="1540" y="137"/>
                    </a:lnTo>
                    <a:lnTo>
                      <a:pt x="1550" y="104"/>
                    </a:lnTo>
                    <a:lnTo>
                      <a:pt x="1566" y="76"/>
                    </a:lnTo>
                    <a:lnTo>
                      <a:pt x="1587" y="50"/>
                    </a:lnTo>
                    <a:lnTo>
                      <a:pt x="1612" y="29"/>
                    </a:lnTo>
                    <a:lnTo>
                      <a:pt x="1640" y="14"/>
                    </a:lnTo>
                    <a:lnTo>
                      <a:pt x="1673" y="4"/>
                    </a:lnTo>
                    <a:lnTo>
                      <a:pt x="170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3" name="Freeform 12">
                <a:extLst>
                  <a:ext uri="{FF2B5EF4-FFF2-40B4-BE49-F238E27FC236}">
                    <a16:creationId xmlns:a16="http://schemas.microsoft.com/office/drawing/2014/main" id="{8FA640EA-8C54-C6C0-850A-C612655A3E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3890" y="2206730"/>
                <a:ext cx="290525" cy="146161"/>
              </a:xfrm>
              <a:custGeom>
                <a:avLst/>
                <a:gdLst>
                  <a:gd name="T0" fmla="*/ 936 w 1707"/>
                  <a:gd name="T1" fmla="*/ 4 h 939"/>
                  <a:gd name="T2" fmla="*/ 1094 w 1707"/>
                  <a:gd name="T3" fmla="*/ 34 h 939"/>
                  <a:gd name="T4" fmla="*/ 1239 w 1707"/>
                  <a:gd name="T5" fmla="*/ 92 h 939"/>
                  <a:gd name="T6" fmla="*/ 1371 w 1707"/>
                  <a:gd name="T7" fmla="*/ 174 h 939"/>
                  <a:gd name="T8" fmla="*/ 1485 w 1707"/>
                  <a:gd name="T9" fmla="*/ 278 h 939"/>
                  <a:gd name="T10" fmla="*/ 1578 w 1707"/>
                  <a:gd name="T11" fmla="*/ 400 h 939"/>
                  <a:gd name="T12" fmla="*/ 1648 w 1707"/>
                  <a:gd name="T13" fmla="*/ 539 h 939"/>
                  <a:gd name="T14" fmla="*/ 1692 w 1707"/>
                  <a:gd name="T15" fmla="*/ 692 h 939"/>
                  <a:gd name="T16" fmla="*/ 1707 w 1707"/>
                  <a:gd name="T17" fmla="*/ 853 h 939"/>
                  <a:gd name="T18" fmla="*/ 1537 w 1707"/>
                  <a:gd name="T19" fmla="*/ 939 h 939"/>
                  <a:gd name="T20" fmla="*/ 1533 w 1707"/>
                  <a:gd name="T21" fmla="*/ 784 h 939"/>
                  <a:gd name="T22" fmla="*/ 1506 w 1707"/>
                  <a:gd name="T23" fmla="*/ 651 h 939"/>
                  <a:gd name="T24" fmla="*/ 1455 w 1707"/>
                  <a:gd name="T25" fmla="*/ 528 h 939"/>
                  <a:gd name="T26" fmla="*/ 1381 w 1707"/>
                  <a:gd name="T27" fmla="*/ 419 h 939"/>
                  <a:gd name="T28" fmla="*/ 1289 w 1707"/>
                  <a:gd name="T29" fmla="*/ 327 h 939"/>
                  <a:gd name="T30" fmla="*/ 1179 w 1707"/>
                  <a:gd name="T31" fmla="*/ 254 h 939"/>
                  <a:gd name="T32" fmla="*/ 1058 w 1707"/>
                  <a:gd name="T33" fmla="*/ 201 h 939"/>
                  <a:gd name="T34" fmla="*/ 924 w 1707"/>
                  <a:gd name="T35" fmla="*/ 174 h 939"/>
                  <a:gd name="T36" fmla="*/ 784 w 1707"/>
                  <a:gd name="T37" fmla="*/ 174 h 939"/>
                  <a:gd name="T38" fmla="*/ 650 w 1707"/>
                  <a:gd name="T39" fmla="*/ 201 h 939"/>
                  <a:gd name="T40" fmla="*/ 529 w 1707"/>
                  <a:gd name="T41" fmla="*/ 254 h 939"/>
                  <a:gd name="T42" fmla="*/ 419 w 1707"/>
                  <a:gd name="T43" fmla="*/ 327 h 939"/>
                  <a:gd name="T44" fmla="*/ 327 w 1707"/>
                  <a:gd name="T45" fmla="*/ 419 h 939"/>
                  <a:gd name="T46" fmla="*/ 253 w 1707"/>
                  <a:gd name="T47" fmla="*/ 528 h 939"/>
                  <a:gd name="T48" fmla="*/ 202 w 1707"/>
                  <a:gd name="T49" fmla="*/ 651 h 939"/>
                  <a:gd name="T50" fmla="*/ 175 w 1707"/>
                  <a:gd name="T51" fmla="*/ 784 h 939"/>
                  <a:gd name="T52" fmla="*/ 171 w 1707"/>
                  <a:gd name="T53" fmla="*/ 939 h 939"/>
                  <a:gd name="T54" fmla="*/ 0 w 1707"/>
                  <a:gd name="T55" fmla="*/ 853 h 939"/>
                  <a:gd name="T56" fmla="*/ 16 w 1707"/>
                  <a:gd name="T57" fmla="*/ 692 h 939"/>
                  <a:gd name="T58" fmla="*/ 60 w 1707"/>
                  <a:gd name="T59" fmla="*/ 539 h 939"/>
                  <a:gd name="T60" fmla="*/ 130 w 1707"/>
                  <a:gd name="T61" fmla="*/ 400 h 939"/>
                  <a:gd name="T62" fmla="*/ 223 w 1707"/>
                  <a:gd name="T63" fmla="*/ 278 h 939"/>
                  <a:gd name="T64" fmla="*/ 337 w 1707"/>
                  <a:gd name="T65" fmla="*/ 174 h 939"/>
                  <a:gd name="T66" fmla="*/ 469 w 1707"/>
                  <a:gd name="T67" fmla="*/ 92 h 939"/>
                  <a:gd name="T68" fmla="*/ 614 w 1707"/>
                  <a:gd name="T69" fmla="*/ 34 h 939"/>
                  <a:gd name="T70" fmla="*/ 772 w 1707"/>
                  <a:gd name="T71" fmla="*/ 4 h 9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707" h="939">
                    <a:moveTo>
                      <a:pt x="854" y="0"/>
                    </a:moveTo>
                    <a:lnTo>
                      <a:pt x="936" y="4"/>
                    </a:lnTo>
                    <a:lnTo>
                      <a:pt x="1017" y="15"/>
                    </a:lnTo>
                    <a:lnTo>
                      <a:pt x="1094" y="34"/>
                    </a:lnTo>
                    <a:lnTo>
                      <a:pt x="1168" y="60"/>
                    </a:lnTo>
                    <a:lnTo>
                      <a:pt x="1239" y="92"/>
                    </a:lnTo>
                    <a:lnTo>
                      <a:pt x="1307" y="129"/>
                    </a:lnTo>
                    <a:lnTo>
                      <a:pt x="1371" y="174"/>
                    </a:lnTo>
                    <a:lnTo>
                      <a:pt x="1430" y="224"/>
                    </a:lnTo>
                    <a:lnTo>
                      <a:pt x="1485" y="278"/>
                    </a:lnTo>
                    <a:lnTo>
                      <a:pt x="1533" y="337"/>
                    </a:lnTo>
                    <a:lnTo>
                      <a:pt x="1578" y="400"/>
                    </a:lnTo>
                    <a:lnTo>
                      <a:pt x="1616" y="468"/>
                    </a:lnTo>
                    <a:lnTo>
                      <a:pt x="1648" y="539"/>
                    </a:lnTo>
                    <a:lnTo>
                      <a:pt x="1674" y="614"/>
                    </a:lnTo>
                    <a:lnTo>
                      <a:pt x="1692" y="692"/>
                    </a:lnTo>
                    <a:lnTo>
                      <a:pt x="1703" y="771"/>
                    </a:lnTo>
                    <a:lnTo>
                      <a:pt x="1707" y="853"/>
                    </a:lnTo>
                    <a:lnTo>
                      <a:pt x="1707" y="939"/>
                    </a:lnTo>
                    <a:lnTo>
                      <a:pt x="1537" y="939"/>
                    </a:lnTo>
                    <a:lnTo>
                      <a:pt x="1537" y="853"/>
                    </a:lnTo>
                    <a:lnTo>
                      <a:pt x="1533" y="784"/>
                    </a:lnTo>
                    <a:lnTo>
                      <a:pt x="1523" y="715"/>
                    </a:lnTo>
                    <a:lnTo>
                      <a:pt x="1506" y="651"/>
                    </a:lnTo>
                    <a:lnTo>
                      <a:pt x="1484" y="588"/>
                    </a:lnTo>
                    <a:lnTo>
                      <a:pt x="1455" y="528"/>
                    </a:lnTo>
                    <a:lnTo>
                      <a:pt x="1420" y="472"/>
                    </a:lnTo>
                    <a:lnTo>
                      <a:pt x="1381" y="419"/>
                    </a:lnTo>
                    <a:lnTo>
                      <a:pt x="1337" y="370"/>
                    </a:lnTo>
                    <a:lnTo>
                      <a:pt x="1289" y="327"/>
                    </a:lnTo>
                    <a:lnTo>
                      <a:pt x="1236" y="287"/>
                    </a:lnTo>
                    <a:lnTo>
                      <a:pt x="1179" y="254"/>
                    </a:lnTo>
                    <a:lnTo>
                      <a:pt x="1120" y="224"/>
                    </a:lnTo>
                    <a:lnTo>
                      <a:pt x="1058" y="201"/>
                    </a:lnTo>
                    <a:lnTo>
                      <a:pt x="992" y="184"/>
                    </a:lnTo>
                    <a:lnTo>
                      <a:pt x="924" y="174"/>
                    </a:lnTo>
                    <a:lnTo>
                      <a:pt x="854" y="170"/>
                    </a:lnTo>
                    <a:lnTo>
                      <a:pt x="784" y="174"/>
                    </a:lnTo>
                    <a:lnTo>
                      <a:pt x="716" y="184"/>
                    </a:lnTo>
                    <a:lnTo>
                      <a:pt x="650" y="201"/>
                    </a:lnTo>
                    <a:lnTo>
                      <a:pt x="588" y="224"/>
                    </a:lnTo>
                    <a:lnTo>
                      <a:pt x="529" y="254"/>
                    </a:lnTo>
                    <a:lnTo>
                      <a:pt x="472" y="287"/>
                    </a:lnTo>
                    <a:lnTo>
                      <a:pt x="419" y="327"/>
                    </a:lnTo>
                    <a:lnTo>
                      <a:pt x="371" y="370"/>
                    </a:lnTo>
                    <a:lnTo>
                      <a:pt x="327" y="419"/>
                    </a:lnTo>
                    <a:lnTo>
                      <a:pt x="288" y="472"/>
                    </a:lnTo>
                    <a:lnTo>
                      <a:pt x="253" y="528"/>
                    </a:lnTo>
                    <a:lnTo>
                      <a:pt x="224" y="588"/>
                    </a:lnTo>
                    <a:lnTo>
                      <a:pt x="202" y="651"/>
                    </a:lnTo>
                    <a:lnTo>
                      <a:pt x="185" y="715"/>
                    </a:lnTo>
                    <a:lnTo>
                      <a:pt x="175" y="784"/>
                    </a:lnTo>
                    <a:lnTo>
                      <a:pt x="171" y="853"/>
                    </a:lnTo>
                    <a:lnTo>
                      <a:pt x="171" y="939"/>
                    </a:lnTo>
                    <a:lnTo>
                      <a:pt x="0" y="939"/>
                    </a:lnTo>
                    <a:lnTo>
                      <a:pt x="0" y="853"/>
                    </a:lnTo>
                    <a:lnTo>
                      <a:pt x="5" y="771"/>
                    </a:lnTo>
                    <a:lnTo>
                      <a:pt x="16" y="692"/>
                    </a:lnTo>
                    <a:lnTo>
                      <a:pt x="34" y="614"/>
                    </a:lnTo>
                    <a:lnTo>
                      <a:pt x="60" y="539"/>
                    </a:lnTo>
                    <a:lnTo>
                      <a:pt x="92" y="468"/>
                    </a:lnTo>
                    <a:lnTo>
                      <a:pt x="130" y="400"/>
                    </a:lnTo>
                    <a:lnTo>
                      <a:pt x="175" y="337"/>
                    </a:lnTo>
                    <a:lnTo>
                      <a:pt x="223" y="278"/>
                    </a:lnTo>
                    <a:lnTo>
                      <a:pt x="278" y="224"/>
                    </a:lnTo>
                    <a:lnTo>
                      <a:pt x="337" y="174"/>
                    </a:lnTo>
                    <a:lnTo>
                      <a:pt x="401" y="129"/>
                    </a:lnTo>
                    <a:lnTo>
                      <a:pt x="469" y="92"/>
                    </a:lnTo>
                    <a:lnTo>
                      <a:pt x="540" y="60"/>
                    </a:lnTo>
                    <a:lnTo>
                      <a:pt x="614" y="34"/>
                    </a:lnTo>
                    <a:lnTo>
                      <a:pt x="691" y="15"/>
                    </a:lnTo>
                    <a:lnTo>
                      <a:pt x="772" y="4"/>
                    </a:lnTo>
                    <a:lnTo>
                      <a:pt x="85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4" name="Rectangle 13">
                <a:extLst>
                  <a:ext uri="{FF2B5EF4-FFF2-40B4-BE49-F238E27FC236}">
                    <a16:creationId xmlns:a16="http://schemas.microsoft.com/office/drawing/2014/main" id="{F44C30C8-12C8-93AE-0642-BB314DC3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74601" y="2087186"/>
                <a:ext cx="29275" cy="2646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5" name="Rectangle 14">
                <a:extLst>
                  <a:ext uri="{FF2B5EF4-FFF2-40B4-BE49-F238E27FC236}">
                    <a16:creationId xmlns:a16="http://schemas.microsoft.com/office/drawing/2014/main" id="{2BF30812-5169-DC5C-1E55-BBA2E9676E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5854" y="2166882"/>
                <a:ext cx="29104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6" name="Rectangle 15">
                <a:extLst>
                  <a:ext uri="{FF2B5EF4-FFF2-40B4-BE49-F238E27FC236}">
                    <a16:creationId xmlns:a16="http://schemas.microsoft.com/office/drawing/2014/main" id="{59BDA2FA-D069-6BA7-B81C-186681650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8713" y="2326429"/>
                <a:ext cx="28933" cy="2646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7" name="Rectangle 16">
                <a:extLst>
                  <a:ext uri="{FF2B5EF4-FFF2-40B4-BE49-F238E27FC236}">
                    <a16:creationId xmlns:a16="http://schemas.microsoft.com/office/drawing/2014/main" id="{23CB2BF3-016F-D50B-7579-8BC0D1269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50830" y="2326429"/>
                <a:ext cx="29104" cy="26462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8" name="Rectangle 17">
                <a:extLst>
                  <a:ext uri="{FF2B5EF4-FFF2-40B4-BE49-F238E27FC236}">
                    <a16:creationId xmlns:a16="http://schemas.microsoft.com/office/drawing/2014/main" id="{7A1A8258-8D5A-2EDD-392D-297B1BDC87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63690" y="2166882"/>
                <a:ext cx="28933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99" name="Freeform 18">
                <a:extLst>
                  <a:ext uri="{FF2B5EF4-FFF2-40B4-BE49-F238E27FC236}">
                    <a16:creationId xmlns:a16="http://schemas.microsoft.com/office/drawing/2014/main" id="{68063EDC-8A39-98CD-66C4-BDD78909A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40506" y="2538897"/>
                <a:ext cx="203384" cy="132930"/>
              </a:xfrm>
              <a:custGeom>
                <a:avLst/>
                <a:gdLst>
                  <a:gd name="T0" fmla="*/ 170 w 1195"/>
                  <a:gd name="T1" fmla="*/ 171 h 854"/>
                  <a:gd name="T2" fmla="*/ 170 w 1195"/>
                  <a:gd name="T3" fmla="*/ 684 h 854"/>
                  <a:gd name="T4" fmla="*/ 1025 w 1195"/>
                  <a:gd name="T5" fmla="*/ 684 h 854"/>
                  <a:gd name="T6" fmla="*/ 1025 w 1195"/>
                  <a:gd name="T7" fmla="*/ 171 h 854"/>
                  <a:gd name="T8" fmla="*/ 170 w 1195"/>
                  <a:gd name="T9" fmla="*/ 171 h 854"/>
                  <a:gd name="T10" fmla="*/ 170 w 1195"/>
                  <a:gd name="T11" fmla="*/ 0 h 854"/>
                  <a:gd name="T12" fmla="*/ 1025 w 1195"/>
                  <a:gd name="T13" fmla="*/ 0 h 854"/>
                  <a:gd name="T14" fmla="*/ 1059 w 1195"/>
                  <a:gd name="T15" fmla="*/ 3 h 854"/>
                  <a:gd name="T16" fmla="*/ 1092 w 1195"/>
                  <a:gd name="T17" fmla="*/ 13 h 854"/>
                  <a:gd name="T18" fmla="*/ 1120 w 1195"/>
                  <a:gd name="T19" fmla="*/ 29 h 854"/>
                  <a:gd name="T20" fmla="*/ 1145 w 1195"/>
                  <a:gd name="T21" fmla="*/ 51 h 854"/>
                  <a:gd name="T22" fmla="*/ 1166 w 1195"/>
                  <a:gd name="T23" fmla="*/ 75 h 854"/>
                  <a:gd name="T24" fmla="*/ 1182 w 1195"/>
                  <a:gd name="T25" fmla="*/ 104 h 854"/>
                  <a:gd name="T26" fmla="*/ 1192 w 1195"/>
                  <a:gd name="T27" fmla="*/ 136 h 854"/>
                  <a:gd name="T28" fmla="*/ 1195 w 1195"/>
                  <a:gd name="T29" fmla="*/ 171 h 854"/>
                  <a:gd name="T30" fmla="*/ 1195 w 1195"/>
                  <a:gd name="T31" fmla="*/ 684 h 854"/>
                  <a:gd name="T32" fmla="*/ 1192 w 1195"/>
                  <a:gd name="T33" fmla="*/ 717 h 854"/>
                  <a:gd name="T34" fmla="*/ 1182 w 1195"/>
                  <a:gd name="T35" fmla="*/ 750 h 854"/>
                  <a:gd name="T36" fmla="*/ 1166 w 1195"/>
                  <a:gd name="T37" fmla="*/ 778 h 854"/>
                  <a:gd name="T38" fmla="*/ 1145 w 1195"/>
                  <a:gd name="T39" fmla="*/ 804 h 854"/>
                  <a:gd name="T40" fmla="*/ 1120 w 1195"/>
                  <a:gd name="T41" fmla="*/ 825 h 854"/>
                  <a:gd name="T42" fmla="*/ 1092 w 1195"/>
                  <a:gd name="T43" fmla="*/ 840 h 854"/>
                  <a:gd name="T44" fmla="*/ 1059 w 1195"/>
                  <a:gd name="T45" fmla="*/ 850 h 854"/>
                  <a:gd name="T46" fmla="*/ 1025 w 1195"/>
                  <a:gd name="T47" fmla="*/ 854 h 854"/>
                  <a:gd name="T48" fmla="*/ 170 w 1195"/>
                  <a:gd name="T49" fmla="*/ 854 h 854"/>
                  <a:gd name="T50" fmla="*/ 137 w 1195"/>
                  <a:gd name="T51" fmla="*/ 850 h 854"/>
                  <a:gd name="T52" fmla="*/ 104 w 1195"/>
                  <a:gd name="T53" fmla="*/ 840 h 854"/>
                  <a:gd name="T54" fmla="*/ 76 w 1195"/>
                  <a:gd name="T55" fmla="*/ 825 h 854"/>
                  <a:gd name="T56" fmla="*/ 50 w 1195"/>
                  <a:gd name="T57" fmla="*/ 804 h 854"/>
                  <a:gd name="T58" fmla="*/ 29 w 1195"/>
                  <a:gd name="T59" fmla="*/ 778 h 854"/>
                  <a:gd name="T60" fmla="*/ 14 w 1195"/>
                  <a:gd name="T61" fmla="*/ 750 h 854"/>
                  <a:gd name="T62" fmla="*/ 4 w 1195"/>
                  <a:gd name="T63" fmla="*/ 717 h 854"/>
                  <a:gd name="T64" fmla="*/ 0 w 1195"/>
                  <a:gd name="T65" fmla="*/ 684 h 854"/>
                  <a:gd name="T66" fmla="*/ 0 w 1195"/>
                  <a:gd name="T67" fmla="*/ 171 h 854"/>
                  <a:gd name="T68" fmla="*/ 4 w 1195"/>
                  <a:gd name="T69" fmla="*/ 136 h 854"/>
                  <a:gd name="T70" fmla="*/ 14 w 1195"/>
                  <a:gd name="T71" fmla="*/ 104 h 854"/>
                  <a:gd name="T72" fmla="*/ 29 w 1195"/>
                  <a:gd name="T73" fmla="*/ 75 h 854"/>
                  <a:gd name="T74" fmla="*/ 50 w 1195"/>
                  <a:gd name="T75" fmla="*/ 51 h 854"/>
                  <a:gd name="T76" fmla="*/ 76 w 1195"/>
                  <a:gd name="T77" fmla="*/ 29 h 854"/>
                  <a:gd name="T78" fmla="*/ 104 w 1195"/>
                  <a:gd name="T79" fmla="*/ 13 h 854"/>
                  <a:gd name="T80" fmla="*/ 137 w 1195"/>
                  <a:gd name="T81" fmla="*/ 3 h 854"/>
                  <a:gd name="T82" fmla="*/ 170 w 1195"/>
                  <a:gd name="T83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95" h="854">
                    <a:moveTo>
                      <a:pt x="170" y="171"/>
                    </a:moveTo>
                    <a:lnTo>
                      <a:pt x="170" y="684"/>
                    </a:lnTo>
                    <a:lnTo>
                      <a:pt x="1025" y="684"/>
                    </a:lnTo>
                    <a:lnTo>
                      <a:pt x="1025" y="171"/>
                    </a:lnTo>
                    <a:lnTo>
                      <a:pt x="170" y="171"/>
                    </a:lnTo>
                    <a:close/>
                    <a:moveTo>
                      <a:pt x="170" y="0"/>
                    </a:moveTo>
                    <a:lnTo>
                      <a:pt x="1025" y="0"/>
                    </a:lnTo>
                    <a:lnTo>
                      <a:pt x="1059" y="3"/>
                    </a:lnTo>
                    <a:lnTo>
                      <a:pt x="1092" y="13"/>
                    </a:lnTo>
                    <a:lnTo>
                      <a:pt x="1120" y="29"/>
                    </a:lnTo>
                    <a:lnTo>
                      <a:pt x="1145" y="51"/>
                    </a:lnTo>
                    <a:lnTo>
                      <a:pt x="1166" y="75"/>
                    </a:lnTo>
                    <a:lnTo>
                      <a:pt x="1182" y="104"/>
                    </a:lnTo>
                    <a:lnTo>
                      <a:pt x="1192" y="136"/>
                    </a:lnTo>
                    <a:lnTo>
                      <a:pt x="1195" y="171"/>
                    </a:lnTo>
                    <a:lnTo>
                      <a:pt x="1195" y="684"/>
                    </a:lnTo>
                    <a:lnTo>
                      <a:pt x="1192" y="717"/>
                    </a:lnTo>
                    <a:lnTo>
                      <a:pt x="1182" y="750"/>
                    </a:lnTo>
                    <a:lnTo>
                      <a:pt x="1166" y="778"/>
                    </a:lnTo>
                    <a:lnTo>
                      <a:pt x="1145" y="804"/>
                    </a:lnTo>
                    <a:lnTo>
                      <a:pt x="1120" y="825"/>
                    </a:lnTo>
                    <a:lnTo>
                      <a:pt x="1092" y="840"/>
                    </a:lnTo>
                    <a:lnTo>
                      <a:pt x="1059" y="850"/>
                    </a:lnTo>
                    <a:lnTo>
                      <a:pt x="1025" y="854"/>
                    </a:lnTo>
                    <a:lnTo>
                      <a:pt x="170" y="854"/>
                    </a:lnTo>
                    <a:lnTo>
                      <a:pt x="137" y="850"/>
                    </a:lnTo>
                    <a:lnTo>
                      <a:pt x="104" y="840"/>
                    </a:lnTo>
                    <a:lnTo>
                      <a:pt x="76" y="825"/>
                    </a:lnTo>
                    <a:lnTo>
                      <a:pt x="50" y="804"/>
                    </a:lnTo>
                    <a:lnTo>
                      <a:pt x="29" y="778"/>
                    </a:lnTo>
                    <a:lnTo>
                      <a:pt x="14" y="750"/>
                    </a:lnTo>
                    <a:lnTo>
                      <a:pt x="4" y="717"/>
                    </a:lnTo>
                    <a:lnTo>
                      <a:pt x="0" y="684"/>
                    </a:lnTo>
                    <a:lnTo>
                      <a:pt x="0" y="171"/>
                    </a:lnTo>
                    <a:lnTo>
                      <a:pt x="4" y="136"/>
                    </a:lnTo>
                    <a:lnTo>
                      <a:pt x="14" y="104"/>
                    </a:lnTo>
                    <a:lnTo>
                      <a:pt x="29" y="75"/>
                    </a:lnTo>
                    <a:lnTo>
                      <a:pt x="50" y="51"/>
                    </a:lnTo>
                    <a:lnTo>
                      <a:pt x="76" y="29"/>
                    </a:lnTo>
                    <a:lnTo>
                      <a:pt x="104" y="13"/>
                    </a:lnTo>
                    <a:lnTo>
                      <a:pt x="137" y="3"/>
                    </a:lnTo>
                    <a:lnTo>
                      <a:pt x="1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0" name="Freeform 19">
                <a:extLst>
                  <a:ext uri="{FF2B5EF4-FFF2-40B4-BE49-F238E27FC236}">
                    <a16:creationId xmlns:a16="http://schemas.microsoft.com/office/drawing/2014/main" id="{6A17F062-2C27-39A7-1B83-3141FE97F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34586" y="2538897"/>
                <a:ext cx="203384" cy="132930"/>
              </a:xfrm>
              <a:custGeom>
                <a:avLst/>
                <a:gdLst>
                  <a:gd name="T0" fmla="*/ 171 w 1195"/>
                  <a:gd name="T1" fmla="*/ 171 h 854"/>
                  <a:gd name="T2" fmla="*/ 171 w 1195"/>
                  <a:gd name="T3" fmla="*/ 684 h 854"/>
                  <a:gd name="T4" fmla="*/ 1025 w 1195"/>
                  <a:gd name="T5" fmla="*/ 684 h 854"/>
                  <a:gd name="T6" fmla="*/ 1025 w 1195"/>
                  <a:gd name="T7" fmla="*/ 171 h 854"/>
                  <a:gd name="T8" fmla="*/ 171 w 1195"/>
                  <a:gd name="T9" fmla="*/ 171 h 854"/>
                  <a:gd name="T10" fmla="*/ 171 w 1195"/>
                  <a:gd name="T11" fmla="*/ 0 h 854"/>
                  <a:gd name="T12" fmla="*/ 1025 w 1195"/>
                  <a:gd name="T13" fmla="*/ 0 h 854"/>
                  <a:gd name="T14" fmla="*/ 1058 w 1195"/>
                  <a:gd name="T15" fmla="*/ 3 h 854"/>
                  <a:gd name="T16" fmla="*/ 1091 w 1195"/>
                  <a:gd name="T17" fmla="*/ 13 h 854"/>
                  <a:gd name="T18" fmla="*/ 1119 w 1195"/>
                  <a:gd name="T19" fmla="*/ 29 h 854"/>
                  <a:gd name="T20" fmla="*/ 1145 w 1195"/>
                  <a:gd name="T21" fmla="*/ 51 h 854"/>
                  <a:gd name="T22" fmla="*/ 1166 w 1195"/>
                  <a:gd name="T23" fmla="*/ 75 h 854"/>
                  <a:gd name="T24" fmla="*/ 1181 w 1195"/>
                  <a:gd name="T25" fmla="*/ 104 h 854"/>
                  <a:gd name="T26" fmla="*/ 1191 w 1195"/>
                  <a:gd name="T27" fmla="*/ 136 h 854"/>
                  <a:gd name="T28" fmla="*/ 1195 w 1195"/>
                  <a:gd name="T29" fmla="*/ 171 h 854"/>
                  <a:gd name="T30" fmla="*/ 1195 w 1195"/>
                  <a:gd name="T31" fmla="*/ 683 h 854"/>
                  <a:gd name="T32" fmla="*/ 1191 w 1195"/>
                  <a:gd name="T33" fmla="*/ 717 h 854"/>
                  <a:gd name="T34" fmla="*/ 1181 w 1195"/>
                  <a:gd name="T35" fmla="*/ 750 h 854"/>
                  <a:gd name="T36" fmla="*/ 1166 w 1195"/>
                  <a:gd name="T37" fmla="*/ 778 h 854"/>
                  <a:gd name="T38" fmla="*/ 1145 w 1195"/>
                  <a:gd name="T39" fmla="*/ 804 h 854"/>
                  <a:gd name="T40" fmla="*/ 1119 w 1195"/>
                  <a:gd name="T41" fmla="*/ 825 h 854"/>
                  <a:gd name="T42" fmla="*/ 1091 w 1195"/>
                  <a:gd name="T43" fmla="*/ 840 h 854"/>
                  <a:gd name="T44" fmla="*/ 1058 w 1195"/>
                  <a:gd name="T45" fmla="*/ 850 h 854"/>
                  <a:gd name="T46" fmla="*/ 1025 w 1195"/>
                  <a:gd name="T47" fmla="*/ 854 h 854"/>
                  <a:gd name="T48" fmla="*/ 171 w 1195"/>
                  <a:gd name="T49" fmla="*/ 854 h 854"/>
                  <a:gd name="T50" fmla="*/ 136 w 1195"/>
                  <a:gd name="T51" fmla="*/ 850 h 854"/>
                  <a:gd name="T52" fmla="*/ 103 w 1195"/>
                  <a:gd name="T53" fmla="*/ 840 h 854"/>
                  <a:gd name="T54" fmla="*/ 75 w 1195"/>
                  <a:gd name="T55" fmla="*/ 825 h 854"/>
                  <a:gd name="T56" fmla="*/ 50 w 1195"/>
                  <a:gd name="T57" fmla="*/ 804 h 854"/>
                  <a:gd name="T58" fmla="*/ 29 w 1195"/>
                  <a:gd name="T59" fmla="*/ 778 h 854"/>
                  <a:gd name="T60" fmla="*/ 13 w 1195"/>
                  <a:gd name="T61" fmla="*/ 750 h 854"/>
                  <a:gd name="T62" fmla="*/ 3 w 1195"/>
                  <a:gd name="T63" fmla="*/ 717 h 854"/>
                  <a:gd name="T64" fmla="*/ 0 w 1195"/>
                  <a:gd name="T65" fmla="*/ 683 h 854"/>
                  <a:gd name="T66" fmla="*/ 0 w 1195"/>
                  <a:gd name="T67" fmla="*/ 171 h 854"/>
                  <a:gd name="T68" fmla="*/ 3 w 1195"/>
                  <a:gd name="T69" fmla="*/ 136 h 854"/>
                  <a:gd name="T70" fmla="*/ 13 w 1195"/>
                  <a:gd name="T71" fmla="*/ 104 h 854"/>
                  <a:gd name="T72" fmla="*/ 29 w 1195"/>
                  <a:gd name="T73" fmla="*/ 75 h 854"/>
                  <a:gd name="T74" fmla="*/ 50 w 1195"/>
                  <a:gd name="T75" fmla="*/ 51 h 854"/>
                  <a:gd name="T76" fmla="*/ 75 w 1195"/>
                  <a:gd name="T77" fmla="*/ 29 h 854"/>
                  <a:gd name="T78" fmla="*/ 103 w 1195"/>
                  <a:gd name="T79" fmla="*/ 13 h 854"/>
                  <a:gd name="T80" fmla="*/ 136 w 1195"/>
                  <a:gd name="T81" fmla="*/ 3 h 854"/>
                  <a:gd name="T82" fmla="*/ 171 w 1195"/>
                  <a:gd name="T83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95" h="854">
                    <a:moveTo>
                      <a:pt x="171" y="171"/>
                    </a:moveTo>
                    <a:lnTo>
                      <a:pt x="171" y="684"/>
                    </a:lnTo>
                    <a:lnTo>
                      <a:pt x="1025" y="684"/>
                    </a:lnTo>
                    <a:lnTo>
                      <a:pt x="1025" y="171"/>
                    </a:lnTo>
                    <a:lnTo>
                      <a:pt x="171" y="171"/>
                    </a:lnTo>
                    <a:close/>
                    <a:moveTo>
                      <a:pt x="171" y="0"/>
                    </a:moveTo>
                    <a:lnTo>
                      <a:pt x="1025" y="0"/>
                    </a:lnTo>
                    <a:lnTo>
                      <a:pt x="1058" y="3"/>
                    </a:lnTo>
                    <a:lnTo>
                      <a:pt x="1091" y="13"/>
                    </a:lnTo>
                    <a:lnTo>
                      <a:pt x="1119" y="29"/>
                    </a:lnTo>
                    <a:lnTo>
                      <a:pt x="1145" y="51"/>
                    </a:lnTo>
                    <a:lnTo>
                      <a:pt x="1166" y="75"/>
                    </a:lnTo>
                    <a:lnTo>
                      <a:pt x="1181" y="104"/>
                    </a:lnTo>
                    <a:lnTo>
                      <a:pt x="1191" y="136"/>
                    </a:lnTo>
                    <a:lnTo>
                      <a:pt x="1195" y="171"/>
                    </a:lnTo>
                    <a:lnTo>
                      <a:pt x="1195" y="683"/>
                    </a:lnTo>
                    <a:lnTo>
                      <a:pt x="1191" y="717"/>
                    </a:lnTo>
                    <a:lnTo>
                      <a:pt x="1181" y="750"/>
                    </a:lnTo>
                    <a:lnTo>
                      <a:pt x="1166" y="778"/>
                    </a:lnTo>
                    <a:lnTo>
                      <a:pt x="1145" y="804"/>
                    </a:lnTo>
                    <a:lnTo>
                      <a:pt x="1119" y="825"/>
                    </a:lnTo>
                    <a:lnTo>
                      <a:pt x="1091" y="840"/>
                    </a:lnTo>
                    <a:lnTo>
                      <a:pt x="1058" y="850"/>
                    </a:lnTo>
                    <a:lnTo>
                      <a:pt x="1025" y="854"/>
                    </a:lnTo>
                    <a:lnTo>
                      <a:pt x="171" y="854"/>
                    </a:lnTo>
                    <a:lnTo>
                      <a:pt x="136" y="850"/>
                    </a:lnTo>
                    <a:lnTo>
                      <a:pt x="103" y="840"/>
                    </a:lnTo>
                    <a:lnTo>
                      <a:pt x="75" y="825"/>
                    </a:lnTo>
                    <a:lnTo>
                      <a:pt x="50" y="804"/>
                    </a:lnTo>
                    <a:lnTo>
                      <a:pt x="29" y="778"/>
                    </a:lnTo>
                    <a:lnTo>
                      <a:pt x="13" y="750"/>
                    </a:lnTo>
                    <a:lnTo>
                      <a:pt x="3" y="717"/>
                    </a:lnTo>
                    <a:lnTo>
                      <a:pt x="0" y="683"/>
                    </a:lnTo>
                    <a:lnTo>
                      <a:pt x="0" y="171"/>
                    </a:lnTo>
                    <a:lnTo>
                      <a:pt x="3" y="136"/>
                    </a:lnTo>
                    <a:lnTo>
                      <a:pt x="13" y="104"/>
                    </a:lnTo>
                    <a:lnTo>
                      <a:pt x="29" y="75"/>
                    </a:lnTo>
                    <a:lnTo>
                      <a:pt x="50" y="51"/>
                    </a:lnTo>
                    <a:lnTo>
                      <a:pt x="75" y="29"/>
                    </a:lnTo>
                    <a:lnTo>
                      <a:pt x="103" y="13"/>
                    </a:lnTo>
                    <a:lnTo>
                      <a:pt x="136" y="3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A84835E4-9F9D-F36A-1208-D1E1C1F60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7631" y="2538897"/>
                <a:ext cx="203213" cy="132930"/>
              </a:xfrm>
              <a:custGeom>
                <a:avLst/>
                <a:gdLst>
                  <a:gd name="T0" fmla="*/ 170 w 1194"/>
                  <a:gd name="T1" fmla="*/ 171 h 854"/>
                  <a:gd name="T2" fmla="*/ 170 w 1194"/>
                  <a:gd name="T3" fmla="*/ 684 h 854"/>
                  <a:gd name="T4" fmla="*/ 1024 w 1194"/>
                  <a:gd name="T5" fmla="*/ 684 h 854"/>
                  <a:gd name="T6" fmla="*/ 1024 w 1194"/>
                  <a:gd name="T7" fmla="*/ 171 h 854"/>
                  <a:gd name="T8" fmla="*/ 170 w 1194"/>
                  <a:gd name="T9" fmla="*/ 171 h 854"/>
                  <a:gd name="T10" fmla="*/ 170 w 1194"/>
                  <a:gd name="T11" fmla="*/ 0 h 854"/>
                  <a:gd name="T12" fmla="*/ 1024 w 1194"/>
                  <a:gd name="T13" fmla="*/ 0 h 854"/>
                  <a:gd name="T14" fmla="*/ 1058 w 1194"/>
                  <a:gd name="T15" fmla="*/ 3 h 854"/>
                  <a:gd name="T16" fmla="*/ 1090 w 1194"/>
                  <a:gd name="T17" fmla="*/ 13 h 854"/>
                  <a:gd name="T18" fmla="*/ 1120 w 1194"/>
                  <a:gd name="T19" fmla="*/ 29 h 854"/>
                  <a:gd name="T20" fmla="*/ 1145 w 1194"/>
                  <a:gd name="T21" fmla="*/ 51 h 854"/>
                  <a:gd name="T22" fmla="*/ 1166 w 1194"/>
                  <a:gd name="T23" fmla="*/ 75 h 854"/>
                  <a:gd name="T24" fmla="*/ 1181 w 1194"/>
                  <a:gd name="T25" fmla="*/ 104 h 854"/>
                  <a:gd name="T26" fmla="*/ 1191 w 1194"/>
                  <a:gd name="T27" fmla="*/ 136 h 854"/>
                  <a:gd name="T28" fmla="*/ 1194 w 1194"/>
                  <a:gd name="T29" fmla="*/ 171 h 854"/>
                  <a:gd name="T30" fmla="*/ 1194 w 1194"/>
                  <a:gd name="T31" fmla="*/ 683 h 854"/>
                  <a:gd name="T32" fmla="*/ 1191 w 1194"/>
                  <a:gd name="T33" fmla="*/ 717 h 854"/>
                  <a:gd name="T34" fmla="*/ 1181 w 1194"/>
                  <a:gd name="T35" fmla="*/ 750 h 854"/>
                  <a:gd name="T36" fmla="*/ 1166 w 1194"/>
                  <a:gd name="T37" fmla="*/ 778 h 854"/>
                  <a:gd name="T38" fmla="*/ 1145 w 1194"/>
                  <a:gd name="T39" fmla="*/ 804 h 854"/>
                  <a:gd name="T40" fmla="*/ 1120 w 1194"/>
                  <a:gd name="T41" fmla="*/ 825 h 854"/>
                  <a:gd name="T42" fmla="*/ 1090 w 1194"/>
                  <a:gd name="T43" fmla="*/ 840 h 854"/>
                  <a:gd name="T44" fmla="*/ 1058 w 1194"/>
                  <a:gd name="T45" fmla="*/ 850 h 854"/>
                  <a:gd name="T46" fmla="*/ 1024 w 1194"/>
                  <a:gd name="T47" fmla="*/ 854 h 854"/>
                  <a:gd name="T48" fmla="*/ 170 w 1194"/>
                  <a:gd name="T49" fmla="*/ 854 h 854"/>
                  <a:gd name="T50" fmla="*/ 136 w 1194"/>
                  <a:gd name="T51" fmla="*/ 850 h 854"/>
                  <a:gd name="T52" fmla="*/ 104 w 1194"/>
                  <a:gd name="T53" fmla="*/ 840 h 854"/>
                  <a:gd name="T54" fmla="*/ 74 w 1194"/>
                  <a:gd name="T55" fmla="*/ 825 h 854"/>
                  <a:gd name="T56" fmla="*/ 49 w 1194"/>
                  <a:gd name="T57" fmla="*/ 804 h 854"/>
                  <a:gd name="T58" fmla="*/ 28 w 1194"/>
                  <a:gd name="T59" fmla="*/ 778 h 854"/>
                  <a:gd name="T60" fmla="*/ 13 w 1194"/>
                  <a:gd name="T61" fmla="*/ 750 h 854"/>
                  <a:gd name="T62" fmla="*/ 3 w 1194"/>
                  <a:gd name="T63" fmla="*/ 717 h 854"/>
                  <a:gd name="T64" fmla="*/ 0 w 1194"/>
                  <a:gd name="T65" fmla="*/ 683 h 854"/>
                  <a:gd name="T66" fmla="*/ 0 w 1194"/>
                  <a:gd name="T67" fmla="*/ 171 h 854"/>
                  <a:gd name="T68" fmla="*/ 3 w 1194"/>
                  <a:gd name="T69" fmla="*/ 136 h 854"/>
                  <a:gd name="T70" fmla="*/ 13 w 1194"/>
                  <a:gd name="T71" fmla="*/ 104 h 854"/>
                  <a:gd name="T72" fmla="*/ 28 w 1194"/>
                  <a:gd name="T73" fmla="*/ 75 h 854"/>
                  <a:gd name="T74" fmla="*/ 49 w 1194"/>
                  <a:gd name="T75" fmla="*/ 51 h 854"/>
                  <a:gd name="T76" fmla="*/ 74 w 1194"/>
                  <a:gd name="T77" fmla="*/ 29 h 854"/>
                  <a:gd name="T78" fmla="*/ 104 w 1194"/>
                  <a:gd name="T79" fmla="*/ 13 h 854"/>
                  <a:gd name="T80" fmla="*/ 136 w 1194"/>
                  <a:gd name="T81" fmla="*/ 3 h 854"/>
                  <a:gd name="T82" fmla="*/ 170 w 1194"/>
                  <a:gd name="T83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194" h="854">
                    <a:moveTo>
                      <a:pt x="170" y="171"/>
                    </a:moveTo>
                    <a:lnTo>
                      <a:pt x="170" y="684"/>
                    </a:lnTo>
                    <a:lnTo>
                      <a:pt x="1024" y="684"/>
                    </a:lnTo>
                    <a:lnTo>
                      <a:pt x="1024" y="171"/>
                    </a:lnTo>
                    <a:lnTo>
                      <a:pt x="170" y="171"/>
                    </a:lnTo>
                    <a:close/>
                    <a:moveTo>
                      <a:pt x="170" y="0"/>
                    </a:moveTo>
                    <a:lnTo>
                      <a:pt x="1024" y="0"/>
                    </a:lnTo>
                    <a:lnTo>
                      <a:pt x="1058" y="3"/>
                    </a:lnTo>
                    <a:lnTo>
                      <a:pt x="1090" y="13"/>
                    </a:lnTo>
                    <a:lnTo>
                      <a:pt x="1120" y="29"/>
                    </a:lnTo>
                    <a:lnTo>
                      <a:pt x="1145" y="51"/>
                    </a:lnTo>
                    <a:lnTo>
                      <a:pt x="1166" y="75"/>
                    </a:lnTo>
                    <a:lnTo>
                      <a:pt x="1181" y="104"/>
                    </a:lnTo>
                    <a:lnTo>
                      <a:pt x="1191" y="136"/>
                    </a:lnTo>
                    <a:lnTo>
                      <a:pt x="1194" y="171"/>
                    </a:lnTo>
                    <a:lnTo>
                      <a:pt x="1194" y="683"/>
                    </a:lnTo>
                    <a:lnTo>
                      <a:pt x="1191" y="717"/>
                    </a:lnTo>
                    <a:lnTo>
                      <a:pt x="1181" y="750"/>
                    </a:lnTo>
                    <a:lnTo>
                      <a:pt x="1166" y="778"/>
                    </a:lnTo>
                    <a:lnTo>
                      <a:pt x="1145" y="804"/>
                    </a:lnTo>
                    <a:lnTo>
                      <a:pt x="1120" y="825"/>
                    </a:lnTo>
                    <a:lnTo>
                      <a:pt x="1090" y="840"/>
                    </a:lnTo>
                    <a:lnTo>
                      <a:pt x="1058" y="850"/>
                    </a:lnTo>
                    <a:lnTo>
                      <a:pt x="1024" y="854"/>
                    </a:lnTo>
                    <a:lnTo>
                      <a:pt x="170" y="854"/>
                    </a:lnTo>
                    <a:lnTo>
                      <a:pt x="136" y="850"/>
                    </a:lnTo>
                    <a:lnTo>
                      <a:pt x="104" y="840"/>
                    </a:lnTo>
                    <a:lnTo>
                      <a:pt x="74" y="825"/>
                    </a:lnTo>
                    <a:lnTo>
                      <a:pt x="49" y="804"/>
                    </a:lnTo>
                    <a:lnTo>
                      <a:pt x="28" y="778"/>
                    </a:lnTo>
                    <a:lnTo>
                      <a:pt x="13" y="750"/>
                    </a:lnTo>
                    <a:lnTo>
                      <a:pt x="3" y="717"/>
                    </a:lnTo>
                    <a:lnTo>
                      <a:pt x="0" y="683"/>
                    </a:lnTo>
                    <a:lnTo>
                      <a:pt x="0" y="171"/>
                    </a:lnTo>
                    <a:lnTo>
                      <a:pt x="3" y="136"/>
                    </a:lnTo>
                    <a:lnTo>
                      <a:pt x="13" y="104"/>
                    </a:lnTo>
                    <a:lnTo>
                      <a:pt x="28" y="75"/>
                    </a:lnTo>
                    <a:lnTo>
                      <a:pt x="49" y="51"/>
                    </a:lnTo>
                    <a:lnTo>
                      <a:pt x="74" y="29"/>
                    </a:lnTo>
                    <a:lnTo>
                      <a:pt x="104" y="13"/>
                    </a:lnTo>
                    <a:lnTo>
                      <a:pt x="136" y="3"/>
                    </a:lnTo>
                    <a:lnTo>
                      <a:pt x="1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2" name="Freeform 21">
                <a:extLst>
                  <a:ext uri="{FF2B5EF4-FFF2-40B4-BE49-F238E27FC236}">
                    <a16:creationId xmlns:a16="http://schemas.microsoft.com/office/drawing/2014/main" id="{0BA31B7D-C9F8-63AF-6E41-D475FBC5E5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27646" y="2432742"/>
                <a:ext cx="523184" cy="79696"/>
              </a:xfrm>
              <a:custGeom>
                <a:avLst/>
                <a:gdLst>
                  <a:gd name="T0" fmla="*/ 85 w 3074"/>
                  <a:gd name="T1" fmla="*/ 0 h 512"/>
                  <a:gd name="T2" fmla="*/ 2989 w 3074"/>
                  <a:gd name="T3" fmla="*/ 0 h 512"/>
                  <a:gd name="T4" fmla="*/ 3011 w 3074"/>
                  <a:gd name="T5" fmla="*/ 2 h 512"/>
                  <a:gd name="T6" fmla="*/ 3031 w 3074"/>
                  <a:gd name="T7" fmla="*/ 11 h 512"/>
                  <a:gd name="T8" fmla="*/ 3048 w 3074"/>
                  <a:gd name="T9" fmla="*/ 25 h 512"/>
                  <a:gd name="T10" fmla="*/ 3062 w 3074"/>
                  <a:gd name="T11" fmla="*/ 42 h 512"/>
                  <a:gd name="T12" fmla="*/ 3071 w 3074"/>
                  <a:gd name="T13" fmla="*/ 62 h 512"/>
                  <a:gd name="T14" fmla="*/ 3074 w 3074"/>
                  <a:gd name="T15" fmla="*/ 84 h 512"/>
                  <a:gd name="T16" fmla="*/ 3074 w 3074"/>
                  <a:gd name="T17" fmla="*/ 512 h 512"/>
                  <a:gd name="T18" fmla="*/ 2903 w 3074"/>
                  <a:gd name="T19" fmla="*/ 512 h 512"/>
                  <a:gd name="T20" fmla="*/ 2903 w 3074"/>
                  <a:gd name="T21" fmla="*/ 170 h 512"/>
                  <a:gd name="T22" fmla="*/ 171 w 3074"/>
                  <a:gd name="T23" fmla="*/ 170 h 512"/>
                  <a:gd name="T24" fmla="*/ 171 w 3074"/>
                  <a:gd name="T25" fmla="*/ 512 h 512"/>
                  <a:gd name="T26" fmla="*/ 0 w 3074"/>
                  <a:gd name="T27" fmla="*/ 512 h 512"/>
                  <a:gd name="T28" fmla="*/ 0 w 3074"/>
                  <a:gd name="T29" fmla="*/ 84 h 512"/>
                  <a:gd name="T30" fmla="*/ 3 w 3074"/>
                  <a:gd name="T31" fmla="*/ 62 h 512"/>
                  <a:gd name="T32" fmla="*/ 12 w 3074"/>
                  <a:gd name="T33" fmla="*/ 42 h 512"/>
                  <a:gd name="T34" fmla="*/ 26 w 3074"/>
                  <a:gd name="T35" fmla="*/ 25 h 512"/>
                  <a:gd name="T36" fmla="*/ 43 w 3074"/>
                  <a:gd name="T37" fmla="*/ 11 h 512"/>
                  <a:gd name="T38" fmla="*/ 63 w 3074"/>
                  <a:gd name="T39" fmla="*/ 2 h 512"/>
                  <a:gd name="T40" fmla="*/ 85 w 3074"/>
                  <a:gd name="T41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074" h="512">
                    <a:moveTo>
                      <a:pt x="85" y="0"/>
                    </a:moveTo>
                    <a:lnTo>
                      <a:pt x="2989" y="0"/>
                    </a:lnTo>
                    <a:lnTo>
                      <a:pt x="3011" y="2"/>
                    </a:lnTo>
                    <a:lnTo>
                      <a:pt x="3031" y="11"/>
                    </a:lnTo>
                    <a:lnTo>
                      <a:pt x="3048" y="25"/>
                    </a:lnTo>
                    <a:lnTo>
                      <a:pt x="3062" y="42"/>
                    </a:lnTo>
                    <a:lnTo>
                      <a:pt x="3071" y="62"/>
                    </a:lnTo>
                    <a:lnTo>
                      <a:pt x="3074" y="84"/>
                    </a:lnTo>
                    <a:lnTo>
                      <a:pt x="3074" y="512"/>
                    </a:lnTo>
                    <a:lnTo>
                      <a:pt x="2903" y="512"/>
                    </a:lnTo>
                    <a:lnTo>
                      <a:pt x="2903" y="170"/>
                    </a:lnTo>
                    <a:lnTo>
                      <a:pt x="171" y="170"/>
                    </a:lnTo>
                    <a:lnTo>
                      <a:pt x="171" y="512"/>
                    </a:lnTo>
                    <a:lnTo>
                      <a:pt x="0" y="512"/>
                    </a:lnTo>
                    <a:lnTo>
                      <a:pt x="0" y="84"/>
                    </a:lnTo>
                    <a:lnTo>
                      <a:pt x="3" y="62"/>
                    </a:lnTo>
                    <a:lnTo>
                      <a:pt x="12" y="42"/>
                    </a:lnTo>
                    <a:lnTo>
                      <a:pt x="26" y="25"/>
                    </a:lnTo>
                    <a:lnTo>
                      <a:pt x="43" y="11"/>
                    </a:lnTo>
                    <a:lnTo>
                      <a:pt x="63" y="2"/>
                    </a:lnTo>
                    <a:lnTo>
                      <a:pt x="8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3" name="Rectangle 22">
                <a:extLst>
                  <a:ext uri="{FF2B5EF4-FFF2-40B4-BE49-F238E27FC236}">
                    <a16:creationId xmlns:a16="http://schemas.microsoft.com/office/drawing/2014/main" id="{023B721F-02C5-9880-249A-4D308B576B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74601" y="2339502"/>
                <a:ext cx="29275" cy="172933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4" name="Rectangle 23">
                <a:extLst>
                  <a:ext uri="{FF2B5EF4-FFF2-40B4-BE49-F238E27FC236}">
                    <a16:creationId xmlns:a16="http://schemas.microsoft.com/office/drawing/2014/main" id="{D8C845AE-4876-6E0B-314A-8608E114E2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8713" y="2592131"/>
                <a:ext cx="28933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5" name="Rectangle 24">
                <a:extLst>
                  <a:ext uri="{FF2B5EF4-FFF2-40B4-BE49-F238E27FC236}">
                    <a16:creationId xmlns:a16="http://schemas.microsoft.com/office/drawing/2014/main" id="{A7621621-E3F2-FE49-2325-2B1C18AF6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56750" y="2592131"/>
                <a:ext cx="28933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6" name="Rectangle 25">
                <a:extLst>
                  <a:ext uri="{FF2B5EF4-FFF2-40B4-BE49-F238E27FC236}">
                    <a16:creationId xmlns:a16="http://schemas.microsoft.com/office/drawing/2014/main" id="{4D154861-8A38-2517-7D6F-19596C9ED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45668" y="2592131"/>
                <a:ext cx="28933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7" name="Rectangle 26">
                <a:extLst>
                  <a:ext uri="{FF2B5EF4-FFF2-40B4-BE49-F238E27FC236}">
                    <a16:creationId xmlns:a16="http://schemas.microsoft.com/office/drawing/2014/main" id="{ACC28B70-83C4-3046-E0CD-0BCECCCC4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3875" y="2592131"/>
                <a:ext cx="28933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8" name="Rectangle 27">
                <a:extLst>
                  <a:ext uri="{FF2B5EF4-FFF2-40B4-BE49-F238E27FC236}">
                    <a16:creationId xmlns:a16="http://schemas.microsoft.com/office/drawing/2014/main" id="{038FE6E9-C9A1-162C-3D36-ECEBE45D8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92622" y="2592131"/>
                <a:ext cx="29104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09" name="Rectangle 28">
                <a:extLst>
                  <a:ext uri="{FF2B5EF4-FFF2-40B4-BE49-F238E27FC236}">
                    <a16:creationId xmlns:a16="http://schemas.microsoft.com/office/drawing/2014/main" id="{5F034F9A-02E4-CDC2-2C74-E159FCBDF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50830" y="2592131"/>
                <a:ext cx="29104" cy="26617"/>
              </a:xfrm>
              <a:prstGeom prst="rect">
                <a:avLst/>
              </a:prstGeom>
              <a:grpFill/>
              <a:ln w="0">
                <a:noFill/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10" name="Freeform 29">
                <a:extLst>
                  <a:ext uri="{FF2B5EF4-FFF2-40B4-BE49-F238E27FC236}">
                    <a16:creationId xmlns:a16="http://schemas.microsoft.com/office/drawing/2014/main" id="{F7C0EDD0-6AFE-553A-52C5-FE95D821A8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16564" y="2273195"/>
                <a:ext cx="145348" cy="79696"/>
              </a:xfrm>
              <a:custGeom>
                <a:avLst/>
                <a:gdLst>
                  <a:gd name="T0" fmla="*/ 427 w 854"/>
                  <a:gd name="T1" fmla="*/ 0 h 512"/>
                  <a:gd name="T2" fmla="*/ 485 w 854"/>
                  <a:gd name="T3" fmla="*/ 4 h 512"/>
                  <a:gd name="T4" fmla="*/ 540 w 854"/>
                  <a:gd name="T5" fmla="*/ 15 h 512"/>
                  <a:gd name="T6" fmla="*/ 593 w 854"/>
                  <a:gd name="T7" fmla="*/ 34 h 512"/>
                  <a:gd name="T8" fmla="*/ 642 w 854"/>
                  <a:gd name="T9" fmla="*/ 57 h 512"/>
                  <a:gd name="T10" fmla="*/ 688 w 854"/>
                  <a:gd name="T11" fmla="*/ 89 h 512"/>
                  <a:gd name="T12" fmla="*/ 729 w 854"/>
                  <a:gd name="T13" fmla="*/ 125 h 512"/>
                  <a:gd name="T14" fmla="*/ 765 w 854"/>
                  <a:gd name="T15" fmla="*/ 166 h 512"/>
                  <a:gd name="T16" fmla="*/ 796 w 854"/>
                  <a:gd name="T17" fmla="*/ 211 h 512"/>
                  <a:gd name="T18" fmla="*/ 821 w 854"/>
                  <a:gd name="T19" fmla="*/ 260 h 512"/>
                  <a:gd name="T20" fmla="*/ 838 w 854"/>
                  <a:gd name="T21" fmla="*/ 313 h 512"/>
                  <a:gd name="T22" fmla="*/ 850 w 854"/>
                  <a:gd name="T23" fmla="*/ 369 h 512"/>
                  <a:gd name="T24" fmla="*/ 854 w 854"/>
                  <a:gd name="T25" fmla="*/ 426 h 512"/>
                  <a:gd name="T26" fmla="*/ 854 w 854"/>
                  <a:gd name="T27" fmla="*/ 512 h 512"/>
                  <a:gd name="T28" fmla="*/ 683 w 854"/>
                  <a:gd name="T29" fmla="*/ 512 h 512"/>
                  <a:gd name="T30" fmla="*/ 683 w 854"/>
                  <a:gd name="T31" fmla="*/ 426 h 512"/>
                  <a:gd name="T32" fmla="*/ 680 w 854"/>
                  <a:gd name="T33" fmla="*/ 385 h 512"/>
                  <a:gd name="T34" fmla="*/ 670 w 854"/>
                  <a:gd name="T35" fmla="*/ 346 h 512"/>
                  <a:gd name="T36" fmla="*/ 654 w 854"/>
                  <a:gd name="T37" fmla="*/ 308 h 512"/>
                  <a:gd name="T38" fmla="*/ 633 w 854"/>
                  <a:gd name="T39" fmla="*/ 275 h 512"/>
                  <a:gd name="T40" fmla="*/ 608 w 854"/>
                  <a:gd name="T41" fmla="*/ 245 h 512"/>
                  <a:gd name="T42" fmla="*/ 579 w 854"/>
                  <a:gd name="T43" fmla="*/ 220 h 512"/>
                  <a:gd name="T44" fmla="*/ 545 w 854"/>
                  <a:gd name="T45" fmla="*/ 199 h 512"/>
                  <a:gd name="T46" fmla="*/ 508 w 854"/>
                  <a:gd name="T47" fmla="*/ 184 h 512"/>
                  <a:gd name="T48" fmla="*/ 468 w 854"/>
                  <a:gd name="T49" fmla="*/ 174 h 512"/>
                  <a:gd name="T50" fmla="*/ 427 w 854"/>
                  <a:gd name="T51" fmla="*/ 171 h 512"/>
                  <a:gd name="T52" fmla="*/ 386 w 854"/>
                  <a:gd name="T53" fmla="*/ 174 h 512"/>
                  <a:gd name="T54" fmla="*/ 346 w 854"/>
                  <a:gd name="T55" fmla="*/ 184 h 512"/>
                  <a:gd name="T56" fmla="*/ 309 w 854"/>
                  <a:gd name="T57" fmla="*/ 199 h 512"/>
                  <a:gd name="T58" fmla="*/ 275 w 854"/>
                  <a:gd name="T59" fmla="*/ 220 h 512"/>
                  <a:gd name="T60" fmla="*/ 246 w 854"/>
                  <a:gd name="T61" fmla="*/ 245 h 512"/>
                  <a:gd name="T62" fmla="*/ 221 w 854"/>
                  <a:gd name="T63" fmla="*/ 275 h 512"/>
                  <a:gd name="T64" fmla="*/ 200 w 854"/>
                  <a:gd name="T65" fmla="*/ 308 h 512"/>
                  <a:gd name="T66" fmla="*/ 184 w 854"/>
                  <a:gd name="T67" fmla="*/ 346 h 512"/>
                  <a:gd name="T68" fmla="*/ 174 w 854"/>
                  <a:gd name="T69" fmla="*/ 385 h 512"/>
                  <a:gd name="T70" fmla="*/ 171 w 854"/>
                  <a:gd name="T71" fmla="*/ 426 h 512"/>
                  <a:gd name="T72" fmla="*/ 171 w 854"/>
                  <a:gd name="T73" fmla="*/ 512 h 512"/>
                  <a:gd name="T74" fmla="*/ 0 w 854"/>
                  <a:gd name="T75" fmla="*/ 512 h 512"/>
                  <a:gd name="T76" fmla="*/ 0 w 854"/>
                  <a:gd name="T77" fmla="*/ 426 h 512"/>
                  <a:gd name="T78" fmla="*/ 4 w 854"/>
                  <a:gd name="T79" fmla="*/ 369 h 512"/>
                  <a:gd name="T80" fmla="*/ 16 w 854"/>
                  <a:gd name="T81" fmla="*/ 313 h 512"/>
                  <a:gd name="T82" fmla="*/ 33 w 854"/>
                  <a:gd name="T83" fmla="*/ 260 h 512"/>
                  <a:gd name="T84" fmla="*/ 58 w 854"/>
                  <a:gd name="T85" fmla="*/ 211 h 512"/>
                  <a:gd name="T86" fmla="*/ 89 w 854"/>
                  <a:gd name="T87" fmla="*/ 166 h 512"/>
                  <a:gd name="T88" fmla="*/ 125 w 854"/>
                  <a:gd name="T89" fmla="*/ 125 h 512"/>
                  <a:gd name="T90" fmla="*/ 166 w 854"/>
                  <a:gd name="T91" fmla="*/ 89 h 512"/>
                  <a:gd name="T92" fmla="*/ 212 w 854"/>
                  <a:gd name="T93" fmla="*/ 57 h 512"/>
                  <a:gd name="T94" fmla="*/ 261 w 854"/>
                  <a:gd name="T95" fmla="*/ 34 h 512"/>
                  <a:gd name="T96" fmla="*/ 314 w 854"/>
                  <a:gd name="T97" fmla="*/ 15 h 512"/>
                  <a:gd name="T98" fmla="*/ 369 w 854"/>
                  <a:gd name="T99" fmla="*/ 4 h 512"/>
                  <a:gd name="T100" fmla="*/ 427 w 854"/>
                  <a:gd name="T101" fmla="*/ 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854" h="512">
                    <a:moveTo>
                      <a:pt x="427" y="0"/>
                    </a:moveTo>
                    <a:lnTo>
                      <a:pt x="485" y="4"/>
                    </a:lnTo>
                    <a:lnTo>
                      <a:pt x="540" y="15"/>
                    </a:lnTo>
                    <a:lnTo>
                      <a:pt x="593" y="34"/>
                    </a:lnTo>
                    <a:lnTo>
                      <a:pt x="642" y="57"/>
                    </a:lnTo>
                    <a:lnTo>
                      <a:pt x="688" y="89"/>
                    </a:lnTo>
                    <a:lnTo>
                      <a:pt x="729" y="125"/>
                    </a:lnTo>
                    <a:lnTo>
                      <a:pt x="765" y="166"/>
                    </a:lnTo>
                    <a:lnTo>
                      <a:pt x="796" y="211"/>
                    </a:lnTo>
                    <a:lnTo>
                      <a:pt x="821" y="260"/>
                    </a:lnTo>
                    <a:lnTo>
                      <a:pt x="838" y="313"/>
                    </a:lnTo>
                    <a:lnTo>
                      <a:pt x="850" y="369"/>
                    </a:lnTo>
                    <a:lnTo>
                      <a:pt x="854" y="426"/>
                    </a:lnTo>
                    <a:lnTo>
                      <a:pt x="854" y="512"/>
                    </a:lnTo>
                    <a:lnTo>
                      <a:pt x="683" y="512"/>
                    </a:lnTo>
                    <a:lnTo>
                      <a:pt x="683" y="426"/>
                    </a:lnTo>
                    <a:lnTo>
                      <a:pt x="680" y="385"/>
                    </a:lnTo>
                    <a:lnTo>
                      <a:pt x="670" y="346"/>
                    </a:lnTo>
                    <a:lnTo>
                      <a:pt x="654" y="308"/>
                    </a:lnTo>
                    <a:lnTo>
                      <a:pt x="633" y="275"/>
                    </a:lnTo>
                    <a:lnTo>
                      <a:pt x="608" y="245"/>
                    </a:lnTo>
                    <a:lnTo>
                      <a:pt x="579" y="220"/>
                    </a:lnTo>
                    <a:lnTo>
                      <a:pt x="545" y="199"/>
                    </a:lnTo>
                    <a:lnTo>
                      <a:pt x="508" y="184"/>
                    </a:lnTo>
                    <a:lnTo>
                      <a:pt x="468" y="174"/>
                    </a:lnTo>
                    <a:lnTo>
                      <a:pt x="427" y="171"/>
                    </a:lnTo>
                    <a:lnTo>
                      <a:pt x="386" y="174"/>
                    </a:lnTo>
                    <a:lnTo>
                      <a:pt x="346" y="184"/>
                    </a:lnTo>
                    <a:lnTo>
                      <a:pt x="309" y="199"/>
                    </a:lnTo>
                    <a:lnTo>
                      <a:pt x="275" y="220"/>
                    </a:lnTo>
                    <a:lnTo>
                      <a:pt x="246" y="245"/>
                    </a:lnTo>
                    <a:lnTo>
                      <a:pt x="221" y="275"/>
                    </a:lnTo>
                    <a:lnTo>
                      <a:pt x="200" y="308"/>
                    </a:lnTo>
                    <a:lnTo>
                      <a:pt x="184" y="346"/>
                    </a:lnTo>
                    <a:lnTo>
                      <a:pt x="174" y="385"/>
                    </a:lnTo>
                    <a:lnTo>
                      <a:pt x="171" y="426"/>
                    </a:lnTo>
                    <a:lnTo>
                      <a:pt x="171" y="512"/>
                    </a:lnTo>
                    <a:lnTo>
                      <a:pt x="0" y="512"/>
                    </a:lnTo>
                    <a:lnTo>
                      <a:pt x="0" y="426"/>
                    </a:lnTo>
                    <a:lnTo>
                      <a:pt x="4" y="369"/>
                    </a:lnTo>
                    <a:lnTo>
                      <a:pt x="16" y="313"/>
                    </a:lnTo>
                    <a:lnTo>
                      <a:pt x="33" y="260"/>
                    </a:lnTo>
                    <a:lnTo>
                      <a:pt x="58" y="211"/>
                    </a:lnTo>
                    <a:lnTo>
                      <a:pt x="89" y="166"/>
                    </a:lnTo>
                    <a:lnTo>
                      <a:pt x="125" y="125"/>
                    </a:lnTo>
                    <a:lnTo>
                      <a:pt x="166" y="89"/>
                    </a:lnTo>
                    <a:lnTo>
                      <a:pt x="212" y="57"/>
                    </a:lnTo>
                    <a:lnTo>
                      <a:pt x="261" y="34"/>
                    </a:lnTo>
                    <a:lnTo>
                      <a:pt x="314" y="15"/>
                    </a:lnTo>
                    <a:lnTo>
                      <a:pt x="369" y="4"/>
                    </a:lnTo>
                    <a:lnTo>
                      <a:pt x="42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</p:grpSp>
        <p:grpSp>
          <p:nvGrpSpPr>
            <p:cNvPr id="229" name="Graphic 1289">
              <a:extLst>
                <a:ext uri="{FF2B5EF4-FFF2-40B4-BE49-F238E27FC236}">
                  <a16:creationId xmlns:a16="http://schemas.microsoft.com/office/drawing/2014/main" id="{2155E5C2-85A2-AB2F-9B29-69B180EA72DC}"/>
                </a:ext>
              </a:extLst>
            </p:cNvPr>
            <p:cNvGrpSpPr>
              <a:grpSpLocks/>
            </p:cNvGrpSpPr>
            <p:nvPr/>
          </p:nvGrpSpPr>
          <p:grpSpPr>
            <a:xfrm>
              <a:off x="760155" y="3687421"/>
              <a:ext cx="244488" cy="240425"/>
              <a:chOff x="1444826" y="1352387"/>
              <a:chExt cx="430878" cy="386055"/>
            </a:xfrm>
            <a:noFill/>
          </p:grpSpPr>
          <p:grpSp>
            <p:nvGrpSpPr>
              <p:cNvPr id="230" name="Graphic 1289">
                <a:extLst>
                  <a:ext uri="{FF2B5EF4-FFF2-40B4-BE49-F238E27FC236}">
                    <a16:creationId xmlns:a16="http://schemas.microsoft.com/office/drawing/2014/main" id="{BA662FFE-CBE4-C897-BFC6-4F066C67DE4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444826" y="1352387"/>
                <a:ext cx="213786" cy="386055"/>
                <a:chOff x="1444826" y="1352387"/>
                <a:chExt cx="213786" cy="386055"/>
              </a:xfrm>
              <a:noFill/>
            </p:grpSpPr>
            <p:sp>
              <p:nvSpPr>
                <p:cNvPr id="234" name="Freeform: Shape 233">
                  <a:extLst>
                    <a:ext uri="{FF2B5EF4-FFF2-40B4-BE49-F238E27FC236}">
                      <a16:creationId xmlns:a16="http://schemas.microsoft.com/office/drawing/2014/main" id="{AFE53295-7300-DEB7-507E-FC70A16887F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4826" y="1352387"/>
                  <a:ext cx="213786" cy="386055"/>
                </a:xfrm>
                <a:custGeom>
                  <a:avLst/>
                  <a:gdLst>
                    <a:gd name="connsiteX0" fmla="*/ 213787 w 213786"/>
                    <a:gd name="connsiteY0" fmla="*/ 54118 h 386055"/>
                    <a:gd name="connsiteX1" fmla="*/ 213787 w 213786"/>
                    <a:gd name="connsiteY1" fmla="*/ 331938 h 386055"/>
                    <a:gd name="connsiteX2" fmla="*/ 162974 w 213786"/>
                    <a:gd name="connsiteY2" fmla="*/ 386056 h 386055"/>
                    <a:gd name="connsiteX3" fmla="*/ 112264 w 213786"/>
                    <a:gd name="connsiteY3" fmla="*/ 331938 h 386055"/>
                    <a:gd name="connsiteX4" fmla="*/ 112471 w 213786"/>
                    <a:gd name="connsiteY4" fmla="*/ 327703 h 386055"/>
                    <a:gd name="connsiteX5" fmla="*/ 92641 w 213786"/>
                    <a:gd name="connsiteY5" fmla="*/ 331938 h 386055"/>
                    <a:gd name="connsiteX6" fmla="*/ 41931 w 213786"/>
                    <a:gd name="connsiteY6" fmla="*/ 277820 h 386055"/>
                    <a:gd name="connsiteX7" fmla="*/ 43480 w 213786"/>
                    <a:gd name="connsiteY7" fmla="*/ 264497 h 386055"/>
                    <a:gd name="connsiteX8" fmla="*/ 0 w 213786"/>
                    <a:gd name="connsiteY8" fmla="*/ 190652 h 386055"/>
                    <a:gd name="connsiteX9" fmla="*/ 38730 w 213786"/>
                    <a:gd name="connsiteY9" fmla="*/ 119184 h 386055"/>
                    <a:gd name="connsiteX10" fmla="*/ 106171 w 213786"/>
                    <a:gd name="connsiteY10" fmla="*/ 48541 h 386055"/>
                    <a:gd name="connsiteX11" fmla="*/ 112574 w 213786"/>
                    <a:gd name="connsiteY11" fmla="*/ 48851 h 386055"/>
                    <a:gd name="connsiteX12" fmla="*/ 162974 w 213786"/>
                    <a:gd name="connsiteY12" fmla="*/ 0 h 386055"/>
                    <a:gd name="connsiteX13" fmla="*/ 213787 w 213786"/>
                    <a:gd name="connsiteY13" fmla="*/ 54015 h 38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3786" h="386055">
                      <a:moveTo>
                        <a:pt x="213787" y="54118"/>
                      </a:moveTo>
                      <a:lnTo>
                        <a:pt x="213787" y="331938"/>
                      </a:lnTo>
                      <a:cubicBezTo>
                        <a:pt x="213787" y="361785"/>
                        <a:pt x="191066" y="386056"/>
                        <a:pt x="162974" y="386056"/>
                      </a:cubicBezTo>
                      <a:cubicBezTo>
                        <a:pt x="134882" y="386056"/>
                        <a:pt x="112264" y="361889"/>
                        <a:pt x="112264" y="331938"/>
                      </a:cubicBezTo>
                      <a:cubicBezTo>
                        <a:pt x="112264" y="330492"/>
                        <a:pt x="112264" y="329046"/>
                        <a:pt x="112471" y="327703"/>
                      </a:cubicBezTo>
                      <a:cubicBezTo>
                        <a:pt x="106377" y="330492"/>
                        <a:pt x="99664" y="331938"/>
                        <a:pt x="92641" y="331938"/>
                      </a:cubicBezTo>
                      <a:cubicBezTo>
                        <a:pt x="64652" y="331938"/>
                        <a:pt x="41931" y="307770"/>
                        <a:pt x="41931" y="277820"/>
                      </a:cubicBezTo>
                      <a:cubicBezTo>
                        <a:pt x="41931" y="273275"/>
                        <a:pt x="42448" y="268731"/>
                        <a:pt x="43480" y="264497"/>
                      </a:cubicBezTo>
                      <a:cubicBezTo>
                        <a:pt x="18074" y="253136"/>
                        <a:pt x="0" y="224321"/>
                        <a:pt x="0" y="190652"/>
                      </a:cubicBezTo>
                      <a:cubicBezTo>
                        <a:pt x="0" y="159152"/>
                        <a:pt x="15802" y="131887"/>
                        <a:pt x="38730" y="119184"/>
                      </a:cubicBezTo>
                      <a:cubicBezTo>
                        <a:pt x="42344" y="79421"/>
                        <a:pt x="71159" y="48541"/>
                        <a:pt x="106171" y="48541"/>
                      </a:cubicBezTo>
                      <a:cubicBezTo>
                        <a:pt x="108339" y="48541"/>
                        <a:pt x="110405" y="48644"/>
                        <a:pt x="112574" y="48851"/>
                      </a:cubicBezTo>
                      <a:cubicBezTo>
                        <a:pt x="115053" y="21482"/>
                        <a:pt x="136638" y="0"/>
                        <a:pt x="162974" y="0"/>
                      </a:cubicBezTo>
                      <a:cubicBezTo>
                        <a:pt x="191066" y="0"/>
                        <a:pt x="213787" y="24167"/>
                        <a:pt x="213787" y="5401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35" name="Freeform: Shape 234">
                  <a:extLst>
                    <a:ext uri="{FF2B5EF4-FFF2-40B4-BE49-F238E27FC236}">
                      <a16:creationId xmlns:a16="http://schemas.microsoft.com/office/drawing/2014/main" id="{F4B720DE-AFCE-E4C8-4F47-088CA0B7D59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77539" y="1628038"/>
                  <a:ext cx="35424" cy="35424"/>
                </a:xfrm>
                <a:custGeom>
                  <a:avLst/>
                  <a:gdLst>
                    <a:gd name="connsiteX0" fmla="*/ 0 w 35424"/>
                    <a:gd name="connsiteY0" fmla="*/ 0 h 35424"/>
                    <a:gd name="connsiteX1" fmla="*/ 35425 w 35424"/>
                    <a:gd name="connsiteY1" fmla="*/ 35425 h 3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24" h="35424">
                      <a:moveTo>
                        <a:pt x="0" y="0"/>
                      </a:moveTo>
                      <a:cubicBezTo>
                        <a:pt x="19520" y="0"/>
                        <a:pt x="35425" y="15802"/>
                        <a:pt x="35425" y="3542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36" name="Freeform: Shape 235">
                  <a:extLst>
                    <a:ext uri="{FF2B5EF4-FFF2-40B4-BE49-F238E27FC236}">
                      <a16:creationId xmlns:a16="http://schemas.microsoft.com/office/drawing/2014/main" id="{0C014242-BB09-17F9-984D-8CF543BA66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6318" y="1473430"/>
                  <a:ext cx="38006" cy="76013"/>
                </a:xfrm>
                <a:custGeom>
                  <a:avLst/>
                  <a:gdLst>
                    <a:gd name="connsiteX0" fmla="*/ 38007 w 38006"/>
                    <a:gd name="connsiteY0" fmla="*/ 76013 h 76013"/>
                    <a:gd name="connsiteX1" fmla="*/ 0 w 38006"/>
                    <a:gd name="connsiteY1" fmla="*/ 38007 h 76013"/>
                    <a:gd name="connsiteX2" fmla="*/ 38007 w 38006"/>
                    <a:gd name="connsiteY2" fmla="*/ 0 h 76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6" h="76013">
                      <a:moveTo>
                        <a:pt x="38007" y="76013"/>
                      </a:moveTo>
                      <a:cubicBezTo>
                        <a:pt x="17041" y="76013"/>
                        <a:pt x="0" y="58972"/>
                        <a:pt x="0" y="38007"/>
                      </a:cubicBezTo>
                      <a:cubicBezTo>
                        <a:pt x="0" y="17041"/>
                        <a:pt x="17041" y="0"/>
                        <a:pt x="38007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37" name="Freeform: Shape 236">
                  <a:extLst>
                    <a:ext uri="{FF2B5EF4-FFF2-40B4-BE49-F238E27FC236}">
                      <a16:creationId xmlns:a16="http://schemas.microsoft.com/office/drawing/2014/main" id="{1320E449-50F2-F2BC-7226-496BC882073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36744" y="1511437"/>
                  <a:ext cx="49470" cy="38006"/>
                </a:xfrm>
                <a:custGeom>
                  <a:avLst/>
                  <a:gdLst>
                    <a:gd name="connsiteX0" fmla="*/ 0 w 49470"/>
                    <a:gd name="connsiteY0" fmla="*/ 38007 h 38006"/>
                    <a:gd name="connsiteX1" fmla="*/ 38007 w 49470"/>
                    <a:gd name="connsiteY1" fmla="*/ 0 h 38006"/>
                    <a:gd name="connsiteX2" fmla="*/ 49471 w 49470"/>
                    <a:gd name="connsiteY2" fmla="*/ 1756 h 38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70" h="38006">
                      <a:moveTo>
                        <a:pt x="0" y="38007"/>
                      </a:moveTo>
                      <a:cubicBezTo>
                        <a:pt x="0" y="17041"/>
                        <a:pt x="17041" y="0"/>
                        <a:pt x="38007" y="0"/>
                      </a:cubicBezTo>
                      <a:cubicBezTo>
                        <a:pt x="42034" y="0"/>
                        <a:pt x="45856" y="620"/>
                        <a:pt x="49471" y="175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38" name="Freeform: Shape 237">
                  <a:extLst>
                    <a:ext uri="{FF2B5EF4-FFF2-40B4-BE49-F238E27FC236}">
                      <a16:creationId xmlns:a16="http://schemas.microsoft.com/office/drawing/2014/main" id="{9E6442E1-378A-3444-6A7A-18CAC307237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1593" y="1576812"/>
                  <a:ext cx="42860" cy="36560"/>
                </a:xfrm>
                <a:custGeom>
                  <a:avLst/>
                  <a:gdLst>
                    <a:gd name="connsiteX0" fmla="*/ 42861 w 42860"/>
                    <a:gd name="connsiteY0" fmla="*/ 0 h 36560"/>
                    <a:gd name="connsiteX1" fmla="*/ 0 w 42860"/>
                    <a:gd name="connsiteY1" fmla="*/ 36561 h 3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860" h="36560">
                      <a:moveTo>
                        <a:pt x="42861" y="0"/>
                      </a:moveTo>
                      <a:cubicBezTo>
                        <a:pt x="21172" y="0"/>
                        <a:pt x="3305" y="15802"/>
                        <a:pt x="0" y="36561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39" name="Freeform: Shape 238">
                  <a:extLst>
                    <a:ext uri="{FF2B5EF4-FFF2-40B4-BE49-F238E27FC236}">
                      <a16:creationId xmlns:a16="http://schemas.microsoft.com/office/drawing/2014/main" id="{71130514-AFE1-ECE2-774E-4C168EADC92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7400" y="1401238"/>
                  <a:ext cx="30673" cy="21585"/>
                </a:xfrm>
                <a:custGeom>
                  <a:avLst/>
                  <a:gdLst>
                    <a:gd name="connsiteX0" fmla="*/ 0 w 30673"/>
                    <a:gd name="connsiteY0" fmla="*/ 0 h 21585"/>
                    <a:gd name="connsiteX1" fmla="*/ 30674 w 30673"/>
                    <a:gd name="connsiteY1" fmla="*/ 21585 h 2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673" h="21585">
                      <a:moveTo>
                        <a:pt x="0" y="0"/>
                      </a:moveTo>
                      <a:cubicBezTo>
                        <a:pt x="0" y="0"/>
                        <a:pt x="28195" y="8262"/>
                        <a:pt x="30674" y="2158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40" name="Freeform: Shape 239">
                  <a:extLst>
                    <a:ext uri="{FF2B5EF4-FFF2-40B4-BE49-F238E27FC236}">
                      <a16:creationId xmlns:a16="http://schemas.microsoft.com/office/drawing/2014/main" id="{BC9F6049-7E30-56AF-6E54-5C214843CEE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3659" y="1468679"/>
                  <a:ext cx="46062" cy="2891"/>
                </a:xfrm>
                <a:custGeom>
                  <a:avLst/>
                  <a:gdLst>
                    <a:gd name="connsiteX0" fmla="*/ 0 w 46062"/>
                    <a:gd name="connsiteY0" fmla="*/ 2892 h 2891"/>
                    <a:gd name="connsiteX1" fmla="*/ 46062 w 46062"/>
                    <a:gd name="connsiteY1" fmla="*/ 2892 h 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62" h="2891">
                      <a:moveTo>
                        <a:pt x="0" y="2892"/>
                      </a:moveTo>
                      <a:cubicBezTo>
                        <a:pt x="0" y="2892"/>
                        <a:pt x="30570" y="-3615"/>
                        <a:pt x="46062" y="2892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231" name="Graphic 1289">
                <a:extLst>
                  <a:ext uri="{FF2B5EF4-FFF2-40B4-BE49-F238E27FC236}">
                    <a16:creationId xmlns:a16="http://schemas.microsoft.com/office/drawing/2014/main" id="{200872BC-86A2-CB08-3C0A-F5CB8E90041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82780" y="1352697"/>
                <a:ext cx="192924" cy="385745"/>
                <a:chOff x="1682780" y="1352697"/>
                <a:chExt cx="192924" cy="385745"/>
              </a:xfrm>
              <a:noFill/>
            </p:grpSpPr>
            <p:sp>
              <p:nvSpPr>
                <p:cNvPr id="232" name="Freeform: Shape 231">
                  <a:extLst>
                    <a:ext uri="{FF2B5EF4-FFF2-40B4-BE49-F238E27FC236}">
                      <a16:creationId xmlns:a16="http://schemas.microsoft.com/office/drawing/2014/main" id="{1D672525-8C21-139B-40FE-F86B5EF028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455046"/>
                  <a:ext cx="90368" cy="180737"/>
                </a:xfrm>
                <a:custGeom>
                  <a:avLst/>
                  <a:gdLst>
                    <a:gd name="connsiteX0" fmla="*/ 0 w 90368"/>
                    <a:gd name="connsiteY0" fmla="*/ 180738 h 180737"/>
                    <a:gd name="connsiteX1" fmla="*/ 90369 w 90368"/>
                    <a:gd name="connsiteY1" fmla="*/ 90369 h 180737"/>
                    <a:gd name="connsiteX2" fmla="*/ 0 w 90368"/>
                    <a:gd name="connsiteY2" fmla="*/ 0 h 180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368" h="180737">
                      <a:moveTo>
                        <a:pt x="0" y="180738"/>
                      </a:moveTo>
                      <a:cubicBezTo>
                        <a:pt x="49884" y="180738"/>
                        <a:pt x="90369" y="140252"/>
                        <a:pt x="90369" y="90369"/>
                      </a:cubicBezTo>
                      <a:cubicBezTo>
                        <a:pt x="90369" y="40485"/>
                        <a:pt x="49884" y="0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33" name="Freeform: Shape 232">
                  <a:extLst>
                    <a:ext uri="{FF2B5EF4-FFF2-40B4-BE49-F238E27FC236}">
                      <a16:creationId xmlns:a16="http://schemas.microsoft.com/office/drawing/2014/main" id="{4292A218-CAA6-1EA9-3F62-77E6BD7A6C2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352697"/>
                  <a:ext cx="192924" cy="385745"/>
                </a:xfrm>
                <a:custGeom>
                  <a:avLst/>
                  <a:gdLst>
                    <a:gd name="connsiteX0" fmla="*/ 0 w 192924"/>
                    <a:gd name="connsiteY0" fmla="*/ 385746 h 385745"/>
                    <a:gd name="connsiteX1" fmla="*/ 18590 w 192924"/>
                    <a:gd name="connsiteY1" fmla="*/ 385746 h 385745"/>
                    <a:gd name="connsiteX2" fmla="*/ 30674 w 192924"/>
                    <a:gd name="connsiteY2" fmla="*/ 373662 h 385745"/>
                    <a:gd name="connsiteX3" fmla="*/ 30674 w 192924"/>
                    <a:gd name="connsiteY3" fmla="*/ 341852 h 385745"/>
                    <a:gd name="connsiteX4" fmla="*/ 83656 w 192924"/>
                    <a:gd name="connsiteY4" fmla="*/ 319854 h 385745"/>
                    <a:gd name="connsiteX5" fmla="*/ 106171 w 192924"/>
                    <a:gd name="connsiteY5" fmla="*/ 342369 h 385745"/>
                    <a:gd name="connsiteX6" fmla="*/ 123315 w 192924"/>
                    <a:gd name="connsiteY6" fmla="*/ 342369 h 385745"/>
                    <a:gd name="connsiteX7" fmla="*/ 149548 w 192924"/>
                    <a:gd name="connsiteY7" fmla="*/ 316136 h 385745"/>
                    <a:gd name="connsiteX8" fmla="*/ 149548 w 192924"/>
                    <a:gd name="connsiteY8" fmla="*/ 298992 h 385745"/>
                    <a:gd name="connsiteX9" fmla="*/ 127033 w 192924"/>
                    <a:gd name="connsiteY9" fmla="*/ 276477 h 385745"/>
                    <a:gd name="connsiteX10" fmla="*/ 149031 w 192924"/>
                    <a:gd name="connsiteY10" fmla="*/ 223495 h 385745"/>
                    <a:gd name="connsiteX11" fmla="*/ 180841 w 192924"/>
                    <a:gd name="connsiteY11" fmla="*/ 223495 h 385745"/>
                    <a:gd name="connsiteX12" fmla="*/ 192925 w 192924"/>
                    <a:gd name="connsiteY12" fmla="*/ 211411 h 385745"/>
                    <a:gd name="connsiteX13" fmla="*/ 192925 w 192924"/>
                    <a:gd name="connsiteY13" fmla="*/ 174334 h 385745"/>
                    <a:gd name="connsiteX14" fmla="*/ 180841 w 192924"/>
                    <a:gd name="connsiteY14" fmla="*/ 162251 h 385745"/>
                    <a:gd name="connsiteX15" fmla="*/ 149031 w 192924"/>
                    <a:gd name="connsiteY15" fmla="*/ 162251 h 385745"/>
                    <a:gd name="connsiteX16" fmla="*/ 127033 w 192924"/>
                    <a:gd name="connsiteY16" fmla="*/ 109269 h 385745"/>
                    <a:gd name="connsiteX17" fmla="*/ 149548 w 192924"/>
                    <a:gd name="connsiteY17" fmla="*/ 86754 h 385745"/>
                    <a:gd name="connsiteX18" fmla="*/ 149548 w 192924"/>
                    <a:gd name="connsiteY18" fmla="*/ 69610 h 385745"/>
                    <a:gd name="connsiteX19" fmla="*/ 123315 w 192924"/>
                    <a:gd name="connsiteY19" fmla="*/ 43377 h 385745"/>
                    <a:gd name="connsiteX20" fmla="*/ 106171 w 192924"/>
                    <a:gd name="connsiteY20" fmla="*/ 43377 h 385745"/>
                    <a:gd name="connsiteX21" fmla="*/ 83656 w 192924"/>
                    <a:gd name="connsiteY21" fmla="*/ 65892 h 385745"/>
                    <a:gd name="connsiteX22" fmla="*/ 30570 w 192924"/>
                    <a:gd name="connsiteY22" fmla="*/ 43893 h 385745"/>
                    <a:gd name="connsiteX23" fmla="*/ 30570 w 192924"/>
                    <a:gd name="connsiteY23" fmla="*/ 12084 h 385745"/>
                    <a:gd name="connsiteX24" fmla="*/ 18487 w 192924"/>
                    <a:gd name="connsiteY24" fmla="*/ 0 h 385745"/>
                    <a:gd name="connsiteX25" fmla="*/ 0 w 192924"/>
                    <a:gd name="connsiteY25" fmla="*/ 0 h 38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92924" h="385745">
                      <a:moveTo>
                        <a:pt x="0" y="385746"/>
                      </a:moveTo>
                      <a:lnTo>
                        <a:pt x="18590" y="385746"/>
                      </a:lnTo>
                      <a:cubicBezTo>
                        <a:pt x="25303" y="385746"/>
                        <a:pt x="30674" y="380375"/>
                        <a:pt x="30674" y="373662"/>
                      </a:cubicBezTo>
                      <a:lnTo>
                        <a:pt x="30674" y="341852"/>
                      </a:lnTo>
                      <a:cubicBezTo>
                        <a:pt x="49884" y="337928"/>
                        <a:pt x="67854" y="330285"/>
                        <a:pt x="83656" y="319854"/>
                      </a:cubicBezTo>
                      <a:lnTo>
                        <a:pt x="106171" y="342369"/>
                      </a:lnTo>
                      <a:cubicBezTo>
                        <a:pt x="110921" y="347120"/>
                        <a:pt x="118564" y="347120"/>
                        <a:pt x="123315" y="342369"/>
                      </a:cubicBezTo>
                      <a:lnTo>
                        <a:pt x="149548" y="316136"/>
                      </a:lnTo>
                      <a:cubicBezTo>
                        <a:pt x="154298" y="311385"/>
                        <a:pt x="154298" y="303743"/>
                        <a:pt x="149548" y="298992"/>
                      </a:cubicBezTo>
                      <a:lnTo>
                        <a:pt x="127033" y="276477"/>
                      </a:lnTo>
                      <a:cubicBezTo>
                        <a:pt x="137464" y="260675"/>
                        <a:pt x="145107" y="242705"/>
                        <a:pt x="149031" y="223495"/>
                      </a:cubicBezTo>
                      <a:lnTo>
                        <a:pt x="180841" y="223495"/>
                      </a:lnTo>
                      <a:cubicBezTo>
                        <a:pt x="187554" y="223495"/>
                        <a:pt x="192925" y="218125"/>
                        <a:pt x="192925" y="211411"/>
                      </a:cubicBezTo>
                      <a:lnTo>
                        <a:pt x="192925" y="174334"/>
                      </a:lnTo>
                      <a:cubicBezTo>
                        <a:pt x="192925" y="167621"/>
                        <a:pt x="187554" y="162251"/>
                        <a:pt x="180841" y="162251"/>
                      </a:cubicBezTo>
                      <a:lnTo>
                        <a:pt x="149031" y="162251"/>
                      </a:lnTo>
                      <a:cubicBezTo>
                        <a:pt x="145107" y="143041"/>
                        <a:pt x="137464" y="125070"/>
                        <a:pt x="127033" y="109269"/>
                      </a:cubicBezTo>
                      <a:lnTo>
                        <a:pt x="149548" y="86754"/>
                      </a:lnTo>
                      <a:cubicBezTo>
                        <a:pt x="154298" y="82003"/>
                        <a:pt x="154298" y="74361"/>
                        <a:pt x="149548" y="69610"/>
                      </a:cubicBezTo>
                      <a:lnTo>
                        <a:pt x="123315" y="43377"/>
                      </a:lnTo>
                      <a:cubicBezTo>
                        <a:pt x="118564" y="38626"/>
                        <a:pt x="110921" y="38626"/>
                        <a:pt x="106171" y="43377"/>
                      </a:cubicBezTo>
                      <a:lnTo>
                        <a:pt x="83656" y="65892"/>
                      </a:lnTo>
                      <a:cubicBezTo>
                        <a:pt x="67751" y="55461"/>
                        <a:pt x="49884" y="47818"/>
                        <a:pt x="30570" y="43893"/>
                      </a:cubicBezTo>
                      <a:lnTo>
                        <a:pt x="30570" y="12084"/>
                      </a:lnTo>
                      <a:cubicBezTo>
                        <a:pt x="30570" y="5370"/>
                        <a:pt x="25200" y="0"/>
                        <a:pt x="1848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253" name="Graphic 1289">
              <a:extLst>
                <a:ext uri="{FF2B5EF4-FFF2-40B4-BE49-F238E27FC236}">
                  <a16:creationId xmlns:a16="http://schemas.microsoft.com/office/drawing/2014/main" id="{E59FD383-AB25-0407-1A67-8866B825C15D}"/>
                </a:ext>
              </a:extLst>
            </p:cNvPr>
            <p:cNvGrpSpPr>
              <a:grpSpLocks/>
            </p:cNvGrpSpPr>
            <p:nvPr/>
          </p:nvGrpSpPr>
          <p:grpSpPr>
            <a:xfrm>
              <a:off x="4411972" y="4483614"/>
              <a:ext cx="244488" cy="240425"/>
              <a:chOff x="1444826" y="1352387"/>
              <a:chExt cx="430878" cy="386055"/>
            </a:xfrm>
            <a:noFill/>
          </p:grpSpPr>
          <p:grpSp>
            <p:nvGrpSpPr>
              <p:cNvPr id="254" name="Graphic 1289">
                <a:extLst>
                  <a:ext uri="{FF2B5EF4-FFF2-40B4-BE49-F238E27FC236}">
                    <a16:creationId xmlns:a16="http://schemas.microsoft.com/office/drawing/2014/main" id="{FF5FAA35-9A18-DAEE-0F96-7A2CFA1CD8C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444826" y="1352387"/>
                <a:ext cx="213786" cy="386055"/>
                <a:chOff x="1444826" y="1352387"/>
                <a:chExt cx="213786" cy="386055"/>
              </a:xfrm>
              <a:noFill/>
            </p:grpSpPr>
            <p:sp>
              <p:nvSpPr>
                <p:cNvPr id="258" name="Freeform: Shape 257">
                  <a:extLst>
                    <a:ext uri="{FF2B5EF4-FFF2-40B4-BE49-F238E27FC236}">
                      <a16:creationId xmlns:a16="http://schemas.microsoft.com/office/drawing/2014/main" id="{72FEE487-63D2-AA7E-A7C7-53F3EFB5373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4826" y="1352387"/>
                  <a:ext cx="213786" cy="386055"/>
                </a:xfrm>
                <a:custGeom>
                  <a:avLst/>
                  <a:gdLst>
                    <a:gd name="connsiteX0" fmla="*/ 213787 w 213786"/>
                    <a:gd name="connsiteY0" fmla="*/ 54118 h 386055"/>
                    <a:gd name="connsiteX1" fmla="*/ 213787 w 213786"/>
                    <a:gd name="connsiteY1" fmla="*/ 331938 h 386055"/>
                    <a:gd name="connsiteX2" fmla="*/ 162974 w 213786"/>
                    <a:gd name="connsiteY2" fmla="*/ 386056 h 386055"/>
                    <a:gd name="connsiteX3" fmla="*/ 112264 w 213786"/>
                    <a:gd name="connsiteY3" fmla="*/ 331938 h 386055"/>
                    <a:gd name="connsiteX4" fmla="*/ 112471 w 213786"/>
                    <a:gd name="connsiteY4" fmla="*/ 327703 h 386055"/>
                    <a:gd name="connsiteX5" fmla="*/ 92641 w 213786"/>
                    <a:gd name="connsiteY5" fmla="*/ 331938 h 386055"/>
                    <a:gd name="connsiteX6" fmla="*/ 41931 w 213786"/>
                    <a:gd name="connsiteY6" fmla="*/ 277820 h 386055"/>
                    <a:gd name="connsiteX7" fmla="*/ 43480 w 213786"/>
                    <a:gd name="connsiteY7" fmla="*/ 264497 h 386055"/>
                    <a:gd name="connsiteX8" fmla="*/ 0 w 213786"/>
                    <a:gd name="connsiteY8" fmla="*/ 190652 h 386055"/>
                    <a:gd name="connsiteX9" fmla="*/ 38730 w 213786"/>
                    <a:gd name="connsiteY9" fmla="*/ 119184 h 386055"/>
                    <a:gd name="connsiteX10" fmla="*/ 106171 w 213786"/>
                    <a:gd name="connsiteY10" fmla="*/ 48541 h 386055"/>
                    <a:gd name="connsiteX11" fmla="*/ 112574 w 213786"/>
                    <a:gd name="connsiteY11" fmla="*/ 48851 h 386055"/>
                    <a:gd name="connsiteX12" fmla="*/ 162974 w 213786"/>
                    <a:gd name="connsiteY12" fmla="*/ 0 h 386055"/>
                    <a:gd name="connsiteX13" fmla="*/ 213787 w 213786"/>
                    <a:gd name="connsiteY13" fmla="*/ 54015 h 38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3786" h="386055">
                      <a:moveTo>
                        <a:pt x="213787" y="54118"/>
                      </a:moveTo>
                      <a:lnTo>
                        <a:pt x="213787" y="331938"/>
                      </a:lnTo>
                      <a:cubicBezTo>
                        <a:pt x="213787" y="361785"/>
                        <a:pt x="191066" y="386056"/>
                        <a:pt x="162974" y="386056"/>
                      </a:cubicBezTo>
                      <a:cubicBezTo>
                        <a:pt x="134882" y="386056"/>
                        <a:pt x="112264" y="361889"/>
                        <a:pt x="112264" y="331938"/>
                      </a:cubicBezTo>
                      <a:cubicBezTo>
                        <a:pt x="112264" y="330492"/>
                        <a:pt x="112264" y="329046"/>
                        <a:pt x="112471" y="327703"/>
                      </a:cubicBezTo>
                      <a:cubicBezTo>
                        <a:pt x="106377" y="330492"/>
                        <a:pt x="99664" y="331938"/>
                        <a:pt x="92641" y="331938"/>
                      </a:cubicBezTo>
                      <a:cubicBezTo>
                        <a:pt x="64652" y="331938"/>
                        <a:pt x="41931" y="307770"/>
                        <a:pt x="41931" y="277820"/>
                      </a:cubicBezTo>
                      <a:cubicBezTo>
                        <a:pt x="41931" y="273275"/>
                        <a:pt x="42448" y="268731"/>
                        <a:pt x="43480" y="264497"/>
                      </a:cubicBezTo>
                      <a:cubicBezTo>
                        <a:pt x="18074" y="253136"/>
                        <a:pt x="0" y="224321"/>
                        <a:pt x="0" y="190652"/>
                      </a:cubicBezTo>
                      <a:cubicBezTo>
                        <a:pt x="0" y="159152"/>
                        <a:pt x="15802" y="131887"/>
                        <a:pt x="38730" y="119184"/>
                      </a:cubicBezTo>
                      <a:cubicBezTo>
                        <a:pt x="42344" y="79421"/>
                        <a:pt x="71159" y="48541"/>
                        <a:pt x="106171" y="48541"/>
                      </a:cubicBezTo>
                      <a:cubicBezTo>
                        <a:pt x="108339" y="48541"/>
                        <a:pt x="110405" y="48644"/>
                        <a:pt x="112574" y="48851"/>
                      </a:cubicBezTo>
                      <a:cubicBezTo>
                        <a:pt x="115053" y="21482"/>
                        <a:pt x="136638" y="0"/>
                        <a:pt x="162974" y="0"/>
                      </a:cubicBezTo>
                      <a:cubicBezTo>
                        <a:pt x="191066" y="0"/>
                        <a:pt x="213787" y="24167"/>
                        <a:pt x="213787" y="5401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59" name="Freeform: Shape 258">
                  <a:extLst>
                    <a:ext uri="{FF2B5EF4-FFF2-40B4-BE49-F238E27FC236}">
                      <a16:creationId xmlns:a16="http://schemas.microsoft.com/office/drawing/2014/main" id="{FC7F12CD-D2A5-61F8-B20E-56C0949D0D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77539" y="1628038"/>
                  <a:ext cx="35424" cy="35424"/>
                </a:xfrm>
                <a:custGeom>
                  <a:avLst/>
                  <a:gdLst>
                    <a:gd name="connsiteX0" fmla="*/ 0 w 35424"/>
                    <a:gd name="connsiteY0" fmla="*/ 0 h 35424"/>
                    <a:gd name="connsiteX1" fmla="*/ 35425 w 35424"/>
                    <a:gd name="connsiteY1" fmla="*/ 35425 h 3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24" h="35424">
                      <a:moveTo>
                        <a:pt x="0" y="0"/>
                      </a:moveTo>
                      <a:cubicBezTo>
                        <a:pt x="19520" y="0"/>
                        <a:pt x="35425" y="15802"/>
                        <a:pt x="35425" y="3542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60" name="Freeform: Shape 259">
                  <a:extLst>
                    <a:ext uri="{FF2B5EF4-FFF2-40B4-BE49-F238E27FC236}">
                      <a16:creationId xmlns:a16="http://schemas.microsoft.com/office/drawing/2014/main" id="{70F2C767-066A-57AD-153C-70E7917331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6318" y="1473430"/>
                  <a:ext cx="38006" cy="76013"/>
                </a:xfrm>
                <a:custGeom>
                  <a:avLst/>
                  <a:gdLst>
                    <a:gd name="connsiteX0" fmla="*/ 38007 w 38006"/>
                    <a:gd name="connsiteY0" fmla="*/ 76013 h 76013"/>
                    <a:gd name="connsiteX1" fmla="*/ 0 w 38006"/>
                    <a:gd name="connsiteY1" fmla="*/ 38007 h 76013"/>
                    <a:gd name="connsiteX2" fmla="*/ 38007 w 38006"/>
                    <a:gd name="connsiteY2" fmla="*/ 0 h 76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6" h="76013">
                      <a:moveTo>
                        <a:pt x="38007" y="76013"/>
                      </a:moveTo>
                      <a:cubicBezTo>
                        <a:pt x="17041" y="76013"/>
                        <a:pt x="0" y="58972"/>
                        <a:pt x="0" y="38007"/>
                      </a:cubicBezTo>
                      <a:cubicBezTo>
                        <a:pt x="0" y="17041"/>
                        <a:pt x="17041" y="0"/>
                        <a:pt x="38007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61" name="Freeform: Shape 260">
                  <a:extLst>
                    <a:ext uri="{FF2B5EF4-FFF2-40B4-BE49-F238E27FC236}">
                      <a16:creationId xmlns:a16="http://schemas.microsoft.com/office/drawing/2014/main" id="{BC53776E-C420-DA37-5F49-6878DF570D0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36744" y="1511437"/>
                  <a:ext cx="49470" cy="38006"/>
                </a:xfrm>
                <a:custGeom>
                  <a:avLst/>
                  <a:gdLst>
                    <a:gd name="connsiteX0" fmla="*/ 0 w 49470"/>
                    <a:gd name="connsiteY0" fmla="*/ 38007 h 38006"/>
                    <a:gd name="connsiteX1" fmla="*/ 38007 w 49470"/>
                    <a:gd name="connsiteY1" fmla="*/ 0 h 38006"/>
                    <a:gd name="connsiteX2" fmla="*/ 49471 w 49470"/>
                    <a:gd name="connsiteY2" fmla="*/ 1756 h 38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70" h="38006">
                      <a:moveTo>
                        <a:pt x="0" y="38007"/>
                      </a:moveTo>
                      <a:cubicBezTo>
                        <a:pt x="0" y="17041"/>
                        <a:pt x="17041" y="0"/>
                        <a:pt x="38007" y="0"/>
                      </a:cubicBezTo>
                      <a:cubicBezTo>
                        <a:pt x="42034" y="0"/>
                        <a:pt x="45856" y="620"/>
                        <a:pt x="49471" y="175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62" name="Freeform: Shape 261">
                  <a:extLst>
                    <a:ext uri="{FF2B5EF4-FFF2-40B4-BE49-F238E27FC236}">
                      <a16:creationId xmlns:a16="http://schemas.microsoft.com/office/drawing/2014/main" id="{D4A6838B-8BE9-903F-8090-4E2272387FA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1593" y="1576812"/>
                  <a:ext cx="42860" cy="36560"/>
                </a:xfrm>
                <a:custGeom>
                  <a:avLst/>
                  <a:gdLst>
                    <a:gd name="connsiteX0" fmla="*/ 42861 w 42860"/>
                    <a:gd name="connsiteY0" fmla="*/ 0 h 36560"/>
                    <a:gd name="connsiteX1" fmla="*/ 0 w 42860"/>
                    <a:gd name="connsiteY1" fmla="*/ 36561 h 3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860" h="36560">
                      <a:moveTo>
                        <a:pt x="42861" y="0"/>
                      </a:moveTo>
                      <a:cubicBezTo>
                        <a:pt x="21172" y="0"/>
                        <a:pt x="3305" y="15802"/>
                        <a:pt x="0" y="36561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63" name="Freeform: Shape 262">
                  <a:extLst>
                    <a:ext uri="{FF2B5EF4-FFF2-40B4-BE49-F238E27FC236}">
                      <a16:creationId xmlns:a16="http://schemas.microsoft.com/office/drawing/2014/main" id="{C1BF5D5F-3958-9619-A10D-2E3A160BC0A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7400" y="1401238"/>
                  <a:ext cx="30673" cy="21585"/>
                </a:xfrm>
                <a:custGeom>
                  <a:avLst/>
                  <a:gdLst>
                    <a:gd name="connsiteX0" fmla="*/ 0 w 30673"/>
                    <a:gd name="connsiteY0" fmla="*/ 0 h 21585"/>
                    <a:gd name="connsiteX1" fmla="*/ 30674 w 30673"/>
                    <a:gd name="connsiteY1" fmla="*/ 21585 h 2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673" h="21585">
                      <a:moveTo>
                        <a:pt x="0" y="0"/>
                      </a:moveTo>
                      <a:cubicBezTo>
                        <a:pt x="0" y="0"/>
                        <a:pt x="28195" y="8262"/>
                        <a:pt x="30674" y="2158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64" name="Freeform: Shape 263">
                  <a:extLst>
                    <a:ext uri="{FF2B5EF4-FFF2-40B4-BE49-F238E27FC236}">
                      <a16:creationId xmlns:a16="http://schemas.microsoft.com/office/drawing/2014/main" id="{DF42CA98-4D6D-A5AF-C30C-F258186B667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3659" y="1468679"/>
                  <a:ext cx="46062" cy="2891"/>
                </a:xfrm>
                <a:custGeom>
                  <a:avLst/>
                  <a:gdLst>
                    <a:gd name="connsiteX0" fmla="*/ 0 w 46062"/>
                    <a:gd name="connsiteY0" fmla="*/ 2892 h 2891"/>
                    <a:gd name="connsiteX1" fmla="*/ 46062 w 46062"/>
                    <a:gd name="connsiteY1" fmla="*/ 2892 h 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62" h="2891">
                      <a:moveTo>
                        <a:pt x="0" y="2892"/>
                      </a:moveTo>
                      <a:cubicBezTo>
                        <a:pt x="0" y="2892"/>
                        <a:pt x="30570" y="-3615"/>
                        <a:pt x="46062" y="2892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255" name="Graphic 1289">
                <a:extLst>
                  <a:ext uri="{FF2B5EF4-FFF2-40B4-BE49-F238E27FC236}">
                    <a16:creationId xmlns:a16="http://schemas.microsoft.com/office/drawing/2014/main" id="{7B495BB6-C453-086F-5A55-653A7081FCC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82780" y="1352697"/>
                <a:ext cx="192924" cy="385745"/>
                <a:chOff x="1682780" y="1352697"/>
                <a:chExt cx="192924" cy="385745"/>
              </a:xfrm>
              <a:noFill/>
            </p:grpSpPr>
            <p:sp>
              <p:nvSpPr>
                <p:cNvPr id="256" name="Freeform: Shape 255">
                  <a:extLst>
                    <a:ext uri="{FF2B5EF4-FFF2-40B4-BE49-F238E27FC236}">
                      <a16:creationId xmlns:a16="http://schemas.microsoft.com/office/drawing/2014/main" id="{6DCD7062-89FE-E8B6-9FB4-41EB171BE0A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455046"/>
                  <a:ext cx="90368" cy="180737"/>
                </a:xfrm>
                <a:custGeom>
                  <a:avLst/>
                  <a:gdLst>
                    <a:gd name="connsiteX0" fmla="*/ 0 w 90368"/>
                    <a:gd name="connsiteY0" fmla="*/ 180738 h 180737"/>
                    <a:gd name="connsiteX1" fmla="*/ 90369 w 90368"/>
                    <a:gd name="connsiteY1" fmla="*/ 90369 h 180737"/>
                    <a:gd name="connsiteX2" fmla="*/ 0 w 90368"/>
                    <a:gd name="connsiteY2" fmla="*/ 0 h 180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368" h="180737">
                      <a:moveTo>
                        <a:pt x="0" y="180738"/>
                      </a:moveTo>
                      <a:cubicBezTo>
                        <a:pt x="49884" y="180738"/>
                        <a:pt x="90369" y="140252"/>
                        <a:pt x="90369" y="90369"/>
                      </a:cubicBezTo>
                      <a:cubicBezTo>
                        <a:pt x="90369" y="40485"/>
                        <a:pt x="49884" y="0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57" name="Freeform: Shape 256">
                  <a:extLst>
                    <a:ext uri="{FF2B5EF4-FFF2-40B4-BE49-F238E27FC236}">
                      <a16:creationId xmlns:a16="http://schemas.microsoft.com/office/drawing/2014/main" id="{188682CF-2AEC-D409-C75A-D2017CB81A8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352697"/>
                  <a:ext cx="192924" cy="385745"/>
                </a:xfrm>
                <a:custGeom>
                  <a:avLst/>
                  <a:gdLst>
                    <a:gd name="connsiteX0" fmla="*/ 0 w 192924"/>
                    <a:gd name="connsiteY0" fmla="*/ 385746 h 385745"/>
                    <a:gd name="connsiteX1" fmla="*/ 18590 w 192924"/>
                    <a:gd name="connsiteY1" fmla="*/ 385746 h 385745"/>
                    <a:gd name="connsiteX2" fmla="*/ 30674 w 192924"/>
                    <a:gd name="connsiteY2" fmla="*/ 373662 h 385745"/>
                    <a:gd name="connsiteX3" fmla="*/ 30674 w 192924"/>
                    <a:gd name="connsiteY3" fmla="*/ 341852 h 385745"/>
                    <a:gd name="connsiteX4" fmla="*/ 83656 w 192924"/>
                    <a:gd name="connsiteY4" fmla="*/ 319854 h 385745"/>
                    <a:gd name="connsiteX5" fmla="*/ 106171 w 192924"/>
                    <a:gd name="connsiteY5" fmla="*/ 342369 h 385745"/>
                    <a:gd name="connsiteX6" fmla="*/ 123315 w 192924"/>
                    <a:gd name="connsiteY6" fmla="*/ 342369 h 385745"/>
                    <a:gd name="connsiteX7" fmla="*/ 149548 w 192924"/>
                    <a:gd name="connsiteY7" fmla="*/ 316136 h 385745"/>
                    <a:gd name="connsiteX8" fmla="*/ 149548 w 192924"/>
                    <a:gd name="connsiteY8" fmla="*/ 298992 h 385745"/>
                    <a:gd name="connsiteX9" fmla="*/ 127033 w 192924"/>
                    <a:gd name="connsiteY9" fmla="*/ 276477 h 385745"/>
                    <a:gd name="connsiteX10" fmla="*/ 149031 w 192924"/>
                    <a:gd name="connsiteY10" fmla="*/ 223495 h 385745"/>
                    <a:gd name="connsiteX11" fmla="*/ 180841 w 192924"/>
                    <a:gd name="connsiteY11" fmla="*/ 223495 h 385745"/>
                    <a:gd name="connsiteX12" fmla="*/ 192925 w 192924"/>
                    <a:gd name="connsiteY12" fmla="*/ 211411 h 385745"/>
                    <a:gd name="connsiteX13" fmla="*/ 192925 w 192924"/>
                    <a:gd name="connsiteY13" fmla="*/ 174334 h 385745"/>
                    <a:gd name="connsiteX14" fmla="*/ 180841 w 192924"/>
                    <a:gd name="connsiteY14" fmla="*/ 162251 h 385745"/>
                    <a:gd name="connsiteX15" fmla="*/ 149031 w 192924"/>
                    <a:gd name="connsiteY15" fmla="*/ 162251 h 385745"/>
                    <a:gd name="connsiteX16" fmla="*/ 127033 w 192924"/>
                    <a:gd name="connsiteY16" fmla="*/ 109269 h 385745"/>
                    <a:gd name="connsiteX17" fmla="*/ 149548 w 192924"/>
                    <a:gd name="connsiteY17" fmla="*/ 86754 h 385745"/>
                    <a:gd name="connsiteX18" fmla="*/ 149548 w 192924"/>
                    <a:gd name="connsiteY18" fmla="*/ 69610 h 385745"/>
                    <a:gd name="connsiteX19" fmla="*/ 123315 w 192924"/>
                    <a:gd name="connsiteY19" fmla="*/ 43377 h 385745"/>
                    <a:gd name="connsiteX20" fmla="*/ 106171 w 192924"/>
                    <a:gd name="connsiteY20" fmla="*/ 43377 h 385745"/>
                    <a:gd name="connsiteX21" fmla="*/ 83656 w 192924"/>
                    <a:gd name="connsiteY21" fmla="*/ 65892 h 385745"/>
                    <a:gd name="connsiteX22" fmla="*/ 30570 w 192924"/>
                    <a:gd name="connsiteY22" fmla="*/ 43893 h 385745"/>
                    <a:gd name="connsiteX23" fmla="*/ 30570 w 192924"/>
                    <a:gd name="connsiteY23" fmla="*/ 12084 h 385745"/>
                    <a:gd name="connsiteX24" fmla="*/ 18487 w 192924"/>
                    <a:gd name="connsiteY24" fmla="*/ 0 h 385745"/>
                    <a:gd name="connsiteX25" fmla="*/ 0 w 192924"/>
                    <a:gd name="connsiteY25" fmla="*/ 0 h 38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92924" h="385745">
                      <a:moveTo>
                        <a:pt x="0" y="385746"/>
                      </a:moveTo>
                      <a:lnTo>
                        <a:pt x="18590" y="385746"/>
                      </a:lnTo>
                      <a:cubicBezTo>
                        <a:pt x="25303" y="385746"/>
                        <a:pt x="30674" y="380375"/>
                        <a:pt x="30674" y="373662"/>
                      </a:cubicBezTo>
                      <a:lnTo>
                        <a:pt x="30674" y="341852"/>
                      </a:lnTo>
                      <a:cubicBezTo>
                        <a:pt x="49884" y="337928"/>
                        <a:pt x="67854" y="330285"/>
                        <a:pt x="83656" y="319854"/>
                      </a:cubicBezTo>
                      <a:lnTo>
                        <a:pt x="106171" y="342369"/>
                      </a:lnTo>
                      <a:cubicBezTo>
                        <a:pt x="110921" y="347120"/>
                        <a:pt x="118564" y="347120"/>
                        <a:pt x="123315" y="342369"/>
                      </a:cubicBezTo>
                      <a:lnTo>
                        <a:pt x="149548" y="316136"/>
                      </a:lnTo>
                      <a:cubicBezTo>
                        <a:pt x="154298" y="311385"/>
                        <a:pt x="154298" y="303743"/>
                        <a:pt x="149548" y="298992"/>
                      </a:cubicBezTo>
                      <a:lnTo>
                        <a:pt x="127033" y="276477"/>
                      </a:lnTo>
                      <a:cubicBezTo>
                        <a:pt x="137464" y="260675"/>
                        <a:pt x="145107" y="242705"/>
                        <a:pt x="149031" y="223495"/>
                      </a:cubicBezTo>
                      <a:lnTo>
                        <a:pt x="180841" y="223495"/>
                      </a:lnTo>
                      <a:cubicBezTo>
                        <a:pt x="187554" y="223495"/>
                        <a:pt x="192925" y="218125"/>
                        <a:pt x="192925" y="211411"/>
                      </a:cubicBezTo>
                      <a:lnTo>
                        <a:pt x="192925" y="174334"/>
                      </a:lnTo>
                      <a:cubicBezTo>
                        <a:pt x="192925" y="167621"/>
                        <a:pt x="187554" y="162251"/>
                        <a:pt x="180841" y="162251"/>
                      </a:cubicBezTo>
                      <a:lnTo>
                        <a:pt x="149031" y="162251"/>
                      </a:lnTo>
                      <a:cubicBezTo>
                        <a:pt x="145107" y="143041"/>
                        <a:pt x="137464" y="125070"/>
                        <a:pt x="127033" y="109269"/>
                      </a:cubicBezTo>
                      <a:lnTo>
                        <a:pt x="149548" y="86754"/>
                      </a:lnTo>
                      <a:cubicBezTo>
                        <a:pt x="154298" y="82003"/>
                        <a:pt x="154298" y="74361"/>
                        <a:pt x="149548" y="69610"/>
                      </a:cubicBezTo>
                      <a:lnTo>
                        <a:pt x="123315" y="43377"/>
                      </a:lnTo>
                      <a:cubicBezTo>
                        <a:pt x="118564" y="38626"/>
                        <a:pt x="110921" y="38626"/>
                        <a:pt x="106171" y="43377"/>
                      </a:cubicBezTo>
                      <a:lnTo>
                        <a:pt x="83656" y="65892"/>
                      </a:lnTo>
                      <a:cubicBezTo>
                        <a:pt x="67751" y="55461"/>
                        <a:pt x="49884" y="47818"/>
                        <a:pt x="30570" y="43893"/>
                      </a:cubicBezTo>
                      <a:lnTo>
                        <a:pt x="30570" y="12084"/>
                      </a:lnTo>
                      <a:cubicBezTo>
                        <a:pt x="30570" y="5370"/>
                        <a:pt x="25200" y="0"/>
                        <a:pt x="1848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270" name="Graphic 1288">
              <a:extLst>
                <a:ext uri="{FF2B5EF4-FFF2-40B4-BE49-F238E27FC236}">
                  <a16:creationId xmlns:a16="http://schemas.microsoft.com/office/drawing/2014/main" id="{880A9318-20D8-65AD-AA06-3DA9BB57469A}"/>
                </a:ext>
              </a:extLst>
            </p:cNvPr>
            <p:cNvGrpSpPr>
              <a:grpSpLocks/>
            </p:cNvGrpSpPr>
            <p:nvPr/>
          </p:nvGrpSpPr>
          <p:grpSpPr>
            <a:xfrm>
              <a:off x="1058416" y="3699451"/>
              <a:ext cx="247183" cy="224824"/>
              <a:chOff x="6313680" y="3577616"/>
              <a:chExt cx="496870" cy="461218"/>
            </a:xfrm>
            <a:noFill/>
          </p:grpSpPr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8AC7786A-28AD-ABFA-A7FE-8E2927613F1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16854" y="3577616"/>
                <a:ext cx="78928" cy="78928"/>
              </a:xfrm>
              <a:custGeom>
                <a:avLst/>
                <a:gdLst>
                  <a:gd name="connsiteX0" fmla="*/ 78928 w 78928"/>
                  <a:gd name="connsiteY0" fmla="*/ 77944 h 78928"/>
                  <a:gd name="connsiteX1" fmla="*/ 33607 w 78928"/>
                  <a:gd name="connsiteY1" fmla="*/ 78921 h 78928"/>
                  <a:gd name="connsiteX2" fmla="*/ 7 w 78928"/>
                  <a:gd name="connsiteY2" fmla="*/ 45321 h 78928"/>
                  <a:gd name="connsiteX3" fmla="*/ 984 w 78928"/>
                  <a:gd name="connsiteY3" fmla="*/ 0 h 78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928" h="78928">
                    <a:moveTo>
                      <a:pt x="78928" y="77944"/>
                    </a:moveTo>
                    <a:lnTo>
                      <a:pt x="33607" y="78921"/>
                    </a:lnTo>
                    <a:cubicBezTo>
                      <a:pt x="14854" y="79312"/>
                      <a:pt x="-383" y="64074"/>
                      <a:pt x="7" y="45321"/>
                    </a:cubicBezTo>
                    <a:lnTo>
                      <a:pt x="984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9E9EAB85-9BC9-3555-E47C-C0C1CE3FE0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76796" y="3718365"/>
                <a:ext cx="176302" cy="9767"/>
              </a:xfrm>
              <a:custGeom>
                <a:avLst/>
                <a:gdLst>
                  <a:gd name="connsiteX0" fmla="*/ 0 w 176302"/>
                  <a:gd name="connsiteY0" fmla="*/ 0 h 9767"/>
                  <a:gd name="connsiteX1" fmla="*/ 176302 w 176302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302" h="9767">
                    <a:moveTo>
                      <a:pt x="0" y="0"/>
                    </a:moveTo>
                    <a:lnTo>
                      <a:pt x="176302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A36D0CC-5359-3E73-A1DB-9F2E483DDFE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76796" y="3817797"/>
                <a:ext cx="119846" cy="9767"/>
              </a:xfrm>
              <a:custGeom>
                <a:avLst/>
                <a:gdLst>
                  <a:gd name="connsiteX0" fmla="*/ 119847 w 119846"/>
                  <a:gd name="connsiteY0" fmla="*/ 0 h 9767"/>
                  <a:gd name="connsiteX1" fmla="*/ 0 w 119846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846" h="9767">
                    <a:moveTo>
                      <a:pt x="11984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E44B69B1-BE3A-ED1F-FB61-564A2890F9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76796" y="3911858"/>
                <a:ext cx="119846" cy="9767"/>
              </a:xfrm>
              <a:custGeom>
                <a:avLst/>
                <a:gdLst>
                  <a:gd name="connsiteX0" fmla="*/ 119847 w 119846"/>
                  <a:gd name="connsiteY0" fmla="*/ 0 h 9767"/>
                  <a:gd name="connsiteX1" fmla="*/ 0 w 119846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846" h="9767">
                    <a:moveTo>
                      <a:pt x="11984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939736A-0C65-E1DF-2CC9-AE1B1F6680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66620" y="3698634"/>
                <a:ext cx="69837" cy="45907"/>
              </a:xfrm>
              <a:custGeom>
                <a:avLst/>
                <a:gdLst>
                  <a:gd name="connsiteX0" fmla="*/ 0 w 69837"/>
                  <a:gd name="connsiteY0" fmla="*/ 22075 h 45907"/>
                  <a:gd name="connsiteX1" fmla="*/ 23833 w 69837"/>
                  <a:gd name="connsiteY1" fmla="*/ 45907 h 45907"/>
                  <a:gd name="connsiteX2" fmla="*/ 69837 w 69837"/>
                  <a:gd name="connsiteY2" fmla="*/ 0 h 45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5907">
                    <a:moveTo>
                      <a:pt x="0" y="22075"/>
                    </a:moveTo>
                    <a:lnTo>
                      <a:pt x="23833" y="45907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D6D9F80D-47D7-53EA-340C-AD0F23FE775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66620" y="3794844"/>
                <a:ext cx="69837" cy="46004"/>
              </a:xfrm>
              <a:custGeom>
                <a:avLst/>
                <a:gdLst>
                  <a:gd name="connsiteX0" fmla="*/ 0 w 69837"/>
                  <a:gd name="connsiteY0" fmla="*/ 22074 h 46004"/>
                  <a:gd name="connsiteX1" fmla="*/ 23833 w 69837"/>
                  <a:gd name="connsiteY1" fmla="*/ 46005 h 46004"/>
                  <a:gd name="connsiteX2" fmla="*/ 69837 w 69837"/>
                  <a:gd name="connsiteY2" fmla="*/ 0 h 4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6004">
                    <a:moveTo>
                      <a:pt x="0" y="22074"/>
                    </a:moveTo>
                    <a:lnTo>
                      <a:pt x="23833" y="46005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F44717C-ACF8-6676-1960-F400E8FDD7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66620" y="3891053"/>
                <a:ext cx="69837" cy="46004"/>
              </a:xfrm>
              <a:custGeom>
                <a:avLst/>
                <a:gdLst>
                  <a:gd name="connsiteX0" fmla="*/ 0 w 69837"/>
                  <a:gd name="connsiteY0" fmla="*/ 22172 h 46004"/>
                  <a:gd name="connsiteX1" fmla="*/ 23833 w 69837"/>
                  <a:gd name="connsiteY1" fmla="*/ 46005 h 46004"/>
                  <a:gd name="connsiteX2" fmla="*/ 69837 w 69837"/>
                  <a:gd name="connsiteY2" fmla="*/ 0 h 4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6004">
                    <a:moveTo>
                      <a:pt x="0" y="22172"/>
                    </a:moveTo>
                    <a:lnTo>
                      <a:pt x="23833" y="46005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A371E95E-C60D-3061-4861-063E7E70E2E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17838" y="3577616"/>
                <a:ext cx="77944" cy="77944"/>
              </a:xfrm>
              <a:custGeom>
                <a:avLst/>
                <a:gdLst>
                  <a:gd name="connsiteX0" fmla="*/ 0 w 77944"/>
                  <a:gd name="connsiteY0" fmla="*/ 0 h 77944"/>
                  <a:gd name="connsiteX1" fmla="*/ 77944 w 77944"/>
                  <a:gd name="connsiteY1" fmla="*/ 77944 h 7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7944" h="77944">
                    <a:moveTo>
                      <a:pt x="0" y="0"/>
                    </a:moveTo>
                    <a:lnTo>
                      <a:pt x="77944" y="77944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DB7922E3-708F-6813-7923-64C368888C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13680" y="3577616"/>
                <a:ext cx="382102" cy="461218"/>
              </a:xfrm>
              <a:custGeom>
                <a:avLst/>
                <a:gdLst>
                  <a:gd name="connsiteX0" fmla="*/ 382102 w 382102"/>
                  <a:gd name="connsiteY0" fmla="*/ 77944 h 461218"/>
                  <a:gd name="connsiteX1" fmla="*/ 382102 w 382102"/>
                  <a:gd name="connsiteY1" fmla="*/ 217912 h 461218"/>
                  <a:gd name="connsiteX2" fmla="*/ 382102 w 382102"/>
                  <a:gd name="connsiteY2" fmla="*/ 461219 h 461218"/>
                  <a:gd name="connsiteX3" fmla="*/ 222893 w 382102"/>
                  <a:gd name="connsiteY3" fmla="*/ 461219 h 461218"/>
                  <a:gd name="connsiteX4" fmla="*/ 0 w 382102"/>
                  <a:gd name="connsiteY4" fmla="*/ 461219 h 461218"/>
                  <a:gd name="connsiteX5" fmla="*/ 0 w 382102"/>
                  <a:gd name="connsiteY5" fmla="*/ 0 h 461218"/>
                  <a:gd name="connsiteX6" fmla="*/ 304158 w 382102"/>
                  <a:gd name="connsiteY6" fmla="*/ 0 h 461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2102" h="461218">
                    <a:moveTo>
                      <a:pt x="382102" y="77944"/>
                    </a:moveTo>
                    <a:lnTo>
                      <a:pt x="382102" y="217912"/>
                    </a:lnTo>
                    <a:lnTo>
                      <a:pt x="382102" y="461219"/>
                    </a:lnTo>
                    <a:lnTo>
                      <a:pt x="222893" y="461219"/>
                    </a:lnTo>
                    <a:lnTo>
                      <a:pt x="0" y="461219"/>
                    </a:lnTo>
                    <a:lnTo>
                      <a:pt x="0" y="0"/>
                    </a:lnTo>
                    <a:lnTo>
                      <a:pt x="304158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grpSp>
            <p:nvGrpSpPr>
              <p:cNvPr id="280" name="Graphic 1288">
                <a:extLst>
                  <a:ext uri="{FF2B5EF4-FFF2-40B4-BE49-F238E27FC236}">
                    <a16:creationId xmlns:a16="http://schemas.microsoft.com/office/drawing/2014/main" id="{5F0E58D9-9FA9-3403-9816-1D26AC8AE74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746182" y="3584648"/>
                <a:ext cx="64368" cy="447251"/>
                <a:chOff x="6746182" y="3584648"/>
                <a:chExt cx="64368" cy="447251"/>
              </a:xfrm>
              <a:noFill/>
            </p:grpSpPr>
            <p:sp>
              <p:nvSpPr>
                <p:cNvPr id="281" name="Freeform: Shape 280">
                  <a:extLst>
                    <a:ext uri="{FF2B5EF4-FFF2-40B4-BE49-F238E27FC236}">
                      <a16:creationId xmlns:a16="http://schemas.microsoft.com/office/drawing/2014/main" id="{730B2C9A-D45A-9EF4-3F51-DCD0A536EE5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2" y="3584648"/>
                  <a:ext cx="64269" cy="49227"/>
                </a:xfrm>
                <a:custGeom>
                  <a:avLst/>
                  <a:gdLst>
                    <a:gd name="connsiteX0" fmla="*/ 0 w 64269"/>
                    <a:gd name="connsiteY0" fmla="*/ 0 h 49227"/>
                    <a:gd name="connsiteX1" fmla="*/ 64270 w 64269"/>
                    <a:gd name="connsiteY1" fmla="*/ 0 h 49227"/>
                    <a:gd name="connsiteX2" fmla="*/ 64270 w 64269"/>
                    <a:gd name="connsiteY2" fmla="*/ 49228 h 49227"/>
                    <a:gd name="connsiteX3" fmla="*/ 0 w 64269"/>
                    <a:gd name="connsiteY3" fmla="*/ 49228 h 49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269" h="49227">
                      <a:moveTo>
                        <a:pt x="0" y="0"/>
                      </a:moveTo>
                      <a:lnTo>
                        <a:pt x="64270" y="0"/>
                      </a:lnTo>
                      <a:lnTo>
                        <a:pt x="64270" y="49228"/>
                      </a:lnTo>
                      <a:lnTo>
                        <a:pt x="0" y="4922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82" name="Freeform: Shape 281">
                  <a:extLst>
                    <a:ext uri="{FF2B5EF4-FFF2-40B4-BE49-F238E27FC236}">
                      <a16:creationId xmlns:a16="http://schemas.microsoft.com/office/drawing/2014/main" id="{6ECAB9B9-35E5-37AE-9BF9-FDA60876B36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2" y="3633876"/>
                  <a:ext cx="64269" cy="326427"/>
                </a:xfrm>
                <a:custGeom>
                  <a:avLst/>
                  <a:gdLst>
                    <a:gd name="connsiteX0" fmla="*/ 0 w 64269"/>
                    <a:gd name="connsiteY0" fmla="*/ 0 h 326427"/>
                    <a:gd name="connsiteX1" fmla="*/ 64270 w 64269"/>
                    <a:gd name="connsiteY1" fmla="*/ 0 h 326427"/>
                    <a:gd name="connsiteX2" fmla="*/ 64270 w 64269"/>
                    <a:gd name="connsiteY2" fmla="*/ 326428 h 326427"/>
                    <a:gd name="connsiteX3" fmla="*/ 0 w 64269"/>
                    <a:gd name="connsiteY3" fmla="*/ 326428 h 326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269" h="326427">
                      <a:moveTo>
                        <a:pt x="0" y="0"/>
                      </a:moveTo>
                      <a:lnTo>
                        <a:pt x="64270" y="0"/>
                      </a:lnTo>
                      <a:lnTo>
                        <a:pt x="64270" y="326428"/>
                      </a:lnTo>
                      <a:lnTo>
                        <a:pt x="0" y="32642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83" name="Freeform: Shape 282">
                  <a:extLst>
                    <a:ext uri="{FF2B5EF4-FFF2-40B4-BE49-F238E27FC236}">
                      <a16:creationId xmlns:a16="http://schemas.microsoft.com/office/drawing/2014/main" id="{1510B986-816E-3DAB-31DB-C487255F442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3" y="3960304"/>
                  <a:ext cx="64367" cy="71595"/>
                </a:xfrm>
                <a:custGeom>
                  <a:avLst/>
                  <a:gdLst>
                    <a:gd name="connsiteX0" fmla="*/ 0 w 64367"/>
                    <a:gd name="connsiteY0" fmla="*/ 0 h 71595"/>
                    <a:gd name="connsiteX1" fmla="*/ 31744 w 64367"/>
                    <a:gd name="connsiteY1" fmla="*/ 71596 h 71595"/>
                    <a:gd name="connsiteX2" fmla="*/ 64367 w 64367"/>
                    <a:gd name="connsiteY2" fmla="*/ 0 h 715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367" h="71595">
                      <a:moveTo>
                        <a:pt x="0" y="0"/>
                      </a:moveTo>
                      <a:lnTo>
                        <a:pt x="31744" y="71596"/>
                      </a:lnTo>
                      <a:lnTo>
                        <a:pt x="64367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284" name="Graphic 1288">
              <a:extLst>
                <a:ext uri="{FF2B5EF4-FFF2-40B4-BE49-F238E27FC236}">
                  <a16:creationId xmlns:a16="http://schemas.microsoft.com/office/drawing/2014/main" id="{D3A9ED6B-5747-EE21-B781-B75B350770F6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33094" y="4491165"/>
              <a:ext cx="247183" cy="224824"/>
              <a:chOff x="6313680" y="3577616"/>
              <a:chExt cx="496870" cy="461218"/>
            </a:xfrm>
            <a:noFill/>
          </p:grpSpPr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93227C6A-7926-9E0C-FB8C-C4B3DCE005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16854" y="3577616"/>
                <a:ext cx="78928" cy="78928"/>
              </a:xfrm>
              <a:custGeom>
                <a:avLst/>
                <a:gdLst>
                  <a:gd name="connsiteX0" fmla="*/ 78928 w 78928"/>
                  <a:gd name="connsiteY0" fmla="*/ 77944 h 78928"/>
                  <a:gd name="connsiteX1" fmla="*/ 33607 w 78928"/>
                  <a:gd name="connsiteY1" fmla="*/ 78921 h 78928"/>
                  <a:gd name="connsiteX2" fmla="*/ 7 w 78928"/>
                  <a:gd name="connsiteY2" fmla="*/ 45321 h 78928"/>
                  <a:gd name="connsiteX3" fmla="*/ 984 w 78928"/>
                  <a:gd name="connsiteY3" fmla="*/ 0 h 78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928" h="78928">
                    <a:moveTo>
                      <a:pt x="78928" y="77944"/>
                    </a:moveTo>
                    <a:lnTo>
                      <a:pt x="33607" y="78921"/>
                    </a:lnTo>
                    <a:cubicBezTo>
                      <a:pt x="14854" y="79312"/>
                      <a:pt x="-383" y="64074"/>
                      <a:pt x="7" y="45321"/>
                    </a:cubicBezTo>
                    <a:lnTo>
                      <a:pt x="984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783E069A-9CF2-1690-B51B-356B5AFD92F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76796" y="3718365"/>
                <a:ext cx="176302" cy="9767"/>
              </a:xfrm>
              <a:custGeom>
                <a:avLst/>
                <a:gdLst>
                  <a:gd name="connsiteX0" fmla="*/ 0 w 176302"/>
                  <a:gd name="connsiteY0" fmla="*/ 0 h 9767"/>
                  <a:gd name="connsiteX1" fmla="*/ 176302 w 176302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302" h="9767">
                    <a:moveTo>
                      <a:pt x="0" y="0"/>
                    </a:moveTo>
                    <a:lnTo>
                      <a:pt x="176302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1AF14A88-0D45-82E7-61FF-1E00A16BA9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76796" y="3817797"/>
                <a:ext cx="119846" cy="9767"/>
              </a:xfrm>
              <a:custGeom>
                <a:avLst/>
                <a:gdLst>
                  <a:gd name="connsiteX0" fmla="*/ 119847 w 119846"/>
                  <a:gd name="connsiteY0" fmla="*/ 0 h 9767"/>
                  <a:gd name="connsiteX1" fmla="*/ 0 w 119846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846" h="9767">
                    <a:moveTo>
                      <a:pt x="11984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9238EFD1-8209-B5FA-996C-C670F9906A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76796" y="3911858"/>
                <a:ext cx="119846" cy="9767"/>
              </a:xfrm>
              <a:custGeom>
                <a:avLst/>
                <a:gdLst>
                  <a:gd name="connsiteX0" fmla="*/ 119847 w 119846"/>
                  <a:gd name="connsiteY0" fmla="*/ 0 h 9767"/>
                  <a:gd name="connsiteX1" fmla="*/ 0 w 119846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846" h="9767">
                    <a:moveTo>
                      <a:pt x="11984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931B7EF2-19E5-181C-B252-49E3DF4D8C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66620" y="3698634"/>
                <a:ext cx="69837" cy="45907"/>
              </a:xfrm>
              <a:custGeom>
                <a:avLst/>
                <a:gdLst>
                  <a:gd name="connsiteX0" fmla="*/ 0 w 69837"/>
                  <a:gd name="connsiteY0" fmla="*/ 22075 h 45907"/>
                  <a:gd name="connsiteX1" fmla="*/ 23833 w 69837"/>
                  <a:gd name="connsiteY1" fmla="*/ 45907 h 45907"/>
                  <a:gd name="connsiteX2" fmla="*/ 69837 w 69837"/>
                  <a:gd name="connsiteY2" fmla="*/ 0 h 45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5907">
                    <a:moveTo>
                      <a:pt x="0" y="22075"/>
                    </a:moveTo>
                    <a:lnTo>
                      <a:pt x="23833" y="45907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B8E6614-66E7-F182-7538-9BFB93E9A68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66620" y="3794844"/>
                <a:ext cx="69837" cy="46004"/>
              </a:xfrm>
              <a:custGeom>
                <a:avLst/>
                <a:gdLst>
                  <a:gd name="connsiteX0" fmla="*/ 0 w 69837"/>
                  <a:gd name="connsiteY0" fmla="*/ 22074 h 46004"/>
                  <a:gd name="connsiteX1" fmla="*/ 23833 w 69837"/>
                  <a:gd name="connsiteY1" fmla="*/ 46005 h 46004"/>
                  <a:gd name="connsiteX2" fmla="*/ 69837 w 69837"/>
                  <a:gd name="connsiteY2" fmla="*/ 0 h 4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6004">
                    <a:moveTo>
                      <a:pt x="0" y="22074"/>
                    </a:moveTo>
                    <a:lnTo>
                      <a:pt x="23833" y="46005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EB50D758-5483-E04B-1DC3-CE317D3D20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66620" y="3891053"/>
                <a:ext cx="69837" cy="46004"/>
              </a:xfrm>
              <a:custGeom>
                <a:avLst/>
                <a:gdLst>
                  <a:gd name="connsiteX0" fmla="*/ 0 w 69837"/>
                  <a:gd name="connsiteY0" fmla="*/ 22172 h 46004"/>
                  <a:gd name="connsiteX1" fmla="*/ 23833 w 69837"/>
                  <a:gd name="connsiteY1" fmla="*/ 46005 h 46004"/>
                  <a:gd name="connsiteX2" fmla="*/ 69837 w 69837"/>
                  <a:gd name="connsiteY2" fmla="*/ 0 h 4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6004">
                    <a:moveTo>
                      <a:pt x="0" y="22172"/>
                    </a:moveTo>
                    <a:lnTo>
                      <a:pt x="23833" y="46005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F0CBA081-99EB-6626-CA81-6B2A04B800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17838" y="3577616"/>
                <a:ext cx="77944" cy="77944"/>
              </a:xfrm>
              <a:custGeom>
                <a:avLst/>
                <a:gdLst>
                  <a:gd name="connsiteX0" fmla="*/ 0 w 77944"/>
                  <a:gd name="connsiteY0" fmla="*/ 0 h 77944"/>
                  <a:gd name="connsiteX1" fmla="*/ 77944 w 77944"/>
                  <a:gd name="connsiteY1" fmla="*/ 77944 h 7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7944" h="77944">
                    <a:moveTo>
                      <a:pt x="0" y="0"/>
                    </a:moveTo>
                    <a:lnTo>
                      <a:pt x="77944" y="77944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3F502299-4D67-633F-89EA-0AC334C686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13680" y="3577616"/>
                <a:ext cx="382102" cy="461218"/>
              </a:xfrm>
              <a:custGeom>
                <a:avLst/>
                <a:gdLst>
                  <a:gd name="connsiteX0" fmla="*/ 382102 w 382102"/>
                  <a:gd name="connsiteY0" fmla="*/ 77944 h 461218"/>
                  <a:gd name="connsiteX1" fmla="*/ 382102 w 382102"/>
                  <a:gd name="connsiteY1" fmla="*/ 217912 h 461218"/>
                  <a:gd name="connsiteX2" fmla="*/ 382102 w 382102"/>
                  <a:gd name="connsiteY2" fmla="*/ 461219 h 461218"/>
                  <a:gd name="connsiteX3" fmla="*/ 222893 w 382102"/>
                  <a:gd name="connsiteY3" fmla="*/ 461219 h 461218"/>
                  <a:gd name="connsiteX4" fmla="*/ 0 w 382102"/>
                  <a:gd name="connsiteY4" fmla="*/ 461219 h 461218"/>
                  <a:gd name="connsiteX5" fmla="*/ 0 w 382102"/>
                  <a:gd name="connsiteY5" fmla="*/ 0 h 461218"/>
                  <a:gd name="connsiteX6" fmla="*/ 304158 w 382102"/>
                  <a:gd name="connsiteY6" fmla="*/ 0 h 461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2102" h="461218">
                    <a:moveTo>
                      <a:pt x="382102" y="77944"/>
                    </a:moveTo>
                    <a:lnTo>
                      <a:pt x="382102" y="217912"/>
                    </a:lnTo>
                    <a:lnTo>
                      <a:pt x="382102" y="461219"/>
                    </a:lnTo>
                    <a:lnTo>
                      <a:pt x="222893" y="461219"/>
                    </a:lnTo>
                    <a:lnTo>
                      <a:pt x="0" y="461219"/>
                    </a:lnTo>
                    <a:lnTo>
                      <a:pt x="0" y="0"/>
                    </a:lnTo>
                    <a:lnTo>
                      <a:pt x="304158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grpSp>
            <p:nvGrpSpPr>
              <p:cNvPr id="294" name="Graphic 1288">
                <a:extLst>
                  <a:ext uri="{FF2B5EF4-FFF2-40B4-BE49-F238E27FC236}">
                    <a16:creationId xmlns:a16="http://schemas.microsoft.com/office/drawing/2014/main" id="{EC01C27F-58BD-367D-AC3B-C8B29F9B205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746182" y="3584648"/>
                <a:ext cx="64368" cy="447251"/>
                <a:chOff x="6746182" y="3584648"/>
                <a:chExt cx="64368" cy="447251"/>
              </a:xfrm>
              <a:noFill/>
            </p:grpSpPr>
            <p:sp>
              <p:nvSpPr>
                <p:cNvPr id="295" name="Freeform: Shape 294">
                  <a:extLst>
                    <a:ext uri="{FF2B5EF4-FFF2-40B4-BE49-F238E27FC236}">
                      <a16:creationId xmlns:a16="http://schemas.microsoft.com/office/drawing/2014/main" id="{B00FF489-7AC3-19F8-56FF-D53D0E9D4A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2" y="3584648"/>
                  <a:ext cx="64269" cy="49227"/>
                </a:xfrm>
                <a:custGeom>
                  <a:avLst/>
                  <a:gdLst>
                    <a:gd name="connsiteX0" fmla="*/ 0 w 64269"/>
                    <a:gd name="connsiteY0" fmla="*/ 0 h 49227"/>
                    <a:gd name="connsiteX1" fmla="*/ 64270 w 64269"/>
                    <a:gd name="connsiteY1" fmla="*/ 0 h 49227"/>
                    <a:gd name="connsiteX2" fmla="*/ 64270 w 64269"/>
                    <a:gd name="connsiteY2" fmla="*/ 49228 h 49227"/>
                    <a:gd name="connsiteX3" fmla="*/ 0 w 64269"/>
                    <a:gd name="connsiteY3" fmla="*/ 49228 h 49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269" h="49227">
                      <a:moveTo>
                        <a:pt x="0" y="0"/>
                      </a:moveTo>
                      <a:lnTo>
                        <a:pt x="64270" y="0"/>
                      </a:lnTo>
                      <a:lnTo>
                        <a:pt x="64270" y="49228"/>
                      </a:lnTo>
                      <a:lnTo>
                        <a:pt x="0" y="4922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96" name="Freeform: Shape 295">
                  <a:extLst>
                    <a:ext uri="{FF2B5EF4-FFF2-40B4-BE49-F238E27FC236}">
                      <a16:creationId xmlns:a16="http://schemas.microsoft.com/office/drawing/2014/main" id="{49AB79BF-B97A-1D10-96C4-05642AA6FA8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2" y="3633876"/>
                  <a:ext cx="64269" cy="326427"/>
                </a:xfrm>
                <a:custGeom>
                  <a:avLst/>
                  <a:gdLst>
                    <a:gd name="connsiteX0" fmla="*/ 0 w 64269"/>
                    <a:gd name="connsiteY0" fmla="*/ 0 h 326427"/>
                    <a:gd name="connsiteX1" fmla="*/ 64270 w 64269"/>
                    <a:gd name="connsiteY1" fmla="*/ 0 h 326427"/>
                    <a:gd name="connsiteX2" fmla="*/ 64270 w 64269"/>
                    <a:gd name="connsiteY2" fmla="*/ 326428 h 326427"/>
                    <a:gd name="connsiteX3" fmla="*/ 0 w 64269"/>
                    <a:gd name="connsiteY3" fmla="*/ 326428 h 326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269" h="326427">
                      <a:moveTo>
                        <a:pt x="0" y="0"/>
                      </a:moveTo>
                      <a:lnTo>
                        <a:pt x="64270" y="0"/>
                      </a:lnTo>
                      <a:lnTo>
                        <a:pt x="64270" y="326428"/>
                      </a:lnTo>
                      <a:lnTo>
                        <a:pt x="0" y="32642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297" name="Freeform: Shape 296">
                  <a:extLst>
                    <a:ext uri="{FF2B5EF4-FFF2-40B4-BE49-F238E27FC236}">
                      <a16:creationId xmlns:a16="http://schemas.microsoft.com/office/drawing/2014/main" id="{2D613EC8-C534-64CF-2054-9D78B476F4C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3" y="3960304"/>
                  <a:ext cx="64367" cy="71595"/>
                </a:xfrm>
                <a:custGeom>
                  <a:avLst/>
                  <a:gdLst>
                    <a:gd name="connsiteX0" fmla="*/ 0 w 64367"/>
                    <a:gd name="connsiteY0" fmla="*/ 0 h 71595"/>
                    <a:gd name="connsiteX1" fmla="*/ 31744 w 64367"/>
                    <a:gd name="connsiteY1" fmla="*/ 71596 h 71595"/>
                    <a:gd name="connsiteX2" fmla="*/ 64367 w 64367"/>
                    <a:gd name="connsiteY2" fmla="*/ 0 h 715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367" h="71595">
                      <a:moveTo>
                        <a:pt x="0" y="0"/>
                      </a:moveTo>
                      <a:lnTo>
                        <a:pt x="31744" y="71596"/>
                      </a:lnTo>
                      <a:lnTo>
                        <a:pt x="64367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298" name="Graphic 1289">
              <a:extLst>
                <a:ext uri="{FF2B5EF4-FFF2-40B4-BE49-F238E27FC236}">
                  <a16:creationId xmlns:a16="http://schemas.microsoft.com/office/drawing/2014/main" id="{21FFA8D4-3F83-2B19-0FD9-6D4E29314D12}"/>
                </a:ext>
              </a:extLst>
            </p:cNvPr>
            <p:cNvGrpSpPr>
              <a:grpSpLocks/>
            </p:cNvGrpSpPr>
            <p:nvPr/>
          </p:nvGrpSpPr>
          <p:grpSpPr>
            <a:xfrm>
              <a:off x="5088726" y="4490262"/>
              <a:ext cx="244428" cy="268275"/>
              <a:chOff x="1445032" y="2593281"/>
              <a:chExt cx="430775" cy="430775"/>
            </a:xfrm>
            <a:noFill/>
          </p:grpSpPr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3B70704B-17D3-925E-1F1B-D6B846D04F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4332" y="2662581"/>
                <a:ext cx="292278" cy="292278"/>
              </a:xfrm>
              <a:custGeom>
                <a:avLst/>
                <a:gdLst>
                  <a:gd name="connsiteX0" fmla="*/ 189000 w 292278"/>
                  <a:gd name="connsiteY0" fmla="*/ 0 h 292278"/>
                  <a:gd name="connsiteX1" fmla="*/ 292279 w 292278"/>
                  <a:gd name="connsiteY1" fmla="*/ 103279 h 292278"/>
                  <a:gd name="connsiteX2" fmla="*/ 292279 w 292278"/>
                  <a:gd name="connsiteY2" fmla="*/ 189000 h 292278"/>
                  <a:gd name="connsiteX3" fmla="*/ 189000 w 292278"/>
                  <a:gd name="connsiteY3" fmla="*/ 292279 h 292278"/>
                  <a:gd name="connsiteX4" fmla="*/ 103279 w 292278"/>
                  <a:gd name="connsiteY4" fmla="*/ 292279 h 292278"/>
                  <a:gd name="connsiteX5" fmla="*/ 0 w 292278"/>
                  <a:gd name="connsiteY5" fmla="*/ 189000 h 292278"/>
                  <a:gd name="connsiteX6" fmla="*/ 0 w 292278"/>
                  <a:gd name="connsiteY6" fmla="*/ 103279 h 292278"/>
                  <a:gd name="connsiteX7" fmla="*/ 103279 w 292278"/>
                  <a:gd name="connsiteY7" fmla="*/ 0 h 29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2278" h="292278">
                    <a:moveTo>
                      <a:pt x="189000" y="0"/>
                    </a:moveTo>
                    <a:cubicBezTo>
                      <a:pt x="246039" y="0"/>
                      <a:pt x="292279" y="46239"/>
                      <a:pt x="292279" y="103279"/>
                    </a:cubicBezTo>
                    <a:lnTo>
                      <a:pt x="292279" y="189000"/>
                    </a:lnTo>
                    <a:cubicBezTo>
                      <a:pt x="292279" y="246039"/>
                      <a:pt x="246039" y="292279"/>
                      <a:pt x="189000" y="292279"/>
                    </a:cubicBezTo>
                    <a:lnTo>
                      <a:pt x="103279" y="292279"/>
                    </a:lnTo>
                    <a:cubicBezTo>
                      <a:pt x="46239" y="292279"/>
                      <a:pt x="0" y="246039"/>
                      <a:pt x="0" y="189000"/>
                    </a:cubicBezTo>
                    <a:lnTo>
                      <a:pt x="0" y="103279"/>
                    </a:lnTo>
                    <a:cubicBezTo>
                      <a:pt x="0" y="46239"/>
                      <a:pt x="46239" y="0"/>
                      <a:pt x="103279" y="0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EDA702C6-BADD-95EF-FAA3-BE435AAD05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97962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CFE3D2C8-6769-0022-EC37-9E33055CEC8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2878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E422B720-BEDB-743E-72AA-AB9F99A091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73046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1BDA4755-A783-ECDE-1192-73F076BB4E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7795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86F0D799-C51C-74C4-1397-C33BB8C492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97962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ADF2C1A3-4D6B-01B5-C22C-C7E137D811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2878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973E3264-2F01-AFD7-2412-887CB56FEA8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73046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B2BFB389-08B3-39C8-0863-63252158587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7795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F70BE80E-E1B4-A6C9-A10D-1F50BD91EB4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771127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27BF4BCC-2055-5689-009B-A1D1BD2AD4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846210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8826283-A7D9-24E9-8F19-91DAAF4520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696146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D67FDB3E-D487-272B-81FF-79D187676E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921294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8F2C0-5AB3-B846-D287-CD96544C964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771127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23FA6BB3-1CB6-9EAF-D329-000FB4E0C8E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846210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C0083CB2-76A1-D0F5-379E-67EF2AE7052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696146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5241AFE6-E10F-4008-20AB-802673513C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921294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grpSp>
            <p:nvGrpSpPr>
              <p:cNvPr id="316" name="Graphic 1289">
                <a:extLst>
                  <a:ext uri="{FF2B5EF4-FFF2-40B4-BE49-F238E27FC236}">
                    <a16:creationId xmlns:a16="http://schemas.microsoft.com/office/drawing/2014/main" id="{5701FC3D-0707-1BFE-EF11-3B54EDEFD188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552752" y="2701001"/>
                <a:ext cx="215336" cy="215336"/>
                <a:chOff x="1552752" y="2701001"/>
                <a:chExt cx="215336" cy="215336"/>
              </a:xfrm>
              <a:noFill/>
            </p:grpSpPr>
            <p:sp>
              <p:nvSpPr>
                <p:cNvPr id="317" name="Freeform: Shape 316">
                  <a:extLst>
                    <a:ext uri="{FF2B5EF4-FFF2-40B4-BE49-F238E27FC236}">
                      <a16:creationId xmlns:a16="http://schemas.microsoft.com/office/drawing/2014/main" id="{2EAE4C21-D380-470B-5052-713A6DB7CF87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-4846799">
                  <a:off x="1610125" y="2758311"/>
                  <a:ext cx="100799" cy="100799"/>
                </a:xfrm>
                <a:custGeom>
                  <a:avLst/>
                  <a:gdLst>
                    <a:gd name="connsiteX0" fmla="*/ 100800 w 100799"/>
                    <a:gd name="connsiteY0" fmla="*/ 50400 h 100799"/>
                    <a:gd name="connsiteX1" fmla="*/ 50400 w 100799"/>
                    <a:gd name="connsiteY1" fmla="*/ 100800 h 100799"/>
                    <a:gd name="connsiteX2" fmla="*/ 0 w 100799"/>
                    <a:gd name="connsiteY2" fmla="*/ 50400 h 100799"/>
                    <a:gd name="connsiteX3" fmla="*/ 50400 w 100799"/>
                    <a:gd name="connsiteY3" fmla="*/ 0 h 100799"/>
                    <a:gd name="connsiteX4" fmla="*/ 100800 w 100799"/>
                    <a:gd name="connsiteY4" fmla="*/ 50400 h 1007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99" h="100799">
                      <a:moveTo>
                        <a:pt x="100800" y="50400"/>
                      </a:moveTo>
                      <a:cubicBezTo>
                        <a:pt x="100800" y="78235"/>
                        <a:pt x="78235" y="100800"/>
                        <a:pt x="50400" y="100800"/>
                      </a:cubicBezTo>
                      <a:cubicBezTo>
                        <a:pt x="22565" y="100800"/>
                        <a:pt x="0" y="78235"/>
                        <a:pt x="0" y="50400"/>
                      </a:cubicBezTo>
                      <a:cubicBezTo>
                        <a:pt x="0" y="22565"/>
                        <a:pt x="22565" y="0"/>
                        <a:pt x="50400" y="0"/>
                      </a:cubicBezTo>
                      <a:cubicBezTo>
                        <a:pt x="78235" y="0"/>
                        <a:pt x="100800" y="22565"/>
                        <a:pt x="100800" y="50400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18" name="Freeform: Shape 317">
                  <a:extLst>
                    <a:ext uri="{FF2B5EF4-FFF2-40B4-BE49-F238E27FC236}">
                      <a16:creationId xmlns:a16="http://schemas.microsoft.com/office/drawing/2014/main" id="{AE7A958A-8DFC-747D-5D38-7BCE94CC584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2752" y="2701001"/>
                  <a:ext cx="215336" cy="215336"/>
                </a:xfrm>
                <a:custGeom>
                  <a:avLst/>
                  <a:gdLst>
                    <a:gd name="connsiteX0" fmla="*/ 208623 w 215336"/>
                    <a:gd name="connsiteY0" fmla="*/ 90575 h 215336"/>
                    <a:gd name="connsiteX1" fmla="*/ 190859 w 215336"/>
                    <a:gd name="connsiteY1" fmla="*/ 90575 h 215336"/>
                    <a:gd name="connsiteX2" fmla="*/ 178569 w 215336"/>
                    <a:gd name="connsiteY2" fmla="*/ 60935 h 215336"/>
                    <a:gd name="connsiteX3" fmla="*/ 191169 w 215336"/>
                    <a:gd name="connsiteY3" fmla="*/ 48335 h 215336"/>
                    <a:gd name="connsiteX4" fmla="*/ 191169 w 215336"/>
                    <a:gd name="connsiteY4" fmla="*/ 38833 h 215336"/>
                    <a:gd name="connsiteX5" fmla="*/ 176503 w 215336"/>
                    <a:gd name="connsiteY5" fmla="*/ 24167 h 215336"/>
                    <a:gd name="connsiteX6" fmla="*/ 167002 w 215336"/>
                    <a:gd name="connsiteY6" fmla="*/ 24167 h 215336"/>
                    <a:gd name="connsiteX7" fmla="*/ 154402 w 215336"/>
                    <a:gd name="connsiteY7" fmla="*/ 36767 h 215336"/>
                    <a:gd name="connsiteX8" fmla="*/ 124761 w 215336"/>
                    <a:gd name="connsiteY8" fmla="*/ 24477 h 215336"/>
                    <a:gd name="connsiteX9" fmla="*/ 124761 w 215336"/>
                    <a:gd name="connsiteY9" fmla="*/ 6713 h 215336"/>
                    <a:gd name="connsiteX10" fmla="*/ 118048 w 215336"/>
                    <a:gd name="connsiteY10" fmla="*/ 0 h 215336"/>
                    <a:gd name="connsiteX11" fmla="*/ 97289 w 215336"/>
                    <a:gd name="connsiteY11" fmla="*/ 0 h 215336"/>
                    <a:gd name="connsiteX12" fmla="*/ 90575 w 215336"/>
                    <a:gd name="connsiteY12" fmla="*/ 6713 h 215336"/>
                    <a:gd name="connsiteX13" fmla="*/ 90575 w 215336"/>
                    <a:gd name="connsiteY13" fmla="*/ 24477 h 215336"/>
                    <a:gd name="connsiteX14" fmla="*/ 60934 w 215336"/>
                    <a:gd name="connsiteY14" fmla="*/ 36767 h 215336"/>
                    <a:gd name="connsiteX15" fmla="*/ 48334 w 215336"/>
                    <a:gd name="connsiteY15" fmla="*/ 24167 h 215336"/>
                    <a:gd name="connsiteX16" fmla="*/ 38833 w 215336"/>
                    <a:gd name="connsiteY16" fmla="*/ 24167 h 215336"/>
                    <a:gd name="connsiteX17" fmla="*/ 24167 w 215336"/>
                    <a:gd name="connsiteY17" fmla="*/ 38833 h 215336"/>
                    <a:gd name="connsiteX18" fmla="*/ 24167 w 215336"/>
                    <a:gd name="connsiteY18" fmla="*/ 48335 h 215336"/>
                    <a:gd name="connsiteX19" fmla="*/ 36767 w 215336"/>
                    <a:gd name="connsiteY19" fmla="*/ 60935 h 215336"/>
                    <a:gd name="connsiteX20" fmla="*/ 24477 w 215336"/>
                    <a:gd name="connsiteY20" fmla="*/ 90575 h 215336"/>
                    <a:gd name="connsiteX21" fmla="*/ 6713 w 215336"/>
                    <a:gd name="connsiteY21" fmla="*/ 90575 h 215336"/>
                    <a:gd name="connsiteX22" fmla="*/ 0 w 215336"/>
                    <a:gd name="connsiteY22" fmla="*/ 97289 h 215336"/>
                    <a:gd name="connsiteX23" fmla="*/ 0 w 215336"/>
                    <a:gd name="connsiteY23" fmla="*/ 118048 h 215336"/>
                    <a:gd name="connsiteX24" fmla="*/ 6713 w 215336"/>
                    <a:gd name="connsiteY24" fmla="*/ 124761 h 215336"/>
                    <a:gd name="connsiteX25" fmla="*/ 24477 w 215336"/>
                    <a:gd name="connsiteY25" fmla="*/ 124761 h 215336"/>
                    <a:gd name="connsiteX26" fmla="*/ 36767 w 215336"/>
                    <a:gd name="connsiteY26" fmla="*/ 154402 h 215336"/>
                    <a:gd name="connsiteX27" fmla="*/ 24167 w 215336"/>
                    <a:gd name="connsiteY27" fmla="*/ 167002 h 215336"/>
                    <a:gd name="connsiteX28" fmla="*/ 24167 w 215336"/>
                    <a:gd name="connsiteY28" fmla="*/ 176503 h 215336"/>
                    <a:gd name="connsiteX29" fmla="*/ 38833 w 215336"/>
                    <a:gd name="connsiteY29" fmla="*/ 191169 h 215336"/>
                    <a:gd name="connsiteX30" fmla="*/ 48334 w 215336"/>
                    <a:gd name="connsiteY30" fmla="*/ 191169 h 215336"/>
                    <a:gd name="connsiteX31" fmla="*/ 60934 w 215336"/>
                    <a:gd name="connsiteY31" fmla="*/ 178569 h 215336"/>
                    <a:gd name="connsiteX32" fmla="*/ 90575 w 215336"/>
                    <a:gd name="connsiteY32" fmla="*/ 190859 h 215336"/>
                    <a:gd name="connsiteX33" fmla="*/ 90575 w 215336"/>
                    <a:gd name="connsiteY33" fmla="*/ 208623 h 215336"/>
                    <a:gd name="connsiteX34" fmla="*/ 97289 w 215336"/>
                    <a:gd name="connsiteY34" fmla="*/ 215336 h 215336"/>
                    <a:gd name="connsiteX35" fmla="*/ 118048 w 215336"/>
                    <a:gd name="connsiteY35" fmla="*/ 215336 h 215336"/>
                    <a:gd name="connsiteX36" fmla="*/ 124761 w 215336"/>
                    <a:gd name="connsiteY36" fmla="*/ 208623 h 215336"/>
                    <a:gd name="connsiteX37" fmla="*/ 124761 w 215336"/>
                    <a:gd name="connsiteY37" fmla="*/ 190859 h 215336"/>
                    <a:gd name="connsiteX38" fmla="*/ 154402 w 215336"/>
                    <a:gd name="connsiteY38" fmla="*/ 178569 h 215336"/>
                    <a:gd name="connsiteX39" fmla="*/ 167002 w 215336"/>
                    <a:gd name="connsiteY39" fmla="*/ 191169 h 215336"/>
                    <a:gd name="connsiteX40" fmla="*/ 176503 w 215336"/>
                    <a:gd name="connsiteY40" fmla="*/ 191169 h 215336"/>
                    <a:gd name="connsiteX41" fmla="*/ 191169 w 215336"/>
                    <a:gd name="connsiteY41" fmla="*/ 176503 h 215336"/>
                    <a:gd name="connsiteX42" fmla="*/ 191169 w 215336"/>
                    <a:gd name="connsiteY42" fmla="*/ 167002 h 215336"/>
                    <a:gd name="connsiteX43" fmla="*/ 178569 w 215336"/>
                    <a:gd name="connsiteY43" fmla="*/ 154402 h 215336"/>
                    <a:gd name="connsiteX44" fmla="*/ 190859 w 215336"/>
                    <a:gd name="connsiteY44" fmla="*/ 124761 h 215336"/>
                    <a:gd name="connsiteX45" fmla="*/ 208623 w 215336"/>
                    <a:gd name="connsiteY45" fmla="*/ 124761 h 215336"/>
                    <a:gd name="connsiteX46" fmla="*/ 215336 w 215336"/>
                    <a:gd name="connsiteY46" fmla="*/ 118048 h 215336"/>
                    <a:gd name="connsiteX47" fmla="*/ 215336 w 215336"/>
                    <a:gd name="connsiteY47" fmla="*/ 97289 h 215336"/>
                    <a:gd name="connsiteX48" fmla="*/ 208623 w 215336"/>
                    <a:gd name="connsiteY48" fmla="*/ 90575 h 215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15336" h="215336">
                      <a:moveTo>
                        <a:pt x="208623" y="90575"/>
                      </a:moveTo>
                      <a:lnTo>
                        <a:pt x="190859" y="90575"/>
                      </a:lnTo>
                      <a:cubicBezTo>
                        <a:pt x="188690" y="79834"/>
                        <a:pt x="184456" y="69816"/>
                        <a:pt x="178569" y="60935"/>
                      </a:cubicBezTo>
                      <a:lnTo>
                        <a:pt x="191169" y="48335"/>
                      </a:lnTo>
                      <a:cubicBezTo>
                        <a:pt x="193854" y="45649"/>
                        <a:pt x="193854" y="41415"/>
                        <a:pt x="191169" y="38833"/>
                      </a:cubicBezTo>
                      <a:lnTo>
                        <a:pt x="176503" y="24167"/>
                      </a:lnTo>
                      <a:cubicBezTo>
                        <a:pt x="173818" y="21482"/>
                        <a:pt x="169584" y="21482"/>
                        <a:pt x="167002" y="24167"/>
                      </a:cubicBezTo>
                      <a:lnTo>
                        <a:pt x="154402" y="36767"/>
                      </a:lnTo>
                      <a:cubicBezTo>
                        <a:pt x="145520" y="30880"/>
                        <a:pt x="135502" y="26646"/>
                        <a:pt x="124761" y="24477"/>
                      </a:cubicBezTo>
                      <a:lnTo>
                        <a:pt x="124761" y="6713"/>
                      </a:lnTo>
                      <a:cubicBezTo>
                        <a:pt x="124761" y="2995"/>
                        <a:pt x="121766" y="0"/>
                        <a:pt x="118048" y="0"/>
                      </a:cubicBezTo>
                      <a:lnTo>
                        <a:pt x="97289" y="0"/>
                      </a:lnTo>
                      <a:cubicBezTo>
                        <a:pt x="93570" y="0"/>
                        <a:pt x="90575" y="2995"/>
                        <a:pt x="90575" y="6713"/>
                      </a:cubicBezTo>
                      <a:lnTo>
                        <a:pt x="90575" y="24477"/>
                      </a:lnTo>
                      <a:cubicBezTo>
                        <a:pt x="79834" y="26646"/>
                        <a:pt x="69816" y="30880"/>
                        <a:pt x="60934" y="36767"/>
                      </a:cubicBezTo>
                      <a:lnTo>
                        <a:pt x="48334" y="24167"/>
                      </a:lnTo>
                      <a:cubicBezTo>
                        <a:pt x="45649" y="21482"/>
                        <a:pt x="41415" y="21482"/>
                        <a:pt x="38833" y="24167"/>
                      </a:cubicBezTo>
                      <a:lnTo>
                        <a:pt x="24167" y="38833"/>
                      </a:lnTo>
                      <a:cubicBezTo>
                        <a:pt x="21482" y="41518"/>
                        <a:pt x="21482" y="45753"/>
                        <a:pt x="24167" y="48335"/>
                      </a:cubicBezTo>
                      <a:lnTo>
                        <a:pt x="36767" y="60935"/>
                      </a:lnTo>
                      <a:cubicBezTo>
                        <a:pt x="30880" y="69816"/>
                        <a:pt x="26646" y="79834"/>
                        <a:pt x="24477" y="90575"/>
                      </a:cubicBezTo>
                      <a:lnTo>
                        <a:pt x="6713" y="90575"/>
                      </a:lnTo>
                      <a:cubicBezTo>
                        <a:pt x="2995" y="90575"/>
                        <a:pt x="0" y="93570"/>
                        <a:pt x="0" y="97289"/>
                      </a:cubicBezTo>
                      <a:lnTo>
                        <a:pt x="0" y="118048"/>
                      </a:lnTo>
                      <a:cubicBezTo>
                        <a:pt x="0" y="121766"/>
                        <a:pt x="2995" y="124761"/>
                        <a:pt x="6713" y="124761"/>
                      </a:cubicBezTo>
                      <a:lnTo>
                        <a:pt x="24477" y="124761"/>
                      </a:lnTo>
                      <a:cubicBezTo>
                        <a:pt x="26646" y="135502"/>
                        <a:pt x="30880" y="145520"/>
                        <a:pt x="36767" y="154402"/>
                      </a:cubicBezTo>
                      <a:lnTo>
                        <a:pt x="24167" y="167002"/>
                      </a:lnTo>
                      <a:cubicBezTo>
                        <a:pt x="21482" y="169687"/>
                        <a:pt x="21482" y="173921"/>
                        <a:pt x="24167" y="176503"/>
                      </a:cubicBezTo>
                      <a:lnTo>
                        <a:pt x="38833" y="191169"/>
                      </a:lnTo>
                      <a:cubicBezTo>
                        <a:pt x="41518" y="193854"/>
                        <a:pt x="45752" y="193854"/>
                        <a:pt x="48334" y="191169"/>
                      </a:cubicBezTo>
                      <a:lnTo>
                        <a:pt x="60934" y="178569"/>
                      </a:lnTo>
                      <a:cubicBezTo>
                        <a:pt x="69816" y="184456"/>
                        <a:pt x="79834" y="188690"/>
                        <a:pt x="90575" y="190859"/>
                      </a:cubicBezTo>
                      <a:lnTo>
                        <a:pt x="90575" y="208623"/>
                      </a:lnTo>
                      <a:cubicBezTo>
                        <a:pt x="90575" y="212341"/>
                        <a:pt x="93570" y="215336"/>
                        <a:pt x="97289" y="215336"/>
                      </a:cubicBezTo>
                      <a:lnTo>
                        <a:pt x="118048" y="215336"/>
                      </a:lnTo>
                      <a:cubicBezTo>
                        <a:pt x="121766" y="215336"/>
                        <a:pt x="124761" y="212341"/>
                        <a:pt x="124761" y="208623"/>
                      </a:cubicBezTo>
                      <a:lnTo>
                        <a:pt x="124761" y="190859"/>
                      </a:lnTo>
                      <a:cubicBezTo>
                        <a:pt x="135502" y="188690"/>
                        <a:pt x="145520" y="184456"/>
                        <a:pt x="154402" y="178569"/>
                      </a:cubicBezTo>
                      <a:lnTo>
                        <a:pt x="167002" y="191169"/>
                      </a:lnTo>
                      <a:cubicBezTo>
                        <a:pt x="169687" y="193854"/>
                        <a:pt x="173921" y="193854"/>
                        <a:pt x="176503" y="191169"/>
                      </a:cubicBezTo>
                      <a:lnTo>
                        <a:pt x="191169" y="176503"/>
                      </a:lnTo>
                      <a:cubicBezTo>
                        <a:pt x="193854" y="173818"/>
                        <a:pt x="193854" y="169584"/>
                        <a:pt x="191169" y="167002"/>
                      </a:cubicBezTo>
                      <a:lnTo>
                        <a:pt x="178569" y="154402"/>
                      </a:lnTo>
                      <a:cubicBezTo>
                        <a:pt x="184456" y="145520"/>
                        <a:pt x="188690" y="135502"/>
                        <a:pt x="190859" y="124761"/>
                      </a:cubicBezTo>
                      <a:lnTo>
                        <a:pt x="208623" y="124761"/>
                      </a:lnTo>
                      <a:cubicBezTo>
                        <a:pt x="212341" y="124761"/>
                        <a:pt x="215336" y="121766"/>
                        <a:pt x="215336" y="118048"/>
                      </a:cubicBezTo>
                      <a:lnTo>
                        <a:pt x="215336" y="97289"/>
                      </a:lnTo>
                      <a:cubicBezTo>
                        <a:pt x="215336" y="93570"/>
                        <a:pt x="212341" y="90575"/>
                        <a:pt x="208623" y="9057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319" name="Graphic 1289">
              <a:extLst>
                <a:ext uri="{FF2B5EF4-FFF2-40B4-BE49-F238E27FC236}">
                  <a16:creationId xmlns:a16="http://schemas.microsoft.com/office/drawing/2014/main" id="{F05CC790-CFC5-E104-550F-F7427543F81F}"/>
                </a:ext>
              </a:extLst>
            </p:cNvPr>
            <p:cNvGrpSpPr>
              <a:grpSpLocks/>
            </p:cNvGrpSpPr>
            <p:nvPr/>
          </p:nvGrpSpPr>
          <p:grpSpPr>
            <a:xfrm>
              <a:off x="4707248" y="3638245"/>
              <a:ext cx="244488" cy="240425"/>
              <a:chOff x="1444826" y="1352387"/>
              <a:chExt cx="430878" cy="386055"/>
            </a:xfrm>
            <a:noFill/>
          </p:grpSpPr>
          <p:grpSp>
            <p:nvGrpSpPr>
              <p:cNvPr id="320" name="Graphic 1289">
                <a:extLst>
                  <a:ext uri="{FF2B5EF4-FFF2-40B4-BE49-F238E27FC236}">
                    <a16:creationId xmlns:a16="http://schemas.microsoft.com/office/drawing/2014/main" id="{95D3F50B-294C-78F8-0A05-FE715A0A222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444826" y="1352387"/>
                <a:ext cx="213786" cy="386055"/>
                <a:chOff x="1444826" y="1352387"/>
                <a:chExt cx="213786" cy="386055"/>
              </a:xfrm>
              <a:noFill/>
            </p:grpSpPr>
            <p:sp>
              <p:nvSpPr>
                <p:cNvPr id="324" name="Freeform: Shape 323">
                  <a:extLst>
                    <a:ext uri="{FF2B5EF4-FFF2-40B4-BE49-F238E27FC236}">
                      <a16:creationId xmlns:a16="http://schemas.microsoft.com/office/drawing/2014/main" id="{711FC47D-3684-BB64-98A0-211867C56FC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4826" y="1352387"/>
                  <a:ext cx="213786" cy="386055"/>
                </a:xfrm>
                <a:custGeom>
                  <a:avLst/>
                  <a:gdLst>
                    <a:gd name="connsiteX0" fmla="*/ 213787 w 213786"/>
                    <a:gd name="connsiteY0" fmla="*/ 54118 h 386055"/>
                    <a:gd name="connsiteX1" fmla="*/ 213787 w 213786"/>
                    <a:gd name="connsiteY1" fmla="*/ 331938 h 386055"/>
                    <a:gd name="connsiteX2" fmla="*/ 162974 w 213786"/>
                    <a:gd name="connsiteY2" fmla="*/ 386056 h 386055"/>
                    <a:gd name="connsiteX3" fmla="*/ 112264 w 213786"/>
                    <a:gd name="connsiteY3" fmla="*/ 331938 h 386055"/>
                    <a:gd name="connsiteX4" fmla="*/ 112471 w 213786"/>
                    <a:gd name="connsiteY4" fmla="*/ 327703 h 386055"/>
                    <a:gd name="connsiteX5" fmla="*/ 92641 w 213786"/>
                    <a:gd name="connsiteY5" fmla="*/ 331938 h 386055"/>
                    <a:gd name="connsiteX6" fmla="*/ 41931 w 213786"/>
                    <a:gd name="connsiteY6" fmla="*/ 277820 h 386055"/>
                    <a:gd name="connsiteX7" fmla="*/ 43480 w 213786"/>
                    <a:gd name="connsiteY7" fmla="*/ 264497 h 386055"/>
                    <a:gd name="connsiteX8" fmla="*/ 0 w 213786"/>
                    <a:gd name="connsiteY8" fmla="*/ 190652 h 386055"/>
                    <a:gd name="connsiteX9" fmla="*/ 38730 w 213786"/>
                    <a:gd name="connsiteY9" fmla="*/ 119184 h 386055"/>
                    <a:gd name="connsiteX10" fmla="*/ 106171 w 213786"/>
                    <a:gd name="connsiteY10" fmla="*/ 48541 h 386055"/>
                    <a:gd name="connsiteX11" fmla="*/ 112574 w 213786"/>
                    <a:gd name="connsiteY11" fmla="*/ 48851 h 386055"/>
                    <a:gd name="connsiteX12" fmla="*/ 162974 w 213786"/>
                    <a:gd name="connsiteY12" fmla="*/ 0 h 386055"/>
                    <a:gd name="connsiteX13" fmla="*/ 213787 w 213786"/>
                    <a:gd name="connsiteY13" fmla="*/ 54015 h 38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3786" h="386055">
                      <a:moveTo>
                        <a:pt x="213787" y="54118"/>
                      </a:moveTo>
                      <a:lnTo>
                        <a:pt x="213787" y="331938"/>
                      </a:lnTo>
                      <a:cubicBezTo>
                        <a:pt x="213787" y="361785"/>
                        <a:pt x="191066" y="386056"/>
                        <a:pt x="162974" y="386056"/>
                      </a:cubicBezTo>
                      <a:cubicBezTo>
                        <a:pt x="134882" y="386056"/>
                        <a:pt x="112264" y="361889"/>
                        <a:pt x="112264" y="331938"/>
                      </a:cubicBezTo>
                      <a:cubicBezTo>
                        <a:pt x="112264" y="330492"/>
                        <a:pt x="112264" y="329046"/>
                        <a:pt x="112471" y="327703"/>
                      </a:cubicBezTo>
                      <a:cubicBezTo>
                        <a:pt x="106377" y="330492"/>
                        <a:pt x="99664" y="331938"/>
                        <a:pt x="92641" y="331938"/>
                      </a:cubicBezTo>
                      <a:cubicBezTo>
                        <a:pt x="64652" y="331938"/>
                        <a:pt x="41931" y="307770"/>
                        <a:pt x="41931" y="277820"/>
                      </a:cubicBezTo>
                      <a:cubicBezTo>
                        <a:pt x="41931" y="273275"/>
                        <a:pt x="42448" y="268731"/>
                        <a:pt x="43480" y="264497"/>
                      </a:cubicBezTo>
                      <a:cubicBezTo>
                        <a:pt x="18074" y="253136"/>
                        <a:pt x="0" y="224321"/>
                        <a:pt x="0" y="190652"/>
                      </a:cubicBezTo>
                      <a:cubicBezTo>
                        <a:pt x="0" y="159152"/>
                        <a:pt x="15802" y="131887"/>
                        <a:pt x="38730" y="119184"/>
                      </a:cubicBezTo>
                      <a:cubicBezTo>
                        <a:pt x="42344" y="79421"/>
                        <a:pt x="71159" y="48541"/>
                        <a:pt x="106171" y="48541"/>
                      </a:cubicBezTo>
                      <a:cubicBezTo>
                        <a:pt x="108339" y="48541"/>
                        <a:pt x="110405" y="48644"/>
                        <a:pt x="112574" y="48851"/>
                      </a:cubicBezTo>
                      <a:cubicBezTo>
                        <a:pt x="115053" y="21482"/>
                        <a:pt x="136638" y="0"/>
                        <a:pt x="162974" y="0"/>
                      </a:cubicBezTo>
                      <a:cubicBezTo>
                        <a:pt x="191066" y="0"/>
                        <a:pt x="213787" y="24167"/>
                        <a:pt x="213787" y="5401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25" name="Freeform: Shape 324">
                  <a:extLst>
                    <a:ext uri="{FF2B5EF4-FFF2-40B4-BE49-F238E27FC236}">
                      <a16:creationId xmlns:a16="http://schemas.microsoft.com/office/drawing/2014/main" id="{A0BD5B2D-9ECD-8A3F-BB28-3F6A8A9C1E4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77539" y="1628038"/>
                  <a:ext cx="35424" cy="35424"/>
                </a:xfrm>
                <a:custGeom>
                  <a:avLst/>
                  <a:gdLst>
                    <a:gd name="connsiteX0" fmla="*/ 0 w 35424"/>
                    <a:gd name="connsiteY0" fmla="*/ 0 h 35424"/>
                    <a:gd name="connsiteX1" fmla="*/ 35425 w 35424"/>
                    <a:gd name="connsiteY1" fmla="*/ 35425 h 3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24" h="35424">
                      <a:moveTo>
                        <a:pt x="0" y="0"/>
                      </a:moveTo>
                      <a:cubicBezTo>
                        <a:pt x="19520" y="0"/>
                        <a:pt x="35425" y="15802"/>
                        <a:pt x="35425" y="3542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26" name="Freeform: Shape 325">
                  <a:extLst>
                    <a:ext uri="{FF2B5EF4-FFF2-40B4-BE49-F238E27FC236}">
                      <a16:creationId xmlns:a16="http://schemas.microsoft.com/office/drawing/2014/main" id="{B9D482E5-80FA-1D43-6B55-20FB178050C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6318" y="1473430"/>
                  <a:ext cx="38006" cy="76013"/>
                </a:xfrm>
                <a:custGeom>
                  <a:avLst/>
                  <a:gdLst>
                    <a:gd name="connsiteX0" fmla="*/ 38007 w 38006"/>
                    <a:gd name="connsiteY0" fmla="*/ 76013 h 76013"/>
                    <a:gd name="connsiteX1" fmla="*/ 0 w 38006"/>
                    <a:gd name="connsiteY1" fmla="*/ 38007 h 76013"/>
                    <a:gd name="connsiteX2" fmla="*/ 38007 w 38006"/>
                    <a:gd name="connsiteY2" fmla="*/ 0 h 76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6" h="76013">
                      <a:moveTo>
                        <a:pt x="38007" y="76013"/>
                      </a:moveTo>
                      <a:cubicBezTo>
                        <a:pt x="17041" y="76013"/>
                        <a:pt x="0" y="58972"/>
                        <a:pt x="0" y="38007"/>
                      </a:cubicBezTo>
                      <a:cubicBezTo>
                        <a:pt x="0" y="17041"/>
                        <a:pt x="17041" y="0"/>
                        <a:pt x="38007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27" name="Freeform: Shape 326">
                  <a:extLst>
                    <a:ext uri="{FF2B5EF4-FFF2-40B4-BE49-F238E27FC236}">
                      <a16:creationId xmlns:a16="http://schemas.microsoft.com/office/drawing/2014/main" id="{D3697780-E002-80A7-D7BD-377D265EA9F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36744" y="1511437"/>
                  <a:ext cx="49470" cy="38006"/>
                </a:xfrm>
                <a:custGeom>
                  <a:avLst/>
                  <a:gdLst>
                    <a:gd name="connsiteX0" fmla="*/ 0 w 49470"/>
                    <a:gd name="connsiteY0" fmla="*/ 38007 h 38006"/>
                    <a:gd name="connsiteX1" fmla="*/ 38007 w 49470"/>
                    <a:gd name="connsiteY1" fmla="*/ 0 h 38006"/>
                    <a:gd name="connsiteX2" fmla="*/ 49471 w 49470"/>
                    <a:gd name="connsiteY2" fmla="*/ 1756 h 38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70" h="38006">
                      <a:moveTo>
                        <a:pt x="0" y="38007"/>
                      </a:moveTo>
                      <a:cubicBezTo>
                        <a:pt x="0" y="17041"/>
                        <a:pt x="17041" y="0"/>
                        <a:pt x="38007" y="0"/>
                      </a:cubicBezTo>
                      <a:cubicBezTo>
                        <a:pt x="42034" y="0"/>
                        <a:pt x="45856" y="620"/>
                        <a:pt x="49471" y="175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28" name="Freeform: Shape 327">
                  <a:extLst>
                    <a:ext uri="{FF2B5EF4-FFF2-40B4-BE49-F238E27FC236}">
                      <a16:creationId xmlns:a16="http://schemas.microsoft.com/office/drawing/2014/main" id="{61FD70FE-1B51-F923-CDF2-0165CB1F50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1593" y="1576812"/>
                  <a:ext cx="42860" cy="36560"/>
                </a:xfrm>
                <a:custGeom>
                  <a:avLst/>
                  <a:gdLst>
                    <a:gd name="connsiteX0" fmla="*/ 42861 w 42860"/>
                    <a:gd name="connsiteY0" fmla="*/ 0 h 36560"/>
                    <a:gd name="connsiteX1" fmla="*/ 0 w 42860"/>
                    <a:gd name="connsiteY1" fmla="*/ 36561 h 3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860" h="36560">
                      <a:moveTo>
                        <a:pt x="42861" y="0"/>
                      </a:moveTo>
                      <a:cubicBezTo>
                        <a:pt x="21172" y="0"/>
                        <a:pt x="3305" y="15802"/>
                        <a:pt x="0" y="36561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29" name="Freeform: Shape 328">
                  <a:extLst>
                    <a:ext uri="{FF2B5EF4-FFF2-40B4-BE49-F238E27FC236}">
                      <a16:creationId xmlns:a16="http://schemas.microsoft.com/office/drawing/2014/main" id="{23647A42-A556-8960-621B-43ADAAE9E31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7400" y="1401238"/>
                  <a:ext cx="30673" cy="21585"/>
                </a:xfrm>
                <a:custGeom>
                  <a:avLst/>
                  <a:gdLst>
                    <a:gd name="connsiteX0" fmla="*/ 0 w 30673"/>
                    <a:gd name="connsiteY0" fmla="*/ 0 h 21585"/>
                    <a:gd name="connsiteX1" fmla="*/ 30674 w 30673"/>
                    <a:gd name="connsiteY1" fmla="*/ 21585 h 2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673" h="21585">
                      <a:moveTo>
                        <a:pt x="0" y="0"/>
                      </a:moveTo>
                      <a:cubicBezTo>
                        <a:pt x="0" y="0"/>
                        <a:pt x="28195" y="8262"/>
                        <a:pt x="30674" y="2158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30" name="Freeform: Shape 329">
                  <a:extLst>
                    <a:ext uri="{FF2B5EF4-FFF2-40B4-BE49-F238E27FC236}">
                      <a16:creationId xmlns:a16="http://schemas.microsoft.com/office/drawing/2014/main" id="{C074D8C8-8702-26DD-EA25-722BA09230B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3659" y="1468679"/>
                  <a:ext cx="46062" cy="2891"/>
                </a:xfrm>
                <a:custGeom>
                  <a:avLst/>
                  <a:gdLst>
                    <a:gd name="connsiteX0" fmla="*/ 0 w 46062"/>
                    <a:gd name="connsiteY0" fmla="*/ 2892 h 2891"/>
                    <a:gd name="connsiteX1" fmla="*/ 46062 w 46062"/>
                    <a:gd name="connsiteY1" fmla="*/ 2892 h 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62" h="2891">
                      <a:moveTo>
                        <a:pt x="0" y="2892"/>
                      </a:moveTo>
                      <a:cubicBezTo>
                        <a:pt x="0" y="2892"/>
                        <a:pt x="30570" y="-3615"/>
                        <a:pt x="46062" y="2892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321" name="Graphic 1289">
                <a:extLst>
                  <a:ext uri="{FF2B5EF4-FFF2-40B4-BE49-F238E27FC236}">
                    <a16:creationId xmlns:a16="http://schemas.microsoft.com/office/drawing/2014/main" id="{1B108A93-0D4E-DEA5-4C71-81208B41945F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82780" y="1352697"/>
                <a:ext cx="192924" cy="385745"/>
                <a:chOff x="1682780" y="1352697"/>
                <a:chExt cx="192924" cy="385745"/>
              </a:xfrm>
              <a:noFill/>
            </p:grpSpPr>
            <p:sp>
              <p:nvSpPr>
                <p:cNvPr id="322" name="Freeform: Shape 321">
                  <a:extLst>
                    <a:ext uri="{FF2B5EF4-FFF2-40B4-BE49-F238E27FC236}">
                      <a16:creationId xmlns:a16="http://schemas.microsoft.com/office/drawing/2014/main" id="{03E590F3-00EC-8983-71D9-DE0942A585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455046"/>
                  <a:ext cx="90368" cy="180737"/>
                </a:xfrm>
                <a:custGeom>
                  <a:avLst/>
                  <a:gdLst>
                    <a:gd name="connsiteX0" fmla="*/ 0 w 90368"/>
                    <a:gd name="connsiteY0" fmla="*/ 180738 h 180737"/>
                    <a:gd name="connsiteX1" fmla="*/ 90369 w 90368"/>
                    <a:gd name="connsiteY1" fmla="*/ 90369 h 180737"/>
                    <a:gd name="connsiteX2" fmla="*/ 0 w 90368"/>
                    <a:gd name="connsiteY2" fmla="*/ 0 h 180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368" h="180737">
                      <a:moveTo>
                        <a:pt x="0" y="180738"/>
                      </a:moveTo>
                      <a:cubicBezTo>
                        <a:pt x="49884" y="180738"/>
                        <a:pt x="90369" y="140252"/>
                        <a:pt x="90369" y="90369"/>
                      </a:cubicBezTo>
                      <a:cubicBezTo>
                        <a:pt x="90369" y="40485"/>
                        <a:pt x="49884" y="0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323" name="Freeform: Shape 322">
                  <a:extLst>
                    <a:ext uri="{FF2B5EF4-FFF2-40B4-BE49-F238E27FC236}">
                      <a16:creationId xmlns:a16="http://schemas.microsoft.com/office/drawing/2014/main" id="{7DA43D7C-418A-D83A-2A9C-1B3DF3D6529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352697"/>
                  <a:ext cx="192924" cy="385745"/>
                </a:xfrm>
                <a:custGeom>
                  <a:avLst/>
                  <a:gdLst>
                    <a:gd name="connsiteX0" fmla="*/ 0 w 192924"/>
                    <a:gd name="connsiteY0" fmla="*/ 385746 h 385745"/>
                    <a:gd name="connsiteX1" fmla="*/ 18590 w 192924"/>
                    <a:gd name="connsiteY1" fmla="*/ 385746 h 385745"/>
                    <a:gd name="connsiteX2" fmla="*/ 30674 w 192924"/>
                    <a:gd name="connsiteY2" fmla="*/ 373662 h 385745"/>
                    <a:gd name="connsiteX3" fmla="*/ 30674 w 192924"/>
                    <a:gd name="connsiteY3" fmla="*/ 341852 h 385745"/>
                    <a:gd name="connsiteX4" fmla="*/ 83656 w 192924"/>
                    <a:gd name="connsiteY4" fmla="*/ 319854 h 385745"/>
                    <a:gd name="connsiteX5" fmla="*/ 106171 w 192924"/>
                    <a:gd name="connsiteY5" fmla="*/ 342369 h 385745"/>
                    <a:gd name="connsiteX6" fmla="*/ 123315 w 192924"/>
                    <a:gd name="connsiteY6" fmla="*/ 342369 h 385745"/>
                    <a:gd name="connsiteX7" fmla="*/ 149548 w 192924"/>
                    <a:gd name="connsiteY7" fmla="*/ 316136 h 385745"/>
                    <a:gd name="connsiteX8" fmla="*/ 149548 w 192924"/>
                    <a:gd name="connsiteY8" fmla="*/ 298992 h 385745"/>
                    <a:gd name="connsiteX9" fmla="*/ 127033 w 192924"/>
                    <a:gd name="connsiteY9" fmla="*/ 276477 h 385745"/>
                    <a:gd name="connsiteX10" fmla="*/ 149031 w 192924"/>
                    <a:gd name="connsiteY10" fmla="*/ 223495 h 385745"/>
                    <a:gd name="connsiteX11" fmla="*/ 180841 w 192924"/>
                    <a:gd name="connsiteY11" fmla="*/ 223495 h 385745"/>
                    <a:gd name="connsiteX12" fmla="*/ 192925 w 192924"/>
                    <a:gd name="connsiteY12" fmla="*/ 211411 h 385745"/>
                    <a:gd name="connsiteX13" fmla="*/ 192925 w 192924"/>
                    <a:gd name="connsiteY13" fmla="*/ 174334 h 385745"/>
                    <a:gd name="connsiteX14" fmla="*/ 180841 w 192924"/>
                    <a:gd name="connsiteY14" fmla="*/ 162251 h 385745"/>
                    <a:gd name="connsiteX15" fmla="*/ 149031 w 192924"/>
                    <a:gd name="connsiteY15" fmla="*/ 162251 h 385745"/>
                    <a:gd name="connsiteX16" fmla="*/ 127033 w 192924"/>
                    <a:gd name="connsiteY16" fmla="*/ 109269 h 385745"/>
                    <a:gd name="connsiteX17" fmla="*/ 149548 w 192924"/>
                    <a:gd name="connsiteY17" fmla="*/ 86754 h 385745"/>
                    <a:gd name="connsiteX18" fmla="*/ 149548 w 192924"/>
                    <a:gd name="connsiteY18" fmla="*/ 69610 h 385745"/>
                    <a:gd name="connsiteX19" fmla="*/ 123315 w 192924"/>
                    <a:gd name="connsiteY19" fmla="*/ 43377 h 385745"/>
                    <a:gd name="connsiteX20" fmla="*/ 106171 w 192924"/>
                    <a:gd name="connsiteY20" fmla="*/ 43377 h 385745"/>
                    <a:gd name="connsiteX21" fmla="*/ 83656 w 192924"/>
                    <a:gd name="connsiteY21" fmla="*/ 65892 h 385745"/>
                    <a:gd name="connsiteX22" fmla="*/ 30570 w 192924"/>
                    <a:gd name="connsiteY22" fmla="*/ 43893 h 385745"/>
                    <a:gd name="connsiteX23" fmla="*/ 30570 w 192924"/>
                    <a:gd name="connsiteY23" fmla="*/ 12084 h 385745"/>
                    <a:gd name="connsiteX24" fmla="*/ 18487 w 192924"/>
                    <a:gd name="connsiteY24" fmla="*/ 0 h 385745"/>
                    <a:gd name="connsiteX25" fmla="*/ 0 w 192924"/>
                    <a:gd name="connsiteY25" fmla="*/ 0 h 38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92924" h="385745">
                      <a:moveTo>
                        <a:pt x="0" y="385746"/>
                      </a:moveTo>
                      <a:lnTo>
                        <a:pt x="18590" y="385746"/>
                      </a:lnTo>
                      <a:cubicBezTo>
                        <a:pt x="25303" y="385746"/>
                        <a:pt x="30674" y="380375"/>
                        <a:pt x="30674" y="373662"/>
                      </a:cubicBezTo>
                      <a:lnTo>
                        <a:pt x="30674" y="341852"/>
                      </a:lnTo>
                      <a:cubicBezTo>
                        <a:pt x="49884" y="337928"/>
                        <a:pt x="67854" y="330285"/>
                        <a:pt x="83656" y="319854"/>
                      </a:cubicBezTo>
                      <a:lnTo>
                        <a:pt x="106171" y="342369"/>
                      </a:lnTo>
                      <a:cubicBezTo>
                        <a:pt x="110921" y="347120"/>
                        <a:pt x="118564" y="347120"/>
                        <a:pt x="123315" y="342369"/>
                      </a:cubicBezTo>
                      <a:lnTo>
                        <a:pt x="149548" y="316136"/>
                      </a:lnTo>
                      <a:cubicBezTo>
                        <a:pt x="154298" y="311385"/>
                        <a:pt x="154298" y="303743"/>
                        <a:pt x="149548" y="298992"/>
                      </a:cubicBezTo>
                      <a:lnTo>
                        <a:pt x="127033" y="276477"/>
                      </a:lnTo>
                      <a:cubicBezTo>
                        <a:pt x="137464" y="260675"/>
                        <a:pt x="145107" y="242705"/>
                        <a:pt x="149031" y="223495"/>
                      </a:cubicBezTo>
                      <a:lnTo>
                        <a:pt x="180841" y="223495"/>
                      </a:lnTo>
                      <a:cubicBezTo>
                        <a:pt x="187554" y="223495"/>
                        <a:pt x="192925" y="218125"/>
                        <a:pt x="192925" y="211411"/>
                      </a:cubicBezTo>
                      <a:lnTo>
                        <a:pt x="192925" y="174334"/>
                      </a:lnTo>
                      <a:cubicBezTo>
                        <a:pt x="192925" y="167621"/>
                        <a:pt x="187554" y="162251"/>
                        <a:pt x="180841" y="162251"/>
                      </a:cubicBezTo>
                      <a:lnTo>
                        <a:pt x="149031" y="162251"/>
                      </a:lnTo>
                      <a:cubicBezTo>
                        <a:pt x="145107" y="143041"/>
                        <a:pt x="137464" y="125070"/>
                        <a:pt x="127033" y="109269"/>
                      </a:cubicBezTo>
                      <a:lnTo>
                        <a:pt x="149548" y="86754"/>
                      </a:lnTo>
                      <a:cubicBezTo>
                        <a:pt x="154298" y="82003"/>
                        <a:pt x="154298" y="74361"/>
                        <a:pt x="149548" y="69610"/>
                      </a:cubicBezTo>
                      <a:lnTo>
                        <a:pt x="123315" y="43377"/>
                      </a:lnTo>
                      <a:cubicBezTo>
                        <a:pt x="118564" y="38626"/>
                        <a:pt x="110921" y="38626"/>
                        <a:pt x="106171" y="43377"/>
                      </a:cubicBezTo>
                      <a:lnTo>
                        <a:pt x="83656" y="65892"/>
                      </a:lnTo>
                      <a:cubicBezTo>
                        <a:pt x="67751" y="55461"/>
                        <a:pt x="49884" y="47818"/>
                        <a:pt x="30570" y="43893"/>
                      </a:cubicBezTo>
                      <a:lnTo>
                        <a:pt x="30570" y="12084"/>
                      </a:lnTo>
                      <a:cubicBezTo>
                        <a:pt x="30570" y="5370"/>
                        <a:pt x="25200" y="0"/>
                        <a:pt x="1848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591" name="Group 590">
              <a:extLst>
                <a:ext uri="{FF2B5EF4-FFF2-40B4-BE49-F238E27FC236}">
                  <a16:creationId xmlns:a16="http://schemas.microsoft.com/office/drawing/2014/main" id="{B584D9B4-66CE-1917-B9DA-BFC150B39DAA}"/>
                </a:ext>
              </a:extLst>
            </p:cNvPr>
            <p:cNvGrpSpPr/>
            <p:nvPr/>
          </p:nvGrpSpPr>
          <p:grpSpPr>
            <a:xfrm>
              <a:off x="4485598" y="2148642"/>
              <a:ext cx="274321" cy="266252"/>
              <a:chOff x="7620795" y="5820482"/>
              <a:chExt cx="298174" cy="286445"/>
            </a:xfrm>
          </p:grpSpPr>
          <p:grpSp>
            <p:nvGrpSpPr>
              <p:cNvPr id="592" name="Graphic 1289">
                <a:extLst>
                  <a:ext uri="{FF2B5EF4-FFF2-40B4-BE49-F238E27FC236}">
                    <a16:creationId xmlns:a16="http://schemas.microsoft.com/office/drawing/2014/main" id="{F2AD217A-868D-F370-5471-300627946B99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620795" y="5820482"/>
                <a:ext cx="147943" cy="286445"/>
                <a:chOff x="1444826" y="1352387"/>
                <a:chExt cx="213786" cy="386055"/>
              </a:xfrm>
              <a:noFill/>
            </p:grpSpPr>
            <p:sp>
              <p:nvSpPr>
                <p:cNvPr id="596" name="Freeform: Shape 595">
                  <a:extLst>
                    <a:ext uri="{FF2B5EF4-FFF2-40B4-BE49-F238E27FC236}">
                      <a16:creationId xmlns:a16="http://schemas.microsoft.com/office/drawing/2014/main" id="{4E6534DB-8B65-BAD6-EEE9-5CF9BA6EA1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4826" y="1352387"/>
                  <a:ext cx="213786" cy="386055"/>
                </a:xfrm>
                <a:custGeom>
                  <a:avLst/>
                  <a:gdLst>
                    <a:gd name="connsiteX0" fmla="*/ 213787 w 213786"/>
                    <a:gd name="connsiteY0" fmla="*/ 54118 h 386055"/>
                    <a:gd name="connsiteX1" fmla="*/ 213787 w 213786"/>
                    <a:gd name="connsiteY1" fmla="*/ 331938 h 386055"/>
                    <a:gd name="connsiteX2" fmla="*/ 162974 w 213786"/>
                    <a:gd name="connsiteY2" fmla="*/ 386056 h 386055"/>
                    <a:gd name="connsiteX3" fmla="*/ 112264 w 213786"/>
                    <a:gd name="connsiteY3" fmla="*/ 331938 h 386055"/>
                    <a:gd name="connsiteX4" fmla="*/ 112471 w 213786"/>
                    <a:gd name="connsiteY4" fmla="*/ 327703 h 386055"/>
                    <a:gd name="connsiteX5" fmla="*/ 92641 w 213786"/>
                    <a:gd name="connsiteY5" fmla="*/ 331938 h 386055"/>
                    <a:gd name="connsiteX6" fmla="*/ 41931 w 213786"/>
                    <a:gd name="connsiteY6" fmla="*/ 277820 h 386055"/>
                    <a:gd name="connsiteX7" fmla="*/ 43480 w 213786"/>
                    <a:gd name="connsiteY7" fmla="*/ 264497 h 386055"/>
                    <a:gd name="connsiteX8" fmla="*/ 0 w 213786"/>
                    <a:gd name="connsiteY8" fmla="*/ 190652 h 386055"/>
                    <a:gd name="connsiteX9" fmla="*/ 38730 w 213786"/>
                    <a:gd name="connsiteY9" fmla="*/ 119184 h 386055"/>
                    <a:gd name="connsiteX10" fmla="*/ 106171 w 213786"/>
                    <a:gd name="connsiteY10" fmla="*/ 48541 h 386055"/>
                    <a:gd name="connsiteX11" fmla="*/ 112574 w 213786"/>
                    <a:gd name="connsiteY11" fmla="*/ 48851 h 386055"/>
                    <a:gd name="connsiteX12" fmla="*/ 162974 w 213786"/>
                    <a:gd name="connsiteY12" fmla="*/ 0 h 386055"/>
                    <a:gd name="connsiteX13" fmla="*/ 213787 w 213786"/>
                    <a:gd name="connsiteY13" fmla="*/ 54015 h 38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3786" h="386055">
                      <a:moveTo>
                        <a:pt x="213787" y="54118"/>
                      </a:moveTo>
                      <a:lnTo>
                        <a:pt x="213787" y="331938"/>
                      </a:lnTo>
                      <a:cubicBezTo>
                        <a:pt x="213787" y="361785"/>
                        <a:pt x="191066" y="386056"/>
                        <a:pt x="162974" y="386056"/>
                      </a:cubicBezTo>
                      <a:cubicBezTo>
                        <a:pt x="134882" y="386056"/>
                        <a:pt x="112264" y="361889"/>
                        <a:pt x="112264" y="331938"/>
                      </a:cubicBezTo>
                      <a:cubicBezTo>
                        <a:pt x="112264" y="330492"/>
                        <a:pt x="112264" y="329046"/>
                        <a:pt x="112471" y="327703"/>
                      </a:cubicBezTo>
                      <a:cubicBezTo>
                        <a:pt x="106377" y="330492"/>
                        <a:pt x="99664" y="331938"/>
                        <a:pt x="92641" y="331938"/>
                      </a:cubicBezTo>
                      <a:cubicBezTo>
                        <a:pt x="64652" y="331938"/>
                        <a:pt x="41931" y="307770"/>
                        <a:pt x="41931" y="277820"/>
                      </a:cubicBezTo>
                      <a:cubicBezTo>
                        <a:pt x="41931" y="273275"/>
                        <a:pt x="42448" y="268731"/>
                        <a:pt x="43480" y="264497"/>
                      </a:cubicBezTo>
                      <a:cubicBezTo>
                        <a:pt x="18074" y="253136"/>
                        <a:pt x="0" y="224321"/>
                        <a:pt x="0" y="190652"/>
                      </a:cubicBezTo>
                      <a:cubicBezTo>
                        <a:pt x="0" y="159152"/>
                        <a:pt x="15802" y="131887"/>
                        <a:pt x="38730" y="119184"/>
                      </a:cubicBezTo>
                      <a:cubicBezTo>
                        <a:pt x="42344" y="79421"/>
                        <a:pt x="71159" y="48541"/>
                        <a:pt x="106171" y="48541"/>
                      </a:cubicBezTo>
                      <a:cubicBezTo>
                        <a:pt x="108339" y="48541"/>
                        <a:pt x="110405" y="48644"/>
                        <a:pt x="112574" y="48851"/>
                      </a:cubicBezTo>
                      <a:cubicBezTo>
                        <a:pt x="115053" y="21482"/>
                        <a:pt x="136638" y="0"/>
                        <a:pt x="162974" y="0"/>
                      </a:cubicBezTo>
                      <a:cubicBezTo>
                        <a:pt x="191066" y="0"/>
                        <a:pt x="213787" y="24167"/>
                        <a:pt x="213787" y="5401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597" name="Freeform: Shape 596">
                  <a:extLst>
                    <a:ext uri="{FF2B5EF4-FFF2-40B4-BE49-F238E27FC236}">
                      <a16:creationId xmlns:a16="http://schemas.microsoft.com/office/drawing/2014/main" id="{71EA6697-B3D4-2C4B-FF53-745EECECF12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77539" y="1628038"/>
                  <a:ext cx="35424" cy="35424"/>
                </a:xfrm>
                <a:custGeom>
                  <a:avLst/>
                  <a:gdLst>
                    <a:gd name="connsiteX0" fmla="*/ 0 w 35424"/>
                    <a:gd name="connsiteY0" fmla="*/ 0 h 35424"/>
                    <a:gd name="connsiteX1" fmla="*/ 35425 w 35424"/>
                    <a:gd name="connsiteY1" fmla="*/ 35425 h 3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24" h="35424">
                      <a:moveTo>
                        <a:pt x="0" y="0"/>
                      </a:moveTo>
                      <a:cubicBezTo>
                        <a:pt x="19520" y="0"/>
                        <a:pt x="35425" y="15802"/>
                        <a:pt x="35425" y="3542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598" name="Freeform: Shape 597">
                  <a:extLst>
                    <a:ext uri="{FF2B5EF4-FFF2-40B4-BE49-F238E27FC236}">
                      <a16:creationId xmlns:a16="http://schemas.microsoft.com/office/drawing/2014/main" id="{72A6548E-F41F-4B50-A9A9-E5C72A6EB38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6318" y="1473430"/>
                  <a:ext cx="38006" cy="76013"/>
                </a:xfrm>
                <a:custGeom>
                  <a:avLst/>
                  <a:gdLst>
                    <a:gd name="connsiteX0" fmla="*/ 38007 w 38006"/>
                    <a:gd name="connsiteY0" fmla="*/ 76013 h 76013"/>
                    <a:gd name="connsiteX1" fmla="*/ 0 w 38006"/>
                    <a:gd name="connsiteY1" fmla="*/ 38007 h 76013"/>
                    <a:gd name="connsiteX2" fmla="*/ 38007 w 38006"/>
                    <a:gd name="connsiteY2" fmla="*/ 0 h 76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6" h="76013">
                      <a:moveTo>
                        <a:pt x="38007" y="76013"/>
                      </a:moveTo>
                      <a:cubicBezTo>
                        <a:pt x="17041" y="76013"/>
                        <a:pt x="0" y="58972"/>
                        <a:pt x="0" y="38007"/>
                      </a:cubicBezTo>
                      <a:cubicBezTo>
                        <a:pt x="0" y="17041"/>
                        <a:pt x="17041" y="0"/>
                        <a:pt x="38007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599" name="Freeform: Shape 598">
                  <a:extLst>
                    <a:ext uri="{FF2B5EF4-FFF2-40B4-BE49-F238E27FC236}">
                      <a16:creationId xmlns:a16="http://schemas.microsoft.com/office/drawing/2014/main" id="{A1AB0DF6-9FE4-F5F9-37AC-C4CE356A407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36744" y="1511437"/>
                  <a:ext cx="49470" cy="38006"/>
                </a:xfrm>
                <a:custGeom>
                  <a:avLst/>
                  <a:gdLst>
                    <a:gd name="connsiteX0" fmla="*/ 0 w 49470"/>
                    <a:gd name="connsiteY0" fmla="*/ 38007 h 38006"/>
                    <a:gd name="connsiteX1" fmla="*/ 38007 w 49470"/>
                    <a:gd name="connsiteY1" fmla="*/ 0 h 38006"/>
                    <a:gd name="connsiteX2" fmla="*/ 49471 w 49470"/>
                    <a:gd name="connsiteY2" fmla="*/ 1756 h 38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70" h="38006">
                      <a:moveTo>
                        <a:pt x="0" y="38007"/>
                      </a:moveTo>
                      <a:cubicBezTo>
                        <a:pt x="0" y="17041"/>
                        <a:pt x="17041" y="0"/>
                        <a:pt x="38007" y="0"/>
                      </a:cubicBezTo>
                      <a:cubicBezTo>
                        <a:pt x="42034" y="0"/>
                        <a:pt x="45856" y="620"/>
                        <a:pt x="49471" y="175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00" name="Freeform: Shape 599">
                  <a:extLst>
                    <a:ext uri="{FF2B5EF4-FFF2-40B4-BE49-F238E27FC236}">
                      <a16:creationId xmlns:a16="http://schemas.microsoft.com/office/drawing/2014/main" id="{2C2342DB-4B86-287B-9D0E-4E5C48F13F2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1593" y="1576812"/>
                  <a:ext cx="42860" cy="36560"/>
                </a:xfrm>
                <a:custGeom>
                  <a:avLst/>
                  <a:gdLst>
                    <a:gd name="connsiteX0" fmla="*/ 42861 w 42860"/>
                    <a:gd name="connsiteY0" fmla="*/ 0 h 36560"/>
                    <a:gd name="connsiteX1" fmla="*/ 0 w 42860"/>
                    <a:gd name="connsiteY1" fmla="*/ 36561 h 3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860" h="36560">
                      <a:moveTo>
                        <a:pt x="42861" y="0"/>
                      </a:moveTo>
                      <a:cubicBezTo>
                        <a:pt x="21172" y="0"/>
                        <a:pt x="3305" y="15802"/>
                        <a:pt x="0" y="36561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01" name="Freeform: Shape 600">
                  <a:extLst>
                    <a:ext uri="{FF2B5EF4-FFF2-40B4-BE49-F238E27FC236}">
                      <a16:creationId xmlns:a16="http://schemas.microsoft.com/office/drawing/2014/main" id="{BCD09A8F-2693-4210-F52E-4F49723A36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7400" y="1401238"/>
                  <a:ext cx="30673" cy="21585"/>
                </a:xfrm>
                <a:custGeom>
                  <a:avLst/>
                  <a:gdLst>
                    <a:gd name="connsiteX0" fmla="*/ 0 w 30673"/>
                    <a:gd name="connsiteY0" fmla="*/ 0 h 21585"/>
                    <a:gd name="connsiteX1" fmla="*/ 30674 w 30673"/>
                    <a:gd name="connsiteY1" fmla="*/ 21585 h 2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673" h="21585">
                      <a:moveTo>
                        <a:pt x="0" y="0"/>
                      </a:moveTo>
                      <a:cubicBezTo>
                        <a:pt x="0" y="0"/>
                        <a:pt x="28195" y="8262"/>
                        <a:pt x="30674" y="2158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02" name="Freeform: Shape 601">
                  <a:extLst>
                    <a:ext uri="{FF2B5EF4-FFF2-40B4-BE49-F238E27FC236}">
                      <a16:creationId xmlns:a16="http://schemas.microsoft.com/office/drawing/2014/main" id="{C1477C65-4E8F-3DB4-125C-1385D927D1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3659" y="1468679"/>
                  <a:ext cx="46062" cy="2891"/>
                </a:xfrm>
                <a:custGeom>
                  <a:avLst/>
                  <a:gdLst>
                    <a:gd name="connsiteX0" fmla="*/ 0 w 46062"/>
                    <a:gd name="connsiteY0" fmla="*/ 2892 h 2891"/>
                    <a:gd name="connsiteX1" fmla="*/ 46062 w 46062"/>
                    <a:gd name="connsiteY1" fmla="*/ 2892 h 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62" h="2891">
                      <a:moveTo>
                        <a:pt x="0" y="2892"/>
                      </a:moveTo>
                      <a:cubicBezTo>
                        <a:pt x="0" y="2892"/>
                        <a:pt x="30570" y="-3615"/>
                        <a:pt x="46062" y="2892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593" name="Graphic 1289">
                <a:extLst>
                  <a:ext uri="{FF2B5EF4-FFF2-40B4-BE49-F238E27FC236}">
                    <a16:creationId xmlns:a16="http://schemas.microsoft.com/office/drawing/2014/main" id="{CEC6105C-6559-2756-0FF8-2775DE1D2922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785463" y="5820712"/>
                <a:ext cx="133506" cy="286215"/>
                <a:chOff x="1682780" y="1352697"/>
                <a:chExt cx="192924" cy="385745"/>
              </a:xfrm>
              <a:noFill/>
            </p:grpSpPr>
            <p:sp>
              <p:nvSpPr>
                <p:cNvPr id="594" name="Freeform: Shape 593">
                  <a:extLst>
                    <a:ext uri="{FF2B5EF4-FFF2-40B4-BE49-F238E27FC236}">
                      <a16:creationId xmlns:a16="http://schemas.microsoft.com/office/drawing/2014/main" id="{960BA94F-716A-7E17-11CB-F36245A8495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455046"/>
                  <a:ext cx="90368" cy="180737"/>
                </a:xfrm>
                <a:custGeom>
                  <a:avLst/>
                  <a:gdLst>
                    <a:gd name="connsiteX0" fmla="*/ 0 w 90368"/>
                    <a:gd name="connsiteY0" fmla="*/ 180738 h 180737"/>
                    <a:gd name="connsiteX1" fmla="*/ 90369 w 90368"/>
                    <a:gd name="connsiteY1" fmla="*/ 90369 h 180737"/>
                    <a:gd name="connsiteX2" fmla="*/ 0 w 90368"/>
                    <a:gd name="connsiteY2" fmla="*/ 0 h 180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368" h="180737">
                      <a:moveTo>
                        <a:pt x="0" y="180738"/>
                      </a:moveTo>
                      <a:cubicBezTo>
                        <a:pt x="49884" y="180738"/>
                        <a:pt x="90369" y="140252"/>
                        <a:pt x="90369" y="90369"/>
                      </a:cubicBezTo>
                      <a:cubicBezTo>
                        <a:pt x="90369" y="40485"/>
                        <a:pt x="49884" y="0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595" name="Freeform: Shape 594">
                  <a:extLst>
                    <a:ext uri="{FF2B5EF4-FFF2-40B4-BE49-F238E27FC236}">
                      <a16:creationId xmlns:a16="http://schemas.microsoft.com/office/drawing/2014/main" id="{A72DAC6D-1D0A-2AE3-7A8D-C733ADCA705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352697"/>
                  <a:ext cx="192924" cy="385745"/>
                </a:xfrm>
                <a:custGeom>
                  <a:avLst/>
                  <a:gdLst>
                    <a:gd name="connsiteX0" fmla="*/ 0 w 192924"/>
                    <a:gd name="connsiteY0" fmla="*/ 385746 h 385745"/>
                    <a:gd name="connsiteX1" fmla="*/ 18590 w 192924"/>
                    <a:gd name="connsiteY1" fmla="*/ 385746 h 385745"/>
                    <a:gd name="connsiteX2" fmla="*/ 30674 w 192924"/>
                    <a:gd name="connsiteY2" fmla="*/ 373662 h 385745"/>
                    <a:gd name="connsiteX3" fmla="*/ 30674 w 192924"/>
                    <a:gd name="connsiteY3" fmla="*/ 341852 h 385745"/>
                    <a:gd name="connsiteX4" fmla="*/ 83656 w 192924"/>
                    <a:gd name="connsiteY4" fmla="*/ 319854 h 385745"/>
                    <a:gd name="connsiteX5" fmla="*/ 106171 w 192924"/>
                    <a:gd name="connsiteY5" fmla="*/ 342369 h 385745"/>
                    <a:gd name="connsiteX6" fmla="*/ 123315 w 192924"/>
                    <a:gd name="connsiteY6" fmla="*/ 342369 h 385745"/>
                    <a:gd name="connsiteX7" fmla="*/ 149548 w 192924"/>
                    <a:gd name="connsiteY7" fmla="*/ 316136 h 385745"/>
                    <a:gd name="connsiteX8" fmla="*/ 149548 w 192924"/>
                    <a:gd name="connsiteY8" fmla="*/ 298992 h 385745"/>
                    <a:gd name="connsiteX9" fmla="*/ 127033 w 192924"/>
                    <a:gd name="connsiteY9" fmla="*/ 276477 h 385745"/>
                    <a:gd name="connsiteX10" fmla="*/ 149031 w 192924"/>
                    <a:gd name="connsiteY10" fmla="*/ 223495 h 385745"/>
                    <a:gd name="connsiteX11" fmla="*/ 180841 w 192924"/>
                    <a:gd name="connsiteY11" fmla="*/ 223495 h 385745"/>
                    <a:gd name="connsiteX12" fmla="*/ 192925 w 192924"/>
                    <a:gd name="connsiteY12" fmla="*/ 211411 h 385745"/>
                    <a:gd name="connsiteX13" fmla="*/ 192925 w 192924"/>
                    <a:gd name="connsiteY13" fmla="*/ 174334 h 385745"/>
                    <a:gd name="connsiteX14" fmla="*/ 180841 w 192924"/>
                    <a:gd name="connsiteY14" fmla="*/ 162251 h 385745"/>
                    <a:gd name="connsiteX15" fmla="*/ 149031 w 192924"/>
                    <a:gd name="connsiteY15" fmla="*/ 162251 h 385745"/>
                    <a:gd name="connsiteX16" fmla="*/ 127033 w 192924"/>
                    <a:gd name="connsiteY16" fmla="*/ 109269 h 385745"/>
                    <a:gd name="connsiteX17" fmla="*/ 149548 w 192924"/>
                    <a:gd name="connsiteY17" fmla="*/ 86754 h 385745"/>
                    <a:gd name="connsiteX18" fmla="*/ 149548 w 192924"/>
                    <a:gd name="connsiteY18" fmla="*/ 69610 h 385745"/>
                    <a:gd name="connsiteX19" fmla="*/ 123315 w 192924"/>
                    <a:gd name="connsiteY19" fmla="*/ 43377 h 385745"/>
                    <a:gd name="connsiteX20" fmla="*/ 106171 w 192924"/>
                    <a:gd name="connsiteY20" fmla="*/ 43377 h 385745"/>
                    <a:gd name="connsiteX21" fmla="*/ 83656 w 192924"/>
                    <a:gd name="connsiteY21" fmla="*/ 65892 h 385745"/>
                    <a:gd name="connsiteX22" fmla="*/ 30570 w 192924"/>
                    <a:gd name="connsiteY22" fmla="*/ 43893 h 385745"/>
                    <a:gd name="connsiteX23" fmla="*/ 30570 w 192924"/>
                    <a:gd name="connsiteY23" fmla="*/ 12084 h 385745"/>
                    <a:gd name="connsiteX24" fmla="*/ 18487 w 192924"/>
                    <a:gd name="connsiteY24" fmla="*/ 0 h 385745"/>
                    <a:gd name="connsiteX25" fmla="*/ 0 w 192924"/>
                    <a:gd name="connsiteY25" fmla="*/ 0 h 38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92924" h="385745">
                      <a:moveTo>
                        <a:pt x="0" y="385746"/>
                      </a:moveTo>
                      <a:lnTo>
                        <a:pt x="18590" y="385746"/>
                      </a:lnTo>
                      <a:cubicBezTo>
                        <a:pt x="25303" y="385746"/>
                        <a:pt x="30674" y="380375"/>
                        <a:pt x="30674" y="373662"/>
                      </a:cubicBezTo>
                      <a:lnTo>
                        <a:pt x="30674" y="341852"/>
                      </a:lnTo>
                      <a:cubicBezTo>
                        <a:pt x="49884" y="337928"/>
                        <a:pt x="67854" y="330285"/>
                        <a:pt x="83656" y="319854"/>
                      </a:cubicBezTo>
                      <a:lnTo>
                        <a:pt x="106171" y="342369"/>
                      </a:lnTo>
                      <a:cubicBezTo>
                        <a:pt x="110921" y="347120"/>
                        <a:pt x="118564" y="347120"/>
                        <a:pt x="123315" y="342369"/>
                      </a:cubicBezTo>
                      <a:lnTo>
                        <a:pt x="149548" y="316136"/>
                      </a:lnTo>
                      <a:cubicBezTo>
                        <a:pt x="154298" y="311385"/>
                        <a:pt x="154298" y="303743"/>
                        <a:pt x="149548" y="298992"/>
                      </a:cubicBezTo>
                      <a:lnTo>
                        <a:pt x="127033" y="276477"/>
                      </a:lnTo>
                      <a:cubicBezTo>
                        <a:pt x="137464" y="260675"/>
                        <a:pt x="145107" y="242705"/>
                        <a:pt x="149031" y="223495"/>
                      </a:cubicBezTo>
                      <a:lnTo>
                        <a:pt x="180841" y="223495"/>
                      </a:lnTo>
                      <a:cubicBezTo>
                        <a:pt x="187554" y="223495"/>
                        <a:pt x="192925" y="218125"/>
                        <a:pt x="192925" y="211411"/>
                      </a:cubicBezTo>
                      <a:lnTo>
                        <a:pt x="192925" y="174334"/>
                      </a:lnTo>
                      <a:cubicBezTo>
                        <a:pt x="192925" y="167621"/>
                        <a:pt x="187554" y="162251"/>
                        <a:pt x="180841" y="162251"/>
                      </a:cubicBezTo>
                      <a:lnTo>
                        <a:pt x="149031" y="162251"/>
                      </a:lnTo>
                      <a:cubicBezTo>
                        <a:pt x="145107" y="143041"/>
                        <a:pt x="137464" y="125070"/>
                        <a:pt x="127033" y="109269"/>
                      </a:cubicBezTo>
                      <a:lnTo>
                        <a:pt x="149548" y="86754"/>
                      </a:lnTo>
                      <a:cubicBezTo>
                        <a:pt x="154298" y="82003"/>
                        <a:pt x="154298" y="74361"/>
                        <a:pt x="149548" y="69610"/>
                      </a:cubicBezTo>
                      <a:lnTo>
                        <a:pt x="123315" y="43377"/>
                      </a:lnTo>
                      <a:cubicBezTo>
                        <a:pt x="118564" y="38626"/>
                        <a:pt x="110921" y="38626"/>
                        <a:pt x="106171" y="43377"/>
                      </a:cubicBezTo>
                      <a:lnTo>
                        <a:pt x="83656" y="65892"/>
                      </a:lnTo>
                      <a:cubicBezTo>
                        <a:pt x="67751" y="55461"/>
                        <a:pt x="49884" y="47818"/>
                        <a:pt x="30570" y="43893"/>
                      </a:cubicBezTo>
                      <a:lnTo>
                        <a:pt x="30570" y="12084"/>
                      </a:lnTo>
                      <a:cubicBezTo>
                        <a:pt x="30570" y="5370"/>
                        <a:pt x="25200" y="0"/>
                        <a:pt x="1848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087B1631-15BD-D818-BFB7-DB60B0FF298B}"/>
                </a:ext>
              </a:extLst>
            </p:cNvPr>
            <p:cNvGrpSpPr/>
            <p:nvPr/>
          </p:nvGrpSpPr>
          <p:grpSpPr>
            <a:xfrm>
              <a:off x="1412571" y="2060371"/>
              <a:ext cx="274321" cy="266252"/>
              <a:chOff x="7620795" y="5820482"/>
              <a:chExt cx="298174" cy="286445"/>
            </a:xfrm>
          </p:grpSpPr>
          <p:grpSp>
            <p:nvGrpSpPr>
              <p:cNvPr id="604" name="Graphic 1289">
                <a:extLst>
                  <a:ext uri="{FF2B5EF4-FFF2-40B4-BE49-F238E27FC236}">
                    <a16:creationId xmlns:a16="http://schemas.microsoft.com/office/drawing/2014/main" id="{F8D246EC-77E2-D5A9-E18F-C8D64F8BFCB1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620795" y="5820482"/>
                <a:ext cx="147943" cy="286445"/>
                <a:chOff x="1444826" y="1352387"/>
                <a:chExt cx="213786" cy="386055"/>
              </a:xfrm>
              <a:noFill/>
            </p:grpSpPr>
            <p:sp>
              <p:nvSpPr>
                <p:cNvPr id="608" name="Freeform: Shape 607">
                  <a:extLst>
                    <a:ext uri="{FF2B5EF4-FFF2-40B4-BE49-F238E27FC236}">
                      <a16:creationId xmlns:a16="http://schemas.microsoft.com/office/drawing/2014/main" id="{AF4A03BD-8F9C-80A4-4F8C-08CF340B32A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4826" y="1352387"/>
                  <a:ext cx="213786" cy="386055"/>
                </a:xfrm>
                <a:custGeom>
                  <a:avLst/>
                  <a:gdLst>
                    <a:gd name="connsiteX0" fmla="*/ 213787 w 213786"/>
                    <a:gd name="connsiteY0" fmla="*/ 54118 h 386055"/>
                    <a:gd name="connsiteX1" fmla="*/ 213787 w 213786"/>
                    <a:gd name="connsiteY1" fmla="*/ 331938 h 386055"/>
                    <a:gd name="connsiteX2" fmla="*/ 162974 w 213786"/>
                    <a:gd name="connsiteY2" fmla="*/ 386056 h 386055"/>
                    <a:gd name="connsiteX3" fmla="*/ 112264 w 213786"/>
                    <a:gd name="connsiteY3" fmla="*/ 331938 h 386055"/>
                    <a:gd name="connsiteX4" fmla="*/ 112471 w 213786"/>
                    <a:gd name="connsiteY4" fmla="*/ 327703 h 386055"/>
                    <a:gd name="connsiteX5" fmla="*/ 92641 w 213786"/>
                    <a:gd name="connsiteY5" fmla="*/ 331938 h 386055"/>
                    <a:gd name="connsiteX6" fmla="*/ 41931 w 213786"/>
                    <a:gd name="connsiteY6" fmla="*/ 277820 h 386055"/>
                    <a:gd name="connsiteX7" fmla="*/ 43480 w 213786"/>
                    <a:gd name="connsiteY7" fmla="*/ 264497 h 386055"/>
                    <a:gd name="connsiteX8" fmla="*/ 0 w 213786"/>
                    <a:gd name="connsiteY8" fmla="*/ 190652 h 386055"/>
                    <a:gd name="connsiteX9" fmla="*/ 38730 w 213786"/>
                    <a:gd name="connsiteY9" fmla="*/ 119184 h 386055"/>
                    <a:gd name="connsiteX10" fmla="*/ 106171 w 213786"/>
                    <a:gd name="connsiteY10" fmla="*/ 48541 h 386055"/>
                    <a:gd name="connsiteX11" fmla="*/ 112574 w 213786"/>
                    <a:gd name="connsiteY11" fmla="*/ 48851 h 386055"/>
                    <a:gd name="connsiteX12" fmla="*/ 162974 w 213786"/>
                    <a:gd name="connsiteY12" fmla="*/ 0 h 386055"/>
                    <a:gd name="connsiteX13" fmla="*/ 213787 w 213786"/>
                    <a:gd name="connsiteY13" fmla="*/ 54015 h 38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3786" h="386055">
                      <a:moveTo>
                        <a:pt x="213787" y="54118"/>
                      </a:moveTo>
                      <a:lnTo>
                        <a:pt x="213787" y="331938"/>
                      </a:lnTo>
                      <a:cubicBezTo>
                        <a:pt x="213787" y="361785"/>
                        <a:pt x="191066" y="386056"/>
                        <a:pt x="162974" y="386056"/>
                      </a:cubicBezTo>
                      <a:cubicBezTo>
                        <a:pt x="134882" y="386056"/>
                        <a:pt x="112264" y="361889"/>
                        <a:pt x="112264" y="331938"/>
                      </a:cubicBezTo>
                      <a:cubicBezTo>
                        <a:pt x="112264" y="330492"/>
                        <a:pt x="112264" y="329046"/>
                        <a:pt x="112471" y="327703"/>
                      </a:cubicBezTo>
                      <a:cubicBezTo>
                        <a:pt x="106377" y="330492"/>
                        <a:pt x="99664" y="331938"/>
                        <a:pt x="92641" y="331938"/>
                      </a:cubicBezTo>
                      <a:cubicBezTo>
                        <a:pt x="64652" y="331938"/>
                        <a:pt x="41931" y="307770"/>
                        <a:pt x="41931" y="277820"/>
                      </a:cubicBezTo>
                      <a:cubicBezTo>
                        <a:pt x="41931" y="273275"/>
                        <a:pt x="42448" y="268731"/>
                        <a:pt x="43480" y="264497"/>
                      </a:cubicBezTo>
                      <a:cubicBezTo>
                        <a:pt x="18074" y="253136"/>
                        <a:pt x="0" y="224321"/>
                        <a:pt x="0" y="190652"/>
                      </a:cubicBezTo>
                      <a:cubicBezTo>
                        <a:pt x="0" y="159152"/>
                        <a:pt x="15802" y="131887"/>
                        <a:pt x="38730" y="119184"/>
                      </a:cubicBezTo>
                      <a:cubicBezTo>
                        <a:pt x="42344" y="79421"/>
                        <a:pt x="71159" y="48541"/>
                        <a:pt x="106171" y="48541"/>
                      </a:cubicBezTo>
                      <a:cubicBezTo>
                        <a:pt x="108339" y="48541"/>
                        <a:pt x="110405" y="48644"/>
                        <a:pt x="112574" y="48851"/>
                      </a:cubicBezTo>
                      <a:cubicBezTo>
                        <a:pt x="115053" y="21482"/>
                        <a:pt x="136638" y="0"/>
                        <a:pt x="162974" y="0"/>
                      </a:cubicBezTo>
                      <a:cubicBezTo>
                        <a:pt x="191066" y="0"/>
                        <a:pt x="213787" y="24167"/>
                        <a:pt x="213787" y="5401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09" name="Freeform: Shape 608">
                  <a:extLst>
                    <a:ext uri="{FF2B5EF4-FFF2-40B4-BE49-F238E27FC236}">
                      <a16:creationId xmlns:a16="http://schemas.microsoft.com/office/drawing/2014/main" id="{158F9937-4AB7-A818-CDCB-E2AC15BEF00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77539" y="1628038"/>
                  <a:ext cx="35424" cy="35424"/>
                </a:xfrm>
                <a:custGeom>
                  <a:avLst/>
                  <a:gdLst>
                    <a:gd name="connsiteX0" fmla="*/ 0 w 35424"/>
                    <a:gd name="connsiteY0" fmla="*/ 0 h 35424"/>
                    <a:gd name="connsiteX1" fmla="*/ 35425 w 35424"/>
                    <a:gd name="connsiteY1" fmla="*/ 35425 h 3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24" h="35424">
                      <a:moveTo>
                        <a:pt x="0" y="0"/>
                      </a:moveTo>
                      <a:cubicBezTo>
                        <a:pt x="19520" y="0"/>
                        <a:pt x="35425" y="15802"/>
                        <a:pt x="35425" y="3542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10" name="Freeform: Shape 609">
                  <a:extLst>
                    <a:ext uri="{FF2B5EF4-FFF2-40B4-BE49-F238E27FC236}">
                      <a16:creationId xmlns:a16="http://schemas.microsoft.com/office/drawing/2014/main" id="{8293D48A-CE0D-ABBF-0C6A-9ACBBCBFBB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6318" y="1473430"/>
                  <a:ext cx="38006" cy="76013"/>
                </a:xfrm>
                <a:custGeom>
                  <a:avLst/>
                  <a:gdLst>
                    <a:gd name="connsiteX0" fmla="*/ 38007 w 38006"/>
                    <a:gd name="connsiteY0" fmla="*/ 76013 h 76013"/>
                    <a:gd name="connsiteX1" fmla="*/ 0 w 38006"/>
                    <a:gd name="connsiteY1" fmla="*/ 38007 h 76013"/>
                    <a:gd name="connsiteX2" fmla="*/ 38007 w 38006"/>
                    <a:gd name="connsiteY2" fmla="*/ 0 h 76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6" h="76013">
                      <a:moveTo>
                        <a:pt x="38007" y="76013"/>
                      </a:moveTo>
                      <a:cubicBezTo>
                        <a:pt x="17041" y="76013"/>
                        <a:pt x="0" y="58972"/>
                        <a:pt x="0" y="38007"/>
                      </a:cubicBezTo>
                      <a:cubicBezTo>
                        <a:pt x="0" y="17041"/>
                        <a:pt x="17041" y="0"/>
                        <a:pt x="38007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11" name="Freeform: Shape 610">
                  <a:extLst>
                    <a:ext uri="{FF2B5EF4-FFF2-40B4-BE49-F238E27FC236}">
                      <a16:creationId xmlns:a16="http://schemas.microsoft.com/office/drawing/2014/main" id="{7D6627A9-2C29-D856-9F3C-A865E459B1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36744" y="1511437"/>
                  <a:ext cx="49470" cy="38006"/>
                </a:xfrm>
                <a:custGeom>
                  <a:avLst/>
                  <a:gdLst>
                    <a:gd name="connsiteX0" fmla="*/ 0 w 49470"/>
                    <a:gd name="connsiteY0" fmla="*/ 38007 h 38006"/>
                    <a:gd name="connsiteX1" fmla="*/ 38007 w 49470"/>
                    <a:gd name="connsiteY1" fmla="*/ 0 h 38006"/>
                    <a:gd name="connsiteX2" fmla="*/ 49471 w 49470"/>
                    <a:gd name="connsiteY2" fmla="*/ 1756 h 38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70" h="38006">
                      <a:moveTo>
                        <a:pt x="0" y="38007"/>
                      </a:moveTo>
                      <a:cubicBezTo>
                        <a:pt x="0" y="17041"/>
                        <a:pt x="17041" y="0"/>
                        <a:pt x="38007" y="0"/>
                      </a:cubicBezTo>
                      <a:cubicBezTo>
                        <a:pt x="42034" y="0"/>
                        <a:pt x="45856" y="620"/>
                        <a:pt x="49471" y="175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12" name="Freeform: Shape 611">
                  <a:extLst>
                    <a:ext uri="{FF2B5EF4-FFF2-40B4-BE49-F238E27FC236}">
                      <a16:creationId xmlns:a16="http://schemas.microsoft.com/office/drawing/2014/main" id="{77CC918D-2CF2-97BC-AF4E-F05BC602AE3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1593" y="1576812"/>
                  <a:ext cx="42860" cy="36560"/>
                </a:xfrm>
                <a:custGeom>
                  <a:avLst/>
                  <a:gdLst>
                    <a:gd name="connsiteX0" fmla="*/ 42861 w 42860"/>
                    <a:gd name="connsiteY0" fmla="*/ 0 h 36560"/>
                    <a:gd name="connsiteX1" fmla="*/ 0 w 42860"/>
                    <a:gd name="connsiteY1" fmla="*/ 36561 h 3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860" h="36560">
                      <a:moveTo>
                        <a:pt x="42861" y="0"/>
                      </a:moveTo>
                      <a:cubicBezTo>
                        <a:pt x="21172" y="0"/>
                        <a:pt x="3305" y="15802"/>
                        <a:pt x="0" y="36561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13" name="Freeform: Shape 612">
                  <a:extLst>
                    <a:ext uri="{FF2B5EF4-FFF2-40B4-BE49-F238E27FC236}">
                      <a16:creationId xmlns:a16="http://schemas.microsoft.com/office/drawing/2014/main" id="{E16E68B0-3F36-96A8-63AA-EB79FBCEF7E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7400" y="1401238"/>
                  <a:ext cx="30673" cy="21585"/>
                </a:xfrm>
                <a:custGeom>
                  <a:avLst/>
                  <a:gdLst>
                    <a:gd name="connsiteX0" fmla="*/ 0 w 30673"/>
                    <a:gd name="connsiteY0" fmla="*/ 0 h 21585"/>
                    <a:gd name="connsiteX1" fmla="*/ 30674 w 30673"/>
                    <a:gd name="connsiteY1" fmla="*/ 21585 h 2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673" h="21585">
                      <a:moveTo>
                        <a:pt x="0" y="0"/>
                      </a:moveTo>
                      <a:cubicBezTo>
                        <a:pt x="0" y="0"/>
                        <a:pt x="28195" y="8262"/>
                        <a:pt x="30674" y="2158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14" name="Freeform: Shape 613">
                  <a:extLst>
                    <a:ext uri="{FF2B5EF4-FFF2-40B4-BE49-F238E27FC236}">
                      <a16:creationId xmlns:a16="http://schemas.microsoft.com/office/drawing/2014/main" id="{2188FB07-6D5B-4A6C-BC03-A2098E04C4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3659" y="1468679"/>
                  <a:ext cx="46062" cy="2891"/>
                </a:xfrm>
                <a:custGeom>
                  <a:avLst/>
                  <a:gdLst>
                    <a:gd name="connsiteX0" fmla="*/ 0 w 46062"/>
                    <a:gd name="connsiteY0" fmla="*/ 2892 h 2891"/>
                    <a:gd name="connsiteX1" fmla="*/ 46062 w 46062"/>
                    <a:gd name="connsiteY1" fmla="*/ 2892 h 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62" h="2891">
                      <a:moveTo>
                        <a:pt x="0" y="2892"/>
                      </a:moveTo>
                      <a:cubicBezTo>
                        <a:pt x="0" y="2892"/>
                        <a:pt x="30570" y="-3615"/>
                        <a:pt x="46062" y="2892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605" name="Graphic 1289">
                <a:extLst>
                  <a:ext uri="{FF2B5EF4-FFF2-40B4-BE49-F238E27FC236}">
                    <a16:creationId xmlns:a16="http://schemas.microsoft.com/office/drawing/2014/main" id="{857F8ED0-9EDB-0D51-CB49-2F526693BF94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785463" y="5820712"/>
                <a:ext cx="133506" cy="286215"/>
                <a:chOff x="1682780" y="1352697"/>
                <a:chExt cx="192924" cy="385745"/>
              </a:xfrm>
              <a:noFill/>
            </p:grpSpPr>
            <p:sp>
              <p:nvSpPr>
                <p:cNvPr id="606" name="Freeform: Shape 605">
                  <a:extLst>
                    <a:ext uri="{FF2B5EF4-FFF2-40B4-BE49-F238E27FC236}">
                      <a16:creationId xmlns:a16="http://schemas.microsoft.com/office/drawing/2014/main" id="{1387E7ED-1EE5-ACAA-CB4C-B56585C60C5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455046"/>
                  <a:ext cx="90368" cy="180737"/>
                </a:xfrm>
                <a:custGeom>
                  <a:avLst/>
                  <a:gdLst>
                    <a:gd name="connsiteX0" fmla="*/ 0 w 90368"/>
                    <a:gd name="connsiteY0" fmla="*/ 180738 h 180737"/>
                    <a:gd name="connsiteX1" fmla="*/ 90369 w 90368"/>
                    <a:gd name="connsiteY1" fmla="*/ 90369 h 180737"/>
                    <a:gd name="connsiteX2" fmla="*/ 0 w 90368"/>
                    <a:gd name="connsiteY2" fmla="*/ 0 h 180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368" h="180737">
                      <a:moveTo>
                        <a:pt x="0" y="180738"/>
                      </a:moveTo>
                      <a:cubicBezTo>
                        <a:pt x="49884" y="180738"/>
                        <a:pt x="90369" y="140252"/>
                        <a:pt x="90369" y="90369"/>
                      </a:cubicBezTo>
                      <a:cubicBezTo>
                        <a:pt x="90369" y="40485"/>
                        <a:pt x="49884" y="0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07" name="Freeform: Shape 606">
                  <a:extLst>
                    <a:ext uri="{FF2B5EF4-FFF2-40B4-BE49-F238E27FC236}">
                      <a16:creationId xmlns:a16="http://schemas.microsoft.com/office/drawing/2014/main" id="{4CE4A24F-1C56-4115-2203-3A0A096867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352697"/>
                  <a:ext cx="192924" cy="385745"/>
                </a:xfrm>
                <a:custGeom>
                  <a:avLst/>
                  <a:gdLst>
                    <a:gd name="connsiteX0" fmla="*/ 0 w 192924"/>
                    <a:gd name="connsiteY0" fmla="*/ 385746 h 385745"/>
                    <a:gd name="connsiteX1" fmla="*/ 18590 w 192924"/>
                    <a:gd name="connsiteY1" fmla="*/ 385746 h 385745"/>
                    <a:gd name="connsiteX2" fmla="*/ 30674 w 192924"/>
                    <a:gd name="connsiteY2" fmla="*/ 373662 h 385745"/>
                    <a:gd name="connsiteX3" fmla="*/ 30674 w 192924"/>
                    <a:gd name="connsiteY3" fmla="*/ 341852 h 385745"/>
                    <a:gd name="connsiteX4" fmla="*/ 83656 w 192924"/>
                    <a:gd name="connsiteY4" fmla="*/ 319854 h 385745"/>
                    <a:gd name="connsiteX5" fmla="*/ 106171 w 192924"/>
                    <a:gd name="connsiteY5" fmla="*/ 342369 h 385745"/>
                    <a:gd name="connsiteX6" fmla="*/ 123315 w 192924"/>
                    <a:gd name="connsiteY6" fmla="*/ 342369 h 385745"/>
                    <a:gd name="connsiteX7" fmla="*/ 149548 w 192924"/>
                    <a:gd name="connsiteY7" fmla="*/ 316136 h 385745"/>
                    <a:gd name="connsiteX8" fmla="*/ 149548 w 192924"/>
                    <a:gd name="connsiteY8" fmla="*/ 298992 h 385745"/>
                    <a:gd name="connsiteX9" fmla="*/ 127033 w 192924"/>
                    <a:gd name="connsiteY9" fmla="*/ 276477 h 385745"/>
                    <a:gd name="connsiteX10" fmla="*/ 149031 w 192924"/>
                    <a:gd name="connsiteY10" fmla="*/ 223495 h 385745"/>
                    <a:gd name="connsiteX11" fmla="*/ 180841 w 192924"/>
                    <a:gd name="connsiteY11" fmla="*/ 223495 h 385745"/>
                    <a:gd name="connsiteX12" fmla="*/ 192925 w 192924"/>
                    <a:gd name="connsiteY12" fmla="*/ 211411 h 385745"/>
                    <a:gd name="connsiteX13" fmla="*/ 192925 w 192924"/>
                    <a:gd name="connsiteY13" fmla="*/ 174334 h 385745"/>
                    <a:gd name="connsiteX14" fmla="*/ 180841 w 192924"/>
                    <a:gd name="connsiteY14" fmla="*/ 162251 h 385745"/>
                    <a:gd name="connsiteX15" fmla="*/ 149031 w 192924"/>
                    <a:gd name="connsiteY15" fmla="*/ 162251 h 385745"/>
                    <a:gd name="connsiteX16" fmla="*/ 127033 w 192924"/>
                    <a:gd name="connsiteY16" fmla="*/ 109269 h 385745"/>
                    <a:gd name="connsiteX17" fmla="*/ 149548 w 192924"/>
                    <a:gd name="connsiteY17" fmla="*/ 86754 h 385745"/>
                    <a:gd name="connsiteX18" fmla="*/ 149548 w 192924"/>
                    <a:gd name="connsiteY18" fmla="*/ 69610 h 385745"/>
                    <a:gd name="connsiteX19" fmla="*/ 123315 w 192924"/>
                    <a:gd name="connsiteY19" fmla="*/ 43377 h 385745"/>
                    <a:gd name="connsiteX20" fmla="*/ 106171 w 192924"/>
                    <a:gd name="connsiteY20" fmla="*/ 43377 h 385745"/>
                    <a:gd name="connsiteX21" fmla="*/ 83656 w 192924"/>
                    <a:gd name="connsiteY21" fmla="*/ 65892 h 385745"/>
                    <a:gd name="connsiteX22" fmla="*/ 30570 w 192924"/>
                    <a:gd name="connsiteY22" fmla="*/ 43893 h 385745"/>
                    <a:gd name="connsiteX23" fmla="*/ 30570 w 192924"/>
                    <a:gd name="connsiteY23" fmla="*/ 12084 h 385745"/>
                    <a:gd name="connsiteX24" fmla="*/ 18487 w 192924"/>
                    <a:gd name="connsiteY24" fmla="*/ 0 h 385745"/>
                    <a:gd name="connsiteX25" fmla="*/ 0 w 192924"/>
                    <a:gd name="connsiteY25" fmla="*/ 0 h 38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92924" h="385745">
                      <a:moveTo>
                        <a:pt x="0" y="385746"/>
                      </a:moveTo>
                      <a:lnTo>
                        <a:pt x="18590" y="385746"/>
                      </a:lnTo>
                      <a:cubicBezTo>
                        <a:pt x="25303" y="385746"/>
                        <a:pt x="30674" y="380375"/>
                        <a:pt x="30674" y="373662"/>
                      </a:cubicBezTo>
                      <a:lnTo>
                        <a:pt x="30674" y="341852"/>
                      </a:lnTo>
                      <a:cubicBezTo>
                        <a:pt x="49884" y="337928"/>
                        <a:pt x="67854" y="330285"/>
                        <a:pt x="83656" y="319854"/>
                      </a:cubicBezTo>
                      <a:lnTo>
                        <a:pt x="106171" y="342369"/>
                      </a:lnTo>
                      <a:cubicBezTo>
                        <a:pt x="110921" y="347120"/>
                        <a:pt x="118564" y="347120"/>
                        <a:pt x="123315" y="342369"/>
                      </a:cubicBezTo>
                      <a:lnTo>
                        <a:pt x="149548" y="316136"/>
                      </a:lnTo>
                      <a:cubicBezTo>
                        <a:pt x="154298" y="311385"/>
                        <a:pt x="154298" y="303743"/>
                        <a:pt x="149548" y="298992"/>
                      </a:cubicBezTo>
                      <a:lnTo>
                        <a:pt x="127033" y="276477"/>
                      </a:lnTo>
                      <a:cubicBezTo>
                        <a:pt x="137464" y="260675"/>
                        <a:pt x="145107" y="242705"/>
                        <a:pt x="149031" y="223495"/>
                      </a:cubicBezTo>
                      <a:lnTo>
                        <a:pt x="180841" y="223495"/>
                      </a:lnTo>
                      <a:cubicBezTo>
                        <a:pt x="187554" y="223495"/>
                        <a:pt x="192925" y="218125"/>
                        <a:pt x="192925" y="211411"/>
                      </a:cubicBezTo>
                      <a:lnTo>
                        <a:pt x="192925" y="174334"/>
                      </a:lnTo>
                      <a:cubicBezTo>
                        <a:pt x="192925" y="167621"/>
                        <a:pt x="187554" y="162251"/>
                        <a:pt x="180841" y="162251"/>
                      </a:cubicBezTo>
                      <a:lnTo>
                        <a:pt x="149031" y="162251"/>
                      </a:lnTo>
                      <a:cubicBezTo>
                        <a:pt x="145107" y="143041"/>
                        <a:pt x="137464" y="125070"/>
                        <a:pt x="127033" y="109269"/>
                      </a:cubicBezTo>
                      <a:lnTo>
                        <a:pt x="149548" y="86754"/>
                      </a:lnTo>
                      <a:cubicBezTo>
                        <a:pt x="154298" y="82003"/>
                        <a:pt x="154298" y="74361"/>
                        <a:pt x="149548" y="69610"/>
                      </a:cubicBezTo>
                      <a:lnTo>
                        <a:pt x="123315" y="43377"/>
                      </a:lnTo>
                      <a:cubicBezTo>
                        <a:pt x="118564" y="38626"/>
                        <a:pt x="110921" y="38626"/>
                        <a:pt x="106171" y="43377"/>
                      </a:cubicBezTo>
                      <a:lnTo>
                        <a:pt x="83656" y="65892"/>
                      </a:lnTo>
                      <a:cubicBezTo>
                        <a:pt x="67751" y="55461"/>
                        <a:pt x="49884" y="47818"/>
                        <a:pt x="30570" y="43893"/>
                      </a:cubicBezTo>
                      <a:lnTo>
                        <a:pt x="30570" y="12084"/>
                      </a:lnTo>
                      <a:cubicBezTo>
                        <a:pt x="30570" y="5370"/>
                        <a:pt x="25200" y="0"/>
                        <a:pt x="1848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615" name="Graphic 1289">
              <a:extLst>
                <a:ext uri="{FF2B5EF4-FFF2-40B4-BE49-F238E27FC236}">
                  <a16:creationId xmlns:a16="http://schemas.microsoft.com/office/drawing/2014/main" id="{178FB4E1-BC9A-BAAB-6F42-83288300952B}"/>
                </a:ext>
              </a:extLst>
            </p:cNvPr>
            <p:cNvGrpSpPr>
              <a:grpSpLocks/>
            </p:cNvGrpSpPr>
            <p:nvPr/>
          </p:nvGrpSpPr>
          <p:grpSpPr>
            <a:xfrm>
              <a:off x="3286094" y="5643487"/>
              <a:ext cx="244488" cy="240425"/>
              <a:chOff x="1444826" y="1352387"/>
              <a:chExt cx="430878" cy="386055"/>
            </a:xfrm>
            <a:noFill/>
          </p:grpSpPr>
          <p:grpSp>
            <p:nvGrpSpPr>
              <p:cNvPr id="619" name="Graphic 1289">
                <a:extLst>
                  <a:ext uri="{FF2B5EF4-FFF2-40B4-BE49-F238E27FC236}">
                    <a16:creationId xmlns:a16="http://schemas.microsoft.com/office/drawing/2014/main" id="{C9FDACE8-E4AA-3006-9033-03A67DCBE275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444826" y="1352387"/>
                <a:ext cx="213786" cy="386055"/>
                <a:chOff x="1444826" y="1352387"/>
                <a:chExt cx="213786" cy="386055"/>
              </a:xfrm>
              <a:noFill/>
            </p:grpSpPr>
            <p:sp>
              <p:nvSpPr>
                <p:cNvPr id="623" name="Freeform: Shape 622">
                  <a:extLst>
                    <a:ext uri="{FF2B5EF4-FFF2-40B4-BE49-F238E27FC236}">
                      <a16:creationId xmlns:a16="http://schemas.microsoft.com/office/drawing/2014/main" id="{5548AFBC-3D16-5905-6CD3-76E86BB1F4B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4826" y="1352387"/>
                  <a:ext cx="213786" cy="386055"/>
                </a:xfrm>
                <a:custGeom>
                  <a:avLst/>
                  <a:gdLst>
                    <a:gd name="connsiteX0" fmla="*/ 213787 w 213786"/>
                    <a:gd name="connsiteY0" fmla="*/ 54118 h 386055"/>
                    <a:gd name="connsiteX1" fmla="*/ 213787 w 213786"/>
                    <a:gd name="connsiteY1" fmla="*/ 331938 h 386055"/>
                    <a:gd name="connsiteX2" fmla="*/ 162974 w 213786"/>
                    <a:gd name="connsiteY2" fmla="*/ 386056 h 386055"/>
                    <a:gd name="connsiteX3" fmla="*/ 112264 w 213786"/>
                    <a:gd name="connsiteY3" fmla="*/ 331938 h 386055"/>
                    <a:gd name="connsiteX4" fmla="*/ 112471 w 213786"/>
                    <a:gd name="connsiteY4" fmla="*/ 327703 h 386055"/>
                    <a:gd name="connsiteX5" fmla="*/ 92641 w 213786"/>
                    <a:gd name="connsiteY5" fmla="*/ 331938 h 386055"/>
                    <a:gd name="connsiteX6" fmla="*/ 41931 w 213786"/>
                    <a:gd name="connsiteY6" fmla="*/ 277820 h 386055"/>
                    <a:gd name="connsiteX7" fmla="*/ 43480 w 213786"/>
                    <a:gd name="connsiteY7" fmla="*/ 264497 h 386055"/>
                    <a:gd name="connsiteX8" fmla="*/ 0 w 213786"/>
                    <a:gd name="connsiteY8" fmla="*/ 190652 h 386055"/>
                    <a:gd name="connsiteX9" fmla="*/ 38730 w 213786"/>
                    <a:gd name="connsiteY9" fmla="*/ 119184 h 386055"/>
                    <a:gd name="connsiteX10" fmla="*/ 106171 w 213786"/>
                    <a:gd name="connsiteY10" fmla="*/ 48541 h 386055"/>
                    <a:gd name="connsiteX11" fmla="*/ 112574 w 213786"/>
                    <a:gd name="connsiteY11" fmla="*/ 48851 h 386055"/>
                    <a:gd name="connsiteX12" fmla="*/ 162974 w 213786"/>
                    <a:gd name="connsiteY12" fmla="*/ 0 h 386055"/>
                    <a:gd name="connsiteX13" fmla="*/ 213787 w 213786"/>
                    <a:gd name="connsiteY13" fmla="*/ 54015 h 38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3786" h="386055">
                      <a:moveTo>
                        <a:pt x="213787" y="54118"/>
                      </a:moveTo>
                      <a:lnTo>
                        <a:pt x="213787" y="331938"/>
                      </a:lnTo>
                      <a:cubicBezTo>
                        <a:pt x="213787" y="361785"/>
                        <a:pt x="191066" y="386056"/>
                        <a:pt x="162974" y="386056"/>
                      </a:cubicBezTo>
                      <a:cubicBezTo>
                        <a:pt x="134882" y="386056"/>
                        <a:pt x="112264" y="361889"/>
                        <a:pt x="112264" y="331938"/>
                      </a:cubicBezTo>
                      <a:cubicBezTo>
                        <a:pt x="112264" y="330492"/>
                        <a:pt x="112264" y="329046"/>
                        <a:pt x="112471" y="327703"/>
                      </a:cubicBezTo>
                      <a:cubicBezTo>
                        <a:pt x="106377" y="330492"/>
                        <a:pt x="99664" y="331938"/>
                        <a:pt x="92641" y="331938"/>
                      </a:cubicBezTo>
                      <a:cubicBezTo>
                        <a:pt x="64652" y="331938"/>
                        <a:pt x="41931" y="307770"/>
                        <a:pt x="41931" y="277820"/>
                      </a:cubicBezTo>
                      <a:cubicBezTo>
                        <a:pt x="41931" y="273275"/>
                        <a:pt x="42448" y="268731"/>
                        <a:pt x="43480" y="264497"/>
                      </a:cubicBezTo>
                      <a:cubicBezTo>
                        <a:pt x="18074" y="253136"/>
                        <a:pt x="0" y="224321"/>
                        <a:pt x="0" y="190652"/>
                      </a:cubicBezTo>
                      <a:cubicBezTo>
                        <a:pt x="0" y="159152"/>
                        <a:pt x="15802" y="131887"/>
                        <a:pt x="38730" y="119184"/>
                      </a:cubicBezTo>
                      <a:cubicBezTo>
                        <a:pt x="42344" y="79421"/>
                        <a:pt x="71159" y="48541"/>
                        <a:pt x="106171" y="48541"/>
                      </a:cubicBezTo>
                      <a:cubicBezTo>
                        <a:pt x="108339" y="48541"/>
                        <a:pt x="110405" y="48644"/>
                        <a:pt x="112574" y="48851"/>
                      </a:cubicBezTo>
                      <a:cubicBezTo>
                        <a:pt x="115053" y="21482"/>
                        <a:pt x="136638" y="0"/>
                        <a:pt x="162974" y="0"/>
                      </a:cubicBezTo>
                      <a:cubicBezTo>
                        <a:pt x="191066" y="0"/>
                        <a:pt x="213787" y="24167"/>
                        <a:pt x="213787" y="5401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24" name="Freeform: Shape 623">
                  <a:extLst>
                    <a:ext uri="{FF2B5EF4-FFF2-40B4-BE49-F238E27FC236}">
                      <a16:creationId xmlns:a16="http://schemas.microsoft.com/office/drawing/2014/main" id="{E0D5059B-BB7D-3FDF-ADE3-6669C8B412F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77539" y="1628038"/>
                  <a:ext cx="35424" cy="35424"/>
                </a:xfrm>
                <a:custGeom>
                  <a:avLst/>
                  <a:gdLst>
                    <a:gd name="connsiteX0" fmla="*/ 0 w 35424"/>
                    <a:gd name="connsiteY0" fmla="*/ 0 h 35424"/>
                    <a:gd name="connsiteX1" fmla="*/ 35425 w 35424"/>
                    <a:gd name="connsiteY1" fmla="*/ 35425 h 3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24" h="35424">
                      <a:moveTo>
                        <a:pt x="0" y="0"/>
                      </a:moveTo>
                      <a:cubicBezTo>
                        <a:pt x="19520" y="0"/>
                        <a:pt x="35425" y="15802"/>
                        <a:pt x="35425" y="3542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25" name="Freeform: Shape 624">
                  <a:extLst>
                    <a:ext uri="{FF2B5EF4-FFF2-40B4-BE49-F238E27FC236}">
                      <a16:creationId xmlns:a16="http://schemas.microsoft.com/office/drawing/2014/main" id="{A34EB1F7-7E74-537A-E20E-D1138E45CA7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6318" y="1473430"/>
                  <a:ext cx="38006" cy="76013"/>
                </a:xfrm>
                <a:custGeom>
                  <a:avLst/>
                  <a:gdLst>
                    <a:gd name="connsiteX0" fmla="*/ 38007 w 38006"/>
                    <a:gd name="connsiteY0" fmla="*/ 76013 h 76013"/>
                    <a:gd name="connsiteX1" fmla="*/ 0 w 38006"/>
                    <a:gd name="connsiteY1" fmla="*/ 38007 h 76013"/>
                    <a:gd name="connsiteX2" fmla="*/ 38007 w 38006"/>
                    <a:gd name="connsiteY2" fmla="*/ 0 h 76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6" h="76013">
                      <a:moveTo>
                        <a:pt x="38007" y="76013"/>
                      </a:moveTo>
                      <a:cubicBezTo>
                        <a:pt x="17041" y="76013"/>
                        <a:pt x="0" y="58972"/>
                        <a:pt x="0" y="38007"/>
                      </a:cubicBezTo>
                      <a:cubicBezTo>
                        <a:pt x="0" y="17041"/>
                        <a:pt x="17041" y="0"/>
                        <a:pt x="38007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26" name="Freeform: Shape 625">
                  <a:extLst>
                    <a:ext uri="{FF2B5EF4-FFF2-40B4-BE49-F238E27FC236}">
                      <a16:creationId xmlns:a16="http://schemas.microsoft.com/office/drawing/2014/main" id="{ED76106E-0D14-B442-13C9-5CB47D2B029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36744" y="1511437"/>
                  <a:ext cx="49470" cy="38006"/>
                </a:xfrm>
                <a:custGeom>
                  <a:avLst/>
                  <a:gdLst>
                    <a:gd name="connsiteX0" fmla="*/ 0 w 49470"/>
                    <a:gd name="connsiteY0" fmla="*/ 38007 h 38006"/>
                    <a:gd name="connsiteX1" fmla="*/ 38007 w 49470"/>
                    <a:gd name="connsiteY1" fmla="*/ 0 h 38006"/>
                    <a:gd name="connsiteX2" fmla="*/ 49471 w 49470"/>
                    <a:gd name="connsiteY2" fmla="*/ 1756 h 38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70" h="38006">
                      <a:moveTo>
                        <a:pt x="0" y="38007"/>
                      </a:moveTo>
                      <a:cubicBezTo>
                        <a:pt x="0" y="17041"/>
                        <a:pt x="17041" y="0"/>
                        <a:pt x="38007" y="0"/>
                      </a:cubicBezTo>
                      <a:cubicBezTo>
                        <a:pt x="42034" y="0"/>
                        <a:pt x="45856" y="620"/>
                        <a:pt x="49471" y="175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27" name="Freeform: Shape 626">
                  <a:extLst>
                    <a:ext uri="{FF2B5EF4-FFF2-40B4-BE49-F238E27FC236}">
                      <a16:creationId xmlns:a16="http://schemas.microsoft.com/office/drawing/2014/main" id="{4AD3E2A2-45D2-F42A-B68B-0DBE82539A4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1593" y="1576812"/>
                  <a:ext cx="42860" cy="36560"/>
                </a:xfrm>
                <a:custGeom>
                  <a:avLst/>
                  <a:gdLst>
                    <a:gd name="connsiteX0" fmla="*/ 42861 w 42860"/>
                    <a:gd name="connsiteY0" fmla="*/ 0 h 36560"/>
                    <a:gd name="connsiteX1" fmla="*/ 0 w 42860"/>
                    <a:gd name="connsiteY1" fmla="*/ 36561 h 3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860" h="36560">
                      <a:moveTo>
                        <a:pt x="42861" y="0"/>
                      </a:moveTo>
                      <a:cubicBezTo>
                        <a:pt x="21172" y="0"/>
                        <a:pt x="3305" y="15802"/>
                        <a:pt x="0" y="36561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28" name="Freeform: Shape 627">
                  <a:extLst>
                    <a:ext uri="{FF2B5EF4-FFF2-40B4-BE49-F238E27FC236}">
                      <a16:creationId xmlns:a16="http://schemas.microsoft.com/office/drawing/2014/main" id="{7BDB5ECE-519D-34BE-0F8A-0684AA4F78D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7400" y="1401238"/>
                  <a:ext cx="30673" cy="21585"/>
                </a:xfrm>
                <a:custGeom>
                  <a:avLst/>
                  <a:gdLst>
                    <a:gd name="connsiteX0" fmla="*/ 0 w 30673"/>
                    <a:gd name="connsiteY0" fmla="*/ 0 h 21585"/>
                    <a:gd name="connsiteX1" fmla="*/ 30674 w 30673"/>
                    <a:gd name="connsiteY1" fmla="*/ 21585 h 2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673" h="21585">
                      <a:moveTo>
                        <a:pt x="0" y="0"/>
                      </a:moveTo>
                      <a:cubicBezTo>
                        <a:pt x="0" y="0"/>
                        <a:pt x="28195" y="8262"/>
                        <a:pt x="30674" y="2158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29" name="Freeform: Shape 628">
                  <a:extLst>
                    <a:ext uri="{FF2B5EF4-FFF2-40B4-BE49-F238E27FC236}">
                      <a16:creationId xmlns:a16="http://schemas.microsoft.com/office/drawing/2014/main" id="{0A493A29-A2B7-6C60-8EE7-238AC127FFE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3659" y="1468679"/>
                  <a:ext cx="46062" cy="2891"/>
                </a:xfrm>
                <a:custGeom>
                  <a:avLst/>
                  <a:gdLst>
                    <a:gd name="connsiteX0" fmla="*/ 0 w 46062"/>
                    <a:gd name="connsiteY0" fmla="*/ 2892 h 2891"/>
                    <a:gd name="connsiteX1" fmla="*/ 46062 w 46062"/>
                    <a:gd name="connsiteY1" fmla="*/ 2892 h 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62" h="2891">
                      <a:moveTo>
                        <a:pt x="0" y="2892"/>
                      </a:moveTo>
                      <a:cubicBezTo>
                        <a:pt x="0" y="2892"/>
                        <a:pt x="30570" y="-3615"/>
                        <a:pt x="46062" y="2892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620" name="Graphic 1289">
                <a:extLst>
                  <a:ext uri="{FF2B5EF4-FFF2-40B4-BE49-F238E27FC236}">
                    <a16:creationId xmlns:a16="http://schemas.microsoft.com/office/drawing/2014/main" id="{405FF79F-B42F-B018-CD4A-7C575136DCC4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682780" y="1352697"/>
                <a:ext cx="192924" cy="385745"/>
                <a:chOff x="1682780" y="1352697"/>
                <a:chExt cx="192924" cy="385745"/>
              </a:xfrm>
              <a:noFill/>
            </p:grpSpPr>
            <p:sp>
              <p:nvSpPr>
                <p:cNvPr id="621" name="Freeform: Shape 620">
                  <a:extLst>
                    <a:ext uri="{FF2B5EF4-FFF2-40B4-BE49-F238E27FC236}">
                      <a16:creationId xmlns:a16="http://schemas.microsoft.com/office/drawing/2014/main" id="{7BC0039F-97C9-2F0C-533F-B07557B3E0C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455046"/>
                  <a:ext cx="90368" cy="180737"/>
                </a:xfrm>
                <a:custGeom>
                  <a:avLst/>
                  <a:gdLst>
                    <a:gd name="connsiteX0" fmla="*/ 0 w 90368"/>
                    <a:gd name="connsiteY0" fmla="*/ 180738 h 180737"/>
                    <a:gd name="connsiteX1" fmla="*/ 90369 w 90368"/>
                    <a:gd name="connsiteY1" fmla="*/ 90369 h 180737"/>
                    <a:gd name="connsiteX2" fmla="*/ 0 w 90368"/>
                    <a:gd name="connsiteY2" fmla="*/ 0 h 180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368" h="180737">
                      <a:moveTo>
                        <a:pt x="0" y="180738"/>
                      </a:moveTo>
                      <a:cubicBezTo>
                        <a:pt x="49884" y="180738"/>
                        <a:pt x="90369" y="140252"/>
                        <a:pt x="90369" y="90369"/>
                      </a:cubicBezTo>
                      <a:cubicBezTo>
                        <a:pt x="90369" y="40485"/>
                        <a:pt x="49884" y="0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22" name="Freeform: Shape 621">
                  <a:extLst>
                    <a:ext uri="{FF2B5EF4-FFF2-40B4-BE49-F238E27FC236}">
                      <a16:creationId xmlns:a16="http://schemas.microsoft.com/office/drawing/2014/main" id="{2E9F9821-E02A-A6AE-305D-513E4139861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352697"/>
                  <a:ext cx="192924" cy="385745"/>
                </a:xfrm>
                <a:custGeom>
                  <a:avLst/>
                  <a:gdLst>
                    <a:gd name="connsiteX0" fmla="*/ 0 w 192924"/>
                    <a:gd name="connsiteY0" fmla="*/ 385746 h 385745"/>
                    <a:gd name="connsiteX1" fmla="*/ 18590 w 192924"/>
                    <a:gd name="connsiteY1" fmla="*/ 385746 h 385745"/>
                    <a:gd name="connsiteX2" fmla="*/ 30674 w 192924"/>
                    <a:gd name="connsiteY2" fmla="*/ 373662 h 385745"/>
                    <a:gd name="connsiteX3" fmla="*/ 30674 w 192924"/>
                    <a:gd name="connsiteY3" fmla="*/ 341852 h 385745"/>
                    <a:gd name="connsiteX4" fmla="*/ 83656 w 192924"/>
                    <a:gd name="connsiteY4" fmla="*/ 319854 h 385745"/>
                    <a:gd name="connsiteX5" fmla="*/ 106171 w 192924"/>
                    <a:gd name="connsiteY5" fmla="*/ 342369 h 385745"/>
                    <a:gd name="connsiteX6" fmla="*/ 123315 w 192924"/>
                    <a:gd name="connsiteY6" fmla="*/ 342369 h 385745"/>
                    <a:gd name="connsiteX7" fmla="*/ 149548 w 192924"/>
                    <a:gd name="connsiteY7" fmla="*/ 316136 h 385745"/>
                    <a:gd name="connsiteX8" fmla="*/ 149548 w 192924"/>
                    <a:gd name="connsiteY8" fmla="*/ 298992 h 385745"/>
                    <a:gd name="connsiteX9" fmla="*/ 127033 w 192924"/>
                    <a:gd name="connsiteY9" fmla="*/ 276477 h 385745"/>
                    <a:gd name="connsiteX10" fmla="*/ 149031 w 192924"/>
                    <a:gd name="connsiteY10" fmla="*/ 223495 h 385745"/>
                    <a:gd name="connsiteX11" fmla="*/ 180841 w 192924"/>
                    <a:gd name="connsiteY11" fmla="*/ 223495 h 385745"/>
                    <a:gd name="connsiteX12" fmla="*/ 192925 w 192924"/>
                    <a:gd name="connsiteY12" fmla="*/ 211411 h 385745"/>
                    <a:gd name="connsiteX13" fmla="*/ 192925 w 192924"/>
                    <a:gd name="connsiteY13" fmla="*/ 174334 h 385745"/>
                    <a:gd name="connsiteX14" fmla="*/ 180841 w 192924"/>
                    <a:gd name="connsiteY14" fmla="*/ 162251 h 385745"/>
                    <a:gd name="connsiteX15" fmla="*/ 149031 w 192924"/>
                    <a:gd name="connsiteY15" fmla="*/ 162251 h 385745"/>
                    <a:gd name="connsiteX16" fmla="*/ 127033 w 192924"/>
                    <a:gd name="connsiteY16" fmla="*/ 109269 h 385745"/>
                    <a:gd name="connsiteX17" fmla="*/ 149548 w 192924"/>
                    <a:gd name="connsiteY17" fmla="*/ 86754 h 385745"/>
                    <a:gd name="connsiteX18" fmla="*/ 149548 w 192924"/>
                    <a:gd name="connsiteY18" fmla="*/ 69610 h 385745"/>
                    <a:gd name="connsiteX19" fmla="*/ 123315 w 192924"/>
                    <a:gd name="connsiteY19" fmla="*/ 43377 h 385745"/>
                    <a:gd name="connsiteX20" fmla="*/ 106171 w 192924"/>
                    <a:gd name="connsiteY20" fmla="*/ 43377 h 385745"/>
                    <a:gd name="connsiteX21" fmla="*/ 83656 w 192924"/>
                    <a:gd name="connsiteY21" fmla="*/ 65892 h 385745"/>
                    <a:gd name="connsiteX22" fmla="*/ 30570 w 192924"/>
                    <a:gd name="connsiteY22" fmla="*/ 43893 h 385745"/>
                    <a:gd name="connsiteX23" fmla="*/ 30570 w 192924"/>
                    <a:gd name="connsiteY23" fmla="*/ 12084 h 385745"/>
                    <a:gd name="connsiteX24" fmla="*/ 18487 w 192924"/>
                    <a:gd name="connsiteY24" fmla="*/ 0 h 385745"/>
                    <a:gd name="connsiteX25" fmla="*/ 0 w 192924"/>
                    <a:gd name="connsiteY25" fmla="*/ 0 h 38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92924" h="385745">
                      <a:moveTo>
                        <a:pt x="0" y="385746"/>
                      </a:moveTo>
                      <a:lnTo>
                        <a:pt x="18590" y="385746"/>
                      </a:lnTo>
                      <a:cubicBezTo>
                        <a:pt x="25303" y="385746"/>
                        <a:pt x="30674" y="380375"/>
                        <a:pt x="30674" y="373662"/>
                      </a:cubicBezTo>
                      <a:lnTo>
                        <a:pt x="30674" y="341852"/>
                      </a:lnTo>
                      <a:cubicBezTo>
                        <a:pt x="49884" y="337928"/>
                        <a:pt x="67854" y="330285"/>
                        <a:pt x="83656" y="319854"/>
                      </a:cubicBezTo>
                      <a:lnTo>
                        <a:pt x="106171" y="342369"/>
                      </a:lnTo>
                      <a:cubicBezTo>
                        <a:pt x="110921" y="347120"/>
                        <a:pt x="118564" y="347120"/>
                        <a:pt x="123315" y="342369"/>
                      </a:cubicBezTo>
                      <a:lnTo>
                        <a:pt x="149548" y="316136"/>
                      </a:lnTo>
                      <a:cubicBezTo>
                        <a:pt x="154298" y="311385"/>
                        <a:pt x="154298" y="303743"/>
                        <a:pt x="149548" y="298992"/>
                      </a:cubicBezTo>
                      <a:lnTo>
                        <a:pt x="127033" y="276477"/>
                      </a:lnTo>
                      <a:cubicBezTo>
                        <a:pt x="137464" y="260675"/>
                        <a:pt x="145107" y="242705"/>
                        <a:pt x="149031" y="223495"/>
                      </a:cubicBezTo>
                      <a:lnTo>
                        <a:pt x="180841" y="223495"/>
                      </a:lnTo>
                      <a:cubicBezTo>
                        <a:pt x="187554" y="223495"/>
                        <a:pt x="192925" y="218125"/>
                        <a:pt x="192925" y="211411"/>
                      </a:cubicBezTo>
                      <a:lnTo>
                        <a:pt x="192925" y="174334"/>
                      </a:lnTo>
                      <a:cubicBezTo>
                        <a:pt x="192925" y="167621"/>
                        <a:pt x="187554" y="162251"/>
                        <a:pt x="180841" y="162251"/>
                      </a:cubicBezTo>
                      <a:lnTo>
                        <a:pt x="149031" y="162251"/>
                      </a:lnTo>
                      <a:cubicBezTo>
                        <a:pt x="145107" y="143041"/>
                        <a:pt x="137464" y="125070"/>
                        <a:pt x="127033" y="109269"/>
                      </a:cubicBezTo>
                      <a:lnTo>
                        <a:pt x="149548" y="86754"/>
                      </a:lnTo>
                      <a:cubicBezTo>
                        <a:pt x="154298" y="82003"/>
                        <a:pt x="154298" y="74361"/>
                        <a:pt x="149548" y="69610"/>
                      </a:cubicBezTo>
                      <a:lnTo>
                        <a:pt x="123315" y="43377"/>
                      </a:lnTo>
                      <a:cubicBezTo>
                        <a:pt x="118564" y="38626"/>
                        <a:pt x="110921" y="38626"/>
                        <a:pt x="106171" y="43377"/>
                      </a:cubicBezTo>
                      <a:lnTo>
                        <a:pt x="83656" y="65892"/>
                      </a:lnTo>
                      <a:cubicBezTo>
                        <a:pt x="67751" y="55461"/>
                        <a:pt x="49884" y="47818"/>
                        <a:pt x="30570" y="43893"/>
                      </a:cubicBezTo>
                      <a:lnTo>
                        <a:pt x="30570" y="12084"/>
                      </a:lnTo>
                      <a:cubicBezTo>
                        <a:pt x="30570" y="5370"/>
                        <a:pt x="25200" y="0"/>
                        <a:pt x="1848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630" name="Graphic 1289">
              <a:extLst>
                <a:ext uri="{FF2B5EF4-FFF2-40B4-BE49-F238E27FC236}">
                  <a16:creationId xmlns:a16="http://schemas.microsoft.com/office/drawing/2014/main" id="{0D0E6658-AC81-EA0F-E93E-DC19EAF31953}"/>
                </a:ext>
              </a:extLst>
            </p:cNvPr>
            <p:cNvGrpSpPr>
              <a:grpSpLocks/>
            </p:cNvGrpSpPr>
            <p:nvPr/>
          </p:nvGrpSpPr>
          <p:grpSpPr>
            <a:xfrm>
              <a:off x="3598838" y="5629527"/>
              <a:ext cx="244428" cy="268275"/>
              <a:chOff x="1445032" y="2593281"/>
              <a:chExt cx="430775" cy="430775"/>
            </a:xfrm>
            <a:noFill/>
          </p:grpSpPr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0287BE44-525A-401E-BD5A-C0BD00D67C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14332" y="2662581"/>
                <a:ext cx="292278" cy="292278"/>
              </a:xfrm>
              <a:custGeom>
                <a:avLst/>
                <a:gdLst>
                  <a:gd name="connsiteX0" fmla="*/ 189000 w 292278"/>
                  <a:gd name="connsiteY0" fmla="*/ 0 h 292278"/>
                  <a:gd name="connsiteX1" fmla="*/ 292279 w 292278"/>
                  <a:gd name="connsiteY1" fmla="*/ 103279 h 292278"/>
                  <a:gd name="connsiteX2" fmla="*/ 292279 w 292278"/>
                  <a:gd name="connsiteY2" fmla="*/ 189000 h 292278"/>
                  <a:gd name="connsiteX3" fmla="*/ 189000 w 292278"/>
                  <a:gd name="connsiteY3" fmla="*/ 292279 h 292278"/>
                  <a:gd name="connsiteX4" fmla="*/ 103279 w 292278"/>
                  <a:gd name="connsiteY4" fmla="*/ 292279 h 292278"/>
                  <a:gd name="connsiteX5" fmla="*/ 0 w 292278"/>
                  <a:gd name="connsiteY5" fmla="*/ 189000 h 292278"/>
                  <a:gd name="connsiteX6" fmla="*/ 0 w 292278"/>
                  <a:gd name="connsiteY6" fmla="*/ 103279 h 292278"/>
                  <a:gd name="connsiteX7" fmla="*/ 103279 w 292278"/>
                  <a:gd name="connsiteY7" fmla="*/ 0 h 29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2278" h="292278">
                    <a:moveTo>
                      <a:pt x="189000" y="0"/>
                    </a:moveTo>
                    <a:cubicBezTo>
                      <a:pt x="246039" y="0"/>
                      <a:pt x="292279" y="46239"/>
                      <a:pt x="292279" y="103279"/>
                    </a:cubicBezTo>
                    <a:lnTo>
                      <a:pt x="292279" y="189000"/>
                    </a:lnTo>
                    <a:cubicBezTo>
                      <a:pt x="292279" y="246039"/>
                      <a:pt x="246039" y="292279"/>
                      <a:pt x="189000" y="292279"/>
                    </a:cubicBezTo>
                    <a:lnTo>
                      <a:pt x="103279" y="292279"/>
                    </a:lnTo>
                    <a:cubicBezTo>
                      <a:pt x="46239" y="292279"/>
                      <a:pt x="0" y="246039"/>
                      <a:pt x="0" y="189000"/>
                    </a:cubicBezTo>
                    <a:lnTo>
                      <a:pt x="0" y="103279"/>
                    </a:lnTo>
                    <a:cubicBezTo>
                      <a:pt x="0" y="46239"/>
                      <a:pt x="46239" y="0"/>
                      <a:pt x="103279" y="0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FFDC8606-B980-18D7-0BF6-391C00E9E05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97962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B825F631-6832-E2C3-4179-286BF21F82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2878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8F388048-5A35-29BA-E6E7-7638BE77621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73046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00A8120A-67A5-9618-D3BD-85B5D41BD9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7795" y="2593281"/>
                <a:ext cx="10327" cy="50606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60084D26-3AC1-8EC7-A2AC-B95DC656B0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97962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2656D19F-04A9-DF31-CED6-B40FCDCE99B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622878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76CFE4DE-DBA2-507C-FC3A-16B14A12D16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773046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B0F5ED3B-3A59-BA87-EB04-E25A24A83BD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547795" y="2973450"/>
                <a:ext cx="10327" cy="50606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DFD785C6-197F-E5BC-9C4A-86B8FB7E8C7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771127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E721B207-4786-246E-7849-6E74123ACB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846210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EBBA9C5E-7023-DA04-CF16-36015AB8F7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696146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A62C275A-03DB-E16C-16C8-D8B634ED52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445032" y="2921294"/>
                <a:ext cx="50606" cy="10327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05CA2075-C42E-9CAF-8D5E-C72B94DDC8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771127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E7C6FFF0-2136-075E-7288-F83CA383C91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846210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01B50389-7E5D-0B3F-B6F3-F287CCE3F3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696146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538FEED7-C2F6-DB8C-7F7E-448671C43AD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25201" y="2921294"/>
                <a:ext cx="50606" cy="10327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grpSp>
            <p:nvGrpSpPr>
              <p:cNvPr id="648" name="Graphic 1289">
                <a:extLst>
                  <a:ext uri="{FF2B5EF4-FFF2-40B4-BE49-F238E27FC236}">
                    <a16:creationId xmlns:a16="http://schemas.microsoft.com/office/drawing/2014/main" id="{3F885EA1-2D1D-62EF-4E37-EDFE3EC35A8A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552752" y="2701001"/>
                <a:ext cx="215336" cy="215336"/>
                <a:chOff x="1552752" y="2701001"/>
                <a:chExt cx="215336" cy="215336"/>
              </a:xfrm>
              <a:noFill/>
            </p:grpSpPr>
            <p:sp>
              <p:nvSpPr>
                <p:cNvPr id="649" name="Freeform: Shape 648">
                  <a:extLst>
                    <a:ext uri="{FF2B5EF4-FFF2-40B4-BE49-F238E27FC236}">
                      <a16:creationId xmlns:a16="http://schemas.microsoft.com/office/drawing/2014/main" id="{622F3A03-DDE2-B520-25A4-38DFECC7BA98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-4846799">
                  <a:off x="1610125" y="2758311"/>
                  <a:ext cx="100799" cy="100799"/>
                </a:xfrm>
                <a:custGeom>
                  <a:avLst/>
                  <a:gdLst>
                    <a:gd name="connsiteX0" fmla="*/ 100800 w 100799"/>
                    <a:gd name="connsiteY0" fmla="*/ 50400 h 100799"/>
                    <a:gd name="connsiteX1" fmla="*/ 50400 w 100799"/>
                    <a:gd name="connsiteY1" fmla="*/ 100800 h 100799"/>
                    <a:gd name="connsiteX2" fmla="*/ 0 w 100799"/>
                    <a:gd name="connsiteY2" fmla="*/ 50400 h 100799"/>
                    <a:gd name="connsiteX3" fmla="*/ 50400 w 100799"/>
                    <a:gd name="connsiteY3" fmla="*/ 0 h 100799"/>
                    <a:gd name="connsiteX4" fmla="*/ 100800 w 100799"/>
                    <a:gd name="connsiteY4" fmla="*/ 50400 h 1007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99" h="100799">
                      <a:moveTo>
                        <a:pt x="100800" y="50400"/>
                      </a:moveTo>
                      <a:cubicBezTo>
                        <a:pt x="100800" y="78235"/>
                        <a:pt x="78235" y="100800"/>
                        <a:pt x="50400" y="100800"/>
                      </a:cubicBezTo>
                      <a:cubicBezTo>
                        <a:pt x="22565" y="100800"/>
                        <a:pt x="0" y="78235"/>
                        <a:pt x="0" y="50400"/>
                      </a:cubicBezTo>
                      <a:cubicBezTo>
                        <a:pt x="0" y="22565"/>
                        <a:pt x="22565" y="0"/>
                        <a:pt x="50400" y="0"/>
                      </a:cubicBezTo>
                      <a:cubicBezTo>
                        <a:pt x="78235" y="0"/>
                        <a:pt x="100800" y="22565"/>
                        <a:pt x="100800" y="50400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50" name="Freeform: Shape 649">
                  <a:extLst>
                    <a:ext uri="{FF2B5EF4-FFF2-40B4-BE49-F238E27FC236}">
                      <a16:creationId xmlns:a16="http://schemas.microsoft.com/office/drawing/2014/main" id="{BA5425FB-D080-A99E-7B0E-3D8E3ADC884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2752" y="2701001"/>
                  <a:ext cx="215336" cy="215336"/>
                </a:xfrm>
                <a:custGeom>
                  <a:avLst/>
                  <a:gdLst>
                    <a:gd name="connsiteX0" fmla="*/ 208623 w 215336"/>
                    <a:gd name="connsiteY0" fmla="*/ 90575 h 215336"/>
                    <a:gd name="connsiteX1" fmla="*/ 190859 w 215336"/>
                    <a:gd name="connsiteY1" fmla="*/ 90575 h 215336"/>
                    <a:gd name="connsiteX2" fmla="*/ 178569 w 215336"/>
                    <a:gd name="connsiteY2" fmla="*/ 60935 h 215336"/>
                    <a:gd name="connsiteX3" fmla="*/ 191169 w 215336"/>
                    <a:gd name="connsiteY3" fmla="*/ 48335 h 215336"/>
                    <a:gd name="connsiteX4" fmla="*/ 191169 w 215336"/>
                    <a:gd name="connsiteY4" fmla="*/ 38833 h 215336"/>
                    <a:gd name="connsiteX5" fmla="*/ 176503 w 215336"/>
                    <a:gd name="connsiteY5" fmla="*/ 24167 h 215336"/>
                    <a:gd name="connsiteX6" fmla="*/ 167002 w 215336"/>
                    <a:gd name="connsiteY6" fmla="*/ 24167 h 215336"/>
                    <a:gd name="connsiteX7" fmla="*/ 154402 w 215336"/>
                    <a:gd name="connsiteY7" fmla="*/ 36767 h 215336"/>
                    <a:gd name="connsiteX8" fmla="*/ 124761 w 215336"/>
                    <a:gd name="connsiteY8" fmla="*/ 24477 h 215336"/>
                    <a:gd name="connsiteX9" fmla="*/ 124761 w 215336"/>
                    <a:gd name="connsiteY9" fmla="*/ 6713 h 215336"/>
                    <a:gd name="connsiteX10" fmla="*/ 118048 w 215336"/>
                    <a:gd name="connsiteY10" fmla="*/ 0 h 215336"/>
                    <a:gd name="connsiteX11" fmla="*/ 97289 w 215336"/>
                    <a:gd name="connsiteY11" fmla="*/ 0 h 215336"/>
                    <a:gd name="connsiteX12" fmla="*/ 90575 w 215336"/>
                    <a:gd name="connsiteY12" fmla="*/ 6713 h 215336"/>
                    <a:gd name="connsiteX13" fmla="*/ 90575 w 215336"/>
                    <a:gd name="connsiteY13" fmla="*/ 24477 h 215336"/>
                    <a:gd name="connsiteX14" fmla="*/ 60934 w 215336"/>
                    <a:gd name="connsiteY14" fmla="*/ 36767 h 215336"/>
                    <a:gd name="connsiteX15" fmla="*/ 48334 w 215336"/>
                    <a:gd name="connsiteY15" fmla="*/ 24167 h 215336"/>
                    <a:gd name="connsiteX16" fmla="*/ 38833 w 215336"/>
                    <a:gd name="connsiteY16" fmla="*/ 24167 h 215336"/>
                    <a:gd name="connsiteX17" fmla="*/ 24167 w 215336"/>
                    <a:gd name="connsiteY17" fmla="*/ 38833 h 215336"/>
                    <a:gd name="connsiteX18" fmla="*/ 24167 w 215336"/>
                    <a:gd name="connsiteY18" fmla="*/ 48335 h 215336"/>
                    <a:gd name="connsiteX19" fmla="*/ 36767 w 215336"/>
                    <a:gd name="connsiteY19" fmla="*/ 60935 h 215336"/>
                    <a:gd name="connsiteX20" fmla="*/ 24477 w 215336"/>
                    <a:gd name="connsiteY20" fmla="*/ 90575 h 215336"/>
                    <a:gd name="connsiteX21" fmla="*/ 6713 w 215336"/>
                    <a:gd name="connsiteY21" fmla="*/ 90575 h 215336"/>
                    <a:gd name="connsiteX22" fmla="*/ 0 w 215336"/>
                    <a:gd name="connsiteY22" fmla="*/ 97289 h 215336"/>
                    <a:gd name="connsiteX23" fmla="*/ 0 w 215336"/>
                    <a:gd name="connsiteY23" fmla="*/ 118048 h 215336"/>
                    <a:gd name="connsiteX24" fmla="*/ 6713 w 215336"/>
                    <a:gd name="connsiteY24" fmla="*/ 124761 h 215336"/>
                    <a:gd name="connsiteX25" fmla="*/ 24477 w 215336"/>
                    <a:gd name="connsiteY25" fmla="*/ 124761 h 215336"/>
                    <a:gd name="connsiteX26" fmla="*/ 36767 w 215336"/>
                    <a:gd name="connsiteY26" fmla="*/ 154402 h 215336"/>
                    <a:gd name="connsiteX27" fmla="*/ 24167 w 215336"/>
                    <a:gd name="connsiteY27" fmla="*/ 167002 h 215336"/>
                    <a:gd name="connsiteX28" fmla="*/ 24167 w 215336"/>
                    <a:gd name="connsiteY28" fmla="*/ 176503 h 215336"/>
                    <a:gd name="connsiteX29" fmla="*/ 38833 w 215336"/>
                    <a:gd name="connsiteY29" fmla="*/ 191169 h 215336"/>
                    <a:gd name="connsiteX30" fmla="*/ 48334 w 215336"/>
                    <a:gd name="connsiteY30" fmla="*/ 191169 h 215336"/>
                    <a:gd name="connsiteX31" fmla="*/ 60934 w 215336"/>
                    <a:gd name="connsiteY31" fmla="*/ 178569 h 215336"/>
                    <a:gd name="connsiteX32" fmla="*/ 90575 w 215336"/>
                    <a:gd name="connsiteY32" fmla="*/ 190859 h 215336"/>
                    <a:gd name="connsiteX33" fmla="*/ 90575 w 215336"/>
                    <a:gd name="connsiteY33" fmla="*/ 208623 h 215336"/>
                    <a:gd name="connsiteX34" fmla="*/ 97289 w 215336"/>
                    <a:gd name="connsiteY34" fmla="*/ 215336 h 215336"/>
                    <a:gd name="connsiteX35" fmla="*/ 118048 w 215336"/>
                    <a:gd name="connsiteY35" fmla="*/ 215336 h 215336"/>
                    <a:gd name="connsiteX36" fmla="*/ 124761 w 215336"/>
                    <a:gd name="connsiteY36" fmla="*/ 208623 h 215336"/>
                    <a:gd name="connsiteX37" fmla="*/ 124761 w 215336"/>
                    <a:gd name="connsiteY37" fmla="*/ 190859 h 215336"/>
                    <a:gd name="connsiteX38" fmla="*/ 154402 w 215336"/>
                    <a:gd name="connsiteY38" fmla="*/ 178569 h 215336"/>
                    <a:gd name="connsiteX39" fmla="*/ 167002 w 215336"/>
                    <a:gd name="connsiteY39" fmla="*/ 191169 h 215336"/>
                    <a:gd name="connsiteX40" fmla="*/ 176503 w 215336"/>
                    <a:gd name="connsiteY40" fmla="*/ 191169 h 215336"/>
                    <a:gd name="connsiteX41" fmla="*/ 191169 w 215336"/>
                    <a:gd name="connsiteY41" fmla="*/ 176503 h 215336"/>
                    <a:gd name="connsiteX42" fmla="*/ 191169 w 215336"/>
                    <a:gd name="connsiteY42" fmla="*/ 167002 h 215336"/>
                    <a:gd name="connsiteX43" fmla="*/ 178569 w 215336"/>
                    <a:gd name="connsiteY43" fmla="*/ 154402 h 215336"/>
                    <a:gd name="connsiteX44" fmla="*/ 190859 w 215336"/>
                    <a:gd name="connsiteY44" fmla="*/ 124761 h 215336"/>
                    <a:gd name="connsiteX45" fmla="*/ 208623 w 215336"/>
                    <a:gd name="connsiteY45" fmla="*/ 124761 h 215336"/>
                    <a:gd name="connsiteX46" fmla="*/ 215336 w 215336"/>
                    <a:gd name="connsiteY46" fmla="*/ 118048 h 215336"/>
                    <a:gd name="connsiteX47" fmla="*/ 215336 w 215336"/>
                    <a:gd name="connsiteY47" fmla="*/ 97289 h 215336"/>
                    <a:gd name="connsiteX48" fmla="*/ 208623 w 215336"/>
                    <a:gd name="connsiteY48" fmla="*/ 90575 h 215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15336" h="215336">
                      <a:moveTo>
                        <a:pt x="208623" y="90575"/>
                      </a:moveTo>
                      <a:lnTo>
                        <a:pt x="190859" y="90575"/>
                      </a:lnTo>
                      <a:cubicBezTo>
                        <a:pt x="188690" y="79834"/>
                        <a:pt x="184456" y="69816"/>
                        <a:pt x="178569" y="60935"/>
                      </a:cubicBezTo>
                      <a:lnTo>
                        <a:pt x="191169" y="48335"/>
                      </a:lnTo>
                      <a:cubicBezTo>
                        <a:pt x="193854" y="45649"/>
                        <a:pt x="193854" y="41415"/>
                        <a:pt x="191169" y="38833"/>
                      </a:cubicBezTo>
                      <a:lnTo>
                        <a:pt x="176503" y="24167"/>
                      </a:lnTo>
                      <a:cubicBezTo>
                        <a:pt x="173818" y="21482"/>
                        <a:pt x="169584" y="21482"/>
                        <a:pt x="167002" y="24167"/>
                      </a:cubicBezTo>
                      <a:lnTo>
                        <a:pt x="154402" y="36767"/>
                      </a:lnTo>
                      <a:cubicBezTo>
                        <a:pt x="145520" y="30880"/>
                        <a:pt x="135502" y="26646"/>
                        <a:pt x="124761" y="24477"/>
                      </a:cubicBezTo>
                      <a:lnTo>
                        <a:pt x="124761" y="6713"/>
                      </a:lnTo>
                      <a:cubicBezTo>
                        <a:pt x="124761" y="2995"/>
                        <a:pt x="121766" y="0"/>
                        <a:pt x="118048" y="0"/>
                      </a:cubicBezTo>
                      <a:lnTo>
                        <a:pt x="97289" y="0"/>
                      </a:lnTo>
                      <a:cubicBezTo>
                        <a:pt x="93570" y="0"/>
                        <a:pt x="90575" y="2995"/>
                        <a:pt x="90575" y="6713"/>
                      </a:cubicBezTo>
                      <a:lnTo>
                        <a:pt x="90575" y="24477"/>
                      </a:lnTo>
                      <a:cubicBezTo>
                        <a:pt x="79834" y="26646"/>
                        <a:pt x="69816" y="30880"/>
                        <a:pt x="60934" y="36767"/>
                      </a:cubicBezTo>
                      <a:lnTo>
                        <a:pt x="48334" y="24167"/>
                      </a:lnTo>
                      <a:cubicBezTo>
                        <a:pt x="45649" y="21482"/>
                        <a:pt x="41415" y="21482"/>
                        <a:pt x="38833" y="24167"/>
                      </a:cubicBezTo>
                      <a:lnTo>
                        <a:pt x="24167" y="38833"/>
                      </a:lnTo>
                      <a:cubicBezTo>
                        <a:pt x="21482" y="41518"/>
                        <a:pt x="21482" y="45753"/>
                        <a:pt x="24167" y="48335"/>
                      </a:cubicBezTo>
                      <a:lnTo>
                        <a:pt x="36767" y="60935"/>
                      </a:lnTo>
                      <a:cubicBezTo>
                        <a:pt x="30880" y="69816"/>
                        <a:pt x="26646" y="79834"/>
                        <a:pt x="24477" y="90575"/>
                      </a:cubicBezTo>
                      <a:lnTo>
                        <a:pt x="6713" y="90575"/>
                      </a:lnTo>
                      <a:cubicBezTo>
                        <a:pt x="2995" y="90575"/>
                        <a:pt x="0" y="93570"/>
                        <a:pt x="0" y="97289"/>
                      </a:cubicBezTo>
                      <a:lnTo>
                        <a:pt x="0" y="118048"/>
                      </a:lnTo>
                      <a:cubicBezTo>
                        <a:pt x="0" y="121766"/>
                        <a:pt x="2995" y="124761"/>
                        <a:pt x="6713" y="124761"/>
                      </a:cubicBezTo>
                      <a:lnTo>
                        <a:pt x="24477" y="124761"/>
                      </a:lnTo>
                      <a:cubicBezTo>
                        <a:pt x="26646" y="135502"/>
                        <a:pt x="30880" y="145520"/>
                        <a:pt x="36767" y="154402"/>
                      </a:cubicBezTo>
                      <a:lnTo>
                        <a:pt x="24167" y="167002"/>
                      </a:lnTo>
                      <a:cubicBezTo>
                        <a:pt x="21482" y="169687"/>
                        <a:pt x="21482" y="173921"/>
                        <a:pt x="24167" y="176503"/>
                      </a:cubicBezTo>
                      <a:lnTo>
                        <a:pt x="38833" y="191169"/>
                      </a:lnTo>
                      <a:cubicBezTo>
                        <a:pt x="41518" y="193854"/>
                        <a:pt x="45752" y="193854"/>
                        <a:pt x="48334" y="191169"/>
                      </a:cubicBezTo>
                      <a:lnTo>
                        <a:pt x="60934" y="178569"/>
                      </a:lnTo>
                      <a:cubicBezTo>
                        <a:pt x="69816" y="184456"/>
                        <a:pt x="79834" y="188690"/>
                        <a:pt x="90575" y="190859"/>
                      </a:cubicBezTo>
                      <a:lnTo>
                        <a:pt x="90575" y="208623"/>
                      </a:lnTo>
                      <a:cubicBezTo>
                        <a:pt x="90575" y="212341"/>
                        <a:pt x="93570" y="215336"/>
                        <a:pt x="97289" y="215336"/>
                      </a:cubicBezTo>
                      <a:lnTo>
                        <a:pt x="118048" y="215336"/>
                      </a:lnTo>
                      <a:cubicBezTo>
                        <a:pt x="121766" y="215336"/>
                        <a:pt x="124761" y="212341"/>
                        <a:pt x="124761" y="208623"/>
                      </a:cubicBezTo>
                      <a:lnTo>
                        <a:pt x="124761" y="190859"/>
                      </a:lnTo>
                      <a:cubicBezTo>
                        <a:pt x="135502" y="188690"/>
                        <a:pt x="145520" y="184456"/>
                        <a:pt x="154402" y="178569"/>
                      </a:cubicBezTo>
                      <a:lnTo>
                        <a:pt x="167002" y="191169"/>
                      </a:lnTo>
                      <a:cubicBezTo>
                        <a:pt x="169687" y="193854"/>
                        <a:pt x="173921" y="193854"/>
                        <a:pt x="176503" y="191169"/>
                      </a:cubicBezTo>
                      <a:lnTo>
                        <a:pt x="191169" y="176503"/>
                      </a:lnTo>
                      <a:cubicBezTo>
                        <a:pt x="193854" y="173818"/>
                        <a:pt x="193854" y="169584"/>
                        <a:pt x="191169" y="167002"/>
                      </a:cubicBezTo>
                      <a:lnTo>
                        <a:pt x="178569" y="154402"/>
                      </a:lnTo>
                      <a:cubicBezTo>
                        <a:pt x="184456" y="145520"/>
                        <a:pt x="188690" y="135502"/>
                        <a:pt x="190859" y="124761"/>
                      </a:cubicBezTo>
                      <a:lnTo>
                        <a:pt x="208623" y="124761"/>
                      </a:lnTo>
                      <a:cubicBezTo>
                        <a:pt x="212341" y="124761"/>
                        <a:pt x="215336" y="121766"/>
                        <a:pt x="215336" y="118048"/>
                      </a:cubicBezTo>
                      <a:lnTo>
                        <a:pt x="215336" y="97289"/>
                      </a:lnTo>
                      <a:cubicBezTo>
                        <a:pt x="215336" y="93570"/>
                        <a:pt x="212341" y="90575"/>
                        <a:pt x="208623" y="9057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C9CAEB9-2CF8-3BB2-4632-61240319EDAE}"/>
              </a:ext>
            </a:extLst>
          </p:cNvPr>
          <p:cNvGrpSpPr/>
          <p:nvPr/>
        </p:nvGrpSpPr>
        <p:grpSpPr>
          <a:xfrm>
            <a:off x="5714846" y="1122631"/>
            <a:ext cx="6100933" cy="5129235"/>
            <a:chOff x="5629067" y="1125005"/>
            <a:chExt cx="6100933" cy="5129235"/>
          </a:xfrm>
        </p:grpSpPr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DFD1CD56-F92D-1E3A-D254-6D4A00074BF9}"/>
                </a:ext>
              </a:extLst>
            </p:cNvPr>
            <p:cNvCxnSpPr>
              <a:cxnSpLocks/>
            </p:cNvCxnSpPr>
            <p:nvPr/>
          </p:nvCxnSpPr>
          <p:spPr>
            <a:xfrm>
              <a:off x="5799835" y="4937534"/>
              <a:ext cx="5924065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DCD17468-B8EC-A2C4-7EC5-6B3FF3FE1847}"/>
                </a:ext>
              </a:extLst>
            </p:cNvPr>
            <p:cNvCxnSpPr/>
            <p:nvPr/>
          </p:nvCxnSpPr>
          <p:spPr>
            <a:xfrm>
              <a:off x="5799835" y="3059747"/>
              <a:ext cx="5866385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F617B361-EAE2-B4B1-1D9E-4782C983D9FA}"/>
                </a:ext>
              </a:extLst>
            </p:cNvPr>
            <p:cNvCxnSpPr/>
            <p:nvPr/>
          </p:nvCxnSpPr>
          <p:spPr>
            <a:xfrm>
              <a:off x="5799835" y="3922622"/>
              <a:ext cx="5866385" cy="0"/>
            </a:xfrm>
            <a:prstGeom prst="line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7" name="TextBox 616">
              <a:extLst>
                <a:ext uri="{FF2B5EF4-FFF2-40B4-BE49-F238E27FC236}">
                  <a16:creationId xmlns:a16="http://schemas.microsoft.com/office/drawing/2014/main" id="{39440440-D535-85C9-0BFA-501B53211D99}"/>
                </a:ext>
              </a:extLst>
            </p:cNvPr>
            <p:cNvSpPr txBox="1">
              <a:spLocks/>
            </p:cNvSpPr>
            <p:nvPr/>
          </p:nvSpPr>
          <p:spPr>
            <a:xfrm>
              <a:off x="11385346" y="1686594"/>
              <a:ext cx="338554" cy="3223718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</p:spPr>
          <p:txBody>
            <a:bodyPr vert="vert" wrap="square" rtlCol="0">
              <a:noAutofit/>
            </a:bodyPr>
            <a:lstStyle/>
            <a:p>
              <a:pPr algn="ctr"/>
              <a:r>
                <a:rPr lang="en-US" sz="1000" b="1"/>
                <a:t>Proven delivery accelerators</a:t>
              </a:r>
            </a:p>
          </p:txBody>
        </p:sp>
        <p:sp>
          <p:nvSpPr>
            <p:cNvPr id="618" name="TextBox 617">
              <a:extLst>
                <a:ext uri="{FF2B5EF4-FFF2-40B4-BE49-F238E27FC236}">
                  <a16:creationId xmlns:a16="http://schemas.microsoft.com/office/drawing/2014/main" id="{BB8F44CE-05FA-5123-8F0E-04B085CD30FD}"/>
                </a:ext>
              </a:extLst>
            </p:cNvPr>
            <p:cNvSpPr txBox="1">
              <a:spLocks/>
            </p:cNvSpPr>
            <p:nvPr/>
          </p:nvSpPr>
          <p:spPr>
            <a:xfrm>
              <a:off x="11385346" y="4964757"/>
              <a:ext cx="338554" cy="1289483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</p:spPr>
          <p:txBody>
            <a:bodyPr vert="vert" wrap="square" lIns="0" tIns="0" rIns="0" bIns="0" rtlCol="0">
              <a:noAutofit/>
            </a:bodyPr>
            <a:lstStyle>
              <a:defPPr>
                <a:defRPr lang="en-US"/>
              </a:defPPr>
              <a:lvl1pPr algn="ctr">
                <a:defRPr sz="1000" b="1"/>
              </a:lvl1pPr>
            </a:lstStyle>
            <a:p>
              <a:r>
                <a:rPr lang="en-US"/>
                <a:t>Emerging agentic capability</a:t>
              </a:r>
            </a:p>
          </p:txBody>
        </p:sp>
        <p:sp>
          <p:nvSpPr>
            <p:cNvPr id="577" name="Rectangle: Rounded Corners 576">
              <a:extLst>
                <a:ext uri="{FF2B5EF4-FFF2-40B4-BE49-F238E27FC236}">
                  <a16:creationId xmlns:a16="http://schemas.microsoft.com/office/drawing/2014/main" id="{FE9374C3-2C9E-3865-AA5F-B498DD031538}"/>
                </a:ext>
              </a:extLst>
            </p:cNvPr>
            <p:cNvSpPr>
              <a:spLocks/>
            </p:cNvSpPr>
            <p:nvPr/>
          </p:nvSpPr>
          <p:spPr>
            <a:xfrm>
              <a:off x="5807839" y="1130252"/>
              <a:ext cx="5922161" cy="561116"/>
            </a:xfrm>
            <a:prstGeom prst="roundRect">
              <a:avLst>
                <a:gd name="adj" fmla="val 0"/>
              </a:avLst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lt"/>
                <a:cs typeface="+mn-lt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192E95A-CB89-81B3-6452-11DDE83E5405}"/>
                </a:ext>
              </a:extLst>
            </p:cNvPr>
            <p:cNvSpPr>
              <a:spLocks/>
            </p:cNvSpPr>
            <p:nvPr/>
          </p:nvSpPr>
          <p:spPr>
            <a:xfrm>
              <a:off x="5629067" y="1125005"/>
              <a:ext cx="6094833" cy="561589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</p:spPr>
          <p:txBody>
            <a:bodyPr vert="horz" wrap="none" lIns="90000" tIns="45720" rIns="91440" bIns="45720" rtlCol="0" anchor="ctr">
              <a:noAutofit/>
            </a:bodyPr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+mj-lt"/>
                  <a:cs typeface="Segoe UI Light"/>
                </a:rPr>
                <a:t>Open-source AI-enabled delivery accelerators, alongside emerging </a:t>
              </a:r>
            </a:p>
            <a:p>
              <a:pPr algn="ctr"/>
              <a:r>
                <a:rPr lang="en-US" sz="1200" b="1">
                  <a:solidFill>
                    <a:schemeClr val="bg1"/>
                  </a:solidFill>
                  <a:latin typeface="+mj-lt"/>
                  <a:cs typeface="Segoe UI Light"/>
                </a:rPr>
                <a:t>agentic solutions under controlled development</a:t>
              </a:r>
              <a:endParaRPr lang="en-GB" sz="1200" b="1">
                <a:solidFill>
                  <a:schemeClr val="bg1"/>
                </a:solidFill>
                <a:latin typeface="+mj-lt"/>
                <a:cs typeface="Segoe UI Light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0A1F1678-B921-1671-5862-410845952648}"/>
                </a:ext>
              </a:extLst>
            </p:cNvPr>
            <p:cNvSpPr txBox="1"/>
            <p:nvPr/>
          </p:nvSpPr>
          <p:spPr>
            <a:xfrm>
              <a:off x="5931520" y="1676090"/>
              <a:ext cx="1370387" cy="276999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b="1" kern="1200" noProof="0">
                  <a:solidFill>
                    <a:schemeClr val="accent1"/>
                  </a:solidFill>
                  <a:latin typeface="+mn-lt"/>
                  <a:ea typeface="+mn-lt"/>
                </a:rPr>
                <a:t>Quant Engine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2CA0E70-34A7-A8B2-DC3A-FC4EBE6C46B5}"/>
                </a:ext>
              </a:extLst>
            </p:cNvPr>
            <p:cNvSpPr txBox="1">
              <a:spLocks/>
            </p:cNvSpPr>
            <p:nvPr/>
          </p:nvSpPr>
          <p:spPr>
            <a:xfrm>
              <a:off x="5931521" y="1857149"/>
              <a:ext cx="5068624" cy="1246495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GB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Automated model testing framework with 100+ performance tests and </a:t>
              </a:r>
              <a:br>
                <a:rPr lang="en-GB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</a:br>
              <a:r>
                <a:rPr lang="en-GB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customisable playbooks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GB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Modular solution with easy integration to client needs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GB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Supplemented with MoDeVa.AI (partner solution) for enhanced effective challenge and AI, Gen AI validations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GB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Automated documentation in word and Excel, </a:t>
              </a: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supporting pre‑submission regulatory self‑assessment</a:t>
              </a:r>
              <a:endParaRPr lang="en-GB" sz="1000" kern="1200" noProof="0">
                <a:solidFill>
                  <a:schemeClr val="tx1"/>
                </a:solidFill>
                <a:latin typeface="+mj-lt"/>
                <a:ea typeface="+mn-lt"/>
                <a:cs typeface="+mn-lt"/>
              </a:endParaRPr>
            </a:p>
          </p:txBody>
        </p:sp>
        <p:sp>
          <p:nvSpPr>
            <p:cNvPr id="578" name="TextBox 577">
              <a:extLst>
                <a:ext uri="{FF2B5EF4-FFF2-40B4-BE49-F238E27FC236}">
                  <a16:creationId xmlns:a16="http://schemas.microsoft.com/office/drawing/2014/main" id="{F2D5D8BE-0C61-098E-65EE-538670CB27A5}"/>
                </a:ext>
              </a:extLst>
            </p:cNvPr>
            <p:cNvSpPr txBox="1">
              <a:spLocks/>
            </p:cNvSpPr>
            <p:nvPr/>
          </p:nvSpPr>
          <p:spPr>
            <a:xfrm>
              <a:off x="5974132" y="3093098"/>
              <a:ext cx="5068626" cy="276999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200" b="1" kern="1200" noProof="0">
                  <a:solidFill>
                    <a:schemeClr val="accent1"/>
                  </a:solidFill>
                  <a:latin typeface="+mn-lt"/>
                  <a:ea typeface="+mn-lt"/>
                </a:rPr>
                <a:t>Responsible AI framework – AI governance</a:t>
              </a:r>
            </a:p>
          </p:txBody>
        </p:sp>
        <p:sp>
          <p:nvSpPr>
            <p:cNvPr id="579" name="TextBox 578">
              <a:extLst>
                <a:ext uri="{FF2B5EF4-FFF2-40B4-BE49-F238E27FC236}">
                  <a16:creationId xmlns:a16="http://schemas.microsoft.com/office/drawing/2014/main" id="{225FB912-315F-AC74-1714-DDAE1AF4AED0}"/>
                </a:ext>
              </a:extLst>
            </p:cNvPr>
            <p:cNvSpPr txBox="1">
              <a:spLocks/>
            </p:cNvSpPr>
            <p:nvPr/>
          </p:nvSpPr>
          <p:spPr>
            <a:xfrm>
              <a:off x="5903085" y="3326376"/>
              <a:ext cx="5068626" cy="579646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Framework to address and update bank policies, procedures and standards to accelerate AI adoption across the bank 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Includes open-source notebooks on testing and governance for AI and gen AI</a:t>
              </a:r>
            </a:p>
          </p:txBody>
        </p:sp>
        <p:sp>
          <p:nvSpPr>
            <p:cNvPr id="581" name="TextBox 580">
              <a:extLst>
                <a:ext uri="{FF2B5EF4-FFF2-40B4-BE49-F238E27FC236}">
                  <a16:creationId xmlns:a16="http://schemas.microsoft.com/office/drawing/2014/main" id="{91D1BF98-831E-FE77-5CA6-2C08DFF3300C}"/>
                </a:ext>
              </a:extLst>
            </p:cNvPr>
            <p:cNvSpPr txBox="1">
              <a:spLocks/>
            </p:cNvSpPr>
            <p:nvPr/>
          </p:nvSpPr>
          <p:spPr>
            <a:xfrm>
              <a:off x="5931519" y="3932190"/>
              <a:ext cx="5068626" cy="276999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200" b="1" kern="1200" noProof="0">
                  <a:solidFill>
                    <a:schemeClr val="accent1"/>
                  </a:solidFill>
                  <a:latin typeface="+mn-lt"/>
                  <a:ea typeface="+mn-lt"/>
                </a:rPr>
                <a:t>Model monitoring transformation</a:t>
              </a:r>
            </a:p>
          </p:txBody>
        </p:sp>
        <p:sp>
          <p:nvSpPr>
            <p:cNvPr id="582" name="TextBox 581">
              <a:extLst>
                <a:ext uri="{FF2B5EF4-FFF2-40B4-BE49-F238E27FC236}">
                  <a16:creationId xmlns:a16="http://schemas.microsoft.com/office/drawing/2014/main" id="{9B2F6DC9-1D83-13B5-6740-22FBC658F568}"/>
                </a:ext>
              </a:extLst>
            </p:cNvPr>
            <p:cNvSpPr txBox="1">
              <a:spLocks/>
            </p:cNvSpPr>
            <p:nvPr/>
          </p:nvSpPr>
          <p:spPr>
            <a:xfrm>
              <a:off x="5931520" y="4172817"/>
              <a:ext cx="5068626" cy="733534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Model monitoring transformation playbook with four key modules of data pipeline, monitoring KPI store, dynamic dashboard, review and approval workflows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Prototype assists in quick build of dashboards driving real- time monitoring, root cause analysis and deep dives</a:t>
              </a:r>
            </a:p>
          </p:txBody>
        </p:sp>
        <p:sp>
          <p:nvSpPr>
            <p:cNvPr id="585" name="TextBox 584">
              <a:extLst>
                <a:ext uri="{FF2B5EF4-FFF2-40B4-BE49-F238E27FC236}">
                  <a16:creationId xmlns:a16="http://schemas.microsoft.com/office/drawing/2014/main" id="{2C4E1766-45E7-596D-65E9-BA6B81F9FAC8}"/>
                </a:ext>
              </a:extLst>
            </p:cNvPr>
            <p:cNvSpPr txBox="1">
              <a:spLocks/>
            </p:cNvSpPr>
            <p:nvPr/>
          </p:nvSpPr>
          <p:spPr>
            <a:xfrm>
              <a:off x="5931519" y="4976130"/>
              <a:ext cx="5068626" cy="276999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200" b="1" kern="1200" noProof="0">
                  <a:solidFill>
                    <a:schemeClr val="accent1"/>
                  </a:solidFill>
                  <a:latin typeface="+mn-lt"/>
                  <a:ea typeface="+mn-lt"/>
                </a:rPr>
                <a:t>Agentic Model Management Studio*</a:t>
              </a:r>
            </a:p>
          </p:txBody>
        </p:sp>
        <p:sp>
          <p:nvSpPr>
            <p:cNvPr id="586" name="TextBox 585">
              <a:extLst>
                <a:ext uri="{FF2B5EF4-FFF2-40B4-BE49-F238E27FC236}">
                  <a16:creationId xmlns:a16="http://schemas.microsoft.com/office/drawing/2014/main" id="{67F025DF-F106-B741-3F5F-2A45A9EDE2D9}"/>
                </a:ext>
              </a:extLst>
            </p:cNvPr>
            <p:cNvSpPr txBox="1">
              <a:spLocks/>
            </p:cNvSpPr>
            <p:nvPr/>
          </p:nvSpPr>
          <p:spPr>
            <a:xfrm>
              <a:off x="5931520" y="5231271"/>
              <a:ext cx="5178424" cy="938719"/>
            </a:xfrm>
            <a:prstGeom prst="rect">
              <a:avLst/>
            </a:prstGeom>
            <a:noFill/>
          </p:spPr>
          <p:txBody>
            <a:bodyPr wrap="square" lIns="0">
              <a:spAutoFit/>
            </a:bodyPr>
            <a:lstStyle/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End-to-end agentic model mgt. platform across model development, validation, monitoring, and documentation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AI guides model design, testing, and monitoring, surfacing risks and next-best actions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Embedded governance with risk-based controls and policy alignment across lifecycle</a:t>
              </a:r>
            </a:p>
            <a:p>
              <a:pPr marL="233363" lvl="1" indent="-23336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00"/>
                </a:spcAft>
                <a:buClr>
                  <a:schemeClr val="bg2"/>
                </a:buClr>
                <a:buBlip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</a:buBlip>
                <a:defRPr/>
              </a:pPr>
              <a:r>
                <a:rPr lang="en-US" sz="1000" kern="1200" noProof="0">
                  <a:solidFill>
                    <a:schemeClr val="tx1"/>
                  </a:solidFill>
                  <a:latin typeface="+mj-lt"/>
                  <a:ea typeface="+mn-lt"/>
                  <a:cs typeface="+mn-lt"/>
                </a:rPr>
                <a:t>Automated, audit-ready documentation with full traceability</a:t>
              </a:r>
            </a:p>
          </p:txBody>
        </p: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D7F9CBC1-9E1B-D9F0-8BE7-C8FED640DEAD}"/>
                </a:ext>
              </a:extLst>
            </p:cNvPr>
            <p:cNvGrpSpPr/>
            <p:nvPr/>
          </p:nvGrpSpPr>
          <p:grpSpPr>
            <a:xfrm>
              <a:off x="11044566" y="4034687"/>
              <a:ext cx="230954" cy="230952"/>
              <a:chOff x="7661083" y="4715621"/>
              <a:chExt cx="301461" cy="267856"/>
            </a:xfrm>
          </p:grpSpPr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10C85AF-9B81-B77B-9E1A-8A7F8444232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45025" y="4715621"/>
                <a:ext cx="47887" cy="45838"/>
              </a:xfrm>
              <a:custGeom>
                <a:avLst/>
                <a:gdLst>
                  <a:gd name="connsiteX0" fmla="*/ 78928 w 78928"/>
                  <a:gd name="connsiteY0" fmla="*/ 77944 h 78928"/>
                  <a:gd name="connsiteX1" fmla="*/ 33607 w 78928"/>
                  <a:gd name="connsiteY1" fmla="*/ 78921 h 78928"/>
                  <a:gd name="connsiteX2" fmla="*/ 7 w 78928"/>
                  <a:gd name="connsiteY2" fmla="*/ 45321 h 78928"/>
                  <a:gd name="connsiteX3" fmla="*/ 984 w 78928"/>
                  <a:gd name="connsiteY3" fmla="*/ 0 h 78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928" h="78928">
                    <a:moveTo>
                      <a:pt x="78928" y="77944"/>
                    </a:moveTo>
                    <a:lnTo>
                      <a:pt x="33607" y="78921"/>
                    </a:lnTo>
                    <a:cubicBezTo>
                      <a:pt x="14854" y="79312"/>
                      <a:pt x="-383" y="64074"/>
                      <a:pt x="7" y="45321"/>
                    </a:cubicBezTo>
                    <a:lnTo>
                      <a:pt x="984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047C7D4B-6F1A-1591-4045-62B909656EE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60049" y="4797362"/>
                <a:ext cx="106966" cy="5672"/>
              </a:xfrm>
              <a:custGeom>
                <a:avLst/>
                <a:gdLst>
                  <a:gd name="connsiteX0" fmla="*/ 0 w 176302"/>
                  <a:gd name="connsiteY0" fmla="*/ 0 h 9767"/>
                  <a:gd name="connsiteX1" fmla="*/ 176302 w 176302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76302" h="9767">
                    <a:moveTo>
                      <a:pt x="0" y="0"/>
                    </a:moveTo>
                    <a:lnTo>
                      <a:pt x="176302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079BC9D-3C71-5A6A-1E4D-BD6F1610E61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60049" y="4855108"/>
                <a:ext cx="72713" cy="5672"/>
              </a:xfrm>
              <a:custGeom>
                <a:avLst/>
                <a:gdLst>
                  <a:gd name="connsiteX0" fmla="*/ 119847 w 119846"/>
                  <a:gd name="connsiteY0" fmla="*/ 0 h 9767"/>
                  <a:gd name="connsiteX1" fmla="*/ 0 w 119846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846" h="9767">
                    <a:moveTo>
                      <a:pt x="11984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BA6071B6-5906-F0AA-E2C1-CF7FE82D49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60049" y="4909735"/>
                <a:ext cx="72713" cy="5672"/>
              </a:xfrm>
              <a:custGeom>
                <a:avLst/>
                <a:gdLst>
                  <a:gd name="connsiteX0" fmla="*/ 119847 w 119846"/>
                  <a:gd name="connsiteY0" fmla="*/ 0 h 9767"/>
                  <a:gd name="connsiteX1" fmla="*/ 0 w 119846"/>
                  <a:gd name="connsiteY1" fmla="*/ 0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9846" h="9767">
                    <a:moveTo>
                      <a:pt x="11984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8EBEE9B7-2F2D-F7DB-E02B-0BDF51E6B0C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93203" y="4785903"/>
                <a:ext cx="42372" cy="26661"/>
              </a:xfrm>
              <a:custGeom>
                <a:avLst/>
                <a:gdLst>
                  <a:gd name="connsiteX0" fmla="*/ 0 w 69837"/>
                  <a:gd name="connsiteY0" fmla="*/ 22075 h 45907"/>
                  <a:gd name="connsiteX1" fmla="*/ 23833 w 69837"/>
                  <a:gd name="connsiteY1" fmla="*/ 45907 h 45907"/>
                  <a:gd name="connsiteX2" fmla="*/ 69837 w 69837"/>
                  <a:gd name="connsiteY2" fmla="*/ 0 h 45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5907">
                    <a:moveTo>
                      <a:pt x="0" y="22075"/>
                    </a:moveTo>
                    <a:lnTo>
                      <a:pt x="23833" y="45907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D427F4F8-CB37-FD4C-84AB-6649DA1C5E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93203" y="4841778"/>
                <a:ext cx="42372" cy="26717"/>
              </a:xfrm>
              <a:custGeom>
                <a:avLst/>
                <a:gdLst>
                  <a:gd name="connsiteX0" fmla="*/ 0 w 69837"/>
                  <a:gd name="connsiteY0" fmla="*/ 22074 h 46004"/>
                  <a:gd name="connsiteX1" fmla="*/ 23833 w 69837"/>
                  <a:gd name="connsiteY1" fmla="*/ 46005 h 46004"/>
                  <a:gd name="connsiteX2" fmla="*/ 69837 w 69837"/>
                  <a:gd name="connsiteY2" fmla="*/ 0 h 4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6004">
                    <a:moveTo>
                      <a:pt x="0" y="22074"/>
                    </a:moveTo>
                    <a:lnTo>
                      <a:pt x="23833" y="46005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E9140072-19FF-9C73-5CF5-4EBFC50B202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93203" y="4897652"/>
                <a:ext cx="42372" cy="26717"/>
              </a:xfrm>
              <a:custGeom>
                <a:avLst/>
                <a:gdLst>
                  <a:gd name="connsiteX0" fmla="*/ 0 w 69837"/>
                  <a:gd name="connsiteY0" fmla="*/ 22172 h 46004"/>
                  <a:gd name="connsiteX1" fmla="*/ 23833 w 69837"/>
                  <a:gd name="connsiteY1" fmla="*/ 46005 h 46004"/>
                  <a:gd name="connsiteX2" fmla="*/ 69837 w 69837"/>
                  <a:gd name="connsiteY2" fmla="*/ 0 h 4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9837" h="46004">
                    <a:moveTo>
                      <a:pt x="0" y="22172"/>
                    </a:moveTo>
                    <a:lnTo>
                      <a:pt x="23833" y="46005"/>
                    </a:lnTo>
                    <a:lnTo>
                      <a:pt x="69837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FF14281-4A27-F487-031F-5E70F89180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45622" y="4715621"/>
                <a:ext cx="47290" cy="45267"/>
              </a:xfrm>
              <a:custGeom>
                <a:avLst/>
                <a:gdLst>
                  <a:gd name="connsiteX0" fmla="*/ 0 w 77944"/>
                  <a:gd name="connsiteY0" fmla="*/ 0 h 77944"/>
                  <a:gd name="connsiteX1" fmla="*/ 77944 w 77944"/>
                  <a:gd name="connsiteY1" fmla="*/ 77944 h 77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7944" h="77944">
                    <a:moveTo>
                      <a:pt x="0" y="0"/>
                    </a:moveTo>
                    <a:lnTo>
                      <a:pt x="77944" y="77944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7E26303-E83F-6CAD-B4A9-272D4C84F93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61083" y="4715621"/>
                <a:ext cx="231829" cy="267856"/>
              </a:xfrm>
              <a:custGeom>
                <a:avLst/>
                <a:gdLst>
                  <a:gd name="connsiteX0" fmla="*/ 382102 w 382102"/>
                  <a:gd name="connsiteY0" fmla="*/ 77944 h 461218"/>
                  <a:gd name="connsiteX1" fmla="*/ 382102 w 382102"/>
                  <a:gd name="connsiteY1" fmla="*/ 217912 h 461218"/>
                  <a:gd name="connsiteX2" fmla="*/ 382102 w 382102"/>
                  <a:gd name="connsiteY2" fmla="*/ 461219 h 461218"/>
                  <a:gd name="connsiteX3" fmla="*/ 222893 w 382102"/>
                  <a:gd name="connsiteY3" fmla="*/ 461219 h 461218"/>
                  <a:gd name="connsiteX4" fmla="*/ 0 w 382102"/>
                  <a:gd name="connsiteY4" fmla="*/ 461219 h 461218"/>
                  <a:gd name="connsiteX5" fmla="*/ 0 w 382102"/>
                  <a:gd name="connsiteY5" fmla="*/ 0 h 461218"/>
                  <a:gd name="connsiteX6" fmla="*/ 304158 w 382102"/>
                  <a:gd name="connsiteY6" fmla="*/ 0 h 4612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2102" h="461218">
                    <a:moveTo>
                      <a:pt x="382102" y="77944"/>
                    </a:moveTo>
                    <a:lnTo>
                      <a:pt x="382102" y="217912"/>
                    </a:lnTo>
                    <a:lnTo>
                      <a:pt x="382102" y="461219"/>
                    </a:lnTo>
                    <a:lnTo>
                      <a:pt x="222893" y="461219"/>
                    </a:lnTo>
                    <a:lnTo>
                      <a:pt x="0" y="461219"/>
                    </a:lnTo>
                    <a:lnTo>
                      <a:pt x="0" y="0"/>
                    </a:lnTo>
                    <a:lnTo>
                      <a:pt x="304158" y="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grpSp>
            <p:nvGrpSpPr>
              <p:cNvPr id="139" name="Graphic 1288">
                <a:extLst>
                  <a:ext uri="{FF2B5EF4-FFF2-40B4-BE49-F238E27FC236}">
                    <a16:creationId xmlns:a16="http://schemas.microsoft.com/office/drawing/2014/main" id="{0A019440-25EB-8D90-3709-24305C0F514E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923491" y="4719705"/>
                <a:ext cx="39053" cy="259745"/>
                <a:chOff x="6746182" y="3584648"/>
                <a:chExt cx="64368" cy="447251"/>
              </a:xfrm>
              <a:noFill/>
            </p:grpSpPr>
            <p:sp>
              <p:nvSpPr>
                <p:cNvPr id="140" name="Freeform: Shape 139">
                  <a:extLst>
                    <a:ext uri="{FF2B5EF4-FFF2-40B4-BE49-F238E27FC236}">
                      <a16:creationId xmlns:a16="http://schemas.microsoft.com/office/drawing/2014/main" id="{1DF8C2D0-1E7B-EDD8-D055-D45C51CD2C9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2" y="3584648"/>
                  <a:ext cx="64269" cy="49227"/>
                </a:xfrm>
                <a:custGeom>
                  <a:avLst/>
                  <a:gdLst>
                    <a:gd name="connsiteX0" fmla="*/ 0 w 64269"/>
                    <a:gd name="connsiteY0" fmla="*/ 0 h 49227"/>
                    <a:gd name="connsiteX1" fmla="*/ 64270 w 64269"/>
                    <a:gd name="connsiteY1" fmla="*/ 0 h 49227"/>
                    <a:gd name="connsiteX2" fmla="*/ 64270 w 64269"/>
                    <a:gd name="connsiteY2" fmla="*/ 49228 h 49227"/>
                    <a:gd name="connsiteX3" fmla="*/ 0 w 64269"/>
                    <a:gd name="connsiteY3" fmla="*/ 49228 h 49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269" h="49227">
                      <a:moveTo>
                        <a:pt x="0" y="0"/>
                      </a:moveTo>
                      <a:lnTo>
                        <a:pt x="64270" y="0"/>
                      </a:lnTo>
                      <a:lnTo>
                        <a:pt x="64270" y="49228"/>
                      </a:lnTo>
                      <a:lnTo>
                        <a:pt x="0" y="4922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41" name="Freeform: Shape 140">
                  <a:extLst>
                    <a:ext uri="{FF2B5EF4-FFF2-40B4-BE49-F238E27FC236}">
                      <a16:creationId xmlns:a16="http://schemas.microsoft.com/office/drawing/2014/main" id="{B7F8E364-3BA7-9280-C078-0C135649A95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2" y="3633876"/>
                  <a:ext cx="64269" cy="326427"/>
                </a:xfrm>
                <a:custGeom>
                  <a:avLst/>
                  <a:gdLst>
                    <a:gd name="connsiteX0" fmla="*/ 0 w 64269"/>
                    <a:gd name="connsiteY0" fmla="*/ 0 h 326427"/>
                    <a:gd name="connsiteX1" fmla="*/ 64270 w 64269"/>
                    <a:gd name="connsiteY1" fmla="*/ 0 h 326427"/>
                    <a:gd name="connsiteX2" fmla="*/ 64270 w 64269"/>
                    <a:gd name="connsiteY2" fmla="*/ 326428 h 326427"/>
                    <a:gd name="connsiteX3" fmla="*/ 0 w 64269"/>
                    <a:gd name="connsiteY3" fmla="*/ 326428 h 326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4269" h="326427">
                      <a:moveTo>
                        <a:pt x="0" y="0"/>
                      </a:moveTo>
                      <a:lnTo>
                        <a:pt x="64270" y="0"/>
                      </a:lnTo>
                      <a:lnTo>
                        <a:pt x="64270" y="326428"/>
                      </a:lnTo>
                      <a:lnTo>
                        <a:pt x="0" y="326428"/>
                      </a:ln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8006A2F9-46D6-A1B6-1818-B9E32F147AE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746183" y="3960304"/>
                  <a:ext cx="64367" cy="71595"/>
                </a:xfrm>
                <a:custGeom>
                  <a:avLst/>
                  <a:gdLst>
                    <a:gd name="connsiteX0" fmla="*/ 0 w 64367"/>
                    <a:gd name="connsiteY0" fmla="*/ 0 h 71595"/>
                    <a:gd name="connsiteX1" fmla="*/ 31744 w 64367"/>
                    <a:gd name="connsiteY1" fmla="*/ 71596 h 71595"/>
                    <a:gd name="connsiteX2" fmla="*/ 64367 w 64367"/>
                    <a:gd name="connsiteY2" fmla="*/ 0 h 715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64367" h="71595">
                      <a:moveTo>
                        <a:pt x="0" y="0"/>
                      </a:moveTo>
                      <a:lnTo>
                        <a:pt x="31744" y="71596"/>
                      </a:lnTo>
                      <a:lnTo>
                        <a:pt x="64367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8B2932B2-3A05-F15E-9150-360320EA17B1}"/>
                </a:ext>
              </a:extLst>
            </p:cNvPr>
            <p:cNvGrpSpPr/>
            <p:nvPr/>
          </p:nvGrpSpPr>
          <p:grpSpPr>
            <a:xfrm>
              <a:off x="11013789" y="5139875"/>
              <a:ext cx="292558" cy="292558"/>
              <a:chOff x="7620795" y="5820482"/>
              <a:chExt cx="298174" cy="286445"/>
            </a:xfrm>
          </p:grpSpPr>
          <p:grpSp>
            <p:nvGrpSpPr>
              <p:cNvPr id="144" name="Graphic 1289">
                <a:extLst>
                  <a:ext uri="{FF2B5EF4-FFF2-40B4-BE49-F238E27FC236}">
                    <a16:creationId xmlns:a16="http://schemas.microsoft.com/office/drawing/2014/main" id="{C4398BD9-B917-3DFE-0EA0-5F226E2EBAE9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620795" y="5820482"/>
                <a:ext cx="147943" cy="286445"/>
                <a:chOff x="1444826" y="1352387"/>
                <a:chExt cx="213786" cy="386055"/>
              </a:xfrm>
              <a:noFill/>
            </p:grpSpPr>
            <p:sp>
              <p:nvSpPr>
                <p:cNvPr id="148" name="Freeform: Shape 147">
                  <a:extLst>
                    <a:ext uri="{FF2B5EF4-FFF2-40B4-BE49-F238E27FC236}">
                      <a16:creationId xmlns:a16="http://schemas.microsoft.com/office/drawing/2014/main" id="{71581465-B093-DFC4-4D59-CB2DA3689CF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44826" y="1352387"/>
                  <a:ext cx="213786" cy="386055"/>
                </a:xfrm>
                <a:custGeom>
                  <a:avLst/>
                  <a:gdLst>
                    <a:gd name="connsiteX0" fmla="*/ 213787 w 213786"/>
                    <a:gd name="connsiteY0" fmla="*/ 54118 h 386055"/>
                    <a:gd name="connsiteX1" fmla="*/ 213787 w 213786"/>
                    <a:gd name="connsiteY1" fmla="*/ 331938 h 386055"/>
                    <a:gd name="connsiteX2" fmla="*/ 162974 w 213786"/>
                    <a:gd name="connsiteY2" fmla="*/ 386056 h 386055"/>
                    <a:gd name="connsiteX3" fmla="*/ 112264 w 213786"/>
                    <a:gd name="connsiteY3" fmla="*/ 331938 h 386055"/>
                    <a:gd name="connsiteX4" fmla="*/ 112471 w 213786"/>
                    <a:gd name="connsiteY4" fmla="*/ 327703 h 386055"/>
                    <a:gd name="connsiteX5" fmla="*/ 92641 w 213786"/>
                    <a:gd name="connsiteY5" fmla="*/ 331938 h 386055"/>
                    <a:gd name="connsiteX6" fmla="*/ 41931 w 213786"/>
                    <a:gd name="connsiteY6" fmla="*/ 277820 h 386055"/>
                    <a:gd name="connsiteX7" fmla="*/ 43480 w 213786"/>
                    <a:gd name="connsiteY7" fmla="*/ 264497 h 386055"/>
                    <a:gd name="connsiteX8" fmla="*/ 0 w 213786"/>
                    <a:gd name="connsiteY8" fmla="*/ 190652 h 386055"/>
                    <a:gd name="connsiteX9" fmla="*/ 38730 w 213786"/>
                    <a:gd name="connsiteY9" fmla="*/ 119184 h 386055"/>
                    <a:gd name="connsiteX10" fmla="*/ 106171 w 213786"/>
                    <a:gd name="connsiteY10" fmla="*/ 48541 h 386055"/>
                    <a:gd name="connsiteX11" fmla="*/ 112574 w 213786"/>
                    <a:gd name="connsiteY11" fmla="*/ 48851 h 386055"/>
                    <a:gd name="connsiteX12" fmla="*/ 162974 w 213786"/>
                    <a:gd name="connsiteY12" fmla="*/ 0 h 386055"/>
                    <a:gd name="connsiteX13" fmla="*/ 213787 w 213786"/>
                    <a:gd name="connsiteY13" fmla="*/ 54015 h 3860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13786" h="386055">
                      <a:moveTo>
                        <a:pt x="213787" y="54118"/>
                      </a:moveTo>
                      <a:lnTo>
                        <a:pt x="213787" y="331938"/>
                      </a:lnTo>
                      <a:cubicBezTo>
                        <a:pt x="213787" y="361785"/>
                        <a:pt x="191066" y="386056"/>
                        <a:pt x="162974" y="386056"/>
                      </a:cubicBezTo>
                      <a:cubicBezTo>
                        <a:pt x="134882" y="386056"/>
                        <a:pt x="112264" y="361889"/>
                        <a:pt x="112264" y="331938"/>
                      </a:cubicBezTo>
                      <a:cubicBezTo>
                        <a:pt x="112264" y="330492"/>
                        <a:pt x="112264" y="329046"/>
                        <a:pt x="112471" y="327703"/>
                      </a:cubicBezTo>
                      <a:cubicBezTo>
                        <a:pt x="106377" y="330492"/>
                        <a:pt x="99664" y="331938"/>
                        <a:pt x="92641" y="331938"/>
                      </a:cubicBezTo>
                      <a:cubicBezTo>
                        <a:pt x="64652" y="331938"/>
                        <a:pt x="41931" y="307770"/>
                        <a:pt x="41931" y="277820"/>
                      </a:cubicBezTo>
                      <a:cubicBezTo>
                        <a:pt x="41931" y="273275"/>
                        <a:pt x="42448" y="268731"/>
                        <a:pt x="43480" y="264497"/>
                      </a:cubicBezTo>
                      <a:cubicBezTo>
                        <a:pt x="18074" y="253136"/>
                        <a:pt x="0" y="224321"/>
                        <a:pt x="0" y="190652"/>
                      </a:cubicBezTo>
                      <a:cubicBezTo>
                        <a:pt x="0" y="159152"/>
                        <a:pt x="15802" y="131887"/>
                        <a:pt x="38730" y="119184"/>
                      </a:cubicBezTo>
                      <a:cubicBezTo>
                        <a:pt x="42344" y="79421"/>
                        <a:pt x="71159" y="48541"/>
                        <a:pt x="106171" y="48541"/>
                      </a:cubicBezTo>
                      <a:cubicBezTo>
                        <a:pt x="108339" y="48541"/>
                        <a:pt x="110405" y="48644"/>
                        <a:pt x="112574" y="48851"/>
                      </a:cubicBezTo>
                      <a:cubicBezTo>
                        <a:pt x="115053" y="21482"/>
                        <a:pt x="136638" y="0"/>
                        <a:pt x="162974" y="0"/>
                      </a:cubicBezTo>
                      <a:cubicBezTo>
                        <a:pt x="191066" y="0"/>
                        <a:pt x="213787" y="24167"/>
                        <a:pt x="213787" y="5401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49" name="Freeform: Shape 148">
                  <a:extLst>
                    <a:ext uri="{FF2B5EF4-FFF2-40B4-BE49-F238E27FC236}">
                      <a16:creationId xmlns:a16="http://schemas.microsoft.com/office/drawing/2014/main" id="{20B32AAB-C0B6-75DE-F292-9CADDDCCC58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77539" y="1628038"/>
                  <a:ext cx="35424" cy="35424"/>
                </a:xfrm>
                <a:custGeom>
                  <a:avLst/>
                  <a:gdLst>
                    <a:gd name="connsiteX0" fmla="*/ 0 w 35424"/>
                    <a:gd name="connsiteY0" fmla="*/ 0 h 35424"/>
                    <a:gd name="connsiteX1" fmla="*/ 35425 w 35424"/>
                    <a:gd name="connsiteY1" fmla="*/ 35425 h 354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5424" h="35424">
                      <a:moveTo>
                        <a:pt x="0" y="0"/>
                      </a:moveTo>
                      <a:cubicBezTo>
                        <a:pt x="19520" y="0"/>
                        <a:pt x="35425" y="15802"/>
                        <a:pt x="35425" y="3542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50" name="Freeform: Shape 149">
                  <a:extLst>
                    <a:ext uri="{FF2B5EF4-FFF2-40B4-BE49-F238E27FC236}">
                      <a16:creationId xmlns:a16="http://schemas.microsoft.com/office/drawing/2014/main" id="{450920A8-5C48-389B-252D-D9F4EF5C03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86318" y="1473430"/>
                  <a:ext cx="38006" cy="76013"/>
                </a:xfrm>
                <a:custGeom>
                  <a:avLst/>
                  <a:gdLst>
                    <a:gd name="connsiteX0" fmla="*/ 38007 w 38006"/>
                    <a:gd name="connsiteY0" fmla="*/ 76013 h 76013"/>
                    <a:gd name="connsiteX1" fmla="*/ 0 w 38006"/>
                    <a:gd name="connsiteY1" fmla="*/ 38007 h 76013"/>
                    <a:gd name="connsiteX2" fmla="*/ 38007 w 38006"/>
                    <a:gd name="connsiteY2" fmla="*/ 0 h 760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8006" h="76013">
                      <a:moveTo>
                        <a:pt x="38007" y="76013"/>
                      </a:moveTo>
                      <a:cubicBezTo>
                        <a:pt x="17041" y="76013"/>
                        <a:pt x="0" y="58972"/>
                        <a:pt x="0" y="38007"/>
                      </a:cubicBezTo>
                      <a:cubicBezTo>
                        <a:pt x="0" y="17041"/>
                        <a:pt x="17041" y="0"/>
                        <a:pt x="38007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51" name="Freeform: Shape 150">
                  <a:extLst>
                    <a:ext uri="{FF2B5EF4-FFF2-40B4-BE49-F238E27FC236}">
                      <a16:creationId xmlns:a16="http://schemas.microsoft.com/office/drawing/2014/main" id="{E809CDB8-0215-5FE9-AD41-2010C8A2A7C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36744" y="1511437"/>
                  <a:ext cx="49470" cy="38006"/>
                </a:xfrm>
                <a:custGeom>
                  <a:avLst/>
                  <a:gdLst>
                    <a:gd name="connsiteX0" fmla="*/ 0 w 49470"/>
                    <a:gd name="connsiteY0" fmla="*/ 38007 h 38006"/>
                    <a:gd name="connsiteX1" fmla="*/ 38007 w 49470"/>
                    <a:gd name="connsiteY1" fmla="*/ 0 h 38006"/>
                    <a:gd name="connsiteX2" fmla="*/ 49471 w 49470"/>
                    <a:gd name="connsiteY2" fmla="*/ 1756 h 380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49470" h="38006">
                      <a:moveTo>
                        <a:pt x="0" y="38007"/>
                      </a:moveTo>
                      <a:cubicBezTo>
                        <a:pt x="0" y="17041"/>
                        <a:pt x="17041" y="0"/>
                        <a:pt x="38007" y="0"/>
                      </a:cubicBezTo>
                      <a:cubicBezTo>
                        <a:pt x="42034" y="0"/>
                        <a:pt x="45856" y="620"/>
                        <a:pt x="49471" y="1756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52" name="Freeform: Shape 151">
                  <a:extLst>
                    <a:ext uri="{FF2B5EF4-FFF2-40B4-BE49-F238E27FC236}">
                      <a16:creationId xmlns:a16="http://schemas.microsoft.com/office/drawing/2014/main" id="{CDB450FE-A092-467D-ED2B-B109BEA1334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1593" y="1576812"/>
                  <a:ext cx="42860" cy="36560"/>
                </a:xfrm>
                <a:custGeom>
                  <a:avLst/>
                  <a:gdLst>
                    <a:gd name="connsiteX0" fmla="*/ 42861 w 42860"/>
                    <a:gd name="connsiteY0" fmla="*/ 0 h 36560"/>
                    <a:gd name="connsiteX1" fmla="*/ 0 w 42860"/>
                    <a:gd name="connsiteY1" fmla="*/ 36561 h 36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2860" h="36560">
                      <a:moveTo>
                        <a:pt x="42861" y="0"/>
                      </a:moveTo>
                      <a:cubicBezTo>
                        <a:pt x="21172" y="0"/>
                        <a:pt x="3305" y="15802"/>
                        <a:pt x="0" y="36561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5723E4DD-4E6E-67E0-0C4E-BB2EFED2067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7400" y="1401238"/>
                  <a:ext cx="30673" cy="21585"/>
                </a:xfrm>
                <a:custGeom>
                  <a:avLst/>
                  <a:gdLst>
                    <a:gd name="connsiteX0" fmla="*/ 0 w 30673"/>
                    <a:gd name="connsiteY0" fmla="*/ 0 h 21585"/>
                    <a:gd name="connsiteX1" fmla="*/ 30674 w 30673"/>
                    <a:gd name="connsiteY1" fmla="*/ 21585 h 215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673" h="21585">
                      <a:moveTo>
                        <a:pt x="0" y="0"/>
                      </a:moveTo>
                      <a:cubicBezTo>
                        <a:pt x="0" y="0"/>
                        <a:pt x="28195" y="8262"/>
                        <a:pt x="30674" y="21585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78" name="Freeform: Shape 177">
                  <a:extLst>
                    <a:ext uri="{FF2B5EF4-FFF2-40B4-BE49-F238E27FC236}">
                      <a16:creationId xmlns:a16="http://schemas.microsoft.com/office/drawing/2014/main" id="{7F5092A7-5950-3353-B546-CA754B82937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83659" y="1468679"/>
                  <a:ext cx="46062" cy="2891"/>
                </a:xfrm>
                <a:custGeom>
                  <a:avLst/>
                  <a:gdLst>
                    <a:gd name="connsiteX0" fmla="*/ 0 w 46062"/>
                    <a:gd name="connsiteY0" fmla="*/ 2892 h 2891"/>
                    <a:gd name="connsiteX1" fmla="*/ 46062 w 46062"/>
                    <a:gd name="connsiteY1" fmla="*/ 2892 h 2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6062" h="2891">
                      <a:moveTo>
                        <a:pt x="0" y="2892"/>
                      </a:moveTo>
                      <a:cubicBezTo>
                        <a:pt x="0" y="2892"/>
                        <a:pt x="30570" y="-3615"/>
                        <a:pt x="46062" y="2892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  <p:grpSp>
            <p:nvGrpSpPr>
              <p:cNvPr id="145" name="Graphic 1289">
                <a:extLst>
                  <a:ext uri="{FF2B5EF4-FFF2-40B4-BE49-F238E27FC236}">
                    <a16:creationId xmlns:a16="http://schemas.microsoft.com/office/drawing/2014/main" id="{5A98F625-7CAE-82D1-4F0B-31801F907E5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785463" y="5820712"/>
                <a:ext cx="133506" cy="286215"/>
                <a:chOff x="1682780" y="1352697"/>
                <a:chExt cx="192924" cy="385745"/>
              </a:xfrm>
              <a:noFill/>
            </p:grpSpPr>
            <p:sp>
              <p:nvSpPr>
                <p:cNvPr id="146" name="Freeform: Shape 145">
                  <a:extLst>
                    <a:ext uri="{FF2B5EF4-FFF2-40B4-BE49-F238E27FC236}">
                      <a16:creationId xmlns:a16="http://schemas.microsoft.com/office/drawing/2014/main" id="{A490E9B1-78C0-362A-BB6F-AB41C66E672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455046"/>
                  <a:ext cx="90368" cy="180737"/>
                </a:xfrm>
                <a:custGeom>
                  <a:avLst/>
                  <a:gdLst>
                    <a:gd name="connsiteX0" fmla="*/ 0 w 90368"/>
                    <a:gd name="connsiteY0" fmla="*/ 180738 h 180737"/>
                    <a:gd name="connsiteX1" fmla="*/ 90369 w 90368"/>
                    <a:gd name="connsiteY1" fmla="*/ 90369 h 180737"/>
                    <a:gd name="connsiteX2" fmla="*/ 0 w 90368"/>
                    <a:gd name="connsiteY2" fmla="*/ 0 h 180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0368" h="180737">
                      <a:moveTo>
                        <a:pt x="0" y="180738"/>
                      </a:moveTo>
                      <a:cubicBezTo>
                        <a:pt x="49884" y="180738"/>
                        <a:pt x="90369" y="140252"/>
                        <a:pt x="90369" y="90369"/>
                      </a:cubicBezTo>
                      <a:cubicBezTo>
                        <a:pt x="90369" y="40485"/>
                        <a:pt x="49884" y="0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147" name="Freeform: Shape 146">
                  <a:extLst>
                    <a:ext uri="{FF2B5EF4-FFF2-40B4-BE49-F238E27FC236}">
                      <a16:creationId xmlns:a16="http://schemas.microsoft.com/office/drawing/2014/main" id="{0FE9725A-F77F-587A-D79A-E70FEB2D6D9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682780" y="1352697"/>
                  <a:ext cx="192924" cy="385745"/>
                </a:xfrm>
                <a:custGeom>
                  <a:avLst/>
                  <a:gdLst>
                    <a:gd name="connsiteX0" fmla="*/ 0 w 192924"/>
                    <a:gd name="connsiteY0" fmla="*/ 385746 h 385745"/>
                    <a:gd name="connsiteX1" fmla="*/ 18590 w 192924"/>
                    <a:gd name="connsiteY1" fmla="*/ 385746 h 385745"/>
                    <a:gd name="connsiteX2" fmla="*/ 30674 w 192924"/>
                    <a:gd name="connsiteY2" fmla="*/ 373662 h 385745"/>
                    <a:gd name="connsiteX3" fmla="*/ 30674 w 192924"/>
                    <a:gd name="connsiteY3" fmla="*/ 341852 h 385745"/>
                    <a:gd name="connsiteX4" fmla="*/ 83656 w 192924"/>
                    <a:gd name="connsiteY4" fmla="*/ 319854 h 385745"/>
                    <a:gd name="connsiteX5" fmla="*/ 106171 w 192924"/>
                    <a:gd name="connsiteY5" fmla="*/ 342369 h 385745"/>
                    <a:gd name="connsiteX6" fmla="*/ 123315 w 192924"/>
                    <a:gd name="connsiteY6" fmla="*/ 342369 h 385745"/>
                    <a:gd name="connsiteX7" fmla="*/ 149548 w 192924"/>
                    <a:gd name="connsiteY7" fmla="*/ 316136 h 385745"/>
                    <a:gd name="connsiteX8" fmla="*/ 149548 w 192924"/>
                    <a:gd name="connsiteY8" fmla="*/ 298992 h 385745"/>
                    <a:gd name="connsiteX9" fmla="*/ 127033 w 192924"/>
                    <a:gd name="connsiteY9" fmla="*/ 276477 h 385745"/>
                    <a:gd name="connsiteX10" fmla="*/ 149031 w 192924"/>
                    <a:gd name="connsiteY10" fmla="*/ 223495 h 385745"/>
                    <a:gd name="connsiteX11" fmla="*/ 180841 w 192924"/>
                    <a:gd name="connsiteY11" fmla="*/ 223495 h 385745"/>
                    <a:gd name="connsiteX12" fmla="*/ 192925 w 192924"/>
                    <a:gd name="connsiteY12" fmla="*/ 211411 h 385745"/>
                    <a:gd name="connsiteX13" fmla="*/ 192925 w 192924"/>
                    <a:gd name="connsiteY13" fmla="*/ 174334 h 385745"/>
                    <a:gd name="connsiteX14" fmla="*/ 180841 w 192924"/>
                    <a:gd name="connsiteY14" fmla="*/ 162251 h 385745"/>
                    <a:gd name="connsiteX15" fmla="*/ 149031 w 192924"/>
                    <a:gd name="connsiteY15" fmla="*/ 162251 h 385745"/>
                    <a:gd name="connsiteX16" fmla="*/ 127033 w 192924"/>
                    <a:gd name="connsiteY16" fmla="*/ 109269 h 385745"/>
                    <a:gd name="connsiteX17" fmla="*/ 149548 w 192924"/>
                    <a:gd name="connsiteY17" fmla="*/ 86754 h 385745"/>
                    <a:gd name="connsiteX18" fmla="*/ 149548 w 192924"/>
                    <a:gd name="connsiteY18" fmla="*/ 69610 h 385745"/>
                    <a:gd name="connsiteX19" fmla="*/ 123315 w 192924"/>
                    <a:gd name="connsiteY19" fmla="*/ 43377 h 385745"/>
                    <a:gd name="connsiteX20" fmla="*/ 106171 w 192924"/>
                    <a:gd name="connsiteY20" fmla="*/ 43377 h 385745"/>
                    <a:gd name="connsiteX21" fmla="*/ 83656 w 192924"/>
                    <a:gd name="connsiteY21" fmla="*/ 65892 h 385745"/>
                    <a:gd name="connsiteX22" fmla="*/ 30570 w 192924"/>
                    <a:gd name="connsiteY22" fmla="*/ 43893 h 385745"/>
                    <a:gd name="connsiteX23" fmla="*/ 30570 w 192924"/>
                    <a:gd name="connsiteY23" fmla="*/ 12084 h 385745"/>
                    <a:gd name="connsiteX24" fmla="*/ 18487 w 192924"/>
                    <a:gd name="connsiteY24" fmla="*/ 0 h 385745"/>
                    <a:gd name="connsiteX25" fmla="*/ 0 w 192924"/>
                    <a:gd name="connsiteY25" fmla="*/ 0 h 385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192924" h="385745">
                      <a:moveTo>
                        <a:pt x="0" y="385746"/>
                      </a:moveTo>
                      <a:lnTo>
                        <a:pt x="18590" y="385746"/>
                      </a:lnTo>
                      <a:cubicBezTo>
                        <a:pt x="25303" y="385746"/>
                        <a:pt x="30674" y="380375"/>
                        <a:pt x="30674" y="373662"/>
                      </a:cubicBezTo>
                      <a:lnTo>
                        <a:pt x="30674" y="341852"/>
                      </a:lnTo>
                      <a:cubicBezTo>
                        <a:pt x="49884" y="337928"/>
                        <a:pt x="67854" y="330285"/>
                        <a:pt x="83656" y="319854"/>
                      </a:cubicBezTo>
                      <a:lnTo>
                        <a:pt x="106171" y="342369"/>
                      </a:lnTo>
                      <a:cubicBezTo>
                        <a:pt x="110921" y="347120"/>
                        <a:pt x="118564" y="347120"/>
                        <a:pt x="123315" y="342369"/>
                      </a:cubicBezTo>
                      <a:lnTo>
                        <a:pt x="149548" y="316136"/>
                      </a:lnTo>
                      <a:cubicBezTo>
                        <a:pt x="154298" y="311385"/>
                        <a:pt x="154298" y="303743"/>
                        <a:pt x="149548" y="298992"/>
                      </a:cubicBezTo>
                      <a:lnTo>
                        <a:pt x="127033" y="276477"/>
                      </a:lnTo>
                      <a:cubicBezTo>
                        <a:pt x="137464" y="260675"/>
                        <a:pt x="145107" y="242705"/>
                        <a:pt x="149031" y="223495"/>
                      </a:cubicBezTo>
                      <a:lnTo>
                        <a:pt x="180841" y="223495"/>
                      </a:lnTo>
                      <a:cubicBezTo>
                        <a:pt x="187554" y="223495"/>
                        <a:pt x="192925" y="218125"/>
                        <a:pt x="192925" y="211411"/>
                      </a:cubicBezTo>
                      <a:lnTo>
                        <a:pt x="192925" y="174334"/>
                      </a:lnTo>
                      <a:cubicBezTo>
                        <a:pt x="192925" y="167621"/>
                        <a:pt x="187554" y="162251"/>
                        <a:pt x="180841" y="162251"/>
                      </a:cubicBezTo>
                      <a:lnTo>
                        <a:pt x="149031" y="162251"/>
                      </a:lnTo>
                      <a:cubicBezTo>
                        <a:pt x="145107" y="143041"/>
                        <a:pt x="137464" y="125070"/>
                        <a:pt x="127033" y="109269"/>
                      </a:cubicBezTo>
                      <a:lnTo>
                        <a:pt x="149548" y="86754"/>
                      </a:lnTo>
                      <a:cubicBezTo>
                        <a:pt x="154298" y="82003"/>
                        <a:pt x="154298" y="74361"/>
                        <a:pt x="149548" y="69610"/>
                      </a:cubicBezTo>
                      <a:lnTo>
                        <a:pt x="123315" y="43377"/>
                      </a:lnTo>
                      <a:cubicBezTo>
                        <a:pt x="118564" y="38626"/>
                        <a:pt x="110921" y="38626"/>
                        <a:pt x="106171" y="43377"/>
                      </a:cubicBezTo>
                      <a:lnTo>
                        <a:pt x="83656" y="65892"/>
                      </a:lnTo>
                      <a:cubicBezTo>
                        <a:pt x="67751" y="55461"/>
                        <a:pt x="49884" y="47818"/>
                        <a:pt x="30570" y="43893"/>
                      </a:cubicBezTo>
                      <a:lnTo>
                        <a:pt x="30570" y="12084"/>
                      </a:lnTo>
                      <a:cubicBezTo>
                        <a:pt x="30570" y="5370"/>
                        <a:pt x="25200" y="0"/>
                        <a:pt x="18487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652" name="Group 651">
              <a:extLst>
                <a:ext uri="{FF2B5EF4-FFF2-40B4-BE49-F238E27FC236}">
                  <a16:creationId xmlns:a16="http://schemas.microsoft.com/office/drawing/2014/main" id="{9AC6998E-AEF3-15F3-186E-23B1C2FFDC08}"/>
                </a:ext>
              </a:extLst>
            </p:cNvPr>
            <p:cNvGrpSpPr/>
            <p:nvPr/>
          </p:nvGrpSpPr>
          <p:grpSpPr>
            <a:xfrm>
              <a:off x="11000047" y="1811623"/>
              <a:ext cx="320039" cy="319626"/>
              <a:chOff x="7608541" y="2639066"/>
              <a:chExt cx="327913" cy="319626"/>
            </a:xfrm>
          </p:grpSpPr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59C4D73-E1D5-A6C0-CE21-1E60068E38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61293" y="2690485"/>
                <a:ext cx="222487" cy="216864"/>
              </a:xfrm>
              <a:custGeom>
                <a:avLst/>
                <a:gdLst>
                  <a:gd name="connsiteX0" fmla="*/ 189000 w 292278"/>
                  <a:gd name="connsiteY0" fmla="*/ 0 h 292278"/>
                  <a:gd name="connsiteX1" fmla="*/ 292279 w 292278"/>
                  <a:gd name="connsiteY1" fmla="*/ 103279 h 292278"/>
                  <a:gd name="connsiteX2" fmla="*/ 292279 w 292278"/>
                  <a:gd name="connsiteY2" fmla="*/ 189000 h 292278"/>
                  <a:gd name="connsiteX3" fmla="*/ 189000 w 292278"/>
                  <a:gd name="connsiteY3" fmla="*/ 292279 h 292278"/>
                  <a:gd name="connsiteX4" fmla="*/ 103279 w 292278"/>
                  <a:gd name="connsiteY4" fmla="*/ 292279 h 292278"/>
                  <a:gd name="connsiteX5" fmla="*/ 0 w 292278"/>
                  <a:gd name="connsiteY5" fmla="*/ 189000 h 292278"/>
                  <a:gd name="connsiteX6" fmla="*/ 0 w 292278"/>
                  <a:gd name="connsiteY6" fmla="*/ 103279 h 292278"/>
                  <a:gd name="connsiteX7" fmla="*/ 103279 w 292278"/>
                  <a:gd name="connsiteY7" fmla="*/ 0 h 29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92278" h="292278">
                    <a:moveTo>
                      <a:pt x="189000" y="0"/>
                    </a:moveTo>
                    <a:cubicBezTo>
                      <a:pt x="246039" y="0"/>
                      <a:pt x="292279" y="46239"/>
                      <a:pt x="292279" y="103279"/>
                    </a:cubicBezTo>
                    <a:lnTo>
                      <a:pt x="292279" y="189000"/>
                    </a:lnTo>
                    <a:cubicBezTo>
                      <a:pt x="292279" y="246039"/>
                      <a:pt x="246039" y="292279"/>
                      <a:pt x="189000" y="292279"/>
                    </a:cubicBezTo>
                    <a:lnTo>
                      <a:pt x="103279" y="292279"/>
                    </a:lnTo>
                    <a:cubicBezTo>
                      <a:pt x="46239" y="292279"/>
                      <a:pt x="0" y="246039"/>
                      <a:pt x="0" y="189000"/>
                    </a:cubicBezTo>
                    <a:lnTo>
                      <a:pt x="0" y="103279"/>
                    </a:lnTo>
                    <a:cubicBezTo>
                      <a:pt x="0" y="46239"/>
                      <a:pt x="46239" y="0"/>
                      <a:pt x="103279" y="0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2244C533-3954-37FF-D65C-1F204551A9E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01075" y="2639066"/>
                <a:ext cx="7861" cy="37549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B3FEC605-8F9F-A5EB-691E-8A37D62F7B8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3920" y="2639066"/>
                <a:ext cx="7861" cy="37549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6BD76878-4019-9ED8-0748-0FFBF6A9C0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58231" y="2639066"/>
                <a:ext cx="7861" cy="37549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19440CF6-9FDC-C969-13E2-1F41C1991B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86766" y="2639066"/>
                <a:ext cx="7861" cy="37549"/>
              </a:xfrm>
              <a:custGeom>
                <a:avLst/>
                <a:gdLst>
                  <a:gd name="connsiteX0" fmla="*/ 0 w 10327"/>
                  <a:gd name="connsiteY0" fmla="*/ 0 h 50606"/>
                  <a:gd name="connsiteX1" fmla="*/ 0 w 10327"/>
                  <a:gd name="connsiteY1" fmla="*/ 50607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0"/>
                    </a:moveTo>
                    <a:lnTo>
                      <a:pt x="0" y="50607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375F9EC3-DA61-6107-05DE-0052769A4A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01075" y="2921143"/>
                <a:ext cx="7861" cy="37549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F9DC6341-301B-5130-E0C4-01BB425187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3920" y="2921143"/>
                <a:ext cx="7861" cy="37549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95F68E57-634D-5114-6BE1-022D3ED0CF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58231" y="2921143"/>
                <a:ext cx="7861" cy="37549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1C517281-D9E6-F65C-4C70-6777013A38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86766" y="2921143"/>
                <a:ext cx="7861" cy="37549"/>
              </a:xfrm>
              <a:custGeom>
                <a:avLst/>
                <a:gdLst>
                  <a:gd name="connsiteX0" fmla="*/ 0 w 10327"/>
                  <a:gd name="connsiteY0" fmla="*/ 50607 h 50606"/>
                  <a:gd name="connsiteX1" fmla="*/ 0 w 10327"/>
                  <a:gd name="connsiteY1" fmla="*/ 0 h 50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327" h="50606">
                    <a:moveTo>
                      <a:pt x="0" y="50607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24901F1E-6D90-90FB-7EC3-C1FED2FE37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8541" y="2771024"/>
                <a:ext cx="38522" cy="7662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469CD86A-CDEA-B3D2-8D7D-FA20DF74B1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8541" y="2826734"/>
                <a:ext cx="38522" cy="7662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C4DA8188-0B8A-32B8-1099-DC36EA4785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8541" y="2715390"/>
                <a:ext cx="38522" cy="7662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1A4AF99D-5E8C-02E5-5BE3-4A8F203DA0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08541" y="2882445"/>
                <a:ext cx="38522" cy="7662"/>
              </a:xfrm>
              <a:custGeom>
                <a:avLst/>
                <a:gdLst>
                  <a:gd name="connsiteX0" fmla="*/ 0 w 50606"/>
                  <a:gd name="connsiteY0" fmla="*/ 0 h 10327"/>
                  <a:gd name="connsiteX1" fmla="*/ 50607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0" y="0"/>
                    </a:moveTo>
                    <a:lnTo>
                      <a:pt x="50607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3D1746E6-DB3D-8369-C1A4-863B2ECE6C1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97932" y="2771024"/>
                <a:ext cx="38522" cy="7662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303CECF-CAC5-17EE-9822-961B438F5A8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97932" y="2826734"/>
                <a:ext cx="38522" cy="7662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1CF1EC2A-0380-0564-D31D-B88F86BD9A5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97932" y="2715390"/>
                <a:ext cx="38522" cy="7662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91B71D9A-D7B4-E7A6-F169-FDD0C5875B9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97932" y="2882445"/>
                <a:ext cx="38522" cy="7662"/>
              </a:xfrm>
              <a:custGeom>
                <a:avLst/>
                <a:gdLst>
                  <a:gd name="connsiteX0" fmla="*/ 50607 w 50606"/>
                  <a:gd name="connsiteY0" fmla="*/ 0 h 10327"/>
                  <a:gd name="connsiteX1" fmla="*/ 0 w 50606"/>
                  <a:gd name="connsiteY1" fmla="*/ 0 h 10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0606" h="10327">
                    <a:moveTo>
                      <a:pt x="50607" y="0"/>
                    </a:moveTo>
                    <a:lnTo>
                      <a:pt x="0" y="0"/>
                    </a:lnTo>
                  </a:path>
                </a:pathLst>
              </a:custGeom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grpSp>
            <p:nvGrpSpPr>
              <p:cNvPr id="670" name="Graphic 1289">
                <a:extLst>
                  <a:ext uri="{FF2B5EF4-FFF2-40B4-BE49-F238E27FC236}">
                    <a16:creationId xmlns:a16="http://schemas.microsoft.com/office/drawing/2014/main" id="{485177CF-3929-A149-BBC8-C1995369A8F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7690546" y="2718992"/>
                <a:ext cx="163918" cy="159775"/>
                <a:chOff x="1552752" y="2701001"/>
                <a:chExt cx="215336" cy="215336"/>
              </a:xfrm>
              <a:noFill/>
            </p:grpSpPr>
            <p:sp>
              <p:nvSpPr>
                <p:cNvPr id="671" name="Freeform: Shape 670">
                  <a:extLst>
                    <a:ext uri="{FF2B5EF4-FFF2-40B4-BE49-F238E27FC236}">
                      <a16:creationId xmlns:a16="http://schemas.microsoft.com/office/drawing/2014/main" id="{A6E54FDD-0656-165C-E914-AB4344F93362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-4846799">
                  <a:off x="1610125" y="2758311"/>
                  <a:ext cx="100799" cy="100799"/>
                </a:xfrm>
                <a:custGeom>
                  <a:avLst/>
                  <a:gdLst>
                    <a:gd name="connsiteX0" fmla="*/ 100800 w 100799"/>
                    <a:gd name="connsiteY0" fmla="*/ 50400 h 100799"/>
                    <a:gd name="connsiteX1" fmla="*/ 50400 w 100799"/>
                    <a:gd name="connsiteY1" fmla="*/ 100800 h 100799"/>
                    <a:gd name="connsiteX2" fmla="*/ 0 w 100799"/>
                    <a:gd name="connsiteY2" fmla="*/ 50400 h 100799"/>
                    <a:gd name="connsiteX3" fmla="*/ 50400 w 100799"/>
                    <a:gd name="connsiteY3" fmla="*/ 0 h 100799"/>
                    <a:gd name="connsiteX4" fmla="*/ 100800 w 100799"/>
                    <a:gd name="connsiteY4" fmla="*/ 50400 h 1007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799" h="100799">
                      <a:moveTo>
                        <a:pt x="100800" y="50400"/>
                      </a:moveTo>
                      <a:cubicBezTo>
                        <a:pt x="100800" y="78235"/>
                        <a:pt x="78235" y="100800"/>
                        <a:pt x="50400" y="100800"/>
                      </a:cubicBezTo>
                      <a:cubicBezTo>
                        <a:pt x="22565" y="100800"/>
                        <a:pt x="0" y="78235"/>
                        <a:pt x="0" y="50400"/>
                      </a:cubicBezTo>
                      <a:cubicBezTo>
                        <a:pt x="0" y="22565"/>
                        <a:pt x="22565" y="0"/>
                        <a:pt x="50400" y="0"/>
                      </a:cubicBezTo>
                      <a:cubicBezTo>
                        <a:pt x="78235" y="0"/>
                        <a:pt x="100800" y="22565"/>
                        <a:pt x="100800" y="50400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sp>
              <p:nvSpPr>
                <p:cNvPr id="672" name="Freeform: Shape 671">
                  <a:extLst>
                    <a:ext uri="{FF2B5EF4-FFF2-40B4-BE49-F238E27FC236}">
                      <a16:creationId xmlns:a16="http://schemas.microsoft.com/office/drawing/2014/main" id="{01C5155E-1CD5-C153-7D4C-7A5AB907CB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552752" y="2701001"/>
                  <a:ext cx="215336" cy="215336"/>
                </a:xfrm>
                <a:custGeom>
                  <a:avLst/>
                  <a:gdLst>
                    <a:gd name="connsiteX0" fmla="*/ 208623 w 215336"/>
                    <a:gd name="connsiteY0" fmla="*/ 90575 h 215336"/>
                    <a:gd name="connsiteX1" fmla="*/ 190859 w 215336"/>
                    <a:gd name="connsiteY1" fmla="*/ 90575 h 215336"/>
                    <a:gd name="connsiteX2" fmla="*/ 178569 w 215336"/>
                    <a:gd name="connsiteY2" fmla="*/ 60935 h 215336"/>
                    <a:gd name="connsiteX3" fmla="*/ 191169 w 215336"/>
                    <a:gd name="connsiteY3" fmla="*/ 48335 h 215336"/>
                    <a:gd name="connsiteX4" fmla="*/ 191169 w 215336"/>
                    <a:gd name="connsiteY4" fmla="*/ 38833 h 215336"/>
                    <a:gd name="connsiteX5" fmla="*/ 176503 w 215336"/>
                    <a:gd name="connsiteY5" fmla="*/ 24167 h 215336"/>
                    <a:gd name="connsiteX6" fmla="*/ 167002 w 215336"/>
                    <a:gd name="connsiteY6" fmla="*/ 24167 h 215336"/>
                    <a:gd name="connsiteX7" fmla="*/ 154402 w 215336"/>
                    <a:gd name="connsiteY7" fmla="*/ 36767 h 215336"/>
                    <a:gd name="connsiteX8" fmla="*/ 124761 w 215336"/>
                    <a:gd name="connsiteY8" fmla="*/ 24477 h 215336"/>
                    <a:gd name="connsiteX9" fmla="*/ 124761 w 215336"/>
                    <a:gd name="connsiteY9" fmla="*/ 6713 h 215336"/>
                    <a:gd name="connsiteX10" fmla="*/ 118048 w 215336"/>
                    <a:gd name="connsiteY10" fmla="*/ 0 h 215336"/>
                    <a:gd name="connsiteX11" fmla="*/ 97289 w 215336"/>
                    <a:gd name="connsiteY11" fmla="*/ 0 h 215336"/>
                    <a:gd name="connsiteX12" fmla="*/ 90575 w 215336"/>
                    <a:gd name="connsiteY12" fmla="*/ 6713 h 215336"/>
                    <a:gd name="connsiteX13" fmla="*/ 90575 w 215336"/>
                    <a:gd name="connsiteY13" fmla="*/ 24477 h 215336"/>
                    <a:gd name="connsiteX14" fmla="*/ 60934 w 215336"/>
                    <a:gd name="connsiteY14" fmla="*/ 36767 h 215336"/>
                    <a:gd name="connsiteX15" fmla="*/ 48334 w 215336"/>
                    <a:gd name="connsiteY15" fmla="*/ 24167 h 215336"/>
                    <a:gd name="connsiteX16" fmla="*/ 38833 w 215336"/>
                    <a:gd name="connsiteY16" fmla="*/ 24167 h 215336"/>
                    <a:gd name="connsiteX17" fmla="*/ 24167 w 215336"/>
                    <a:gd name="connsiteY17" fmla="*/ 38833 h 215336"/>
                    <a:gd name="connsiteX18" fmla="*/ 24167 w 215336"/>
                    <a:gd name="connsiteY18" fmla="*/ 48335 h 215336"/>
                    <a:gd name="connsiteX19" fmla="*/ 36767 w 215336"/>
                    <a:gd name="connsiteY19" fmla="*/ 60935 h 215336"/>
                    <a:gd name="connsiteX20" fmla="*/ 24477 w 215336"/>
                    <a:gd name="connsiteY20" fmla="*/ 90575 h 215336"/>
                    <a:gd name="connsiteX21" fmla="*/ 6713 w 215336"/>
                    <a:gd name="connsiteY21" fmla="*/ 90575 h 215336"/>
                    <a:gd name="connsiteX22" fmla="*/ 0 w 215336"/>
                    <a:gd name="connsiteY22" fmla="*/ 97289 h 215336"/>
                    <a:gd name="connsiteX23" fmla="*/ 0 w 215336"/>
                    <a:gd name="connsiteY23" fmla="*/ 118048 h 215336"/>
                    <a:gd name="connsiteX24" fmla="*/ 6713 w 215336"/>
                    <a:gd name="connsiteY24" fmla="*/ 124761 h 215336"/>
                    <a:gd name="connsiteX25" fmla="*/ 24477 w 215336"/>
                    <a:gd name="connsiteY25" fmla="*/ 124761 h 215336"/>
                    <a:gd name="connsiteX26" fmla="*/ 36767 w 215336"/>
                    <a:gd name="connsiteY26" fmla="*/ 154402 h 215336"/>
                    <a:gd name="connsiteX27" fmla="*/ 24167 w 215336"/>
                    <a:gd name="connsiteY27" fmla="*/ 167002 h 215336"/>
                    <a:gd name="connsiteX28" fmla="*/ 24167 w 215336"/>
                    <a:gd name="connsiteY28" fmla="*/ 176503 h 215336"/>
                    <a:gd name="connsiteX29" fmla="*/ 38833 w 215336"/>
                    <a:gd name="connsiteY29" fmla="*/ 191169 h 215336"/>
                    <a:gd name="connsiteX30" fmla="*/ 48334 w 215336"/>
                    <a:gd name="connsiteY30" fmla="*/ 191169 h 215336"/>
                    <a:gd name="connsiteX31" fmla="*/ 60934 w 215336"/>
                    <a:gd name="connsiteY31" fmla="*/ 178569 h 215336"/>
                    <a:gd name="connsiteX32" fmla="*/ 90575 w 215336"/>
                    <a:gd name="connsiteY32" fmla="*/ 190859 h 215336"/>
                    <a:gd name="connsiteX33" fmla="*/ 90575 w 215336"/>
                    <a:gd name="connsiteY33" fmla="*/ 208623 h 215336"/>
                    <a:gd name="connsiteX34" fmla="*/ 97289 w 215336"/>
                    <a:gd name="connsiteY34" fmla="*/ 215336 h 215336"/>
                    <a:gd name="connsiteX35" fmla="*/ 118048 w 215336"/>
                    <a:gd name="connsiteY35" fmla="*/ 215336 h 215336"/>
                    <a:gd name="connsiteX36" fmla="*/ 124761 w 215336"/>
                    <a:gd name="connsiteY36" fmla="*/ 208623 h 215336"/>
                    <a:gd name="connsiteX37" fmla="*/ 124761 w 215336"/>
                    <a:gd name="connsiteY37" fmla="*/ 190859 h 215336"/>
                    <a:gd name="connsiteX38" fmla="*/ 154402 w 215336"/>
                    <a:gd name="connsiteY38" fmla="*/ 178569 h 215336"/>
                    <a:gd name="connsiteX39" fmla="*/ 167002 w 215336"/>
                    <a:gd name="connsiteY39" fmla="*/ 191169 h 215336"/>
                    <a:gd name="connsiteX40" fmla="*/ 176503 w 215336"/>
                    <a:gd name="connsiteY40" fmla="*/ 191169 h 215336"/>
                    <a:gd name="connsiteX41" fmla="*/ 191169 w 215336"/>
                    <a:gd name="connsiteY41" fmla="*/ 176503 h 215336"/>
                    <a:gd name="connsiteX42" fmla="*/ 191169 w 215336"/>
                    <a:gd name="connsiteY42" fmla="*/ 167002 h 215336"/>
                    <a:gd name="connsiteX43" fmla="*/ 178569 w 215336"/>
                    <a:gd name="connsiteY43" fmla="*/ 154402 h 215336"/>
                    <a:gd name="connsiteX44" fmla="*/ 190859 w 215336"/>
                    <a:gd name="connsiteY44" fmla="*/ 124761 h 215336"/>
                    <a:gd name="connsiteX45" fmla="*/ 208623 w 215336"/>
                    <a:gd name="connsiteY45" fmla="*/ 124761 h 215336"/>
                    <a:gd name="connsiteX46" fmla="*/ 215336 w 215336"/>
                    <a:gd name="connsiteY46" fmla="*/ 118048 h 215336"/>
                    <a:gd name="connsiteX47" fmla="*/ 215336 w 215336"/>
                    <a:gd name="connsiteY47" fmla="*/ 97289 h 215336"/>
                    <a:gd name="connsiteX48" fmla="*/ 208623 w 215336"/>
                    <a:gd name="connsiteY48" fmla="*/ 90575 h 2153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</a:cxnLst>
                  <a:rect l="l" t="t" r="r" b="b"/>
                  <a:pathLst>
                    <a:path w="215336" h="215336">
                      <a:moveTo>
                        <a:pt x="208623" y="90575"/>
                      </a:moveTo>
                      <a:lnTo>
                        <a:pt x="190859" y="90575"/>
                      </a:lnTo>
                      <a:cubicBezTo>
                        <a:pt x="188690" y="79834"/>
                        <a:pt x="184456" y="69816"/>
                        <a:pt x="178569" y="60935"/>
                      </a:cubicBezTo>
                      <a:lnTo>
                        <a:pt x="191169" y="48335"/>
                      </a:lnTo>
                      <a:cubicBezTo>
                        <a:pt x="193854" y="45649"/>
                        <a:pt x="193854" y="41415"/>
                        <a:pt x="191169" y="38833"/>
                      </a:cubicBezTo>
                      <a:lnTo>
                        <a:pt x="176503" y="24167"/>
                      </a:lnTo>
                      <a:cubicBezTo>
                        <a:pt x="173818" y="21482"/>
                        <a:pt x="169584" y="21482"/>
                        <a:pt x="167002" y="24167"/>
                      </a:cubicBezTo>
                      <a:lnTo>
                        <a:pt x="154402" y="36767"/>
                      </a:lnTo>
                      <a:cubicBezTo>
                        <a:pt x="145520" y="30880"/>
                        <a:pt x="135502" y="26646"/>
                        <a:pt x="124761" y="24477"/>
                      </a:cubicBezTo>
                      <a:lnTo>
                        <a:pt x="124761" y="6713"/>
                      </a:lnTo>
                      <a:cubicBezTo>
                        <a:pt x="124761" y="2995"/>
                        <a:pt x="121766" y="0"/>
                        <a:pt x="118048" y="0"/>
                      </a:cubicBezTo>
                      <a:lnTo>
                        <a:pt x="97289" y="0"/>
                      </a:lnTo>
                      <a:cubicBezTo>
                        <a:pt x="93570" y="0"/>
                        <a:pt x="90575" y="2995"/>
                        <a:pt x="90575" y="6713"/>
                      </a:cubicBezTo>
                      <a:lnTo>
                        <a:pt x="90575" y="24477"/>
                      </a:lnTo>
                      <a:cubicBezTo>
                        <a:pt x="79834" y="26646"/>
                        <a:pt x="69816" y="30880"/>
                        <a:pt x="60934" y="36767"/>
                      </a:cubicBezTo>
                      <a:lnTo>
                        <a:pt x="48334" y="24167"/>
                      </a:lnTo>
                      <a:cubicBezTo>
                        <a:pt x="45649" y="21482"/>
                        <a:pt x="41415" y="21482"/>
                        <a:pt x="38833" y="24167"/>
                      </a:cubicBezTo>
                      <a:lnTo>
                        <a:pt x="24167" y="38833"/>
                      </a:lnTo>
                      <a:cubicBezTo>
                        <a:pt x="21482" y="41518"/>
                        <a:pt x="21482" y="45753"/>
                        <a:pt x="24167" y="48335"/>
                      </a:cubicBezTo>
                      <a:lnTo>
                        <a:pt x="36767" y="60935"/>
                      </a:lnTo>
                      <a:cubicBezTo>
                        <a:pt x="30880" y="69816"/>
                        <a:pt x="26646" y="79834"/>
                        <a:pt x="24477" y="90575"/>
                      </a:cubicBezTo>
                      <a:lnTo>
                        <a:pt x="6713" y="90575"/>
                      </a:lnTo>
                      <a:cubicBezTo>
                        <a:pt x="2995" y="90575"/>
                        <a:pt x="0" y="93570"/>
                        <a:pt x="0" y="97289"/>
                      </a:cubicBezTo>
                      <a:lnTo>
                        <a:pt x="0" y="118048"/>
                      </a:lnTo>
                      <a:cubicBezTo>
                        <a:pt x="0" y="121766"/>
                        <a:pt x="2995" y="124761"/>
                        <a:pt x="6713" y="124761"/>
                      </a:cubicBezTo>
                      <a:lnTo>
                        <a:pt x="24477" y="124761"/>
                      </a:lnTo>
                      <a:cubicBezTo>
                        <a:pt x="26646" y="135502"/>
                        <a:pt x="30880" y="145520"/>
                        <a:pt x="36767" y="154402"/>
                      </a:cubicBezTo>
                      <a:lnTo>
                        <a:pt x="24167" y="167002"/>
                      </a:lnTo>
                      <a:cubicBezTo>
                        <a:pt x="21482" y="169687"/>
                        <a:pt x="21482" y="173921"/>
                        <a:pt x="24167" y="176503"/>
                      </a:cubicBezTo>
                      <a:lnTo>
                        <a:pt x="38833" y="191169"/>
                      </a:lnTo>
                      <a:cubicBezTo>
                        <a:pt x="41518" y="193854"/>
                        <a:pt x="45752" y="193854"/>
                        <a:pt x="48334" y="191169"/>
                      </a:cubicBezTo>
                      <a:lnTo>
                        <a:pt x="60934" y="178569"/>
                      </a:lnTo>
                      <a:cubicBezTo>
                        <a:pt x="69816" y="184456"/>
                        <a:pt x="79834" y="188690"/>
                        <a:pt x="90575" y="190859"/>
                      </a:cubicBezTo>
                      <a:lnTo>
                        <a:pt x="90575" y="208623"/>
                      </a:lnTo>
                      <a:cubicBezTo>
                        <a:pt x="90575" y="212341"/>
                        <a:pt x="93570" y="215336"/>
                        <a:pt x="97289" y="215336"/>
                      </a:cubicBezTo>
                      <a:lnTo>
                        <a:pt x="118048" y="215336"/>
                      </a:lnTo>
                      <a:cubicBezTo>
                        <a:pt x="121766" y="215336"/>
                        <a:pt x="124761" y="212341"/>
                        <a:pt x="124761" y="208623"/>
                      </a:cubicBezTo>
                      <a:lnTo>
                        <a:pt x="124761" y="190859"/>
                      </a:lnTo>
                      <a:cubicBezTo>
                        <a:pt x="135502" y="188690"/>
                        <a:pt x="145520" y="184456"/>
                        <a:pt x="154402" y="178569"/>
                      </a:cubicBezTo>
                      <a:lnTo>
                        <a:pt x="167002" y="191169"/>
                      </a:lnTo>
                      <a:cubicBezTo>
                        <a:pt x="169687" y="193854"/>
                        <a:pt x="173921" y="193854"/>
                        <a:pt x="176503" y="191169"/>
                      </a:cubicBezTo>
                      <a:lnTo>
                        <a:pt x="191169" y="176503"/>
                      </a:lnTo>
                      <a:cubicBezTo>
                        <a:pt x="193854" y="173818"/>
                        <a:pt x="193854" y="169584"/>
                        <a:pt x="191169" y="167002"/>
                      </a:cubicBezTo>
                      <a:lnTo>
                        <a:pt x="178569" y="154402"/>
                      </a:lnTo>
                      <a:cubicBezTo>
                        <a:pt x="184456" y="145520"/>
                        <a:pt x="188690" y="135502"/>
                        <a:pt x="190859" y="124761"/>
                      </a:cubicBezTo>
                      <a:lnTo>
                        <a:pt x="208623" y="124761"/>
                      </a:lnTo>
                      <a:cubicBezTo>
                        <a:pt x="212341" y="124761"/>
                        <a:pt x="215336" y="121766"/>
                        <a:pt x="215336" y="118048"/>
                      </a:cubicBezTo>
                      <a:lnTo>
                        <a:pt x="215336" y="97289"/>
                      </a:lnTo>
                      <a:cubicBezTo>
                        <a:pt x="215336" y="93570"/>
                        <a:pt x="212341" y="90575"/>
                        <a:pt x="208623" y="9057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</p:grpSp>
        </p:grpSp>
        <p:grpSp>
          <p:nvGrpSpPr>
            <p:cNvPr id="673" name="Group 672">
              <a:extLst>
                <a:ext uri="{FF2B5EF4-FFF2-40B4-BE49-F238E27FC236}">
                  <a16:creationId xmlns:a16="http://schemas.microsoft.com/office/drawing/2014/main" id="{60EBD991-AB9B-4306-18E3-AA0EEBDADB9C}"/>
                </a:ext>
              </a:extLst>
            </p:cNvPr>
            <p:cNvGrpSpPr/>
            <p:nvPr/>
          </p:nvGrpSpPr>
          <p:grpSpPr>
            <a:xfrm>
              <a:off x="11019935" y="3097306"/>
              <a:ext cx="280264" cy="280264"/>
              <a:chOff x="7655255" y="3667286"/>
              <a:chExt cx="299820" cy="290124"/>
            </a:xfrm>
          </p:grpSpPr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7E01065D-42FD-2470-8346-1EF9CCB5E8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55255" y="3667286"/>
                <a:ext cx="149945" cy="290124"/>
              </a:xfrm>
              <a:custGeom>
                <a:avLst/>
                <a:gdLst>
                  <a:gd name="connsiteX0" fmla="*/ 216679 w 216678"/>
                  <a:gd name="connsiteY0" fmla="*/ 120113 h 391013"/>
                  <a:gd name="connsiteX1" fmla="*/ 216679 w 216678"/>
                  <a:gd name="connsiteY1" fmla="*/ 54738 h 391013"/>
                  <a:gd name="connsiteX2" fmla="*/ 165246 w 216678"/>
                  <a:gd name="connsiteY2" fmla="*/ 0 h 391013"/>
                  <a:gd name="connsiteX3" fmla="*/ 114123 w 216678"/>
                  <a:gd name="connsiteY3" fmla="*/ 49471 h 391013"/>
                  <a:gd name="connsiteX4" fmla="*/ 107616 w 216678"/>
                  <a:gd name="connsiteY4" fmla="*/ 49057 h 391013"/>
                  <a:gd name="connsiteX5" fmla="*/ 39246 w 216678"/>
                  <a:gd name="connsiteY5" fmla="*/ 120629 h 391013"/>
                  <a:gd name="connsiteX6" fmla="*/ 0 w 216678"/>
                  <a:gd name="connsiteY6" fmla="*/ 193131 h 391013"/>
                  <a:gd name="connsiteX7" fmla="*/ 37180 w 216678"/>
                  <a:gd name="connsiteY7" fmla="*/ 264394 h 391013"/>
                  <a:gd name="connsiteX8" fmla="*/ 43997 w 216678"/>
                  <a:gd name="connsiteY8" fmla="*/ 267905 h 391013"/>
                  <a:gd name="connsiteX9" fmla="*/ 42448 w 216678"/>
                  <a:gd name="connsiteY9" fmla="*/ 281434 h 391013"/>
                  <a:gd name="connsiteX10" fmla="*/ 93880 w 216678"/>
                  <a:gd name="connsiteY10" fmla="*/ 336275 h 391013"/>
                  <a:gd name="connsiteX11" fmla="*/ 114020 w 216678"/>
                  <a:gd name="connsiteY11" fmla="*/ 331938 h 391013"/>
                  <a:gd name="connsiteX12" fmla="*/ 113813 w 216678"/>
                  <a:gd name="connsiteY12" fmla="*/ 336275 h 391013"/>
                  <a:gd name="connsiteX13" fmla="*/ 165143 w 216678"/>
                  <a:gd name="connsiteY13" fmla="*/ 391013 h 391013"/>
                  <a:gd name="connsiteX14" fmla="*/ 216575 w 216678"/>
                  <a:gd name="connsiteY14" fmla="*/ 336275 h 391013"/>
                  <a:gd name="connsiteX15" fmla="*/ 216575 w 216678"/>
                  <a:gd name="connsiteY15" fmla="*/ 270900 h 391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6678" h="391013">
                    <a:moveTo>
                      <a:pt x="216679" y="120113"/>
                    </a:moveTo>
                    <a:lnTo>
                      <a:pt x="216679" y="54738"/>
                    </a:lnTo>
                    <a:cubicBezTo>
                      <a:pt x="216679" y="24477"/>
                      <a:pt x="193648" y="0"/>
                      <a:pt x="165246" y="0"/>
                    </a:cubicBezTo>
                    <a:cubicBezTo>
                      <a:pt x="138497" y="0"/>
                      <a:pt x="116602" y="21689"/>
                      <a:pt x="114123" y="49471"/>
                    </a:cubicBezTo>
                    <a:cubicBezTo>
                      <a:pt x="111954" y="49161"/>
                      <a:pt x="109785" y="49057"/>
                      <a:pt x="107616" y="49057"/>
                    </a:cubicBezTo>
                    <a:cubicBezTo>
                      <a:pt x="72192" y="49057"/>
                      <a:pt x="42964" y="80454"/>
                      <a:pt x="39246" y="120629"/>
                    </a:cubicBezTo>
                    <a:cubicBezTo>
                      <a:pt x="16008" y="133539"/>
                      <a:pt x="0" y="161115"/>
                      <a:pt x="0" y="193131"/>
                    </a:cubicBezTo>
                    <a:cubicBezTo>
                      <a:pt x="0" y="225148"/>
                      <a:pt x="15079" y="251070"/>
                      <a:pt x="37180" y="264394"/>
                    </a:cubicBezTo>
                    <a:cubicBezTo>
                      <a:pt x="39349" y="265736"/>
                      <a:pt x="41621" y="266872"/>
                      <a:pt x="43997" y="267905"/>
                    </a:cubicBezTo>
                    <a:cubicBezTo>
                      <a:pt x="42964" y="272243"/>
                      <a:pt x="42448" y="276787"/>
                      <a:pt x="42448" y="281434"/>
                    </a:cubicBezTo>
                    <a:cubicBezTo>
                      <a:pt x="42448" y="311695"/>
                      <a:pt x="65479" y="336275"/>
                      <a:pt x="93880" y="336275"/>
                    </a:cubicBezTo>
                    <a:cubicBezTo>
                      <a:pt x="101007" y="336275"/>
                      <a:pt x="107823" y="334726"/>
                      <a:pt x="114020" y="331938"/>
                    </a:cubicBezTo>
                    <a:cubicBezTo>
                      <a:pt x="113916" y="333384"/>
                      <a:pt x="113813" y="334830"/>
                      <a:pt x="113813" y="336275"/>
                    </a:cubicBezTo>
                    <a:cubicBezTo>
                      <a:pt x="113813" y="366536"/>
                      <a:pt x="136844" y="391013"/>
                      <a:pt x="165143" y="391013"/>
                    </a:cubicBezTo>
                    <a:cubicBezTo>
                      <a:pt x="193441" y="391013"/>
                      <a:pt x="216575" y="366536"/>
                      <a:pt x="216575" y="336275"/>
                    </a:cubicBezTo>
                    <a:lnTo>
                      <a:pt x="216575" y="27090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C2AD2760-2D77-5AD1-D3CE-9ED81838D1D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8238" y="3885607"/>
                <a:ext cx="24800" cy="26590"/>
              </a:xfrm>
              <a:custGeom>
                <a:avLst/>
                <a:gdLst>
                  <a:gd name="connsiteX0" fmla="*/ 0 w 35837"/>
                  <a:gd name="connsiteY0" fmla="*/ 0 h 35837"/>
                  <a:gd name="connsiteX1" fmla="*/ 35838 w 35837"/>
                  <a:gd name="connsiteY1" fmla="*/ 35838 h 35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837" h="35837">
                    <a:moveTo>
                      <a:pt x="0" y="0"/>
                    </a:moveTo>
                    <a:cubicBezTo>
                      <a:pt x="19829" y="0"/>
                      <a:pt x="35838" y="16008"/>
                      <a:pt x="35838" y="3583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634DA511-FDED-25DE-F707-88ED5744E2B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19721" y="3783765"/>
                <a:ext cx="17367" cy="26820"/>
              </a:xfrm>
              <a:custGeom>
                <a:avLst/>
                <a:gdLst>
                  <a:gd name="connsiteX0" fmla="*/ 0 w 25096"/>
                  <a:gd name="connsiteY0" fmla="*/ 36148 h 36147"/>
                  <a:gd name="connsiteX1" fmla="*/ 25097 w 25096"/>
                  <a:gd name="connsiteY1" fmla="*/ 0 h 36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096" h="36147">
                    <a:moveTo>
                      <a:pt x="0" y="36148"/>
                    </a:moveTo>
                    <a:cubicBezTo>
                      <a:pt x="0" y="19623"/>
                      <a:pt x="10431" y="5474"/>
                      <a:pt x="25097" y="0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1BDE2648-268C-5F26-6AA4-2C59035A804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73240" y="3783765"/>
                <a:ext cx="17367" cy="26820"/>
              </a:xfrm>
              <a:custGeom>
                <a:avLst/>
                <a:gdLst>
                  <a:gd name="connsiteX0" fmla="*/ 0 w 25096"/>
                  <a:gd name="connsiteY0" fmla="*/ 0 h 36147"/>
                  <a:gd name="connsiteX1" fmla="*/ 25097 w 25096"/>
                  <a:gd name="connsiteY1" fmla="*/ 36148 h 36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5096" h="36147">
                    <a:moveTo>
                      <a:pt x="0" y="0"/>
                    </a:moveTo>
                    <a:cubicBezTo>
                      <a:pt x="14666" y="5474"/>
                      <a:pt x="25097" y="19623"/>
                      <a:pt x="25097" y="3614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AC7F08F1-9F7C-8869-0A4B-ED893E122F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80986" y="3835950"/>
                <a:ext cx="30089" cy="27510"/>
              </a:xfrm>
              <a:custGeom>
                <a:avLst/>
                <a:gdLst>
                  <a:gd name="connsiteX0" fmla="*/ 43480 w 43480"/>
                  <a:gd name="connsiteY0" fmla="*/ 0 h 37077"/>
                  <a:gd name="connsiteX1" fmla="*/ 0 w 43480"/>
                  <a:gd name="connsiteY1" fmla="*/ 37077 h 37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480" h="37077">
                    <a:moveTo>
                      <a:pt x="43480" y="0"/>
                    </a:moveTo>
                    <a:cubicBezTo>
                      <a:pt x="21585" y="0"/>
                      <a:pt x="3408" y="16008"/>
                      <a:pt x="0" y="37077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297E9DC8-C969-52FD-EF9A-AFDD43C5D1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34160" y="3703915"/>
                <a:ext cx="21512" cy="16246"/>
              </a:xfrm>
              <a:custGeom>
                <a:avLst/>
                <a:gdLst>
                  <a:gd name="connsiteX0" fmla="*/ 0 w 31086"/>
                  <a:gd name="connsiteY0" fmla="*/ 0 h 21895"/>
                  <a:gd name="connsiteX1" fmla="*/ 31087 w 31086"/>
                  <a:gd name="connsiteY1" fmla="*/ 21895 h 21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86" h="21895">
                    <a:moveTo>
                      <a:pt x="0" y="0"/>
                    </a:moveTo>
                    <a:cubicBezTo>
                      <a:pt x="0" y="0"/>
                      <a:pt x="28505" y="8366"/>
                      <a:pt x="31087" y="21895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C84C871F-700B-3E5E-1167-BCFCD5EA9D3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682416" y="3754611"/>
                <a:ext cx="32304" cy="2179"/>
              </a:xfrm>
              <a:custGeom>
                <a:avLst/>
                <a:gdLst>
                  <a:gd name="connsiteX0" fmla="*/ 0 w 46681"/>
                  <a:gd name="connsiteY0" fmla="*/ 2938 h 2937"/>
                  <a:gd name="connsiteX1" fmla="*/ 46682 w 46681"/>
                  <a:gd name="connsiteY1" fmla="*/ 2938 h 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681" h="2937">
                    <a:moveTo>
                      <a:pt x="0" y="2938"/>
                    </a:moveTo>
                    <a:cubicBezTo>
                      <a:pt x="0" y="2938"/>
                      <a:pt x="30984" y="-3672"/>
                      <a:pt x="46682" y="293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09B2E7A4-DC22-96AA-9D1A-9A5B94B208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05202" y="3667286"/>
                <a:ext cx="149873" cy="290124"/>
              </a:xfrm>
              <a:custGeom>
                <a:avLst/>
                <a:gdLst>
                  <a:gd name="connsiteX0" fmla="*/ 0 w 216575"/>
                  <a:gd name="connsiteY0" fmla="*/ 120113 h 391013"/>
                  <a:gd name="connsiteX1" fmla="*/ 0 w 216575"/>
                  <a:gd name="connsiteY1" fmla="*/ 54738 h 391013"/>
                  <a:gd name="connsiteX2" fmla="*/ 51433 w 216575"/>
                  <a:gd name="connsiteY2" fmla="*/ 0 h 391013"/>
                  <a:gd name="connsiteX3" fmla="*/ 102556 w 216575"/>
                  <a:gd name="connsiteY3" fmla="*/ 49471 h 391013"/>
                  <a:gd name="connsiteX4" fmla="*/ 109062 w 216575"/>
                  <a:gd name="connsiteY4" fmla="*/ 49057 h 391013"/>
                  <a:gd name="connsiteX5" fmla="*/ 177329 w 216575"/>
                  <a:gd name="connsiteY5" fmla="*/ 120629 h 391013"/>
                  <a:gd name="connsiteX6" fmla="*/ 216575 w 216575"/>
                  <a:gd name="connsiteY6" fmla="*/ 193131 h 391013"/>
                  <a:gd name="connsiteX7" fmla="*/ 179395 w 216575"/>
                  <a:gd name="connsiteY7" fmla="*/ 264394 h 391013"/>
                  <a:gd name="connsiteX8" fmla="*/ 172579 w 216575"/>
                  <a:gd name="connsiteY8" fmla="*/ 267905 h 391013"/>
                  <a:gd name="connsiteX9" fmla="*/ 174128 w 216575"/>
                  <a:gd name="connsiteY9" fmla="*/ 281434 h 391013"/>
                  <a:gd name="connsiteX10" fmla="*/ 122695 w 216575"/>
                  <a:gd name="connsiteY10" fmla="*/ 336275 h 391013"/>
                  <a:gd name="connsiteX11" fmla="*/ 102556 w 216575"/>
                  <a:gd name="connsiteY11" fmla="*/ 331938 h 391013"/>
                  <a:gd name="connsiteX12" fmla="*/ 102762 w 216575"/>
                  <a:gd name="connsiteY12" fmla="*/ 336275 h 391013"/>
                  <a:gd name="connsiteX13" fmla="*/ 51433 w 216575"/>
                  <a:gd name="connsiteY13" fmla="*/ 391013 h 391013"/>
                  <a:gd name="connsiteX14" fmla="*/ 0 w 216575"/>
                  <a:gd name="connsiteY14" fmla="*/ 336275 h 391013"/>
                  <a:gd name="connsiteX15" fmla="*/ 0 w 216575"/>
                  <a:gd name="connsiteY15" fmla="*/ 270900 h 391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6575" h="391013">
                    <a:moveTo>
                      <a:pt x="0" y="120113"/>
                    </a:moveTo>
                    <a:lnTo>
                      <a:pt x="0" y="54738"/>
                    </a:lnTo>
                    <a:cubicBezTo>
                      <a:pt x="0" y="24477"/>
                      <a:pt x="23031" y="0"/>
                      <a:pt x="51433" y="0"/>
                    </a:cubicBezTo>
                    <a:cubicBezTo>
                      <a:pt x="78079" y="0"/>
                      <a:pt x="100077" y="21689"/>
                      <a:pt x="102556" y="49471"/>
                    </a:cubicBezTo>
                    <a:cubicBezTo>
                      <a:pt x="104725" y="49161"/>
                      <a:pt x="106894" y="49057"/>
                      <a:pt x="109062" y="49057"/>
                    </a:cubicBezTo>
                    <a:cubicBezTo>
                      <a:pt x="144487" y="49057"/>
                      <a:pt x="173715" y="80454"/>
                      <a:pt x="177329" y="120629"/>
                    </a:cubicBezTo>
                    <a:cubicBezTo>
                      <a:pt x="200567" y="133539"/>
                      <a:pt x="216575" y="161115"/>
                      <a:pt x="216575" y="193131"/>
                    </a:cubicBezTo>
                    <a:cubicBezTo>
                      <a:pt x="216575" y="225148"/>
                      <a:pt x="201497" y="251070"/>
                      <a:pt x="179395" y="264394"/>
                    </a:cubicBezTo>
                    <a:cubicBezTo>
                      <a:pt x="177226" y="265736"/>
                      <a:pt x="174954" y="266872"/>
                      <a:pt x="172579" y="267905"/>
                    </a:cubicBezTo>
                    <a:cubicBezTo>
                      <a:pt x="173611" y="272243"/>
                      <a:pt x="174128" y="276787"/>
                      <a:pt x="174128" y="281434"/>
                    </a:cubicBezTo>
                    <a:cubicBezTo>
                      <a:pt x="174128" y="311695"/>
                      <a:pt x="151097" y="336275"/>
                      <a:pt x="122695" y="336275"/>
                    </a:cubicBezTo>
                    <a:cubicBezTo>
                      <a:pt x="115569" y="336275"/>
                      <a:pt x="108752" y="334726"/>
                      <a:pt x="102556" y="331938"/>
                    </a:cubicBezTo>
                    <a:cubicBezTo>
                      <a:pt x="102659" y="333384"/>
                      <a:pt x="102762" y="334830"/>
                      <a:pt x="102762" y="336275"/>
                    </a:cubicBezTo>
                    <a:cubicBezTo>
                      <a:pt x="102762" y="366536"/>
                      <a:pt x="79731" y="391013"/>
                      <a:pt x="51433" y="391013"/>
                    </a:cubicBezTo>
                    <a:cubicBezTo>
                      <a:pt x="23134" y="391013"/>
                      <a:pt x="0" y="366536"/>
                      <a:pt x="0" y="336275"/>
                    </a:cubicBezTo>
                    <a:lnTo>
                      <a:pt x="0" y="27090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61BB7F64-3644-1006-251F-1633C33EF3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37288" y="3885601"/>
                <a:ext cx="24800" cy="26590"/>
              </a:xfrm>
              <a:custGeom>
                <a:avLst/>
                <a:gdLst>
                  <a:gd name="connsiteX0" fmla="*/ 35838 w 35837"/>
                  <a:gd name="connsiteY0" fmla="*/ 0 h 35837"/>
                  <a:gd name="connsiteX1" fmla="*/ 0 w 35837"/>
                  <a:gd name="connsiteY1" fmla="*/ 35838 h 35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837" h="35837">
                    <a:moveTo>
                      <a:pt x="35838" y="0"/>
                    </a:moveTo>
                    <a:cubicBezTo>
                      <a:pt x="16008" y="0"/>
                      <a:pt x="0" y="16008"/>
                      <a:pt x="0" y="3583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5021C678-A3AE-EF84-D6F6-912721E6B7A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99256" y="3835940"/>
                <a:ext cx="30089" cy="27510"/>
              </a:xfrm>
              <a:custGeom>
                <a:avLst/>
                <a:gdLst>
                  <a:gd name="connsiteX0" fmla="*/ 43480 w 43480"/>
                  <a:gd name="connsiteY0" fmla="*/ 37077 h 37077"/>
                  <a:gd name="connsiteX1" fmla="*/ 0 w 43480"/>
                  <a:gd name="connsiteY1" fmla="*/ 0 h 37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3480" h="37077">
                    <a:moveTo>
                      <a:pt x="43480" y="37077"/>
                    </a:moveTo>
                    <a:cubicBezTo>
                      <a:pt x="40175" y="16111"/>
                      <a:pt x="21998" y="0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3B1CEC46-261F-ADD7-7A3F-EBBD426865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54663" y="3703899"/>
                <a:ext cx="21512" cy="16246"/>
              </a:xfrm>
              <a:custGeom>
                <a:avLst/>
                <a:gdLst>
                  <a:gd name="connsiteX0" fmla="*/ 31087 w 31086"/>
                  <a:gd name="connsiteY0" fmla="*/ 0 h 21895"/>
                  <a:gd name="connsiteX1" fmla="*/ 0 w 31086"/>
                  <a:gd name="connsiteY1" fmla="*/ 21895 h 21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86" h="21895">
                    <a:moveTo>
                      <a:pt x="31087" y="0"/>
                    </a:moveTo>
                    <a:cubicBezTo>
                      <a:pt x="31087" y="0"/>
                      <a:pt x="2582" y="8366"/>
                      <a:pt x="0" y="21895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E3068783-867C-2027-9C70-AAE1C195A33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95616" y="3754283"/>
                <a:ext cx="32304" cy="2179"/>
              </a:xfrm>
              <a:custGeom>
                <a:avLst/>
                <a:gdLst>
                  <a:gd name="connsiteX0" fmla="*/ 46682 w 46681"/>
                  <a:gd name="connsiteY0" fmla="*/ 2938 h 2937"/>
                  <a:gd name="connsiteX1" fmla="*/ 0 w 46681"/>
                  <a:gd name="connsiteY1" fmla="*/ 2938 h 2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46681" h="2937">
                    <a:moveTo>
                      <a:pt x="46682" y="2938"/>
                    </a:moveTo>
                    <a:cubicBezTo>
                      <a:pt x="46682" y="2938"/>
                      <a:pt x="15698" y="-3672"/>
                      <a:pt x="0" y="2938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lt"/>
                  <a:cs typeface="+mn-lt"/>
                </a:endParaRPr>
              </a:p>
            </p:txBody>
          </p:sp>
          <p:grpSp>
            <p:nvGrpSpPr>
              <p:cNvPr id="686" name="Group 685">
                <a:extLst>
                  <a:ext uri="{FF2B5EF4-FFF2-40B4-BE49-F238E27FC236}">
                    <a16:creationId xmlns:a16="http://schemas.microsoft.com/office/drawing/2014/main" id="{B1E7E435-2508-8800-E4CF-9218591F8B11}"/>
                  </a:ext>
                </a:extLst>
              </p:cNvPr>
              <p:cNvGrpSpPr/>
              <p:nvPr/>
            </p:nvGrpSpPr>
            <p:grpSpPr>
              <a:xfrm>
                <a:off x="7753031" y="3756411"/>
                <a:ext cx="104346" cy="111880"/>
                <a:chOff x="7753031" y="3756411"/>
                <a:chExt cx="104346" cy="111880"/>
              </a:xfrm>
            </p:grpSpPr>
            <p:sp>
              <p:nvSpPr>
                <p:cNvPr id="687" name="Freeform: Shape 686">
                  <a:extLst>
                    <a:ext uri="{FF2B5EF4-FFF2-40B4-BE49-F238E27FC236}">
                      <a16:creationId xmlns:a16="http://schemas.microsoft.com/office/drawing/2014/main" id="{56687CCD-41FD-42EC-6CE5-BAB6B54C1A6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753031" y="3756411"/>
                  <a:ext cx="104346" cy="111880"/>
                </a:xfrm>
                <a:custGeom>
                  <a:avLst/>
                  <a:gdLst>
                    <a:gd name="connsiteX0" fmla="*/ 78595 w 150786"/>
                    <a:gd name="connsiteY0" fmla="*/ 0 h 150786"/>
                    <a:gd name="connsiteX1" fmla="*/ 150787 w 150786"/>
                    <a:gd name="connsiteY1" fmla="*/ 72192 h 150786"/>
                    <a:gd name="connsiteX2" fmla="*/ 150787 w 150786"/>
                    <a:gd name="connsiteY2" fmla="*/ 78595 h 150786"/>
                    <a:gd name="connsiteX3" fmla="*/ 78595 w 150786"/>
                    <a:gd name="connsiteY3" fmla="*/ 150787 h 150786"/>
                    <a:gd name="connsiteX4" fmla="*/ 72192 w 150786"/>
                    <a:gd name="connsiteY4" fmla="*/ 150787 h 150786"/>
                    <a:gd name="connsiteX5" fmla="*/ 0 w 150786"/>
                    <a:gd name="connsiteY5" fmla="*/ 78595 h 150786"/>
                    <a:gd name="connsiteX6" fmla="*/ 0 w 150786"/>
                    <a:gd name="connsiteY6" fmla="*/ 72192 h 150786"/>
                    <a:gd name="connsiteX7" fmla="*/ 72192 w 150786"/>
                    <a:gd name="connsiteY7" fmla="*/ 0 h 1507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0786" h="150786">
                      <a:moveTo>
                        <a:pt x="78595" y="0"/>
                      </a:moveTo>
                      <a:cubicBezTo>
                        <a:pt x="118466" y="0"/>
                        <a:pt x="150787" y="32321"/>
                        <a:pt x="150787" y="72192"/>
                      </a:cubicBezTo>
                      <a:lnTo>
                        <a:pt x="150787" y="78595"/>
                      </a:lnTo>
                      <a:cubicBezTo>
                        <a:pt x="150787" y="118465"/>
                        <a:pt x="118466" y="150787"/>
                        <a:pt x="78595" y="150787"/>
                      </a:cubicBezTo>
                      <a:lnTo>
                        <a:pt x="72192" y="150787"/>
                      </a:lnTo>
                      <a:cubicBezTo>
                        <a:pt x="32321" y="150787"/>
                        <a:pt x="0" y="118465"/>
                        <a:pt x="0" y="78595"/>
                      </a:cubicBezTo>
                      <a:lnTo>
                        <a:pt x="0" y="72192"/>
                      </a:lnTo>
                      <a:cubicBezTo>
                        <a:pt x="0" y="32321"/>
                        <a:pt x="32321" y="0"/>
                        <a:pt x="72192" y="0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ea typeface="+mn-lt"/>
                    <a:cs typeface="+mn-lt"/>
                  </a:endParaRPr>
                </a:p>
              </p:txBody>
            </p:sp>
            <p:grpSp>
              <p:nvGrpSpPr>
                <p:cNvPr id="688" name="Graphic 1289">
                  <a:extLst>
                    <a:ext uri="{FF2B5EF4-FFF2-40B4-BE49-F238E27FC236}">
                      <a16:creationId xmlns:a16="http://schemas.microsoft.com/office/drawing/2014/main" id="{29AE1396-B19C-99B4-D6E4-BA92A8EA3112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7776085" y="3787212"/>
                  <a:ext cx="59319" cy="50269"/>
                  <a:chOff x="2400257" y="4712766"/>
                  <a:chExt cx="85721" cy="67750"/>
                </a:xfrm>
                <a:noFill/>
              </p:grpSpPr>
              <p:sp>
                <p:nvSpPr>
                  <p:cNvPr id="689" name="Freeform: Shape 688">
                    <a:extLst>
                      <a:ext uri="{FF2B5EF4-FFF2-40B4-BE49-F238E27FC236}">
                        <a16:creationId xmlns:a16="http://schemas.microsoft.com/office/drawing/2014/main" id="{F8F79F3F-315E-7183-5D53-DA17B6C9FD4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00257" y="4712766"/>
                    <a:ext cx="56699" cy="67750"/>
                  </a:xfrm>
                  <a:custGeom>
                    <a:avLst/>
                    <a:gdLst>
                      <a:gd name="connsiteX0" fmla="*/ 0 w 56699"/>
                      <a:gd name="connsiteY0" fmla="*/ 67751 h 67750"/>
                      <a:gd name="connsiteX1" fmla="*/ 28298 w 56699"/>
                      <a:gd name="connsiteY1" fmla="*/ 0 h 67750"/>
                      <a:gd name="connsiteX2" fmla="*/ 56700 w 56699"/>
                      <a:gd name="connsiteY2" fmla="*/ 67751 h 677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56699" h="67750">
                        <a:moveTo>
                          <a:pt x="0" y="67751"/>
                        </a:moveTo>
                        <a:lnTo>
                          <a:pt x="28298" y="0"/>
                        </a:lnTo>
                        <a:lnTo>
                          <a:pt x="56700" y="67751"/>
                        </a:lnTo>
                      </a:path>
                    </a:pathLst>
                  </a:custGeom>
                  <a:noFill/>
                  <a:ln w="12700" cap="rnd">
                    <a:solidFill>
                      <a:schemeClr val="tx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+mn-lt"/>
                      <a:cs typeface="+mn-lt"/>
                    </a:endParaRPr>
                  </a:p>
                </p:txBody>
              </p:sp>
              <p:sp>
                <p:nvSpPr>
                  <p:cNvPr id="690" name="Freeform: Shape 689">
                    <a:extLst>
                      <a:ext uri="{FF2B5EF4-FFF2-40B4-BE49-F238E27FC236}">
                        <a16:creationId xmlns:a16="http://schemas.microsoft.com/office/drawing/2014/main" id="{40F1679B-B9B6-68EF-5E6D-7AB0D4BFE0A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08829" y="4759345"/>
                    <a:ext cx="39245" cy="10327"/>
                  </a:xfrm>
                  <a:custGeom>
                    <a:avLst/>
                    <a:gdLst>
                      <a:gd name="connsiteX0" fmla="*/ 0 w 39245"/>
                      <a:gd name="connsiteY0" fmla="*/ 0 h 10327"/>
                      <a:gd name="connsiteX1" fmla="*/ 39246 w 39245"/>
                      <a:gd name="connsiteY1" fmla="*/ 0 h 103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9245" h="10327">
                        <a:moveTo>
                          <a:pt x="0" y="0"/>
                        </a:moveTo>
                        <a:lnTo>
                          <a:pt x="39246" y="0"/>
                        </a:lnTo>
                      </a:path>
                    </a:pathLst>
                  </a:custGeom>
                  <a:ln w="12700" cap="rnd">
                    <a:solidFill>
                      <a:schemeClr val="tx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+mn-lt"/>
                      <a:cs typeface="+mn-lt"/>
                    </a:endParaRPr>
                  </a:p>
                </p:txBody>
              </p:sp>
              <p:sp>
                <p:nvSpPr>
                  <p:cNvPr id="691" name="Freeform: Shape 690">
                    <a:extLst>
                      <a:ext uri="{FF2B5EF4-FFF2-40B4-BE49-F238E27FC236}">
                        <a16:creationId xmlns:a16="http://schemas.microsoft.com/office/drawing/2014/main" id="{E49A0374-3862-6276-5FBA-C9FD956FFE9F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75651" y="4712766"/>
                    <a:ext cx="10327" cy="67750"/>
                  </a:xfrm>
                  <a:custGeom>
                    <a:avLst/>
                    <a:gdLst>
                      <a:gd name="connsiteX0" fmla="*/ 0 w 10327"/>
                      <a:gd name="connsiteY0" fmla="*/ 0 h 67750"/>
                      <a:gd name="connsiteX1" fmla="*/ 0 w 10327"/>
                      <a:gd name="connsiteY1" fmla="*/ 67751 h 677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327" h="67750">
                        <a:moveTo>
                          <a:pt x="0" y="0"/>
                        </a:moveTo>
                        <a:lnTo>
                          <a:pt x="0" y="67751"/>
                        </a:lnTo>
                      </a:path>
                    </a:pathLst>
                  </a:custGeom>
                  <a:ln w="12700" cap="rnd">
                    <a:solidFill>
                      <a:schemeClr val="tx1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GB" sz="1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ea typeface="+mn-lt"/>
                      <a:cs typeface="+mn-lt"/>
                    </a:endParaRPr>
                  </a:p>
                </p:txBody>
              </p:sp>
            </p:grpSp>
          </p:grp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E5F3ABC-AC7E-7B7F-8B8B-CFAF10644F3D}"/>
                </a:ext>
              </a:extLst>
            </p:cNvPr>
            <p:cNvCxnSpPr/>
            <p:nvPr/>
          </p:nvCxnSpPr>
          <p:spPr>
            <a:xfrm>
              <a:off x="5665589" y="4931106"/>
              <a:ext cx="6035040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9772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60" y="152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Clr>
                <a:schemeClr val="accent1"/>
              </a:buClr>
              <a:tabLst>
                <a:tab pos="457200" algn="l"/>
              </a:tabLst>
            </a:pPr>
            <a:r>
              <a:rPr lang="en-US" sz="2800" b="1">
                <a:solidFill>
                  <a:srgbClr val="303030"/>
                </a:solidFill>
                <a:latin typeface="Funnel Sans" pitchFamily="2" charset="0"/>
              </a:rPr>
              <a:t>AI &amp; Automation Accelerators for Risk Analytics</a:t>
            </a:r>
          </a:p>
        </p:txBody>
      </p:sp>
      <p:sp>
        <p:nvSpPr>
          <p:cNvPr id="3" name="Text 1"/>
          <p:cNvSpPr/>
          <p:nvPr/>
        </p:nvSpPr>
        <p:spPr>
          <a:xfrm>
            <a:off x="792480" y="838200"/>
            <a:ext cx="1097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200" b="1">
                <a:latin typeface="Arial"/>
                <a:cs typeface="Segoe UI Light"/>
              </a:rPr>
              <a:t>Open-source AI-enabled delivery accelerators, alongside emerging agentic solutions under controlled development</a:t>
            </a:r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latin typeface="Funnel Sans" pitchFamily="2" charset="0"/>
                <a:ea typeface="Calibri" pitchFamily="34" charset="-122"/>
                <a:cs typeface="Calibri" pitchFamily="34" charset="-120"/>
              </a:rPr>
              <a:t>Proven Delivery Accelerators</a:t>
            </a:r>
            <a:endParaRPr lang="en-US" sz="1500">
              <a:latin typeface="Funnel Sans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8160" y="1749552"/>
            <a:ext cx="3535680" cy="24384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sz="2400">
              <a:latin typeface="Funnel Sans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" y="1932432"/>
            <a:ext cx="487680" cy="487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3520" y="190354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FFFF"/>
                </a:solidFill>
                <a:latin typeface="Funnel Sans" pitchFamily="2" charset="0"/>
                <a:ea typeface="Calibri" pitchFamily="34" charset="-122"/>
                <a:cs typeface="Calibri" pitchFamily="34" charset="-120"/>
              </a:rPr>
              <a:t>Quant Engine</a:t>
            </a:r>
            <a:endParaRPr lang="en-US" sz="1500">
              <a:latin typeface="Funnel Sans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01040" y="2508968"/>
            <a:ext cx="316992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D0CFC8"/>
                </a:solidFill>
                <a:latin typeface="Funnel Sans" pitchFamily="2" charset="0"/>
                <a:ea typeface="Calibri" pitchFamily="34" charset="-122"/>
                <a:cs typeface="Calibri" pitchFamily="34" charset="-120"/>
              </a:rPr>
              <a:t>Automated model testing framework with 100+ performance tests and customisable playbooks. Modular solution with easy client integration. Supplemented with MoDeVa.AI for AI/GenAI validations.</a:t>
            </a:r>
            <a:endParaRPr lang="en-US" sz="1400">
              <a:latin typeface="Funnel Sans" pitchFamily="2" charset="0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F86508-EFDA-C16B-3829-8D9BB63B86AF}"/>
              </a:ext>
            </a:extLst>
          </p:cNvPr>
          <p:cNvGrpSpPr/>
          <p:nvPr/>
        </p:nvGrpSpPr>
        <p:grpSpPr>
          <a:xfrm>
            <a:off x="4328160" y="1749552"/>
            <a:ext cx="3535680" cy="2438400"/>
            <a:chOff x="4450080" y="2133600"/>
            <a:chExt cx="3535680" cy="2438400"/>
          </a:xfrm>
          <a:solidFill>
            <a:schemeClr val="tx1"/>
          </a:solidFill>
        </p:grpSpPr>
        <p:sp>
          <p:nvSpPr>
            <p:cNvPr id="9" name="Shape 6"/>
            <p:cNvSpPr/>
            <p:nvPr/>
          </p:nvSpPr>
          <p:spPr>
            <a:xfrm>
              <a:off x="4450080" y="2133600"/>
              <a:ext cx="3535680" cy="2438400"/>
            </a:xfrm>
            <a:prstGeom prst="roundRect">
              <a:avLst>
                <a:gd name="adj" fmla="val 5000"/>
              </a:avLst>
            </a:prstGeom>
            <a:grpFill/>
            <a:ln/>
            <a:effectLst>
              <a:outerShdw blurRad="762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2400">
                <a:latin typeface="Funnel Sans" pitchFamily="2" charset="0"/>
              </a:endParaRPr>
            </a:p>
          </p:txBody>
        </p:sp>
        <p:pic>
          <p:nvPicPr>
            <p:cNvPr id="10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2960" y="2316480"/>
              <a:ext cx="487680" cy="487680"/>
            </a:xfrm>
            <a:prstGeom prst="rect">
              <a:avLst/>
            </a:prstGeom>
            <a:grpFill/>
          </p:spPr>
        </p:pic>
        <p:sp>
          <p:nvSpPr>
            <p:cNvPr id="11" name="Text 7"/>
            <p:cNvSpPr/>
            <p:nvPr/>
          </p:nvSpPr>
          <p:spPr>
            <a:xfrm>
              <a:off x="5242560" y="2255520"/>
              <a:ext cx="2560320" cy="5486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500" b="1">
                  <a:solidFill>
                    <a:srgbClr val="FFFFFF"/>
                  </a:solidFill>
                  <a:latin typeface="Funnel Sans" pitchFamily="2" charset="0"/>
                  <a:ea typeface="Calibri" pitchFamily="34" charset="-122"/>
                  <a:cs typeface="Calibri" pitchFamily="34" charset="-120"/>
                </a:rPr>
                <a:t>Responsible AI Framework</a:t>
              </a:r>
              <a:endParaRPr lang="en-US" sz="1500">
                <a:latin typeface="Funnel Sans" pitchFamily="2" charset="0"/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4632960" y="2926080"/>
              <a:ext cx="3169920" cy="15240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400">
                  <a:solidFill>
                    <a:srgbClr val="D0CFC8"/>
                  </a:solidFill>
                  <a:latin typeface="Funnel Sans" pitchFamily="2" charset="0"/>
                  <a:ea typeface="Calibri" pitchFamily="34" charset="-122"/>
                  <a:cs typeface="Calibri" pitchFamily="34" charset="-120"/>
                </a:rPr>
                <a:t>Framework to address and update bank policies, procedures and standards to accelerate AI adoption. Includes open-source notebooks on testing and governance for AI and GenAI.</a:t>
              </a:r>
              <a:endParaRPr lang="en-US" sz="1400">
                <a:latin typeface="Funnel Sans" pitchFamily="2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FF61227-4B5F-DE23-8852-93218E99506A}"/>
              </a:ext>
            </a:extLst>
          </p:cNvPr>
          <p:cNvGrpSpPr/>
          <p:nvPr/>
        </p:nvGrpSpPr>
        <p:grpSpPr>
          <a:xfrm>
            <a:off x="8138160" y="1749552"/>
            <a:ext cx="3535680" cy="2438400"/>
            <a:chOff x="8290560" y="2133600"/>
            <a:chExt cx="3535680" cy="2438400"/>
          </a:xfrm>
          <a:solidFill>
            <a:schemeClr val="tx1"/>
          </a:solidFill>
        </p:grpSpPr>
        <p:sp>
          <p:nvSpPr>
            <p:cNvPr id="13" name="Shape 9"/>
            <p:cNvSpPr/>
            <p:nvPr/>
          </p:nvSpPr>
          <p:spPr>
            <a:xfrm>
              <a:off x="8290560" y="2133600"/>
              <a:ext cx="3535680" cy="2438400"/>
            </a:xfrm>
            <a:prstGeom prst="roundRect">
              <a:avLst>
                <a:gd name="adj" fmla="val 5000"/>
              </a:avLst>
            </a:prstGeom>
            <a:grpFill/>
            <a:ln/>
            <a:effectLst>
              <a:outerShdw blurRad="76200" dist="254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 sz="2400">
                <a:latin typeface="Funnel Sans" pitchFamily="2" charset="0"/>
              </a:endParaRPr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73440" y="2316480"/>
              <a:ext cx="487680" cy="487680"/>
            </a:xfrm>
            <a:prstGeom prst="rect">
              <a:avLst/>
            </a:prstGeom>
            <a:grpFill/>
          </p:spPr>
        </p:pic>
        <p:sp>
          <p:nvSpPr>
            <p:cNvPr id="15" name="Text 10"/>
            <p:cNvSpPr/>
            <p:nvPr/>
          </p:nvSpPr>
          <p:spPr>
            <a:xfrm>
              <a:off x="9083040" y="2255520"/>
              <a:ext cx="2560320" cy="54864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500" b="1">
                  <a:solidFill>
                    <a:srgbClr val="FFFFFF"/>
                  </a:solidFill>
                  <a:latin typeface="Funnel Sans" pitchFamily="2" charset="0"/>
                  <a:ea typeface="Calibri" pitchFamily="34" charset="-122"/>
                  <a:cs typeface="Calibri" pitchFamily="34" charset="-120"/>
                </a:rPr>
                <a:t>Model Monitoring Transformation</a:t>
              </a:r>
              <a:endParaRPr lang="en-US" sz="1500">
                <a:latin typeface="Funnel Sans" pitchFamily="2" charset="0"/>
              </a:endParaRPr>
            </a:p>
          </p:txBody>
        </p:sp>
        <p:sp>
          <p:nvSpPr>
            <p:cNvPr id="16" name="Text 11"/>
            <p:cNvSpPr/>
            <p:nvPr/>
          </p:nvSpPr>
          <p:spPr>
            <a:xfrm>
              <a:off x="8473440" y="2926080"/>
              <a:ext cx="3169920" cy="1524000"/>
            </a:xfrm>
            <a:prstGeom prst="rect">
              <a:avLst/>
            </a:prstGeom>
            <a:grpFill/>
            <a:ln/>
          </p:spPr>
          <p:txBody>
            <a:bodyPr wrap="square" lIns="0" tIns="0" rIns="0" bIns="0" rtlCol="0" anchor="ctr"/>
            <a:lstStyle/>
            <a:p>
              <a:r>
                <a:rPr lang="en-US" sz="1400">
                  <a:solidFill>
                    <a:srgbClr val="D0CFC8"/>
                  </a:solidFill>
                  <a:latin typeface="Funnel Sans" pitchFamily="2" charset="0"/>
                  <a:ea typeface="Calibri" pitchFamily="34" charset="-122"/>
                  <a:cs typeface="Calibri" pitchFamily="34" charset="-120"/>
                </a:rPr>
                <a:t>Playbook with four modules: data pipeline, monitoring KPI store, dynamic dashboard, review and approval workflows. Prototype assists in quick-build dashboards for real-time monitoring</a:t>
              </a:r>
              <a:endParaRPr lang="en-US" sz="1400">
                <a:latin typeface="Funnel Sans" pitchFamily="2" charset="0"/>
              </a:endParaRPr>
            </a:p>
          </p:txBody>
        </p:sp>
      </p:grpSp>
      <p:sp>
        <p:nvSpPr>
          <p:cNvPr id="17" name="Text 1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3819" y="429768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>
                <a:solidFill>
                  <a:srgbClr val="FF4F59"/>
                </a:solidFill>
                <a:latin typeface="Funnel Sans" pitchFamily="2" charset="0"/>
                <a:ea typeface="Calibri" pitchFamily="34" charset="-122"/>
                <a:cs typeface="Calibri" pitchFamily="34" charset="-120"/>
              </a:rPr>
              <a:t>Emerging Agentic Solutions</a:t>
            </a:r>
            <a:endParaRPr lang="en-US" sz="1500">
              <a:latin typeface="Funnel Sans" pitchFamily="2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54873" y="4706112"/>
            <a:ext cx="4267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latin typeface="Funnel Sans" pitchFamily="2" charset="0"/>
                <a:ea typeface="Calibri" pitchFamily="34" charset="-122"/>
                <a:cs typeface="Calibri" pitchFamily="34" charset="-120"/>
              </a:rPr>
              <a:t>Agentic Model Management Studio*</a:t>
            </a:r>
            <a:endParaRPr lang="en-US" sz="1400">
              <a:latin typeface="Funnel Sans" pitchFamily="2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18160" y="6447978"/>
            <a:ext cx="4876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0" i="1">
                <a:solidFill>
                  <a:srgbClr val="FF4F59"/>
                </a:solidFill>
                <a:latin typeface="Funnel Sans" pitchFamily="2" charset="0"/>
                <a:ea typeface="Calibri" pitchFamily="34" charset="-122"/>
                <a:cs typeface="Calibri" pitchFamily="34" charset="-120"/>
              </a:rPr>
              <a:t>*Offering Under Development</a:t>
            </a:r>
            <a:endParaRPr lang="en-US" sz="930">
              <a:latin typeface="Funnel Sans" pitchFamily="2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70560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>
                <a:solidFill>
                  <a:srgbClr val="6D706B"/>
                </a:solidFill>
                <a:latin typeface="Funnel Sans" pitchFamily="2" charset="0"/>
                <a:ea typeface="Calibri" pitchFamily="34" charset="-122"/>
                <a:cs typeface="Calibri" pitchFamily="34" charset="-120"/>
              </a:rPr>
              <a:t>© 2026 Copyright Genpact. All Rights Reserved.</a:t>
            </a:r>
            <a:endParaRPr lang="en-US" sz="1200">
              <a:latin typeface="Funnel 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31C207-1661-79B8-B922-1DB7A8A30F10}"/>
              </a:ext>
            </a:extLst>
          </p:cNvPr>
          <p:cNvSpPr txBox="1"/>
          <p:nvPr/>
        </p:nvSpPr>
        <p:spPr>
          <a:xfrm>
            <a:off x="6545250" y="5071925"/>
            <a:ext cx="4843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Funnel Sans" pitchFamily="2" charset="0"/>
                <a:ea typeface="Calibri" pitchFamily="34" charset="-122"/>
                <a:cs typeface="Calibri" pitchFamily="34" charset="-120"/>
              </a:rPr>
              <a:t>Fit-for-purpose data quality assessment for modeling and analytics-ready datasets, driven by a predefined framework of diagnostics, thresholds and model-family criticality. AI agents orchestrate profiling, execution and root-cause analysis, surfacing analytical risks before model development begins. Auditable, deterministic statistics with human-in-the-loop governance throughout.</a:t>
            </a:r>
            <a:endParaRPr lang="en-US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CAEE1212-A88F-6A14-4B43-91A3771CC51E}"/>
              </a:ext>
            </a:extLst>
          </p:cNvPr>
          <p:cNvSpPr/>
          <p:nvPr/>
        </p:nvSpPr>
        <p:spPr>
          <a:xfrm>
            <a:off x="6624763" y="4632960"/>
            <a:ext cx="498281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latin typeface="Funnel Sans" pitchFamily="2" charset="0"/>
                <a:ea typeface="Calibri" pitchFamily="34" charset="-122"/>
                <a:cs typeface="Calibri" pitchFamily="34" charset="-120"/>
              </a:rPr>
              <a:t>Agentic Analytics/Modeling Data Assessment Framework*</a:t>
            </a:r>
            <a:endParaRPr lang="en-US" sz="1400">
              <a:latin typeface="Funnel Sans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D87B5A6-35B1-E6CF-13D6-5C961ED75B92}"/>
              </a:ext>
            </a:extLst>
          </p:cNvPr>
          <p:cNvSpPr txBox="1"/>
          <p:nvPr/>
        </p:nvSpPr>
        <p:spPr>
          <a:xfrm>
            <a:off x="975360" y="5120640"/>
            <a:ext cx="4267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Funnel Sans" pitchFamily="2" charset="0"/>
                <a:ea typeface="Calibri" pitchFamily="34" charset="-122"/>
                <a:cs typeface="Calibri" pitchFamily="34" charset="-120"/>
              </a:rPr>
              <a:t>End-to-end agentic model management platform across development, validation, monitoring &amp; documentation. AI guides model design, testing, and monitoring, surfacing risks and next-best actions. Embedded governance with risk-based controls and full traceability.</a:t>
            </a:r>
            <a:endParaRPr lang="en-US" sz="1200">
              <a:latin typeface="Funnel Sans" pitchFamily="2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01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27733B4-E253-ADCD-C828-B92AFC5949F9}"/>
              </a:ext>
            </a:extLst>
          </p:cNvPr>
          <p:cNvGrpSpPr/>
          <p:nvPr/>
        </p:nvGrpSpPr>
        <p:grpSpPr>
          <a:xfrm>
            <a:off x="729283" y="5902659"/>
            <a:ext cx="11274910" cy="503350"/>
            <a:chOff x="729283" y="5856939"/>
            <a:chExt cx="11274910" cy="50335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3F840C0-DFB9-0EE2-518B-9634FA9FBF55}"/>
                </a:ext>
              </a:extLst>
            </p:cNvPr>
            <p:cNvSpPr/>
            <p:nvPr/>
          </p:nvSpPr>
          <p:spPr>
            <a:xfrm>
              <a:off x="729283" y="5856939"/>
              <a:ext cx="11204001" cy="461837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Funnel Sans" pitchFamily="2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546B56F-D933-82DD-D0D3-5B7AD94CD3BB}"/>
                </a:ext>
              </a:extLst>
            </p:cNvPr>
            <p:cNvSpPr txBox="1"/>
            <p:nvPr/>
          </p:nvSpPr>
          <p:spPr>
            <a:xfrm>
              <a:off x="996960" y="6032905"/>
              <a:ext cx="11919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Funnel Sans" pitchFamily="2" charset="0"/>
                </a:rPr>
                <a:t>Model Development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1B984210-B1E4-5883-7CA1-8C7DEC8795C6}"/>
                </a:ext>
              </a:extLst>
            </p:cNvPr>
            <p:cNvSpPr txBox="1"/>
            <p:nvPr/>
          </p:nvSpPr>
          <p:spPr>
            <a:xfrm>
              <a:off x="2347917" y="6041092"/>
              <a:ext cx="11919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Funnel Sans" pitchFamily="2" charset="0"/>
                </a:rPr>
                <a:t>Model Validation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658C1AB7-532F-21B1-D90C-5B3B1C57F63C}"/>
                </a:ext>
              </a:extLst>
            </p:cNvPr>
            <p:cNvSpPr txBox="1"/>
            <p:nvPr/>
          </p:nvSpPr>
          <p:spPr>
            <a:xfrm>
              <a:off x="3677509" y="6064453"/>
              <a:ext cx="11919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Funnel Sans" pitchFamily="2" charset="0"/>
                </a:rPr>
                <a:t>Model Monitoring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53CDBA0-FF1C-3138-3949-26E6948C2E46}"/>
                </a:ext>
              </a:extLst>
            </p:cNvPr>
            <p:cNvSpPr txBox="1"/>
            <p:nvPr/>
          </p:nvSpPr>
          <p:spPr>
            <a:xfrm>
              <a:off x="4964295" y="5990884"/>
              <a:ext cx="12558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Funnel Sans" pitchFamily="2" charset="0"/>
                </a:rPr>
                <a:t>Model Documentation and Governance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C7D6B42-F258-2E1E-F4A6-AF418BCAF18B}"/>
                </a:ext>
              </a:extLst>
            </p:cNvPr>
            <p:cNvSpPr txBox="1"/>
            <p:nvPr/>
          </p:nvSpPr>
          <p:spPr>
            <a:xfrm>
              <a:off x="6626055" y="6041092"/>
              <a:ext cx="11919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Funnel Sans" pitchFamily="2" charset="0"/>
                </a:rPr>
                <a:t>Change Management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5E23BB5-07D9-BC2E-C91C-7E79B89A5A0B}"/>
                </a:ext>
              </a:extLst>
            </p:cNvPr>
            <p:cNvSpPr txBox="1"/>
            <p:nvPr/>
          </p:nvSpPr>
          <p:spPr>
            <a:xfrm>
              <a:off x="8039967" y="6041092"/>
              <a:ext cx="119198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>
                  <a:latin typeface="Funnel Sans" pitchFamily="2" charset="0"/>
                </a:rPr>
                <a:t>Model Retirement</a:t>
              </a:r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5D3403E-9899-7EFA-226F-C5ED6B29CE27}"/>
                </a:ext>
              </a:extLst>
            </p:cNvPr>
            <p:cNvGrpSpPr/>
            <p:nvPr/>
          </p:nvGrpSpPr>
          <p:grpSpPr>
            <a:xfrm>
              <a:off x="9342025" y="5873425"/>
              <a:ext cx="2662168" cy="414843"/>
              <a:chOff x="9341714" y="6087764"/>
              <a:chExt cx="2662168" cy="414843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8A5152C-EC58-ABBC-7DEB-A5C907D6EDF4}"/>
                  </a:ext>
                </a:extLst>
              </p:cNvPr>
              <p:cNvSpPr txBox="1"/>
              <p:nvPr/>
            </p:nvSpPr>
            <p:spPr>
              <a:xfrm>
                <a:off x="9341714" y="6087764"/>
                <a:ext cx="264114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>
                    <a:latin typeface="Funnel Sans" pitchFamily="2" charset="0"/>
                  </a:rPr>
                  <a:t>Retail        Commercial      Wholesale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122B4048-1D1D-CAEB-D172-2736C3000753}"/>
                  </a:ext>
                </a:extLst>
              </p:cNvPr>
              <p:cNvSpPr txBox="1"/>
              <p:nvPr/>
            </p:nvSpPr>
            <p:spPr>
              <a:xfrm>
                <a:off x="9362738" y="6271775"/>
                <a:ext cx="2641144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b="1">
                    <a:latin typeface="Funnel Sans" pitchFamily="2" charset="0"/>
                  </a:rPr>
                  <a:t>Low Default Portfolios              Macro Sensitive</a:t>
                </a:r>
              </a:p>
            </p:txBody>
          </p: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6FCAFD90-4B3D-B14B-B9D4-DE414DD295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84296" y="6309428"/>
                <a:ext cx="0" cy="155525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3FF3B45E-EBBB-C979-3CC6-7725F8913D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95141" y="6116213"/>
                <a:ext cx="0" cy="155525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C8CC6061-81C5-C235-2EB6-4AB9389C42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61863" y="6104997"/>
                <a:ext cx="0" cy="155525"/>
              </a:xfrm>
              <a:prstGeom prst="line">
                <a:avLst/>
              </a:prstGeom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</p:grpSp>
        <p:pic>
          <p:nvPicPr>
            <p:cNvPr id="151" name="Graphic 150" descr="Web design with solid fill">
              <a:extLst>
                <a:ext uri="{FF2B5EF4-FFF2-40B4-BE49-F238E27FC236}">
                  <a16:creationId xmlns:a16="http://schemas.microsoft.com/office/drawing/2014/main" id="{8E8DBDB7-1669-4B70-9A45-F24E266185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7173" y="5872372"/>
              <a:ext cx="341745" cy="487917"/>
            </a:xfrm>
            <a:prstGeom prst="rect">
              <a:avLst/>
            </a:prstGeom>
          </p:spPr>
        </p:pic>
        <p:pic>
          <p:nvPicPr>
            <p:cNvPr id="152" name="Graphic 151" descr="Shield Tick with solid fill">
              <a:extLst>
                <a:ext uri="{FF2B5EF4-FFF2-40B4-BE49-F238E27FC236}">
                  <a16:creationId xmlns:a16="http://schemas.microsoft.com/office/drawing/2014/main" id="{0E29994A-6946-00BE-E809-D7B0F193557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144215" y="5927734"/>
              <a:ext cx="341745" cy="341745"/>
            </a:xfrm>
            <a:prstGeom prst="rect">
              <a:avLst/>
            </a:prstGeom>
          </p:spPr>
        </p:pic>
        <p:pic>
          <p:nvPicPr>
            <p:cNvPr id="153" name="Graphic 152" descr="Bar graph with downward trend with solid fill">
              <a:extLst>
                <a:ext uri="{FF2B5EF4-FFF2-40B4-BE49-F238E27FC236}">
                  <a16:creationId xmlns:a16="http://schemas.microsoft.com/office/drawing/2014/main" id="{1A7866E4-9370-6123-D2F8-E158BB10863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3434298" y="5952542"/>
              <a:ext cx="341745" cy="341745"/>
            </a:xfrm>
            <a:prstGeom prst="rect">
              <a:avLst/>
            </a:prstGeom>
          </p:spPr>
        </p:pic>
        <p:pic>
          <p:nvPicPr>
            <p:cNvPr id="154" name="Graphic 153" descr="Database with solid fill">
              <a:extLst>
                <a:ext uri="{FF2B5EF4-FFF2-40B4-BE49-F238E27FC236}">
                  <a16:creationId xmlns:a16="http://schemas.microsoft.com/office/drawing/2014/main" id="{239E2206-477E-DC10-ED5E-709D432068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756284" y="5956084"/>
              <a:ext cx="341745" cy="341745"/>
            </a:xfrm>
            <a:prstGeom prst="rect">
              <a:avLst/>
            </a:prstGeom>
          </p:spPr>
        </p:pic>
        <p:pic>
          <p:nvPicPr>
            <p:cNvPr id="155" name="Graphic 154" descr="Transfer with solid fill">
              <a:extLst>
                <a:ext uri="{FF2B5EF4-FFF2-40B4-BE49-F238E27FC236}">
                  <a16:creationId xmlns:a16="http://schemas.microsoft.com/office/drawing/2014/main" id="{94F06AA8-6987-6F0E-1A22-5E0B3D7CDA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/>
          </p:blipFill>
          <p:spPr>
            <a:xfrm>
              <a:off x="6322813" y="5980892"/>
              <a:ext cx="341745" cy="341745"/>
            </a:xfrm>
            <a:prstGeom prst="rect">
              <a:avLst/>
            </a:prstGeom>
          </p:spPr>
        </p:pic>
        <p:pic>
          <p:nvPicPr>
            <p:cNvPr id="156" name="Graphic 155" descr="Garbage with solid fill">
              <a:extLst>
                <a:ext uri="{FF2B5EF4-FFF2-40B4-BE49-F238E27FC236}">
                  <a16:creationId xmlns:a16="http://schemas.microsoft.com/office/drawing/2014/main" id="{988FFBF3-5E96-6A26-5714-CEA43C899C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7814919" y="5931265"/>
              <a:ext cx="341745" cy="341745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B8CFD63-FFAD-DA35-532E-6CB85B948E74}"/>
              </a:ext>
            </a:extLst>
          </p:cNvPr>
          <p:cNvGrpSpPr/>
          <p:nvPr/>
        </p:nvGrpSpPr>
        <p:grpSpPr>
          <a:xfrm>
            <a:off x="662569" y="1898665"/>
            <a:ext cx="11219654" cy="1512952"/>
            <a:chOff x="703627" y="2035170"/>
            <a:chExt cx="11219654" cy="1512952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F22A0DB7-5380-B148-DAB0-E6FBDE119C8E}"/>
                </a:ext>
              </a:extLst>
            </p:cNvPr>
            <p:cNvSpPr/>
            <p:nvPr/>
          </p:nvSpPr>
          <p:spPr>
            <a:xfrm>
              <a:off x="4485493" y="2137161"/>
              <a:ext cx="1828800" cy="1376563"/>
            </a:xfrm>
            <a:prstGeom prst="roundRect">
              <a:avLst/>
            </a:prstGeom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Funnel Sans" pitchFamily="2" charset="0"/>
              </a:endParaRP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E2D65CBD-F402-0E9C-2FBB-63334D807ECB}"/>
                </a:ext>
              </a:extLst>
            </p:cNvPr>
            <p:cNvSpPr/>
            <p:nvPr/>
          </p:nvSpPr>
          <p:spPr>
            <a:xfrm>
              <a:off x="6378144" y="2102153"/>
              <a:ext cx="1828800" cy="1419245"/>
            </a:xfrm>
            <a:prstGeom prst="roundRect">
              <a:avLst/>
            </a:prstGeom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Funnel Sans" pitchFamily="2" charset="0"/>
              </a:endParaRPr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7993DE3B-42DF-D277-8B13-AF903551DD46}"/>
                </a:ext>
              </a:extLst>
            </p:cNvPr>
            <p:cNvSpPr/>
            <p:nvPr/>
          </p:nvSpPr>
          <p:spPr>
            <a:xfrm>
              <a:off x="8270795" y="2092452"/>
              <a:ext cx="1828800" cy="1421910"/>
            </a:xfrm>
            <a:prstGeom prst="roundRect">
              <a:avLst/>
            </a:prstGeom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Funnel Sans" pitchFamily="2" charset="0"/>
              </a:endParaRPr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F6BEE3D7-8355-0799-CECC-0D3A545A1187}"/>
                </a:ext>
              </a:extLst>
            </p:cNvPr>
            <p:cNvSpPr/>
            <p:nvPr/>
          </p:nvSpPr>
          <p:spPr>
            <a:xfrm>
              <a:off x="10210973" y="2102153"/>
              <a:ext cx="1712308" cy="1383459"/>
            </a:xfrm>
            <a:prstGeom prst="roundRect">
              <a:avLst/>
            </a:prstGeom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Funnel Sans" pitchFamily="2" charset="0"/>
              </a:endParaRPr>
            </a:p>
          </p:txBody>
        </p: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AD56576C-DA4F-4C1A-8FBE-B22C6513CF10}"/>
                </a:ext>
              </a:extLst>
            </p:cNvPr>
            <p:cNvSpPr/>
            <p:nvPr/>
          </p:nvSpPr>
          <p:spPr>
            <a:xfrm>
              <a:off x="2594560" y="2102153"/>
              <a:ext cx="1828800" cy="1445969"/>
            </a:xfrm>
            <a:prstGeom prst="roundRect">
              <a:avLst/>
            </a:prstGeom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Funnel Sans" pitchFamily="2" charset="0"/>
              </a:endParaRP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75B94935-3413-2A3E-75B5-3350AEE56096}"/>
                </a:ext>
              </a:extLst>
            </p:cNvPr>
            <p:cNvSpPr/>
            <p:nvPr/>
          </p:nvSpPr>
          <p:spPr>
            <a:xfrm>
              <a:off x="703627" y="2035170"/>
              <a:ext cx="1828800" cy="1489931"/>
            </a:xfrm>
            <a:prstGeom prst="roundRect">
              <a:avLst/>
            </a:prstGeom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>
                <a:latin typeface="Funnel Sans" pitchFamily="2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5DE274B-041D-8DC8-1F7A-E43933E984A7}"/>
                </a:ext>
              </a:extLst>
            </p:cNvPr>
            <p:cNvSpPr txBox="1"/>
            <p:nvPr/>
          </p:nvSpPr>
          <p:spPr>
            <a:xfrm>
              <a:off x="703627" y="2270738"/>
              <a:ext cx="1823391" cy="103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Documents &amp; reports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Data sources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Code repositories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Policies &amp; procedures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Regulations &amp; guidance</a:t>
              </a:r>
            </a:p>
            <a:p>
              <a:endParaRPr lang="en-IN" sz="1100">
                <a:latin typeface="Funnel Sans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D8E9977-99E9-88AE-1A62-3E2A7FDA6221}"/>
                </a:ext>
              </a:extLst>
            </p:cNvPr>
            <p:cNvSpPr txBox="1"/>
            <p:nvPr/>
          </p:nvSpPr>
          <p:spPr>
            <a:xfrm>
              <a:off x="2599071" y="2237969"/>
              <a:ext cx="1752569" cy="1169551"/>
            </a:xfrm>
            <a:prstGeom prst="rect">
              <a:avLst/>
            </a:prstGeom>
            <a:noFill/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Classify model type</a:t>
              </a:r>
              <a:endParaRPr lang="en-US" sz="1000">
                <a:latin typeface="Funnel Sans" pitchFamily="2" charset="0"/>
              </a:endParaRP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AI reads business context</a:t>
              </a:r>
              <a:endParaRPr lang="en-US" sz="1000">
                <a:latin typeface="Funnel Sans" pitchFamily="2" charset="0"/>
              </a:endParaRP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AI identifies evidence &amp; tests</a:t>
              </a:r>
              <a:endParaRPr lang="en-US" sz="1000">
                <a:latin typeface="Funnel Sans" pitchFamily="2" charset="0"/>
              </a:endParaRP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Dynamic workflow routing based on applicable policy</a:t>
              </a:r>
              <a:endParaRPr lang="en-IN" sz="1000">
                <a:latin typeface="Funnel Sans" pitchFamily="2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24B24A4-5C96-48C9-2472-5A2C206F7007}"/>
                </a:ext>
              </a:extLst>
            </p:cNvPr>
            <p:cNvSpPr txBox="1"/>
            <p:nvPr/>
          </p:nvSpPr>
          <p:spPr>
            <a:xfrm>
              <a:off x="4569542" y="2237969"/>
              <a:ext cx="1802247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Data profiling &amp; monitoring analytics</a:t>
              </a:r>
              <a:endParaRPr lang="en-US" sz="1000">
                <a:latin typeface="Funnel Sans" pitchFamily="2" charset="0"/>
              </a:endParaRP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Challenger analysis &amp; experimentation</a:t>
              </a:r>
              <a:endParaRPr lang="en-US" sz="1000">
                <a:latin typeface="Funnel Sans" pitchFamily="2" charset="0"/>
              </a:endParaRP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Code execution workbench</a:t>
              </a:r>
              <a:endParaRPr lang="en-US" sz="1000">
                <a:latin typeface="Funnel Sans" pitchFamily="2" charset="0"/>
              </a:endParaRP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Insight generation</a:t>
              </a:r>
              <a:endParaRPr lang="en-IN" sz="1000">
                <a:latin typeface="Funnel Sans" pitchFamily="2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E48590-2940-33F2-BFB4-21B48CB5123C}"/>
                </a:ext>
              </a:extLst>
            </p:cNvPr>
            <p:cNvSpPr txBox="1"/>
            <p:nvPr/>
          </p:nvSpPr>
          <p:spPr>
            <a:xfrm>
              <a:off x="6451873" y="2249904"/>
              <a:ext cx="1721251" cy="10310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Reviewer assignments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Approvals &amp; sign-offs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Overrides &amp; challenges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Issue management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Decisions traceability</a:t>
              </a:r>
            </a:p>
            <a:p>
              <a:endParaRPr lang="en-IN" sz="1100">
                <a:latin typeface="Funnel Sans" pitchFamily="2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D52761A-9348-3FF6-98BA-670445A82FCE}"/>
                </a:ext>
              </a:extLst>
            </p:cNvPr>
            <p:cNvSpPr txBox="1"/>
            <p:nvPr/>
          </p:nvSpPr>
          <p:spPr>
            <a:xfrm>
              <a:off x="8337521" y="2262650"/>
              <a:ext cx="1747137" cy="11849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Validation &amp; development reports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Monitoring reports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Regulatory templates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Executive summaries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Evidence packs</a:t>
              </a:r>
            </a:p>
            <a:p>
              <a:endParaRPr lang="en-IN" sz="1100">
                <a:latin typeface="Funnel Sans" pitchFamily="2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87363E-DCA0-C815-7230-EA2224DBE663}"/>
                </a:ext>
              </a:extLst>
            </p:cNvPr>
            <p:cNvSpPr txBox="1"/>
            <p:nvPr/>
          </p:nvSpPr>
          <p:spPr>
            <a:xfrm>
              <a:off x="10202388" y="2247796"/>
              <a:ext cx="171953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End-to-end lineage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Audit trail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Version control</a:t>
              </a:r>
            </a:p>
            <a:p>
              <a:r>
                <a:rPr lang="en-US" sz="1000">
                  <a:solidFill>
                    <a:srgbClr val="000000"/>
                  </a:solidFill>
                  <a:latin typeface="Funnel Sans" pitchFamily="2" charset="0"/>
                </a:rPr>
                <a:t>• Workflow &amp; project management in line with compliance requirements</a:t>
              </a:r>
              <a:endParaRPr lang="en-IN" sz="1000">
                <a:solidFill>
                  <a:srgbClr val="000000"/>
                </a:solidFill>
                <a:latin typeface="Funnel Sans" pitchFamily="2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E6AD785-EA65-D62A-6B54-8FE294E7A773}"/>
              </a:ext>
            </a:extLst>
          </p:cNvPr>
          <p:cNvGrpSpPr/>
          <p:nvPr/>
        </p:nvGrpSpPr>
        <p:grpSpPr>
          <a:xfrm>
            <a:off x="729283" y="1445480"/>
            <a:ext cx="11438265" cy="646021"/>
            <a:chOff x="727473" y="1638327"/>
            <a:chExt cx="11438265" cy="646021"/>
          </a:xfrm>
        </p:grpSpPr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4387710C-FFB2-3537-0323-02F53ECD5DAB}"/>
                </a:ext>
              </a:extLst>
            </p:cNvPr>
            <p:cNvSpPr>
              <a:spLocks/>
            </p:cNvSpPr>
            <p:nvPr/>
          </p:nvSpPr>
          <p:spPr>
            <a:xfrm>
              <a:off x="727473" y="1638327"/>
              <a:ext cx="2069170" cy="623273"/>
            </a:xfrm>
            <a:prstGeom prst="homePlate">
              <a:avLst/>
            </a:prstGeom>
            <a:solidFill>
              <a:schemeClr val="tx1"/>
            </a:solidFill>
            <a:ln/>
          </p:spPr>
          <p:txBody>
            <a:bodyPr/>
            <a:lstStyle/>
            <a:p>
              <a:endParaRPr lang="en-IN">
                <a:latin typeface="Funnel Sans" pitchFamily="2" charset="0"/>
              </a:endParaRPr>
            </a:p>
          </p:txBody>
        </p: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1F5636ED-B65C-AB0D-96D8-AEDF9C275E86}"/>
                </a:ext>
              </a:extLst>
            </p:cNvPr>
            <p:cNvSpPr>
              <a:spLocks/>
            </p:cNvSpPr>
            <p:nvPr/>
          </p:nvSpPr>
          <p:spPr>
            <a:xfrm>
              <a:off x="4462801" y="1661075"/>
              <a:ext cx="2154403" cy="623273"/>
            </a:xfrm>
            <a:prstGeom prst="chevron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txBody>
            <a:bodyPr/>
            <a:lstStyle/>
            <a:p>
              <a:pPr algn="r"/>
              <a:endParaRPr lang="en-IN">
                <a:latin typeface="Funnel Sans" pitchFamily="2" charset="0"/>
              </a:endParaRPr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31C4655C-0D84-D1A7-76A7-4CD9DE42C57A}"/>
                </a:ext>
              </a:extLst>
            </p:cNvPr>
            <p:cNvSpPr>
              <a:spLocks/>
            </p:cNvSpPr>
            <p:nvPr/>
          </p:nvSpPr>
          <p:spPr>
            <a:xfrm>
              <a:off x="6417585" y="1649701"/>
              <a:ext cx="2103119" cy="623273"/>
            </a:xfrm>
            <a:prstGeom prst="chevron">
              <a:avLst/>
            </a:prstGeom>
            <a:solidFill>
              <a:schemeClr val="accent3">
                <a:lumMod val="10000"/>
              </a:schemeClr>
            </a:solidFill>
            <a:ln/>
          </p:spPr>
          <p:txBody>
            <a:bodyPr/>
            <a:lstStyle/>
            <a:p>
              <a:endParaRPr lang="en-IN">
                <a:latin typeface="Funnel Sans" pitchFamily="2" charset="0"/>
              </a:endParaRPr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CA904932-B844-EF16-4F22-8D45ACB25FC7}"/>
                </a:ext>
              </a:extLst>
            </p:cNvPr>
            <p:cNvSpPr>
              <a:spLocks/>
            </p:cNvSpPr>
            <p:nvPr/>
          </p:nvSpPr>
          <p:spPr>
            <a:xfrm>
              <a:off x="8289283" y="1661075"/>
              <a:ext cx="2041491" cy="623273"/>
            </a:xfrm>
            <a:prstGeom prst="chevron">
              <a:avLst/>
            </a:prstGeom>
            <a:solidFill>
              <a:schemeClr val="tx1">
                <a:lumMod val="90000"/>
                <a:lumOff val="10000"/>
              </a:schemeClr>
            </a:solidFill>
            <a:ln/>
          </p:spPr>
          <p:txBody>
            <a:bodyPr/>
            <a:lstStyle/>
            <a:p>
              <a:endParaRPr lang="en-IN">
                <a:latin typeface="Funnel Sans" pitchFamily="2" charset="0"/>
              </a:endParaRPr>
            </a:p>
          </p:txBody>
        </p:sp>
        <p:sp>
          <p:nvSpPr>
            <p:cNvPr id="17" name="Shape 17">
              <a:extLst>
                <a:ext uri="{FF2B5EF4-FFF2-40B4-BE49-F238E27FC236}">
                  <a16:creationId xmlns:a16="http://schemas.microsoft.com/office/drawing/2014/main" id="{1BCA6DB8-F1E2-A9FD-7C48-0BA3A6D3DCF2}"/>
                </a:ext>
              </a:extLst>
            </p:cNvPr>
            <p:cNvSpPr>
              <a:spLocks/>
            </p:cNvSpPr>
            <p:nvPr/>
          </p:nvSpPr>
          <p:spPr>
            <a:xfrm>
              <a:off x="10163446" y="1661075"/>
              <a:ext cx="2002292" cy="623273"/>
            </a:xfrm>
            <a:prstGeom prst="chevron">
              <a:avLst/>
            </a:prstGeom>
            <a:solidFill>
              <a:schemeClr val="accent2">
                <a:lumMod val="50000"/>
              </a:schemeClr>
            </a:solidFill>
            <a:ln/>
          </p:spPr>
          <p:txBody>
            <a:bodyPr/>
            <a:lstStyle/>
            <a:p>
              <a:endParaRPr lang="en-IN">
                <a:latin typeface="Funnel Sans" pitchFamily="2" charset="0"/>
              </a:endParaRPr>
            </a:p>
          </p:txBody>
        </p:sp>
        <p:sp>
          <p:nvSpPr>
            <p:cNvPr id="18" name="Text 3">
              <a:extLst>
                <a:ext uri="{FF2B5EF4-FFF2-40B4-BE49-F238E27FC236}">
                  <a16:creationId xmlns:a16="http://schemas.microsoft.com/office/drawing/2014/main" id="{FA75282A-0F62-8AA2-07B6-13F7265F2FB4}"/>
                </a:ext>
              </a:extLst>
            </p:cNvPr>
            <p:cNvSpPr>
              <a:spLocks/>
            </p:cNvSpPr>
            <p:nvPr/>
          </p:nvSpPr>
          <p:spPr>
            <a:xfrm>
              <a:off x="823429" y="1720027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1. Ingest </a:t>
              </a:r>
            </a:p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&amp; Connect</a:t>
              </a:r>
              <a:endParaRPr lang="en-US" sz="1100">
                <a:latin typeface="Funnel Sans" pitchFamily="2" charset="0"/>
              </a:endParaRPr>
            </a:p>
          </p:txBody>
        </p:sp>
        <p:sp>
          <p:nvSpPr>
            <p:cNvPr id="20" name="Text 9">
              <a:extLst>
                <a:ext uri="{FF2B5EF4-FFF2-40B4-BE49-F238E27FC236}">
                  <a16:creationId xmlns:a16="http://schemas.microsoft.com/office/drawing/2014/main" id="{F5092B76-229F-E06C-AFD9-A6259C5F742D}"/>
                </a:ext>
              </a:extLst>
            </p:cNvPr>
            <p:cNvSpPr>
              <a:spLocks/>
            </p:cNvSpPr>
            <p:nvPr/>
          </p:nvSpPr>
          <p:spPr>
            <a:xfrm>
              <a:off x="4744982" y="1832781"/>
              <a:ext cx="1734193" cy="25799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3. AI Assessment </a:t>
              </a:r>
            </a:p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&amp; Execution</a:t>
              </a:r>
              <a:endParaRPr lang="en-US" sz="1100">
                <a:latin typeface="Funnel Sans" pitchFamily="2" charset="0"/>
              </a:endParaRPr>
            </a:p>
          </p:txBody>
        </p:sp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E1CF8287-92D1-E15D-086A-BED9CEC8F351}"/>
                </a:ext>
              </a:extLst>
            </p:cNvPr>
            <p:cNvSpPr>
              <a:spLocks/>
            </p:cNvSpPr>
            <p:nvPr/>
          </p:nvSpPr>
          <p:spPr>
            <a:xfrm>
              <a:off x="7128783" y="1810078"/>
              <a:ext cx="1143953" cy="29207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4. Human-in-the-Loop</a:t>
              </a:r>
              <a:endParaRPr lang="en-US" sz="1100">
                <a:latin typeface="Funnel Sans" pitchFamily="2" charset="0"/>
              </a:endParaRP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8764D680-127E-F2E1-36BE-982001159522}"/>
                </a:ext>
              </a:extLst>
            </p:cNvPr>
            <p:cNvSpPr>
              <a:spLocks/>
            </p:cNvSpPr>
            <p:nvPr/>
          </p:nvSpPr>
          <p:spPr>
            <a:xfrm>
              <a:off x="8457149" y="1737632"/>
              <a:ext cx="1780997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5. Documentation</a:t>
              </a:r>
            </a:p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 &amp; Reporting</a:t>
              </a:r>
              <a:endParaRPr lang="en-US" sz="1100">
                <a:latin typeface="Funnel Sans" pitchFamily="2" charset="0"/>
              </a:endParaRPr>
            </a:p>
          </p:txBody>
        </p:sp>
        <p:sp>
          <p:nvSpPr>
            <p:cNvPr id="23" name="Text 18">
              <a:extLst>
                <a:ext uri="{FF2B5EF4-FFF2-40B4-BE49-F238E27FC236}">
                  <a16:creationId xmlns:a16="http://schemas.microsoft.com/office/drawing/2014/main" id="{3D813175-C415-E157-7EFE-5FA4B468E2F4}"/>
                </a:ext>
              </a:extLst>
            </p:cNvPr>
            <p:cNvSpPr>
              <a:spLocks/>
            </p:cNvSpPr>
            <p:nvPr/>
          </p:nvSpPr>
          <p:spPr>
            <a:xfrm>
              <a:off x="10059480" y="1758665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6. Govern </a:t>
              </a:r>
            </a:p>
            <a:p>
              <a:pPr marL="0" indent="0" algn="r">
                <a:buNone/>
              </a:pPr>
              <a:r>
                <a:rPr lang="en-US" sz="1100" b="1">
                  <a:solidFill>
                    <a:srgbClr val="FFFFFF"/>
                  </a:solidFill>
                  <a:latin typeface="Funnel Sans" pitchFamily="2" charset="0"/>
                </a:rPr>
                <a:t>&amp; Monitor</a:t>
              </a:r>
              <a:endParaRPr lang="en-US" sz="1100">
                <a:latin typeface="Funnel Sans" pitchFamily="2" charset="0"/>
              </a:endParaRPr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FF9DDB93-64AB-B385-F2D9-136FA36EBE3F}"/>
                </a:ext>
              </a:extLst>
            </p:cNvPr>
            <p:cNvSpPr>
              <a:spLocks/>
            </p:cNvSpPr>
            <p:nvPr/>
          </p:nvSpPr>
          <p:spPr>
            <a:xfrm>
              <a:off x="2586174" y="1661075"/>
              <a:ext cx="2103120" cy="623273"/>
            </a:xfrm>
            <a:prstGeom prst="chevron">
              <a:avLst/>
            </a:prstGeom>
            <a:solidFill>
              <a:schemeClr val="tx1">
                <a:lumMod val="75000"/>
                <a:lumOff val="25000"/>
              </a:schemeClr>
            </a:solidFill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endParaRPr lang="en-US" sz="1000">
                <a:latin typeface="Funnel Sans" pitchFamily="2" charset="0"/>
              </a:endParaRPr>
            </a:p>
          </p:txBody>
        </p:sp>
        <p:sp>
          <p:nvSpPr>
            <p:cNvPr id="32" name="Text 9">
              <a:extLst>
                <a:ext uri="{FF2B5EF4-FFF2-40B4-BE49-F238E27FC236}">
                  <a16:creationId xmlns:a16="http://schemas.microsoft.com/office/drawing/2014/main" id="{E2D6D560-E94E-3747-56D7-B4EF3ED0146C}"/>
                </a:ext>
              </a:extLst>
            </p:cNvPr>
            <p:cNvSpPr>
              <a:spLocks/>
            </p:cNvSpPr>
            <p:nvPr/>
          </p:nvSpPr>
          <p:spPr>
            <a:xfrm>
              <a:off x="2718283" y="1797774"/>
              <a:ext cx="1828800" cy="30437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100" b="1">
                  <a:solidFill>
                    <a:schemeClr val="bg1"/>
                  </a:solidFill>
                  <a:latin typeface="Funnel Sans" pitchFamily="2" charset="0"/>
                </a:rPr>
                <a:t>2. Understand </a:t>
              </a:r>
            </a:p>
            <a:p>
              <a:pPr marL="0" indent="0" algn="r">
                <a:buNone/>
              </a:pPr>
              <a:r>
                <a:rPr lang="en-US" sz="1100" b="1">
                  <a:solidFill>
                    <a:schemeClr val="bg1"/>
                  </a:solidFill>
                  <a:latin typeface="Funnel Sans" pitchFamily="2" charset="0"/>
                </a:rPr>
                <a:t>&amp; Orchestrate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D3409C-60E6-8CEF-3739-006CB3CF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975" y="181204"/>
            <a:ext cx="8794095" cy="538901"/>
          </a:xfrm>
        </p:spPr>
        <p:txBody>
          <a:bodyPr/>
          <a:lstStyle/>
          <a:p>
            <a:pPr>
              <a:lnSpc>
                <a:spcPct val="100000"/>
              </a:lnSpc>
              <a:buClr>
                <a:schemeClr val="accent1"/>
              </a:buClr>
              <a:tabLst>
                <a:tab pos="457200" algn="l"/>
              </a:tabLst>
            </a:pPr>
            <a:r>
              <a:rPr lang="en-IN" sz="2800" spc="0">
                <a:solidFill>
                  <a:srgbClr val="303030"/>
                </a:solidFill>
                <a:ea typeface="+mn-ea"/>
                <a:cs typeface="+mn-cs"/>
              </a:rPr>
              <a:t>Agentic Model Management Studio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5388589-6322-B5EE-A28C-01A9E0BE2A97}"/>
              </a:ext>
            </a:extLst>
          </p:cNvPr>
          <p:cNvSpPr txBox="1">
            <a:spLocks/>
          </p:cNvSpPr>
          <p:nvPr/>
        </p:nvSpPr>
        <p:spPr>
          <a:xfrm>
            <a:off x="860540" y="660595"/>
            <a:ext cx="7785261" cy="58743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36000" tIns="0" rIns="0" bIns="0" rtlCol="0" anchor="t" anchorCtr="0">
            <a:noAutofit/>
          </a:bodyPr>
          <a:lstStyle>
            <a:lvl1pPr marL="0" lvl="0" indent="0" algn="l" defTabSz="914400" rtl="0" eaLnBrk="1" latinLnBrk="0" hangingPunct="1">
              <a:lnSpc>
                <a:spcPts val="2200"/>
              </a:lnSpc>
              <a:spcBef>
                <a:spcPts val="600"/>
              </a:spcBef>
              <a:spcAft>
                <a:spcPts val="0"/>
              </a:spcAft>
              <a:buSzPts val="1400"/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Funnel Sans" pitchFamily="2" charset="0"/>
                <a:ea typeface="+mn-ea"/>
                <a:cs typeface="+mn-cs"/>
              </a:defRPr>
            </a:lvl1pPr>
            <a:lvl2pPr marL="914400" lvl="1" indent="-342900" algn="l" defTabSz="914400" rtl="0" eaLnBrk="1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800"/>
              <a:buFontTx/>
              <a:buChar char="■"/>
              <a:defRPr sz="2400" kern="1200">
                <a:solidFill>
                  <a:schemeClr val="tx1"/>
                </a:solidFill>
                <a:latin typeface="Funnel Sans" pitchFamily="2" charset="0"/>
                <a:ea typeface="+mn-ea"/>
                <a:cs typeface="+mn-cs"/>
              </a:defRPr>
            </a:lvl2pPr>
            <a:lvl3pPr marL="1371600" lvl="2" indent="-320039" algn="l" defTabSz="914400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ts val="1440"/>
              <a:buFontTx/>
              <a:buChar char="►"/>
              <a:defRPr sz="2000" kern="1200">
                <a:solidFill>
                  <a:schemeClr val="tx1"/>
                </a:solidFill>
                <a:latin typeface="Funnel Sans" pitchFamily="2" charset="0"/>
                <a:ea typeface="+mn-ea"/>
                <a:cs typeface="+mn-cs"/>
              </a:defRPr>
            </a:lvl3pPr>
            <a:lvl4pPr marL="1828800" lvl="3" indent="-342900" algn="l" defTabSz="914400" rtl="0" eaLnBrk="1" latinLnBrk="0" hangingPunct="1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1800"/>
              <a:buFontTx/>
              <a:buChar char="•"/>
              <a:defRPr sz="1800" kern="1200">
                <a:solidFill>
                  <a:schemeClr val="tx1"/>
                </a:solidFill>
                <a:latin typeface="Funnel Sans" pitchFamily="2" charset="0"/>
                <a:ea typeface="+mn-ea"/>
                <a:cs typeface="+mn-cs"/>
              </a:defRPr>
            </a:lvl4pPr>
            <a:lvl5pPr marL="2286000" lvl="4" indent="-228600" algn="l" defTabSz="914400" rtl="0" eaLnBrk="1" latinLnBrk="0" hangingPunct="1">
              <a:lnSpc>
                <a:spcPct val="105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800"/>
              <a:buFontTx/>
              <a:buNone/>
              <a:defRPr sz="1800" kern="1200">
                <a:solidFill>
                  <a:schemeClr val="tx1"/>
                </a:solidFill>
                <a:latin typeface="Funnel Sans" pitchFamily="2" charset="0"/>
                <a:ea typeface="+mn-ea"/>
                <a:cs typeface="+mn-cs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b="1">
                <a:latin typeface="Arial"/>
                <a:cs typeface="Segoe UI Light"/>
              </a:rPr>
              <a:t>An intelligent AI-Powered platform that embeds client policies and institutionalizes end-to-end model lifecycle expertise – enabling integrated, continuous and scalable MRM workflows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D1B6F44-E960-5B08-4441-F690C331A675}"/>
              </a:ext>
            </a:extLst>
          </p:cNvPr>
          <p:cNvSpPr/>
          <p:nvPr/>
        </p:nvSpPr>
        <p:spPr>
          <a:xfrm>
            <a:off x="8778240" y="181205"/>
            <a:ext cx="3246120" cy="103799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Funnel Sans" pitchFamily="2" charset="0"/>
            </a:endParaRP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04B6595F-1085-A0C0-E510-1DBE3C0A0E08}"/>
              </a:ext>
            </a:extLst>
          </p:cNvPr>
          <p:cNvSpPr/>
          <p:nvPr/>
        </p:nvSpPr>
        <p:spPr>
          <a:xfrm>
            <a:off x="8778240" y="181205"/>
            <a:ext cx="3246120" cy="293345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chemeClr val="bg1"/>
                </a:solidFill>
                <a:latin typeface="Funnel Sans" pitchFamily="2" charset="0"/>
              </a:rPr>
              <a:t>Built for Model Lifecyle risk functions of banks</a:t>
            </a:r>
            <a:endParaRPr lang="en-IN" sz="1100">
              <a:solidFill>
                <a:schemeClr val="bg1"/>
              </a:solidFill>
              <a:latin typeface="Funnel Sans" pitchFamily="2" charset="0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ED4A057-767C-4A94-E138-ED25C0C662B7}"/>
              </a:ext>
            </a:extLst>
          </p:cNvPr>
          <p:cNvSpPr/>
          <p:nvPr/>
        </p:nvSpPr>
        <p:spPr>
          <a:xfrm>
            <a:off x="8736738" y="433685"/>
            <a:ext cx="3246120" cy="8609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0000"/>
                </a:solidFill>
                <a:latin typeface="Funnel Sans" pitchFamily="2" charset="0"/>
              </a:rPr>
              <a:t>• Policy-embedded &amp; regulator aligned
• Accelerate MRM with AI-agents
• Improve quality, consistency &amp; traceability
• Enterprise grade: secure, scalable, auditable</a:t>
            </a:r>
            <a:endParaRPr lang="en-US" sz="1000">
              <a:latin typeface="Funnel Sans" pitchFamily="2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132C90AD-0392-B7EF-7C20-BD28B94A01F7}"/>
              </a:ext>
            </a:extLst>
          </p:cNvPr>
          <p:cNvSpPr/>
          <p:nvPr/>
        </p:nvSpPr>
        <p:spPr>
          <a:xfrm>
            <a:off x="736508" y="3424735"/>
            <a:ext cx="1782695" cy="38324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Funnel Sans" pitchFamily="2" charset="0"/>
              </a:rPr>
              <a:t>Eliminate data silos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F4D6D20-0754-EF42-DD04-68B2AD30D2CC}"/>
              </a:ext>
            </a:extLst>
          </p:cNvPr>
          <p:cNvSpPr/>
          <p:nvPr/>
        </p:nvSpPr>
        <p:spPr>
          <a:xfrm>
            <a:off x="2626874" y="3435594"/>
            <a:ext cx="1782695" cy="38324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Funnel Sans" pitchFamily="2" charset="0"/>
              </a:rPr>
              <a:t>Inference Intelligence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DEA6DE4A-FA9A-EFCB-C6F0-BEA15E190385}"/>
              </a:ext>
            </a:extLst>
          </p:cNvPr>
          <p:cNvSpPr/>
          <p:nvPr/>
        </p:nvSpPr>
        <p:spPr>
          <a:xfrm>
            <a:off x="4516064" y="3438031"/>
            <a:ext cx="1782695" cy="38324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Funnel Sans" pitchFamily="2" charset="0"/>
              </a:rPr>
              <a:t>Cognitive Engine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1A74F2C-F60F-8067-7A74-F6F4AE71A2CF}"/>
              </a:ext>
            </a:extLst>
          </p:cNvPr>
          <p:cNvSpPr/>
          <p:nvPr/>
        </p:nvSpPr>
        <p:spPr>
          <a:xfrm>
            <a:off x="6426016" y="3440039"/>
            <a:ext cx="1782695" cy="38324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Funnel Sans" pitchFamily="2" charset="0"/>
              </a:rPr>
              <a:t>Expert review layer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920D3D8-61D2-F390-3BFC-A5D1E95F5407}"/>
              </a:ext>
            </a:extLst>
          </p:cNvPr>
          <p:cNvSpPr/>
          <p:nvPr/>
        </p:nvSpPr>
        <p:spPr>
          <a:xfrm>
            <a:off x="8296463" y="3446616"/>
            <a:ext cx="1782695" cy="38324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Funnel Sans" pitchFamily="2" charset="0"/>
              </a:rPr>
              <a:t>Reliable &amp; faster outputs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3958F4C-BF96-4668-D1A6-284A35CA318D}"/>
              </a:ext>
            </a:extLst>
          </p:cNvPr>
          <p:cNvSpPr/>
          <p:nvPr/>
        </p:nvSpPr>
        <p:spPr>
          <a:xfrm>
            <a:off x="10185653" y="3434523"/>
            <a:ext cx="1782695" cy="383244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>
                <a:solidFill>
                  <a:schemeClr val="tx1"/>
                </a:solidFill>
                <a:latin typeface="Funnel Sans" pitchFamily="2" charset="0"/>
              </a:rPr>
              <a:t>Continuous governance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9D69852-B4D3-86C7-8556-FE0C9A919311}"/>
              </a:ext>
            </a:extLst>
          </p:cNvPr>
          <p:cNvGrpSpPr/>
          <p:nvPr/>
        </p:nvGrpSpPr>
        <p:grpSpPr>
          <a:xfrm>
            <a:off x="737497" y="3869987"/>
            <a:ext cx="11379384" cy="1279361"/>
            <a:chOff x="737497" y="3869987"/>
            <a:chExt cx="11379384" cy="127936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3141A03-914E-677F-368A-AC820C62F23E}"/>
                </a:ext>
              </a:extLst>
            </p:cNvPr>
            <p:cNvGrpSpPr/>
            <p:nvPr/>
          </p:nvGrpSpPr>
          <p:grpSpPr>
            <a:xfrm>
              <a:off x="737497" y="3869987"/>
              <a:ext cx="11379384" cy="1279361"/>
              <a:chOff x="737497" y="3949997"/>
              <a:chExt cx="11379384" cy="1279361"/>
            </a:xfrm>
          </p:grpSpPr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D82901A4-D2DE-8B63-5B31-749749B953F1}"/>
                  </a:ext>
                </a:extLst>
              </p:cNvPr>
              <p:cNvGrpSpPr/>
              <p:nvPr/>
            </p:nvGrpSpPr>
            <p:grpSpPr>
              <a:xfrm>
                <a:off x="737497" y="3976538"/>
                <a:ext cx="11297864" cy="1236848"/>
                <a:chOff x="741909" y="4220611"/>
                <a:chExt cx="11297864" cy="1280214"/>
              </a:xfrm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D5876A4F-B027-C3A8-DD53-796E7EC590CA}"/>
                    </a:ext>
                  </a:extLst>
                </p:cNvPr>
                <p:cNvSpPr/>
                <p:nvPr/>
              </p:nvSpPr>
              <p:spPr>
                <a:xfrm>
                  <a:off x="823429" y="4229100"/>
                  <a:ext cx="11216344" cy="1271725"/>
                </a:xfrm>
                <a:prstGeom prst="roundRect">
                  <a:avLst/>
                </a:prstGeom>
                <a:solidFill>
                  <a:schemeClr val="bg1"/>
                </a:solidFill>
              </p:spPr>
              <p:style>
                <a:lnRef idx="1">
                  <a:schemeClr val="accent4"/>
                </a:lnRef>
                <a:fillRef idx="2">
                  <a:schemeClr val="accent4"/>
                </a:fillRef>
                <a:effectRef idx="1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latin typeface="Funnel Sans" pitchFamily="2" charset="0"/>
                  </a:endParaRPr>
                </a:p>
              </p:txBody>
            </p:sp>
            <p:sp>
              <p:nvSpPr>
                <p:cNvPr id="55" name="Shape 2">
                  <a:extLst>
                    <a:ext uri="{FF2B5EF4-FFF2-40B4-BE49-F238E27FC236}">
                      <a16:creationId xmlns:a16="http://schemas.microsoft.com/office/drawing/2014/main" id="{A061880A-DD5A-DD34-5030-7050B987C2D4}"/>
                    </a:ext>
                  </a:extLst>
                </p:cNvPr>
                <p:cNvSpPr/>
                <p:nvPr/>
              </p:nvSpPr>
              <p:spPr>
                <a:xfrm>
                  <a:off x="741909" y="4220611"/>
                  <a:ext cx="1681251" cy="1252805"/>
                </a:xfrm>
                <a:prstGeom prst="homePlate">
                  <a:avLst/>
                </a:prstGeom>
                <a:solidFill>
                  <a:schemeClr val="tx1"/>
                </a:solidFill>
                <a:ln/>
              </p:spPr>
              <p:txBody>
                <a:bodyPr/>
                <a:lstStyle/>
                <a:p>
                  <a:endParaRPr lang="en-IN">
                    <a:latin typeface="Funnel Sans" pitchFamily="2" charset="0"/>
                  </a:endParaRPr>
                </a:p>
              </p:txBody>
            </p:sp>
          </p:grpSp>
          <p:sp>
            <p:nvSpPr>
              <p:cNvPr id="56" name="Text 3">
                <a:extLst>
                  <a:ext uri="{FF2B5EF4-FFF2-40B4-BE49-F238E27FC236}">
                    <a16:creationId xmlns:a16="http://schemas.microsoft.com/office/drawing/2014/main" id="{F8311AF0-2C12-AB98-AA02-1F79EBA51B33}"/>
                  </a:ext>
                </a:extLst>
              </p:cNvPr>
              <p:cNvSpPr/>
              <p:nvPr/>
            </p:nvSpPr>
            <p:spPr>
              <a:xfrm>
                <a:off x="909974" y="4331394"/>
                <a:ext cx="1062946" cy="55939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r">
                  <a:buNone/>
                </a:pPr>
                <a:r>
                  <a:rPr lang="en-US" sz="1600" b="1">
                    <a:solidFill>
                      <a:srgbClr val="FFFFFF"/>
                    </a:solidFill>
                    <a:latin typeface="Funnel Sans" pitchFamily="2" charset="0"/>
                  </a:rPr>
                  <a:t>Business</a:t>
                </a:r>
              </a:p>
              <a:p>
                <a:pPr marL="0" indent="0" algn="r">
                  <a:buNone/>
                </a:pPr>
                <a:r>
                  <a:rPr lang="en-US" sz="1600" b="1">
                    <a:solidFill>
                      <a:srgbClr val="FFFFFF"/>
                    </a:solidFill>
                    <a:latin typeface="Funnel Sans" pitchFamily="2" charset="0"/>
                  </a:rPr>
                  <a:t>Impact</a:t>
                </a:r>
                <a:endParaRPr lang="en-US" sz="1600">
                  <a:latin typeface="Funnel Sans" pitchFamily="2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0D4094-759F-0623-8275-C7BBD316C4B5}"/>
                  </a:ext>
                </a:extLst>
              </p:cNvPr>
              <p:cNvSpPr txBox="1"/>
              <p:nvPr/>
            </p:nvSpPr>
            <p:spPr>
              <a:xfrm>
                <a:off x="2292719" y="4574256"/>
                <a:ext cx="178269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>
                    <a:latin typeface="Funnel Sans" pitchFamily="2" charset="0"/>
                  </a:rPr>
                  <a:t>AI Automation across testing, analysis and documentation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5C44A8C-BEBE-BB92-3F93-4ACF751109CA}"/>
                  </a:ext>
                </a:extLst>
              </p:cNvPr>
              <p:cNvSpPr txBox="1"/>
              <p:nvPr/>
            </p:nvSpPr>
            <p:spPr>
              <a:xfrm>
                <a:off x="4022265" y="4591281"/>
                <a:ext cx="178269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>
                    <a:latin typeface="Funnel Sans" pitchFamily="2" charset="0"/>
                  </a:rPr>
                  <a:t>Standardized workflows and AI-driven checks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BF2E0CD-3D12-4156-376A-E1A092E7741B}"/>
                  </a:ext>
                </a:extLst>
              </p:cNvPr>
              <p:cNvSpPr txBox="1"/>
              <p:nvPr/>
            </p:nvSpPr>
            <p:spPr>
              <a:xfrm>
                <a:off x="5954839" y="4605814"/>
                <a:ext cx="1741311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>
                    <a:latin typeface="Funnel Sans" pitchFamily="2" charset="0"/>
                  </a:rPr>
                  <a:t>Complete lineage from inputs to outputs with full auditability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2029437-8280-C147-CCEC-F86767F5995C}"/>
                  </a:ext>
                </a:extLst>
              </p:cNvPr>
              <p:cNvSpPr txBox="1"/>
              <p:nvPr/>
            </p:nvSpPr>
            <p:spPr>
              <a:xfrm>
                <a:off x="7694715" y="4629194"/>
                <a:ext cx="2191568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>
                    <a:latin typeface="Funnel Sans" pitchFamily="2" charset="0"/>
                  </a:rPr>
                  <a:t>Faster turnaround for development, validation and monitoring</a:t>
                </a: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25EC069-5CFF-E78D-309A-7094FA47281A}"/>
                  </a:ext>
                </a:extLst>
              </p:cNvPr>
              <p:cNvSpPr txBox="1"/>
              <p:nvPr/>
            </p:nvSpPr>
            <p:spPr>
              <a:xfrm>
                <a:off x="9925313" y="4573748"/>
                <a:ext cx="2191568" cy="6001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>
                    <a:latin typeface="Funnel Sans" pitchFamily="2" charset="0"/>
                  </a:rPr>
                  <a:t>Built in alignment with regulations, policies and industry best practices</a:t>
                </a: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6D2EBE2-388A-15B6-E021-6A56140FB107}"/>
                  </a:ext>
                </a:extLst>
              </p:cNvPr>
              <p:cNvSpPr txBox="1"/>
              <p:nvPr/>
            </p:nvSpPr>
            <p:spPr>
              <a:xfrm>
                <a:off x="2716462" y="3958932"/>
                <a:ext cx="1145252" cy="6771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>
                    <a:solidFill>
                      <a:schemeClr val="accent3">
                        <a:lumMod val="50000"/>
                      </a:schemeClr>
                    </a:solidFill>
                    <a:latin typeface="Funnel Sans" pitchFamily="2" charset="0"/>
                  </a:rPr>
                  <a:t>30 - 50% </a:t>
                </a:r>
                <a:r>
                  <a:rPr lang="en-IN" sz="1200" b="1">
                    <a:solidFill>
                      <a:srgbClr val="002060"/>
                    </a:solidFill>
                    <a:latin typeface="Funnel Sans" pitchFamily="2" charset="0"/>
                  </a:rPr>
                  <a:t>Reduction in manual effort</a:t>
                </a:r>
                <a:endParaRPr lang="en-IN" sz="1100" b="1">
                  <a:solidFill>
                    <a:srgbClr val="002060"/>
                  </a:solidFill>
                  <a:latin typeface="Funnel Sans" pitchFamily="2" charset="0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A9968C4-88EF-6249-ED68-13FABBDBD478}"/>
                  </a:ext>
                </a:extLst>
              </p:cNvPr>
              <p:cNvSpPr txBox="1"/>
              <p:nvPr/>
            </p:nvSpPr>
            <p:spPr>
              <a:xfrm>
                <a:off x="4761895" y="4046353"/>
                <a:ext cx="11452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>
                    <a:solidFill>
                      <a:srgbClr val="002060"/>
                    </a:solidFill>
                    <a:latin typeface="Funnel Sans" pitchFamily="2" charset="0"/>
                  </a:rPr>
                  <a:t>Higher Consistency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6515A74-AAE4-26EE-870E-DCC4BDE93468}"/>
                  </a:ext>
                </a:extLst>
              </p:cNvPr>
              <p:cNvSpPr txBox="1"/>
              <p:nvPr/>
            </p:nvSpPr>
            <p:spPr>
              <a:xfrm>
                <a:off x="6562257" y="4061309"/>
                <a:ext cx="11452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>
                    <a:solidFill>
                      <a:srgbClr val="002060"/>
                    </a:solidFill>
                    <a:latin typeface="Funnel Sans" pitchFamily="2" charset="0"/>
                  </a:rPr>
                  <a:t>End-to-end traceability</a:t>
                </a: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12ADB69-CD8B-2E22-764E-43AB1E2213FD}"/>
                  </a:ext>
                </a:extLst>
              </p:cNvPr>
              <p:cNvSpPr txBox="1"/>
              <p:nvPr/>
            </p:nvSpPr>
            <p:spPr>
              <a:xfrm>
                <a:off x="8517638" y="4065663"/>
                <a:ext cx="114525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>
                    <a:solidFill>
                      <a:srgbClr val="002060"/>
                    </a:solidFill>
                    <a:latin typeface="Funnel Sans" pitchFamily="2" charset="0"/>
                  </a:rPr>
                  <a:t>Accelerated time to value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3F672DE-DF05-BF3D-EF3F-4F60F710612B}"/>
                  </a:ext>
                </a:extLst>
              </p:cNvPr>
              <p:cNvSpPr txBox="1"/>
              <p:nvPr/>
            </p:nvSpPr>
            <p:spPr>
              <a:xfrm>
                <a:off x="10423117" y="4023366"/>
                <a:ext cx="161224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>
                    <a:solidFill>
                      <a:srgbClr val="002060"/>
                    </a:solidFill>
                    <a:latin typeface="Funnel Sans" pitchFamily="2" charset="0"/>
                  </a:rPr>
                  <a:t>Stronger regulatory compliance</a:t>
                </a:r>
              </a:p>
            </p:txBody>
          </p:sp>
          <p:pic>
            <p:nvPicPr>
              <p:cNvPr id="145" name="Graphic 144" descr="Clock with solid fill">
                <a:extLst>
                  <a:ext uri="{FF2B5EF4-FFF2-40B4-BE49-F238E27FC236}">
                    <a16:creationId xmlns:a16="http://schemas.microsoft.com/office/drawing/2014/main" id="{CE9D1100-2463-B9D7-5B80-B9544FC3C4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183212" y="3949997"/>
                <a:ext cx="554102" cy="554102"/>
              </a:xfrm>
              <a:prstGeom prst="rect">
                <a:avLst/>
              </a:prstGeom>
            </p:spPr>
          </p:pic>
          <p:pic>
            <p:nvPicPr>
              <p:cNvPr id="146" name="Graphic 145" descr="Bullseye with solid fill">
                <a:extLst>
                  <a:ext uri="{FF2B5EF4-FFF2-40B4-BE49-F238E27FC236}">
                    <a16:creationId xmlns:a16="http://schemas.microsoft.com/office/drawing/2014/main" id="{066DEEE4-5FB5-EA9F-2785-9ACA57C34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>
              <a:xfrm>
                <a:off x="4089989" y="3985434"/>
                <a:ext cx="554102" cy="554102"/>
              </a:xfrm>
              <a:prstGeom prst="rect">
                <a:avLst/>
              </a:prstGeom>
            </p:spPr>
          </p:pic>
          <p:pic>
            <p:nvPicPr>
              <p:cNvPr id="147" name="Graphic 146" descr="Magnifying glass with solid fill">
                <a:extLst>
                  <a:ext uri="{FF2B5EF4-FFF2-40B4-BE49-F238E27FC236}">
                    <a16:creationId xmlns:a16="http://schemas.microsoft.com/office/drawing/2014/main" id="{15922F56-657B-6802-4502-29FADD776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6039293" y="3967711"/>
                <a:ext cx="554102" cy="554102"/>
              </a:xfrm>
              <a:prstGeom prst="rect">
                <a:avLst/>
              </a:prstGeom>
            </p:spPr>
          </p:pic>
          <p:pic>
            <p:nvPicPr>
              <p:cNvPr id="148" name="Graphic 147" descr="Business Growth with solid fill">
                <a:extLst>
                  <a:ext uri="{FF2B5EF4-FFF2-40B4-BE49-F238E27FC236}">
                    <a16:creationId xmlns:a16="http://schemas.microsoft.com/office/drawing/2014/main" id="{DEB68DE7-2FB0-A2EA-D816-CC5C818E31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rcRect/>
              <a:stretch/>
            </p:blipFill>
            <p:spPr>
              <a:xfrm>
                <a:off x="7967332" y="4013781"/>
                <a:ext cx="554102" cy="554102"/>
              </a:xfrm>
              <a:prstGeom prst="rect">
                <a:avLst/>
              </a:prstGeom>
            </p:spPr>
          </p:pic>
          <p:pic>
            <p:nvPicPr>
              <p:cNvPr id="149" name="Graphic 148" descr="Shield Tick with solid fill">
                <a:extLst>
                  <a:ext uri="{FF2B5EF4-FFF2-40B4-BE49-F238E27FC236}">
                    <a16:creationId xmlns:a16="http://schemas.microsoft.com/office/drawing/2014/main" id="{F7CFF088-50F7-5D01-0DD6-C87EBD140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rcRect/>
              <a:stretch/>
            </p:blipFill>
            <p:spPr>
              <a:xfrm>
                <a:off x="9937903" y="4006688"/>
                <a:ext cx="554102" cy="554102"/>
              </a:xfrm>
              <a:prstGeom prst="rect">
                <a:avLst/>
              </a:prstGeom>
            </p:spPr>
          </p:pic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31AEF08-3043-D095-AE53-AEE8C0C5215D}"/>
                </a:ext>
              </a:extLst>
            </p:cNvPr>
            <p:cNvCxnSpPr/>
            <p:nvPr/>
          </p:nvCxnSpPr>
          <p:spPr>
            <a:xfrm>
              <a:off x="3930065" y="4043907"/>
              <a:ext cx="0" cy="104013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ECF452F-4356-6A3B-6E43-264B8C05B9DD}"/>
                </a:ext>
              </a:extLst>
            </p:cNvPr>
            <p:cNvCxnSpPr/>
            <p:nvPr/>
          </p:nvCxnSpPr>
          <p:spPr>
            <a:xfrm>
              <a:off x="5906341" y="4030912"/>
              <a:ext cx="0" cy="104013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B5F9CE7-D830-DD83-2C38-61A7BC35E6A3}"/>
                </a:ext>
              </a:extLst>
            </p:cNvPr>
            <p:cNvCxnSpPr/>
            <p:nvPr/>
          </p:nvCxnSpPr>
          <p:spPr>
            <a:xfrm>
              <a:off x="7838818" y="3982879"/>
              <a:ext cx="0" cy="104013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CCA5747D-5CD4-EA1A-5B64-43A6EE9326E3}"/>
                </a:ext>
              </a:extLst>
            </p:cNvPr>
            <p:cNvCxnSpPr/>
            <p:nvPr/>
          </p:nvCxnSpPr>
          <p:spPr>
            <a:xfrm>
              <a:off x="9889095" y="4006259"/>
              <a:ext cx="0" cy="1040130"/>
            </a:xfrm>
            <a:prstGeom prst="line">
              <a:avLst/>
            </a:prstGeom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F0D2A9-C036-6FFC-6949-2DB43D8345D5}"/>
              </a:ext>
            </a:extLst>
          </p:cNvPr>
          <p:cNvGrpSpPr/>
          <p:nvPr/>
        </p:nvGrpSpPr>
        <p:grpSpPr>
          <a:xfrm>
            <a:off x="685588" y="5160019"/>
            <a:ext cx="11277416" cy="789453"/>
            <a:chOff x="685588" y="5160019"/>
            <a:chExt cx="11277416" cy="78945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AEE765F-2A5C-587D-9158-1679245DA2AC}"/>
                </a:ext>
              </a:extLst>
            </p:cNvPr>
            <p:cNvGrpSpPr/>
            <p:nvPr/>
          </p:nvGrpSpPr>
          <p:grpSpPr>
            <a:xfrm>
              <a:off x="685588" y="5160019"/>
              <a:ext cx="11277416" cy="789453"/>
              <a:chOff x="685588" y="5274319"/>
              <a:chExt cx="11277416" cy="789453"/>
            </a:xfrm>
          </p:grpSpPr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80E4B4F5-F436-9C4A-EB25-8E0F68C2607C}"/>
                  </a:ext>
                </a:extLst>
              </p:cNvPr>
              <p:cNvSpPr/>
              <p:nvPr/>
            </p:nvSpPr>
            <p:spPr>
              <a:xfrm>
                <a:off x="685588" y="5274319"/>
                <a:ext cx="11277416" cy="629434"/>
              </a:xfrm>
              <a:prstGeom prst="roundRect">
                <a:avLst/>
              </a:prstGeom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latin typeface="Funnel Sans" pitchFamily="2" charset="0"/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287D236-BDEE-1FB9-296D-1C31E7672903}"/>
                  </a:ext>
                </a:extLst>
              </p:cNvPr>
              <p:cNvSpPr txBox="1"/>
              <p:nvPr/>
            </p:nvSpPr>
            <p:spPr>
              <a:xfrm>
                <a:off x="695699" y="5336374"/>
                <a:ext cx="67000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>
                    <a:solidFill>
                      <a:schemeClr val="bg1"/>
                    </a:solidFill>
                    <a:latin typeface="Funnel Sans" pitchFamily="2" charset="0"/>
                  </a:rPr>
                  <a:t>One platform. Multiple workflows. AI-assisted Execution. Human-Governed Decisions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D7FB6D8-CEDE-F146-03A0-8E6582492647}"/>
                  </a:ext>
                </a:extLst>
              </p:cNvPr>
              <p:cNvSpPr txBox="1"/>
              <p:nvPr/>
            </p:nvSpPr>
            <p:spPr>
              <a:xfrm>
                <a:off x="7422925" y="5319920"/>
                <a:ext cx="103319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>
                    <a:solidFill>
                      <a:schemeClr val="bg1"/>
                    </a:solidFill>
                    <a:latin typeface="Funnel Sans" pitchFamily="2" charset="0"/>
                  </a:rPr>
                  <a:t>Tech</a:t>
                </a:r>
              </a:p>
              <a:p>
                <a:r>
                  <a:rPr lang="en-IN" sz="1400" b="1">
                    <a:solidFill>
                      <a:schemeClr val="bg1"/>
                    </a:solidFill>
                    <a:latin typeface="Funnel Sans" pitchFamily="2" charset="0"/>
                  </a:rPr>
                  <a:t>Stack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B83F83-4370-9638-AA8F-0D1E639B6467}"/>
                  </a:ext>
                </a:extLst>
              </p:cNvPr>
              <p:cNvSpPr txBox="1"/>
              <p:nvPr/>
            </p:nvSpPr>
            <p:spPr>
              <a:xfrm>
                <a:off x="7985502" y="5602107"/>
                <a:ext cx="6391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File Processing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9DF0DAB2-C5EB-8900-0498-F72371F21E2F}"/>
                  </a:ext>
                </a:extLst>
              </p:cNvPr>
              <p:cNvSpPr txBox="1"/>
              <p:nvPr/>
            </p:nvSpPr>
            <p:spPr>
              <a:xfrm>
                <a:off x="8702865" y="5595003"/>
                <a:ext cx="6391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Visitor</a:t>
                </a:r>
              </a:p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Store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95D24BE-999A-E4EC-7E95-22649964FD62}"/>
                  </a:ext>
                </a:extLst>
              </p:cNvPr>
              <p:cNvSpPr txBox="1"/>
              <p:nvPr/>
            </p:nvSpPr>
            <p:spPr>
              <a:xfrm>
                <a:off x="9475561" y="5596581"/>
                <a:ext cx="6391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Metadata</a:t>
                </a:r>
              </a:p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Store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0088AB8C-1903-B346-4382-3FE1B00D4982}"/>
                  </a:ext>
                </a:extLst>
              </p:cNvPr>
              <p:cNvSpPr txBox="1"/>
              <p:nvPr/>
            </p:nvSpPr>
            <p:spPr>
              <a:xfrm>
                <a:off x="10287759" y="5613480"/>
                <a:ext cx="79704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Secrets</a:t>
                </a:r>
              </a:p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Management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16C60785-1B4D-0854-F81F-88AB12DF11C2}"/>
                  </a:ext>
                </a:extLst>
              </p:cNvPr>
              <p:cNvSpPr txBox="1"/>
              <p:nvPr/>
            </p:nvSpPr>
            <p:spPr>
              <a:xfrm>
                <a:off x="11135076" y="5610909"/>
                <a:ext cx="79820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800">
                    <a:solidFill>
                      <a:schemeClr val="bg1"/>
                    </a:solidFill>
                    <a:latin typeface="Funnel Sans" pitchFamily="2" charset="0"/>
                  </a:rPr>
                  <a:t>Test Environment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BA15DF2-37C7-6181-5FDB-0FF8D47041AD}"/>
                  </a:ext>
                </a:extLst>
              </p:cNvPr>
              <p:cNvSpPr txBox="1"/>
              <p:nvPr/>
            </p:nvSpPr>
            <p:spPr>
              <a:xfrm>
                <a:off x="832242" y="5632332"/>
                <a:ext cx="6597105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900">
                    <a:solidFill>
                      <a:schemeClr val="bg1"/>
                    </a:solidFill>
                    <a:latin typeface="Funnel Sans" pitchFamily="2" charset="0"/>
                  </a:rPr>
                  <a:t>Model Management Studio enables organizations to manage model risk smarter, faster and with greater accuracy</a:t>
                </a:r>
              </a:p>
            </p:txBody>
          </p:sp>
          <p:pic>
            <p:nvPicPr>
              <p:cNvPr id="159" name="Picture 158">
                <a:extLst>
                  <a:ext uri="{FF2B5EF4-FFF2-40B4-BE49-F238E27FC236}">
                    <a16:creationId xmlns:a16="http://schemas.microsoft.com/office/drawing/2014/main" id="{DA4B4FE6-458B-3F52-5F8F-10E33C9A95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119616" y="5330755"/>
                <a:ext cx="359527" cy="285507"/>
              </a:xfrm>
              <a:prstGeom prst="rect">
                <a:avLst/>
              </a:prstGeom>
            </p:spPr>
          </p:pic>
          <p:pic>
            <p:nvPicPr>
              <p:cNvPr id="163" name="Picture 162">
                <a:extLst>
                  <a:ext uri="{FF2B5EF4-FFF2-40B4-BE49-F238E27FC236}">
                    <a16:creationId xmlns:a16="http://schemas.microsoft.com/office/drawing/2014/main" id="{C7380A05-CD3C-47A6-78E3-BC868B850F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815883" y="5312627"/>
                <a:ext cx="392791" cy="276409"/>
              </a:xfrm>
              <a:prstGeom prst="rect">
                <a:avLst/>
              </a:prstGeom>
            </p:spPr>
          </p:pic>
          <p:pic>
            <p:nvPicPr>
              <p:cNvPr id="167" name="Picture 166">
                <a:extLst>
                  <a:ext uri="{FF2B5EF4-FFF2-40B4-BE49-F238E27FC236}">
                    <a16:creationId xmlns:a16="http://schemas.microsoft.com/office/drawing/2014/main" id="{EA312376-1336-E5A8-7809-E892361634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632314" y="5327306"/>
                <a:ext cx="305589" cy="279017"/>
              </a:xfrm>
              <a:prstGeom prst="rect">
                <a:avLst/>
              </a:prstGeom>
            </p:spPr>
          </p:pic>
          <p:pic>
            <p:nvPicPr>
              <p:cNvPr id="169" name="Picture 168">
                <a:extLst>
                  <a:ext uri="{FF2B5EF4-FFF2-40B4-BE49-F238E27FC236}">
                    <a16:creationId xmlns:a16="http://schemas.microsoft.com/office/drawing/2014/main" id="{027F9F43-305E-7A72-8CDE-59D28BEC86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33486" y="5310023"/>
                <a:ext cx="305589" cy="312232"/>
              </a:xfrm>
              <a:prstGeom prst="rect">
                <a:avLst/>
              </a:prstGeom>
            </p:spPr>
          </p:pic>
          <p:pic>
            <p:nvPicPr>
              <p:cNvPr id="171" name="Picture 170">
                <a:extLst>
                  <a:ext uri="{FF2B5EF4-FFF2-40B4-BE49-F238E27FC236}">
                    <a16:creationId xmlns:a16="http://schemas.microsoft.com/office/drawing/2014/main" id="{9ADD60B8-E4FD-D7C7-F41A-A80FCCAF66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358969" y="5321815"/>
                <a:ext cx="427894" cy="313280"/>
              </a:xfrm>
              <a:prstGeom prst="rect">
                <a:avLst/>
              </a:prstGeom>
            </p:spPr>
          </p:pic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EBEA159-2F9B-2D14-BF55-255BB9C20D98}"/>
                </a:ext>
              </a:extLst>
            </p:cNvPr>
            <p:cNvCxnSpPr/>
            <p:nvPr/>
          </p:nvCxnSpPr>
          <p:spPr>
            <a:xfrm>
              <a:off x="7385271" y="5219682"/>
              <a:ext cx="0" cy="542679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1ED22E43-A3E0-AEBD-FEFD-2F312CC15CCD}"/>
              </a:ext>
            </a:extLst>
          </p:cNvPr>
          <p:cNvSpPr txBox="1"/>
          <p:nvPr/>
        </p:nvSpPr>
        <p:spPr>
          <a:xfrm>
            <a:off x="3866233" y="5801431"/>
            <a:ext cx="3948686" cy="246221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IN" sz="1000" b="1">
                <a:solidFill>
                  <a:srgbClr val="002060"/>
                </a:solidFill>
                <a:latin typeface="Funnel Sans" pitchFamily="2" charset="0"/>
              </a:rPr>
              <a:t>COVERAGE ACROSS MODEL LIFECYCLE AND MODEL FAMILIES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A387837-87BD-999D-9C25-43DA64D22D09}"/>
              </a:ext>
            </a:extLst>
          </p:cNvPr>
          <p:cNvCxnSpPr/>
          <p:nvPr/>
        </p:nvCxnSpPr>
        <p:spPr>
          <a:xfrm>
            <a:off x="9231955" y="6063322"/>
            <a:ext cx="0" cy="399455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3" name="Rectangle: Top Corners Rounded 102">
            <a:extLst>
              <a:ext uri="{FF2B5EF4-FFF2-40B4-BE49-F238E27FC236}">
                <a16:creationId xmlns:a16="http://schemas.microsoft.com/office/drawing/2014/main" id="{8ED0030D-F98C-A198-25E5-48E9C90AC7CC}"/>
              </a:ext>
            </a:extLst>
          </p:cNvPr>
          <p:cNvSpPr/>
          <p:nvPr/>
        </p:nvSpPr>
        <p:spPr>
          <a:xfrm>
            <a:off x="1215827" y="6506263"/>
            <a:ext cx="9760346" cy="315553"/>
          </a:xfrm>
          <a:prstGeom prst="round2Same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Funnel Sans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B73C38E-1A40-E257-EE5B-98629FE7E548}"/>
              </a:ext>
            </a:extLst>
          </p:cNvPr>
          <p:cNvSpPr txBox="1"/>
          <p:nvPr/>
        </p:nvSpPr>
        <p:spPr>
          <a:xfrm>
            <a:off x="1215827" y="6512327"/>
            <a:ext cx="30429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>
                <a:solidFill>
                  <a:srgbClr val="002060"/>
                </a:solidFill>
                <a:latin typeface="Funnel Sans" pitchFamily="2" charset="0"/>
              </a:rPr>
              <a:t>Enterprise Grade Security &amp; Compliance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0EDD9B1-D7D4-B23D-00FF-B3909F7F10F7}"/>
              </a:ext>
            </a:extLst>
          </p:cNvPr>
          <p:cNvSpPr txBox="1"/>
          <p:nvPr/>
        </p:nvSpPr>
        <p:spPr>
          <a:xfrm>
            <a:off x="4031558" y="6567007"/>
            <a:ext cx="14432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>
                <a:solidFill>
                  <a:srgbClr val="002060"/>
                </a:solidFill>
                <a:latin typeface="Funnel Sans" pitchFamily="2" charset="0"/>
              </a:rPr>
              <a:t>Role-based access control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AC519C-3A4B-C2D8-3906-0206343AD3C6}"/>
              </a:ext>
            </a:extLst>
          </p:cNvPr>
          <p:cNvSpPr txBox="1"/>
          <p:nvPr/>
        </p:nvSpPr>
        <p:spPr>
          <a:xfrm>
            <a:off x="5362143" y="6557994"/>
            <a:ext cx="1048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>
                <a:solidFill>
                  <a:srgbClr val="002060"/>
                </a:solidFill>
                <a:latin typeface="Funnel Sans" pitchFamily="2" charset="0"/>
              </a:rPr>
              <a:t>Audit Logging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255F256-E94D-85BE-02D9-05AF5DCDB363}"/>
              </a:ext>
            </a:extLst>
          </p:cNvPr>
          <p:cNvSpPr txBox="1"/>
          <p:nvPr/>
        </p:nvSpPr>
        <p:spPr>
          <a:xfrm>
            <a:off x="6163308" y="6567194"/>
            <a:ext cx="10481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">
                <a:solidFill>
                  <a:srgbClr val="002060"/>
                </a:solidFill>
                <a:latin typeface="Funnel Sans" pitchFamily="2" charset="0"/>
              </a:rPr>
              <a:t>Data Encryption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6F39961-9E15-5E45-21C1-A491D3537E65}"/>
              </a:ext>
            </a:extLst>
          </p:cNvPr>
          <p:cNvSpPr txBox="1"/>
          <p:nvPr/>
        </p:nvSpPr>
        <p:spPr>
          <a:xfrm>
            <a:off x="7325080" y="6569073"/>
            <a:ext cx="4033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>
                <a:solidFill>
                  <a:srgbClr val="002060"/>
                </a:solidFill>
                <a:latin typeface="Funnel Sans" pitchFamily="2" charset="0"/>
              </a:rPr>
              <a:t>Regulatory Alignment (BCBS, OCC, SR 26-2, ECB, EBA, PRA, OSFI, APRA etc) 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8EBA65F-F05C-48F4-42B1-FCD1C4D47B83}"/>
              </a:ext>
            </a:extLst>
          </p:cNvPr>
          <p:cNvCxnSpPr>
            <a:cxnSpLocks/>
          </p:cNvCxnSpPr>
          <p:nvPr/>
        </p:nvCxnSpPr>
        <p:spPr>
          <a:xfrm>
            <a:off x="3478466" y="6615350"/>
            <a:ext cx="0" cy="1371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A4B2045-B7C3-B79F-1649-BFF3B42DBB64}"/>
              </a:ext>
            </a:extLst>
          </p:cNvPr>
          <p:cNvCxnSpPr>
            <a:cxnSpLocks/>
          </p:cNvCxnSpPr>
          <p:nvPr/>
        </p:nvCxnSpPr>
        <p:spPr>
          <a:xfrm>
            <a:off x="5454090" y="6624363"/>
            <a:ext cx="0" cy="1371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2527ED72-BF70-0889-5A4C-7B6A19013FA3}"/>
              </a:ext>
            </a:extLst>
          </p:cNvPr>
          <p:cNvCxnSpPr>
            <a:cxnSpLocks/>
          </p:cNvCxnSpPr>
          <p:nvPr/>
        </p:nvCxnSpPr>
        <p:spPr>
          <a:xfrm>
            <a:off x="6253873" y="6623301"/>
            <a:ext cx="0" cy="1371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F671C822-D0A7-FFF7-EFF8-E027349B4459}"/>
              </a:ext>
            </a:extLst>
          </p:cNvPr>
          <p:cNvCxnSpPr>
            <a:cxnSpLocks/>
          </p:cNvCxnSpPr>
          <p:nvPr/>
        </p:nvCxnSpPr>
        <p:spPr>
          <a:xfrm>
            <a:off x="7206616" y="6615350"/>
            <a:ext cx="0" cy="13716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21" name="Graphic 120" descr="Folder Search outline">
            <a:extLst>
              <a:ext uri="{FF2B5EF4-FFF2-40B4-BE49-F238E27FC236}">
                <a16:creationId xmlns:a16="http://schemas.microsoft.com/office/drawing/2014/main" id="{E5995C1C-2744-30EF-E35D-8B302FE4F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49745" y="1471281"/>
            <a:ext cx="587669" cy="542415"/>
          </a:xfrm>
          <a:prstGeom prst="rect">
            <a:avLst/>
          </a:prstGeom>
        </p:spPr>
      </p:pic>
      <p:pic>
        <p:nvPicPr>
          <p:cNvPr id="132" name="Graphic 131" descr="Clipboard Checked outline">
            <a:extLst>
              <a:ext uri="{FF2B5EF4-FFF2-40B4-BE49-F238E27FC236}">
                <a16:creationId xmlns:a16="http://schemas.microsoft.com/office/drawing/2014/main" id="{712F8379-542C-D071-BB80-A79B595E5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870502" y="1473677"/>
            <a:ext cx="489388" cy="489388"/>
          </a:xfrm>
          <a:prstGeom prst="rect">
            <a:avLst/>
          </a:prstGeom>
        </p:spPr>
      </p:pic>
      <p:pic>
        <p:nvPicPr>
          <p:cNvPr id="134" name="Graphic 133" descr="Head with gears outline">
            <a:extLst>
              <a:ext uri="{FF2B5EF4-FFF2-40B4-BE49-F238E27FC236}">
                <a16:creationId xmlns:a16="http://schemas.microsoft.com/office/drawing/2014/main" id="{034B6608-47E5-1E8B-72B8-071D686923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75287" y="1527165"/>
            <a:ext cx="460895" cy="460895"/>
          </a:xfrm>
          <a:prstGeom prst="rect">
            <a:avLst/>
          </a:prstGeom>
        </p:spPr>
      </p:pic>
      <p:pic>
        <p:nvPicPr>
          <p:cNvPr id="136" name="Graphic 135" descr="Group of men outline">
            <a:extLst>
              <a:ext uri="{FF2B5EF4-FFF2-40B4-BE49-F238E27FC236}">
                <a16:creationId xmlns:a16="http://schemas.microsoft.com/office/drawing/2014/main" id="{92B82A80-BB0C-C8A8-AC7C-B6FD36972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01422" y="1549823"/>
            <a:ext cx="383244" cy="383244"/>
          </a:xfrm>
          <a:prstGeom prst="rect">
            <a:avLst/>
          </a:prstGeom>
        </p:spPr>
      </p:pic>
      <p:pic>
        <p:nvPicPr>
          <p:cNvPr id="139" name="Graphic 138" descr="Clipboard outline">
            <a:extLst>
              <a:ext uri="{FF2B5EF4-FFF2-40B4-BE49-F238E27FC236}">
                <a16:creationId xmlns:a16="http://schemas.microsoft.com/office/drawing/2014/main" id="{22F9B0F8-3CAF-88A6-A8BB-BC7FDC59DB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73348" y="1523284"/>
            <a:ext cx="409783" cy="409783"/>
          </a:xfrm>
          <a:prstGeom prst="rect">
            <a:avLst/>
          </a:prstGeom>
        </p:spPr>
      </p:pic>
      <p:pic>
        <p:nvPicPr>
          <p:cNvPr id="143" name="Graphic 142" descr="Shield Tick outline">
            <a:extLst>
              <a:ext uri="{FF2B5EF4-FFF2-40B4-BE49-F238E27FC236}">
                <a16:creationId xmlns:a16="http://schemas.microsoft.com/office/drawing/2014/main" id="{B2B4FB93-BDF3-D086-9443-8A49AB6ADC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10533486" y="1527720"/>
            <a:ext cx="459783" cy="459783"/>
          </a:xfrm>
          <a:prstGeom prst="rect">
            <a:avLst/>
          </a:prstGeom>
        </p:spPr>
      </p:pic>
      <p:pic>
        <p:nvPicPr>
          <p:cNvPr id="157" name="Graphic 156" descr="Lock outline">
            <a:extLst>
              <a:ext uri="{FF2B5EF4-FFF2-40B4-BE49-F238E27FC236}">
                <a16:creationId xmlns:a16="http://schemas.microsoft.com/office/drawing/2014/main" id="{D8901F24-CAD7-5F01-A32F-A72F057B9B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721409" y="6504318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74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1951" y="281988"/>
            <a:ext cx="11201400" cy="4678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buClr>
                <a:schemeClr val="accent1"/>
              </a:buClr>
              <a:buSzPts val="3200"/>
              <a:tabLst>
                <a:tab pos="457200" algn="l"/>
              </a:tabLst>
            </a:pPr>
            <a:r>
              <a:rPr lang="en-GB" sz="2800" b="1">
                <a:solidFill>
                  <a:srgbClr val="303030"/>
                </a:solidFill>
                <a:latin typeface="Funnel Sans" pitchFamily="2" charset="0"/>
              </a:rPr>
              <a:t>AI assisted Data Assessment Framework for Analytics and Modeling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626" y="832623"/>
            <a:ext cx="11201400" cy="40626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Bef>
                <a:spcPts val="600"/>
              </a:spcBef>
              <a:buSzPts val="1400"/>
            </a:pPr>
            <a:r>
              <a:rPr lang="en-US" sz="1200" b="1">
                <a:latin typeface="Arial"/>
                <a:cs typeface="Segoe UI Light"/>
              </a:rPr>
              <a:t>A pre-defined</a:t>
            </a:r>
            <a:r>
              <a:rPr sz="1200" b="1">
                <a:latin typeface="Arial"/>
                <a:cs typeface="Segoe UI Light"/>
              </a:rPr>
              <a:t> framework defines the tests, thresholds and criticality. AI orchestrates, profiles and explains </a:t>
            </a:r>
            <a:r>
              <a:rPr lang="en-US" sz="1200" b="1">
                <a:latin typeface="Arial"/>
                <a:cs typeface="Segoe UI Light"/>
              </a:rPr>
              <a:t>-</a:t>
            </a:r>
            <a:r>
              <a:rPr sz="1200" b="1">
                <a:latin typeface="Arial"/>
                <a:cs typeface="Segoe UI Light"/>
              </a:rPr>
              <a:t> it does not replace the framework. A human in the loop validates before anything is adopted.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92224"/>
            <a:ext cx="2093976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D7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865376"/>
            <a:ext cx="54864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000" b="1" i="0">
                <a:solidFill>
                  <a:srgbClr val="FF4F59"/>
                </a:solidFill>
                <a:latin typeface="Funnel Sans" pitchFamily="2" charset="0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1819656" cy="3908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Ingestion, context
&amp; profiling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1819656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0">
                <a:solidFill>
                  <a:srgbClr val="6D706B"/>
                </a:solidFill>
                <a:latin typeface="Funnel Sans" pitchFamily="2" charset="0"/>
              </a:rPr>
              <a:t>Framework defines the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" y="2868831"/>
            <a:ext cx="1819656" cy="3293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1" i="0">
                <a:solidFill>
                  <a:srgbClr val="FF4F59"/>
                </a:solidFill>
                <a:latin typeface="Funnel Sans" pitchFamily="2" charset="0"/>
              </a:rPr>
              <a:t>AI: </a:t>
            </a:r>
            <a:r>
              <a:rPr sz="950" b="0" i="1">
                <a:solidFill>
                  <a:srgbClr val="6D706B"/>
                </a:solidFill>
                <a:latin typeface="Funnel Sans" pitchFamily="2" charset="0"/>
              </a:rPr>
              <a:t>AI profiles data and surfaces assumptions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6" y="1792224"/>
            <a:ext cx="2093976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D7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16936" y="1865376"/>
            <a:ext cx="54864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000" b="1" i="0">
                <a:solidFill>
                  <a:srgbClr val="FF4F59"/>
                </a:solidFill>
                <a:latin typeface="Funnel Sans" pitchFamily="2" charset="0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121408"/>
            <a:ext cx="1819656" cy="3908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Plan assembly
&amp;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542032"/>
            <a:ext cx="1819656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lang="en-US" sz="950" b="0" i="0">
                <a:solidFill>
                  <a:srgbClr val="6D706B"/>
                </a:solidFill>
                <a:latin typeface="Funnel Sans" pitchFamily="2" charset="0"/>
              </a:rPr>
              <a:t>Framework</a:t>
            </a:r>
            <a:r>
              <a:rPr sz="950" b="0" i="0">
                <a:solidFill>
                  <a:srgbClr val="6D706B"/>
                </a:solidFill>
                <a:latin typeface="Funnel Sans" pitchFamily="2" charset="0"/>
              </a:rPr>
              <a:t> defines the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1696" y="2875782"/>
            <a:ext cx="1819656" cy="3293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1" i="0">
                <a:solidFill>
                  <a:srgbClr val="FF4F59"/>
                </a:solidFill>
                <a:latin typeface="Funnel Sans" pitchFamily="2" charset="0"/>
              </a:rPr>
              <a:t>AI: </a:t>
            </a:r>
            <a:r>
              <a:rPr sz="950" b="0" i="1">
                <a:solidFill>
                  <a:srgbClr val="6D706B"/>
                </a:solidFill>
                <a:latin typeface="Funnel Sans" pitchFamily="2" charset="0"/>
              </a:rPr>
              <a:t>AI suggests additional relationship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6632" y="1792224"/>
            <a:ext cx="2093976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D7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93792" y="1865376"/>
            <a:ext cx="54864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000" b="1" i="0">
                <a:solidFill>
                  <a:srgbClr val="FF4F59"/>
                </a:solidFill>
                <a:latin typeface="Funnel Sans" pitchFamily="2" charset="0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2121408"/>
            <a:ext cx="1819656" cy="3908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Assessment
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2542032"/>
            <a:ext cx="1819656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0">
                <a:solidFill>
                  <a:srgbClr val="6D706B"/>
                </a:solidFill>
                <a:latin typeface="Funnel Sans" pitchFamily="2" charset="0"/>
              </a:rPr>
              <a:t>Framework defines thresholds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856694"/>
            <a:ext cx="1819656" cy="3293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1" i="0">
                <a:solidFill>
                  <a:srgbClr val="FF4F59"/>
                </a:solidFill>
                <a:latin typeface="Funnel Sans" pitchFamily="2" charset="0"/>
              </a:rPr>
              <a:t>AI: </a:t>
            </a:r>
            <a:r>
              <a:rPr sz="950" b="0" i="1">
                <a:solidFill>
                  <a:srgbClr val="6D706B"/>
                </a:solidFill>
                <a:latin typeface="Funnel Sans" pitchFamily="2" charset="0"/>
              </a:rPr>
              <a:t>Deterministic tests run on real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1792224"/>
            <a:ext cx="2093976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D7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70648" y="1865376"/>
            <a:ext cx="54864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000" b="1" i="0">
                <a:solidFill>
                  <a:srgbClr val="FF4F59"/>
                </a:solidFill>
                <a:latin typeface="Funnel Sans" pitchFamily="2" charset="0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8" y="2121408"/>
            <a:ext cx="1819656" cy="21390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RCA &amp;</a:t>
            </a:r>
            <a:r>
              <a:rPr lang="en-US" sz="1150" b="1" i="0">
                <a:solidFill>
                  <a:srgbClr val="181C23"/>
                </a:solidFill>
                <a:latin typeface="Funnel Sans" pitchFamily="2" charset="0"/>
              </a:rPr>
              <a:t> M</a:t>
            </a:r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itigation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542032"/>
            <a:ext cx="1819656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0">
                <a:solidFill>
                  <a:srgbClr val="6D706B"/>
                </a:solidFill>
                <a:latin typeface="Funnel Sans" pitchFamily="2" charset="0"/>
              </a:rPr>
              <a:t>Framework defines remediation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5408" y="2824393"/>
            <a:ext cx="1819656" cy="3293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1" i="0">
                <a:solidFill>
                  <a:srgbClr val="FF4F59"/>
                </a:solidFill>
                <a:latin typeface="Funnel Sans" pitchFamily="2" charset="0"/>
              </a:rPr>
              <a:t>AI: </a:t>
            </a:r>
            <a:r>
              <a:rPr sz="950" b="0" i="1">
                <a:solidFill>
                  <a:srgbClr val="6D706B"/>
                </a:solidFill>
                <a:latin typeface="Funnel Sans" pitchFamily="2" charset="0"/>
              </a:rPr>
              <a:t>AI proposes root cause; SME verifies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10344" y="1792224"/>
            <a:ext cx="2093976" cy="15544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D7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747504" y="1865376"/>
            <a:ext cx="548640" cy="34471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2000" b="1" i="0">
                <a:solidFill>
                  <a:srgbClr val="FF4F59"/>
                </a:solidFill>
                <a:latin typeface="Funnel Sans" pitchFamily="2" charset="0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7504" y="2121408"/>
            <a:ext cx="1819656" cy="3908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Monitoring,</a:t>
            </a:r>
            <a:r>
              <a:rPr lang="en-US" sz="1150" b="1" i="0">
                <a:solidFill>
                  <a:srgbClr val="181C23"/>
                </a:solidFill>
                <a:latin typeface="Funnel Sans" pitchFamily="2" charset="0"/>
              </a:rPr>
              <a:t> </a:t>
            </a:r>
            <a:r>
              <a:rPr lang="en-US" sz="1150" b="1">
                <a:solidFill>
                  <a:srgbClr val="181C23"/>
                </a:solidFill>
                <a:latin typeface="Funnel Sans" pitchFamily="2" charset="0"/>
              </a:rPr>
              <a:t>D</a:t>
            </a:r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rift &amp; </a:t>
            </a:r>
            <a:r>
              <a:rPr lang="en-US" sz="1150" b="1">
                <a:solidFill>
                  <a:srgbClr val="181C23"/>
                </a:solidFill>
                <a:latin typeface="Funnel Sans" pitchFamily="2" charset="0"/>
              </a:rPr>
              <a:t>I</a:t>
            </a:r>
            <a:r>
              <a:rPr sz="1150" b="1" i="0">
                <a:solidFill>
                  <a:srgbClr val="181C23"/>
                </a:solidFill>
                <a:latin typeface="Funnel Sans" pitchFamily="2" charset="0"/>
              </a:rPr>
              <a:t>mprovement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542032"/>
            <a:ext cx="1819656" cy="18312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0" i="0">
                <a:solidFill>
                  <a:srgbClr val="6D706B"/>
                </a:solidFill>
                <a:latin typeface="Funnel Sans" pitchFamily="2" charset="0"/>
              </a:rPr>
              <a:t>Framework defines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816352"/>
            <a:ext cx="1819656" cy="32932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1" i="0">
                <a:solidFill>
                  <a:srgbClr val="FF4F59"/>
                </a:solidFill>
                <a:latin typeface="Funnel Sans" pitchFamily="2" charset="0"/>
              </a:rPr>
              <a:t>AI: </a:t>
            </a:r>
            <a:r>
              <a:rPr sz="950" b="0" i="1">
                <a:solidFill>
                  <a:srgbClr val="6D706B"/>
                </a:solidFill>
                <a:latin typeface="Funnel Sans" pitchFamily="2" charset="0"/>
              </a:rPr>
              <a:t>AI flags emerging risks and adapts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584448"/>
            <a:ext cx="3587496" cy="329184"/>
          </a:xfrm>
          <a:prstGeom prst="roundRect">
            <a:avLst/>
          </a:prstGeom>
          <a:solidFill>
            <a:srgbClr val="FF4F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Funnel Sans" pitchFamily="2" charset="0"/>
              </a:rPr>
              <a:t>Test Authoring   6 agents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913632"/>
            <a:ext cx="3587496" cy="1042416"/>
          </a:xfrm>
          <a:prstGeom prst="round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" y="3986784"/>
            <a:ext cx="3313176" cy="88331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O</a:t>
            </a:r>
            <a:r>
              <a:rPr sz="950" b="0" i="0">
                <a:solidFill>
                  <a:srgbClr val="181C23"/>
                </a:solidFill>
                <a:latin typeface="Funnel Sans" pitchFamily="2" charset="0"/>
              </a:rPr>
              <a:t>rchestrator</a:t>
            </a: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 </a:t>
            </a:r>
            <a:r>
              <a:rPr sz="950" b="0" i="0">
                <a:solidFill>
                  <a:srgbClr val="181C23"/>
                </a:solidFill>
                <a:latin typeface="Funnel Sans" pitchFamily="2" charset="0"/>
              </a:rPr>
              <a:t>· </a:t>
            </a: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data-profiler</a:t>
            </a:r>
            <a:r>
              <a:rPr sz="950" b="0" i="0">
                <a:solidFill>
                  <a:srgbClr val="181C23"/>
                </a:solidFill>
                <a:latin typeface="Funnel Sans" pitchFamily="2" charset="0"/>
              </a:rPr>
              <a:t> · </a:t>
            </a: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variable-screener  ·  r</a:t>
            </a:r>
            <a:r>
              <a:rPr sz="950" b="0" i="0">
                <a:solidFill>
                  <a:srgbClr val="181C23"/>
                </a:solidFill>
                <a:latin typeface="Funnel Sans" pitchFamily="2" charset="0"/>
              </a:rPr>
              <a:t>elationship</a:t>
            </a: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-</a:t>
            </a:r>
            <a:r>
              <a:rPr sz="950" b="0" i="0">
                <a:solidFill>
                  <a:srgbClr val="181C23"/>
                </a:solidFill>
                <a:latin typeface="Funnel Sans" pitchFamily="2" charset="0"/>
              </a:rPr>
              <a:t>discovery · relationship</a:t>
            </a: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-</a:t>
            </a:r>
            <a:r>
              <a:rPr sz="950" b="0" i="0">
                <a:solidFill>
                  <a:srgbClr val="181C23"/>
                </a:solidFill>
                <a:latin typeface="Funnel Sans" pitchFamily="2" charset="0"/>
              </a:rPr>
              <a:t>validation</a:t>
            </a: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  · </a:t>
            </a:r>
            <a:endParaRPr sz="950" b="0" i="0">
              <a:solidFill>
                <a:srgbClr val="181C23"/>
              </a:solidFill>
              <a:latin typeface="Funnel Sans" pitchFamily="2" charset="0"/>
            </a:endParaRP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181C23"/>
                </a:solidFill>
                <a:latin typeface="Funnel Sans" pitchFamily="2" charset="0"/>
              </a:rPr>
              <a:t>cross-table consistency · test screening</a:t>
            </a:r>
            <a:endParaRPr lang="en-US" sz="950" b="0" i="0">
              <a:solidFill>
                <a:srgbClr val="181C23"/>
              </a:solidFill>
              <a:latin typeface="Funnel Sans" pitchFamily="2" charset="0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Test helper tools  ·  AI decides parameters</a:t>
            </a:r>
          </a:p>
          <a:p>
            <a:pPr>
              <a:spcAft>
                <a:spcPts val="300"/>
              </a:spcAft>
            </a:pP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AI creates &amp; runs bash scripts </a:t>
            </a: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 ·  AI interprets  ·  Documents</a:t>
            </a:r>
            <a:endParaRPr sz="950" b="0" i="0">
              <a:solidFill>
                <a:srgbClr val="181C23"/>
              </a:solidFill>
              <a:latin typeface="Funnel Sans" pitchFamily="2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309872" y="3584448"/>
            <a:ext cx="3587496" cy="329184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Funnel Sans" pitchFamily="2" charset="0"/>
              </a:rPr>
              <a:t>Root-Cause &amp; Effective Challenge   2 agents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9872" y="3913632"/>
            <a:ext cx="3587496" cy="1042416"/>
          </a:xfrm>
          <a:prstGeom prst="round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447032" y="3986784"/>
            <a:ext cx="3313176" cy="73712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AI (credit-</a:t>
            </a:r>
            <a:r>
              <a:rPr lang="en-US" sz="950" b="0" i="0" err="1">
                <a:solidFill>
                  <a:srgbClr val="181C23"/>
                </a:solidFill>
                <a:latin typeface="Funnel Sans" pitchFamily="2" charset="0"/>
              </a:rPr>
              <a:t>sme</a:t>
            </a: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) ·  RCA-hypothesis  ·  RCA-challenger</a:t>
            </a:r>
          </a:p>
          <a:p>
            <a:pPr>
              <a:spcAft>
                <a:spcPts val="300"/>
              </a:spcAft>
            </a:pP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RCA helper tools </a:t>
            </a: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 ·  AI parameter decisions</a:t>
            </a:r>
            <a:endParaRPr sz="950" b="0" i="0">
              <a:solidFill>
                <a:srgbClr val="181C23"/>
              </a:solidFill>
              <a:latin typeface="Funnel Sans" pitchFamily="2" charset="0"/>
            </a:endParaRPr>
          </a:p>
          <a:p>
            <a:pPr>
              <a:spcAft>
                <a:spcPts val="300"/>
              </a:spcAft>
            </a:pP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AI validation loops</a:t>
            </a: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On screen visuals  ·  Documentation  · Audit trail</a:t>
            </a:r>
            <a:endParaRPr sz="950" b="0" i="0">
              <a:solidFill>
                <a:srgbClr val="181C23"/>
              </a:solidFill>
              <a:latin typeface="Funnel Sans" pitchFamily="2" charset="0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116824" y="3584448"/>
            <a:ext cx="3587496" cy="329184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Funnel Sans" pitchFamily="2" charset="0"/>
              </a:rPr>
              <a:t>Shared Services   4 agents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6824" y="3913632"/>
            <a:ext cx="3587496" cy="1042416"/>
          </a:xfrm>
          <a:prstGeom prst="round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53984" y="3986784"/>
            <a:ext cx="3313176" cy="55245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>
              <a:spcAft>
                <a:spcPts val="300"/>
              </a:spcAft>
            </a:pP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Input parsing  ·  DB-analysis  ·  table analysis</a:t>
            </a:r>
          </a:p>
          <a:p>
            <a:pPr>
              <a:spcAft>
                <a:spcPts val="300"/>
              </a:spcAft>
            </a:pPr>
            <a:r>
              <a:rPr lang="en-US" sz="950" b="0" i="0">
                <a:solidFill>
                  <a:srgbClr val="181C23"/>
                </a:solidFill>
                <a:latin typeface="Funnel Sans" pitchFamily="2" charset="0"/>
              </a:rPr>
              <a:t>Entity relationship</a:t>
            </a: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 discovery &amp; HITL validation</a:t>
            </a:r>
            <a:endParaRPr sz="950" b="0" i="0">
              <a:solidFill>
                <a:srgbClr val="181C23"/>
              </a:solidFill>
              <a:latin typeface="Funnel Sans" pitchFamily="2" charset="0"/>
            </a:endParaRPr>
          </a:p>
          <a:p>
            <a:pPr>
              <a:spcAft>
                <a:spcPts val="300"/>
              </a:spcAft>
            </a:pPr>
            <a:r>
              <a:rPr lang="en-US" sz="950">
                <a:solidFill>
                  <a:srgbClr val="181C23"/>
                </a:solidFill>
                <a:latin typeface="Funnel Sans" pitchFamily="2" charset="0"/>
              </a:rPr>
              <a:t>Quality score  ·  data health score  ·  Persistent memory</a:t>
            </a:r>
            <a:endParaRPr sz="950" b="0" i="0">
              <a:solidFill>
                <a:srgbClr val="181C23"/>
              </a:solidFill>
              <a:latin typeface="Funnel Sans" pitchFamily="2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2920" y="5093084"/>
            <a:ext cx="11201400" cy="18312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950" b="1" i="0">
                <a:solidFill>
                  <a:srgbClr val="FF4F59"/>
                </a:solidFill>
                <a:latin typeface="Funnel Sans" pitchFamily="2" charset="0"/>
              </a:rPr>
              <a:t>Stochastic</a:t>
            </a:r>
            <a:r>
              <a:rPr sz="950" b="0" i="0">
                <a:solidFill>
                  <a:srgbClr val="6D706B"/>
                </a:solidFill>
                <a:latin typeface="Funnel Sans" pitchFamily="2" charset="0"/>
              </a:rPr>
              <a:t> = LLM reasoning  ·  </a:t>
            </a:r>
            <a:r>
              <a:rPr sz="950" b="1" i="0">
                <a:solidFill>
                  <a:srgbClr val="181C23"/>
                </a:solidFill>
                <a:latin typeface="Funnel Sans" pitchFamily="2" charset="0"/>
              </a:rPr>
              <a:t>Deterministic</a:t>
            </a:r>
            <a:r>
              <a:rPr sz="950" b="0" i="0">
                <a:solidFill>
                  <a:srgbClr val="6D706B"/>
                </a:solidFill>
                <a:latin typeface="Funnel Sans" pitchFamily="2" charset="0"/>
              </a:rPr>
              <a:t> = auditable math  ·  all under human review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340096"/>
            <a:ext cx="5394960" cy="457200"/>
          </a:xfrm>
          <a:prstGeom prst="round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67512" y="5457896"/>
            <a:ext cx="5120640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181C23"/>
                </a:solidFill>
                <a:latin typeface="Funnel Sans" pitchFamily="2" charset="0"/>
              </a:rPr>
              <a:t>Semantic Layer</a:t>
            </a:r>
            <a:r>
              <a:rPr sz="1050" b="0" i="0">
                <a:solidFill>
                  <a:srgbClr val="6D706B"/>
                </a:solidFill>
                <a:latin typeface="Funnel Sans" pitchFamily="2" charset="0"/>
              </a:rPr>
              <a:t>  </a:t>
            </a:r>
            <a:r>
              <a:rPr lang="en-US" sz="1050" b="0" i="0">
                <a:solidFill>
                  <a:srgbClr val="6D706B"/>
                </a:solidFill>
                <a:latin typeface="Funnel Sans" pitchFamily="2" charset="0"/>
              </a:rPr>
              <a:t>-</a:t>
            </a:r>
            <a:r>
              <a:rPr sz="1050" b="0" i="0">
                <a:solidFill>
                  <a:srgbClr val="6D706B"/>
                </a:solidFill>
                <a:latin typeface="Funnel Sans" pitchFamily="2" charset="0"/>
              </a:rPr>
              <a:t>  framework encoded: dimensions · tests · thresholds · criticality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5340096"/>
            <a:ext cx="5394960" cy="457200"/>
          </a:xfrm>
          <a:prstGeom prst="roundRect">
            <a:avLst/>
          </a:prstGeom>
          <a:solidFill>
            <a:srgbClr val="FF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73952" y="5377105"/>
            <a:ext cx="5120640" cy="38318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i="0">
                <a:solidFill>
                  <a:srgbClr val="181C23"/>
                </a:solidFill>
                <a:latin typeface="Funnel Sans" pitchFamily="2" charset="0"/>
              </a:rPr>
              <a:t>Deterministic Engine</a:t>
            </a:r>
            <a:r>
              <a:rPr sz="1050" b="0" i="0">
                <a:solidFill>
                  <a:srgbClr val="6D706B"/>
                </a:solidFill>
                <a:latin typeface="Funnel Sans" pitchFamily="2" charset="0"/>
              </a:rPr>
              <a:t>  </a:t>
            </a:r>
            <a:r>
              <a:rPr lang="en-US" sz="1050" b="0" i="0">
                <a:solidFill>
                  <a:srgbClr val="6D706B"/>
                </a:solidFill>
                <a:latin typeface="Funnel Sans" pitchFamily="2" charset="0"/>
              </a:rPr>
              <a:t>-</a:t>
            </a:r>
            <a:r>
              <a:rPr sz="1050" b="0" i="0">
                <a:solidFill>
                  <a:srgbClr val="6D706B"/>
                </a:solidFill>
                <a:latin typeface="Funnel Sans" pitchFamily="2" charset="0"/>
              </a:rPr>
              <a:t>  agents orchestrate; reproducible statistics compute the numbers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solidFill>
            <a:srgbClr val="282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Funnel Sans" pitchFamily="2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2920" y="6099426"/>
            <a:ext cx="11201400" cy="2369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0" i="0">
                <a:solidFill>
                  <a:srgbClr val="D0CFC8"/>
                </a:solidFill>
                <a:latin typeface="Funnel Sans" pitchFamily="2" charset="0"/>
              </a:rPr>
              <a:t>The framework is the IP. AI operationalizes</a:t>
            </a:r>
            <a:r>
              <a:rPr lang="en-US" sz="1300" b="0" i="0">
                <a:solidFill>
                  <a:srgbClr val="D0CFC8"/>
                </a:solidFill>
                <a:latin typeface="Funnel Sans" pitchFamily="2" charset="0"/>
              </a:rPr>
              <a:t>, automates and enhances it, with human in the loop governance. </a:t>
            </a:r>
            <a:endParaRPr sz="1300" b="0" i="0">
              <a:solidFill>
                <a:srgbClr val="D0CFC8"/>
              </a:solidFill>
              <a:latin typeface="Funnel Sans" pitchFamily="2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57200" y="6524845"/>
            <a:ext cx="914400" cy="190821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r>
              <a:rPr sz="1000" b="0" i="0">
                <a:solidFill>
                  <a:srgbClr val="6D706B"/>
                </a:solidFill>
                <a:latin typeface="Funnel Sans" pitchFamily="2" charset="0"/>
              </a:rPr>
              <a:t>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wAAAAAAAAAEAAAACQAAAF9pZD0kLl9pZAEDAAAAAAADAAAAAQADAAAAIwAAAENvbWJpSW5kZXg9JC5OYW1lICsgJ18nICsgJC5WZXJzaW9uAQUAAAAAAAUAAAABAAU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MAAAAAAAAAAwAAAAMAAAAA/////wUAFg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Q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UAAAACABAAC3LeeXXfikFGm1J7/R15n9MEAAAAAAADAAAAAAADAAAAAwADAAEA////////BQAAAAMAEAAL6ZTStexCk0uy+lVAgnWJdwQAAAABAAMAAAACAAMAAAAEAAQAAQD///////8FAAAABAAQAAv6DKv1JDhMSJ9mTg3DZD8PBAAAAAIAAwAAAAMAAwAAAAE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////8DAAMOAAAAAAAAAAAAAP////+DAIMAAAAFX2lkABAAAAAEct55dd+KQUabUnv9HXmf0wNEYXRhABsAAAAETGlua2VkU2hhcGVEYXRhAAUAAAAAAAJOYW1lABkAAABMaW5rZWRTaGFwZXNEYXRhUHJvcGVydHkAEFZlcnNpb24AAAAAAAlMYXN0V3JpdGUAe8F4pZABAAAAAQD/////gwCDAAAABV9pZAAQAAAABOmU0rXsQpNLsvpVQIJ1iXcDRGF0YQAbAAAABExpbmtlZFNoYXBlRGF0YQAFAAAAAAACTmFtZQAZAAAATGlua2VkU2hhcGVzRGF0YVByb3BlcnR5ABBWZXJzaW9uAAEAAAAJTGFzdFdyaXRlAJbCeKWQAQAAAAIA/////8YAxgAAAAVfaWQAEAAAAAT6DKv1JDhMSJ9mTg3DZD8PA0RhdGEAUwAAAAhQcmVzZW50YXRpb25TY2FubmVkRm9yTGlua2VkU2hhcGVzAAACTnVtYmVyRm9ybWF0U2VwYXJhdG9yTW9kZQAKAAAAQXV0b21hdGljAAACTmFtZQAkAAAATGlua2VkU2hhcGVQcmVzZW50YXRpb25TZXR0aW5nc0RhdGEAEFZlcnNpb24AAAAAAAlMYXN0V3JpdGUAl8J4pZ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/////BQDtCwAAAAAAAAAAAAAgAf///////////////wAAAP///////////////wUAAAAE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EAIAH///////////////8AAA7///////8F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CAAEBAwAAAAIA////////GgAGTGlua2VkU2hhcGVzRGF0YVByb3BlcnR5XzAEAAAAAAAFAAAABAAFAAAAAwADAAEBAwAAAAMA////////GgAGTGlua2VkU2hhcGVzRGF0YVByb3BlcnR5XzEEAAAAAQAFAAAAAgAFAAAAAQAEAAEBAwAAAAQA////////JQAGTGlua2VkU2hhcGVQcmVzZW50YXRpb25TZXR0aW5nc0RhdGFfMAQAAAACAAUAAAAAAAU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563598732955622"/>
  <p:tag name="EMPOWERCHARTSPROPERTIES_A_LENGTH" val="24576"/>
  <p:tag name="MIO_PRESENTATION_LANGUAGE" val="2057"/>
</p:tagLst>
</file>

<file path=ppt/theme/theme1.xml><?xml version="1.0" encoding="utf-8"?>
<a:theme xmlns:a="http://schemas.openxmlformats.org/drawingml/2006/main" name="1_Custom Design">
  <a:themeElements>
    <a:clrScheme name="Custom 148">
      <a:dk1>
        <a:srgbClr val="161916"/>
      </a:dk1>
      <a:lt1>
        <a:srgbClr val="FFFDFF"/>
      </a:lt1>
      <a:dk2>
        <a:srgbClr val="161916"/>
      </a:dk2>
      <a:lt2>
        <a:srgbClr val="FDF8F4"/>
      </a:lt2>
      <a:accent1>
        <a:srgbClr val="FD4E59"/>
      </a:accent1>
      <a:accent2>
        <a:srgbClr val="6D7069"/>
      </a:accent2>
      <a:accent3>
        <a:srgbClr val="FFAB28"/>
      </a:accent3>
      <a:accent4>
        <a:srgbClr val="161916"/>
      </a:accent4>
      <a:accent5>
        <a:srgbClr val="494949"/>
      </a:accent5>
      <a:accent6>
        <a:srgbClr val="FFF0DC"/>
      </a:accent6>
      <a:hlink>
        <a:srgbClr val="FE4F58"/>
      </a:hlink>
      <a:folHlink>
        <a:srgbClr val="FFAD2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C35A75-1180-472F-B2E5-FC6BA7836482}">
  <we:reference id="c3f98fa7-d22c-4b56-8fd7-f3a825de3307" version="1.0.2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DcR_SlideID>19413d22-d664-4d28-8c07-f2eaa548da1d</DcR_SlideID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70AC972A0BDF42AC829A63DD1B17D3" ma:contentTypeVersion="4" ma:contentTypeDescription="Create a new document." ma:contentTypeScope="" ma:versionID="f1a8a83975599a4f0145537fa56195ba">
  <xsd:schema xmlns:xsd="http://www.w3.org/2001/XMLSchema" xmlns:xs="http://www.w3.org/2001/XMLSchema" xmlns:p="http://schemas.microsoft.com/office/2006/metadata/properties" xmlns:ns2="fc15f684-1c62-45db-a8ab-3a0c1b1e4622" targetNamespace="http://schemas.microsoft.com/office/2006/metadata/properties" ma:root="true" ma:fieldsID="a2042d8c46078bf073a5e158d721d549" ns2:_="">
    <xsd:import namespace="fc15f684-1c62-45db-a8ab-3a0c1b1e46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15f684-1c62-45db-a8ab-3a0c1b1e46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C226EC-4395-43C8-AEF6-75F899DEED8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258257-1140-4C50-BAEF-171DBF42914A}">
  <ds:schemaRefs/>
</ds:datastoreItem>
</file>

<file path=customXml/itemProps3.xml><?xml version="1.0" encoding="utf-8"?>
<ds:datastoreItem xmlns:ds="http://schemas.openxmlformats.org/officeDocument/2006/customXml" ds:itemID="{0EA8463C-0D78-4989-B49C-829EE42ED189}">
  <ds:schemaRefs>
    <ds:schemaRef ds:uri="fc15f684-1c62-45db-a8ab-3a0c1b1e462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1524F66B-3B12-46EE-95FA-2D573FFD6137}">
  <ds:schemaRefs>
    <ds:schemaRef ds:uri="http://schemas.microsoft.com/office/2006/documentManagement/types"/>
    <ds:schemaRef ds:uri="http://purl.org/dc/elements/1.1/"/>
    <ds:schemaRef ds:uri="fc15f684-1c62-45db-a8ab-3a0c1b1e4622"/>
    <ds:schemaRef ds:uri="http://purl.org/dc/dcmitype/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1182</Words>
  <Application>Microsoft Office PowerPoint</Application>
  <PresentationFormat>Widescreen</PresentationFormat>
  <Paragraphs>183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Funnel Sans</vt:lpstr>
      <vt:lpstr>1_Custom Design</vt:lpstr>
      <vt:lpstr>Automation and AI‑enabled accelerators for continuous value uplift</vt:lpstr>
      <vt:lpstr>PowerPoint Presentation</vt:lpstr>
      <vt:lpstr>Agentic Model Management Studio</vt:lpstr>
      <vt:lpstr>PowerPoint Presentation</vt:lpstr>
    </vt:vector>
  </TitlesOfParts>
  <Company>Genpact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Jupiter</dc:title>
  <dc:creator>Nahata, Jaanvi</dc:creator>
  <cp:lastModifiedBy>Bollineni, Harsha</cp:lastModifiedBy>
  <cp:revision>2</cp:revision>
  <dcterms:created xsi:type="dcterms:W3CDTF">2022-11-24T12:25:40Z</dcterms:created>
  <dcterms:modified xsi:type="dcterms:W3CDTF">2026-09-07T05:16:26Z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0x0101007070AC972A0BDF42AC829A63DD1B17D3</vt:lpwstr>
  </property>
  <property fmtid="{D5CDD505-2E9C-101B-9397-08002B2CF9AE}" pid="3" name="MSIP_Label_e0f90fca-59d9-4aac-bcc2-47e1f4ce48b8_Enabled">
    <vt:lpwstr>true</vt:lpwstr>
  </property>
  <property fmtid="{D5CDD505-2E9C-101B-9397-08002B2CF9AE}" pid="4" name="MSIP_Label_e0f90fca-59d9-4aac-bcc2-47e1f4ce48b8_SetDate">
    <vt:lpwstr>2023-01-23T20:00:01Z</vt:lpwstr>
  </property>
  <property fmtid="{D5CDD505-2E9C-101B-9397-08002B2CF9AE}" pid="5" name="MSIP_Label_e0f90fca-59d9-4aac-bcc2-47e1f4ce48b8_Method">
    <vt:lpwstr>Standard</vt:lpwstr>
  </property>
  <property fmtid="{D5CDD505-2E9C-101B-9397-08002B2CF9AE}" pid="6" name="MSIP_Label_e0f90fca-59d9-4aac-bcc2-47e1f4ce48b8_Name">
    <vt:lpwstr>US Confidential</vt:lpwstr>
  </property>
  <property fmtid="{D5CDD505-2E9C-101B-9397-08002B2CF9AE}" pid="7" name="MSIP_Label_e0f90fca-59d9-4aac-bcc2-47e1f4ce48b8_SiteId">
    <vt:lpwstr>35595a02-4d6d-44ac-99e1-f9ab4cd872db</vt:lpwstr>
  </property>
  <property fmtid="{D5CDD505-2E9C-101B-9397-08002B2CF9AE}" pid="8" name="MSIP_Label_e0f90fca-59d9-4aac-bcc2-47e1f4ce48b8_ActionId">
    <vt:lpwstr>91057fd0-f7c9-410b-8a23-0ed5191b9fd3</vt:lpwstr>
  </property>
  <property fmtid="{D5CDD505-2E9C-101B-9397-08002B2CF9AE}" pid="9" name="MSIP_Label_e0f90fca-59d9-4aac-bcc2-47e1f4ce48b8_ContentBits">
    <vt:lpwstr>1</vt:lpwstr>
  </property>
  <property fmtid="{D5CDD505-2E9C-101B-9397-08002B2CF9AE}" pid="10" name="MediaServiceImageTags">
    <vt:lpwstr/>
  </property>
</Properties>
</file>